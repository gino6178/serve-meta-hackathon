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Play a sport, by age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8A8A92"/>
            </a:solidFill>
            <a:effectLst/>
          </c:spPr>
          <c:invertIfNegative val="0"/>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18 to 21</c:v>
                  </c:pt>
                  <c:pt idx="1">
                    <c:v>26 to 49</c:v>
                  </c:pt>
                </c:lvl>
              </c:multiLvlStrCache>
            </c:multiLvlStrRef>
          </c:cat>
          <c:val>
            <c:numRef>
              <c:f>Sheet1!$B$2:$B$3</c:f>
              <c:numCache>
                <c:formatCode>General</c:formatCode>
                <c:ptCount val="2"/>
                <c:pt idx="0">
                  <c:v>40</c:v>
                </c:pt>
                <c:pt idx="1">
                  <c:v>26</c:v>
                </c:pt>
              </c:numCache>
            </c:numRef>
          </c:val>
        </c:ser>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What stops adults playing regularly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D1352B"/>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No regular people to play with</c:v>
                  </c:pt>
                  <c:pt idx="1">
                    <c:v>No way to keep the habit going</c:v>
                  </c:pt>
                  <c:pt idx="2">
                    <c:v>Times hard to fit around other commitments</c:v>
                  </c:pt>
                </c:lvl>
              </c:multiLvlStrCache>
            </c:multiLvlStrRef>
          </c:cat>
          <c:val>
            <c:numRef>
              <c:f>Sheet1!$B$2:$B$4</c:f>
              <c:numCache>
                <c:formatCode>General</c:formatCode>
                <c:ptCount val="3"/>
                <c:pt idx="0">
                  <c:v>10.2</c:v>
                </c:pt>
                <c:pt idx="1">
                  <c:v>21.3</c:v>
                </c:pt>
                <c:pt idx="2">
                  <c:v>64.2</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Bugs reported per round (rounds 21 to 25: core flows only)</a:t>
            </a:r>
          </a:p>
        </c:rich>
      </c:tx>
      <c:layout/>
      <c:overlay val="0"/>
    </c:title>
    <c:autoTitleDeleted val="0"/>
    <c:plotArea>
      <c:layout/>
      <c:barChart>
        <c:barDir val="col"/>
        <c:grouping val="clustered"/>
        <c:varyColors val="0"/>
        <c:ser>
          <c:idx val="0"/>
          <c:order val="0"/>
          <c:tx>
            <c:strRef>
              <c:f>Sheet1!$B$1</c:f>
              <c:strCache>
                <c:ptCount val="1"/>
                <c:pt idx="0">
                  <c:v>Bugs reported</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5</c:v>
                </c:pt>
                <c:pt idx="1">
                  <c:v>9</c:v>
                </c:pt>
                <c:pt idx="2">
                  <c:v>10</c:v>
                </c:pt>
                <c:pt idx="3">
                  <c:v>10</c:v>
                </c:pt>
                <c:pt idx="4">
                  <c:v>13</c:v>
                </c:pt>
                <c:pt idx="5">
                  <c:v>6</c:v>
                </c:pt>
                <c:pt idx="6">
                  <c:v>19</c:v>
                </c:pt>
                <c:pt idx="7">
                  <c:v>16</c:v>
                </c:pt>
                <c:pt idx="8">
                  <c:v>11</c:v>
                </c:pt>
                <c:pt idx="9">
                  <c:v>8</c:v>
                </c:pt>
                <c:pt idx="10">
                  <c:v>9</c:v>
                </c:pt>
                <c:pt idx="11">
                  <c:v>7</c:v>
                </c:pt>
                <c:pt idx="12">
                  <c:v>10</c:v>
                </c:pt>
                <c:pt idx="13">
                  <c:v>9</c:v>
                </c:pt>
                <c:pt idx="14">
                  <c:v>9</c:v>
                </c:pt>
                <c:pt idx="15">
                  <c:v>2</c:v>
                </c:pt>
                <c:pt idx="16">
                  <c:v>2</c:v>
                </c:pt>
                <c:pt idx="17">
                  <c:v>3</c:v>
                </c:pt>
                <c:pt idx="18">
                  <c:v>4</c:v>
                </c:pt>
                <c:pt idx="19">
                  <c:v>0</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Testers whose report came back CLEAN (of 6)</a:t>
            </a:r>
          </a:p>
        </c:rich>
      </c:tx>
      <c:layout/>
      <c:overlay val="0"/>
    </c:title>
    <c:autoTitleDeleted val="0"/>
    <c:plotArea>
      <c:layout/>
      <c:lineChart>
        <c:varyColors val="0"/>
        <c:ser>
          <c:idx val="0"/>
          <c:order val="0"/>
          <c:tx>
            <c:strRef>
              <c:f>Sheet1!$B$1</c:f>
              <c:strCache>
                <c:ptCount val="1"/>
                <c:pt idx="0">
                  <c:v>Clean reports (of 6)</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2</c:v>
                </c:pt>
                <c:pt idx="1">
                  <c:v>1</c:v>
                </c:pt>
                <c:pt idx="2">
                  <c:v>2</c:v>
                </c:pt>
                <c:pt idx="3">
                  <c:v>1</c:v>
                </c:pt>
                <c:pt idx="4">
                  <c:v>1</c:v>
                </c:pt>
                <c:pt idx="5">
                  <c:v>2</c:v>
                </c:pt>
                <c:pt idx="6">
                  <c:v>1</c:v>
                </c:pt>
                <c:pt idx="7">
                  <c:v>2</c:v>
                </c:pt>
                <c:pt idx="8">
                  <c:v>2</c:v>
                </c:pt>
                <c:pt idx="9">
                  <c:v>2</c:v>
                </c:pt>
                <c:pt idx="10">
                  <c:v>2</c:v>
                </c:pt>
                <c:pt idx="11">
                  <c:v>2</c:v>
                </c:pt>
                <c:pt idx="12">
                  <c:v>1</c:v>
                </c:pt>
                <c:pt idx="13">
                  <c:v>1</c:v>
                </c:pt>
                <c:pt idx="14">
                  <c:v>2</c:v>
                </c:pt>
                <c:pt idx="15">
                  <c:v>4</c:v>
                </c:pt>
                <c:pt idx="16">
                  <c:v>4</c:v>
                </c:pt>
                <c:pt idx="17">
                  <c:v>3</c:v>
                </c:pt>
                <c:pt idx="18">
                  <c:v>4</c:v>
                </c:pt>
                <c:pt idx="19">
                  <c:v>6</c:v>
                </c:pt>
              </c:numCache>
            </c:numRef>
          </c:val>
          <c:smooth val="0"/>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First time proposed keeps every player's rules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Doubles, now</c:v>
                  </c:pt>
                  <c:pt idx="1">
                    <c:v>Doubles, before</c:v>
                  </c:pt>
                  <c:pt idx="2">
                    <c:v>Singles, now</c:v>
                  </c:pt>
                  <c:pt idx="3">
                    <c:v>Singles, before</c:v>
                  </c:pt>
                </c:lvl>
              </c:multiLvlStrCache>
            </c:multiLvlStrRef>
          </c:cat>
          <c:val>
            <c:numRef>
              <c:f>Sheet1!$B$2:$B$5</c:f>
              <c:numCache>
                <c:formatCode>General</c:formatCode>
                <c:ptCount val="4"/>
                <c:pt idx="0">
                  <c:v>89.1</c:v>
                </c:pt>
                <c:pt idx="1">
                  <c:v>73.9</c:v>
                </c:pt>
                <c:pt idx="2">
                  <c:v>92.4</c:v>
                </c:pt>
                <c:pt idx="3">
                  <c:v>89.8</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Game found, one question then one talk (%), 20,000 requests each</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No question</c:v>
                  </c:pt>
                  <c:pt idx="1">
                    <c:v>A random question</c:v>
                  </c:pt>
                  <c:pt idx="2">
                    <c:v>The likeliest pair</c:v>
                  </c:pt>
                  <c:pt idx="3">
                    <c:v>Value of information</c:v>
                  </c:pt>
                </c:lvl>
              </c:multiLvlStrCache>
            </c:multiLvlStrRef>
          </c:cat>
          <c:val>
            <c:numRef>
              <c:f>Sheet1!$B$2:$B$5</c:f>
              <c:numCache>
                <c:formatCode>General</c:formatCode>
                <c:ptCount val="4"/>
                <c:pt idx="0">
                  <c:v>40.7</c:v>
                </c:pt>
                <c:pt idx="1">
                  <c:v>44.4</c:v>
                </c:pt>
                <c:pt idx="2">
                  <c:v>48.2</c:v>
                </c:pt>
                <c:pt idx="3">
                  <c:v>51.9</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Seconds per choice</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1B student (CPU)</c:v>
                  </c:pt>
                  <c:pt idx="1">
                    <c:v>One-token decider (GPU)</c:v>
                  </c:pt>
                  <c:pt idx="2">
                    <c:v>Glimmer, full answer (GPU)</c:v>
                  </c:pt>
                </c:lvl>
              </c:multiLvlStrCache>
            </c:multiLvlStrRef>
          </c:cat>
          <c:val>
            <c:numRef>
              <c:f>Sheet1!$B$2:$B$4</c:f>
              <c:numCache>
                <c:formatCode>General</c:formatCode>
                <c:ptCount val="3"/>
                <c:pt idx="0">
                  <c:v>0.9</c:v>
                </c:pt>
                <c:pt idx="1">
                  <c:v>0.53</c:v>
                </c:pt>
                <c:pt idx="2">
                  <c:v>40</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4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Its choice: softmax over the valid letters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can't play</c:v>
                  </c:pt>
                  <c:pt idx="1">
                    <c:v>t5</c:v>
                  </c:pt>
                  <c:pt idx="2">
                    <c:v>t4</c:v>
                  </c:pt>
                  <c:pt idx="3">
                    <c:v>t3</c:v>
                  </c:pt>
                  <c:pt idx="4">
                    <c:v>t2</c:v>
                  </c:pt>
                </c:lvl>
              </c:multiLvlStrCache>
            </c:multiLvlStrRef>
          </c:cat>
          <c:val>
            <c:numRef>
              <c:f>Sheet1!$B$2:$B$6</c:f>
              <c:numCache>
                <c:formatCode>General</c:formatCode>
                <c:ptCount val="5"/>
                <c:pt idx="0">
                  <c:v>0.0001</c:v>
                </c:pt>
                <c:pt idx="1">
                  <c:v>0.001</c:v>
                </c:pt>
                <c:pt idx="2">
                  <c:v>0.008</c:v>
                </c:pt>
                <c:pt idx="3">
                  <c:v>0.318</c:v>
                </c:pt>
                <c:pt idx="4">
                  <c:v>0.673</c:v>
                </c:pt>
              </c:numCache>
            </c:numRef>
          </c:val>
        </c:ser>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Agreement with Glimmer on the hardest cases (%), 3B student</a:t>
            </a:r>
          </a:p>
        </c:rich>
      </c:tx>
      <c:layout/>
      <c:overlay val="0"/>
    </c:title>
    <c:autoTitleDeleted val="0"/>
    <c:plotArea>
      <c:layout/>
      <c:barChart>
        <c:barDir val="col"/>
        <c:grouping val="clustered"/>
        <c:varyColors val="0"/>
        <c:ser>
          <c:idx val="0"/>
          <c:order val="0"/>
          <c:tx>
            <c:strRef>
              <c:f>Sheet1!$B$1</c:f>
              <c:strCache>
                <c:ptCount val="1"/>
                <c:pt idx="0">
                  <c:v>Agreement on the hardest cases (%)</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1. private calendars</c:v>
                  </c:pt>
                  <c:pt idx="1">
                    <c:v>2. + asked times</c:v>
                  </c:pt>
                  <c:pt idx="2">
                    <c:v>3. letters in time order</c:v>
                  </c:pt>
                </c:lvl>
              </c:multiLvlStrCache>
            </c:multiLvlStrRef>
          </c:cat>
          <c:val>
            <c:numRef>
              <c:f>Sheet1!$B$2:$B$4</c:f>
              <c:numCache>
                <c:formatCode>General</c:formatCode>
                <c:ptCount val="3"/>
                <c:pt idx="0">
                  <c:v>58.7</c:v>
                </c:pt>
                <c:pt idx="1">
                  <c:v>69.4</c:v>
                </c:pt>
                <c:pt idx="2">
                  <c:v>69.4</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The served 1B, int4, by threshold (%)</a:t>
            </a:r>
          </a:p>
        </c:rich>
      </c:tx>
      <c:layout/>
      <c:overlay val="0"/>
    </c:title>
    <c:autoTitleDeleted val="0"/>
    <c:plotArea>
      <c:layout/>
      <c:lineChart>
        <c:varyColors val="0"/>
        <c:ser>
          <c:idx val="0"/>
          <c:order val="0"/>
          <c:tx>
            <c:strRef>
              <c:f>Sheet1!$B$1</c:f>
              <c:strCache>
                <c:ptCount val="1"/>
                <c:pt idx="0">
                  <c:v>Hardest: share it answers</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Hardest: agreement with Glimmer</c:v>
                </c:pt>
              </c:strCache>
            </c:strRef>
          </c:tx>
          <c:spPr>
            <a:solidFill>
              <a:srgbClr val="D1352B"/>
            </a:solidFill>
            <a:ln w="31750" cap="flat">
              <a:solidFill>
                <a:srgbClr val="D1352B"/>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D1352B"/>
              </a:solidFill>
              <a:ln w="9525" cap="flat">
                <a:solidFill>
                  <a:srgbClr val="D1352B"/>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ser>
          <c:idx val="2"/>
          <c:order val="2"/>
          <c:tx>
            <c:strRef>
              <c:f>Sheet1!$D$1</c:f>
              <c:strCache>
                <c:ptCount val="1"/>
                <c:pt idx="0">
                  <c:v>Test: share it answers</c:v>
                </c:pt>
              </c:strCache>
            </c:strRef>
          </c:tx>
          <c:spPr>
            <a:solidFill>
              <a:srgbClr val="7FBF9E"/>
            </a:solidFill>
            <a:ln w="31750" cap="flat">
              <a:solidFill>
                <a:srgbClr val="7FBF9E"/>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7FBF9E"/>
              </a:solidFill>
              <a:ln w="9525" cap="flat">
                <a:solidFill>
                  <a:srgbClr val="7FBF9E"/>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Sheet1!$D$2:$D$7</c:f>
              <c:numCache>
                <c:formatCode>General</c:formatCode>
                <c:ptCount val="6"/>
                <c:pt idx="0">
                  <c:v>100</c:v>
                </c:pt>
                <c:pt idx="1">
                  <c:v>99</c:v>
                </c:pt>
                <c:pt idx="2">
                  <c:v>96</c:v>
                </c:pt>
                <c:pt idx="3">
                  <c:v>92.6</c:v>
                </c:pt>
                <c:pt idx="4">
                  <c:v>87.4</c:v>
                </c:pt>
                <c:pt idx="5">
                  <c:v>78.4</c:v>
                </c:pt>
              </c:numCache>
            </c:numRef>
          </c:val>
          <c:smooth val="0"/>
        </c:ser>
        <c:ser>
          <c:idx val="3"/>
          <c:order val="3"/>
          <c:tx>
            <c:strRef>
              <c:f>Sheet1!$E$1</c:f>
              <c:strCache>
                <c:ptCount val="1"/>
                <c:pt idx="0">
                  <c:v>Test: agreement with Glimmer</c:v>
                </c:pt>
              </c:strCache>
            </c:strRef>
          </c:tx>
          <c:spPr>
            <a:solidFill>
              <a:srgbClr val="E59A94"/>
            </a:solidFill>
            <a:ln w="31750" cap="flat">
              <a:solidFill>
                <a:srgbClr val="E59A9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E59A94"/>
              </a:solidFill>
              <a:ln w="9525" cap="flat">
                <a:solidFill>
                  <a:srgbClr val="E59A9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Sheet1!$E$2:$E$7</c:f>
              <c:numCache>
                <c:formatCode>General</c:formatCode>
                <c:ptCount val="6"/>
                <c:pt idx="0">
                  <c:v>89.4</c:v>
                </c:pt>
                <c:pt idx="1">
                  <c:v>89.6</c:v>
                </c:pt>
                <c:pt idx="2">
                  <c:v>89.9</c:v>
                </c:pt>
                <c:pt idx="3">
                  <c:v>90.7</c:v>
                </c:pt>
                <c:pt idx="4">
                  <c:v>90.9</c:v>
                </c:pt>
                <c:pt idx="5">
                  <c:v>90</c:v>
                </c:pt>
              </c:numCache>
            </c:numRef>
          </c:val>
          <c:smooth val="0"/>
        </c:ser>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By confidence bin (cases in brackets), %</a:t>
            </a:r>
          </a:p>
        </c:rich>
      </c:tx>
      <c:layout/>
      <c:overlay val="0"/>
    </c:title>
    <c:autoTitleDeleted val="0"/>
    <c:plotArea>
      <c:layout/>
      <c:barChart>
        <c:barDir val="col"/>
        <c:grouping val="clustered"/>
        <c:varyColors val="0"/>
        <c:ser>
          <c:idx val="0"/>
          <c:order val="0"/>
          <c:tx>
            <c:strRef>
              <c:f>Sheet1!$B$1</c:f>
              <c:strCache>
                <c:ptCount val="1"/>
                <c:pt idx="0">
                  <c:v>Its confidence (mean)</c:v>
                </c:pt>
              </c:strCache>
            </c:strRef>
          </c:tx>
          <c:spPr>
            <a:solidFill>
              <a:srgbClr val="8A8A92"/>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Sheet1!$B$2:$B$6</c:f>
              <c:numCache>
                <c:formatCode>General</c:formatCode>
                <c:ptCount val="5"/>
                <c:pt idx="0">
                  <c:v>57</c:v>
                </c:pt>
                <c:pt idx="1">
                  <c:v>63.6</c:v>
                </c:pt>
                <c:pt idx="2">
                  <c:v>75.2</c:v>
                </c:pt>
                <c:pt idx="3">
                  <c:v>86.5</c:v>
                </c:pt>
                <c:pt idx="4">
                  <c:v>98.5</c:v>
                </c:pt>
              </c:numCache>
            </c:numRef>
          </c:val>
        </c:ser>
        <c:ser>
          <c:idx val="1"/>
          <c:order val="1"/>
          <c:tx>
            <c:strRef>
              <c:f>Sheet1!$C$1</c:f>
              <c:strCache>
                <c:ptCount val="1"/>
                <c:pt idx="0">
                  <c:v>How often Glimmer agreed</c:v>
                </c:pt>
              </c:strCache>
            </c:strRef>
          </c:tx>
          <c:spPr>
            <a:solidFill>
              <a:srgbClr val="0A7F44"/>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Sheet1!$C$2:$C$6</c:f>
              <c:numCache>
                <c:formatCode>General</c:formatCode>
                <c:ptCount val="5"/>
                <c:pt idx="0">
                  <c:v>66.7</c:v>
                </c:pt>
                <c:pt idx="1">
                  <c:v>68.8</c:v>
                </c:pt>
                <c:pt idx="2">
                  <c:v>65.1</c:v>
                </c:pt>
                <c:pt idx="3">
                  <c:v>76.4</c:v>
                </c:pt>
                <c:pt idx="4">
                  <c:v>94.4</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confidence bin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of 18 to 21 year olds played a sport but only 26% of 26 to 49 year olds. The top barrier, times that are hard to fit together, is 64.2%. Each barrier maps to one of Serve's helpers.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30, 25 rounds. After every round we fixed what they found, ran the unit tests, checked the pages in a browser, deployed, and started the next round with new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turned out to be the test setup, not Serve. From round 21 the rule changed to core flows only, which let the loop end on a clear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(video/shotcraft/public/swarm/sessions.json, video/deck/make_swarm.py).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with resource ordering: all or nothing, 30 minutes, asked in a fixed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times were ordered by how many players had them free. Now they are ordered by the chance that every player accepts.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neither gives up nor asks the player again: it asks the single yes-or-no question whose answer most raises the expected chance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 for work only Glimmer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 Below 0.6, or if its reading of which times work differed from code's, the case would go on to the decider and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student where it is sure and Glimmer elsewhere. Glimmer alone agrees with itself 73.5% on the hardest cases and 88.3%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predictions; the served int4 picks the same option on 492 of 500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report: send gate (Oralytics, EOPA), preference records (PersonaMem, Mem0), tool checks (JSONSchemaBench, ToolMaze), judging ahead (Speculative Actions), pass^k (tau-bench, Sim2Real), order (Magentic Marketplace), stretch round (CalBench).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graphicFrame>
        <p:nvGraphicFramePr>
          <p:cNvPr id="3" name="Chart 0" descr=""/>
          <p:cNvGraphicFramePr/>
          <p:nvPr/>
        </p:nvGraphicFramePr>
        <p:xfrm>
          <a:off x="548640" y="1280160"/>
          <a:ext cx="329184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166360"/>
            <a:ext cx="329184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NPR, RWJF and Harvard Chan poll, 2015</a:t>
            </a:r>
            <a:endParaRPr lang="en-US" sz="1100" dirty="0"/>
          </a:p>
        </p:txBody>
      </p:sp>
      <p:graphicFrame>
        <p:nvGraphicFramePr>
          <p:cNvPr id="5" name="Chart 1" descr=""/>
          <p:cNvGraphicFramePr/>
          <p:nvPr/>
        </p:nvGraphicFramePr>
        <p:xfrm>
          <a:off x="4114800" y="1280160"/>
          <a:ext cx="4846320" cy="38404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5166360"/>
            <a:ext cx="484632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Sport New Zealand, Active NZ survey, 2023</a:t>
            </a:r>
            <a:endParaRPr lang="en-US" sz="1100" dirty="0"/>
          </a:p>
        </p:txBody>
      </p:sp>
      <p:sp>
        <p:nvSpPr>
          <p:cNvPr id="7" name="Shape 3"/>
          <p:cNvSpPr/>
          <p:nvPr/>
        </p:nvSpPr>
        <p:spPr>
          <a:xfrm>
            <a:off x="9235440" y="1417320"/>
            <a:ext cx="2407615" cy="1033272"/>
          </a:xfrm>
          <a:prstGeom prst="roundRect">
            <a:avLst>
              <a:gd name="adj" fmla="val 7080"/>
            </a:avLst>
          </a:prstGeom>
          <a:solidFill>
            <a:srgbClr val="E9F3EC"/>
          </a:solidFill>
          <a:ln w="12700">
            <a:solidFill>
              <a:srgbClr val="E9F3EC"/>
            </a:solidFill>
            <a:prstDash val="solid"/>
          </a:ln>
        </p:spPr>
      </p:sp>
      <p:sp>
        <p:nvSpPr>
          <p:cNvPr id="8" name="Text 4"/>
          <p:cNvSpPr txBox="1"/>
          <p:nvPr/>
        </p:nvSpPr>
        <p:spPr>
          <a:xfrm>
            <a:off x="9418320" y="1417320"/>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Talk</a:t>
            </a:r>
            <a:endParaRPr lang="en-US" sz="1600" dirty="0"/>
          </a:p>
          <a:p>
            <a:pPr indent="0" marL="0">
              <a:buNone/>
            </a:pPr>
            <a:r>
              <a:rPr lang="en-US" sz="1200" dirty="0">
                <a:solidFill>
                  <a:srgbClr val="0A0A0B"/>
                </a:solidFill>
              </a:rPr>
              <a:t>fits the time: the agents agree it among themselves</a:t>
            </a:r>
            <a:endParaRPr lang="en-US" sz="1600" dirty="0"/>
          </a:p>
        </p:txBody>
      </p:sp>
      <p:sp>
        <p:nvSpPr>
          <p:cNvPr id="9" name="Shape 5"/>
          <p:cNvSpPr/>
          <p:nvPr/>
        </p:nvSpPr>
        <p:spPr>
          <a:xfrm>
            <a:off x="9235440" y="2633472"/>
            <a:ext cx="2407615" cy="1033272"/>
          </a:xfrm>
          <a:prstGeom prst="roundRect">
            <a:avLst>
              <a:gd name="adj" fmla="val 7080"/>
            </a:avLst>
          </a:prstGeom>
          <a:solidFill>
            <a:srgbClr val="E9F3EC"/>
          </a:solidFill>
          <a:ln w="12700">
            <a:solidFill>
              <a:srgbClr val="E9F3EC"/>
            </a:solidFill>
            <a:prstDash val="solid"/>
          </a:ln>
        </p:spPr>
      </p:sp>
      <p:sp>
        <p:nvSpPr>
          <p:cNvPr id="10" name="Text 6"/>
          <p:cNvSpPr txBox="1"/>
          <p:nvPr/>
        </p:nvSpPr>
        <p:spPr>
          <a:xfrm>
            <a:off x="9418320" y="2633472"/>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Match</a:t>
            </a:r>
            <a:endParaRPr lang="en-US" sz="1600" dirty="0"/>
          </a:p>
          <a:p>
            <a:pPr indent="0" marL="0">
              <a:buNone/>
            </a:pPr>
            <a:r>
              <a:rPr lang="en-US" sz="1200" dirty="0">
                <a:solidFill>
                  <a:srgbClr val="0A0A0B"/>
                </a:solidFill>
              </a:rPr>
              <a:t>keeps the habit: it asks first, at the player's usual times</a:t>
            </a:r>
            <a:endParaRPr lang="en-US" sz="1600" dirty="0"/>
          </a:p>
        </p:txBody>
      </p:sp>
      <p:sp>
        <p:nvSpPr>
          <p:cNvPr id="11" name="Shape 7"/>
          <p:cNvSpPr/>
          <p:nvPr/>
        </p:nvSpPr>
        <p:spPr>
          <a:xfrm>
            <a:off x="9235440" y="3849624"/>
            <a:ext cx="2407615" cy="1033272"/>
          </a:xfrm>
          <a:prstGeom prst="roundRect">
            <a:avLst>
              <a:gd name="adj" fmla="val 7080"/>
            </a:avLst>
          </a:prstGeom>
          <a:solidFill>
            <a:srgbClr val="E9F3EC"/>
          </a:solidFill>
          <a:ln w="12700">
            <a:solidFill>
              <a:srgbClr val="E9F3EC"/>
            </a:solidFill>
            <a:prstDash val="solid"/>
          </a:ln>
        </p:spPr>
      </p:sp>
      <p:sp>
        <p:nvSpPr>
          <p:cNvPr id="12" name="Text 8"/>
          <p:cNvSpPr txBox="1"/>
          <p:nvPr/>
        </p:nvSpPr>
        <p:spPr>
          <a:xfrm>
            <a:off x="9418320" y="3849624"/>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The agents</a:t>
            </a:r>
            <a:endParaRPr lang="en-US" sz="1600" dirty="0"/>
          </a:p>
          <a:p>
            <a:pPr indent="0" marL="0">
              <a:buNone/>
            </a:pPr>
            <a:r>
              <a:rPr lang="en-US" sz="1200" dirty="0">
                <a:solidFill>
                  <a:srgbClr val="0A0A0B"/>
                </a:solidFill>
              </a:rPr>
              <a:t>find the people: free players nearby, ranked</a:t>
            </a:r>
            <a:endParaRPr lang="en-US" sz="1600" dirty="0"/>
          </a:p>
        </p:txBody>
      </p:sp>
      <p:sp>
        <p:nvSpPr>
          <p:cNvPr id="13" name="Text 9"/>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500" dirty="0">
                <a:solidFill>
                  <a:srgbClr val="0A0A0B"/>
                </a:solidFill>
              </a:rPr>
              <a:t>Most people who stop have not lost interest: they are worn down by organising. Serve turns hours of back-and-forth into </a:t>
            </a:r>
            <a:pPr indent="0" marL="0">
              <a:spcAft>
                <a:spcPts val="600"/>
              </a:spcAft>
              <a:buNone/>
            </a:pPr>
            <a:r>
              <a:rPr lang="en-US" sz="1500" b="1" dirty="0">
                <a:solidFill>
                  <a:srgbClr val="0A7F44"/>
                </a:solidFill>
              </a:rPr>
              <a:t>one yes from each person.</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153 AI agents in 25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 by round: bugs fell to zero, clean reports rose to 6 of 6</a:t>
            </a:r>
            <a:endParaRPr lang="en-US" sz="2800" dirty="0"/>
          </a:p>
        </p:txBody>
      </p:sp>
      <p:graphicFrame>
        <p:nvGraphicFramePr>
          <p:cNvPr id="3" name="Chart 0" descr=""/>
          <p:cNvGraphicFramePr/>
          <p:nvPr/>
        </p:nvGraphicFramePr>
        <p:xfrm>
          <a:off x="548640" y="1234440"/>
          <a:ext cx="73152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48640" y="3794760"/>
          <a:ext cx="7315200" cy="233172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8229600" y="1280160"/>
            <a:ext cx="3413455" cy="1508760"/>
          </a:xfrm>
          <a:prstGeom prst="roundRect">
            <a:avLst>
              <a:gd name="adj" fmla="val 4848"/>
            </a:avLst>
          </a:prstGeom>
          <a:solidFill>
            <a:srgbClr val="F3F6F4"/>
          </a:solidFill>
          <a:ln w="12700">
            <a:solidFill>
              <a:srgbClr val="F3F6F4"/>
            </a:solidFill>
            <a:prstDash val="solid"/>
          </a:ln>
        </p:spPr>
      </p:sp>
      <p:sp>
        <p:nvSpPr>
          <p:cNvPr id="6" name="Text 2"/>
          <p:cNvSpPr txBox="1"/>
          <p:nvPr/>
        </p:nvSpPr>
        <p:spPr>
          <a:xfrm>
            <a:off x="8458200" y="144475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153</a:t>
            </a:r>
            <a:endParaRPr lang="en-US" sz="3600" dirty="0"/>
          </a:p>
        </p:txBody>
      </p:sp>
      <p:sp>
        <p:nvSpPr>
          <p:cNvPr id="7" name="Text 3"/>
          <p:cNvSpPr txBox="1"/>
          <p:nvPr/>
        </p:nvSpPr>
        <p:spPr>
          <a:xfrm>
            <a:off x="8458200" y="2121408"/>
            <a:ext cx="2956255" cy="594360"/>
          </a:xfrm>
          <a:prstGeom prst="rect">
            <a:avLst/>
          </a:prstGeom>
          <a:noFill/>
          <a:ln/>
        </p:spPr>
        <p:txBody>
          <a:bodyPr wrap="square" lIns="0" tIns="0" rIns="0" bIns="0" rtlCol="0" anchor="t"/>
          <a:lstStyle/>
          <a:p>
            <a:pPr indent="0" marL="0">
              <a:buNone/>
            </a:pPr>
            <a:r>
              <a:rPr lang="en-US" sz="1300" dirty="0">
                <a:solidFill>
                  <a:srgbClr val="55555C"/>
                </a:solidFill>
              </a:rPr>
              <a:t>AI testers, one report each</a:t>
            </a:r>
            <a:endParaRPr lang="en-US" sz="1300" dirty="0"/>
          </a:p>
        </p:txBody>
      </p:sp>
      <p:sp>
        <p:nvSpPr>
          <p:cNvPr id="8" name="Shape 4"/>
          <p:cNvSpPr/>
          <p:nvPr/>
        </p:nvSpPr>
        <p:spPr>
          <a:xfrm>
            <a:off x="8229600" y="2926080"/>
            <a:ext cx="3413455" cy="1508760"/>
          </a:xfrm>
          <a:prstGeom prst="roundRect">
            <a:avLst>
              <a:gd name="adj" fmla="val 4848"/>
            </a:avLst>
          </a:prstGeom>
          <a:solidFill>
            <a:srgbClr val="F3F6F4"/>
          </a:solidFill>
          <a:ln w="12700">
            <a:solidFill>
              <a:srgbClr val="F3F6F4"/>
            </a:solidFill>
            <a:prstDash val="solid"/>
          </a:ln>
        </p:spPr>
      </p:sp>
      <p:sp>
        <p:nvSpPr>
          <p:cNvPr id="9" name="Text 5"/>
          <p:cNvSpPr txBox="1"/>
          <p:nvPr/>
        </p:nvSpPr>
        <p:spPr>
          <a:xfrm>
            <a:off x="8458200" y="309067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16,713</a:t>
            </a:r>
            <a:endParaRPr lang="en-US" sz="3600" dirty="0"/>
          </a:p>
        </p:txBody>
      </p:sp>
      <p:sp>
        <p:nvSpPr>
          <p:cNvPr id="10" name="Text 6"/>
          <p:cNvSpPr txBox="1"/>
          <p:nvPr/>
        </p:nvSpPr>
        <p:spPr>
          <a:xfrm>
            <a:off x="8458200" y="3767328"/>
            <a:ext cx="2956255" cy="594360"/>
          </a:xfrm>
          <a:prstGeom prst="rect">
            <a:avLst/>
          </a:prstGeom>
          <a:noFill/>
          <a:ln/>
        </p:spPr>
        <p:txBody>
          <a:bodyPr wrap="square" lIns="0" tIns="0" rIns="0" bIns="0" rtlCol="0" anchor="t"/>
          <a:lstStyle/>
          <a:p>
            <a:pPr indent="0" marL="0">
              <a:buNone/>
            </a:pPr>
            <a:r>
              <a:rPr lang="en-US" sz="1300" dirty="0">
                <a:solidFill>
                  <a:srgbClr val="55555C"/>
                </a:solidFill>
              </a:rPr>
              <a:t>requests logged, with a hash of the session, never the session</a:t>
            </a:r>
            <a:endParaRPr lang="en-US" sz="1300" dirty="0"/>
          </a:p>
        </p:txBody>
      </p:sp>
      <p:sp>
        <p:nvSpPr>
          <p:cNvPr id="11" name="Shape 7"/>
          <p:cNvSpPr/>
          <p:nvPr/>
        </p:nvSpPr>
        <p:spPr>
          <a:xfrm>
            <a:off x="8229600" y="4572000"/>
            <a:ext cx="3413455" cy="1508760"/>
          </a:xfrm>
          <a:prstGeom prst="roundRect">
            <a:avLst>
              <a:gd name="adj" fmla="val 4848"/>
            </a:avLst>
          </a:prstGeom>
          <a:solidFill>
            <a:srgbClr val="F3F6F4"/>
          </a:solidFill>
          <a:ln w="12700">
            <a:solidFill>
              <a:srgbClr val="F3F6F4"/>
            </a:solidFill>
            <a:prstDash val="solid"/>
          </a:ln>
        </p:spPr>
      </p:sp>
      <p:sp>
        <p:nvSpPr>
          <p:cNvPr id="12" name="Text 8"/>
          <p:cNvSpPr txBox="1"/>
          <p:nvPr/>
        </p:nvSpPr>
        <p:spPr>
          <a:xfrm>
            <a:off x="8458200" y="473659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6 of 6</a:t>
            </a:r>
            <a:endParaRPr lang="en-US" sz="3600" dirty="0"/>
          </a:p>
        </p:txBody>
      </p:sp>
      <p:sp>
        <p:nvSpPr>
          <p:cNvPr id="13" name="Text 9"/>
          <p:cNvSpPr txBox="1"/>
          <p:nvPr/>
        </p:nvSpPr>
        <p:spPr>
          <a:xfrm>
            <a:off x="8458200" y="5413248"/>
            <a:ext cx="2956255" cy="594360"/>
          </a:xfrm>
          <a:prstGeom prst="rect">
            <a:avLst/>
          </a:prstGeom>
          <a:noFill/>
          <a:ln/>
        </p:spPr>
        <p:txBody>
          <a:bodyPr wrap="square" lIns="0" tIns="0" rIns="0" bIns="0" rtlCol="0" anchor="t"/>
          <a:lstStyle/>
          <a:p>
            <a:pPr indent="0" marL="0">
              <a:buNone/>
            </a:pPr>
            <a:r>
              <a:rPr lang="en-US" sz="1300" dirty="0">
                <a:solidFill>
                  <a:srgbClr val="55555C"/>
                </a:solidFill>
              </a:rPr>
              <a:t>clean in round 25, on every core flow</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600891" y="1188720"/>
            <a:ext cx="8307977" cy="4846320"/>
          </a:xfrm>
          <a:prstGeom prst="rect">
            <a:avLst/>
          </a:prstGeom>
        </p:spPr>
      </p:pic>
      <p:sp>
        <p:nvSpPr>
          <p:cNvPr id="4" name="Text 1"/>
          <p:cNvSpPr txBox="1"/>
          <p:nvPr/>
        </p:nvSpPr>
        <p:spPr>
          <a:xfrm>
            <a:off x="9235440" y="1280160"/>
            <a:ext cx="2407615" cy="3291840"/>
          </a:xfrm>
          <a:prstGeom prst="rect">
            <a:avLst/>
          </a:prstGeom>
          <a:noFill/>
          <a:ln/>
        </p:spPr>
        <p:txBody>
          <a:bodyPr wrap="square" lIns="0" tIns="0" rIns="0" bIns="0" rtlCol="0" anchor="t"/>
          <a:lstStyle/>
          <a:p>
            <a:pPr indent="0" marL="0">
              <a:spcAft>
                <a:spcPts val="1000"/>
              </a:spcAft>
              <a:buNone/>
            </a:pPr>
            <a:r>
              <a:rPr lang="en-US" sz="1300" dirty="0">
                <a:solidFill>
                  <a:srgbClr val="0A0A0B"/>
                </a:solidFill>
              </a:rPr>
              <a:t>One row per tester session, rounds 4 to 25; one dot per request at its time since the session began.</a:t>
            </a:r>
            <a:endParaRPr lang="en-US" sz="1300" dirty="0"/>
          </a:p>
          <a:p>
            <a:pPr indent="0" marL="0">
              <a:spcAft>
                <a:spcPts val="1000"/>
              </a:spcAft>
              <a:buNone/>
            </a:pPr>
            <a:r>
              <a:rPr lang="en-US" sz="1300" dirty="0">
                <a:solidFill>
                  <a:srgbClr val="0A7F44"/>
                </a:solidFill>
              </a:rPr>
              <a:t>● </a:t>
            </a:r>
            <a:pPr indent="0" marL="0">
              <a:spcAft>
                <a:spcPts val="1000"/>
              </a:spcAft>
              <a:buNone/>
            </a:pPr>
            <a:r>
              <a:rPr lang="en-US" sz="1300" dirty="0">
                <a:solidFill>
                  <a:srgbClr val="0A0A0B"/>
                </a:solidFill>
              </a:rPr>
              <a:t>2xx answered  </a:t>
            </a:r>
            <a:pPr indent="0" marL="0">
              <a:spcAft>
                <a:spcPts val="1000"/>
              </a:spcAft>
              <a:buNone/>
            </a:pPr>
            <a:r>
              <a:rPr lang="en-US" sz="1300" dirty="0">
                <a:solidFill>
                  <a:srgbClr val="B26A00"/>
                </a:solidFill>
              </a:rPr>
              <a:t>● </a:t>
            </a:r>
            <a:pPr indent="0" marL="0">
              <a:spcAft>
                <a:spcPts val="1000"/>
              </a:spcAft>
              <a:buNone/>
            </a:pPr>
            <a:r>
              <a:rPr lang="en-US" sz="1300" dirty="0">
                <a:solidFill>
                  <a:srgbClr val="0A0A0B"/>
                </a:solidFill>
              </a:rPr>
              <a:t>4xx refused or not found</a:t>
            </a:r>
            <a:endParaRPr lang="en-US" sz="1300" dirty="0"/>
          </a:p>
          <a:p>
            <a:pPr indent="0" marL="0">
              <a:spcAft>
                <a:spcPts val="1000"/>
              </a:spcAft>
              <a:buNone/>
            </a:pPr>
            <a:r>
              <a:rPr lang="en-US" sz="1300" dirty="0">
                <a:solidFill>
                  <a:srgbClr val="0A0A0B"/>
                </a:solidFill>
              </a:rPr>
              <a:t>11,525 requests drawn: 10,135 answered, 1,389 refused, not found or invalid, and no server errors (5xx).</a:t>
            </a:r>
            <a:endParaRPr lang="en-US" sz="1300" dirty="0"/>
          </a:p>
        </p:txBody>
      </p:sp>
      <p:sp>
        <p:nvSpPr>
          <p:cNvPr id="5" name="Shape 2"/>
          <p:cNvSpPr/>
          <p:nvPr/>
        </p:nvSpPr>
        <p:spPr>
          <a:xfrm>
            <a:off x="9235440" y="4663440"/>
            <a:ext cx="2407615" cy="1371600"/>
          </a:xfrm>
          <a:prstGeom prst="roundRect">
            <a:avLst>
              <a:gd name="adj" fmla="val 5333"/>
            </a:avLst>
          </a:prstGeom>
          <a:solidFill>
            <a:srgbClr val="E9F3EC"/>
          </a:solidFill>
          <a:ln w="12700">
            <a:solidFill>
              <a:srgbClr val="E9F3EC"/>
            </a:solidFill>
            <a:prstDash val="solid"/>
          </a:ln>
        </p:spPr>
      </p:sp>
      <p:sp>
        <p:nvSpPr>
          <p:cNvPr id="6" name="Text 3"/>
          <p:cNvSpPr txBox="1"/>
          <p:nvPr/>
        </p:nvSpPr>
        <p:spPr>
          <a:xfrm>
            <a:off x="9418320" y="4773168"/>
            <a:ext cx="2041855" cy="1188720"/>
          </a:xfrm>
          <a:prstGeom prst="rect">
            <a:avLst/>
          </a:prstGeom>
          <a:noFill/>
          <a:ln/>
        </p:spPr>
        <p:txBody>
          <a:bodyPr wrap="square" lIns="0" tIns="0" rIns="0" bIns="0" rtlCol="0" anchor="t"/>
          <a:lstStyle/>
          <a:p>
            <a:pPr indent="0" marL="0">
              <a:spcAft>
                <a:spcPts val="600"/>
              </a:spcAft>
              <a:buNone/>
            </a:pPr>
            <a:r>
              <a:rPr lang="en-US" sz="1250" b="1" dirty="0">
                <a:solidFill>
                  <a:srgbClr val="0A0A0B"/>
                </a:solidFill>
              </a:rPr>
              <a:t>An agent with only the address </a:t>
            </a:r>
            <a:pPr indent="0" marL="0">
              <a:spcAft>
                <a:spcPts val="600"/>
              </a:spcAft>
              <a:buNone/>
            </a:pPr>
            <a:r>
              <a:rPr lang="en-US" sz="1250" dirty="0">
                <a:solidFill>
                  <a:srgbClr val="0A0A0B"/>
                </a:solidFill>
              </a:rPr>
              <a:t>was doing useful work by its third request and found its person a Sunday 09:00 tennis game, free, 2.6 km away.</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Text 1"/>
          <p:cNvSpPr txBox="1"/>
          <p:nvPr/>
        </p:nvSpPr>
        <p:spPr>
          <a:xfrm>
            <a:off x="548640" y="1325880"/>
            <a:ext cx="6035040" cy="475488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0A0A0B"/>
                </a:solidFill>
              </a:rPr>
              <a:t>Facts only. </a:t>
            </a:r>
            <a:pPr indent="0" marL="0">
              <a:spcAft>
                <a:spcPts val="1000"/>
              </a:spcAft>
              <a:buNone/>
            </a:pPr>
            <a:r>
              <a:rPr lang="en-US" sz="1500" dirty="0">
                <a:solidFill>
                  <a:srgbClr val="0A0A0B"/>
                </a:solidFill>
              </a:rPr>
              <a:t>A proposal carries each time as {id, date, start, venue, court, trip}; sentences between agents are templates filled by code, so no agent's model reads another side's words.</a:t>
            </a:r>
            <a:endParaRPr lang="en-US" sz="1500" dirty="0"/>
          </a:p>
          <a:p>
            <a:pPr marL="342900" indent="-342900">
              <a:spcAft>
                <a:spcPts val="1000"/>
              </a:spcAft>
              <a:buSzPct val="100000"/>
              <a:buChar char="•"/>
            </a:pPr>
            <a:r>
              <a:rPr lang="en-US" sz="1500" b="1" dirty="0">
                <a:solidFill>
                  <a:srgbClr val="0A0A0B"/>
                </a:solidFill>
              </a:rPr>
              <a:t>One round, by intersection. </a:t>
            </a:r>
            <a:pPr indent="0" marL="0">
              <a:spcAft>
                <a:spcPts val="1000"/>
              </a:spcAft>
              <a:buNone/>
            </a:pPr>
            <a:r>
              <a:rPr lang="en-US" sz="1500" dirty="0">
                <a:solidFill>
                  <a:srgbClr val="0A0A0B"/>
                </a:solidFill>
              </a:rPr>
              <a:t>The host lists up to 12 times that fit every calendar; each agent marks the ones that work, and that is binding. Contract Net with a one-shot intersection.</a:t>
            </a:r>
            <a:endParaRPr lang="en-US" sz="1500" dirty="0"/>
          </a:p>
          <a:p>
            <a:pPr marL="342900" indent="-342900">
              <a:spcAft>
                <a:spcPts val="1000"/>
              </a:spcAft>
              <a:buSzPct val="100000"/>
              <a:buChar char="•"/>
            </a:pPr>
            <a:r>
              <a:rPr lang="en-US" sz="1500" b="1" dirty="0">
                <a:solidFill>
                  <a:srgbClr val="0A0A0B"/>
                </a:solidFill>
              </a:rPr>
              <a:t>Durable and signed. </a:t>
            </a:r>
            <a:pPr indent="0" marL="0">
              <a:spcAft>
                <a:spcPts val="1000"/>
              </a:spcAft>
              <a:buNone/>
            </a:pPr>
            <a:r>
              <a:rPr lang="en-US" sz="1500" dirty="0">
                <a:solidFill>
                  <a:srgbClr val="0A0A0B"/>
                </a:solidFill>
              </a:rPr>
              <a:t>Saved before every round, answered once, idempotent booking; Agent Cards signed (Ed25519 JWS over canonical JSON).</a:t>
            </a:r>
            <a:endParaRPr lang="en-US" sz="1500" dirty="0"/>
          </a:p>
          <a:p>
            <a:pPr marL="342900" indent="-342900">
              <a:spcAft>
                <a:spcPts val="1000"/>
              </a:spcAft>
              <a:buSzPct val="100000"/>
              <a:buChar char="•"/>
            </a:pPr>
            <a:r>
              <a:rPr lang="en-US" sz="1500" b="1" dirty="0">
                <a:solidFill>
                  <a:srgbClr val="0A0A0B"/>
                </a:solidFill>
              </a:rPr>
              <a:t>To the standard. </a:t>
            </a:r>
            <a:pPr indent="0" marL="0">
              <a:spcAft>
                <a:spcPts val="1000"/>
              </a:spcAft>
              <a:buNone/>
            </a:pPr>
            <a:r>
              <a:rPr lang="en-US" sz="1500" dirty="0">
                <a:solidFill>
                  <a:srgbClr val="0A0A0B"/>
                </a:solidFill>
              </a:rPr>
              <a:t>jku on cards, the proposal and hold extensions declared and required, the protocol's own error codes.</a:t>
            </a:r>
            <a:endParaRPr lang="en-US" sz="1500" dirty="0"/>
          </a:p>
        </p:txBody>
      </p:sp>
      <p:sp>
        <p:nvSpPr>
          <p:cNvPr id="4" name="Shape 2"/>
          <p:cNvSpPr/>
          <p:nvPr/>
        </p:nvSpPr>
        <p:spPr>
          <a:xfrm>
            <a:off x="6949440" y="1325880"/>
            <a:ext cx="2423160" cy="1508760"/>
          </a:xfrm>
          <a:prstGeom prst="roundRect">
            <a:avLst>
              <a:gd name="adj" fmla="val 4848"/>
            </a:avLst>
          </a:prstGeom>
          <a:solidFill>
            <a:srgbClr val="F3F6F4"/>
          </a:solidFill>
          <a:ln w="12700">
            <a:solidFill>
              <a:srgbClr val="F3F6F4"/>
            </a:solidFill>
            <a:prstDash val="solid"/>
          </a:ln>
        </p:spPr>
      </p:sp>
      <p:sp>
        <p:nvSpPr>
          <p:cNvPr id="5" name="Text 3"/>
          <p:cNvSpPr txBox="1"/>
          <p:nvPr/>
        </p:nvSpPr>
        <p:spPr>
          <a:xfrm>
            <a:off x="7178040" y="1490472"/>
            <a:ext cx="19659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 of 12</a:t>
            </a:r>
            <a:endParaRPr lang="en-US" sz="3600" dirty="0"/>
          </a:p>
        </p:txBody>
      </p:sp>
      <p:sp>
        <p:nvSpPr>
          <p:cNvPr id="6" name="Text 4"/>
          <p:cNvSpPr txBox="1"/>
          <p:nvPr/>
        </p:nvSpPr>
        <p:spPr>
          <a:xfrm>
            <a:off x="7178040" y="2167128"/>
            <a:ext cx="1965960" cy="594360"/>
          </a:xfrm>
          <a:prstGeom prst="rect">
            <a:avLst/>
          </a:prstGeom>
          <a:noFill/>
          <a:ln/>
        </p:spPr>
        <p:txBody>
          <a:bodyPr wrap="square" lIns="0" tIns="0" rIns="0" bIns="0" rtlCol="0" anchor="t"/>
          <a:lstStyle/>
          <a:p>
            <a:pPr indent="0" marL="0">
              <a:buNone/>
            </a:pPr>
            <a:r>
              <a:rPr lang="en-US" sz="1300" dirty="0">
                <a:solidFill>
                  <a:srgbClr val="55555C"/>
                </a:solidFill>
              </a:rPr>
              <a:t>double bookings with holds (11 of 12 without)</a:t>
            </a:r>
            <a:endParaRPr lang="en-US" sz="1300" dirty="0"/>
          </a:p>
        </p:txBody>
      </p:sp>
      <p:sp>
        <p:nvSpPr>
          <p:cNvPr id="7" name="Shape 5"/>
          <p:cNvSpPr/>
          <p:nvPr/>
        </p:nvSpPr>
        <p:spPr>
          <a:xfrm>
            <a:off x="9555480" y="1325880"/>
            <a:ext cx="2103120" cy="1508760"/>
          </a:xfrm>
          <a:prstGeom prst="roundRect">
            <a:avLst>
              <a:gd name="adj" fmla="val 4848"/>
            </a:avLst>
          </a:prstGeom>
          <a:solidFill>
            <a:srgbClr val="F3F6F4"/>
          </a:solidFill>
          <a:ln w="12700">
            <a:solidFill>
              <a:srgbClr val="F3F6F4"/>
            </a:solidFill>
            <a:prstDash val="solid"/>
          </a:ln>
        </p:spPr>
      </p:sp>
      <p:sp>
        <p:nvSpPr>
          <p:cNvPr id="8" name="Text 6"/>
          <p:cNvSpPr txBox="1"/>
          <p:nvPr/>
        </p:nvSpPr>
        <p:spPr>
          <a:xfrm>
            <a:off x="9784080" y="1490472"/>
            <a:ext cx="164592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20 / 20</a:t>
            </a:r>
            <a:endParaRPr lang="en-US" sz="3600" dirty="0"/>
          </a:p>
        </p:txBody>
      </p:sp>
      <p:sp>
        <p:nvSpPr>
          <p:cNvPr id="9" name="Text 7"/>
          <p:cNvSpPr txBox="1"/>
          <p:nvPr/>
        </p:nvSpPr>
        <p:spPr>
          <a:xfrm>
            <a:off x="9784080" y="2167128"/>
            <a:ext cx="1645920" cy="594360"/>
          </a:xfrm>
          <a:prstGeom prst="rect">
            <a:avLst/>
          </a:prstGeom>
          <a:noFill/>
          <a:ln/>
        </p:spPr>
        <p:txBody>
          <a:bodyPr wrap="square" lIns="0" tIns="0" rIns="0" bIns="0" rtlCol="0" anchor="t"/>
          <a:lstStyle/>
          <a:p>
            <a:pPr indent="0" marL="0">
              <a:buNone/>
            </a:pPr>
            <a:r>
              <a:rPr lang="en-US" sz="1300" dirty="0">
                <a:solidFill>
                  <a:srgbClr val="55555C"/>
                </a:solidFill>
              </a:rPr>
              <a:t>recovery checks, gateway killed at 5 points</a:t>
            </a:r>
            <a:endParaRPr lang="en-US" sz="1300" dirty="0"/>
          </a:p>
        </p:txBody>
      </p:sp>
      <p:sp>
        <p:nvSpPr>
          <p:cNvPr id="10" name="Shape 8"/>
          <p:cNvSpPr/>
          <p:nvPr/>
        </p:nvSpPr>
        <p:spPr>
          <a:xfrm>
            <a:off x="6949440" y="3063240"/>
            <a:ext cx="2423160" cy="1508760"/>
          </a:xfrm>
          <a:prstGeom prst="roundRect">
            <a:avLst>
              <a:gd name="adj" fmla="val 4848"/>
            </a:avLst>
          </a:prstGeom>
          <a:solidFill>
            <a:srgbClr val="F3F6F4"/>
          </a:solidFill>
          <a:ln w="12700">
            <a:solidFill>
              <a:srgbClr val="F3F6F4"/>
            </a:solidFill>
            <a:prstDash val="solid"/>
          </a:ln>
        </p:spPr>
      </p:sp>
      <p:sp>
        <p:nvSpPr>
          <p:cNvPr id="11" name="Text 9"/>
          <p:cNvSpPr txBox="1"/>
          <p:nvPr/>
        </p:nvSpPr>
        <p:spPr>
          <a:xfrm>
            <a:off x="7178040" y="3227832"/>
            <a:ext cx="19659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22 / 22</a:t>
            </a:r>
            <a:endParaRPr lang="en-US" sz="3600" dirty="0"/>
          </a:p>
        </p:txBody>
      </p:sp>
      <p:sp>
        <p:nvSpPr>
          <p:cNvPr id="12" name="Text 10"/>
          <p:cNvSpPr txBox="1"/>
          <p:nvPr/>
        </p:nvSpPr>
        <p:spPr>
          <a:xfrm>
            <a:off x="7178040" y="3904488"/>
            <a:ext cx="1965960" cy="594360"/>
          </a:xfrm>
          <a:prstGeom prst="rect">
            <a:avLst/>
          </a:prstGeom>
          <a:noFill/>
          <a:ln/>
        </p:spPr>
        <p:txBody>
          <a:bodyPr wrap="square" lIns="0" tIns="0" rIns="0" bIns="0" rtlCol="0" anchor="t"/>
          <a:lstStyle/>
          <a:p>
            <a:pPr indent="0" marL="0">
              <a:buNone/>
            </a:pPr>
            <a:r>
              <a:rPr lang="en-US" sz="1300" dirty="0">
                <a:solidFill>
                  <a:srgbClr val="55555C"/>
                </a:solidFill>
              </a:rPr>
              <a:t>checks across two machines, 12 talks at once</a:t>
            </a:r>
            <a:endParaRPr lang="en-US" sz="1300" dirty="0"/>
          </a:p>
        </p:txBody>
      </p:sp>
      <p:sp>
        <p:nvSpPr>
          <p:cNvPr id="13" name="Shape 11"/>
          <p:cNvSpPr/>
          <p:nvPr/>
        </p:nvSpPr>
        <p:spPr>
          <a:xfrm>
            <a:off x="9555480" y="3063240"/>
            <a:ext cx="2103120" cy="1508760"/>
          </a:xfrm>
          <a:prstGeom prst="roundRect">
            <a:avLst>
              <a:gd name="adj" fmla="val 4848"/>
            </a:avLst>
          </a:prstGeom>
          <a:solidFill>
            <a:srgbClr val="F3F6F4"/>
          </a:solidFill>
          <a:ln w="12700">
            <a:solidFill>
              <a:srgbClr val="F3F6F4"/>
            </a:solidFill>
            <a:prstDash val="solid"/>
          </a:ln>
        </p:spPr>
      </p:sp>
      <p:sp>
        <p:nvSpPr>
          <p:cNvPr id="14" name="Text 12"/>
          <p:cNvSpPr txBox="1"/>
          <p:nvPr/>
        </p:nvSpPr>
        <p:spPr>
          <a:xfrm>
            <a:off x="9784080" y="3227832"/>
            <a:ext cx="164592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185 ms</a:t>
            </a:r>
            <a:endParaRPr lang="en-US" sz="3600" dirty="0"/>
          </a:p>
        </p:txBody>
      </p:sp>
      <p:sp>
        <p:nvSpPr>
          <p:cNvPr id="15" name="Text 13"/>
          <p:cNvSpPr txBox="1"/>
          <p:nvPr/>
        </p:nvSpPr>
        <p:spPr>
          <a:xfrm>
            <a:off x="9784080" y="3904488"/>
            <a:ext cx="1645920" cy="594360"/>
          </a:xfrm>
          <a:prstGeom prst="rect">
            <a:avLst/>
          </a:prstGeom>
          <a:noFill/>
          <a:ln/>
        </p:spPr>
        <p:txBody>
          <a:bodyPr wrap="square" lIns="0" tIns="0" rIns="0" bIns="0" rtlCol="0" anchor="t"/>
          <a:lstStyle/>
          <a:p>
            <a:pPr indent="0" marL="0">
              <a:buNone/>
            </a:pPr>
            <a:r>
              <a:rPr lang="en-US" sz="1300" dirty="0">
                <a:solidFill>
                  <a:srgbClr val="55555C"/>
                </a:solidFill>
              </a:rPr>
              <a:t>added per request by the cross-machine hop</a:t>
            </a:r>
            <a:endParaRPr lang="en-US" sz="1300" dirty="0"/>
          </a:p>
        </p:txBody>
      </p:sp>
      <p:sp>
        <p:nvSpPr>
          <p:cNvPr id="16" name="Shape 14"/>
          <p:cNvSpPr/>
          <p:nvPr/>
        </p:nvSpPr>
        <p:spPr>
          <a:xfrm>
            <a:off x="6949440" y="4800600"/>
            <a:ext cx="4693615" cy="1234440"/>
          </a:xfrm>
          <a:prstGeom prst="roundRect">
            <a:avLst>
              <a:gd name="adj" fmla="val 5926"/>
            </a:avLst>
          </a:prstGeom>
          <a:solidFill>
            <a:srgbClr val="E9F3EC"/>
          </a:solidFill>
          <a:ln w="12700">
            <a:solidFill>
              <a:srgbClr val="E9F3EC"/>
            </a:solidFill>
            <a:prstDash val="solid"/>
          </a:ln>
        </p:spPr>
      </p:sp>
      <p:sp>
        <p:nvSpPr>
          <p:cNvPr id="17" name="Text 15"/>
          <p:cNvSpPr txBox="1"/>
          <p:nvPr/>
        </p:nvSpPr>
        <p:spPr>
          <a:xfrm>
            <a:off x="7178040" y="4919472"/>
            <a:ext cx="4236415" cy="105156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The fairest venue. </a:t>
            </a:r>
            <a:pPr indent="0" marL="0">
              <a:spcAft>
                <a:spcPts val="600"/>
              </a:spcAft>
              <a:buNone/>
            </a:pPr>
            <a:r>
              <a:rPr lang="en-US" sz="1300" dirty="0">
                <a:solidFill>
                  <a:srgbClr val="0A0A0B"/>
                </a:solidFill>
              </a:rPr>
              <a:t>Code picks the venue whose longest trip is shortest. Fairness score 0.73, against 0.59 (shortest total trip) and 0.58 (Nash), at 2.3 more minutes per game.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Times ranked by the chance everyone says yes</a:t>
            </a:r>
            <a:endParaRPr lang="en-US" sz="2800" dirty="0"/>
          </a:p>
        </p:txBody>
      </p:sp>
      <p:sp>
        <p:nvSpPr>
          <p:cNvPr id="3" name="Text 1"/>
          <p:cNvSpPr txBox="1"/>
          <p:nvPr/>
        </p:nvSpPr>
        <p:spPr>
          <a:xfrm>
            <a:off x="548640" y="1371600"/>
            <a:ext cx="4206240" cy="438912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rgbClr val="0A0A0B"/>
                </a:solidFill>
              </a:rPr>
              <a:t>The product of each player's chance of a yes, </a:t>
            </a:r>
            <a:pPr indent="0" marL="0">
              <a:spcAft>
                <a:spcPts val="1200"/>
              </a:spcAft>
              <a:buNone/>
            </a:pPr>
            <a:r>
              <a:rPr lang="en-US" sz="1500" dirty="0">
                <a:solidFill>
                  <a:srgbClr val="0A0A0B"/>
                </a:solidFill>
              </a:rPr>
              <a:t>with a least-misery floor: a time where anyone's chance is under 0.15 goes to the back.</a:t>
            </a:r>
            <a:endParaRPr lang="en-US" sz="1500" dirty="0"/>
          </a:p>
          <a:p>
            <a:pPr marL="342900" indent="-342900">
              <a:spcAft>
                <a:spcPts val="1200"/>
              </a:spcAft>
              <a:buSzPct val="100000"/>
              <a:buChar char="•"/>
            </a:pPr>
            <a:r>
              <a:rPr lang="en-US" sz="1500" b="1" dirty="0">
                <a:solidFill>
                  <a:srgbClr val="0A0A0B"/>
                </a:solidFill>
              </a:rPr>
              <a:t>Why it matters: </a:t>
            </a:r>
            <a:pPr indent="0" marL="0">
              <a:spcAft>
                <a:spcPts val="1200"/>
              </a:spcAft>
              <a:buNone/>
            </a:pPr>
            <a:r>
              <a:rPr lang="en-US" sz="1500" dirty="0">
                <a:solidFill>
                  <a:srgbClr val="0A0A0B"/>
                </a:solidFill>
              </a:rPr>
              <a:t>with shared calendars, the first time proposed decides whether each agent can say yes by code or must ask a model.</a:t>
            </a:r>
            <a:endParaRPr lang="en-US" sz="1500" dirty="0"/>
          </a:p>
          <a:p>
            <a:pPr marL="342900" indent="-342900">
              <a:spcAft>
                <a:spcPts val="1200"/>
              </a:spcAft>
              <a:buSzPct val="100000"/>
              <a:buChar char="•"/>
            </a:pPr>
            <a:r>
              <a:rPr lang="en-US" sz="1500" b="1" dirty="0">
                <a:solidFill>
                  <a:srgbClr val="0A0A0B"/>
                </a:solidFill>
              </a:rPr>
              <a:t>3,000 simulated requests of each kind; </a:t>
            </a:r>
            <a:pPr indent="0" marL="0">
              <a:spcAft>
                <a:spcPts val="1200"/>
              </a:spcAft>
              <a:buNone/>
            </a:pPr>
            <a:r>
              <a:rPr lang="en-US" sz="1500" dirty="0">
                <a:solidFill>
                  <a:srgbClr val="0A0A0B"/>
                </a:solidFill>
              </a:rPr>
              <a:t>with private calendars it found no more games.</a:t>
            </a:r>
            <a:endParaRPr lang="en-US" sz="1500" dirty="0"/>
          </a:p>
        </p:txBody>
      </p:sp>
      <p:graphicFrame>
        <p:nvGraphicFramePr>
          <p:cNvPr id="4" name="Chart 0" descr=""/>
          <p:cNvGraphicFramePr/>
          <p:nvPr/>
        </p:nvGraphicFramePr>
        <p:xfrm>
          <a:off x="5120640" y="1280160"/>
          <a:ext cx="649224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120640" y="4526280"/>
            <a:ext cx="649224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5349240" y="4690872"/>
            <a:ext cx="60350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0.261 → 0.109</a:t>
            </a:r>
            <a:endParaRPr lang="en-US" sz="3600" dirty="0"/>
          </a:p>
        </p:txBody>
      </p:sp>
      <p:sp>
        <p:nvSpPr>
          <p:cNvPr id="7" name="Text 4"/>
          <p:cNvSpPr txBox="1"/>
          <p:nvPr/>
        </p:nvSpPr>
        <p:spPr>
          <a:xfrm>
            <a:off x="5349240" y="5367528"/>
            <a:ext cx="6035040" cy="594360"/>
          </a:xfrm>
          <a:prstGeom prst="rect">
            <a:avLst/>
          </a:prstGeom>
          <a:noFill/>
          <a:ln/>
        </p:spPr>
        <p:txBody>
          <a:bodyPr wrap="square" lIns="0" tIns="0" rIns="0" bIns="0" rtlCol="0" anchor="t"/>
          <a:lstStyle/>
          <a:p>
            <a:pPr indent="0" marL="0">
              <a:buNone/>
            </a:pPr>
            <a:r>
              <a:rPr lang="en-US" sz="1300" dirty="0">
                <a:solidFill>
                  <a:srgbClr val="55555C"/>
                </a:solidFill>
              </a:rPr>
              <a:t>model choices per doubles request, so most doubles talks need no model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graphicFrame>
        <p:nvGraphicFramePr>
          <p:cNvPr id="3" name="Chart 0" descr=""/>
          <p:cNvGraphicFramePr/>
          <p:nvPr/>
        </p:nvGraphicFramePr>
        <p:xfrm>
          <a:off x="548640" y="128016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766560" y="1325880"/>
            <a:ext cx="4876495" cy="475488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A belief per player and hour, </a:t>
            </a:r>
            <a:pPr indent="0" marL="0">
              <a:spcAft>
                <a:spcPts val="1000"/>
              </a:spcAft>
              <a:buNone/>
            </a:pPr>
            <a:r>
              <a:rPr lang="en-US" sz="1400" dirty="0">
                <a:solidFill>
                  <a:srgbClr val="0A0A0B"/>
                </a:solidFill>
              </a:rPr>
              <a:t>a Beta posterior over what the agent has seen of that player's agent, never their calendar.</a:t>
            </a:r>
            <a:endParaRPr lang="en-US" sz="1400" dirty="0"/>
          </a:p>
          <a:p>
            <a:pPr marL="342900" indent="-342900">
              <a:spcAft>
                <a:spcPts val="1000"/>
              </a:spcAft>
              <a:buSzPct val="100000"/>
              <a:buChar char="•"/>
            </a:pPr>
            <a:r>
              <a:rPr lang="en-US" sz="1400" b="1" dirty="0">
                <a:solidFill>
                  <a:srgbClr val="0A0A0B"/>
                </a:solidFill>
              </a:rPr>
              <a:t>One answer teaches about similar hours </a:t>
            </a:r>
            <a:pPr indent="0" marL="0">
              <a:spcAft>
                <a:spcPts val="1000"/>
              </a:spcAft>
              <a:buNone/>
            </a:pPr>
            <a:r>
              <a:rPr lang="en-US" sz="1400" dirty="0">
                <a:solidFill>
                  <a:srgbClr val="0A0A0B"/>
                </a:solidFill>
              </a:rPr>
              <a:t>(after Pep and VPL): Brier 0.223 → 0.200; first talk lands 68.9% → 73.7%, or 75.1% → 79.2% with one question first.</a:t>
            </a:r>
            <a:endParaRPr lang="en-US" sz="1400" dirty="0"/>
          </a:p>
          <a:p>
            <a:pPr marL="342900" indent="-342900">
              <a:spcAft>
                <a:spcPts val="1000"/>
              </a:spcAft>
              <a:buSzPct val="100000"/>
              <a:buChar char="•"/>
            </a:pPr>
            <a:r>
              <a:rPr lang="en-US" sz="1400" b="1" dirty="0">
                <a:solidFill>
                  <a:srgbClr val="0A0A0B"/>
                </a:solidFill>
              </a:rPr>
              <a:t>Private by budget: </a:t>
            </a:r>
            <a:pPr indent="0" marL="0">
              <a:spcAft>
                <a:spcPts val="1000"/>
              </a:spcAft>
              <a:buNone/>
            </a:pPr>
            <a:r>
              <a:rPr lang="en-US" sz="1400" dirty="0">
                <a:solidFill>
                  <a:srgbClr val="0A0A0B"/>
                </a:solidFill>
              </a:rPr>
              <a:t>every free-or-busy question is charged to the disclosure budget; an agent that keeps asking learns at most 24 of 112 weekly hours in 28 days.</a:t>
            </a:r>
            <a:endParaRPr lang="en-US" sz="1400" dirty="0"/>
          </a:p>
          <a:p>
            <a:pPr marL="342900" indent="-342900">
              <a:spcAft>
                <a:spcPts val="1000"/>
              </a:spcAft>
              <a:buSzPct val="100000"/>
              <a:buChar char="•"/>
            </a:pPr>
            <a:r>
              <a:rPr lang="en-US" sz="1400" b="1" dirty="0">
                <a:solidFill>
                  <a:srgbClr val="0A0A0B"/>
                </a:solidFill>
              </a:rPr>
              <a:t>At most 3 asks a week, </a:t>
            </a:r>
            <a:pPr indent="0" marL="0">
              <a:spcAft>
                <a:spcPts val="1000"/>
              </a:spcAft>
              <a:buNone/>
            </a:pPr>
            <a:r>
              <a:rPr lang="en-US" sz="1400" dirty="0">
                <a:solidFill>
                  <a:srgbClr val="0A0A0B"/>
                </a:solidFill>
              </a:rPr>
              <a:t>and an .ics calendar can be imported (busy times only).</a:t>
            </a:r>
            <a:endParaRPr lang="en-US" sz="1400" dirty="0"/>
          </a:p>
        </p:txBody>
      </p:sp>
      <p:sp>
        <p:nvSpPr>
          <p:cNvPr id="5" name="Text 2"/>
          <p:cNvSpPr txBox="1"/>
          <p:nvPr/>
        </p:nvSpPr>
        <p:spPr>
          <a:xfrm>
            <a:off x="548640" y="4709160"/>
            <a:ext cx="5852160" cy="36576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Each rate is good to about 0.7 points either way.</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sp>
        <p:nvSpPr>
          <p:cNvPr id="20" name="Shape 18"/>
          <p:cNvSpPr/>
          <p:nvPr/>
        </p:nvSpPr>
        <p:spPr>
          <a:xfrm>
            <a:off x="6949440" y="2834640"/>
            <a:ext cx="2331720" cy="1508760"/>
          </a:xfrm>
          <a:prstGeom prst="roundRect">
            <a:avLst>
              <a:gd name="adj" fmla="val 4848"/>
            </a:avLst>
          </a:prstGeom>
          <a:solidFill>
            <a:srgbClr val="F3F6F4"/>
          </a:solidFill>
          <a:ln w="12700">
            <a:solidFill>
              <a:srgbClr val="F3F6F4"/>
            </a:solidFill>
            <a:prstDash val="solid"/>
          </a:ln>
        </p:spPr>
      </p:sp>
      <p:sp>
        <p:nvSpPr>
          <p:cNvPr id="21" name="Text 19"/>
          <p:cNvSpPr txBox="1"/>
          <p:nvPr/>
        </p:nvSpPr>
        <p:spPr>
          <a:xfrm>
            <a:off x="7178040" y="2999232"/>
            <a:ext cx="187452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0.6%</a:t>
            </a:r>
            <a:endParaRPr lang="en-US" sz="3600" dirty="0"/>
          </a:p>
        </p:txBody>
      </p:sp>
      <p:sp>
        <p:nvSpPr>
          <p:cNvPr id="22" name="Text 20"/>
          <p:cNvSpPr txBox="1"/>
          <p:nvPr/>
        </p:nvSpPr>
        <p:spPr>
          <a:xfrm>
            <a:off x="7178040" y="3675888"/>
            <a:ext cx="1874520" cy="594360"/>
          </a:xfrm>
          <a:prstGeom prst="rect">
            <a:avLst/>
          </a:prstGeom>
          <a:noFill/>
          <a:ln/>
        </p:spPr>
        <p:txBody>
          <a:bodyPr wrap="square" lIns="0" tIns="0" rIns="0" bIns="0" rtlCol="0" anchor="t"/>
          <a:lstStyle/>
          <a:p>
            <a:pPr indent="0" marL="0">
              <a:buNone/>
            </a:pPr>
            <a:r>
              <a:rPr lang="en-US" sz="1300" dirty="0">
                <a:solidFill>
                  <a:srgbClr val="55555C"/>
                </a:solidFill>
              </a:rPr>
              <a:t>harmless changes rolled back (anytime-valid test)</a:t>
            </a:r>
            <a:endParaRPr lang="en-US" sz="1300" dirty="0"/>
          </a:p>
        </p:txBody>
      </p:sp>
      <p:sp>
        <p:nvSpPr>
          <p:cNvPr id="23" name="Shape 21"/>
          <p:cNvSpPr/>
          <p:nvPr/>
        </p:nvSpPr>
        <p:spPr>
          <a:xfrm>
            <a:off x="9464040" y="2834640"/>
            <a:ext cx="2194560" cy="1508760"/>
          </a:xfrm>
          <a:prstGeom prst="roundRect">
            <a:avLst>
              <a:gd name="adj" fmla="val 4848"/>
            </a:avLst>
          </a:prstGeom>
          <a:solidFill>
            <a:srgbClr val="F3F6F4"/>
          </a:solidFill>
          <a:ln w="12700">
            <a:solidFill>
              <a:srgbClr val="F3F6F4"/>
            </a:solidFill>
            <a:prstDash val="solid"/>
          </a:ln>
        </p:spPr>
      </p:sp>
      <p:sp>
        <p:nvSpPr>
          <p:cNvPr id="24" name="Text 22"/>
          <p:cNvSpPr txBox="1"/>
          <p:nvPr/>
        </p:nvSpPr>
        <p:spPr>
          <a:xfrm>
            <a:off x="9692640" y="2999232"/>
            <a:ext cx="1737360" cy="685800"/>
          </a:xfrm>
          <a:prstGeom prst="rect">
            <a:avLst/>
          </a:prstGeom>
          <a:noFill/>
          <a:ln/>
        </p:spPr>
        <p:txBody>
          <a:bodyPr wrap="square" lIns="0" tIns="0" rIns="0" bIns="0" rtlCol="0" anchor="ctr"/>
          <a:lstStyle/>
          <a:p>
            <a:pPr indent="0" marL="0">
              <a:buNone/>
            </a:pPr>
            <a:r>
              <a:rPr lang="en-US" sz="3600" b="1" dirty="0">
                <a:solidFill>
                  <a:srgbClr val="D1352B"/>
                </a:solidFill>
                <a:latin typeface="Segoe UI Semibold" pitchFamily="34" charset="0"/>
                <a:ea typeface="Segoe UI Semibold" pitchFamily="34" charset="-122"/>
                <a:cs typeface="Segoe UI Semibold" pitchFamily="34" charset="-120"/>
              </a:rPr>
              <a:t>22%</a:t>
            </a:r>
            <a:endParaRPr lang="en-US" sz="3600" dirty="0"/>
          </a:p>
        </p:txBody>
      </p:sp>
      <p:sp>
        <p:nvSpPr>
          <p:cNvPr id="25" name="Text 23"/>
          <p:cNvSpPr txBox="1"/>
          <p:nvPr/>
        </p:nvSpPr>
        <p:spPr>
          <a:xfrm>
            <a:off x="9692640" y="3675888"/>
            <a:ext cx="1737360" cy="594360"/>
          </a:xfrm>
          <a:prstGeom prst="rect">
            <a:avLst/>
          </a:prstGeom>
          <a:noFill/>
          <a:ln/>
        </p:spPr>
        <p:txBody>
          <a:bodyPr wrap="square" lIns="0" tIns="0" rIns="0" bIns="0" rtlCol="0" anchor="t"/>
          <a:lstStyle/>
          <a:p>
            <a:pPr indent="0" marL="0">
              <a:buNone/>
            </a:pPr>
            <a:r>
              <a:rPr lang="en-US" sz="1300" dirty="0">
                <a:solidFill>
                  <a:srgbClr val="55555C"/>
                </a:solidFill>
              </a:rPr>
              <a:t>with a z-test checked at every look</a:t>
            </a:r>
            <a:endParaRPr lang="en-US" sz="1300" dirty="0"/>
          </a:p>
        </p:txBody>
      </p:sp>
      <p:sp>
        <p:nvSpPr>
          <p:cNvPr id="26" name="Shape 24"/>
          <p:cNvSpPr/>
          <p:nvPr/>
        </p:nvSpPr>
        <p:spPr>
          <a:xfrm>
            <a:off x="6949440" y="4572000"/>
            <a:ext cx="4693615" cy="1463040"/>
          </a:xfrm>
          <a:prstGeom prst="roundRect">
            <a:avLst>
              <a:gd name="adj" fmla="val 5000"/>
            </a:avLst>
          </a:prstGeom>
          <a:solidFill>
            <a:srgbClr val="E9F3EC"/>
          </a:solidFill>
          <a:ln w="12700">
            <a:solidFill>
              <a:srgbClr val="E9F3EC"/>
            </a:solidFill>
            <a:prstDash val="solid"/>
          </a:ln>
        </p:spPr>
      </p:sp>
      <p:sp>
        <p:nvSpPr>
          <p:cNvPr id="27" name="Text 25"/>
          <p:cNvSpPr txBox="1"/>
          <p:nvPr/>
        </p:nvSpPr>
        <p:spPr>
          <a:xfrm>
            <a:off x="7178040" y="4709160"/>
            <a:ext cx="4236415" cy="1234440"/>
          </a:xfrm>
          <a:prstGeom prst="rect">
            <a:avLst/>
          </a:prstGeom>
          <a:noFill/>
          <a:ln/>
        </p:spPr>
        <p:txBody>
          <a:bodyPr wrap="square" lIns="0" tIns="0" rIns="0" bIns="0" rtlCol="0" anchor="t"/>
          <a:lstStyle/>
          <a:p>
            <a:pPr indent="0" marL="0">
              <a:spcAft>
                <a:spcPts val="600"/>
              </a:spcAft>
              <a:buNone/>
            </a:pPr>
            <a:r>
              <a:rPr lang="en-US" sz="1300" dirty="0">
                <a:solidFill>
                  <a:srgbClr val="0A0A0B"/>
                </a:solidFill>
              </a:rPr>
              <a:t>In 20,000 simulated 7-day canaries of 5 members, looked at every 5 minutes. The price is caution: a bad change (thumbs down 25% → 60%) was caught in 61% of canaries.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model: a Llama 3.2 1B distilled from Muse Glimmer</a:t>
            </a:r>
            <a:endParaRPr lang="en-US" sz="2800" dirty="0"/>
          </a:p>
        </p:txBody>
      </p:sp>
      <p:sp>
        <p:nvSpPr>
          <p:cNvPr id="3" name="Shape 1"/>
          <p:cNvSpPr/>
          <p:nvPr/>
        </p:nvSpPr>
        <p:spPr>
          <a:xfrm>
            <a:off x="548640" y="1325880"/>
            <a:ext cx="265176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89.5%</a:t>
            </a:r>
            <a:endParaRPr lang="en-US" sz="3600" dirty="0"/>
          </a:p>
        </p:txBody>
      </p:sp>
      <p:sp>
        <p:nvSpPr>
          <p:cNvPr id="5" name="Text 3"/>
          <p:cNvSpPr txBox="1"/>
          <p:nvPr/>
        </p:nvSpPr>
        <p:spPr>
          <a:xfrm>
            <a:off x="77724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agreement with Glimmer on 500 held-out cases (Glimmer with itself: 88.8%)</a:t>
            </a:r>
            <a:endParaRPr lang="en-US" sz="1300" dirty="0"/>
          </a:p>
        </p:txBody>
      </p:sp>
      <p:sp>
        <p:nvSpPr>
          <p:cNvPr id="6" name="Shape 4"/>
          <p:cNvSpPr/>
          <p:nvPr/>
        </p:nvSpPr>
        <p:spPr>
          <a:xfrm>
            <a:off x="3383280" y="1325880"/>
            <a:ext cx="265176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361188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0.9 s</a:t>
            </a:r>
            <a:endParaRPr lang="en-US" sz="3600" dirty="0"/>
          </a:p>
        </p:txBody>
      </p:sp>
      <p:sp>
        <p:nvSpPr>
          <p:cNvPr id="8" name="Text 6"/>
          <p:cNvSpPr txBox="1"/>
          <p:nvPr/>
        </p:nvSpPr>
        <p:spPr>
          <a:xfrm>
            <a:off x="361188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 choice on the CPU, about 44× faster than Glimmer's ~40 s</a:t>
            </a:r>
            <a:endParaRPr lang="en-US" sz="1300" dirty="0"/>
          </a:p>
        </p:txBody>
      </p:sp>
      <p:sp>
        <p:nvSpPr>
          <p:cNvPr id="9" name="Shape 7"/>
          <p:cNvSpPr/>
          <p:nvPr/>
        </p:nvSpPr>
        <p:spPr>
          <a:xfrm>
            <a:off x="6217920" y="1325880"/>
            <a:ext cx="265176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644652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11" name="Text 9"/>
          <p:cNvSpPr txBox="1"/>
          <p:nvPr/>
        </p:nvSpPr>
        <p:spPr>
          <a:xfrm>
            <a:off x="644652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its confidence can be trusted</a:t>
            </a:r>
            <a:endParaRPr lang="en-US" sz="1300" dirty="0"/>
          </a:p>
        </p:txBody>
      </p:sp>
      <p:sp>
        <p:nvSpPr>
          <p:cNvPr id="12" name="Shape 10"/>
          <p:cNvSpPr/>
          <p:nvPr/>
        </p:nvSpPr>
        <p:spPr>
          <a:xfrm>
            <a:off x="9052560" y="1325880"/>
            <a:ext cx="2590495" cy="1508760"/>
          </a:xfrm>
          <a:prstGeom prst="roundRect">
            <a:avLst>
              <a:gd name="adj" fmla="val 4848"/>
            </a:avLst>
          </a:prstGeom>
          <a:solidFill>
            <a:srgbClr val="F3F6F4"/>
          </a:solidFill>
          <a:ln w="12700">
            <a:solidFill>
              <a:srgbClr val="F3F6F4"/>
            </a:solidFill>
            <a:prstDash val="solid"/>
          </a:ln>
        </p:spPr>
      </p:sp>
      <p:sp>
        <p:nvSpPr>
          <p:cNvPr id="13" name="Text 11"/>
          <p:cNvSpPr txBox="1"/>
          <p:nvPr/>
        </p:nvSpPr>
        <p:spPr>
          <a:xfrm>
            <a:off x="9281160" y="1490472"/>
            <a:ext cx="21332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4,868</a:t>
            </a:r>
            <a:endParaRPr lang="en-US" sz="3600" dirty="0"/>
          </a:p>
        </p:txBody>
      </p:sp>
      <p:sp>
        <p:nvSpPr>
          <p:cNvPr id="14" name="Text 12"/>
          <p:cNvSpPr txBox="1"/>
          <p:nvPr/>
        </p:nvSpPr>
        <p:spPr>
          <a:xfrm>
            <a:off x="9281160" y="2167128"/>
            <a:ext cx="2133295" cy="594360"/>
          </a:xfrm>
          <a:prstGeom prst="rect">
            <a:avLst/>
          </a:prstGeom>
          <a:noFill/>
          <a:ln/>
        </p:spPr>
        <p:txBody>
          <a:bodyPr wrap="square" lIns="0" tIns="0" rIns="0" bIns="0" rtlCol="0" anchor="t"/>
          <a:lstStyle/>
          <a:p>
            <a:pPr indent="0" marL="0">
              <a:buNone/>
            </a:pPr>
            <a:r>
              <a:rPr lang="en-US" sz="1300" dirty="0">
                <a:solidFill>
                  <a:srgbClr val="55555C"/>
                </a:solidFill>
              </a:rPr>
              <a:t>of Glimmer's choices distilled</a:t>
            </a:r>
            <a:endParaRPr lang="en-US" sz="1300" dirty="0"/>
          </a:p>
        </p:txBody>
      </p:sp>
      <p:sp>
        <p:nvSpPr>
          <p:cNvPr id="15" name="Text 13"/>
          <p:cNvSpPr txBox="1"/>
          <p:nvPr/>
        </p:nvSpPr>
        <p:spPr>
          <a:xfrm>
            <a:off x="548640" y="3154680"/>
            <a:ext cx="6035040" cy="3017520"/>
          </a:xfrm>
          <a:prstGeom prst="rect">
            <a:avLst/>
          </a:prstGeom>
          <a:noFill/>
          <a:ln/>
        </p:spPr>
        <p:txBody>
          <a:bodyPr wrap="square" lIns="0" tIns="0" rIns="0" bIns="0" rtlCol="0" anchor="t"/>
          <a:lstStyle/>
          <a:p>
            <a:pPr marL="342900" indent="-342900">
              <a:spcAft>
                <a:spcPts val="900"/>
              </a:spcAft>
              <a:buSzPct val="100000"/>
              <a:buChar char="•"/>
            </a:pPr>
            <a:r>
              <a:rPr lang="en-US" sz="1400" b="1" dirty="0">
                <a:solidFill>
                  <a:srgbClr val="0A0A0B"/>
                </a:solidFill>
              </a:rPr>
              <a:t>A decision model, like TypeSafe's Jev: </a:t>
            </a:r>
            <a:pPr indent="0" marL="0">
              <a:spcAft>
                <a:spcPts val="900"/>
              </a:spcAft>
              <a:buNone/>
            </a:pPr>
            <a:r>
              <a:rPr lang="en-US" sz="1400" dirty="0">
                <a:solidFill>
                  <a:srgbClr val="0A0A0B"/>
                </a:solidFill>
              </a:rPr>
              <a:t>options declared in advance and scored together in one read; it never writes text that could break a rule.</a:t>
            </a:r>
            <a:endParaRPr lang="en-US" sz="1400" dirty="0"/>
          </a:p>
          <a:p>
            <a:pPr marL="342900" indent="-342900">
              <a:spcAft>
                <a:spcPts val="900"/>
              </a:spcAft>
              <a:buSzPct val="100000"/>
              <a:buChar char="•"/>
            </a:pPr>
            <a:r>
              <a:rPr lang="en-US" sz="1400" b="1" dirty="0">
                <a:solidFill>
                  <a:srgbClr val="0A0A0B"/>
                </a:solidFill>
              </a:rPr>
              <a:t>Served at 0.6 sure: </a:t>
            </a:r>
            <a:pPr indent="0" marL="0">
              <a:spcAft>
                <a:spcPts val="900"/>
              </a:spcAft>
              <a:buNone/>
            </a:pPr>
            <a:r>
              <a:rPr lang="en-US" sz="1400" dirty="0">
                <a:solidFill>
                  <a:srgbClr val="0A0A0B"/>
                </a:solidFill>
              </a:rPr>
              <a:t>answers 96.0% of 500 and 73.0% of the 196 hardest; agreement 89.9% and 68.4% (Glimmer again: 73.5%).</a:t>
            </a:r>
            <a:endParaRPr lang="en-US" sz="1400" dirty="0"/>
          </a:p>
          <a:p>
            <a:pPr marL="342900" indent="-342900">
              <a:spcAft>
                <a:spcPts val="900"/>
              </a:spcAft>
              <a:buSzPct val="100000"/>
              <a:buChar char="•"/>
            </a:pPr>
            <a:r>
              <a:rPr lang="en-US" sz="1400" b="1" dirty="0">
                <a:solidFill>
                  <a:srgbClr val="0A0A0B"/>
                </a:solidFill>
              </a:rPr>
              <a:t>0.5 was tried and not kept: </a:t>
            </a:r>
            <a:pPr indent="0" marL="0">
              <a:spcAft>
                <a:spcPts val="900"/>
              </a:spcAft>
              <a:buNone/>
            </a:pPr>
            <a:r>
              <a:rPr lang="en-US" sz="1400" dirty="0">
                <a:solidFill>
                  <a:srgbClr val="0A0A0B"/>
                </a:solidFill>
              </a:rPr>
              <a:t>96.9% of the hardest answered, but agreement there fell to 61.2%.</a:t>
            </a:r>
            <a:endParaRPr lang="en-US" sz="1400" dirty="0"/>
          </a:p>
          <a:p>
            <a:pPr marL="342900" indent="-342900">
              <a:spcAft>
                <a:spcPts val="900"/>
              </a:spcAft>
              <a:buSzPct val="100000"/>
              <a:buChar char="•"/>
            </a:pPr>
            <a:r>
              <a:rPr lang="en-US" sz="1400" b="1" dirty="0">
                <a:solidFill>
                  <a:srgbClr val="0A0A0B"/>
                </a:solidFill>
              </a:rPr>
              <a:t>In talks with the simulated club: </a:t>
            </a:r>
            <a:pPr indent="0" marL="0">
              <a:spcAft>
                <a:spcPts val="900"/>
              </a:spcAft>
              <a:buNone/>
            </a:pPr>
            <a:r>
              <a:rPr lang="en-US" sz="1400" dirty="0">
                <a:solidFill>
                  <a:srgbClr val="0A0A0B"/>
                </a:solidFill>
              </a:rPr>
              <a:t>Glimmer's member answers cut by 67% (54% with private calendars), no rule broken.</a:t>
            </a:r>
            <a:endParaRPr lang="en-US" sz="1400" dirty="0"/>
          </a:p>
        </p:txBody>
      </p:sp>
      <p:graphicFrame>
        <p:nvGraphicFramePr>
          <p:cNvPr id="16" name="Chart 0" descr=""/>
          <p:cNvGraphicFramePr/>
          <p:nvPr/>
        </p:nvGraphicFramePr>
        <p:xfrm>
          <a:off x="6858000" y="3063240"/>
          <a:ext cx="4785055" cy="30632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sp>
        <p:nvSpPr>
          <p:cNvPr id="3" name="Text 1"/>
          <p:cNvSpPr txBox="1"/>
          <p:nvPr/>
        </p:nvSpPr>
        <p:spPr>
          <a:xfrm>
            <a:off x="548640" y="1234440"/>
            <a:ext cx="11094415" cy="54864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Case s009, from the 196 hardest: the player asked for a time that ends after the member's “home by” limit on Tuesday. The student's own numbers, from the saved predictions:</a:t>
            </a:r>
            <a:endParaRPr lang="en-US" sz="1400" dirty="0"/>
          </a:p>
        </p:txBody>
      </p:sp>
      <p:sp>
        <p:nvSpPr>
          <p:cNvPr id="4" name="Text 2"/>
          <p:cNvSpPr txBox="1"/>
          <p:nvPr/>
        </p:nvSpPr>
        <p:spPr>
          <a:xfrm>
            <a:off x="548640" y="1920240"/>
            <a:ext cx="5120640" cy="365760"/>
          </a:xfrm>
          <a:prstGeom prst="rect">
            <a:avLst/>
          </a:prstGeom>
          <a:noFill/>
          <a:ln/>
        </p:spPr>
        <p:txBody>
          <a:bodyPr wrap="square" lIns="0" tIns="0" rIns="0" bIns="0" rtlCol="0" anchor="ctr"/>
          <a:lstStyle/>
          <a:p>
            <a:pPr indent="0" marL="0">
              <a:buNone/>
            </a:pPr>
            <a:r>
              <a:rPr lang="en-US" sz="1400" b="1" dirty="0">
                <a:solidFill>
                  <a:srgbClr val="0A0A0B"/>
                </a:solidFill>
              </a:rPr>
              <a:t>Its reading: does each time work? (P at the works? marker)</a:t>
            </a:r>
            <a:endParaRPr lang="en-US" sz="1400" dirty="0"/>
          </a:p>
        </p:txBody>
      </p:sp>
      <p:sp>
        <p:nvSpPr>
          <p:cNvPr id="5" name="Shape 3"/>
          <p:cNvSpPr/>
          <p:nvPr/>
        </p:nvSpPr>
        <p:spPr>
          <a:xfrm>
            <a:off x="548640" y="2377440"/>
            <a:ext cx="5120640" cy="457200"/>
          </a:xfrm>
          <a:prstGeom prst="roundRect">
            <a:avLst>
              <a:gd name="adj" fmla="val 16000"/>
            </a:avLst>
          </a:prstGeom>
          <a:solidFill>
            <a:srgbClr val="FBEAE9"/>
          </a:solidFill>
          <a:ln w="12700">
            <a:solidFill>
              <a:srgbClr val="FBEAE9"/>
            </a:solidFill>
            <a:prstDash val="solid"/>
          </a:ln>
        </p:spPr>
      </p:sp>
      <p:sp>
        <p:nvSpPr>
          <p:cNvPr id="6" name="Text 4"/>
          <p:cNvSpPr txBox="1"/>
          <p:nvPr/>
        </p:nvSpPr>
        <p:spPr>
          <a:xfrm>
            <a:off x="731520" y="2377440"/>
            <a:ext cx="3108960" cy="457200"/>
          </a:xfrm>
          <a:prstGeom prst="rect">
            <a:avLst/>
          </a:prstGeom>
          <a:noFill/>
          <a:ln/>
        </p:spPr>
        <p:txBody>
          <a:bodyPr wrap="square" lIns="0" tIns="0" rIns="0" bIns="0" rtlCol="0" anchor="ctr"/>
          <a:lstStyle/>
          <a:p>
            <a:pPr indent="0" marL="0">
              <a:buNone/>
            </a:pPr>
            <a:r>
              <a:rPr lang="en-US" sz="1300" dirty="0">
                <a:solidFill>
                  <a:srgbClr val="0A0A0B"/>
                </a:solidFill>
              </a:rPr>
              <a:t>t1, the asked time</a:t>
            </a:r>
            <a:endParaRPr lang="en-US" sz="1300" dirty="0"/>
          </a:p>
        </p:txBody>
      </p:sp>
      <p:sp>
        <p:nvSpPr>
          <p:cNvPr id="7" name="Text 5"/>
          <p:cNvSpPr txBox="1"/>
          <p:nvPr/>
        </p:nvSpPr>
        <p:spPr>
          <a:xfrm>
            <a:off x="3657600" y="2377440"/>
            <a:ext cx="1828800" cy="457200"/>
          </a:xfrm>
          <a:prstGeom prst="rect">
            <a:avLst/>
          </a:prstGeom>
          <a:noFill/>
          <a:ln/>
        </p:spPr>
        <p:txBody>
          <a:bodyPr wrap="square" lIns="0" tIns="0" rIns="0" bIns="0" rtlCol="0" anchor="ctr"/>
          <a:lstStyle/>
          <a:p>
            <a:pPr algn="r" indent="0" marL="0">
              <a:buNone/>
            </a:pPr>
            <a:r>
              <a:rPr lang="en-US" sz="1300" b="1" dirty="0">
                <a:solidFill>
                  <a:srgbClr val="D1352B"/>
                </a:solidFill>
              </a:rPr>
              <a:t>0.0  breaks a rule</a:t>
            </a:r>
            <a:endParaRPr lang="en-US" sz="1300" dirty="0"/>
          </a:p>
        </p:txBody>
      </p:sp>
      <p:sp>
        <p:nvSpPr>
          <p:cNvPr id="8" name="Shape 6"/>
          <p:cNvSpPr/>
          <p:nvPr/>
        </p:nvSpPr>
        <p:spPr>
          <a:xfrm>
            <a:off x="548640" y="2944368"/>
            <a:ext cx="5120640" cy="457200"/>
          </a:xfrm>
          <a:prstGeom prst="roundRect">
            <a:avLst>
              <a:gd name="adj" fmla="val 16000"/>
            </a:avLst>
          </a:prstGeom>
          <a:solidFill>
            <a:srgbClr val="E9F3EC"/>
          </a:solidFill>
          <a:ln w="12700">
            <a:solidFill>
              <a:srgbClr val="E9F3EC"/>
            </a:solidFill>
            <a:prstDash val="solid"/>
          </a:ln>
        </p:spPr>
      </p:sp>
      <p:sp>
        <p:nvSpPr>
          <p:cNvPr id="9" name="Text 7"/>
          <p:cNvSpPr txBox="1"/>
          <p:nvPr/>
        </p:nvSpPr>
        <p:spPr>
          <a:xfrm>
            <a:off x="731520" y="2944368"/>
            <a:ext cx="3108960" cy="457200"/>
          </a:xfrm>
          <a:prstGeom prst="rect">
            <a:avLst/>
          </a:prstGeom>
          <a:noFill/>
          <a:ln/>
        </p:spPr>
        <p:txBody>
          <a:bodyPr wrap="square" lIns="0" tIns="0" rIns="0" bIns="0" rtlCol="0" anchor="ctr"/>
          <a:lstStyle/>
          <a:p>
            <a:pPr indent="0" marL="0">
              <a:buNone/>
            </a:pPr>
            <a:r>
              <a:rPr lang="en-US" sz="1300" dirty="0">
                <a:solidFill>
                  <a:srgbClr val="0A0A0B"/>
                </a:solidFill>
              </a:rPr>
              <a:t>t2</a:t>
            </a:r>
            <a:endParaRPr lang="en-US" sz="1300" dirty="0"/>
          </a:p>
        </p:txBody>
      </p:sp>
      <p:sp>
        <p:nvSpPr>
          <p:cNvPr id="10" name="Text 8"/>
          <p:cNvSpPr txBox="1"/>
          <p:nvPr/>
        </p:nvSpPr>
        <p:spPr>
          <a:xfrm>
            <a:off x="3657600" y="2944368"/>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1" name="Shape 9"/>
          <p:cNvSpPr/>
          <p:nvPr/>
        </p:nvSpPr>
        <p:spPr>
          <a:xfrm>
            <a:off x="548640" y="3511296"/>
            <a:ext cx="5120640" cy="457200"/>
          </a:xfrm>
          <a:prstGeom prst="roundRect">
            <a:avLst>
              <a:gd name="adj" fmla="val 16000"/>
            </a:avLst>
          </a:prstGeom>
          <a:solidFill>
            <a:srgbClr val="E9F3EC"/>
          </a:solidFill>
          <a:ln w="12700">
            <a:solidFill>
              <a:srgbClr val="E9F3EC"/>
            </a:solidFill>
            <a:prstDash val="solid"/>
          </a:ln>
        </p:spPr>
      </p:sp>
      <p:sp>
        <p:nvSpPr>
          <p:cNvPr id="12" name="Text 10"/>
          <p:cNvSpPr txBox="1"/>
          <p:nvPr/>
        </p:nvSpPr>
        <p:spPr>
          <a:xfrm>
            <a:off x="731520" y="3511296"/>
            <a:ext cx="3108960" cy="457200"/>
          </a:xfrm>
          <a:prstGeom prst="rect">
            <a:avLst/>
          </a:prstGeom>
          <a:noFill/>
          <a:ln/>
        </p:spPr>
        <p:txBody>
          <a:bodyPr wrap="square" lIns="0" tIns="0" rIns="0" bIns="0" rtlCol="0" anchor="ctr"/>
          <a:lstStyle/>
          <a:p>
            <a:pPr indent="0" marL="0">
              <a:buNone/>
            </a:pPr>
            <a:r>
              <a:rPr lang="en-US" sz="1300" dirty="0">
                <a:solidFill>
                  <a:srgbClr val="0A0A0B"/>
                </a:solidFill>
              </a:rPr>
              <a:t>t3</a:t>
            </a:r>
            <a:endParaRPr lang="en-US" sz="1300" dirty="0"/>
          </a:p>
        </p:txBody>
      </p:sp>
      <p:sp>
        <p:nvSpPr>
          <p:cNvPr id="13" name="Text 11"/>
          <p:cNvSpPr txBox="1"/>
          <p:nvPr/>
        </p:nvSpPr>
        <p:spPr>
          <a:xfrm>
            <a:off x="3657600" y="3511296"/>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4" name="Shape 12"/>
          <p:cNvSpPr/>
          <p:nvPr/>
        </p:nvSpPr>
        <p:spPr>
          <a:xfrm>
            <a:off x="548640" y="4078224"/>
            <a:ext cx="5120640" cy="457200"/>
          </a:xfrm>
          <a:prstGeom prst="roundRect">
            <a:avLst>
              <a:gd name="adj" fmla="val 16000"/>
            </a:avLst>
          </a:prstGeom>
          <a:solidFill>
            <a:srgbClr val="E9F3EC"/>
          </a:solidFill>
          <a:ln w="12700">
            <a:solidFill>
              <a:srgbClr val="E9F3EC"/>
            </a:solidFill>
            <a:prstDash val="solid"/>
          </a:ln>
        </p:spPr>
      </p:sp>
      <p:sp>
        <p:nvSpPr>
          <p:cNvPr id="15" name="Text 13"/>
          <p:cNvSpPr txBox="1"/>
          <p:nvPr/>
        </p:nvSpPr>
        <p:spPr>
          <a:xfrm>
            <a:off x="731520" y="4078224"/>
            <a:ext cx="3108960" cy="457200"/>
          </a:xfrm>
          <a:prstGeom prst="rect">
            <a:avLst/>
          </a:prstGeom>
          <a:noFill/>
          <a:ln/>
        </p:spPr>
        <p:txBody>
          <a:bodyPr wrap="square" lIns="0" tIns="0" rIns="0" bIns="0" rtlCol="0" anchor="ctr"/>
          <a:lstStyle/>
          <a:p>
            <a:pPr indent="0" marL="0">
              <a:buNone/>
            </a:pPr>
            <a:r>
              <a:rPr lang="en-US" sz="1300" dirty="0">
                <a:solidFill>
                  <a:srgbClr val="0A0A0B"/>
                </a:solidFill>
              </a:rPr>
              <a:t>t4</a:t>
            </a:r>
            <a:endParaRPr lang="en-US" sz="1300" dirty="0"/>
          </a:p>
        </p:txBody>
      </p:sp>
      <p:sp>
        <p:nvSpPr>
          <p:cNvPr id="16" name="Text 14"/>
          <p:cNvSpPr txBox="1"/>
          <p:nvPr/>
        </p:nvSpPr>
        <p:spPr>
          <a:xfrm>
            <a:off x="3657600" y="4078224"/>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7" name="Shape 15"/>
          <p:cNvSpPr/>
          <p:nvPr/>
        </p:nvSpPr>
        <p:spPr>
          <a:xfrm>
            <a:off x="548640" y="4645152"/>
            <a:ext cx="5120640" cy="457200"/>
          </a:xfrm>
          <a:prstGeom prst="roundRect">
            <a:avLst>
              <a:gd name="adj" fmla="val 16000"/>
            </a:avLst>
          </a:prstGeom>
          <a:solidFill>
            <a:srgbClr val="E9F3EC"/>
          </a:solidFill>
          <a:ln w="12700">
            <a:solidFill>
              <a:srgbClr val="E9F3EC"/>
            </a:solidFill>
            <a:prstDash val="solid"/>
          </a:ln>
        </p:spPr>
      </p:sp>
      <p:sp>
        <p:nvSpPr>
          <p:cNvPr id="18" name="Text 16"/>
          <p:cNvSpPr txBox="1"/>
          <p:nvPr/>
        </p:nvSpPr>
        <p:spPr>
          <a:xfrm>
            <a:off x="731520" y="4645152"/>
            <a:ext cx="3108960" cy="457200"/>
          </a:xfrm>
          <a:prstGeom prst="rect">
            <a:avLst/>
          </a:prstGeom>
          <a:noFill/>
          <a:ln/>
        </p:spPr>
        <p:txBody>
          <a:bodyPr wrap="square" lIns="0" tIns="0" rIns="0" bIns="0" rtlCol="0" anchor="ctr"/>
          <a:lstStyle/>
          <a:p>
            <a:pPr indent="0" marL="0">
              <a:buNone/>
            </a:pPr>
            <a:r>
              <a:rPr lang="en-US" sz="1300" dirty="0">
                <a:solidFill>
                  <a:srgbClr val="0A0A0B"/>
                </a:solidFill>
              </a:rPr>
              <a:t>t5</a:t>
            </a:r>
            <a:endParaRPr lang="en-US" sz="1300" dirty="0"/>
          </a:p>
        </p:txBody>
      </p:sp>
      <p:sp>
        <p:nvSpPr>
          <p:cNvPr id="19" name="Text 17"/>
          <p:cNvSpPr txBox="1"/>
          <p:nvPr/>
        </p:nvSpPr>
        <p:spPr>
          <a:xfrm>
            <a:off x="3657600" y="4645152"/>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20" name="Text 18"/>
          <p:cNvSpPr txBox="1"/>
          <p:nvPr/>
        </p:nvSpPr>
        <p:spPr>
          <a:xfrm>
            <a:off x="548640" y="5257800"/>
            <a:ext cx="5120640" cy="365760"/>
          </a:xfrm>
          <a:prstGeom prst="rect">
            <a:avLst/>
          </a:prstGeom>
          <a:noFill/>
          <a:ln/>
        </p:spPr>
        <p:txBody>
          <a:bodyPr wrap="square" lIns="0" tIns="0" rIns="0" bIns="0" rtlCol="0" anchor="t"/>
          <a:lstStyle/>
          <a:p>
            <a:pPr indent="0" marL="0">
              <a:spcAft>
                <a:spcPts val="600"/>
              </a:spcAft>
              <a:buNone/>
            </a:pPr>
            <a:r>
              <a:rPr lang="en-US" sz="1300" b="1" dirty="0">
                <a:solidFill>
                  <a:srgbClr val="0A7F44"/>
                </a:solidFill>
              </a:rPr>
              <a:t>Matches code's truth (t2 to t5 work), so it may answer.</a:t>
            </a:r>
            <a:endParaRPr lang="en-US" sz="1300" dirty="0"/>
          </a:p>
        </p:txBody>
      </p:sp>
      <p:graphicFrame>
        <p:nvGraphicFramePr>
          <p:cNvPr id="21" name="Chart 0" descr=""/>
          <p:cNvGraphicFramePr/>
          <p:nvPr/>
        </p:nvGraphicFramePr>
        <p:xfrm>
          <a:off x="6126480" y="1874520"/>
          <a:ext cx="5516575" cy="32918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126480" y="5257800"/>
            <a:ext cx="5516575" cy="868680"/>
          </a:xfrm>
          <a:prstGeom prst="roundRect">
            <a:avLst>
              <a:gd name="adj" fmla="val 8421"/>
            </a:avLst>
          </a:prstGeom>
          <a:solidFill>
            <a:srgbClr val="E9F3EC"/>
          </a:solidFill>
          <a:ln w="12700">
            <a:solidFill>
              <a:srgbClr val="E9F3EC"/>
            </a:solidFill>
            <a:prstDash val="solid"/>
          </a:ln>
        </p:spPr>
      </p:sp>
      <p:sp>
        <p:nvSpPr>
          <p:cNvPr id="23" name="Text 20"/>
          <p:cNvSpPr txBox="1"/>
          <p:nvPr/>
        </p:nvSpPr>
        <p:spPr>
          <a:xfrm>
            <a:off x="6309360" y="5349240"/>
            <a:ext cx="515081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t2 at 0.673, above the 0.6 threshold: answered in one read. </a:t>
            </a:r>
            <a:pPr indent="0" marL="0">
              <a:spcAft>
                <a:spcPts val="600"/>
              </a:spcAft>
              <a:buNone/>
            </a:pPr>
            <a:r>
              <a:rPr lang="en-US" sz="1300" dirty="0">
                <a:solidFill>
                  <a:srgbClr val="0A0A0B"/>
                </a:solidFill>
              </a:rPr>
              <a:t>Glimmer's two full answers both chose t2.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the threshold</a:t>
            </a:r>
            <a:endParaRPr lang="en-US" sz="2800" dirty="0"/>
          </a:p>
        </p:txBody>
      </p:sp>
      <p:graphicFrame>
        <p:nvGraphicFramePr>
          <p:cNvPr id="3" name="Chart 0" descr=""/>
          <p:cNvGraphicFramePr/>
          <p:nvPr/>
        </p:nvGraphicFramePr>
        <p:xfrm>
          <a:off x="548640" y="1280160"/>
          <a:ext cx="512064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303520"/>
            <a:ext cx="5120640" cy="8686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Round 1 never saw an asked time. Round 2 read “the earliest start” as the earliest hour: the stated preference kept in 18 of 32. Round 3's letters in time order fixed it: 26 of 32 (Glimmer 27).</a:t>
            </a:r>
            <a:endParaRPr lang="en-US" sz="1200" dirty="0"/>
          </a:p>
        </p:txBody>
      </p:sp>
      <p:graphicFrame>
        <p:nvGraphicFramePr>
          <p:cNvPr id="5" name="Chart 1" descr=""/>
          <p:cNvGraphicFramePr/>
          <p:nvPr/>
        </p:nvGraphicFramePr>
        <p:xfrm>
          <a:off x="5943600" y="1280160"/>
          <a:ext cx="5699455" cy="393192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943600" y="5303520"/>
            <a:ext cx="5699455" cy="868680"/>
          </a:xfrm>
          <a:prstGeom prst="roundRect">
            <a:avLst>
              <a:gd name="adj" fmla="val 8421"/>
            </a:avLst>
          </a:prstGeom>
          <a:solidFill>
            <a:srgbClr val="E9F3EC"/>
          </a:solidFill>
          <a:ln w="12700">
            <a:solidFill>
              <a:srgbClr val="E9F3EC"/>
            </a:solidFill>
            <a:prstDash val="solid"/>
          </a:ln>
        </p:spPr>
      </p:sp>
      <p:sp>
        <p:nvSpPr>
          <p:cNvPr id="7" name="Text 3"/>
          <p:cNvSpPr txBox="1"/>
          <p:nvPr/>
        </p:nvSpPr>
        <p:spPr>
          <a:xfrm>
            <a:off x="6126480" y="5394960"/>
            <a:ext cx="533369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Served at 0.6: </a:t>
            </a:r>
            <a:pPr indent="0" marL="0">
              <a:spcAft>
                <a:spcPts val="600"/>
              </a:spcAft>
              <a:buNone/>
            </a:pPr>
            <a:r>
              <a:rPr lang="en-US" sz="1300" dirty="0">
                <a:solidFill>
                  <a:srgbClr val="0A0A0B"/>
                </a:solidFill>
              </a:rPr>
              <a:t>answers 96% of ordinary choices and 73% of the hardest; 0.5 answers more but agrees less (61.2%).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 calibration on 500 held-out cases</a:t>
            </a:r>
            <a:endParaRPr lang="en-US" sz="2800" dirty="0"/>
          </a:p>
        </p:txBody>
      </p:sp>
      <p:graphicFrame>
        <p:nvGraphicFramePr>
          <p:cNvPr id="3"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79215"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8092440" y="149047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6" name="Text 3"/>
          <p:cNvSpPr txBox="1"/>
          <p:nvPr/>
        </p:nvSpPr>
        <p:spPr>
          <a:xfrm>
            <a:off x="8092440" y="2167128"/>
            <a:ext cx="3322015"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(10 bins)</a:t>
            </a:r>
            <a:endParaRPr lang="en-US" sz="1300" dirty="0"/>
          </a:p>
        </p:txBody>
      </p:sp>
      <p:sp>
        <p:nvSpPr>
          <p:cNvPr id="7" name="Shape 4"/>
          <p:cNvSpPr/>
          <p:nvPr/>
        </p:nvSpPr>
        <p:spPr>
          <a:xfrm>
            <a:off x="7863840" y="3017520"/>
            <a:ext cx="3779215" cy="1508760"/>
          </a:xfrm>
          <a:prstGeom prst="roundRect">
            <a:avLst>
              <a:gd name="adj" fmla="val 4848"/>
            </a:avLst>
          </a:prstGeom>
          <a:solidFill>
            <a:srgbClr val="F3F6F4"/>
          </a:solidFill>
          <a:ln w="12700">
            <a:solidFill>
              <a:srgbClr val="F3F6F4"/>
            </a:solidFill>
            <a:prstDash val="solid"/>
          </a:ln>
        </p:spPr>
      </p:sp>
      <p:sp>
        <p:nvSpPr>
          <p:cNvPr id="8" name="Text 5"/>
          <p:cNvSpPr txBox="1"/>
          <p:nvPr/>
        </p:nvSpPr>
        <p:spPr>
          <a:xfrm>
            <a:off x="8092440" y="318211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 / 7%</a:t>
            </a:r>
            <a:endParaRPr lang="en-US" sz="3600" dirty="0"/>
          </a:p>
        </p:txBody>
      </p:sp>
      <p:sp>
        <p:nvSpPr>
          <p:cNvPr id="9" name="Text 6"/>
          <p:cNvSpPr txBox="1"/>
          <p:nvPr/>
        </p:nvSpPr>
        <p:spPr>
          <a:xfrm>
            <a:off x="8092440" y="3858768"/>
            <a:ext cx="3322015" cy="594360"/>
          </a:xfrm>
          <a:prstGeom prst="rect">
            <a:avLst/>
          </a:prstGeom>
          <a:noFill/>
          <a:ln/>
        </p:spPr>
        <p:txBody>
          <a:bodyPr wrap="square" lIns="0" tIns="0" rIns="0" bIns="0" rtlCol="0" anchor="t"/>
          <a:lstStyle/>
          <a:p>
            <a:pPr indent="0" marL="0">
              <a:buNone/>
            </a:pPr>
            <a:r>
              <a:rPr lang="en-US" sz="1300" dirty="0">
                <a:solidFill>
                  <a:srgbClr val="55555C"/>
                </a:solidFill>
              </a:rPr>
              <a:t>at 0.8 sure: share it answers / disagreement with Glimmer</a:t>
            </a:r>
            <a:endParaRPr lang="en-US" sz="1300" dirty="0"/>
          </a:p>
        </p:txBody>
      </p:sp>
      <p:sp>
        <p:nvSpPr>
          <p:cNvPr id="10" name="Shape 7"/>
          <p:cNvSpPr/>
          <p:nvPr/>
        </p:nvSpPr>
        <p:spPr>
          <a:xfrm>
            <a:off x="7863840" y="4709160"/>
            <a:ext cx="3779215" cy="1371600"/>
          </a:xfrm>
          <a:prstGeom prst="roundRect">
            <a:avLst>
              <a:gd name="adj" fmla="val 5333"/>
            </a:avLst>
          </a:prstGeom>
          <a:solidFill>
            <a:srgbClr val="E9F3EC"/>
          </a:solidFill>
          <a:ln w="12700">
            <a:solidFill>
              <a:srgbClr val="E9F3EC"/>
            </a:solidFill>
            <a:prstDash val="solid"/>
          </a:ln>
        </p:spPr>
      </p:sp>
      <p:sp>
        <p:nvSpPr>
          <p:cNvPr id="11" name="Text 8"/>
          <p:cNvSpPr txBox="1"/>
          <p:nvPr/>
        </p:nvSpPr>
        <p:spPr>
          <a:xfrm>
            <a:off x="8046720" y="4800600"/>
            <a:ext cx="3413455" cy="1188720"/>
          </a:xfrm>
          <a:prstGeom prst="rect">
            <a:avLst/>
          </a:prstGeom>
          <a:noFill/>
          <a:ln/>
        </p:spPr>
        <p:txBody>
          <a:bodyPr wrap="square" lIns="0" tIns="0" rIns="0" bIns="0" rtlCol="0" anchor="t"/>
          <a:lstStyle/>
          <a:p>
            <a:pPr indent="0" marL="0">
              <a:spcAft>
                <a:spcPts val="600"/>
              </a:spcAft>
              <a:buNone/>
            </a:pPr>
            <a:r>
              <a:rPr lang="en-US" sz="1250" dirty="0">
                <a:solidFill>
                  <a:srgbClr val="0A0A0B"/>
                </a:solidFill>
              </a:rPr>
              <a:t>404 of 500 cases sit above 0.9, where it is close (98.5% against 94.4%); in the middle bins it is off by up to 10 points. The routing threshold uses conformal risk control.</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2880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2880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2880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2880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reads sports injuries as medical advice</a:t>
            </a:r>
            <a:endParaRPr lang="en-US" sz="1700" dirty="0"/>
          </a:p>
          <a:p>
            <a:pPr indent="0" marL="0">
              <a:spcAft>
                <a:spcPts val="600"/>
              </a:spcAft>
              <a:buNone/>
            </a:pPr>
            <a:r>
              <a:rPr lang="en-US" sz="1400" dirty="0">
                <a:solidFill>
                  <a:srgbClr val="0A0A0B"/>
                </a:solidFill>
              </a:rPr>
              <a:t>Its S6 category flagged 6 to 8 of 15 ordinary injury-care answers; S6 now blocks only when code also finds a dose, a medicine or a condition.</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74320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228600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657600" y="1325880"/>
            <a:ext cx="7985455" cy="31089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0A0A0B"/>
                </a:solidFill>
              </a:rPr>
              <a:t>Prompt Guard 2 first: </a:t>
            </a:r>
            <a:pPr indent="0" marL="0">
              <a:spcAft>
                <a:spcPts val="900"/>
              </a:spcAft>
              <a:buNone/>
            </a:pPr>
            <a:r>
              <a:rPr lang="en-US" sz="1500" dirty="0">
                <a:solidFill>
                  <a:srgbClr val="0A0A0B"/>
                </a:solidFill>
              </a:rPr>
              <a:t>every post and comment, before Llama Guard 3 and code.</a:t>
            </a:r>
            <a:endParaRPr lang="en-US" sz="1500" dirty="0"/>
          </a:p>
          <a:p>
            <a:pPr marL="342900" indent="-342900">
              <a:spcAft>
                <a:spcPts val="900"/>
              </a:spcAft>
              <a:buSzPct val="100000"/>
              <a:buChar char="•"/>
            </a:pPr>
            <a:r>
              <a:rPr lang="en-US" sz="1500" b="1" dirty="0">
                <a:solidFill>
                  <a:srgbClr val="0A0A0B"/>
                </a:solidFill>
              </a:rPr>
              <a:t>A signed record of every yes: </a:t>
            </a:r>
            <a:pPr indent="0" marL="0">
              <a:spcAft>
                <a:spcPts val="900"/>
              </a:spcAft>
              <a:buNone/>
            </a:pPr>
            <a:r>
              <a:rPr lang="en-US" sz="1500" dirty="0">
                <a:solidFill>
                  <a:srgbClr val="0A0A0B"/>
                </a:solidFill>
              </a:rPr>
              <a:t>each entry signed and chained to the one before, so a yes cannot be changed or removed unseen.</a:t>
            </a:r>
            <a:endParaRPr lang="en-US" sz="1500" dirty="0"/>
          </a:p>
          <a:p>
            <a:pPr marL="342900" indent="-342900">
              <a:spcAft>
                <a:spcPts val="900"/>
              </a:spcAft>
              <a:buSzPct val="100000"/>
              <a:buChar char="•"/>
            </a:pPr>
            <a:r>
              <a:rPr lang="en-US" sz="1500" b="1" dirty="0">
                <a:solidFill>
                  <a:srgbClr val="0A0A0B"/>
                </a:solidFill>
              </a:rPr>
              <a:t>No-shows, with no money: </a:t>
            </a:r>
            <a:pPr indent="0" marL="0">
              <a:spcAft>
                <a:spcPts val="900"/>
              </a:spcAft>
              <a:buNone/>
            </a:pPr>
            <a:r>
              <a:rPr lang="en-US" sz="1500" dirty="0">
                <a:solidFill>
                  <a:srgbClr val="0A0A0B"/>
                </a:solidFill>
              </a:rPr>
              <a:t>show-up fades with a 60-day half-life and is shown as a range in words; a short game is called off 3 hours before; a freed spot goes to the waitlist with 12 hours to confirm.</a:t>
            </a:r>
            <a:endParaRPr lang="en-US" sz="1500" dirty="0"/>
          </a:p>
          <a:p>
            <a:pPr marL="342900" indent="-342900">
              <a:spcAft>
                <a:spcPts val="900"/>
              </a:spcAft>
              <a:buSzPct val="100000"/>
              <a:buChar char="•"/>
            </a:pPr>
            <a:r>
              <a:rPr lang="en-US" sz="1500" b="1" dirty="0">
                <a:solidFill>
                  <a:srgbClr val="0A0A0B"/>
                </a:solidFill>
              </a:rPr>
              <a:t>The Agents Rule of Two: </a:t>
            </a:r>
            <a:pPr indent="0" marL="0">
              <a:spcAft>
                <a:spcPts val="900"/>
              </a:spcAft>
              <a:buNone/>
            </a:pPr>
            <a:r>
              <a:rPr lang="en-US" sz="1500" dirty="0">
                <a:solidFill>
                  <a:srgbClr val="0A0A0B"/>
                </a:solidFill>
              </a:rPr>
              <a:t>no agent holds untrusted input, private data and the power to act at once.</a:t>
            </a:r>
            <a:endParaRPr lang="en-US" sz="1500" dirty="0"/>
          </a:p>
        </p:txBody>
      </p:sp>
      <p:sp>
        <p:nvSpPr>
          <p:cNvPr id="7" name="Shape 5"/>
          <p:cNvSpPr/>
          <p:nvPr/>
        </p:nvSpPr>
        <p:spPr>
          <a:xfrm>
            <a:off x="548640" y="4572000"/>
            <a:ext cx="11094415" cy="1463040"/>
          </a:xfrm>
          <a:prstGeom prst="roundRect">
            <a:avLst>
              <a:gd name="adj" fmla="val 5000"/>
            </a:avLst>
          </a:prstGeom>
          <a:solidFill>
            <a:srgbClr val="FBEAE9"/>
          </a:solidFill>
          <a:ln w="12700">
            <a:solidFill>
              <a:srgbClr val="FBEAE9"/>
            </a:solidFill>
            <a:prstDash val="solid"/>
          </a:ln>
        </p:spPr>
      </p:sp>
      <p:sp>
        <p:nvSpPr>
          <p:cNvPr id="8" name="Text 6"/>
          <p:cNvSpPr txBox="1"/>
          <p:nvPr/>
        </p:nvSpPr>
        <p:spPr>
          <a:xfrm>
            <a:off x="822960" y="4709160"/>
            <a:ext cx="10545775" cy="1234440"/>
          </a:xfrm>
          <a:prstGeom prst="rect">
            <a:avLst/>
          </a:prstGeom>
          <a:noFill/>
          <a:ln/>
        </p:spPr>
        <p:txBody>
          <a:bodyPr wrap="square" lIns="0" tIns="0" rIns="0" bIns="0" rtlCol="0" anchor="t"/>
          <a:lstStyle/>
          <a:p>
            <a:pPr indent="0" marL="0">
              <a:spcAft>
                <a:spcPts val="600"/>
              </a:spcAft>
              <a:buNone/>
            </a:pPr>
            <a:r>
              <a:rPr lang="en-US" sz="1400" b="1" dirty="0">
                <a:solidFill>
                  <a:srgbClr val="D1352B"/>
                </a:solidFill>
              </a:rPr>
              <a:t>A failure, and the fix. </a:t>
            </a:r>
            <a:pPr indent="0" marL="0">
              <a:spcAft>
                <a:spcPts val="600"/>
              </a:spcAft>
              <a:buNone/>
            </a:pPr>
            <a:r>
              <a:rPr lang="en-US" sz="14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949440" cy="914400"/>
        </p:xfrm>
        <a:graphic>
          <a:graphicData uri="http://schemas.openxmlformats.org/drawingml/2006/table">
            <a:tbl>
              <a:tblPr/>
              <a:tblGrid>
                <a:gridCol w="2377440"/>
                <a:gridCol w="1554480"/>
                <a:gridCol w="3017520"/>
              </a:tblGrid>
              <a:tr h="384048">
                <a:tc>
                  <a:txBody>
                    <a:bodyPr/>
                    <a:lstStyle/>
                    <a:p>
                      <a:pPr indent="0" marL="0">
                        <a:buNone/>
                      </a:pPr>
                      <a:r>
                        <a:rPr lang="en-US" sz="1150" b="1" dirty="0">
                          <a:solidFill>
                            <a:srgbClr val="FFFFFF"/>
                          </a:solidFill>
                        </a:rPr>
                        <a:t>Model</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150" b="1" dirty="0">
                          <a:solidFill>
                            <a:srgbClr val="FFFFFF"/>
                          </a:solidFill>
                        </a:rPr>
                        <a:t>Runs on</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150" b="1" dirty="0">
                          <a:solidFill>
                            <a:srgbClr val="FFFFFF"/>
                          </a:solidFill>
                        </a:rPr>
                        <a:t>Its job in Serve</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indent="0" marL="0">
                        <a:buNone/>
                      </a:pPr>
                      <a:r>
                        <a:rPr lang="en-US" sz="1150" dirty="0">
                          <a:solidFill>
                            <a:srgbClr val="0A0A0B"/>
                          </a:solidFill>
                        </a:rPr>
                        <a:t>Muse Glimmer (30B)</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RTX 3090</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Every agent's reasoning; a JSON Schema on every call</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indent="0" marL="0">
                        <a:buNone/>
                      </a:pPr>
                      <a:r>
                        <a:rPr lang="en-US" sz="1150" dirty="0">
                          <a:solidFill>
                            <a:srgbClr val="0A0A0B"/>
                          </a:solidFill>
                        </a:rPr>
                        <a:t>Our Llama 3.2 1B</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Server CPU, int4</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Choices between times; short text at five checked sites</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150" dirty="0">
                          <a:solidFill>
                            <a:srgbClr val="0A0A0B"/>
                          </a:solidFill>
                        </a:rPr>
                        <a:t>Muse Spark 1.3</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Meta Model API</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Calls of 12,000+ tokens, and the fallback</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indent="0" marL="0">
                        <a:buNone/>
                      </a:pPr>
                      <a:r>
                        <a:rPr lang="en-US" sz="1150" dirty="0">
                          <a:solidFill>
                            <a:srgbClr val="0A0A0B"/>
                          </a:solidFill>
                        </a:rPr>
                        <a:t>Muse Voice Transcribe</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Meta Model API</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Live voice, full duplex</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150" dirty="0">
                          <a:solidFill>
                            <a:srgbClr val="0A0A0B"/>
                          </a:solidFill>
                        </a:rPr>
                        <a:t>Muse Image · Muse Wonder · SAM 3.1</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Meta Model API</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Agent faces and posters · orbit judge (87%) · outline cross-check (0.974 IoU)</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indent="0" marL="0">
                        <a:buNone/>
                      </a:pPr>
                      <a:r>
                        <a:rPr lang="en-US" sz="1150" dirty="0">
                          <a:solidFill>
                            <a:srgbClr val="0A0A0B"/>
                          </a:solidFill>
                        </a:rPr>
                        <a:t>Llama Guard 3 · Prompt Guard 2</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Server CPU</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Safety on Messenger, wishes, posts and reviews</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150" dirty="0">
                          <a:solidFill>
                            <a:srgbClr val="0A0A0B"/>
                          </a:solidFill>
                        </a:rPr>
                        <a:t>DRAMA · Omnilingual ASR</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Server CPU</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indent="0" marL="0">
                        <a:buNone/>
                      </a:pPr>
                      <a:r>
                        <a:rPr lang="en-US" sz="1150" dirty="0">
                          <a:solidFill>
                            <a:srgbClr val="0A0A0B"/>
                          </a:solidFill>
                        </a:rPr>
                        <a:t>Memory by meaning, game-request router · voice notes</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indent="0" marL="0">
                        <a:buNone/>
                      </a:pPr>
                      <a:r>
                        <a:rPr lang="en-US" sz="1150" dirty="0">
                          <a:solidFill>
                            <a:srgbClr val="0A0A0B"/>
                          </a:solidFill>
                        </a:rPr>
                        <a:t>SAM 2.1 · Sapiens2 · MapAnything</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RTX 3090</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0A0A0B"/>
                          </a:solidFill>
                        </a:rPr>
                        <a:t>Highlights and 3D replays</a:t>
                      </a:r>
                      <a:endParaRPr lang="en-US" sz="1150" dirty="0"/>
                    </a:p>
                  </a:txBody>
                  <a:tcPr marL="73152" marR="73152" marT="45720" marB="4572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4" name="Shape 1"/>
          <p:cNvSpPr/>
          <p:nvPr/>
        </p:nvSpPr>
        <p:spPr>
          <a:xfrm>
            <a:off x="7772400" y="1280160"/>
            <a:ext cx="3870655" cy="4754880"/>
          </a:xfrm>
          <a:prstGeom prst="roundRect">
            <a:avLst>
              <a:gd name="adj" fmla="val 1890"/>
            </a:avLst>
          </a:prstGeom>
          <a:solidFill>
            <a:srgbClr val="E9F3EC"/>
          </a:solidFill>
          <a:ln w="12700">
            <a:solidFill>
              <a:srgbClr val="E9F3EC"/>
            </a:solidFill>
            <a:prstDash val="solid"/>
          </a:ln>
        </p:spPr>
      </p:sp>
      <p:sp>
        <p:nvSpPr>
          <p:cNvPr id="5" name="Text 2"/>
          <p:cNvSpPr txBox="1"/>
          <p:nvPr/>
        </p:nvSpPr>
        <p:spPr>
          <a:xfrm>
            <a:off x="8001000" y="1463040"/>
            <a:ext cx="3413455" cy="4480560"/>
          </a:xfrm>
          <a:prstGeom prst="rect">
            <a:avLst/>
          </a:prstGeom>
          <a:noFill/>
          <a:ln/>
        </p:spPr>
        <p:txBody>
          <a:bodyPr wrap="square" lIns="0" tIns="0" rIns="0" bIns="0" rtlCol="0" anchor="t"/>
          <a:lstStyle/>
          <a:p>
            <a:pPr indent="0" marL="0">
              <a:spcAft>
                <a:spcPts val="800"/>
              </a:spcAft>
              <a:buNone/>
            </a:pPr>
            <a:r>
              <a:rPr lang="en-US" sz="1700" b="1" dirty="0">
                <a:solidFill>
                  <a:srgbClr val="0A7F44"/>
                </a:solidFill>
              </a:rPr>
              <a:t>Routing by length</a:t>
            </a:r>
            <a:endParaRPr lang="en-US" sz="1350" dirty="0"/>
          </a:p>
          <a:p>
            <a:pPr marL="342900" indent="-342900">
              <a:spcAft>
                <a:spcPts val="800"/>
              </a:spcAft>
              <a:buSzPct val="100000"/>
              <a:buChar char="•"/>
            </a:pPr>
            <a:r>
              <a:rPr lang="en-US" sz="1350" dirty="0">
                <a:solidFill>
                  <a:srgbClr val="0A0A0B"/>
                </a:solidFill>
              </a:rPr>
              <a:t>Short (≤ ~700 tokens) at a checked site → our 1B</a:t>
            </a:r>
            <a:endParaRPr lang="en-US" sz="1350" dirty="0"/>
          </a:p>
          <a:p>
            <a:pPr marL="342900" indent="-342900">
              <a:spcAft>
                <a:spcPts val="800"/>
              </a:spcAft>
              <a:buSzPct val="100000"/>
              <a:buChar char="•"/>
            </a:pPr>
            <a:r>
              <a:rPr lang="en-US" sz="1350" dirty="0">
                <a:solidFill>
                  <a:srgbClr val="0A0A0B"/>
                </a:solidFill>
              </a:rPr>
              <a:t>Longer, or anywhere else → Muse Glimmer</a:t>
            </a:r>
            <a:endParaRPr lang="en-US" sz="1350" dirty="0"/>
          </a:p>
          <a:p>
            <a:pPr marL="342900" indent="-342900">
              <a:spcAft>
                <a:spcPts val="800"/>
              </a:spcAft>
              <a:buSzPct val="100000"/>
              <a:buChar char="•"/>
            </a:pPr>
            <a:r>
              <a:rPr lang="en-US" sz="1350" dirty="0">
                <a:solidFill>
                  <a:srgbClr val="0A0A0B"/>
                </a:solidFill>
              </a:rPr>
              <a:t>12,000+ tokens → Muse Spark</a:t>
            </a:r>
            <a:endParaRPr lang="en-US" sz="1350" dirty="0"/>
          </a:p>
          <a:p>
            <a:pPr indent="0" marL="0">
              <a:spcAft>
                <a:spcPts val="800"/>
              </a:spcAft>
              <a:buNone/>
            </a:pPr>
            <a:r>
              <a:rPr lang="en-US" sz="1350" dirty="0">
                <a:solidFill>
                  <a:srgbClr val="0A0A0B"/>
                </a:solidFill>
              </a:rPr>
              <a:t>Every short site was tried on the 1B first: 9 end-to-end checks failed, 2 of 6 hostile comments got through, 4 of 10 injected reviews were obeyed. So only five checked sites, and the red team stays 93 of 93.</a:t>
            </a:r>
            <a:endParaRPr lang="en-US" sz="13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seven more agent upgrades</a:t>
            </a:r>
            <a:endParaRPr lang="en-US" sz="2800" dirty="0"/>
          </a:p>
        </p:txBody>
      </p:sp>
      <p:sp>
        <p:nvSpPr>
          <p:cNvPr id="3" name="Shape 1"/>
          <p:cNvSpPr/>
          <p:nvPr/>
        </p:nvSpPr>
        <p:spPr>
          <a:xfrm>
            <a:off x="548640" y="1325880"/>
            <a:ext cx="5440680" cy="1024128"/>
          </a:xfrm>
          <a:prstGeom prst="roundRect">
            <a:avLst>
              <a:gd name="adj" fmla="val 7143"/>
            </a:avLst>
          </a:prstGeom>
          <a:solidFill>
            <a:srgbClr val="F3F6F4"/>
          </a:solidFill>
          <a:ln w="12700">
            <a:solidFill>
              <a:srgbClr val="F3F6F4"/>
            </a:solidFill>
            <a:prstDash val="solid"/>
          </a:ln>
        </p:spPr>
      </p:sp>
      <p:sp>
        <p:nvSpPr>
          <p:cNvPr id="4" name="Text 2"/>
          <p:cNvSpPr txBox="1"/>
          <p:nvPr/>
        </p:nvSpPr>
        <p:spPr>
          <a:xfrm>
            <a:off x="77724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Send gate</a:t>
            </a:r>
            <a:endParaRPr lang="en-US" sz="1500" dirty="0"/>
          </a:p>
          <a:p>
            <a:pPr indent="0" marL="0">
              <a:buNone/>
            </a:pPr>
            <a:r>
              <a:rPr lang="en-US" sz="1100" dirty="0">
                <a:solidFill>
                  <a:srgbClr val="0A0A0B"/>
                </a:solidFill>
              </a:rPr>
              <a:t>When not to ask: opt-outs 37.7% → 26.2%, games from asks 3.97 → 4.39 (simulated)</a:t>
            </a:r>
            <a:endParaRPr lang="en-US" sz="1500" dirty="0"/>
          </a:p>
        </p:txBody>
      </p:sp>
      <p:sp>
        <p:nvSpPr>
          <p:cNvPr id="5" name="Shape 3"/>
          <p:cNvSpPr/>
          <p:nvPr/>
        </p:nvSpPr>
        <p:spPr>
          <a:xfrm>
            <a:off x="4069080" y="1508760"/>
            <a:ext cx="777240" cy="237744"/>
          </a:xfrm>
          <a:prstGeom prst="rect">
            <a:avLst/>
          </a:prstGeom>
          <a:solidFill>
            <a:srgbClr val="8A8A92"/>
          </a:solidFill>
          <a:ln w="12700">
            <a:solidFill>
              <a:srgbClr val="8A8A92"/>
            </a:solidFill>
            <a:prstDash val="solid"/>
          </a:ln>
        </p:spPr>
      </p:sp>
      <p:sp>
        <p:nvSpPr>
          <p:cNvPr id="6" name="Text 4"/>
          <p:cNvSpPr txBox="1"/>
          <p:nvPr/>
        </p:nvSpPr>
        <p:spPr>
          <a:xfrm>
            <a:off x="489204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37.7% before</a:t>
            </a:r>
            <a:endParaRPr lang="en-US" sz="1000" dirty="0"/>
          </a:p>
        </p:txBody>
      </p:sp>
      <p:sp>
        <p:nvSpPr>
          <p:cNvPr id="7" name="Shape 5"/>
          <p:cNvSpPr/>
          <p:nvPr/>
        </p:nvSpPr>
        <p:spPr>
          <a:xfrm>
            <a:off x="4069080" y="1892808"/>
            <a:ext cx="540151" cy="237744"/>
          </a:xfrm>
          <a:prstGeom prst="rect">
            <a:avLst/>
          </a:prstGeom>
          <a:solidFill>
            <a:srgbClr val="0A7F44"/>
          </a:solidFill>
          <a:ln w="12700">
            <a:solidFill>
              <a:srgbClr val="0A7F44"/>
            </a:solidFill>
            <a:prstDash val="solid"/>
          </a:ln>
        </p:spPr>
      </p:sp>
      <p:sp>
        <p:nvSpPr>
          <p:cNvPr id="8" name="Text 6"/>
          <p:cNvSpPr txBox="1"/>
          <p:nvPr/>
        </p:nvSpPr>
        <p:spPr>
          <a:xfrm>
            <a:off x="4654951"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26.2% after</a:t>
            </a:r>
            <a:endParaRPr lang="en-US" sz="1000" dirty="0"/>
          </a:p>
        </p:txBody>
      </p:sp>
      <p:sp>
        <p:nvSpPr>
          <p:cNvPr id="9" name="Shape 7"/>
          <p:cNvSpPr/>
          <p:nvPr/>
        </p:nvSpPr>
        <p:spPr>
          <a:xfrm>
            <a:off x="548640" y="2514600"/>
            <a:ext cx="5440680" cy="1024128"/>
          </a:xfrm>
          <a:prstGeom prst="roundRect">
            <a:avLst>
              <a:gd name="adj" fmla="val 7143"/>
            </a:avLst>
          </a:prstGeom>
          <a:solidFill>
            <a:srgbClr val="F3F6F4"/>
          </a:solidFill>
          <a:ln w="12700">
            <a:solidFill>
              <a:srgbClr val="F3F6F4"/>
            </a:solidFill>
            <a:prstDash val="solid"/>
          </a:ln>
        </p:spPr>
      </p:sp>
      <p:sp>
        <p:nvSpPr>
          <p:cNvPr id="10" name="Text 8"/>
          <p:cNvSpPr txBox="1"/>
          <p:nvPr/>
        </p:nvSpPr>
        <p:spPr>
          <a:xfrm>
            <a:off x="77724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Preference records</a:t>
            </a:r>
            <a:endParaRPr lang="en-US" sz="1500" dirty="0"/>
          </a:p>
          <a:p>
            <a:pPr indent="0" marL="0">
              <a:buNone/>
            </a:pPr>
            <a:r>
              <a:rPr lang="en-US" sz="1100" dirty="0">
                <a:solidFill>
                  <a:srgbClr val="0A0A0B"/>
                </a:solidFill>
              </a:rPr>
              <a:t>Newest word wins: stale-preference decisions 95% → 17% once the player says it (simulated)</a:t>
            </a:r>
            <a:endParaRPr lang="en-US" sz="1500" dirty="0"/>
          </a:p>
        </p:txBody>
      </p:sp>
      <p:sp>
        <p:nvSpPr>
          <p:cNvPr id="11" name="Shape 9"/>
          <p:cNvSpPr/>
          <p:nvPr/>
        </p:nvSpPr>
        <p:spPr>
          <a:xfrm>
            <a:off x="4069080" y="2697480"/>
            <a:ext cx="777240" cy="237744"/>
          </a:xfrm>
          <a:prstGeom prst="rect">
            <a:avLst/>
          </a:prstGeom>
          <a:solidFill>
            <a:srgbClr val="8A8A92"/>
          </a:solidFill>
          <a:ln w="12700">
            <a:solidFill>
              <a:srgbClr val="8A8A92"/>
            </a:solidFill>
            <a:prstDash val="solid"/>
          </a:ln>
        </p:spPr>
      </p:sp>
      <p:sp>
        <p:nvSpPr>
          <p:cNvPr id="12" name="Text 10"/>
          <p:cNvSpPr txBox="1"/>
          <p:nvPr/>
        </p:nvSpPr>
        <p:spPr>
          <a:xfrm>
            <a:off x="4892040"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95% before</a:t>
            </a:r>
            <a:endParaRPr lang="en-US" sz="1000" dirty="0"/>
          </a:p>
        </p:txBody>
      </p:sp>
      <p:sp>
        <p:nvSpPr>
          <p:cNvPr id="13" name="Shape 11"/>
          <p:cNvSpPr/>
          <p:nvPr/>
        </p:nvSpPr>
        <p:spPr>
          <a:xfrm>
            <a:off x="4069080" y="3081528"/>
            <a:ext cx="139085" cy="237744"/>
          </a:xfrm>
          <a:prstGeom prst="rect">
            <a:avLst/>
          </a:prstGeom>
          <a:solidFill>
            <a:srgbClr val="0A7F44"/>
          </a:solidFill>
          <a:ln w="12700">
            <a:solidFill>
              <a:srgbClr val="0A7F44"/>
            </a:solidFill>
            <a:prstDash val="solid"/>
          </a:ln>
        </p:spPr>
      </p:sp>
      <p:sp>
        <p:nvSpPr>
          <p:cNvPr id="14" name="Text 12"/>
          <p:cNvSpPr txBox="1"/>
          <p:nvPr/>
        </p:nvSpPr>
        <p:spPr>
          <a:xfrm>
            <a:off x="4253885"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17% after</a:t>
            </a:r>
            <a:endParaRPr lang="en-US" sz="1000" dirty="0"/>
          </a:p>
        </p:txBody>
      </p:sp>
      <p:sp>
        <p:nvSpPr>
          <p:cNvPr id="15" name="Shape 13"/>
          <p:cNvSpPr/>
          <p:nvPr/>
        </p:nvSpPr>
        <p:spPr>
          <a:xfrm>
            <a:off x="548640" y="3703320"/>
            <a:ext cx="5440680" cy="1024128"/>
          </a:xfrm>
          <a:prstGeom prst="roundRect">
            <a:avLst>
              <a:gd name="adj" fmla="val 7143"/>
            </a:avLst>
          </a:prstGeom>
          <a:solidFill>
            <a:srgbClr val="F3F6F4"/>
          </a:solidFill>
          <a:ln w="12700">
            <a:solidFill>
              <a:srgbClr val="F3F6F4"/>
            </a:solidFill>
            <a:prstDash val="solid"/>
          </a:ln>
        </p:spPr>
      </p:sp>
      <p:sp>
        <p:nvSpPr>
          <p:cNvPr id="16" name="Text 14"/>
          <p:cNvSpPr txBox="1"/>
          <p:nvPr/>
        </p:nvSpPr>
        <p:spPr>
          <a:xfrm>
            <a:off x="77724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Tool-call checks</a:t>
            </a:r>
            <a:endParaRPr lang="en-US" sz="1500" dirty="0"/>
          </a:p>
          <a:p>
            <a:pPr indent="0" marL="0">
              <a:buNone/>
            </a:pPr>
            <a:r>
              <a:rPr lang="en-US" sz="1100" dirty="0">
                <a:solidFill>
                  <a:srgbClr val="0A0A0B"/>
                </a:solidFill>
              </a:rPr>
              <a:t>Silent failures passed as success 53 of 53 → 0 of 56 (fault injection)</a:t>
            </a:r>
            <a:endParaRPr lang="en-US" sz="1500" dirty="0"/>
          </a:p>
        </p:txBody>
      </p:sp>
      <p:sp>
        <p:nvSpPr>
          <p:cNvPr id="17" name="Shape 15"/>
          <p:cNvSpPr/>
          <p:nvPr/>
        </p:nvSpPr>
        <p:spPr>
          <a:xfrm>
            <a:off x="4069080" y="3886200"/>
            <a:ext cx="777240" cy="237744"/>
          </a:xfrm>
          <a:prstGeom prst="rect">
            <a:avLst/>
          </a:prstGeom>
          <a:solidFill>
            <a:srgbClr val="8A8A92"/>
          </a:solidFill>
          <a:ln w="12700">
            <a:solidFill>
              <a:srgbClr val="8A8A92"/>
            </a:solidFill>
            <a:prstDash val="solid"/>
          </a:ln>
        </p:spPr>
      </p:sp>
      <p:sp>
        <p:nvSpPr>
          <p:cNvPr id="18" name="Text 16"/>
          <p:cNvSpPr txBox="1"/>
          <p:nvPr/>
        </p:nvSpPr>
        <p:spPr>
          <a:xfrm>
            <a:off x="4892040"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100% before</a:t>
            </a:r>
            <a:endParaRPr lang="en-US" sz="1000" dirty="0"/>
          </a:p>
        </p:txBody>
      </p:sp>
      <p:sp>
        <p:nvSpPr>
          <p:cNvPr id="19" name="Shape 17"/>
          <p:cNvSpPr/>
          <p:nvPr/>
        </p:nvSpPr>
        <p:spPr>
          <a:xfrm>
            <a:off x="4069080" y="4270248"/>
            <a:ext cx="27432" cy="237744"/>
          </a:xfrm>
          <a:prstGeom prst="rect">
            <a:avLst/>
          </a:prstGeom>
          <a:solidFill>
            <a:srgbClr val="0A7F44"/>
          </a:solidFill>
          <a:ln w="12700">
            <a:solidFill>
              <a:srgbClr val="0A7F44"/>
            </a:solidFill>
            <a:prstDash val="solid"/>
          </a:ln>
        </p:spPr>
      </p:sp>
      <p:sp>
        <p:nvSpPr>
          <p:cNvPr id="20" name="Text 18"/>
          <p:cNvSpPr txBox="1"/>
          <p:nvPr/>
        </p:nvSpPr>
        <p:spPr>
          <a:xfrm>
            <a:off x="4142232"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 after</a:t>
            </a:r>
            <a:endParaRPr lang="en-US" sz="1000" dirty="0"/>
          </a:p>
        </p:txBody>
      </p:sp>
      <p:sp>
        <p:nvSpPr>
          <p:cNvPr id="21" name="Shape 19"/>
          <p:cNvSpPr/>
          <p:nvPr/>
        </p:nvSpPr>
        <p:spPr>
          <a:xfrm>
            <a:off x="548640" y="4892040"/>
            <a:ext cx="5440680" cy="1024128"/>
          </a:xfrm>
          <a:prstGeom prst="roundRect">
            <a:avLst>
              <a:gd name="adj" fmla="val 7143"/>
            </a:avLst>
          </a:prstGeom>
          <a:solidFill>
            <a:srgbClr val="F3F6F4"/>
          </a:solidFill>
          <a:ln w="12700">
            <a:solidFill>
              <a:srgbClr val="F3F6F4"/>
            </a:solidFill>
            <a:prstDash val="solid"/>
          </a:ln>
        </p:spPr>
      </p:sp>
      <p:sp>
        <p:nvSpPr>
          <p:cNvPr id="22" name="Text 20"/>
          <p:cNvSpPr txBox="1"/>
          <p:nvPr/>
        </p:nvSpPr>
        <p:spPr>
          <a:xfrm>
            <a:off x="777240" y="496519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Courts judged ahead</a:t>
            </a:r>
            <a:endParaRPr lang="en-US" sz="1500" dirty="0"/>
          </a:p>
          <a:p>
            <a:pPr indent="0" marL="0">
              <a:buNone/>
            </a:pPr>
            <a:r>
              <a:rPr lang="en-US" sz="1100" dirty="0">
                <a:solidFill>
                  <a:srgbClr val="0A0A0B"/>
                </a:solidFill>
              </a:rPr>
              <a:t>Wait after moving the time 49.0 s → 25.7 s, at twice the judgings (RTX 3090)</a:t>
            </a:r>
            <a:endParaRPr lang="en-US" sz="1500" dirty="0"/>
          </a:p>
        </p:txBody>
      </p:sp>
      <p:sp>
        <p:nvSpPr>
          <p:cNvPr id="23" name="Shape 21"/>
          <p:cNvSpPr/>
          <p:nvPr/>
        </p:nvSpPr>
        <p:spPr>
          <a:xfrm>
            <a:off x="4069080" y="5074920"/>
            <a:ext cx="777240" cy="237744"/>
          </a:xfrm>
          <a:prstGeom prst="rect">
            <a:avLst/>
          </a:prstGeom>
          <a:solidFill>
            <a:srgbClr val="8A8A92"/>
          </a:solidFill>
          <a:ln w="12700">
            <a:solidFill>
              <a:srgbClr val="8A8A92"/>
            </a:solidFill>
            <a:prstDash val="solid"/>
          </a:ln>
        </p:spPr>
      </p:sp>
      <p:sp>
        <p:nvSpPr>
          <p:cNvPr id="24" name="Text 22"/>
          <p:cNvSpPr txBox="1"/>
          <p:nvPr/>
        </p:nvSpPr>
        <p:spPr>
          <a:xfrm>
            <a:off x="4892040" y="5038344"/>
            <a:ext cx="1097280" cy="310896"/>
          </a:xfrm>
          <a:prstGeom prst="rect">
            <a:avLst/>
          </a:prstGeom>
          <a:noFill/>
          <a:ln/>
        </p:spPr>
        <p:txBody>
          <a:bodyPr wrap="square" lIns="0" tIns="0" rIns="0" bIns="0" rtlCol="0" anchor="ctr"/>
          <a:lstStyle/>
          <a:p>
            <a:pPr indent="0" marL="0">
              <a:buNone/>
            </a:pPr>
            <a:r>
              <a:rPr lang="en-US" sz="1000" dirty="0">
                <a:solidFill>
                  <a:srgbClr val="55555C"/>
                </a:solidFill>
              </a:rPr>
              <a:t>49.0 s before</a:t>
            </a:r>
            <a:endParaRPr lang="en-US" sz="1000" dirty="0"/>
          </a:p>
        </p:txBody>
      </p:sp>
      <p:sp>
        <p:nvSpPr>
          <p:cNvPr id="25" name="Shape 23"/>
          <p:cNvSpPr/>
          <p:nvPr/>
        </p:nvSpPr>
        <p:spPr>
          <a:xfrm>
            <a:off x="4069080" y="5458968"/>
            <a:ext cx="407654" cy="237744"/>
          </a:xfrm>
          <a:prstGeom prst="rect">
            <a:avLst/>
          </a:prstGeom>
          <a:solidFill>
            <a:srgbClr val="0A7F44"/>
          </a:solidFill>
          <a:ln w="12700">
            <a:solidFill>
              <a:srgbClr val="0A7F44"/>
            </a:solidFill>
            <a:prstDash val="solid"/>
          </a:ln>
        </p:spPr>
      </p:sp>
      <p:sp>
        <p:nvSpPr>
          <p:cNvPr id="26" name="Text 24"/>
          <p:cNvSpPr txBox="1"/>
          <p:nvPr/>
        </p:nvSpPr>
        <p:spPr>
          <a:xfrm>
            <a:off x="4522454" y="542239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25.7 s after</a:t>
            </a:r>
            <a:endParaRPr lang="en-US" sz="1000" dirty="0"/>
          </a:p>
        </p:txBody>
      </p:sp>
      <p:sp>
        <p:nvSpPr>
          <p:cNvPr id="27" name="Shape 25"/>
          <p:cNvSpPr/>
          <p:nvPr/>
        </p:nvSpPr>
        <p:spPr>
          <a:xfrm>
            <a:off x="6172200" y="1325880"/>
            <a:ext cx="5440680" cy="1024128"/>
          </a:xfrm>
          <a:prstGeom prst="roundRect">
            <a:avLst>
              <a:gd name="adj" fmla="val 7143"/>
            </a:avLst>
          </a:prstGeom>
          <a:solidFill>
            <a:srgbClr val="F3F6F4"/>
          </a:solidFill>
          <a:ln w="12700">
            <a:solidFill>
              <a:srgbClr val="F3F6F4"/>
            </a:solidFill>
            <a:prstDash val="solid"/>
          </a:ln>
        </p:spPr>
      </p:sp>
      <p:sp>
        <p:nvSpPr>
          <p:cNvPr id="28" name="Text 26"/>
          <p:cNvSpPr txBox="1"/>
          <p:nvPr/>
        </p:nvSpPr>
        <p:spPr>
          <a:xfrm>
            <a:off x="640080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Harder simulated users</a:t>
            </a:r>
            <a:endParaRPr lang="en-US" sz="1500" dirty="0"/>
          </a:p>
          <a:p>
            <a:pPr indent="0" marL="0">
              <a:buNone/>
            </a:pPr>
            <a:r>
              <a:rPr lang="en-US" sz="1100" dirty="0">
                <a:solidFill>
                  <a:srgbClr val="0A0A0B"/>
                </a:solidFill>
              </a:rPr>
              <a:t>With 25% difficult people pass^1 0.69 → 0.38; six flow bugs found and being fixed</a:t>
            </a:r>
            <a:endParaRPr lang="en-US" sz="1500" dirty="0"/>
          </a:p>
        </p:txBody>
      </p:sp>
      <p:sp>
        <p:nvSpPr>
          <p:cNvPr id="29" name="Shape 27"/>
          <p:cNvSpPr/>
          <p:nvPr/>
        </p:nvSpPr>
        <p:spPr>
          <a:xfrm>
            <a:off x="9692640" y="1508760"/>
            <a:ext cx="777240" cy="237744"/>
          </a:xfrm>
          <a:prstGeom prst="rect">
            <a:avLst/>
          </a:prstGeom>
          <a:solidFill>
            <a:srgbClr val="8A8A92"/>
          </a:solidFill>
          <a:ln w="12700">
            <a:solidFill>
              <a:srgbClr val="8A8A92"/>
            </a:solidFill>
            <a:prstDash val="solid"/>
          </a:ln>
        </p:spPr>
      </p:sp>
      <p:sp>
        <p:nvSpPr>
          <p:cNvPr id="30" name="Text 28"/>
          <p:cNvSpPr txBox="1"/>
          <p:nvPr/>
        </p:nvSpPr>
        <p:spPr>
          <a:xfrm>
            <a:off x="1051560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0.69 cooperative</a:t>
            </a:r>
            <a:endParaRPr lang="en-US" sz="1000" dirty="0"/>
          </a:p>
        </p:txBody>
      </p:sp>
      <p:sp>
        <p:nvSpPr>
          <p:cNvPr id="31" name="Shape 29"/>
          <p:cNvSpPr/>
          <p:nvPr/>
        </p:nvSpPr>
        <p:spPr>
          <a:xfrm>
            <a:off x="9692640" y="1892808"/>
            <a:ext cx="428045" cy="237744"/>
          </a:xfrm>
          <a:prstGeom prst="rect">
            <a:avLst/>
          </a:prstGeom>
          <a:solidFill>
            <a:srgbClr val="D1352B"/>
          </a:solidFill>
          <a:ln w="12700">
            <a:solidFill>
              <a:srgbClr val="D1352B"/>
            </a:solidFill>
            <a:prstDash val="solid"/>
          </a:ln>
        </p:spPr>
      </p:sp>
      <p:sp>
        <p:nvSpPr>
          <p:cNvPr id="32" name="Text 30"/>
          <p:cNvSpPr txBox="1"/>
          <p:nvPr/>
        </p:nvSpPr>
        <p:spPr>
          <a:xfrm>
            <a:off x="10166405"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0.38 difficult</a:t>
            </a:r>
            <a:endParaRPr lang="en-US" sz="1000" dirty="0"/>
          </a:p>
        </p:txBody>
      </p:sp>
      <p:sp>
        <p:nvSpPr>
          <p:cNvPr id="33" name="Shape 31"/>
          <p:cNvSpPr/>
          <p:nvPr/>
        </p:nvSpPr>
        <p:spPr>
          <a:xfrm>
            <a:off x="6172200" y="2514600"/>
            <a:ext cx="5440680" cy="1024128"/>
          </a:xfrm>
          <a:prstGeom prst="roundRect">
            <a:avLst>
              <a:gd name="adj" fmla="val 7143"/>
            </a:avLst>
          </a:prstGeom>
          <a:solidFill>
            <a:srgbClr val="F3F6F4"/>
          </a:solidFill>
          <a:ln w="12700">
            <a:solidFill>
              <a:srgbClr val="F3F6F4"/>
            </a:solidFill>
            <a:prstDash val="solid"/>
          </a:ln>
        </p:spPr>
      </p:sp>
      <p:sp>
        <p:nvSpPr>
          <p:cNvPr id="34" name="Text 32"/>
          <p:cNvSpPr txBox="1"/>
          <p:nvPr/>
        </p:nvSpPr>
        <p:spPr>
          <a:xfrm>
            <a:off x="640080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Order of the options</a:t>
            </a:r>
            <a:endParaRPr lang="en-US" sz="1500" dirty="0"/>
          </a:p>
          <a:p>
            <a:pPr indent="0" marL="0">
              <a:buNone/>
            </a:pPr>
            <a:r>
              <a:rPr lang="en-US" sz="1100" dirty="0">
                <a:solidFill>
                  <a:srgbClr val="0A0A0B"/>
                </a:solidFill>
              </a:rPr>
              <a:t>Glimmer changed 40% of answers in a new order, against 26.5% asked again in the same order; kept as is</a:t>
            </a:r>
            <a:endParaRPr lang="en-US" sz="1500" dirty="0"/>
          </a:p>
        </p:txBody>
      </p:sp>
      <p:sp>
        <p:nvSpPr>
          <p:cNvPr id="35" name="Shape 33"/>
          <p:cNvSpPr/>
          <p:nvPr/>
        </p:nvSpPr>
        <p:spPr>
          <a:xfrm>
            <a:off x="9692640" y="2697480"/>
            <a:ext cx="514922" cy="237744"/>
          </a:xfrm>
          <a:prstGeom prst="rect">
            <a:avLst/>
          </a:prstGeom>
          <a:solidFill>
            <a:srgbClr val="8A8A92"/>
          </a:solidFill>
          <a:ln w="12700">
            <a:solidFill>
              <a:srgbClr val="8A8A92"/>
            </a:solidFill>
            <a:prstDash val="solid"/>
          </a:ln>
        </p:spPr>
      </p:sp>
      <p:sp>
        <p:nvSpPr>
          <p:cNvPr id="36" name="Text 34"/>
          <p:cNvSpPr txBox="1"/>
          <p:nvPr/>
        </p:nvSpPr>
        <p:spPr>
          <a:xfrm>
            <a:off x="10253282"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26.5% same order</a:t>
            </a:r>
            <a:endParaRPr lang="en-US" sz="1000" dirty="0"/>
          </a:p>
        </p:txBody>
      </p:sp>
      <p:sp>
        <p:nvSpPr>
          <p:cNvPr id="37" name="Shape 35"/>
          <p:cNvSpPr/>
          <p:nvPr/>
        </p:nvSpPr>
        <p:spPr>
          <a:xfrm>
            <a:off x="9692640" y="3081528"/>
            <a:ext cx="777240" cy="237744"/>
          </a:xfrm>
          <a:prstGeom prst="rect">
            <a:avLst/>
          </a:prstGeom>
          <a:solidFill>
            <a:srgbClr val="0A7F44"/>
          </a:solidFill>
          <a:ln w="12700">
            <a:solidFill>
              <a:srgbClr val="0A7F44"/>
            </a:solidFill>
            <a:prstDash val="solid"/>
          </a:ln>
        </p:spPr>
      </p:sp>
      <p:sp>
        <p:nvSpPr>
          <p:cNvPr id="38" name="Text 36"/>
          <p:cNvSpPr txBox="1"/>
          <p:nvPr/>
        </p:nvSpPr>
        <p:spPr>
          <a:xfrm>
            <a:off x="10515600"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40% new order</a:t>
            </a:r>
            <a:endParaRPr lang="en-US" sz="1000" dirty="0"/>
          </a:p>
        </p:txBody>
      </p:sp>
      <p:sp>
        <p:nvSpPr>
          <p:cNvPr id="39" name="Shape 37"/>
          <p:cNvSpPr/>
          <p:nvPr/>
        </p:nvSpPr>
        <p:spPr>
          <a:xfrm>
            <a:off x="6172200" y="3703320"/>
            <a:ext cx="5440680" cy="1024128"/>
          </a:xfrm>
          <a:prstGeom prst="roundRect">
            <a:avLst>
              <a:gd name="adj" fmla="val 7143"/>
            </a:avLst>
          </a:prstGeom>
          <a:solidFill>
            <a:srgbClr val="F3F6F4"/>
          </a:solidFill>
          <a:ln w="12700">
            <a:solidFill>
              <a:srgbClr val="F3F6F4"/>
            </a:solidFill>
            <a:prstDash val="solid"/>
          </a:ln>
        </p:spPr>
      </p:sp>
      <p:sp>
        <p:nvSpPr>
          <p:cNvPr id="40" name="Text 38"/>
          <p:cNvSpPr txBox="1"/>
          <p:nvPr/>
        </p:nvSpPr>
        <p:spPr>
          <a:xfrm>
            <a:off x="640080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Stretch round</a:t>
            </a:r>
            <a:endParaRPr lang="en-US" sz="1500" dirty="0"/>
          </a:p>
          <a:p>
            <a:pPr indent="0" marL="0">
              <a:buNone/>
            </a:pPr>
            <a:r>
              <a:rPr lang="en-US" sz="1100" dirty="0">
                <a:solidFill>
                  <a:srgbClr val="0A0A0B"/>
                </a:solidFill>
              </a:rPr>
              <a:t>Games found +0.3 (singles) and +1.3 points (doubles): small, reported as such</a:t>
            </a:r>
            <a:endParaRPr lang="en-US" sz="1500" dirty="0"/>
          </a:p>
        </p:txBody>
      </p:sp>
      <p:sp>
        <p:nvSpPr>
          <p:cNvPr id="41" name="Shape 39"/>
          <p:cNvSpPr/>
          <p:nvPr/>
        </p:nvSpPr>
        <p:spPr>
          <a:xfrm>
            <a:off x="9692640" y="3886200"/>
            <a:ext cx="765408" cy="237744"/>
          </a:xfrm>
          <a:prstGeom prst="rect">
            <a:avLst/>
          </a:prstGeom>
          <a:solidFill>
            <a:srgbClr val="8A8A92"/>
          </a:solidFill>
          <a:ln w="12700">
            <a:solidFill>
              <a:srgbClr val="8A8A92"/>
            </a:solidFill>
            <a:prstDash val="solid"/>
          </a:ln>
        </p:spPr>
      </p:sp>
      <p:sp>
        <p:nvSpPr>
          <p:cNvPr id="42" name="Text 40"/>
          <p:cNvSpPr txBox="1"/>
          <p:nvPr/>
        </p:nvSpPr>
        <p:spPr>
          <a:xfrm>
            <a:off x="10503768"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84.1% before</a:t>
            </a:r>
            <a:endParaRPr lang="en-US" sz="1000" dirty="0"/>
          </a:p>
        </p:txBody>
      </p:sp>
      <p:sp>
        <p:nvSpPr>
          <p:cNvPr id="43" name="Shape 41"/>
          <p:cNvSpPr/>
          <p:nvPr/>
        </p:nvSpPr>
        <p:spPr>
          <a:xfrm>
            <a:off x="9692640" y="4270248"/>
            <a:ext cx="777240" cy="237744"/>
          </a:xfrm>
          <a:prstGeom prst="rect">
            <a:avLst/>
          </a:prstGeom>
          <a:solidFill>
            <a:srgbClr val="0A7F44"/>
          </a:solidFill>
          <a:ln w="12700">
            <a:solidFill>
              <a:srgbClr val="0A7F44"/>
            </a:solidFill>
            <a:prstDash val="solid"/>
          </a:ln>
        </p:spPr>
      </p:sp>
      <p:sp>
        <p:nvSpPr>
          <p:cNvPr id="44" name="Text 42"/>
          <p:cNvSpPr txBox="1"/>
          <p:nvPr/>
        </p:nvSpPr>
        <p:spPr>
          <a:xfrm>
            <a:off x="10515600"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85.4% after</a:t>
            </a:r>
            <a:endParaRPr lang="en-US" sz="1000" dirty="0"/>
          </a:p>
        </p:txBody>
      </p:sp>
      <p:sp>
        <p:nvSpPr>
          <p:cNvPr id="45" name="Text 43"/>
          <p:cNvSpPr txBox="1"/>
          <p:nvPr/>
        </p:nvSpPr>
        <p:spPr>
          <a:xfrm>
            <a:off x="6172200" y="4937760"/>
            <a:ext cx="5440680" cy="91440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Each from a 2024–2026 paper, built and measured against what ran before; most numbers are simulated and say so (README, submission/results/).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Serve">
  <a:themeElements>
    <a:clrScheme name="Serve">
      <a:dk1>
        <a:srgbClr val="0A0A0B"/>
      </a:dk1>
      <a:lt1>
        <a:srgbClr val="FFFFFF"/>
      </a:lt1>
      <a:dk2>
        <a:srgbClr val="14241B"/>
      </a:dk2>
      <a:lt2>
        <a:srgbClr val="F3F6F4"/>
      </a:lt2>
      <a:accent1>
        <a:srgbClr val="0A7F44"/>
      </a:accent1>
      <a:accent2>
        <a:srgbClr val="0064E0"/>
      </a:accent2>
      <a:accent3>
        <a:srgbClr val="D1352B"/>
      </a:accent3>
      <a:accent4>
        <a:srgbClr val="B26A00"/>
      </a:accent4>
      <a:accent5>
        <a:srgbClr val="55555C"/>
      </a:accent5>
      <a:accent6>
        <a:srgbClr val="8A8A92"/>
      </a:accent6>
      <a:hlink>
        <a:srgbClr val="0064E0"/>
      </a:hlink>
      <a:folHlink>
        <a:srgbClr val="55555C"/>
      </a:folHlink>
    </a:clrScheme>
    <a:fontScheme name="Serv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2026-10-31T08:50:37Z</dcterms:created>
  <dcterms:modified xsi:type="dcterms:W3CDTF">2026-10-31T08:50:37Z</dcterms:modified>
</cp:coreProperties>
</file>