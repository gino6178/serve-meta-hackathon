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 is a platform where people and agents make games together. This deck follows the technical report: impact, technical depth, Meta models, and what is not done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people who stop playing have not lost interest; they are worn down by organising. Serve turns hours of back-and-forth into one yes from each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Settled when: in the group chat, when everyone has voted and the organiser posts; in Serve, when the spots fill. Someone not in the group opens the link and joins.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web a sentence becomes an invite, the players' agents agree the time, one tap books it; in Messenger the same booking, with the agent's real replies from the Messenger end-to-end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demo town sits on Taipei, with prices in NT$, but nothing in Serve is tied to one place or one 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Between October 29 and 31, 28 rounds. After every round we fixed what they found, ran the unit tests, checked the pages in a browser, deployed, and started the next round with new testers. Round 27 ran on the live site with test accounts in a private club; round 28 on a local copy that calls the server's own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Rounds 1 to 5 used free-form reports before the verdict line; a few reported bugs were the test setup, not Serve.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Built from each round's requests.jsonl; the same sessions are replayed side by side in the demo film.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Grouped by kind from the 25 rounds' reports (submission/agent_testing.md).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reports in submission/agent_trial25, agent_trial26_live and agent_trial28 (submission/agent_testing.md). The testers were AI models, not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rule throughout: code computes the facts and keeps the hard rules; the models choose only among the real preferences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proposal carries each time as id, date, start, venue, court and trip, nothing else; an answer carries intent, date, start and the times that work. No agent can inject instructions into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Holds are leases asked in a fixed order (resource ordering), all or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shared calendars the first time proposed decides whether each agent can say yes by code or must ask a model. With private calendars it found no more games.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answer now also teaches about similar hours: the first talk lands 68.9% to 73.7%. Every question is charged to the disclosure budget; at most 3 asks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draws on the Darwin Godel Machine (tests read-only), AlphaEvolve (keep a change only when evaluators pass it), Clio (minimum cluster sizes) and CaMeL.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Arcs of about 6 to 12 degrees look like a real camera move; a learned threshold on the share of invented pixels picks the widest arc that still looks right, or falls back to a zoom.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wait the person starts shows a moving bar and a status line within 250 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Times as measured: the card on a local copy; the hop between two machines; the student on the server CPU; the decider and Glimmer on the RTX 3090.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distil when the decider takes 0.53 s? The decider is still Glimmer and needs the GPU; the student runs on the CPU and leaves the GPU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Half the training prompts list every offered time and half only the ones Glimmer is shown. The 3B was trained the same way (44 minutes) and is kept as an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submission/results/decision_model/preds_1b_v3_decider.jsonl (bf16 predictions).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 3's letters in time order fixed the stated preference (26 of 32, Glimmer 27). In round 4, more teacher answers per case gave the best agreement; order augmentation nearly removed the order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answers more of the hardest (96.9%) but agrees less (61.2%), so the served threshold stays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submission/results/student_calibration.json, bf16; the served int4 picks the same option on 492 of 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decider's letters are not used as soft labels, and per-member shuffling stays off: no order kept preferences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decision 1B's round 4 was measured in bf16 before the VM was preempted; the chosen variant is the one with more teacher answers per case. Rationale and active selection were not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findings, each measured. The order finding was measured after the report: on 196 hard cases the one-token decider picked the first listed time 99.5% of the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 attack cases all stopped; crash and recovery checks are on the A2A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weights run on our own GPU server so players' data stays there; the Meta Model API handles live voice, long calls, images and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Send gate (Thompson sampling with a burden cost), preference records (newest wins), tool checks (typed repair, postconditions), judging ahead (speculative actions), stretch round (graded costs), tiny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submission/results/tiny.json. The 87 KB post prefilter stays off: it passed 0 of 762 hostile comments but only 11% of ordinary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answer.learn joins the 1B's sites; the post standard stays with Glimmer (8 of 71 hostile comments passed, against 0). SecAlign++ was tried and not kept: it blocked 8 of 32 ordinary comments.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after runs are on main, which also has the other upgrades merged since the before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Said plainly: this is a nine-day build, validated mostly by agents and simulation.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 github.com/gino6178/serve-meta-hackathon, with the full evaluation in README.md and docs/.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part of Serve and the published algorithm it follows; the numbers in brackets are the references on the last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1 to 26 are on the previous references slide (the report's own list); 27 on are the algorithms behind the distillation, the tiny layer and the agent upgrades.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 turns hours of back-and-forth into one tap from each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4241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7863840" cy="146304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548640" y="3703320"/>
            <a:ext cx="7863840" cy="1097280"/>
          </a:xfrm>
          <a:prstGeom prst="rect">
            <a:avLst/>
          </a:prstGeom>
          <a:noFill/>
          <a:ln/>
        </p:spPr>
        <p:txBody>
          <a:bodyPr wrap="square" rtlCol="0"/>
          <a:lstStyle>
            <a:lvl1pPr algn="l" indent="0" marL="0">
              <a:buNone/>
              <a:defRPr lang="en-US" sz="2000" dirty="0">
                <a:solidFill>
                  <a:srgbClr val="C9D6CE"/>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3" name="Text 0"/>
          <p:cNvSpPr/>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8A8A92"/>
                </a:solidFill>
              </a:rPr>
              <a:t>Serve · technical report</a:t>
            </a:r>
            <a:endParaRPr lang="en-US" sz="10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3.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3.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3.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3.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899855" y="548640"/>
            <a:ext cx="2651760" cy="5739166"/>
          </a:xfrm>
          <a:prstGeom prst="rect">
            <a:avLst/>
          </a:prstGeom>
        </p:spPr>
      </p:pic>
      <p:sp>
        <p:nvSpPr>
          <p:cNvPr id="3" name="Text 0"/>
          <p:cNvSpPr/>
          <p:nvPr>
            <p:ph idx="100" type="title" hasCustomPrompt="1"/>
          </p:nvPr>
        </p:nvSpPr>
        <p:spPr>
          <a:xfrm>
            <a:off x="548640" y="2103120"/>
            <a:ext cx="7863840" cy="1463040"/>
          </a:xfrm>
          <a:prstGeom prst="rect">
            <a:avLst/>
          </a:prstGeom>
          <a:noFill/>
          <a:ln/>
        </p:spPr>
        <p:txBody>
          <a:bodyPr wrap="square" lIns="0" tIns="0" rIns="0" bIns="0" rtlCol="0" anchor="b"/>
          <a:lstStyle/>
          <a:p>
            <a:pPr algn="l" indent="0" marL="0">
              <a:buNone/>
            </a:pPr>
            <a:r>
              <a:rPr lang="en-US" sz="4800" b="1" dirty="0">
                <a:solidFill>
                  <a:schemeClr val="bg1"/>
                </a:solidFill>
              </a:rPr>
              <a:t>Serve: Play more.</a:t>
            </a:r>
            <a:endParaRPr lang="en-US" sz="4800" dirty="0"/>
          </a:p>
          <a:p>
            <a:pPr algn="l" indent="0" marL="0">
              <a:buNone/>
            </a:pPr>
            <a:r>
              <a:rPr lang="en-US" sz="4800" b="1" dirty="0">
                <a:solidFill>
                  <a:schemeClr val="bg1"/>
                </a:solidFill>
              </a:rPr>
              <a:t>Manage less.</a:t>
            </a:r>
            <a:endParaRPr lang="en-US" sz="4800" dirty="0"/>
          </a:p>
        </p:txBody>
      </p:sp>
      <p:sp>
        <p:nvSpPr>
          <p:cNvPr id="4" name="Text 0"/>
          <p:cNvSpPr/>
          <p:nvPr>
            <p:ph idx="101" type="body" hasCustomPrompt="1"/>
          </p:nvPr>
        </p:nvSpPr>
        <p:spPr>
          <a:xfrm>
            <a:off x="548640" y="3703320"/>
            <a:ext cx="7863840" cy="1097280"/>
          </a:xfrm>
          <a:prstGeom prst="rect">
            <a:avLst/>
          </a:prstGeom>
          <a:noFill/>
          <a:ln/>
        </p:spPr>
        <p:txBody>
          <a:bodyPr wrap="square" lIns="0" tIns="0" rIns="0" bIns="0" rtlCol="0" anchor="t"/>
          <a:lstStyle/>
          <a:p>
            <a:pPr algn="l" indent="0" marL="0">
              <a:buNone/>
            </a:pPr>
            <a:r>
              <a:rPr lang="en-US" sz="2000" dirty="0">
                <a:solidFill>
                  <a:srgbClr val="C9D6CE"/>
                </a:solidFill>
              </a:rPr>
              <a:t>Technical report · Meta Global AI Developer Hackathon 2026 · Indie Developer track</a:t>
            </a:r>
            <a:endParaRPr lang="en-US" sz="2000" dirty="0"/>
          </a:p>
        </p:txBody>
      </p:sp>
      <p:sp>
        <p:nvSpPr>
          <p:cNvPr id="5" name="Text 2"/>
          <p:cNvSpPr txBox="1"/>
          <p:nvPr/>
        </p:nvSpPr>
        <p:spPr>
          <a:xfrm>
            <a:off x="548640" y="5943600"/>
            <a:ext cx="8229600" cy="365760"/>
          </a:xfrm>
          <a:prstGeom prst="rect">
            <a:avLst/>
          </a:prstGeom>
          <a:noFill/>
          <a:ln/>
        </p:spPr>
        <p:txBody>
          <a:bodyPr wrap="square" lIns="0" tIns="0" rIns="0" bIns="0" rtlCol="0" anchor="ctr"/>
          <a:lstStyle/>
          <a:p>
            <a:pPr indent="0" marL="0">
              <a:buNone/>
            </a:pPr>
            <a:r>
              <a:rPr lang="en-US" sz="1400" dirty="0">
                <a:solidFill>
                  <a:srgbClr val="9FB3A7"/>
                </a:solidFill>
              </a:rPr>
              <a:t>play.theminimallab.com · github.com/gino6178/serve-meta-hackathon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The pain: people stop playing because organising is hard</a:t>
            </a:r>
            <a:endParaRPr lang="en-US" sz="2800" dirty="0"/>
          </a:p>
        </p:txBody>
      </p:sp>
      <p:pic>
        <p:nvPicPr>
          <p:cNvPr id="3" name="Image 0" descr="preencoded.png">    </p:cNvPr>
          <p:cNvPicPr>
            <a:picLocks noChangeAspect="1"/>
          </p:cNvPicPr>
          <p:nvPr/>
        </p:nvPicPr>
        <p:blipFill>
          <a:blip r:embed="rId1"/>
          <a:stretch>
            <a:fillRect/>
          </a:stretch>
        </p:blipFill>
        <p:spPr>
          <a:xfrm>
            <a:off x="1751044" y="1188720"/>
            <a:ext cx="8689606"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1 | </a:t>
            </a:r>
            <a:pPr indent="0" marL="0">
              <a:buNone/>
            </a:pPr>
            <a:r>
              <a:rPr lang="en-US" sz="1100" dirty="0">
                <a:solidFill>
                  <a:srgbClr val="55555C"/>
                </a:solidFill>
              </a:rPr>
              <a:t>(a) Share of people who play a sport, by age (NPR, RWJF and Harvard Chan poll, 2015). (b) Barriers adults name for not playing regularly (Sport New Zealand, Active NZ, 2023). Talk answers the first barrier, Match the second, the agents the third.</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A group-chat poll against Serve, step by step</a:t>
            </a:r>
            <a:endParaRPr lang="en-US" sz="2800" dirty="0"/>
          </a:p>
        </p:txBody>
      </p:sp>
      <p:sp>
        <p:nvSpPr>
          <p:cNvPr id="3" name="Text 1"/>
          <p:cNvSpPr txBox="1"/>
          <p:nvPr/>
        </p:nvSpPr>
        <p:spPr>
          <a:xfrm>
            <a:off x="548640" y="1234440"/>
            <a:ext cx="5212080" cy="411480"/>
          </a:xfrm>
          <a:prstGeom prst="rect">
            <a:avLst/>
          </a:prstGeom>
          <a:noFill/>
          <a:ln/>
        </p:spPr>
        <p:txBody>
          <a:bodyPr wrap="square" lIns="0" tIns="0" rIns="0" bIns="0" rtlCol="0" anchor="ctr"/>
          <a:lstStyle/>
          <a:p>
            <a:pPr indent="0" marL="0">
              <a:buNone/>
            </a:pPr>
            <a:r>
              <a:rPr lang="en-US" sz="1800" b="1" dirty="0">
                <a:solidFill>
                  <a:srgbClr val="55555C"/>
                </a:solidFill>
              </a:rPr>
              <a:t>Group chat: the organiser does everything</a:t>
            </a:r>
            <a:endParaRPr lang="en-US" sz="1800" dirty="0"/>
          </a:p>
        </p:txBody>
      </p:sp>
      <p:sp>
        <p:nvSpPr>
          <p:cNvPr id="4" name="Shape 2"/>
          <p:cNvSpPr/>
          <p:nvPr/>
        </p:nvSpPr>
        <p:spPr>
          <a:xfrm>
            <a:off x="1371600" y="1783080"/>
            <a:ext cx="4389120" cy="566928"/>
          </a:xfrm>
          <a:prstGeom prst="roundRect">
            <a:avLst>
              <a:gd name="adj" fmla="val 19355"/>
            </a:avLst>
          </a:prstGeom>
          <a:solidFill>
            <a:srgbClr val="E4E6E5"/>
          </a:solidFill>
          <a:ln w="12700">
            <a:solidFill>
              <a:srgbClr val="E4E6E5"/>
            </a:solidFill>
            <a:prstDash val="solid"/>
          </a:ln>
        </p:spPr>
      </p:sp>
      <p:sp>
        <p:nvSpPr>
          <p:cNvPr id="5" name="Text 3"/>
          <p:cNvSpPr txBox="1"/>
          <p:nvPr/>
        </p:nvSpPr>
        <p:spPr>
          <a:xfrm>
            <a:off x="1554480" y="1783080"/>
            <a:ext cx="4023360" cy="566928"/>
          </a:xfrm>
          <a:prstGeom prst="rect">
            <a:avLst/>
          </a:prstGeom>
          <a:noFill/>
          <a:ln/>
        </p:spPr>
        <p:txBody>
          <a:bodyPr wrap="square" lIns="0" tIns="0" rIns="0" bIns="0" rtlCol="0" anchor="ctr"/>
          <a:lstStyle/>
          <a:p>
            <a:pPr indent="0" marL="0">
              <a:buNone/>
            </a:pPr>
            <a:r>
              <a:rPr lang="en-US" sz="1300" dirty="0">
                <a:solidFill>
                  <a:srgbClr val="0A0A0B"/>
                </a:solidFill>
              </a:rPr>
              <a:t>Anyone up for badminton this week?</a:t>
            </a:r>
            <a:endParaRPr lang="en-US" sz="1300" dirty="0"/>
          </a:p>
        </p:txBody>
      </p:sp>
      <p:sp>
        <p:nvSpPr>
          <p:cNvPr id="6" name="Shape 4"/>
          <p:cNvSpPr/>
          <p:nvPr/>
        </p:nvSpPr>
        <p:spPr>
          <a:xfrm>
            <a:off x="548640" y="2496312"/>
            <a:ext cx="4389120" cy="566928"/>
          </a:xfrm>
          <a:prstGeom prst="roundRect">
            <a:avLst>
              <a:gd name="adj" fmla="val 19355"/>
            </a:avLst>
          </a:prstGeom>
          <a:solidFill>
            <a:srgbClr val="F3F6F4"/>
          </a:solidFill>
          <a:ln w="12700">
            <a:solidFill>
              <a:srgbClr val="F3F6F4"/>
            </a:solidFill>
            <a:prstDash val="solid"/>
          </a:ln>
        </p:spPr>
      </p:sp>
      <p:sp>
        <p:nvSpPr>
          <p:cNvPr id="7" name="Text 5"/>
          <p:cNvSpPr txBox="1"/>
          <p:nvPr/>
        </p:nvSpPr>
        <p:spPr>
          <a:xfrm>
            <a:off x="731520" y="2496312"/>
            <a:ext cx="4023360" cy="566928"/>
          </a:xfrm>
          <a:prstGeom prst="rect">
            <a:avLst/>
          </a:prstGeom>
          <a:noFill/>
          <a:ln/>
        </p:spPr>
        <p:txBody>
          <a:bodyPr wrap="square" lIns="0" tIns="0" rIns="0" bIns="0" rtlCol="0" anchor="ctr"/>
          <a:lstStyle/>
          <a:p>
            <a:pPr indent="0" marL="0">
              <a:buNone/>
            </a:pPr>
            <a:r>
              <a:rPr lang="en-US" sz="1300" dirty="0">
                <a:solidFill>
                  <a:srgbClr val="0A0A0B"/>
                </a:solidFill>
              </a:rPr>
              <a:t>Maybe Thu? / Sat works / not Fri</a:t>
            </a:r>
            <a:endParaRPr lang="en-US" sz="1300" dirty="0"/>
          </a:p>
        </p:txBody>
      </p:sp>
      <p:sp>
        <p:nvSpPr>
          <p:cNvPr id="8" name="Shape 6"/>
          <p:cNvSpPr/>
          <p:nvPr/>
        </p:nvSpPr>
        <p:spPr>
          <a:xfrm>
            <a:off x="1371600" y="3209544"/>
            <a:ext cx="4389120" cy="566928"/>
          </a:xfrm>
          <a:prstGeom prst="roundRect">
            <a:avLst>
              <a:gd name="adj" fmla="val 19355"/>
            </a:avLst>
          </a:prstGeom>
          <a:solidFill>
            <a:srgbClr val="E4E6E5"/>
          </a:solidFill>
          <a:ln w="12700">
            <a:solidFill>
              <a:srgbClr val="E4E6E5"/>
            </a:solidFill>
            <a:prstDash val="solid"/>
          </a:ln>
        </p:spPr>
      </p:sp>
      <p:sp>
        <p:nvSpPr>
          <p:cNvPr id="9" name="Text 7"/>
          <p:cNvSpPr txBox="1"/>
          <p:nvPr/>
        </p:nvSpPr>
        <p:spPr>
          <a:xfrm>
            <a:off x="1554480" y="3209544"/>
            <a:ext cx="4023360" cy="566928"/>
          </a:xfrm>
          <a:prstGeom prst="rect">
            <a:avLst/>
          </a:prstGeom>
          <a:noFill/>
          <a:ln/>
        </p:spPr>
        <p:txBody>
          <a:bodyPr wrap="square" lIns="0" tIns="0" rIns="0" bIns="0" rtlCol="0" anchor="ctr"/>
          <a:lstStyle/>
          <a:p>
            <a:pPr indent="0" marL="0">
              <a:buNone/>
            </a:pPr>
            <a:r>
              <a:rPr lang="en-US" sz="1300" dirty="0">
                <a:solidFill>
                  <a:srgbClr val="0A0A0B"/>
                </a:solidFill>
              </a:rPr>
              <a:t>Poll: Tue 19 · Thu 20 · Sat 10</a:t>
            </a:r>
            <a:endParaRPr lang="en-US" sz="1300" dirty="0"/>
          </a:p>
        </p:txBody>
      </p:sp>
      <p:sp>
        <p:nvSpPr>
          <p:cNvPr id="10" name="Shape 8"/>
          <p:cNvSpPr/>
          <p:nvPr/>
        </p:nvSpPr>
        <p:spPr>
          <a:xfrm>
            <a:off x="548640" y="3922776"/>
            <a:ext cx="4389120" cy="566928"/>
          </a:xfrm>
          <a:prstGeom prst="roundRect">
            <a:avLst>
              <a:gd name="adj" fmla="val 19355"/>
            </a:avLst>
          </a:prstGeom>
          <a:solidFill>
            <a:srgbClr val="F3F6F4"/>
          </a:solidFill>
          <a:ln w="12700">
            <a:solidFill>
              <a:srgbClr val="F3F6F4"/>
            </a:solidFill>
            <a:prstDash val="solid"/>
          </a:ln>
        </p:spPr>
      </p:sp>
      <p:sp>
        <p:nvSpPr>
          <p:cNvPr id="11" name="Text 9"/>
          <p:cNvSpPr txBox="1"/>
          <p:nvPr/>
        </p:nvSpPr>
        <p:spPr>
          <a:xfrm>
            <a:off x="731520" y="3922776"/>
            <a:ext cx="4023360" cy="566928"/>
          </a:xfrm>
          <a:prstGeom prst="rect">
            <a:avLst/>
          </a:prstGeom>
          <a:noFill/>
          <a:ln/>
        </p:spPr>
        <p:txBody>
          <a:bodyPr wrap="square" lIns="0" tIns="0" rIns="0" bIns="0" rtlCol="0" anchor="ctr"/>
          <a:lstStyle/>
          <a:p>
            <a:pPr indent="0" marL="0">
              <a:buNone/>
            </a:pPr>
            <a:r>
              <a:rPr lang="en-US" sz="1300" dirty="0">
                <a:solidFill>
                  <a:srgbClr val="0A0A0B"/>
                </a:solidFill>
              </a:rPr>
              <a:t>Votes trickle in over a day</a:t>
            </a:r>
            <a:endParaRPr lang="en-US" sz="1300" dirty="0"/>
          </a:p>
        </p:txBody>
      </p:sp>
      <p:sp>
        <p:nvSpPr>
          <p:cNvPr id="12" name="Shape 10"/>
          <p:cNvSpPr/>
          <p:nvPr/>
        </p:nvSpPr>
        <p:spPr>
          <a:xfrm>
            <a:off x="1371600" y="4636008"/>
            <a:ext cx="4389120" cy="566928"/>
          </a:xfrm>
          <a:prstGeom prst="roundRect">
            <a:avLst>
              <a:gd name="adj" fmla="val 19355"/>
            </a:avLst>
          </a:prstGeom>
          <a:solidFill>
            <a:srgbClr val="E4E6E5"/>
          </a:solidFill>
          <a:ln w="12700">
            <a:solidFill>
              <a:srgbClr val="E4E6E5"/>
            </a:solidFill>
            <a:prstDash val="solid"/>
          </a:ln>
        </p:spPr>
      </p:sp>
      <p:sp>
        <p:nvSpPr>
          <p:cNvPr id="13" name="Text 11"/>
          <p:cNvSpPr txBox="1"/>
          <p:nvPr/>
        </p:nvSpPr>
        <p:spPr>
          <a:xfrm>
            <a:off x="1554480" y="4636008"/>
            <a:ext cx="4023360" cy="566928"/>
          </a:xfrm>
          <a:prstGeom prst="rect">
            <a:avLst/>
          </a:prstGeom>
          <a:noFill/>
          <a:ln/>
        </p:spPr>
        <p:txBody>
          <a:bodyPr wrap="square" lIns="0" tIns="0" rIns="0" bIns="0" rtlCol="0" anchor="ctr"/>
          <a:lstStyle/>
          <a:p>
            <a:pPr indent="0" marL="0">
              <a:buNone/>
            </a:pPr>
            <a:r>
              <a:rPr lang="en-US" sz="1300" dirty="0">
                <a:solidFill>
                  <a:srgbClr val="0A0A0B"/>
                </a:solidFill>
              </a:rPr>
              <a:t>Books the court, posts the result</a:t>
            </a:r>
            <a:endParaRPr lang="en-US" sz="1300" dirty="0"/>
          </a:p>
        </p:txBody>
      </p:sp>
      <p:sp>
        <p:nvSpPr>
          <p:cNvPr id="14" name="Shape 12"/>
          <p:cNvSpPr/>
          <p:nvPr/>
        </p:nvSpPr>
        <p:spPr>
          <a:xfrm>
            <a:off x="1371600" y="5349240"/>
            <a:ext cx="4389120" cy="566928"/>
          </a:xfrm>
          <a:prstGeom prst="roundRect">
            <a:avLst>
              <a:gd name="adj" fmla="val 19355"/>
            </a:avLst>
          </a:prstGeom>
          <a:solidFill>
            <a:srgbClr val="E4E6E5"/>
          </a:solidFill>
          <a:ln w="12700">
            <a:solidFill>
              <a:srgbClr val="E4E6E5"/>
            </a:solidFill>
            <a:prstDash val="solid"/>
          </a:ln>
        </p:spPr>
      </p:sp>
      <p:sp>
        <p:nvSpPr>
          <p:cNvPr id="15" name="Text 13"/>
          <p:cNvSpPr txBox="1"/>
          <p:nvPr/>
        </p:nvSpPr>
        <p:spPr>
          <a:xfrm>
            <a:off x="1554480" y="5349240"/>
            <a:ext cx="4023360" cy="566928"/>
          </a:xfrm>
          <a:prstGeom prst="rect">
            <a:avLst/>
          </a:prstGeom>
          <a:noFill/>
          <a:ln/>
        </p:spPr>
        <p:txBody>
          <a:bodyPr wrap="square" lIns="0" tIns="0" rIns="0" bIns="0" rtlCol="0" anchor="ctr"/>
          <a:lstStyle/>
          <a:p>
            <a:pPr indent="0" marL="0">
              <a:buNone/>
            </a:pPr>
            <a:r>
              <a:rPr lang="en-US" sz="1300" dirty="0">
                <a:solidFill>
                  <a:srgbClr val="0A0A0B"/>
                </a:solidFill>
              </a:rPr>
              <a:t>Someone new? Add them to the chat first</a:t>
            </a:r>
            <a:endParaRPr lang="en-US" sz="1300" dirty="0"/>
          </a:p>
        </p:txBody>
      </p:sp>
      <p:sp>
        <p:nvSpPr>
          <p:cNvPr id="16" name="Text 14"/>
          <p:cNvSpPr txBox="1"/>
          <p:nvPr/>
        </p:nvSpPr>
        <p:spPr>
          <a:xfrm>
            <a:off x="6400800" y="1234440"/>
            <a:ext cx="5242255" cy="411480"/>
          </a:xfrm>
          <a:prstGeom prst="rect">
            <a:avLst/>
          </a:prstGeom>
          <a:noFill/>
          <a:ln/>
        </p:spPr>
        <p:txBody>
          <a:bodyPr wrap="square" lIns="0" tIns="0" rIns="0" bIns="0" rtlCol="0" anchor="ctr"/>
          <a:lstStyle/>
          <a:p>
            <a:pPr indent="0" marL="0">
              <a:buNone/>
            </a:pPr>
            <a:r>
              <a:rPr lang="en-US" sz="1800" b="1" dirty="0">
                <a:solidFill>
                  <a:srgbClr val="0A7F44"/>
                </a:solidFill>
              </a:rPr>
              <a:t>Serve: one sentence, one tap each</a:t>
            </a:r>
            <a:endParaRPr lang="en-US" sz="1800" dirty="0"/>
          </a:p>
        </p:txBody>
      </p:sp>
      <p:sp>
        <p:nvSpPr>
          <p:cNvPr id="17" name="Shape 15"/>
          <p:cNvSpPr/>
          <p:nvPr/>
        </p:nvSpPr>
        <p:spPr>
          <a:xfrm>
            <a:off x="7223760" y="1783080"/>
            <a:ext cx="4419295" cy="566928"/>
          </a:xfrm>
          <a:prstGeom prst="roundRect">
            <a:avLst>
              <a:gd name="adj" fmla="val 19355"/>
            </a:avLst>
          </a:prstGeom>
          <a:solidFill>
            <a:srgbClr val="0A7F44"/>
          </a:solidFill>
          <a:ln w="12700">
            <a:solidFill>
              <a:srgbClr val="0A7F44"/>
            </a:solidFill>
            <a:prstDash val="solid"/>
          </a:ln>
        </p:spPr>
      </p:sp>
      <p:sp>
        <p:nvSpPr>
          <p:cNvPr id="18" name="Text 16"/>
          <p:cNvSpPr txBox="1"/>
          <p:nvPr/>
        </p:nvSpPr>
        <p:spPr>
          <a:xfrm>
            <a:off x="7406640" y="1783080"/>
            <a:ext cx="4053535" cy="566928"/>
          </a:xfrm>
          <a:prstGeom prst="rect">
            <a:avLst/>
          </a:prstGeom>
          <a:noFill/>
          <a:ln/>
        </p:spPr>
        <p:txBody>
          <a:bodyPr wrap="square" lIns="0" tIns="0" rIns="0" bIns="0" rtlCol="0" anchor="ctr"/>
          <a:lstStyle/>
          <a:p>
            <a:pPr indent="0" marL="0">
              <a:buNone/>
            </a:pPr>
            <a:r>
              <a:rPr lang="en-US" sz="1300" dirty="0">
                <a:solidFill>
                  <a:srgbClr val="FFFFFF"/>
                </a:solidFill>
              </a:rPr>
              <a:t>“Doubles on Saturday”</a:t>
            </a:r>
            <a:endParaRPr lang="en-US" sz="1300" dirty="0"/>
          </a:p>
        </p:txBody>
      </p:sp>
      <p:sp>
        <p:nvSpPr>
          <p:cNvPr id="19" name="Shape 17"/>
          <p:cNvSpPr/>
          <p:nvPr/>
        </p:nvSpPr>
        <p:spPr>
          <a:xfrm>
            <a:off x="6400800" y="2496312"/>
            <a:ext cx="4419295" cy="566928"/>
          </a:xfrm>
          <a:prstGeom prst="roundRect">
            <a:avLst>
              <a:gd name="adj" fmla="val 19355"/>
            </a:avLst>
          </a:prstGeom>
          <a:solidFill>
            <a:srgbClr val="F3F6F4"/>
          </a:solidFill>
          <a:ln w="12700">
            <a:solidFill>
              <a:srgbClr val="F3F6F4"/>
            </a:solidFill>
            <a:prstDash val="solid"/>
          </a:ln>
        </p:spPr>
      </p:sp>
      <p:sp>
        <p:nvSpPr>
          <p:cNvPr id="20" name="Text 18"/>
          <p:cNvSpPr txBox="1"/>
          <p:nvPr/>
        </p:nvSpPr>
        <p:spPr>
          <a:xfrm>
            <a:off x="6583680" y="2496312"/>
            <a:ext cx="4053535" cy="566928"/>
          </a:xfrm>
          <a:prstGeom prst="rect">
            <a:avLst/>
          </a:prstGeom>
          <a:noFill/>
          <a:ln/>
        </p:spPr>
        <p:txBody>
          <a:bodyPr wrap="square" lIns="0" tIns="0" rIns="0" bIns="0" rtlCol="0" anchor="ctr"/>
          <a:lstStyle/>
          <a:p>
            <a:pPr indent="0" marL="0">
              <a:buNone/>
            </a:pPr>
            <a:r>
              <a:rPr lang="en-US" sz="1300" dirty="0">
                <a:solidFill>
                  <a:srgbClr val="0A0A0B"/>
                </a:solidFill>
              </a:rPr>
              <a:t>The card: the day, the nearest court, 7 ms</a:t>
            </a:r>
            <a:endParaRPr lang="en-US" sz="1300" dirty="0"/>
          </a:p>
        </p:txBody>
      </p:sp>
      <p:sp>
        <p:nvSpPr>
          <p:cNvPr id="21" name="Shape 19"/>
          <p:cNvSpPr/>
          <p:nvPr/>
        </p:nvSpPr>
        <p:spPr>
          <a:xfrm>
            <a:off x="6400800" y="3209544"/>
            <a:ext cx="4419295" cy="566928"/>
          </a:xfrm>
          <a:prstGeom prst="roundRect">
            <a:avLst>
              <a:gd name="adj" fmla="val 19355"/>
            </a:avLst>
          </a:prstGeom>
          <a:solidFill>
            <a:srgbClr val="F3F6F4"/>
          </a:solidFill>
          <a:ln w="12700">
            <a:solidFill>
              <a:srgbClr val="F3F6F4"/>
            </a:solidFill>
            <a:prstDash val="solid"/>
          </a:ln>
        </p:spPr>
      </p:sp>
      <p:sp>
        <p:nvSpPr>
          <p:cNvPr id="22" name="Text 20"/>
          <p:cNvSpPr txBox="1"/>
          <p:nvPr/>
        </p:nvSpPr>
        <p:spPr>
          <a:xfrm>
            <a:off x="6583680" y="3209544"/>
            <a:ext cx="4053535" cy="566928"/>
          </a:xfrm>
          <a:prstGeom prst="rect">
            <a:avLst/>
          </a:prstGeom>
          <a:noFill/>
          <a:ln/>
        </p:spPr>
        <p:txBody>
          <a:bodyPr wrap="square" lIns="0" tIns="0" rIns="0" bIns="0" rtlCol="0" anchor="ctr"/>
          <a:lstStyle/>
          <a:p>
            <a:pPr indent="0" marL="0">
              <a:buNone/>
            </a:pPr>
            <a:r>
              <a:rPr lang="en-US" sz="1300" dirty="0">
                <a:solidFill>
                  <a:srgbClr val="0A0A0B"/>
                </a:solidFill>
              </a:rPr>
              <a:t>The players' agents agree the time in the background</a:t>
            </a:r>
            <a:endParaRPr lang="en-US" sz="1300" dirty="0"/>
          </a:p>
        </p:txBody>
      </p:sp>
      <p:sp>
        <p:nvSpPr>
          <p:cNvPr id="23" name="Shape 21"/>
          <p:cNvSpPr/>
          <p:nvPr/>
        </p:nvSpPr>
        <p:spPr>
          <a:xfrm>
            <a:off x="7223760" y="3922776"/>
            <a:ext cx="4419295" cy="566928"/>
          </a:xfrm>
          <a:prstGeom prst="roundRect">
            <a:avLst>
              <a:gd name="adj" fmla="val 19355"/>
            </a:avLst>
          </a:prstGeom>
          <a:solidFill>
            <a:srgbClr val="0A7F44"/>
          </a:solidFill>
          <a:ln w="12700">
            <a:solidFill>
              <a:srgbClr val="0A7F44"/>
            </a:solidFill>
            <a:prstDash val="solid"/>
          </a:ln>
        </p:spPr>
      </p:sp>
      <p:sp>
        <p:nvSpPr>
          <p:cNvPr id="24" name="Text 22"/>
          <p:cNvSpPr txBox="1"/>
          <p:nvPr/>
        </p:nvSpPr>
        <p:spPr>
          <a:xfrm>
            <a:off x="7406640" y="3922776"/>
            <a:ext cx="4053535" cy="566928"/>
          </a:xfrm>
          <a:prstGeom prst="rect">
            <a:avLst/>
          </a:prstGeom>
          <a:noFill/>
          <a:ln/>
        </p:spPr>
        <p:txBody>
          <a:bodyPr wrap="square" lIns="0" tIns="0" rIns="0" bIns="0" rtlCol="0" anchor="ctr"/>
          <a:lstStyle/>
          <a:p>
            <a:pPr indent="0" marL="0">
              <a:buNone/>
            </a:pPr>
            <a:r>
              <a:rPr lang="en-US" sz="1300" dirty="0">
                <a:solidFill>
                  <a:srgbClr val="FFFFFF"/>
                </a:solidFill>
              </a:rPr>
              <a:t>Each person taps once: one yes</a:t>
            </a:r>
            <a:endParaRPr lang="en-US" sz="1300" dirty="0"/>
          </a:p>
        </p:txBody>
      </p:sp>
      <p:sp>
        <p:nvSpPr>
          <p:cNvPr id="25" name="Shape 23"/>
          <p:cNvSpPr/>
          <p:nvPr/>
        </p:nvSpPr>
        <p:spPr>
          <a:xfrm>
            <a:off x="6400800" y="4636008"/>
            <a:ext cx="4419295" cy="566928"/>
          </a:xfrm>
          <a:prstGeom prst="roundRect">
            <a:avLst>
              <a:gd name="adj" fmla="val 19355"/>
            </a:avLst>
          </a:prstGeom>
          <a:solidFill>
            <a:srgbClr val="F3F6F4"/>
          </a:solidFill>
          <a:ln w="12700">
            <a:solidFill>
              <a:srgbClr val="F3F6F4"/>
            </a:solidFill>
            <a:prstDash val="solid"/>
          </a:ln>
        </p:spPr>
      </p:sp>
      <p:sp>
        <p:nvSpPr>
          <p:cNvPr id="26" name="Text 24"/>
          <p:cNvSpPr txBox="1"/>
          <p:nvPr/>
        </p:nvSpPr>
        <p:spPr>
          <a:xfrm>
            <a:off x="6583680" y="4636008"/>
            <a:ext cx="4053535" cy="566928"/>
          </a:xfrm>
          <a:prstGeom prst="rect">
            <a:avLst/>
          </a:prstGeom>
          <a:noFill/>
          <a:ln/>
        </p:spPr>
        <p:txBody>
          <a:bodyPr wrap="square" lIns="0" tIns="0" rIns="0" bIns="0" rtlCol="0" anchor="ctr"/>
          <a:lstStyle/>
          <a:p>
            <a:pPr indent="0" marL="0">
              <a:buNone/>
            </a:pPr>
            <a:r>
              <a:rPr lang="en-US" sz="1300" dirty="0">
                <a:solidFill>
                  <a:srgbClr val="0A0A0B"/>
                </a:solidFill>
              </a:rPr>
              <a:t>Booked; the agent posts each join in the thread</a:t>
            </a:r>
            <a:endParaRPr lang="en-US" sz="13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A first real club: 3 invites, 2 games played in three days</a:t>
            </a:r>
            <a:endParaRPr lang="en-US" sz="2800" dirty="0"/>
          </a:p>
        </p:txBody>
      </p:sp>
      <p:pic>
        <p:nvPicPr>
          <p:cNvPr id="3" name="Image 0" descr="preencoded.png">    </p:cNvPr>
          <p:cNvPicPr>
            <a:picLocks noChangeAspect="1"/>
          </p:cNvPicPr>
          <p:nvPr/>
        </p:nvPicPr>
        <p:blipFill>
          <a:blip r:embed="rId1"/>
          <a:stretch>
            <a:fillRect/>
          </a:stretch>
        </p:blipFill>
        <p:spPr>
          <a:xfrm>
            <a:off x="2276202" y="1280160"/>
            <a:ext cx="7639291" cy="3017520"/>
          </a:xfrm>
          <a:prstGeom prst="rect">
            <a:avLst/>
          </a:prstGeom>
        </p:spPr>
      </p:pic>
      <p:sp>
        <p:nvSpPr>
          <p:cNvPr id="4" name="Shape 1"/>
          <p:cNvSpPr/>
          <p:nvPr/>
        </p:nvSpPr>
        <p:spPr>
          <a:xfrm>
            <a:off x="548640" y="4526280"/>
            <a:ext cx="5394960" cy="1508760"/>
          </a:xfrm>
          <a:prstGeom prst="roundRect">
            <a:avLst>
              <a:gd name="adj" fmla="val 4848"/>
            </a:avLst>
          </a:prstGeom>
          <a:solidFill>
            <a:srgbClr val="F3F6F4"/>
          </a:solidFill>
          <a:ln w="12700">
            <a:solidFill>
              <a:srgbClr val="F3F6F4"/>
            </a:solidFill>
            <a:prstDash val="solid"/>
          </a:ln>
        </p:spPr>
      </p:sp>
      <p:sp>
        <p:nvSpPr>
          <p:cNvPr id="5" name="Text 2"/>
          <p:cNvSpPr txBox="1"/>
          <p:nvPr/>
        </p:nvSpPr>
        <p:spPr>
          <a:xfrm>
            <a:off x="777240" y="4681728"/>
            <a:ext cx="4937760" cy="1280160"/>
          </a:xfrm>
          <a:prstGeom prst="rect">
            <a:avLst/>
          </a:prstGeom>
          <a:noFill/>
          <a:ln/>
        </p:spPr>
        <p:txBody>
          <a:bodyPr wrap="square" lIns="0" tIns="0" rIns="0" bIns="0" rtlCol="0" anchor="t"/>
          <a:lstStyle/>
          <a:p>
            <a:pPr indent="0" marL="0">
              <a:spcAft>
                <a:spcPts val="600"/>
              </a:spcAft>
              <a:buNone/>
            </a:pPr>
            <a:r>
              <a:rPr lang="en-US" sz="1400" b="1" dirty="0">
                <a:solidFill>
                  <a:srgbClr val="0A0A0B"/>
                </a:solidFill>
              </a:rPr>
              <a:t>More than 10 people</a:t>
            </a:r>
            <a:endParaRPr lang="en-US" sz="1400" dirty="0"/>
          </a:p>
          <a:p>
            <a:pPr indent="0" marL="0">
              <a:spcAft>
                <a:spcPts val="600"/>
              </a:spcAft>
              <a:buNone/>
            </a:pPr>
            <a:r>
              <a:rPr lang="en-US" sz="1400" dirty="0">
                <a:solidFill>
                  <a:srgbClr val="0A0A0B"/>
                </a:solidFill>
              </a:rPr>
              <a:t>of a real badminton club used Serve during the hackathon; of the 3 game invites sent through it, 2 became games that were played.</a:t>
            </a:r>
            <a:endParaRPr lang="en-US" sz="1400" dirty="0"/>
          </a:p>
        </p:txBody>
      </p:sp>
      <p:sp>
        <p:nvSpPr>
          <p:cNvPr id="6" name="Shape 3"/>
          <p:cNvSpPr/>
          <p:nvPr/>
        </p:nvSpPr>
        <p:spPr>
          <a:xfrm>
            <a:off x="6217920" y="4526280"/>
            <a:ext cx="5425135" cy="1508760"/>
          </a:xfrm>
          <a:prstGeom prst="roundRect">
            <a:avLst>
              <a:gd name="adj" fmla="val 4848"/>
            </a:avLst>
          </a:prstGeom>
          <a:solidFill>
            <a:srgbClr val="E9F3EC"/>
          </a:solidFill>
          <a:ln w="12700">
            <a:solidFill>
              <a:srgbClr val="E9F3EC"/>
            </a:solidFill>
            <a:prstDash val="solid"/>
          </a:ln>
        </p:spPr>
      </p:sp>
      <p:sp>
        <p:nvSpPr>
          <p:cNvPr id="7" name="Text 4"/>
          <p:cNvSpPr txBox="1"/>
          <p:nvPr/>
        </p:nvSpPr>
        <p:spPr>
          <a:xfrm>
            <a:off x="6446520" y="4681728"/>
            <a:ext cx="4967935" cy="1280160"/>
          </a:xfrm>
          <a:prstGeom prst="rect">
            <a:avLst/>
          </a:prstGeom>
          <a:noFill/>
          <a:ln/>
        </p:spPr>
        <p:txBody>
          <a:bodyPr wrap="square" lIns="0" tIns="0" rIns="0" bIns="0" rtlCol="0" anchor="t"/>
          <a:lstStyle/>
          <a:p>
            <a:pPr indent="0" marL="0">
              <a:spcAft>
                <a:spcPts val="600"/>
              </a:spcAft>
              <a:buNone/>
            </a:pPr>
            <a:r>
              <a:rPr lang="en-US" sz="1400" i="1" dirty="0">
                <a:solidFill>
                  <a:srgbClr val="0A0A0B"/>
                </a:solidFill>
              </a:rPr>
              <a:t>“It's actually really handy. You just talk to the agent.”</a:t>
            </a:r>
            <a:endParaRPr lang="en-US" sz="1400" dirty="0"/>
          </a:p>
          <a:p>
            <a:pPr indent="0" marL="0">
              <a:spcAft>
                <a:spcPts val="600"/>
              </a:spcAft>
              <a:buNone/>
            </a:pPr>
            <a:r>
              <a:rPr lang="en-US" sz="1400" i="1" dirty="0">
                <a:solidFill>
                  <a:srgbClr val="0A0A0B"/>
                </a:solidFill>
              </a:rPr>
              <a:t>“The way it suggests games first can make people more motivated to play.”</a:t>
            </a:r>
            <a:endParaRPr lang="en-US" sz="1400" dirty="0"/>
          </a:p>
          <a:p>
            <a:pPr indent="0" marL="0">
              <a:spcAft>
                <a:spcPts val="600"/>
              </a:spcAft>
              <a:buNone/>
            </a:pPr>
            <a:r>
              <a:rPr lang="en-US" sz="1100" dirty="0">
                <a:solidFill>
                  <a:srgbClr val="55555C"/>
                </a:solidFill>
              </a:rPr>
              <a:t>Players A and B, translated from Chinese</a:t>
            </a:r>
            <a:endParaRPr lang="en-US" sz="14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Three helpers take the friction out, for anyone, anywhere</a:t>
            </a:r>
            <a:endParaRPr lang="en-US" sz="2800" dirty="0"/>
          </a:p>
        </p:txBody>
      </p:sp>
      <p:sp>
        <p:nvSpPr>
          <p:cNvPr id="3" name="Shape 1"/>
          <p:cNvSpPr/>
          <p:nvPr/>
        </p:nvSpPr>
        <p:spPr>
          <a:xfrm>
            <a:off x="548640" y="1280160"/>
            <a:ext cx="3520440" cy="2514600"/>
          </a:xfrm>
          <a:prstGeom prst="roundRect">
            <a:avLst>
              <a:gd name="adj" fmla="val 2909"/>
            </a:avLst>
          </a:prstGeom>
          <a:solidFill>
            <a:srgbClr val="F3F6F4"/>
          </a:solidFill>
          <a:ln w="12700">
            <a:solidFill>
              <a:srgbClr val="F3F6F4"/>
            </a:solidFill>
            <a:prstDash val="solid"/>
          </a:ln>
        </p:spPr>
      </p:sp>
      <p:sp>
        <p:nvSpPr>
          <p:cNvPr id="4" name="Shape 2"/>
          <p:cNvSpPr/>
          <p:nvPr/>
        </p:nvSpPr>
        <p:spPr>
          <a:xfrm>
            <a:off x="777240" y="1463040"/>
            <a:ext cx="548640" cy="548640"/>
          </a:xfrm>
          <a:prstGeom prst="ellipse">
            <a:avLst/>
          </a:prstGeom>
          <a:solidFill>
            <a:srgbClr val="0A7F44"/>
          </a:solidFill>
          <a:ln w="12700">
            <a:solidFill>
              <a:srgbClr val="0A7F44"/>
            </a:solidFill>
            <a:prstDash val="solid"/>
          </a:ln>
        </p:spPr>
      </p:sp>
      <p:sp>
        <p:nvSpPr>
          <p:cNvPr id="5" name="Text 3"/>
          <p:cNvSpPr txBox="1"/>
          <p:nvPr/>
        </p:nvSpPr>
        <p:spPr>
          <a:xfrm>
            <a:off x="777240" y="14630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463040" y="1417320"/>
            <a:ext cx="2468880" cy="685800"/>
          </a:xfrm>
          <a:prstGeom prst="rect">
            <a:avLst/>
          </a:prstGeom>
          <a:noFill/>
          <a:ln/>
        </p:spPr>
        <p:txBody>
          <a:bodyPr wrap="square" lIns="0" tIns="0" rIns="0" bIns="0" rtlCol="0" anchor="ctr"/>
          <a:lstStyle/>
          <a:p>
            <a:pPr indent="0" marL="0">
              <a:buNone/>
            </a:pPr>
            <a:r>
              <a:rPr lang="en-US" sz="1800" b="1" dirty="0">
                <a:solidFill>
                  <a:srgbClr val="0A0A0B"/>
                </a:solidFill>
              </a:rPr>
              <a:t>Match</a:t>
            </a:r>
            <a:endParaRPr lang="en-US" sz="1800" dirty="0"/>
          </a:p>
          <a:p>
            <a:pPr indent="0" marL="0">
              <a:buNone/>
            </a:pPr>
            <a:r>
              <a:rPr lang="en-US" sz="1200" dirty="0">
                <a:solidFill>
                  <a:srgbClr val="55555C"/>
                </a:solidFill>
              </a:rPr>
              <a:t>asks first</a:t>
            </a:r>
            <a:endParaRPr lang="en-US" sz="1800" dirty="0"/>
          </a:p>
        </p:txBody>
      </p:sp>
      <p:sp>
        <p:nvSpPr>
          <p:cNvPr id="7" name="Text 5"/>
          <p:cNvSpPr txBox="1"/>
          <p:nvPr/>
        </p:nvSpPr>
        <p:spPr>
          <a:xfrm>
            <a:off x="777240" y="2240280"/>
            <a:ext cx="3108960" cy="1463040"/>
          </a:xfrm>
          <a:prstGeom prst="rect">
            <a:avLst/>
          </a:prstGeom>
          <a:noFill/>
          <a:ln/>
        </p:spPr>
        <p:txBody>
          <a:bodyPr wrap="square" lIns="0" tIns="0" rIns="0" bIns="0" rtlCol="0" anchor="t"/>
          <a:lstStyle/>
          <a:p>
            <a:pPr indent="0" marL="0">
              <a:buNone/>
            </a:pPr>
            <a:r>
              <a:rPr lang="en-US" sz="1250" dirty="0">
                <a:solidFill>
                  <a:srgbClr val="0A0A0B"/>
                </a:solidFill>
              </a:rPr>
              <a:t>“Thursday 19:00: Leo is free. Want a game?” It learns the player's usual times and asks when one is open and the people they play best with are free.</a:t>
            </a:r>
            <a:endParaRPr lang="en-US" sz="1250" dirty="0"/>
          </a:p>
        </p:txBody>
      </p:sp>
      <p:sp>
        <p:nvSpPr>
          <p:cNvPr id="8" name="Shape 6"/>
          <p:cNvSpPr/>
          <p:nvPr/>
        </p:nvSpPr>
        <p:spPr>
          <a:xfrm>
            <a:off x="4297680" y="1280160"/>
            <a:ext cx="3520440" cy="2514600"/>
          </a:xfrm>
          <a:prstGeom prst="roundRect">
            <a:avLst>
              <a:gd name="adj" fmla="val 2909"/>
            </a:avLst>
          </a:prstGeom>
          <a:solidFill>
            <a:srgbClr val="F3F6F4"/>
          </a:solidFill>
          <a:ln w="12700">
            <a:solidFill>
              <a:srgbClr val="F3F6F4"/>
            </a:solidFill>
            <a:prstDash val="solid"/>
          </a:ln>
        </p:spPr>
      </p:sp>
      <p:sp>
        <p:nvSpPr>
          <p:cNvPr id="9" name="Shape 7"/>
          <p:cNvSpPr/>
          <p:nvPr/>
        </p:nvSpPr>
        <p:spPr>
          <a:xfrm>
            <a:off x="4526280" y="1463040"/>
            <a:ext cx="548640" cy="548640"/>
          </a:xfrm>
          <a:prstGeom prst="ellipse">
            <a:avLst/>
          </a:prstGeom>
          <a:solidFill>
            <a:srgbClr val="0064E0"/>
          </a:solidFill>
          <a:ln w="12700">
            <a:solidFill>
              <a:srgbClr val="0064E0"/>
            </a:solidFill>
            <a:prstDash val="solid"/>
          </a:ln>
        </p:spPr>
      </p:sp>
      <p:sp>
        <p:nvSpPr>
          <p:cNvPr id="10" name="Text 8"/>
          <p:cNvSpPr txBox="1"/>
          <p:nvPr/>
        </p:nvSpPr>
        <p:spPr>
          <a:xfrm>
            <a:off x="4526280" y="14630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1" name="Text 9"/>
          <p:cNvSpPr txBox="1"/>
          <p:nvPr/>
        </p:nvSpPr>
        <p:spPr>
          <a:xfrm>
            <a:off x="5212080" y="1417320"/>
            <a:ext cx="2468880" cy="685800"/>
          </a:xfrm>
          <a:prstGeom prst="rect">
            <a:avLst/>
          </a:prstGeom>
          <a:noFill/>
          <a:ln/>
        </p:spPr>
        <p:txBody>
          <a:bodyPr wrap="square" lIns="0" tIns="0" rIns="0" bIns="0" rtlCol="0" anchor="ctr"/>
          <a:lstStyle/>
          <a:p>
            <a:pPr indent="0" marL="0">
              <a:buNone/>
            </a:pPr>
            <a:r>
              <a:rPr lang="en-US" sz="1800" b="1" dirty="0">
                <a:solidFill>
                  <a:srgbClr val="0A0A0B"/>
                </a:solidFill>
              </a:rPr>
              <a:t>Talk</a:t>
            </a:r>
            <a:endParaRPr lang="en-US" sz="1800" dirty="0"/>
          </a:p>
          <a:p>
            <a:pPr indent="0" marL="0">
              <a:buNone/>
            </a:pPr>
            <a:r>
              <a:rPr lang="en-US" sz="1200" dirty="0">
                <a:solidFill>
                  <a:srgbClr val="55555C"/>
                </a:solidFill>
              </a:rPr>
              <a:t>agents agree on their own</a:t>
            </a:r>
            <a:endParaRPr lang="en-US" sz="1800" dirty="0"/>
          </a:p>
        </p:txBody>
      </p:sp>
      <p:sp>
        <p:nvSpPr>
          <p:cNvPr id="12" name="Text 10"/>
          <p:cNvSpPr txBox="1"/>
          <p:nvPr/>
        </p:nvSpPr>
        <p:spPr>
          <a:xfrm>
            <a:off x="4526280" y="2240280"/>
            <a:ext cx="3108960" cy="1463040"/>
          </a:xfrm>
          <a:prstGeom prst="rect">
            <a:avLst/>
          </a:prstGeom>
          <a:noFill/>
          <a:ln/>
        </p:spPr>
        <p:txBody>
          <a:bodyPr wrap="square" lIns="0" tIns="0" rIns="0" bIns="0" rtlCol="0" anchor="t"/>
          <a:lstStyle/>
          <a:p>
            <a:pPr indent="0" marL="0">
              <a:buNone/>
            </a:pPr>
            <a:r>
              <a:rPr lang="en-US" sz="1250" dirty="0">
                <a:solidFill>
                  <a:srgbClr val="0A0A0B"/>
                </a:solidFill>
              </a:rPr>
              <a:t>The person only says they want to play. Each player's agent agrees the time, the people and the court with the others' agents in the background.</a:t>
            </a:r>
            <a:endParaRPr lang="en-US" sz="1250" dirty="0"/>
          </a:p>
        </p:txBody>
      </p:sp>
      <p:sp>
        <p:nvSpPr>
          <p:cNvPr id="13" name="Shape 11"/>
          <p:cNvSpPr/>
          <p:nvPr/>
        </p:nvSpPr>
        <p:spPr>
          <a:xfrm>
            <a:off x="8046720" y="1280160"/>
            <a:ext cx="3520440" cy="2514600"/>
          </a:xfrm>
          <a:prstGeom prst="roundRect">
            <a:avLst>
              <a:gd name="adj" fmla="val 2909"/>
            </a:avLst>
          </a:prstGeom>
          <a:solidFill>
            <a:srgbClr val="F3F6F4"/>
          </a:solidFill>
          <a:ln w="12700">
            <a:solidFill>
              <a:srgbClr val="F3F6F4"/>
            </a:solidFill>
            <a:prstDash val="solid"/>
          </a:ln>
        </p:spPr>
      </p:sp>
      <p:sp>
        <p:nvSpPr>
          <p:cNvPr id="14" name="Shape 12"/>
          <p:cNvSpPr/>
          <p:nvPr/>
        </p:nvSpPr>
        <p:spPr>
          <a:xfrm>
            <a:off x="8275320" y="1463040"/>
            <a:ext cx="548640" cy="548640"/>
          </a:xfrm>
          <a:prstGeom prst="ellipse">
            <a:avLst/>
          </a:prstGeom>
          <a:solidFill>
            <a:srgbClr val="B26A00"/>
          </a:solidFill>
          <a:ln w="12700">
            <a:solidFill>
              <a:srgbClr val="B26A00"/>
            </a:solidFill>
            <a:prstDash val="solid"/>
          </a:ln>
        </p:spPr>
      </p:sp>
      <p:sp>
        <p:nvSpPr>
          <p:cNvPr id="15" name="Text 13"/>
          <p:cNvSpPr txBox="1"/>
          <p:nvPr/>
        </p:nvSpPr>
        <p:spPr>
          <a:xfrm>
            <a:off x="8275320" y="14630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6" name="Text 14"/>
          <p:cNvSpPr txBox="1"/>
          <p:nvPr/>
        </p:nvSpPr>
        <p:spPr>
          <a:xfrm>
            <a:off x="8961120" y="1417320"/>
            <a:ext cx="2468880" cy="685800"/>
          </a:xfrm>
          <a:prstGeom prst="rect">
            <a:avLst/>
          </a:prstGeom>
          <a:noFill/>
          <a:ln/>
        </p:spPr>
        <p:txBody>
          <a:bodyPr wrap="square" lIns="0" tIns="0" rIns="0" bIns="0" rtlCol="0" anchor="ctr"/>
          <a:lstStyle/>
          <a:p>
            <a:pPr indent="0" marL="0">
              <a:buNone/>
            </a:pPr>
            <a:r>
              <a:rPr lang="en-US" sz="1800" b="1" dirty="0">
                <a:solidFill>
                  <a:srgbClr val="0A0A0B"/>
                </a:solidFill>
              </a:rPr>
              <a:t>Body</a:t>
            </a:r>
            <a:endParaRPr lang="en-US" sz="1800" dirty="0"/>
          </a:p>
          <a:p>
            <a:pPr indent="0" marL="0">
              <a:buNone/>
            </a:pPr>
            <a:r>
              <a:rPr lang="en-US" sz="1200" dirty="0">
                <a:solidFill>
                  <a:srgbClr val="55555C"/>
                </a:solidFill>
              </a:rPr>
              <a:t>schedules around the body</a:t>
            </a:r>
            <a:endParaRPr lang="en-US" sz="1800" dirty="0"/>
          </a:p>
        </p:txBody>
      </p:sp>
      <p:sp>
        <p:nvSpPr>
          <p:cNvPr id="17" name="Text 15"/>
          <p:cNvSpPr txBox="1"/>
          <p:nvPr/>
        </p:nvSpPr>
        <p:spPr>
          <a:xfrm>
            <a:off x="8275320" y="2240280"/>
            <a:ext cx="3108960" cy="1463040"/>
          </a:xfrm>
          <a:prstGeom prst="rect">
            <a:avLst/>
          </a:prstGeom>
          <a:noFill/>
          <a:ln/>
        </p:spPr>
        <p:txBody>
          <a:bodyPr wrap="square" lIns="0" tIns="0" rIns="0" bIns="0" rtlCol="0" anchor="t"/>
          <a:lstStyle/>
          <a:p>
            <a:pPr indent="0" marL="0">
              <a:buNone/>
            </a:pPr>
            <a:r>
              <a:rPr lang="en-US" sz="1250" dirty="0">
                <a:solidFill>
                  <a:srgbClr val="0A0A0B"/>
                </a:solidFill>
              </a:rPr>
              <a:t>A body log and health-app export become scheduling limits: doubles while a knee is sore, one game fewer in a heavy week. Not medical advice.</a:t>
            </a:r>
            <a:endParaRPr lang="en-US" sz="1250" dirty="0"/>
          </a:p>
        </p:txBody>
      </p:sp>
      <p:sp>
        <p:nvSpPr>
          <p:cNvPr id="18" name="Text 16"/>
          <p:cNvSpPr txBox="1"/>
          <p:nvPr/>
        </p:nvSpPr>
        <p:spPr>
          <a:xfrm>
            <a:off x="548640" y="4023360"/>
            <a:ext cx="11094415" cy="365760"/>
          </a:xfrm>
          <a:prstGeom prst="rect">
            <a:avLst/>
          </a:prstGeom>
          <a:noFill/>
          <a:ln/>
        </p:spPr>
        <p:txBody>
          <a:bodyPr wrap="square" lIns="0" tIns="0" rIns="0" bIns="0" rtlCol="0" anchor="ctr"/>
          <a:lstStyle/>
          <a:p>
            <a:pPr indent="0" marL="0">
              <a:buNone/>
            </a:pPr>
            <a:r>
              <a:rPr lang="en-US" sz="1400" b="1" dirty="0">
                <a:solidFill>
                  <a:srgbClr val="0A7F44"/>
                </a:solidFill>
              </a:rPr>
              <a:t>Build for Your World: any town with courts on OpenStreetMap, any ball sport, in a phone's browser and in Messenger</a:t>
            </a:r>
            <a:endParaRPr lang="en-US" sz="1400" dirty="0"/>
          </a:p>
        </p:txBody>
      </p:sp>
      <p:sp>
        <p:nvSpPr>
          <p:cNvPr id="19" name="Shape 17"/>
          <p:cNvSpPr/>
          <p:nvPr/>
        </p:nvSpPr>
        <p:spPr>
          <a:xfrm>
            <a:off x="548640" y="4526280"/>
            <a:ext cx="1444752" cy="457200"/>
          </a:xfrm>
          <a:prstGeom prst="roundRect">
            <a:avLst>
              <a:gd name="adj" fmla="val 50000"/>
            </a:avLst>
          </a:prstGeom>
          <a:solidFill>
            <a:srgbClr val="E9F3EC"/>
          </a:solidFill>
          <a:ln w="12700">
            <a:solidFill>
              <a:srgbClr val="E9F3EC"/>
            </a:solidFill>
            <a:prstDash val="solid"/>
          </a:ln>
        </p:spPr>
      </p:sp>
      <p:sp>
        <p:nvSpPr>
          <p:cNvPr id="20" name="Text 18"/>
          <p:cNvSpPr txBox="1"/>
          <p:nvPr/>
        </p:nvSpPr>
        <p:spPr>
          <a:xfrm>
            <a:off x="548640" y="4526280"/>
            <a:ext cx="1444752" cy="457200"/>
          </a:xfrm>
          <a:prstGeom prst="rect">
            <a:avLst/>
          </a:prstGeom>
          <a:noFill/>
          <a:ln/>
        </p:spPr>
        <p:txBody>
          <a:bodyPr wrap="square" lIns="0" tIns="0" rIns="0" bIns="0" rtlCol="0" anchor="ctr"/>
          <a:lstStyle/>
          <a:p>
            <a:pPr algn="ctr" indent="0" marL="0">
              <a:buNone/>
            </a:pPr>
            <a:r>
              <a:rPr lang="en-US" sz="1200" b="1" dirty="0">
                <a:solidFill>
                  <a:srgbClr val="0A7F44"/>
                </a:solidFill>
              </a:rPr>
              <a:t>badminton</a:t>
            </a:r>
            <a:endParaRPr lang="en-US" sz="1200" dirty="0"/>
          </a:p>
        </p:txBody>
      </p:sp>
      <p:sp>
        <p:nvSpPr>
          <p:cNvPr id="21" name="Shape 19"/>
          <p:cNvSpPr/>
          <p:nvPr/>
        </p:nvSpPr>
        <p:spPr>
          <a:xfrm>
            <a:off x="2130552" y="4526280"/>
            <a:ext cx="1444752" cy="457200"/>
          </a:xfrm>
          <a:prstGeom prst="roundRect">
            <a:avLst>
              <a:gd name="adj" fmla="val 50000"/>
            </a:avLst>
          </a:prstGeom>
          <a:solidFill>
            <a:srgbClr val="E9F3EC"/>
          </a:solidFill>
          <a:ln w="12700">
            <a:solidFill>
              <a:srgbClr val="E9F3EC"/>
            </a:solidFill>
            <a:prstDash val="solid"/>
          </a:ln>
        </p:spPr>
      </p:sp>
      <p:sp>
        <p:nvSpPr>
          <p:cNvPr id="22" name="Text 20"/>
          <p:cNvSpPr txBox="1"/>
          <p:nvPr/>
        </p:nvSpPr>
        <p:spPr>
          <a:xfrm>
            <a:off x="2130552" y="4526280"/>
            <a:ext cx="1444752" cy="457200"/>
          </a:xfrm>
          <a:prstGeom prst="rect">
            <a:avLst/>
          </a:prstGeom>
          <a:noFill/>
          <a:ln/>
        </p:spPr>
        <p:txBody>
          <a:bodyPr wrap="square" lIns="0" tIns="0" rIns="0" bIns="0" rtlCol="0" anchor="ctr"/>
          <a:lstStyle/>
          <a:p>
            <a:pPr algn="ctr" indent="0" marL="0">
              <a:buNone/>
            </a:pPr>
            <a:r>
              <a:rPr lang="en-US" sz="1200" b="1" dirty="0">
                <a:solidFill>
                  <a:srgbClr val="0A7F44"/>
                </a:solidFill>
              </a:rPr>
              <a:t>tennis</a:t>
            </a:r>
            <a:endParaRPr lang="en-US" sz="1200" dirty="0"/>
          </a:p>
        </p:txBody>
      </p:sp>
      <p:sp>
        <p:nvSpPr>
          <p:cNvPr id="23" name="Shape 21"/>
          <p:cNvSpPr/>
          <p:nvPr/>
        </p:nvSpPr>
        <p:spPr>
          <a:xfrm>
            <a:off x="3712464" y="4526280"/>
            <a:ext cx="1444752" cy="457200"/>
          </a:xfrm>
          <a:prstGeom prst="roundRect">
            <a:avLst>
              <a:gd name="adj" fmla="val 50000"/>
            </a:avLst>
          </a:prstGeom>
          <a:solidFill>
            <a:srgbClr val="E9F3EC"/>
          </a:solidFill>
          <a:ln w="12700">
            <a:solidFill>
              <a:srgbClr val="E9F3EC"/>
            </a:solidFill>
            <a:prstDash val="solid"/>
          </a:ln>
        </p:spPr>
      </p:sp>
      <p:sp>
        <p:nvSpPr>
          <p:cNvPr id="24" name="Text 22"/>
          <p:cNvSpPr txBox="1"/>
          <p:nvPr/>
        </p:nvSpPr>
        <p:spPr>
          <a:xfrm>
            <a:off x="3712464" y="4526280"/>
            <a:ext cx="1444752" cy="457200"/>
          </a:xfrm>
          <a:prstGeom prst="rect">
            <a:avLst/>
          </a:prstGeom>
          <a:noFill/>
          <a:ln/>
        </p:spPr>
        <p:txBody>
          <a:bodyPr wrap="square" lIns="0" tIns="0" rIns="0" bIns="0" rtlCol="0" anchor="ctr"/>
          <a:lstStyle/>
          <a:p>
            <a:pPr algn="ctr" indent="0" marL="0">
              <a:buNone/>
            </a:pPr>
            <a:r>
              <a:rPr lang="en-US" sz="1200" b="1" dirty="0">
                <a:solidFill>
                  <a:srgbClr val="0A7F44"/>
                </a:solidFill>
              </a:rPr>
              <a:t>pickleball</a:t>
            </a:r>
            <a:endParaRPr lang="en-US" sz="1200" dirty="0"/>
          </a:p>
        </p:txBody>
      </p:sp>
      <p:sp>
        <p:nvSpPr>
          <p:cNvPr id="25" name="Shape 23"/>
          <p:cNvSpPr/>
          <p:nvPr/>
        </p:nvSpPr>
        <p:spPr>
          <a:xfrm>
            <a:off x="5294376" y="4526280"/>
            <a:ext cx="1444752" cy="457200"/>
          </a:xfrm>
          <a:prstGeom prst="roundRect">
            <a:avLst>
              <a:gd name="adj" fmla="val 50000"/>
            </a:avLst>
          </a:prstGeom>
          <a:solidFill>
            <a:srgbClr val="E9F3EC"/>
          </a:solidFill>
          <a:ln w="12700">
            <a:solidFill>
              <a:srgbClr val="E9F3EC"/>
            </a:solidFill>
            <a:prstDash val="solid"/>
          </a:ln>
        </p:spPr>
      </p:sp>
      <p:sp>
        <p:nvSpPr>
          <p:cNvPr id="26" name="Text 24"/>
          <p:cNvSpPr txBox="1"/>
          <p:nvPr/>
        </p:nvSpPr>
        <p:spPr>
          <a:xfrm>
            <a:off x="5294376" y="4526280"/>
            <a:ext cx="1444752" cy="457200"/>
          </a:xfrm>
          <a:prstGeom prst="rect">
            <a:avLst/>
          </a:prstGeom>
          <a:noFill/>
          <a:ln/>
        </p:spPr>
        <p:txBody>
          <a:bodyPr wrap="square" lIns="0" tIns="0" rIns="0" bIns="0" rtlCol="0" anchor="ctr"/>
          <a:lstStyle/>
          <a:p>
            <a:pPr algn="ctr" indent="0" marL="0">
              <a:buNone/>
            </a:pPr>
            <a:r>
              <a:rPr lang="en-US" sz="1200" b="1" dirty="0">
                <a:solidFill>
                  <a:srgbClr val="0A7F44"/>
                </a:solidFill>
              </a:rPr>
              <a:t>table tennis</a:t>
            </a:r>
            <a:endParaRPr lang="en-US" sz="1200" dirty="0"/>
          </a:p>
        </p:txBody>
      </p:sp>
      <p:sp>
        <p:nvSpPr>
          <p:cNvPr id="27" name="Shape 25"/>
          <p:cNvSpPr/>
          <p:nvPr/>
        </p:nvSpPr>
        <p:spPr>
          <a:xfrm>
            <a:off x="6876288" y="4526280"/>
            <a:ext cx="1444752" cy="457200"/>
          </a:xfrm>
          <a:prstGeom prst="roundRect">
            <a:avLst>
              <a:gd name="adj" fmla="val 50000"/>
            </a:avLst>
          </a:prstGeom>
          <a:solidFill>
            <a:srgbClr val="E9F3EC"/>
          </a:solidFill>
          <a:ln w="12700">
            <a:solidFill>
              <a:srgbClr val="E9F3EC"/>
            </a:solidFill>
            <a:prstDash val="solid"/>
          </a:ln>
        </p:spPr>
      </p:sp>
      <p:sp>
        <p:nvSpPr>
          <p:cNvPr id="28" name="Text 26"/>
          <p:cNvSpPr txBox="1"/>
          <p:nvPr/>
        </p:nvSpPr>
        <p:spPr>
          <a:xfrm>
            <a:off x="6876288" y="4526280"/>
            <a:ext cx="1444752" cy="457200"/>
          </a:xfrm>
          <a:prstGeom prst="rect">
            <a:avLst/>
          </a:prstGeom>
          <a:noFill/>
          <a:ln/>
        </p:spPr>
        <p:txBody>
          <a:bodyPr wrap="square" lIns="0" tIns="0" rIns="0" bIns="0" rtlCol="0" anchor="ctr"/>
          <a:lstStyle/>
          <a:p>
            <a:pPr algn="ctr" indent="0" marL="0">
              <a:buNone/>
            </a:pPr>
            <a:r>
              <a:rPr lang="en-US" sz="1200" b="1" dirty="0">
                <a:solidFill>
                  <a:srgbClr val="0A7F44"/>
                </a:solidFill>
              </a:rPr>
              <a:t>basketball</a:t>
            </a:r>
            <a:endParaRPr lang="en-US" sz="1200" dirty="0"/>
          </a:p>
        </p:txBody>
      </p:sp>
      <p:sp>
        <p:nvSpPr>
          <p:cNvPr id="29" name="Shape 27"/>
          <p:cNvSpPr/>
          <p:nvPr/>
        </p:nvSpPr>
        <p:spPr>
          <a:xfrm>
            <a:off x="8458200" y="4526280"/>
            <a:ext cx="1444752" cy="457200"/>
          </a:xfrm>
          <a:prstGeom prst="roundRect">
            <a:avLst>
              <a:gd name="adj" fmla="val 50000"/>
            </a:avLst>
          </a:prstGeom>
          <a:solidFill>
            <a:srgbClr val="E9F3EC"/>
          </a:solidFill>
          <a:ln w="12700">
            <a:solidFill>
              <a:srgbClr val="E9F3EC"/>
            </a:solidFill>
            <a:prstDash val="solid"/>
          </a:ln>
        </p:spPr>
      </p:sp>
      <p:sp>
        <p:nvSpPr>
          <p:cNvPr id="30" name="Text 28"/>
          <p:cNvSpPr txBox="1"/>
          <p:nvPr/>
        </p:nvSpPr>
        <p:spPr>
          <a:xfrm>
            <a:off x="8458200" y="4526280"/>
            <a:ext cx="1444752" cy="457200"/>
          </a:xfrm>
          <a:prstGeom prst="rect">
            <a:avLst/>
          </a:prstGeom>
          <a:noFill/>
          <a:ln/>
        </p:spPr>
        <p:txBody>
          <a:bodyPr wrap="square" lIns="0" tIns="0" rIns="0" bIns="0" rtlCol="0" anchor="ctr"/>
          <a:lstStyle/>
          <a:p>
            <a:pPr algn="ctr" indent="0" marL="0">
              <a:buNone/>
            </a:pPr>
            <a:r>
              <a:rPr lang="en-US" sz="1200" b="1" dirty="0">
                <a:solidFill>
                  <a:srgbClr val="0A7F44"/>
                </a:solidFill>
              </a:rPr>
              <a:t>volleyball</a:t>
            </a:r>
            <a:endParaRPr lang="en-US" sz="1200" dirty="0"/>
          </a:p>
        </p:txBody>
      </p:sp>
      <p:sp>
        <p:nvSpPr>
          <p:cNvPr id="31" name="Shape 29"/>
          <p:cNvSpPr/>
          <p:nvPr/>
        </p:nvSpPr>
        <p:spPr>
          <a:xfrm>
            <a:off x="10040112" y="4526280"/>
            <a:ext cx="1444752" cy="457200"/>
          </a:xfrm>
          <a:prstGeom prst="roundRect">
            <a:avLst>
              <a:gd name="adj" fmla="val 50000"/>
            </a:avLst>
          </a:prstGeom>
          <a:solidFill>
            <a:srgbClr val="E9F3EC"/>
          </a:solidFill>
          <a:ln w="12700">
            <a:solidFill>
              <a:srgbClr val="E9F3EC"/>
            </a:solidFill>
            <a:prstDash val="solid"/>
          </a:ln>
        </p:spPr>
      </p:sp>
      <p:sp>
        <p:nvSpPr>
          <p:cNvPr id="32" name="Text 30"/>
          <p:cNvSpPr txBox="1"/>
          <p:nvPr/>
        </p:nvSpPr>
        <p:spPr>
          <a:xfrm>
            <a:off x="10040112" y="4526280"/>
            <a:ext cx="1444752" cy="457200"/>
          </a:xfrm>
          <a:prstGeom prst="rect">
            <a:avLst/>
          </a:prstGeom>
          <a:noFill/>
          <a:ln/>
        </p:spPr>
        <p:txBody>
          <a:bodyPr wrap="square" lIns="0" tIns="0" rIns="0" bIns="0" rtlCol="0" anchor="ctr"/>
          <a:lstStyle/>
          <a:p>
            <a:pPr algn="ctr" indent="0" marL="0">
              <a:buNone/>
            </a:pPr>
            <a:r>
              <a:rPr lang="en-US" sz="1200" b="1" dirty="0">
                <a:solidFill>
                  <a:srgbClr val="0A7F44"/>
                </a:solidFill>
              </a:rPr>
              <a:t>soccer</a:t>
            </a:r>
            <a:endParaRPr lang="en-US" sz="1200" dirty="0"/>
          </a:p>
        </p:txBody>
      </p:sp>
      <p:sp>
        <p:nvSpPr>
          <p:cNvPr id="33" name="Text 31"/>
          <p:cNvSpPr txBox="1"/>
          <p:nvPr/>
        </p:nvSpPr>
        <p:spPr>
          <a:xfrm>
            <a:off x="548640" y="5257800"/>
            <a:ext cx="5440680" cy="868680"/>
          </a:xfrm>
          <a:prstGeom prst="rect">
            <a:avLst/>
          </a:prstGeom>
          <a:noFill/>
          <a:ln/>
        </p:spPr>
        <p:txBody>
          <a:bodyPr wrap="square" lIns="0" tIns="0" rIns="0" bIns="0" rtlCol="0" anchor="t"/>
          <a:lstStyle/>
          <a:p>
            <a:pPr indent="0" marL="0">
              <a:buNone/>
            </a:pPr>
            <a:r>
              <a:rPr lang="en-US" sz="1250" b="1" dirty="0">
                <a:solidFill>
                  <a:srgbClr val="0A0A0B"/>
                </a:solidFill>
              </a:rPr>
              <a:t>Groups nobody organises: </a:t>
            </a:r>
            <a:pPr indent="0" marL="0">
              <a:buNone/>
            </a:pPr>
            <a:r>
              <a:rPr lang="en-US" sz="1250" dirty="0">
                <a:solidFill>
                  <a:srgbClr val="0A0A0B"/>
                </a:solidFill>
              </a:rPr>
              <a:t>children's sessions with fair turns and no child accounts, gentle daytime doubles for older adults, charity round-robins that record pledges but handle no money</a:t>
            </a:r>
            <a:endParaRPr lang="en-US" sz="1250" dirty="0"/>
          </a:p>
        </p:txBody>
      </p:sp>
      <p:sp>
        <p:nvSpPr>
          <p:cNvPr id="34" name="Text 32"/>
          <p:cNvSpPr txBox="1"/>
          <p:nvPr/>
        </p:nvSpPr>
        <p:spPr>
          <a:xfrm>
            <a:off x="6172200" y="5257800"/>
            <a:ext cx="5440680" cy="868680"/>
          </a:xfrm>
          <a:prstGeom prst="rect">
            <a:avLst/>
          </a:prstGeom>
          <a:noFill/>
          <a:ln/>
        </p:spPr>
        <p:txBody>
          <a:bodyPr wrap="square" lIns="0" tIns="0" rIns="0" bIns="0" rtlCol="0" anchor="t"/>
          <a:lstStyle/>
          <a:p>
            <a:pPr indent="0" marL="0">
              <a:buNone/>
            </a:pPr>
            <a:r>
              <a:rPr lang="en-US" sz="1250" b="1" dirty="0">
                <a:solidFill>
                  <a:srgbClr val="0A0A0B"/>
                </a:solidFill>
              </a:rPr>
              <a:t>Quiet courts: </a:t>
            </a:r>
            <a:pPr indent="0" marL="0">
              <a:buNone/>
            </a:pPr>
            <a:r>
              <a:rPr lang="en-US" sz="1250" dirty="0">
                <a:solidFill>
                  <a:srgbClr val="0A0A0B"/>
                </a:solidFill>
              </a:rPr>
              <a:t>a group's agent asks a venue's agent for a quiet-hour price, so venues fill empty hours</a:t>
            </a:r>
            <a:endParaRPr lang="en-US" sz="125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Validated by 177 AI agents in 28 rounds: how a round worked</a:t>
            </a:r>
            <a:endParaRPr lang="en-US" sz="2800" dirty="0"/>
          </a:p>
        </p:txBody>
      </p:sp>
      <p:sp>
        <p:nvSpPr>
          <p:cNvPr id="3" name="Shape 1"/>
          <p:cNvSpPr/>
          <p:nvPr/>
        </p:nvSpPr>
        <p:spPr>
          <a:xfrm>
            <a:off x="548640" y="1325880"/>
            <a:ext cx="2468880" cy="1234440"/>
          </a:xfrm>
          <a:prstGeom prst="roundRect">
            <a:avLst>
              <a:gd name="adj" fmla="val 5926"/>
            </a:avLst>
          </a:prstGeom>
          <a:solidFill>
            <a:srgbClr val="F3F6F4"/>
          </a:solidFill>
          <a:ln w="12700">
            <a:solidFill>
              <a:srgbClr val="F3F6F4"/>
            </a:solidFill>
            <a:prstDash val="solid"/>
          </a:ln>
        </p:spPr>
      </p:sp>
      <p:sp>
        <p:nvSpPr>
          <p:cNvPr id="4" name="Text 2"/>
          <p:cNvSpPr txBox="1"/>
          <p:nvPr/>
        </p:nvSpPr>
        <p:spPr>
          <a:xfrm>
            <a:off x="685800" y="1325880"/>
            <a:ext cx="2194560" cy="1234440"/>
          </a:xfrm>
          <a:prstGeom prst="rect">
            <a:avLst/>
          </a:prstGeom>
          <a:noFill/>
          <a:ln/>
        </p:spPr>
        <p:txBody>
          <a:bodyPr wrap="square" lIns="0" tIns="0" rIns="0" bIns="0" rtlCol="0" anchor="ctr"/>
          <a:lstStyle/>
          <a:p>
            <a:pPr algn="ctr" indent="0" marL="0">
              <a:buNone/>
            </a:pPr>
            <a:r>
              <a:rPr lang="en-US" sz="1400" b="1" dirty="0">
                <a:solidFill>
                  <a:srgbClr val="0A0A0B"/>
                </a:solidFill>
              </a:rPr>
              <a:t>Fresh local copy</a:t>
            </a:r>
            <a:endParaRPr lang="en-US" sz="1400" dirty="0"/>
          </a:p>
          <a:p>
            <a:pPr algn="ctr" indent="0" marL="0">
              <a:buNone/>
            </a:pPr>
            <a:r>
              <a:rPr lang="en-US" sz="1150" dirty="0">
                <a:solidFill>
                  <a:srgbClr val="55555C"/>
                </a:solidFill>
              </a:rPr>
              <a:t>same code as the live site; 12 neighbours, 3 clubs, 3 open games</a:t>
            </a:r>
            <a:endParaRPr lang="en-US" sz="1400" dirty="0"/>
          </a:p>
        </p:txBody>
      </p:sp>
      <p:sp>
        <p:nvSpPr>
          <p:cNvPr id="5" name="Shape 3"/>
          <p:cNvSpPr/>
          <p:nvPr/>
        </p:nvSpPr>
        <p:spPr>
          <a:xfrm>
            <a:off x="3035808" y="1938528"/>
            <a:ext cx="310896" cy="914"/>
          </a:xfrm>
          <a:prstGeom prst="line">
            <a:avLst/>
          </a:prstGeom>
          <a:noFill/>
          <a:ln w="25400">
            <a:solidFill>
              <a:srgbClr val="8A8A92"/>
            </a:solidFill>
            <a:prstDash val="solid"/>
            <a:tailEnd type="triangle"/>
          </a:ln>
        </p:spPr>
      </p:sp>
      <p:sp>
        <p:nvSpPr>
          <p:cNvPr id="6" name="Shape 4"/>
          <p:cNvSpPr/>
          <p:nvPr/>
        </p:nvSpPr>
        <p:spPr>
          <a:xfrm>
            <a:off x="3364992" y="1325880"/>
            <a:ext cx="2468880" cy="1234440"/>
          </a:xfrm>
          <a:prstGeom prst="roundRect">
            <a:avLst>
              <a:gd name="adj" fmla="val 5926"/>
            </a:avLst>
          </a:prstGeom>
          <a:solidFill>
            <a:srgbClr val="F3F6F4"/>
          </a:solidFill>
          <a:ln w="12700">
            <a:solidFill>
              <a:srgbClr val="F3F6F4"/>
            </a:solidFill>
            <a:prstDash val="solid"/>
          </a:ln>
        </p:spPr>
      </p:sp>
      <p:sp>
        <p:nvSpPr>
          <p:cNvPr id="7" name="Text 5"/>
          <p:cNvSpPr txBox="1"/>
          <p:nvPr/>
        </p:nvSpPr>
        <p:spPr>
          <a:xfrm>
            <a:off x="3502152" y="1325880"/>
            <a:ext cx="2194560" cy="1234440"/>
          </a:xfrm>
          <a:prstGeom prst="rect">
            <a:avLst/>
          </a:prstGeom>
          <a:noFill/>
          <a:ln/>
        </p:spPr>
        <p:txBody>
          <a:bodyPr wrap="square" lIns="0" tIns="0" rIns="0" bIns="0" rtlCol="0" anchor="ctr"/>
          <a:lstStyle/>
          <a:p>
            <a:pPr algn="ctr" indent="0" marL="0">
              <a:buNone/>
            </a:pPr>
            <a:r>
              <a:rPr lang="en-US" sz="1400" b="1" dirty="0">
                <a:solidFill>
                  <a:srgbClr val="0A0A0B"/>
                </a:solidFill>
              </a:rPr>
              <a:t>Six new testers</a:t>
            </a:r>
            <a:endParaRPr lang="en-US" sz="1400" dirty="0"/>
          </a:p>
          <a:p>
            <a:pPr algn="ctr" indent="0" marL="0">
              <a:buNone/>
            </a:pPr>
            <a:r>
              <a:rPr lang="en-US" sz="1150" dirty="0">
                <a:solidFill>
                  <a:srgbClr val="55555C"/>
                </a:solidFill>
              </a:rPr>
              <a:t>each a fresh model with only a persona and the address</a:t>
            </a:r>
            <a:endParaRPr lang="en-US" sz="1400" dirty="0"/>
          </a:p>
        </p:txBody>
      </p:sp>
      <p:sp>
        <p:nvSpPr>
          <p:cNvPr id="8" name="Shape 6"/>
          <p:cNvSpPr/>
          <p:nvPr/>
        </p:nvSpPr>
        <p:spPr>
          <a:xfrm>
            <a:off x="5852160" y="1938528"/>
            <a:ext cx="310896" cy="914"/>
          </a:xfrm>
          <a:prstGeom prst="line">
            <a:avLst/>
          </a:prstGeom>
          <a:noFill/>
          <a:ln w="25400">
            <a:solidFill>
              <a:srgbClr val="8A8A92"/>
            </a:solidFill>
            <a:prstDash val="solid"/>
            <a:tailEnd type="triangle"/>
          </a:ln>
        </p:spPr>
      </p:sp>
      <p:sp>
        <p:nvSpPr>
          <p:cNvPr id="9" name="Shape 7"/>
          <p:cNvSpPr/>
          <p:nvPr/>
        </p:nvSpPr>
        <p:spPr>
          <a:xfrm>
            <a:off x="6181344" y="1325880"/>
            <a:ext cx="2468880" cy="1234440"/>
          </a:xfrm>
          <a:prstGeom prst="roundRect">
            <a:avLst>
              <a:gd name="adj" fmla="val 5926"/>
            </a:avLst>
          </a:prstGeom>
          <a:solidFill>
            <a:srgbClr val="F3F6F4"/>
          </a:solidFill>
          <a:ln w="12700">
            <a:solidFill>
              <a:srgbClr val="F3F6F4"/>
            </a:solidFill>
            <a:prstDash val="solid"/>
          </a:ln>
        </p:spPr>
      </p:sp>
      <p:sp>
        <p:nvSpPr>
          <p:cNvPr id="10" name="Text 8"/>
          <p:cNvSpPr txBox="1"/>
          <p:nvPr/>
        </p:nvSpPr>
        <p:spPr>
          <a:xfrm>
            <a:off x="6318504" y="1325880"/>
            <a:ext cx="2194560" cy="1234440"/>
          </a:xfrm>
          <a:prstGeom prst="rect">
            <a:avLst/>
          </a:prstGeom>
          <a:noFill/>
          <a:ln/>
        </p:spPr>
        <p:txBody>
          <a:bodyPr wrap="square" lIns="0" tIns="0" rIns="0" bIns="0" rtlCol="0" anchor="ctr"/>
          <a:lstStyle/>
          <a:p>
            <a:pPr algn="ctr" indent="0" marL="0">
              <a:buNone/>
            </a:pPr>
            <a:r>
              <a:rPr lang="en-US" sz="1400" b="1" dirty="0">
                <a:solidFill>
                  <a:srgbClr val="0A0A0B"/>
                </a:solidFill>
              </a:rPr>
              <a:t>One verdict line</a:t>
            </a:r>
            <a:endParaRPr lang="en-US" sz="1400" dirty="0"/>
          </a:p>
          <a:p>
            <a:pPr algn="ctr" indent="0" marL="0">
              <a:buNone/>
            </a:pPr>
            <a:r>
              <a:rPr lang="en-US" sz="1150" dirty="0">
                <a:solidFill>
                  <a:srgbClr val="55555C"/>
                </a:solidFill>
              </a:rPr>
              <a:t>CLEAN, or n BLOCKER, m BUG; every request logged</a:t>
            </a:r>
            <a:endParaRPr lang="en-US" sz="1400" dirty="0"/>
          </a:p>
        </p:txBody>
      </p:sp>
      <p:sp>
        <p:nvSpPr>
          <p:cNvPr id="11" name="Shape 9"/>
          <p:cNvSpPr/>
          <p:nvPr/>
        </p:nvSpPr>
        <p:spPr>
          <a:xfrm>
            <a:off x="8668512" y="1938528"/>
            <a:ext cx="310896" cy="914"/>
          </a:xfrm>
          <a:prstGeom prst="line">
            <a:avLst/>
          </a:prstGeom>
          <a:noFill/>
          <a:ln w="25400">
            <a:solidFill>
              <a:srgbClr val="8A8A92"/>
            </a:solidFill>
            <a:prstDash val="solid"/>
            <a:tailEnd type="triangle"/>
          </a:ln>
        </p:spPr>
      </p:sp>
      <p:sp>
        <p:nvSpPr>
          <p:cNvPr id="12" name="Shape 10"/>
          <p:cNvSpPr/>
          <p:nvPr/>
        </p:nvSpPr>
        <p:spPr>
          <a:xfrm>
            <a:off x="8997696" y="1325880"/>
            <a:ext cx="2468880" cy="1234440"/>
          </a:xfrm>
          <a:prstGeom prst="roundRect">
            <a:avLst>
              <a:gd name="adj" fmla="val 5926"/>
            </a:avLst>
          </a:prstGeom>
          <a:solidFill>
            <a:srgbClr val="0A7F44"/>
          </a:solidFill>
          <a:ln w="12700">
            <a:solidFill>
              <a:srgbClr val="0A7F44"/>
            </a:solidFill>
            <a:prstDash val="solid"/>
          </a:ln>
        </p:spPr>
      </p:sp>
      <p:sp>
        <p:nvSpPr>
          <p:cNvPr id="13" name="Text 11"/>
          <p:cNvSpPr txBox="1"/>
          <p:nvPr/>
        </p:nvSpPr>
        <p:spPr>
          <a:xfrm>
            <a:off x="9134856" y="1325880"/>
            <a:ext cx="2194560" cy="1234440"/>
          </a:xfrm>
          <a:prstGeom prst="rect">
            <a:avLst/>
          </a:prstGeom>
          <a:noFill/>
          <a:ln/>
        </p:spPr>
        <p:txBody>
          <a:bodyPr wrap="square" lIns="0" tIns="0" rIns="0" bIns="0" rtlCol="0" anchor="ctr"/>
          <a:lstStyle/>
          <a:p>
            <a:pPr algn="ctr" indent="0" marL="0">
              <a:buNone/>
            </a:pPr>
            <a:r>
              <a:rPr lang="en-US" sz="1400" b="1" dirty="0">
                <a:solidFill>
                  <a:srgbClr val="FFFFFF"/>
                </a:solidFill>
              </a:rPr>
              <a:t>Fix what they found</a:t>
            </a:r>
            <a:endParaRPr lang="en-US" sz="1400" dirty="0"/>
          </a:p>
          <a:p>
            <a:pPr algn="ctr" indent="0" marL="0">
              <a:buNone/>
            </a:pPr>
            <a:r>
              <a:rPr lang="en-US" sz="1150" dirty="0">
                <a:solidFill>
                  <a:srgbClr val="D9EBDF"/>
                </a:solidFill>
              </a:rPr>
              <a:t>then unit tests, a browser check, deploy</a:t>
            </a:r>
            <a:endParaRPr lang="en-US" sz="1400" dirty="0"/>
          </a:p>
        </p:txBody>
      </p:sp>
      <p:sp>
        <p:nvSpPr>
          <p:cNvPr id="14" name="Text 12"/>
          <p:cNvSpPr txBox="1"/>
          <p:nvPr/>
        </p:nvSpPr>
        <p:spPr>
          <a:xfrm>
            <a:off x="548640" y="2651760"/>
            <a:ext cx="11094415" cy="320040"/>
          </a:xfrm>
          <a:prstGeom prst="rect">
            <a:avLst/>
          </a:prstGeom>
          <a:noFill/>
          <a:ln/>
        </p:spPr>
        <p:txBody>
          <a:bodyPr wrap="square" lIns="0" tIns="0" rIns="0" bIns="0" rtlCol="0" anchor="ctr"/>
          <a:lstStyle/>
          <a:p>
            <a:pPr algn="r" indent="0" marL="0">
              <a:buNone/>
            </a:pPr>
            <a:r>
              <a:rPr lang="en-US" sz="1200" i="1" dirty="0">
                <a:solidFill>
                  <a:srgbClr val="0A7F44"/>
                </a:solidFill>
              </a:rPr>
              <a:t>↺ next round, new testers</a:t>
            </a:r>
            <a:endParaRPr lang="en-US" sz="1200" dirty="0"/>
          </a:p>
        </p:txBody>
      </p:sp>
      <p:sp>
        <p:nvSpPr>
          <p:cNvPr id="15" name="Text 13"/>
          <p:cNvSpPr txBox="1"/>
          <p:nvPr/>
        </p:nvSpPr>
        <p:spPr>
          <a:xfrm>
            <a:off x="548640" y="3154680"/>
            <a:ext cx="5486400" cy="365760"/>
          </a:xfrm>
          <a:prstGeom prst="rect">
            <a:avLst/>
          </a:prstGeom>
          <a:noFill/>
          <a:ln/>
        </p:spPr>
        <p:txBody>
          <a:bodyPr wrap="square" lIns="0" tIns="0" rIns="0" bIns="0" rtlCol="0" anchor="ctr"/>
          <a:lstStyle/>
          <a:p>
            <a:pPr indent="0" marL="0">
              <a:buNone/>
            </a:pPr>
            <a:r>
              <a:rPr lang="en-US" sz="1500" b="1" dirty="0">
                <a:solidFill>
                  <a:srgbClr val="0A0A0B"/>
                </a:solidFill>
              </a:rPr>
              <a:t>The six testers in each round (from round 6)</a:t>
            </a:r>
            <a:endParaRPr lang="en-US" sz="1500" dirty="0"/>
          </a:p>
        </p:txBody>
      </p:sp>
      <p:sp>
        <p:nvSpPr>
          <p:cNvPr id="16" name="Shape 14"/>
          <p:cNvSpPr/>
          <p:nvPr/>
        </p:nvSpPr>
        <p:spPr>
          <a:xfrm>
            <a:off x="548640" y="3657600"/>
            <a:ext cx="3520440" cy="1600200"/>
          </a:xfrm>
          <a:prstGeom prst="roundRect">
            <a:avLst>
              <a:gd name="adj" fmla="val 4571"/>
            </a:avLst>
          </a:prstGeom>
          <a:solidFill>
            <a:srgbClr val="F3F6F4"/>
          </a:solidFill>
          <a:ln w="12700">
            <a:solidFill>
              <a:srgbClr val="F3F6F4"/>
            </a:solidFill>
            <a:prstDash val="solid"/>
          </a:ln>
        </p:spPr>
      </p:sp>
      <p:sp>
        <p:nvSpPr>
          <p:cNvPr id="17" name="Shape 15"/>
          <p:cNvSpPr/>
          <p:nvPr/>
        </p:nvSpPr>
        <p:spPr>
          <a:xfrm>
            <a:off x="777240" y="3886200"/>
            <a:ext cx="457200" cy="457200"/>
          </a:xfrm>
          <a:prstGeom prst="ellipse">
            <a:avLst/>
          </a:prstGeom>
          <a:solidFill>
            <a:srgbClr val="0064E0"/>
          </a:solidFill>
          <a:ln w="12700">
            <a:solidFill>
              <a:srgbClr val="0064E0"/>
            </a:solidFill>
            <a:prstDash val="solid"/>
          </a:ln>
        </p:spPr>
      </p:sp>
      <p:sp>
        <p:nvSpPr>
          <p:cNvPr id="18" name="Text 16"/>
          <p:cNvSpPr txBox="1"/>
          <p:nvPr/>
        </p:nvSpPr>
        <p:spPr>
          <a:xfrm>
            <a:off x="1371600" y="3886200"/>
            <a:ext cx="2560320" cy="457200"/>
          </a:xfrm>
          <a:prstGeom prst="rect">
            <a:avLst/>
          </a:prstGeom>
          <a:noFill/>
          <a:ln/>
        </p:spPr>
        <p:txBody>
          <a:bodyPr wrap="square" lIns="0" tIns="0" rIns="0" bIns="0" rtlCol="0" anchor="ctr"/>
          <a:lstStyle/>
          <a:p>
            <a:pPr indent="0" marL="0">
              <a:buNone/>
            </a:pPr>
            <a:r>
              <a:rPr lang="en-US" sz="1600" b="1" dirty="0">
                <a:solidFill>
                  <a:srgbClr val="0A0A0B"/>
                </a:solidFill>
              </a:rPr>
              <a:t>2 new agents</a:t>
            </a:r>
            <a:endParaRPr lang="en-US" sz="1600" dirty="0"/>
          </a:p>
        </p:txBody>
      </p:sp>
      <p:sp>
        <p:nvSpPr>
          <p:cNvPr id="19" name="Text 17"/>
          <p:cNvSpPr txBox="1"/>
          <p:nvPr/>
        </p:nvSpPr>
        <p:spPr>
          <a:xfrm>
            <a:off x="777240" y="4434840"/>
            <a:ext cx="3108960" cy="777240"/>
          </a:xfrm>
          <a:prstGeom prst="rect">
            <a:avLst/>
          </a:prstGeom>
          <a:noFill/>
          <a:ln/>
        </p:spPr>
        <p:txBody>
          <a:bodyPr wrap="square" lIns="0" tIns="0" rIns="0" bIns="0" rtlCol="0" anchor="t"/>
          <a:lstStyle/>
          <a:p>
            <a:pPr indent="0" marL="0">
              <a:buNone/>
            </a:pPr>
            <a:r>
              <a:rPr lang="en-US" sz="1200" dirty="0">
                <a:solidFill>
                  <a:srgbClr val="55555C"/>
                </a:solidFill>
              </a:rPr>
              <a:t>arrive cold: find the guide, sign their person in, register an Ed25519 key, get a game; or audit privacy and the API</a:t>
            </a:r>
            <a:endParaRPr lang="en-US" sz="1200" dirty="0"/>
          </a:p>
        </p:txBody>
      </p:sp>
      <p:sp>
        <p:nvSpPr>
          <p:cNvPr id="20" name="Shape 18"/>
          <p:cNvSpPr/>
          <p:nvPr/>
        </p:nvSpPr>
        <p:spPr>
          <a:xfrm>
            <a:off x="4297680" y="3657600"/>
            <a:ext cx="3520440" cy="1600200"/>
          </a:xfrm>
          <a:prstGeom prst="roundRect">
            <a:avLst>
              <a:gd name="adj" fmla="val 4571"/>
            </a:avLst>
          </a:prstGeom>
          <a:solidFill>
            <a:srgbClr val="F3F6F4"/>
          </a:solidFill>
          <a:ln w="12700">
            <a:solidFill>
              <a:srgbClr val="F3F6F4"/>
            </a:solidFill>
            <a:prstDash val="solid"/>
          </a:ln>
        </p:spPr>
      </p:sp>
      <p:sp>
        <p:nvSpPr>
          <p:cNvPr id="21" name="Shape 19"/>
          <p:cNvSpPr/>
          <p:nvPr/>
        </p:nvSpPr>
        <p:spPr>
          <a:xfrm>
            <a:off x="4526280" y="3886200"/>
            <a:ext cx="457200" cy="457200"/>
          </a:xfrm>
          <a:prstGeom prst="ellipse">
            <a:avLst/>
          </a:prstGeom>
          <a:solidFill>
            <a:srgbClr val="0A7F44"/>
          </a:solidFill>
          <a:ln w="12700">
            <a:solidFill>
              <a:srgbClr val="0A7F44"/>
            </a:solidFill>
            <a:prstDash val="solid"/>
          </a:ln>
        </p:spPr>
      </p:sp>
      <p:sp>
        <p:nvSpPr>
          <p:cNvPr id="22" name="Text 20"/>
          <p:cNvSpPr txBox="1"/>
          <p:nvPr/>
        </p:nvSpPr>
        <p:spPr>
          <a:xfrm>
            <a:off x="5120640" y="3886200"/>
            <a:ext cx="2560320" cy="457200"/>
          </a:xfrm>
          <a:prstGeom prst="rect">
            <a:avLst/>
          </a:prstGeom>
          <a:noFill/>
          <a:ln/>
        </p:spPr>
        <p:txBody>
          <a:bodyPr wrap="square" lIns="0" tIns="0" rIns="0" bIns="0" rtlCol="0" anchor="ctr"/>
          <a:lstStyle/>
          <a:p>
            <a:pPr indent="0" marL="0">
              <a:buNone/>
            </a:pPr>
            <a:r>
              <a:rPr lang="en-US" sz="1600" b="1" dirty="0">
                <a:solidFill>
                  <a:srgbClr val="0A0A0B"/>
                </a:solidFill>
              </a:rPr>
              <a:t>2 member agents</a:t>
            </a:r>
            <a:endParaRPr lang="en-US" sz="1600" dirty="0"/>
          </a:p>
        </p:txBody>
      </p:sp>
      <p:sp>
        <p:nvSpPr>
          <p:cNvPr id="23" name="Text 21"/>
          <p:cNvSpPr txBox="1"/>
          <p:nvPr/>
        </p:nvSpPr>
        <p:spPr>
          <a:xfrm>
            <a:off x="4526280" y="4434840"/>
            <a:ext cx="3108960" cy="777240"/>
          </a:xfrm>
          <a:prstGeom prst="rect">
            <a:avLst/>
          </a:prstGeom>
          <a:noFill/>
          <a:ln/>
        </p:spPr>
        <p:txBody>
          <a:bodyPr wrap="square" lIns="0" tIns="0" rIns="0" bIns="0" rtlCol="0" anchor="t"/>
          <a:lstStyle/>
          <a:p>
            <a:pPr indent="0" marL="0">
              <a:buNone/>
            </a:pPr>
            <a:r>
              <a:rPr lang="en-US" sz="1200" dirty="0">
                <a:solidFill>
                  <a:srgbClr val="55555C"/>
                </a:solidFill>
              </a:rPr>
              <a:t>a seeded member's session: host and answer games, re-check last round's fixes</a:t>
            </a:r>
            <a:endParaRPr lang="en-US" sz="1200" dirty="0"/>
          </a:p>
        </p:txBody>
      </p:sp>
      <p:sp>
        <p:nvSpPr>
          <p:cNvPr id="24" name="Shape 22"/>
          <p:cNvSpPr/>
          <p:nvPr/>
        </p:nvSpPr>
        <p:spPr>
          <a:xfrm>
            <a:off x="8046720" y="3657600"/>
            <a:ext cx="3520440" cy="1600200"/>
          </a:xfrm>
          <a:prstGeom prst="roundRect">
            <a:avLst>
              <a:gd name="adj" fmla="val 4571"/>
            </a:avLst>
          </a:prstGeom>
          <a:solidFill>
            <a:srgbClr val="F3F6F4"/>
          </a:solidFill>
          <a:ln w="12700">
            <a:solidFill>
              <a:srgbClr val="F3F6F4"/>
            </a:solidFill>
            <a:prstDash val="solid"/>
          </a:ln>
        </p:spPr>
      </p:sp>
      <p:sp>
        <p:nvSpPr>
          <p:cNvPr id="25" name="Shape 23"/>
          <p:cNvSpPr/>
          <p:nvPr/>
        </p:nvSpPr>
        <p:spPr>
          <a:xfrm>
            <a:off x="8275320" y="3886200"/>
            <a:ext cx="457200" cy="457200"/>
          </a:xfrm>
          <a:prstGeom prst="ellipse">
            <a:avLst/>
          </a:prstGeom>
          <a:solidFill>
            <a:srgbClr val="B26A00"/>
          </a:solidFill>
          <a:ln w="12700">
            <a:solidFill>
              <a:srgbClr val="B26A00"/>
            </a:solidFill>
            <a:prstDash val="solid"/>
          </a:ln>
        </p:spPr>
      </p:sp>
      <p:sp>
        <p:nvSpPr>
          <p:cNvPr id="26" name="Text 24"/>
          <p:cNvSpPr txBox="1"/>
          <p:nvPr/>
        </p:nvSpPr>
        <p:spPr>
          <a:xfrm>
            <a:off x="8869680" y="3886200"/>
            <a:ext cx="2560320" cy="457200"/>
          </a:xfrm>
          <a:prstGeom prst="rect">
            <a:avLst/>
          </a:prstGeom>
          <a:noFill/>
          <a:ln/>
        </p:spPr>
        <p:txBody>
          <a:bodyPr wrap="square" lIns="0" tIns="0" rIns="0" bIns="0" rtlCol="0" anchor="ctr"/>
          <a:lstStyle/>
          <a:p>
            <a:pPr indent="0" marL="0">
              <a:buNone/>
            </a:pPr>
            <a:r>
              <a:rPr lang="en-US" sz="1600" b="1" dirty="0">
                <a:solidFill>
                  <a:srgbClr val="0A0A0B"/>
                </a:solidFill>
              </a:rPr>
              <a:t>2 web users</a:t>
            </a:r>
            <a:endParaRPr lang="en-US" sz="1600" dirty="0"/>
          </a:p>
        </p:txBody>
      </p:sp>
      <p:sp>
        <p:nvSpPr>
          <p:cNvPr id="27" name="Text 25"/>
          <p:cNvSpPr txBox="1"/>
          <p:nvPr/>
        </p:nvSpPr>
        <p:spPr>
          <a:xfrm>
            <a:off x="8275320" y="4434840"/>
            <a:ext cx="3108960" cy="777240"/>
          </a:xfrm>
          <a:prstGeom prst="rect">
            <a:avLst/>
          </a:prstGeom>
          <a:noFill/>
          <a:ln/>
        </p:spPr>
        <p:txBody>
          <a:bodyPr wrap="square" lIns="0" tIns="0" rIns="0" bIns="0" rtlCol="0" anchor="t"/>
          <a:lstStyle/>
          <a:p>
            <a:pPr indent="0" marL="0">
              <a:buNone/>
            </a:pPr>
            <a:r>
              <a:rPr lang="en-US" sz="1200" dirty="0">
                <a:solidFill>
                  <a:srgbClr val="55555C"/>
                </a:solidFill>
              </a:rPr>
              <a:t>in the browser, one at phone size and one on a laptop: read the screen and click</a:t>
            </a:r>
            <a:endParaRPr lang="en-US" sz="1200" dirty="0"/>
          </a:p>
        </p:txBody>
      </p:sp>
      <p:sp>
        <p:nvSpPr>
          <p:cNvPr id="28" name="Text 26"/>
          <p:cNvSpPr txBox="1"/>
          <p:nvPr/>
        </p:nvSpPr>
        <p:spPr>
          <a:xfrm>
            <a:off x="548640" y="5532120"/>
            <a:ext cx="11094415" cy="640080"/>
          </a:xfrm>
          <a:prstGeom prst="rect">
            <a:avLst/>
          </a:prstGeom>
          <a:noFill/>
          <a:ln/>
        </p:spPr>
        <p:txBody>
          <a:bodyPr wrap="square" lIns="0" tIns="0" rIns="0" bIns="0" rtlCol="0" anchor="t"/>
          <a:lstStyle/>
          <a:p>
            <a:pPr indent="0" marL="0">
              <a:spcAft>
                <a:spcPts val="600"/>
              </a:spcAft>
              <a:buNone/>
            </a:pPr>
            <a:r>
              <a:rPr lang="en-US" sz="1200" dirty="0">
                <a:solidFill>
                  <a:srgbClr val="55555C"/>
                </a:solidFill>
              </a:rPr>
              <a:t>From round 21 a bug meant a problem in a core flow: getting a game, yes or no, joining and leaving, calling off, limits and permission, privacy, trust records. The testers were AI models, not people.</a:t>
            </a:r>
            <a:endParaRPr lang="en-US" sz="12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Zero bugs by round 25; the harder rounds found more</a:t>
            </a:r>
            <a:endParaRPr lang="en-US" sz="2800" dirty="0"/>
          </a:p>
        </p:txBody>
      </p:sp>
      <p:pic>
        <p:nvPicPr>
          <p:cNvPr id="3" name="Image 0" descr="preencoded.png">    </p:cNvPr>
          <p:cNvPicPr>
            <a:picLocks noChangeAspect="1"/>
          </p:cNvPicPr>
          <p:nvPr/>
        </p:nvPicPr>
        <p:blipFill>
          <a:blip r:embed="rId1"/>
          <a:stretch>
            <a:fillRect/>
          </a:stretch>
        </p:blipFill>
        <p:spPr>
          <a:xfrm>
            <a:off x="1951946" y="1188720"/>
            <a:ext cx="8287804"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2 | </a:t>
            </a:r>
            <a:pPr indent="0" marL="0">
              <a:buNone/>
            </a:pPr>
            <a:r>
              <a:rPr lang="en-US" sz="1100" dirty="0">
                <a:solidFill>
                  <a:srgbClr val="55555C"/>
                </a:solidFill>
              </a:rPr>
              <a:t>(a) Bugs reported per round by fresh AI testers; from round 21 only core-flow bugs count (green). Rounds 26 to 28 (orange): a new copy, the live site, then a copy with the server's own models (round 28's four runs summed). (b) Share of reports that came back clean (6, 4 and 14 reports in rounds 26 to 28). 177 testers in 28 rounds, 17,432 requests logged.</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146 tester sessions from the logs: every request, in order</a:t>
            </a:r>
            <a:endParaRPr lang="en-US" sz="2800" dirty="0"/>
          </a:p>
        </p:txBody>
      </p:sp>
      <p:pic>
        <p:nvPicPr>
          <p:cNvPr id="3" name="Image 0" descr="preencoded.png">    </p:cNvPr>
          <p:cNvPicPr>
            <a:picLocks noChangeAspect="1"/>
          </p:cNvPicPr>
          <p:nvPr/>
        </p:nvPicPr>
        <p:blipFill>
          <a:blip r:embed="rId1"/>
          <a:stretch>
            <a:fillRect/>
          </a:stretch>
        </p:blipFill>
        <p:spPr>
          <a:xfrm>
            <a:off x="1966527" y="1188720"/>
            <a:ext cx="8258641"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3 | </a:t>
            </a:r>
            <a:pPr indent="0" marL="0">
              <a:buNone/>
            </a:pPr>
            <a:r>
              <a:rPr lang="en-US" sz="1100" dirty="0">
                <a:solidFill>
                  <a:srgbClr val="55555C"/>
                </a:solidFill>
              </a:rPr>
              <a:t>One row per tester session (rounds 4 to 25), one mark per request at its time since the session began: 10,135 answered (2xx), 1,389 refused, not found or invalid (4xx), no server errors (5xx).</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What the testers found, and what changed</a:t>
            </a:r>
            <a:endParaRPr lang="en-US" sz="2800" dirty="0"/>
          </a:p>
        </p:txBody>
      </p:sp>
      <p:sp>
        <p:nvSpPr>
          <p:cNvPr id="3" name="Shape 1"/>
          <p:cNvSpPr/>
          <p:nvPr/>
        </p:nvSpPr>
        <p:spPr>
          <a:xfrm>
            <a:off x="548640" y="1280160"/>
            <a:ext cx="3520440" cy="2240280"/>
          </a:xfrm>
          <a:prstGeom prst="roundRect">
            <a:avLst>
              <a:gd name="adj" fmla="val 3265"/>
            </a:avLst>
          </a:prstGeom>
          <a:solidFill>
            <a:srgbClr val="F3F6F4"/>
          </a:solidFill>
          <a:ln w="12700">
            <a:solidFill>
              <a:srgbClr val="F3F6F4"/>
            </a:solidFill>
            <a:prstDash val="solid"/>
          </a:ln>
        </p:spPr>
      </p:sp>
      <p:sp>
        <p:nvSpPr>
          <p:cNvPr id="4" name="Text 2"/>
          <p:cNvSpPr txBox="1"/>
          <p:nvPr/>
        </p:nvSpPr>
        <p:spPr>
          <a:xfrm>
            <a:off x="777240" y="146304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Privacy</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A host could count who nearby was open to being asked; a waitlist note showed a show-up rate.</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Nearby people appear only once they can play; others see badge words only.</a:t>
            </a:r>
            <a:endParaRPr lang="en-US" sz="1600" dirty="0"/>
          </a:p>
        </p:txBody>
      </p:sp>
      <p:sp>
        <p:nvSpPr>
          <p:cNvPr id="5" name="Shape 3"/>
          <p:cNvSpPr/>
          <p:nvPr/>
        </p:nvSpPr>
        <p:spPr>
          <a:xfrm>
            <a:off x="4297680" y="1280160"/>
            <a:ext cx="3520440" cy="2240280"/>
          </a:xfrm>
          <a:prstGeom prst="roundRect">
            <a:avLst>
              <a:gd name="adj" fmla="val 3265"/>
            </a:avLst>
          </a:prstGeom>
          <a:solidFill>
            <a:srgbClr val="F3F6F4"/>
          </a:solidFill>
          <a:ln w="12700">
            <a:solidFill>
              <a:srgbClr val="F3F6F4"/>
            </a:solidFill>
            <a:prstDash val="solid"/>
          </a:ln>
        </p:spPr>
      </p:sp>
      <p:sp>
        <p:nvSpPr>
          <p:cNvPr id="6" name="Text 4"/>
          <p:cNvSpPr txBox="1"/>
          <p:nvPr/>
        </p:nvSpPr>
        <p:spPr>
          <a:xfrm>
            <a:off x="4526280" y="146304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Limits and permission</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An agent's game ignored “no new people” and the price cap; a learned distance overrode the person's own.</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The person's settings decide, on every path.</a:t>
            </a:r>
            <a:endParaRPr lang="en-US" sz="1600" dirty="0"/>
          </a:p>
        </p:txBody>
      </p:sp>
      <p:sp>
        <p:nvSpPr>
          <p:cNvPr id="7" name="Shape 5"/>
          <p:cNvSpPr/>
          <p:nvPr/>
        </p:nvSpPr>
        <p:spPr>
          <a:xfrm>
            <a:off x="8046720" y="1280160"/>
            <a:ext cx="3520440" cy="2240280"/>
          </a:xfrm>
          <a:prstGeom prst="roundRect">
            <a:avLst>
              <a:gd name="adj" fmla="val 3265"/>
            </a:avLst>
          </a:prstGeom>
          <a:solidFill>
            <a:srgbClr val="F3F6F4"/>
          </a:solidFill>
          <a:ln w="12700">
            <a:solidFill>
              <a:srgbClr val="F3F6F4"/>
            </a:solidFill>
            <a:prstDash val="solid"/>
          </a:ln>
        </p:spPr>
      </p:sp>
      <p:sp>
        <p:nvSpPr>
          <p:cNvPr id="8" name="Text 6"/>
          <p:cNvSpPr txBox="1"/>
          <p:nvPr/>
        </p:nvSpPr>
        <p:spPr>
          <a:xfrm>
            <a:off x="8275320" y="146304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Double-booking</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Overlapping joins, a post over an agreed game, a waitlist promotion into a clash.</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One clash rule for posts, joins, promotions and the agents' talk.</a:t>
            </a:r>
            <a:endParaRPr lang="en-US" sz="1600" dirty="0"/>
          </a:p>
        </p:txBody>
      </p:sp>
      <p:sp>
        <p:nvSpPr>
          <p:cNvPr id="9" name="Shape 7"/>
          <p:cNvSpPr/>
          <p:nvPr/>
        </p:nvSpPr>
        <p:spPr>
          <a:xfrm>
            <a:off x="548640" y="3703320"/>
            <a:ext cx="3520440" cy="2240280"/>
          </a:xfrm>
          <a:prstGeom prst="roundRect">
            <a:avLst>
              <a:gd name="adj" fmla="val 3265"/>
            </a:avLst>
          </a:prstGeom>
          <a:solidFill>
            <a:srgbClr val="F3F6F4"/>
          </a:solidFill>
          <a:ln w="12700">
            <a:solidFill>
              <a:srgbClr val="F3F6F4"/>
            </a:solidFill>
            <a:prstDash val="solid"/>
          </a:ln>
        </p:spPr>
      </p:sp>
      <p:sp>
        <p:nvSpPr>
          <p:cNvPr id="10" name="Text 8"/>
          <p:cNvSpPr txBox="1"/>
          <p:nvPr/>
        </p:nvSpPr>
        <p:spPr>
          <a:xfrm>
            <a:off x="777240" y="388620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Telling the truth</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“Agreed” with too few players; a called-off game left people uninformed.</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Every affected person is told what happened, once.</a:t>
            </a:r>
            <a:endParaRPr lang="en-US" sz="1600" dirty="0"/>
          </a:p>
        </p:txBody>
      </p:sp>
      <p:sp>
        <p:nvSpPr>
          <p:cNvPr id="11" name="Shape 9"/>
          <p:cNvSpPr/>
          <p:nvPr/>
        </p:nvSpPr>
        <p:spPr>
          <a:xfrm>
            <a:off x="4297680" y="3703320"/>
            <a:ext cx="3520440" cy="2240280"/>
          </a:xfrm>
          <a:prstGeom prst="roundRect">
            <a:avLst>
              <a:gd name="adj" fmla="val 3265"/>
            </a:avLst>
          </a:prstGeom>
          <a:solidFill>
            <a:srgbClr val="F3F6F4"/>
          </a:solidFill>
          <a:ln w="12700">
            <a:solidFill>
              <a:srgbClr val="F3F6F4"/>
            </a:solidFill>
            <a:prstDash val="solid"/>
          </a:ln>
        </p:spPr>
      </p:sp>
      <p:sp>
        <p:nvSpPr>
          <p:cNvPr id="12" name="Text 10"/>
          <p:cNvSpPr txBox="1"/>
          <p:nvPr/>
        </p:nvSpPr>
        <p:spPr>
          <a:xfrm>
            <a:off x="4526280" y="388620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Fills of a posted game</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Stopping the agents and calling the game off were one action.</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Two actions; a game that fills stops the agents and tells those asked.</a:t>
            </a:r>
            <a:endParaRPr lang="en-US" sz="1600" dirty="0"/>
          </a:p>
        </p:txBody>
      </p:sp>
      <p:sp>
        <p:nvSpPr>
          <p:cNvPr id="13" name="Shape 11"/>
          <p:cNvSpPr/>
          <p:nvPr/>
        </p:nvSpPr>
        <p:spPr>
          <a:xfrm>
            <a:off x="8046720" y="3703320"/>
            <a:ext cx="3520440" cy="2240280"/>
          </a:xfrm>
          <a:prstGeom prst="roundRect">
            <a:avLst>
              <a:gd name="adj" fmla="val 3265"/>
            </a:avLst>
          </a:prstGeom>
          <a:solidFill>
            <a:srgbClr val="F3F6F4"/>
          </a:solidFill>
          <a:ln w="12700">
            <a:solidFill>
              <a:srgbClr val="F3F6F4"/>
            </a:solidFill>
            <a:prstDash val="solid"/>
          </a:ln>
        </p:spPr>
      </p:sp>
      <p:sp>
        <p:nvSpPr>
          <p:cNvPr id="14" name="Text 12"/>
          <p:cNvSpPr txBox="1"/>
          <p:nvPr/>
        </p:nvSpPr>
        <p:spPr>
          <a:xfrm>
            <a:off x="8275320" y="388620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Agents arriving cold</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Hard to find the way in.</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A guide in the site's HTML, /llms.txt with a six-call quick start.</a:t>
            </a:r>
            <a:endParaRPr lang="en-US" sz="16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Rounds 26 to 28: the live site, then a copy with the real models</a:t>
            </a:r>
            <a:endParaRPr lang="en-US" sz="2800" dirty="0"/>
          </a:p>
        </p:txBody>
      </p:sp>
      <p:sp>
        <p:nvSpPr>
          <p:cNvPr id="3" name="Shape 1"/>
          <p:cNvSpPr/>
          <p:nvPr/>
        </p:nvSpPr>
        <p:spPr>
          <a:xfrm>
            <a:off x="548640" y="1280160"/>
            <a:ext cx="3520440" cy="2240280"/>
          </a:xfrm>
          <a:prstGeom prst="roundRect">
            <a:avLst>
              <a:gd name="adj" fmla="val 3265"/>
            </a:avLst>
          </a:prstGeom>
          <a:solidFill>
            <a:srgbClr val="F3F6F4"/>
          </a:solidFill>
          <a:ln w="12700">
            <a:solidFill>
              <a:srgbClr val="F3F6F4"/>
            </a:solidFill>
            <a:prstDash val="solid"/>
          </a:ln>
        </p:spPr>
      </p:sp>
      <p:sp>
        <p:nvSpPr>
          <p:cNvPr id="4" name="Text 2"/>
          <p:cNvSpPr txBox="1"/>
          <p:nvPr/>
        </p:nvSpPr>
        <p:spPr>
          <a:xfrm>
            <a:off x="777240" y="146304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Round 27, live site</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Test accounts in one private club, removed afterwards. Llama Guard 3 refused the club name “Serve test round 27” as violence.</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S9 counts only with a weapon word; S1 alone, with no word of harm, goes to the club's standard. Feed red team 13 of 13.</a:t>
            </a:r>
            <a:endParaRPr lang="en-US" sz="1600" dirty="0"/>
          </a:p>
        </p:txBody>
      </p:sp>
      <p:sp>
        <p:nvSpPr>
          <p:cNvPr id="5" name="Shape 3"/>
          <p:cNvSpPr/>
          <p:nvPr/>
        </p:nvSpPr>
        <p:spPr>
          <a:xfrm>
            <a:off x="4297680" y="1280160"/>
            <a:ext cx="3520440" cy="2240280"/>
          </a:xfrm>
          <a:prstGeom prst="roundRect">
            <a:avLst>
              <a:gd name="adj" fmla="val 3265"/>
            </a:avLst>
          </a:prstGeom>
          <a:solidFill>
            <a:srgbClr val="F3F6F4"/>
          </a:solidFill>
          <a:ln w="12700">
            <a:solidFill>
              <a:srgbClr val="F3F6F4"/>
            </a:solidFill>
            <a:prstDash val="solid"/>
          </a:ln>
        </p:spPr>
      </p:sp>
      <p:sp>
        <p:nvSpPr>
          <p:cNvPr id="6" name="Text 4"/>
          <p:cNvSpPr txBox="1"/>
          <p:nvPr/>
        </p:nvSpPr>
        <p:spPr>
          <a:xfrm>
            <a:off x="4526280" y="146304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Round 28, a real-model copy</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A tester declined to create accounts on the live site.</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Write tests run on a copy with the same code and proxy, calling the server's Glimmer, Llama Guard 3 and Prompt Guard 2; the live site gets read-only checks.</a:t>
            </a:r>
            <a:endParaRPr lang="en-US" sz="1600" dirty="0"/>
          </a:p>
        </p:txBody>
      </p:sp>
      <p:sp>
        <p:nvSpPr>
          <p:cNvPr id="7" name="Shape 5"/>
          <p:cNvSpPr/>
          <p:nvPr/>
        </p:nvSpPr>
        <p:spPr>
          <a:xfrm>
            <a:off x="8046720" y="1280160"/>
            <a:ext cx="3520440" cy="2240280"/>
          </a:xfrm>
          <a:prstGeom prst="roundRect">
            <a:avLst>
              <a:gd name="adj" fmla="val 3265"/>
            </a:avLst>
          </a:prstGeom>
          <a:solidFill>
            <a:srgbClr val="F3F6F4"/>
          </a:solidFill>
          <a:ln w="12700">
            <a:solidFill>
              <a:srgbClr val="F3F6F4"/>
            </a:solidFill>
            <a:prstDash val="solid"/>
          </a:ln>
        </p:spPr>
      </p:sp>
      <p:sp>
        <p:nvSpPr>
          <p:cNvPr id="8" name="Text 6"/>
          <p:cNvSpPr txBox="1"/>
          <p:nvPr/>
        </p:nvSpPr>
        <p:spPr>
          <a:xfrm>
            <a:off x="8275320" y="146304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Joining a private club</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Whoever asked was never told the answer; a club's game was hidden from a member by the sport filter.</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The answer is a notice; a game in one's own club always shows.</a:t>
            </a:r>
            <a:endParaRPr lang="en-US" sz="1600" dirty="0"/>
          </a:p>
        </p:txBody>
      </p:sp>
      <p:sp>
        <p:nvSpPr>
          <p:cNvPr id="9" name="Shape 7"/>
          <p:cNvSpPr/>
          <p:nvPr/>
        </p:nvSpPr>
        <p:spPr>
          <a:xfrm>
            <a:off x="548640" y="3703320"/>
            <a:ext cx="3520440" cy="2240280"/>
          </a:xfrm>
          <a:prstGeom prst="roundRect">
            <a:avLst>
              <a:gd name="adj" fmla="val 3265"/>
            </a:avLst>
          </a:prstGeom>
          <a:solidFill>
            <a:srgbClr val="F3F6F4"/>
          </a:solidFill>
          <a:ln w="12700">
            <a:solidFill>
              <a:srgbClr val="F3F6F4"/>
            </a:solidFill>
            <a:prstDash val="solid"/>
          </a:ln>
        </p:spPr>
      </p:sp>
      <p:sp>
        <p:nvSpPr>
          <p:cNvPr id="10" name="Text 8"/>
          <p:cNvSpPr txBox="1"/>
          <p:nvPr/>
        </p:nvSpPr>
        <p:spPr>
          <a:xfrm>
            <a:off x="777240" y="388620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A host who leaves Serve</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Their game vanished: the players and the waitlist heard nothing; the club passed on in silence.</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Everyone in it is told the game is off; the next organiser is told.</a:t>
            </a:r>
            <a:endParaRPr lang="en-US" sz="1600" dirty="0"/>
          </a:p>
        </p:txBody>
      </p:sp>
      <p:sp>
        <p:nvSpPr>
          <p:cNvPr id="11" name="Shape 9"/>
          <p:cNvSpPr/>
          <p:nvPr/>
        </p:nvSpPr>
        <p:spPr>
          <a:xfrm>
            <a:off x="4297680" y="3703320"/>
            <a:ext cx="3520440" cy="2240280"/>
          </a:xfrm>
          <a:prstGeom prst="roundRect">
            <a:avLst>
              <a:gd name="adj" fmla="val 3265"/>
            </a:avLst>
          </a:prstGeom>
          <a:solidFill>
            <a:srgbClr val="F3F6F4"/>
          </a:solidFill>
          <a:ln w="12700">
            <a:solidFill>
              <a:srgbClr val="F3F6F4"/>
            </a:solidFill>
            <a:prstDash val="solid"/>
          </a:ln>
        </p:spPr>
      </p:sp>
      <p:sp>
        <p:nvSpPr>
          <p:cNvPr id="12" name="Text 10"/>
          <p:cNvSpPr txBox="1"/>
          <p:nvPr/>
        </p:nvSpPr>
        <p:spPr>
          <a:xfrm>
            <a:off x="4526280" y="388620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The person's notices</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An agent reading the feed took its person's notices away.</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The agent sees them and leaves them for the person.</a:t>
            </a:r>
            <a:endParaRPr lang="en-US" sz="1600" dirty="0"/>
          </a:p>
        </p:txBody>
      </p:sp>
      <p:sp>
        <p:nvSpPr>
          <p:cNvPr id="13" name="Shape 11"/>
          <p:cNvSpPr/>
          <p:nvPr/>
        </p:nvSpPr>
        <p:spPr>
          <a:xfrm>
            <a:off x="8046720" y="3703320"/>
            <a:ext cx="3520440" cy="2240280"/>
          </a:xfrm>
          <a:prstGeom prst="roundRect">
            <a:avLst>
              <a:gd name="adj" fmla="val 3265"/>
            </a:avLst>
          </a:prstGeom>
          <a:solidFill>
            <a:srgbClr val="F3F6F4"/>
          </a:solidFill>
          <a:ln w="12700">
            <a:solidFill>
              <a:srgbClr val="F3F6F4"/>
            </a:solidFill>
            <a:prstDash val="solid"/>
          </a:ln>
        </p:spPr>
      </p:sp>
      <p:sp>
        <p:nvSpPr>
          <p:cNvPr id="14" name="Text 12"/>
          <p:cNvSpPr txBox="1"/>
          <p:nvPr/>
        </p:nvSpPr>
        <p:spPr>
          <a:xfrm>
            <a:off x="8275320" y="388620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Checked over HTTP</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Each fix had a unit test, but the flows had only been run by the testers.</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The same flows as one script on the copy: 12 of 12 checks pass.</a:t>
            </a:r>
            <a:endParaRPr lang="en-US" sz="16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Code computes the facts; models choose among preferences</a:t>
            </a:r>
            <a:endParaRPr lang="en-US" sz="2800" dirty="0"/>
          </a:p>
        </p:txBody>
      </p:sp>
      <p:pic>
        <p:nvPicPr>
          <p:cNvPr id="3" name="Image 0" descr="preencoded.png">    </p:cNvPr>
          <p:cNvPicPr>
            <a:picLocks noChangeAspect="1"/>
          </p:cNvPicPr>
          <p:nvPr/>
        </p:nvPicPr>
        <p:blipFill>
          <a:blip r:embed="rId1"/>
          <a:stretch>
            <a:fillRect/>
          </a:stretch>
        </p:blipFill>
        <p:spPr>
          <a:xfrm>
            <a:off x="2127697" y="1234440"/>
            <a:ext cx="7936302" cy="4206240"/>
          </a:xfrm>
          <a:prstGeom prst="rect">
            <a:avLst/>
          </a:prstGeom>
        </p:spPr>
      </p:pic>
      <p:sp>
        <p:nvSpPr>
          <p:cNvPr id="4" name="Text 1"/>
          <p:cNvSpPr txBox="1"/>
          <p:nvPr/>
        </p:nvSpPr>
        <p:spPr>
          <a:xfrm>
            <a:off x="548640" y="5623560"/>
            <a:ext cx="11094415" cy="914400"/>
          </a:xfrm>
          <a:prstGeom prst="rect">
            <a:avLst/>
          </a:prstGeom>
          <a:noFill/>
          <a:ln/>
        </p:spPr>
        <p:txBody>
          <a:bodyPr wrap="square" lIns="0" tIns="0" rIns="0" bIns="0" rtlCol="0" anchor="t"/>
          <a:lstStyle/>
          <a:p>
            <a:pPr indent="0" marL="0">
              <a:spcAft>
                <a:spcPts val="600"/>
              </a:spcAft>
              <a:buNone/>
            </a:pPr>
            <a:r>
              <a:rPr lang="en-US" sz="1400" dirty="0">
                <a:solidFill>
                  <a:srgbClr val="55555C"/>
                </a:solidFill>
              </a:rPr>
              <a:t>That keeps a model's mistake from turning into a wrong booking or a clash. Four pieces of engineering underneath: a standard A2A protocol with a negotiation engine, active querying by the value of information, a community that evolves the platform with rollback, and 3D reconstruction from a phone video.</a:t>
            </a:r>
            <a:endParaRPr lang="en-US" sz="14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A2A v1.0: facts only, settled in one round by intersection</a:t>
            </a:r>
            <a:endParaRPr lang="en-US" sz="2800" dirty="0"/>
          </a:p>
        </p:txBody>
      </p:sp>
      <p:sp>
        <p:nvSpPr>
          <p:cNvPr id="3" name="Shape 1"/>
          <p:cNvSpPr/>
          <p:nvPr/>
        </p:nvSpPr>
        <p:spPr>
          <a:xfrm>
            <a:off x="548640" y="2331720"/>
            <a:ext cx="1828800" cy="1280160"/>
          </a:xfrm>
          <a:prstGeom prst="roundRect">
            <a:avLst>
              <a:gd name="adj" fmla="val 5714"/>
            </a:avLst>
          </a:prstGeom>
          <a:solidFill>
            <a:srgbClr val="0A7F44"/>
          </a:solidFill>
          <a:ln w="12700">
            <a:solidFill>
              <a:srgbClr val="0A7F44"/>
            </a:solidFill>
            <a:prstDash val="solid"/>
          </a:ln>
        </p:spPr>
      </p:sp>
      <p:sp>
        <p:nvSpPr>
          <p:cNvPr id="4" name="Text 2"/>
          <p:cNvSpPr txBox="1"/>
          <p:nvPr/>
        </p:nvSpPr>
        <p:spPr>
          <a:xfrm>
            <a:off x="685800" y="2331720"/>
            <a:ext cx="1554480" cy="1280160"/>
          </a:xfrm>
          <a:prstGeom prst="rect">
            <a:avLst/>
          </a:prstGeom>
          <a:noFill/>
          <a:ln/>
        </p:spPr>
        <p:txBody>
          <a:bodyPr wrap="square" lIns="0" tIns="0" rIns="0" bIns="0" rtlCol="0" anchor="ctr"/>
          <a:lstStyle/>
          <a:p>
            <a:pPr algn="ctr" indent="0" marL="0">
              <a:buNone/>
            </a:pPr>
            <a:r>
              <a:rPr lang="en-US" sz="1400" b="1" dirty="0">
                <a:solidFill>
                  <a:srgbClr val="FFFFFF"/>
                </a:solidFill>
              </a:rPr>
              <a:t>Host's agent</a:t>
            </a:r>
            <a:endParaRPr lang="en-US" sz="1400" dirty="0"/>
          </a:p>
          <a:p>
            <a:pPr algn="ctr" indent="0" marL="0">
              <a:buNone/>
            </a:pPr>
            <a:r>
              <a:rPr lang="en-US" sz="1150" dirty="0">
                <a:solidFill>
                  <a:srgbClr val="D9EBDF"/>
                </a:solidFill>
              </a:rPr>
              <a:t>lists up to 12 times that fit every calendar and have a court</a:t>
            </a:r>
            <a:endParaRPr lang="en-US" sz="1400" dirty="0"/>
          </a:p>
        </p:txBody>
      </p:sp>
      <p:sp>
        <p:nvSpPr>
          <p:cNvPr id="5" name="Shape 3"/>
          <p:cNvSpPr/>
          <p:nvPr/>
        </p:nvSpPr>
        <p:spPr>
          <a:xfrm>
            <a:off x="2697480" y="2240280"/>
            <a:ext cx="2331720" cy="1463040"/>
          </a:xfrm>
          <a:prstGeom prst="roundRect">
            <a:avLst>
              <a:gd name="adj" fmla="val 3750"/>
            </a:avLst>
          </a:prstGeom>
          <a:solidFill>
            <a:srgbClr val="FFFFFF"/>
          </a:solidFill>
          <a:ln w="12700">
            <a:solidFill>
              <a:srgbClr val="DCDCE0"/>
            </a:solidFill>
            <a:prstDash val="solid"/>
          </a:ln>
        </p:spPr>
      </p:sp>
      <p:sp>
        <p:nvSpPr>
          <p:cNvPr id="6" name="Text 4"/>
          <p:cNvSpPr txBox="1"/>
          <p:nvPr/>
        </p:nvSpPr>
        <p:spPr>
          <a:xfrm>
            <a:off x="2834640" y="2286000"/>
            <a:ext cx="2103120" cy="1371600"/>
          </a:xfrm>
          <a:prstGeom prst="rect">
            <a:avLst/>
          </a:prstGeom>
          <a:noFill/>
          <a:ln/>
        </p:spPr>
        <p:txBody>
          <a:bodyPr wrap="square" lIns="0" tIns="0" rIns="0" bIns="0" rtlCol="0" anchor="ctr"/>
          <a:lstStyle/>
          <a:p>
            <a:pPr indent="0" marL="0">
              <a:buNone/>
            </a:pPr>
            <a:r>
              <a:rPr lang="en-US" sz="1200" b="1" dirty="0">
                <a:solidFill>
                  <a:srgbClr val="0A7F44"/>
                </a:solidFill>
              </a:rPr>
              <a:t>serve.proposal</a:t>
            </a:r>
            <a:endParaRPr lang="en-US" sz="1200" dirty="0"/>
          </a:p>
          <a:p>
            <a:pPr indent="0" marL="0">
              <a:buNone/>
            </a:pPr>
            <a:r>
              <a:rPr lang="en-US" sz="1200" dirty="0">
                <a:solidFill>
                  <a:srgbClr val="0A0A0B"/>
                </a:solidFill>
                <a:latin typeface="Consolas" pitchFamily="34" charset="0"/>
                <a:ea typeface="Consolas" pitchFamily="34" charset="-122"/>
                <a:cs typeface="Consolas" pitchFamily="34" charset="-120"/>
              </a:rPr>
              <a:t>{ id, date, start,</a:t>
            </a:r>
            <a:endParaRPr lang="en-US" sz="1200" dirty="0"/>
          </a:p>
          <a:p>
            <a:pPr indent="0" marL="0">
              <a:buNone/>
            </a:pPr>
            <a:r>
              <a:rPr lang="en-US" sz="1200" dirty="0">
                <a:solidFill>
                  <a:srgbClr val="0A0A0B"/>
                </a:solidFill>
                <a:latin typeface="Consolas" pitchFamily="34" charset="0"/>
                <a:ea typeface="Consolas" pitchFamily="34" charset="-122"/>
                <a:cs typeface="Consolas" pitchFamily="34" charset="-120"/>
              </a:rPr>
              <a:t>  venue, court, trip }</a:t>
            </a:r>
            <a:endParaRPr lang="en-US" sz="1200" dirty="0"/>
          </a:p>
          <a:p>
            <a:pPr indent="0" marL="0">
              <a:buNone/>
            </a:pPr>
            <a:r>
              <a:rPr lang="en-US" sz="1050" dirty="0">
                <a:solidFill>
                  <a:srgbClr val="55555C"/>
                </a:solidFill>
              </a:rPr>
              <a:t>facts only, signed (Ed25519)</a:t>
            </a:r>
            <a:endParaRPr lang="en-US" sz="1200" dirty="0"/>
          </a:p>
        </p:txBody>
      </p:sp>
      <p:sp>
        <p:nvSpPr>
          <p:cNvPr id="7" name="Shape 5"/>
          <p:cNvSpPr/>
          <p:nvPr/>
        </p:nvSpPr>
        <p:spPr>
          <a:xfrm>
            <a:off x="2395728" y="2971800"/>
            <a:ext cx="283464" cy="914"/>
          </a:xfrm>
          <a:prstGeom prst="line">
            <a:avLst/>
          </a:prstGeom>
          <a:noFill/>
          <a:ln w="25400">
            <a:solidFill>
              <a:srgbClr val="8A8A92"/>
            </a:solidFill>
            <a:prstDash val="solid"/>
            <a:tailEnd type="triangle"/>
          </a:ln>
        </p:spPr>
      </p:sp>
      <p:sp>
        <p:nvSpPr>
          <p:cNvPr id="8" name="Shape 6"/>
          <p:cNvSpPr/>
          <p:nvPr/>
        </p:nvSpPr>
        <p:spPr>
          <a:xfrm flipV="1">
            <a:off x="5047488" y="1737360"/>
            <a:ext cx="347472" cy="1234440"/>
          </a:xfrm>
          <a:prstGeom prst="line">
            <a:avLst/>
          </a:prstGeom>
          <a:noFill/>
          <a:ln w="25400">
            <a:solidFill>
              <a:srgbClr val="8A8A92"/>
            </a:solidFill>
            <a:prstDash val="solid"/>
            <a:tailEnd type="triangle"/>
          </a:ln>
        </p:spPr>
      </p:sp>
      <p:sp>
        <p:nvSpPr>
          <p:cNvPr id="9" name="Shape 7"/>
          <p:cNvSpPr/>
          <p:nvPr/>
        </p:nvSpPr>
        <p:spPr>
          <a:xfrm>
            <a:off x="5413248" y="1280160"/>
            <a:ext cx="2834640" cy="960120"/>
          </a:xfrm>
          <a:prstGeom prst="roundRect">
            <a:avLst>
              <a:gd name="adj" fmla="val 7619"/>
            </a:avLst>
          </a:prstGeom>
          <a:solidFill>
            <a:srgbClr val="F3F6F4"/>
          </a:solidFill>
          <a:ln w="12700">
            <a:solidFill>
              <a:srgbClr val="F3F6F4"/>
            </a:solidFill>
            <a:prstDash val="solid"/>
          </a:ln>
        </p:spPr>
      </p:sp>
      <p:sp>
        <p:nvSpPr>
          <p:cNvPr id="10" name="Text 8"/>
          <p:cNvSpPr txBox="1"/>
          <p:nvPr/>
        </p:nvSpPr>
        <p:spPr>
          <a:xfrm>
            <a:off x="5577840" y="1353312"/>
            <a:ext cx="2560320" cy="320040"/>
          </a:xfrm>
          <a:prstGeom prst="rect">
            <a:avLst/>
          </a:prstGeom>
          <a:noFill/>
          <a:ln/>
        </p:spPr>
        <p:txBody>
          <a:bodyPr wrap="square" lIns="0" tIns="0" rIns="0" bIns="0" rtlCol="0" anchor="ctr"/>
          <a:lstStyle/>
          <a:p>
            <a:pPr indent="0" marL="0">
              <a:buNone/>
            </a:pPr>
            <a:r>
              <a:rPr lang="en-US" sz="1300" b="1" dirty="0">
                <a:solidFill>
                  <a:srgbClr val="0A0A0B"/>
                </a:solidFill>
              </a:rPr>
              <a:t>Ana's agent</a:t>
            </a:r>
            <a:endParaRPr lang="en-US" sz="1300" dirty="0"/>
          </a:p>
        </p:txBody>
      </p:sp>
      <p:sp>
        <p:nvSpPr>
          <p:cNvPr id="11" name="Shape 9"/>
          <p:cNvSpPr/>
          <p:nvPr/>
        </p:nvSpPr>
        <p:spPr>
          <a:xfrm>
            <a:off x="5577840" y="1737360"/>
            <a:ext cx="438912" cy="347472"/>
          </a:xfrm>
          <a:prstGeom prst="roundRect">
            <a:avLst>
              <a:gd name="adj" fmla="val 13158"/>
            </a:avLst>
          </a:prstGeom>
          <a:solidFill>
            <a:srgbClr val="8CC5A6"/>
          </a:solidFill>
          <a:ln w="12700">
            <a:solidFill>
              <a:srgbClr val="8CC5A6"/>
            </a:solidFill>
            <a:prstDash val="solid"/>
          </a:ln>
        </p:spPr>
      </p:sp>
      <p:sp>
        <p:nvSpPr>
          <p:cNvPr id="12" name="Text 10"/>
          <p:cNvSpPr txBox="1"/>
          <p:nvPr/>
        </p:nvSpPr>
        <p:spPr>
          <a:xfrm>
            <a:off x="5577840" y="173736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t1</a:t>
            </a:r>
            <a:endParaRPr lang="en-US" sz="1100" dirty="0"/>
          </a:p>
        </p:txBody>
      </p:sp>
      <p:sp>
        <p:nvSpPr>
          <p:cNvPr id="13" name="Shape 11"/>
          <p:cNvSpPr/>
          <p:nvPr/>
        </p:nvSpPr>
        <p:spPr>
          <a:xfrm>
            <a:off x="6080760" y="1737360"/>
            <a:ext cx="438912" cy="347472"/>
          </a:xfrm>
          <a:prstGeom prst="roundRect">
            <a:avLst>
              <a:gd name="adj" fmla="val 13158"/>
            </a:avLst>
          </a:prstGeom>
          <a:solidFill>
            <a:srgbClr val="0A7F44"/>
          </a:solidFill>
          <a:ln w="12700">
            <a:solidFill>
              <a:srgbClr val="0A7F44"/>
            </a:solidFill>
            <a:prstDash val="solid"/>
          </a:ln>
        </p:spPr>
      </p:sp>
      <p:sp>
        <p:nvSpPr>
          <p:cNvPr id="14" name="Text 12"/>
          <p:cNvSpPr txBox="1"/>
          <p:nvPr/>
        </p:nvSpPr>
        <p:spPr>
          <a:xfrm>
            <a:off x="6080760" y="173736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t2</a:t>
            </a:r>
            <a:endParaRPr lang="en-US" sz="1100" dirty="0"/>
          </a:p>
        </p:txBody>
      </p:sp>
      <p:sp>
        <p:nvSpPr>
          <p:cNvPr id="15" name="Shape 13"/>
          <p:cNvSpPr/>
          <p:nvPr/>
        </p:nvSpPr>
        <p:spPr>
          <a:xfrm>
            <a:off x="6583680" y="1737360"/>
            <a:ext cx="438912" cy="347472"/>
          </a:xfrm>
          <a:prstGeom prst="roundRect">
            <a:avLst>
              <a:gd name="adj" fmla="val 13158"/>
            </a:avLst>
          </a:prstGeom>
          <a:solidFill>
            <a:srgbClr val="E1E4E2"/>
          </a:solidFill>
          <a:ln w="12700">
            <a:solidFill>
              <a:srgbClr val="E1E4E2"/>
            </a:solidFill>
            <a:prstDash val="solid"/>
          </a:ln>
        </p:spPr>
      </p:sp>
      <p:sp>
        <p:nvSpPr>
          <p:cNvPr id="16" name="Text 14"/>
          <p:cNvSpPr txBox="1"/>
          <p:nvPr/>
        </p:nvSpPr>
        <p:spPr>
          <a:xfrm>
            <a:off x="6583680" y="1737360"/>
            <a:ext cx="438912" cy="347472"/>
          </a:xfrm>
          <a:prstGeom prst="rect">
            <a:avLst/>
          </a:prstGeom>
          <a:noFill/>
          <a:ln/>
        </p:spPr>
        <p:txBody>
          <a:bodyPr wrap="square" lIns="0" tIns="0" rIns="0" bIns="0" rtlCol="0" anchor="ctr"/>
          <a:lstStyle/>
          <a:p>
            <a:pPr algn="ctr" indent="0" marL="0">
              <a:buNone/>
            </a:pPr>
            <a:r>
              <a:rPr lang="en-US" sz="1100" dirty="0">
                <a:solidFill>
                  <a:srgbClr val="8A8A92"/>
                </a:solidFill>
              </a:rPr>
              <a:t>t3</a:t>
            </a:r>
            <a:endParaRPr lang="en-US" sz="1100" dirty="0"/>
          </a:p>
        </p:txBody>
      </p:sp>
      <p:sp>
        <p:nvSpPr>
          <p:cNvPr id="17" name="Shape 15"/>
          <p:cNvSpPr/>
          <p:nvPr/>
        </p:nvSpPr>
        <p:spPr>
          <a:xfrm>
            <a:off x="7086600" y="1737360"/>
            <a:ext cx="438912" cy="347472"/>
          </a:xfrm>
          <a:prstGeom prst="roundRect">
            <a:avLst>
              <a:gd name="adj" fmla="val 13158"/>
            </a:avLst>
          </a:prstGeom>
          <a:solidFill>
            <a:srgbClr val="0A7F44"/>
          </a:solidFill>
          <a:ln w="12700">
            <a:solidFill>
              <a:srgbClr val="0A7F44"/>
            </a:solidFill>
            <a:prstDash val="solid"/>
          </a:ln>
        </p:spPr>
      </p:sp>
      <p:sp>
        <p:nvSpPr>
          <p:cNvPr id="18" name="Text 16"/>
          <p:cNvSpPr txBox="1"/>
          <p:nvPr/>
        </p:nvSpPr>
        <p:spPr>
          <a:xfrm>
            <a:off x="7086600" y="173736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t4</a:t>
            </a:r>
            <a:endParaRPr lang="en-US" sz="1100" dirty="0"/>
          </a:p>
        </p:txBody>
      </p:sp>
      <p:sp>
        <p:nvSpPr>
          <p:cNvPr id="19" name="Shape 17"/>
          <p:cNvSpPr/>
          <p:nvPr/>
        </p:nvSpPr>
        <p:spPr>
          <a:xfrm>
            <a:off x="7589520" y="1737360"/>
            <a:ext cx="438912" cy="347472"/>
          </a:xfrm>
          <a:prstGeom prst="roundRect">
            <a:avLst>
              <a:gd name="adj" fmla="val 13158"/>
            </a:avLst>
          </a:prstGeom>
          <a:solidFill>
            <a:srgbClr val="E1E4E2"/>
          </a:solidFill>
          <a:ln w="12700">
            <a:solidFill>
              <a:srgbClr val="E1E4E2"/>
            </a:solidFill>
            <a:prstDash val="solid"/>
          </a:ln>
        </p:spPr>
      </p:sp>
      <p:sp>
        <p:nvSpPr>
          <p:cNvPr id="20" name="Text 18"/>
          <p:cNvSpPr txBox="1"/>
          <p:nvPr/>
        </p:nvSpPr>
        <p:spPr>
          <a:xfrm>
            <a:off x="7589520" y="1737360"/>
            <a:ext cx="438912" cy="347472"/>
          </a:xfrm>
          <a:prstGeom prst="rect">
            <a:avLst/>
          </a:prstGeom>
          <a:noFill/>
          <a:ln/>
        </p:spPr>
        <p:txBody>
          <a:bodyPr wrap="square" lIns="0" tIns="0" rIns="0" bIns="0" rtlCol="0" anchor="ctr"/>
          <a:lstStyle/>
          <a:p>
            <a:pPr algn="ctr" indent="0" marL="0">
              <a:buNone/>
            </a:pPr>
            <a:r>
              <a:rPr lang="en-US" sz="1100" dirty="0">
                <a:solidFill>
                  <a:srgbClr val="8A8A92"/>
                </a:solidFill>
              </a:rPr>
              <a:t>t5</a:t>
            </a:r>
            <a:endParaRPr lang="en-US" sz="1100" dirty="0"/>
          </a:p>
        </p:txBody>
      </p:sp>
      <p:sp>
        <p:nvSpPr>
          <p:cNvPr id="21" name="Shape 19"/>
          <p:cNvSpPr/>
          <p:nvPr/>
        </p:nvSpPr>
        <p:spPr>
          <a:xfrm>
            <a:off x="8266176" y="1737360"/>
            <a:ext cx="374904" cy="1234440"/>
          </a:xfrm>
          <a:prstGeom prst="line">
            <a:avLst/>
          </a:prstGeom>
          <a:noFill/>
          <a:ln w="25400">
            <a:solidFill>
              <a:srgbClr val="8A8A92"/>
            </a:solidFill>
            <a:prstDash val="solid"/>
            <a:tailEnd type="triangle"/>
          </a:ln>
        </p:spPr>
      </p:sp>
      <p:sp>
        <p:nvSpPr>
          <p:cNvPr id="22" name="Shape 20"/>
          <p:cNvSpPr/>
          <p:nvPr/>
        </p:nvSpPr>
        <p:spPr>
          <a:xfrm flipV="1">
            <a:off x="5047488" y="2926080"/>
            <a:ext cx="347472" cy="45720"/>
          </a:xfrm>
          <a:prstGeom prst="line">
            <a:avLst/>
          </a:prstGeom>
          <a:noFill/>
          <a:ln w="25400">
            <a:solidFill>
              <a:srgbClr val="8A8A92"/>
            </a:solidFill>
            <a:prstDash val="solid"/>
            <a:tailEnd type="triangle"/>
          </a:ln>
        </p:spPr>
      </p:sp>
      <p:sp>
        <p:nvSpPr>
          <p:cNvPr id="23" name="Shape 21"/>
          <p:cNvSpPr/>
          <p:nvPr/>
        </p:nvSpPr>
        <p:spPr>
          <a:xfrm>
            <a:off x="5413248" y="2468880"/>
            <a:ext cx="2834640" cy="960120"/>
          </a:xfrm>
          <a:prstGeom prst="roundRect">
            <a:avLst>
              <a:gd name="adj" fmla="val 7619"/>
            </a:avLst>
          </a:prstGeom>
          <a:solidFill>
            <a:srgbClr val="F3F6F4"/>
          </a:solidFill>
          <a:ln w="12700">
            <a:solidFill>
              <a:srgbClr val="F3F6F4"/>
            </a:solidFill>
            <a:prstDash val="solid"/>
          </a:ln>
        </p:spPr>
      </p:sp>
      <p:sp>
        <p:nvSpPr>
          <p:cNvPr id="24" name="Text 22"/>
          <p:cNvSpPr txBox="1"/>
          <p:nvPr/>
        </p:nvSpPr>
        <p:spPr>
          <a:xfrm>
            <a:off x="5577840" y="2542032"/>
            <a:ext cx="2560320" cy="320040"/>
          </a:xfrm>
          <a:prstGeom prst="rect">
            <a:avLst/>
          </a:prstGeom>
          <a:noFill/>
          <a:ln/>
        </p:spPr>
        <p:txBody>
          <a:bodyPr wrap="square" lIns="0" tIns="0" rIns="0" bIns="0" rtlCol="0" anchor="ctr"/>
          <a:lstStyle/>
          <a:p>
            <a:pPr indent="0" marL="0">
              <a:buNone/>
            </a:pPr>
            <a:r>
              <a:rPr lang="en-US" sz="1300" b="1" dirty="0">
                <a:solidFill>
                  <a:srgbClr val="0A0A0B"/>
                </a:solidFill>
              </a:rPr>
              <a:t>Leo's agent</a:t>
            </a:r>
            <a:endParaRPr lang="en-US" sz="1300" dirty="0"/>
          </a:p>
        </p:txBody>
      </p:sp>
      <p:sp>
        <p:nvSpPr>
          <p:cNvPr id="25" name="Shape 23"/>
          <p:cNvSpPr/>
          <p:nvPr/>
        </p:nvSpPr>
        <p:spPr>
          <a:xfrm>
            <a:off x="5577840" y="2926080"/>
            <a:ext cx="438912" cy="347472"/>
          </a:xfrm>
          <a:prstGeom prst="roundRect">
            <a:avLst>
              <a:gd name="adj" fmla="val 13158"/>
            </a:avLst>
          </a:prstGeom>
          <a:solidFill>
            <a:srgbClr val="E1E4E2"/>
          </a:solidFill>
          <a:ln w="12700">
            <a:solidFill>
              <a:srgbClr val="E1E4E2"/>
            </a:solidFill>
            <a:prstDash val="solid"/>
          </a:ln>
        </p:spPr>
      </p:sp>
      <p:sp>
        <p:nvSpPr>
          <p:cNvPr id="26" name="Text 24"/>
          <p:cNvSpPr txBox="1"/>
          <p:nvPr/>
        </p:nvSpPr>
        <p:spPr>
          <a:xfrm>
            <a:off x="5577840" y="2926080"/>
            <a:ext cx="438912" cy="347472"/>
          </a:xfrm>
          <a:prstGeom prst="rect">
            <a:avLst/>
          </a:prstGeom>
          <a:noFill/>
          <a:ln/>
        </p:spPr>
        <p:txBody>
          <a:bodyPr wrap="square" lIns="0" tIns="0" rIns="0" bIns="0" rtlCol="0" anchor="ctr"/>
          <a:lstStyle/>
          <a:p>
            <a:pPr algn="ctr" indent="0" marL="0">
              <a:buNone/>
            </a:pPr>
            <a:r>
              <a:rPr lang="en-US" sz="1100" dirty="0">
                <a:solidFill>
                  <a:srgbClr val="8A8A92"/>
                </a:solidFill>
              </a:rPr>
              <a:t>t1</a:t>
            </a:r>
            <a:endParaRPr lang="en-US" sz="1100" dirty="0"/>
          </a:p>
        </p:txBody>
      </p:sp>
      <p:sp>
        <p:nvSpPr>
          <p:cNvPr id="27" name="Shape 25"/>
          <p:cNvSpPr/>
          <p:nvPr/>
        </p:nvSpPr>
        <p:spPr>
          <a:xfrm>
            <a:off x="6080760" y="2926080"/>
            <a:ext cx="438912" cy="347472"/>
          </a:xfrm>
          <a:prstGeom prst="roundRect">
            <a:avLst>
              <a:gd name="adj" fmla="val 13158"/>
            </a:avLst>
          </a:prstGeom>
          <a:solidFill>
            <a:srgbClr val="0A7F44"/>
          </a:solidFill>
          <a:ln w="12700">
            <a:solidFill>
              <a:srgbClr val="0A7F44"/>
            </a:solidFill>
            <a:prstDash val="solid"/>
          </a:ln>
        </p:spPr>
      </p:sp>
      <p:sp>
        <p:nvSpPr>
          <p:cNvPr id="28" name="Text 26"/>
          <p:cNvSpPr txBox="1"/>
          <p:nvPr/>
        </p:nvSpPr>
        <p:spPr>
          <a:xfrm>
            <a:off x="6080760" y="292608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t2</a:t>
            </a:r>
            <a:endParaRPr lang="en-US" sz="1100" dirty="0"/>
          </a:p>
        </p:txBody>
      </p:sp>
      <p:sp>
        <p:nvSpPr>
          <p:cNvPr id="29" name="Shape 27"/>
          <p:cNvSpPr/>
          <p:nvPr/>
        </p:nvSpPr>
        <p:spPr>
          <a:xfrm>
            <a:off x="6583680" y="2926080"/>
            <a:ext cx="438912" cy="347472"/>
          </a:xfrm>
          <a:prstGeom prst="roundRect">
            <a:avLst>
              <a:gd name="adj" fmla="val 13158"/>
            </a:avLst>
          </a:prstGeom>
          <a:solidFill>
            <a:srgbClr val="8CC5A6"/>
          </a:solidFill>
          <a:ln w="12700">
            <a:solidFill>
              <a:srgbClr val="8CC5A6"/>
            </a:solidFill>
            <a:prstDash val="solid"/>
          </a:ln>
        </p:spPr>
      </p:sp>
      <p:sp>
        <p:nvSpPr>
          <p:cNvPr id="30" name="Text 28"/>
          <p:cNvSpPr txBox="1"/>
          <p:nvPr/>
        </p:nvSpPr>
        <p:spPr>
          <a:xfrm>
            <a:off x="6583680" y="292608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t3</a:t>
            </a:r>
            <a:endParaRPr lang="en-US" sz="1100" dirty="0"/>
          </a:p>
        </p:txBody>
      </p:sp>
      <p:sp>
        <p:nvSpPr>
          <p:cNvPr id="31" name="Shape 29"/>
          <p:cNvSpPr/>
          <p:nvPr/>
        </p:nvSpPr>
        <p:spPr>
          <a:xfrm>
            <a:off x="7086600" y="2926080"/>
            <a:ext cx="438912" cy="347472"/>
          </a:xfrm>
          <a:prstGeom prst="roundRect">
            <a:avLst>
              <a:gd name="adj" fmla="val 13158"/>
            </a:avLst>
          </a:prstGeom>
          <a:solidFill>
            <a:srgbClr val="0A7F44"/>
          </a:solidFill>
          <a:ln w="12700">
            <a:solidFill>
              <a:srgbClr val="0A7F44"/>
            </a:solidFill>
            <a:prstDash val="solid"/>
          </a:ln>
        </p:spPr>
      </p:sp>
      <p:sp>
        <p:nvSpPr>
          <p:cNvPr id="32" name="Text 30"/>
          <p:cNvSpPr txBox="1"/>
          <p:nvPr/>
        </p:nvSpPr>
        <p:spPr>
          <a:xfrm>
            <a:off x="7086600" y="292608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t4</a:t>
            </a:r>
            <a:endParaRPr lang="en-US" sz="1100" dirty="0"/>
          </a:p>
        </p:txBody>
      </p:sp>
      <p:sp>
        <p:nvSpPr>
          <p:cNvPr id="33" name="Shape 31"/>
          <p:cNvSpPr/>
          <p:nvPr/>
        </p:nvSpPr>
        <p:spPr>
          <a:xfrm>
            <a:off x="7589520" y="2926080"/>
            <a:ext cx="438912" cy="347472"/>
          </a:xfrm>
          <a:prstGeom prst="roundRect">
            <a:avLst>
              <a:gd name="adj" fmla="val 13158"/>
            </a:avLst>
          </a:prstGeom>
          <a:solidFill>
            <a:srgbClr val="E1E4E2"/>
          </a:solidFill>
          <a:ln w="12700">
            <a:solidFill>
              <a:srgbClr val="E1E4E2"/>
            </a:solidFill>
            <a:prstDash val="solid"/>
          </a:ln>
        </p:spPr>
      </p:sp>
      <p:sp>
        <p:nvSpPr>
          <p:cNvPr id="34" name="Text 32"/>
          <p:cNvSpPr txBox="1"/>
          <p:nvPr/>
        </p:nvSpPr>
        <p:spPr>
          <a:xfrm>
            <a:off x="7589520" y="2926080"/>
            <a:ext cx="438912" cy="347472"/>
          </a:xfrm>
          <a:prstGeom prst="rect">
            <a:avLst/>
          </a:prstGeom>
          <a:noFill/>
          <a:ln/>
        </p:spPr>
        <p:txBody>
          <a:bodyPr wrap="square" lIns="0" tIns="0" rIns="0" bIns="0" rtlCol="0" anchor="ctr"/>
          <a:lstStyle/>
          <a:p>
            <a:pPr algn="ctr" indent="0" marL="0">
              <a:buNone/>
            </a:pPr>
            <a:r>
              <a:rPr lang="en-US" sz="1100" dirty="0">
                <a:solidFill>
                  <a:srgbClr val="8A8A92"/>
                </a:solidFill>
              </a:rPr>
              <a:t>t5</a:t>
            </a:r>
            <a:endParaRPr lang="en-US" sz="1100" dirty="0"/>
          </a:p>
        </p:txBody>
      </p:sp>
      <p:sp>
        <p:nvSpPr>
          <p:cNvPr id="35" name="Shape 33"/>
          <p:cNvSpPr/>
          <p:nvPr/>
        </p:nvSpPr>
        <p:spPr>
          <a:xfrm>
            <a:off x="8266176" y="2926080"/>
            <a:ext cx="374904" cy="45720"/>
          </a:xfrm>
          <a:prstGeom prst="line">
            <a:avLst/>
          </a:prstGeom>
          <a:noFill/>
          <a:ln w="25400">
            <a:solidFill>
              <a:srgbClr val="8A8A92"/>
            </a:solidFill>
            <a:prstDash val="solid"/>
            <a:tailEnd type="triangle"/>
          </a:ln>
        </p:spPr>
      </p:sp>
      <p:sp>
        <p:nvSpPr>
          <p:cNvPr id="36" name="Shape 34"/>
          <p:cNvSpPr/>
          <p:nvPr/>
        </p:nvSpPr>
        <p:spPr>
          <a:xfrm>
            <a:off x="5047488" y="2971800"/>
            <a:ext cx="347472" cy="1143000"/>
          </a:xfrm>
          <a:prstGeom prst="line">
            <a:avLst/>
          </a:prstGeom>
          <a:noFill/>
          <a:ln w="25400">
            <a:solidFill>
              <a:srgbClr val="8A8A92"/>
            </a:solidFill>
            <a:prstDash val="solid"/>
            <a:tailEnd type="triangle"/>
          </a:ln>
        </p:spPr>
      </p:sp>
      <p:sp>
        <p:nvSpPr>
          <p:cNvPr id="37" name="Shape 35"/>
          <p:cNvSpPr/>
          <p:nvPr/>
        </p:nvSpPr>
        <p:spPr>
          <a:xfrm>
            <a:off x="5413248" y="3657600"/>
            <a:ext cx="2834640" cy="960120"/>
          </a:xfrm>
          <a:prstGeom prst="roundRect">
            <a:avLst>
              <a:gd name="adj" fmla="val 7619"/>
            </a:avLst>
          </a:prstGeom>
          <a:solidFill>
            <a:srgbClr val="F3F6F4"/>
          </a:solidFill>
          <a:ln w="12700">
            <a:solidFill>
              <a:srgbClr val="F3F6F4"/>
            </a:solidFill>
            <a:prstDash val="solid"/>
          </a:ln>
        </p:spPr>
      </p:sp>
      <p:sp>
        <p:nvSpPr>
          <p:cNvPr id="38" name="Text 36"/>
          <p:cNvSpPr txBox="1"/>
          <p:nvPr/>
        </p:nvSpPr>
        <p:spPr>
          <a:xfrm>
            <a:off x="5577840" y="3730752"/>
            <a:ext cx="2560320" cy="320040"/>
          </a:xfrm>
          <a:prstGeom prst="rect">
            <a:avLst/>
          </a:prstGeom>
          <a:noFill/>
          <a:ln/>
        </p:spPr>
        <p:txBody>
          <a:bodyPr wrap="square" lIns="0" tIns="0" rIns="0" bIns="0" rtlCol="0" anchor="ctr"/>
          <a:lstStyle/>
          <a:p>
            <a:pPr indent="0" marL="0">
              <a:buNone/>
            </a:pPr>
            <a:r>
              <a:rPr lang="en-US" sz="1300" b="1" dirty="0">
                <a:solidFill>
                  <a:srgbClr val="0A0A0B"/>
                </a:solidFill>
              </a:rPr>
              <a:t>Kenji's agent</a:t>
            </a:r>
            <a:endParaRPr lang="en-US" sz="1300" dirty="0"/>
          </a:p>
        </p:txBody>
      </p:sp>
      <p:sp>
        <p:nvSpPr>
          <p:cNvPr id="39" name="Shape 37"/>
          <p:cNvSpPr/>
          <p:nvPr/>
        </p:nvSpPr>
        <p:spPr>
          <a:xfrm>
            <a:off x="5577840" y="4114800"/>
            <a:ext cx="438912" cy="347472"/>
          </a:xfrm>
          <a:prstGeom prst="roundRect">
            <a:avLst>
              <a:gd name="adj" fmla="val 13158"/>
            </a:avLst>
          </a:prstGeom>
          <a:solidFill>
            <a:srgbClr val="E1E4E2"/>
          </a:solidFill>
          <a:ln w="12700">
            <a:solidFill>
              <a:srgbClr val="E1E4E2"/>
            </a:solidFill>
            <a:prstDash val="solid"/>
          </a:ln>
        </p:spPr>
      </p:sp>
      <p:sp>
        <p:nvSpPr>
          <p:cNvPr id="40" name="Text 38"/>
          <p:cNvSpPr txBox="1"/>
          <p:nvPr/>
        </p:nvSpPr>
        <p:spPr>
          <a:xfrm>
            <a:off x="5577840" y="4114800"/>
            <a:ext cx="438912" cy="347472"/>
          </a:xfrm>
          <a:prstGeom prst="rect">
            <a:avLst/>
          </a:prstGeom>
          <a:noFill/>
          <a:ln/>
        </p:spPr>
        <p:txBody>
          <a:bodyPr wrap="square" lIns="0" tIns="0" rIns="0" bIns="0" rtlCol="0" anchor="ctr"/>
          <a:lstStyle/>
          <a:p>
            <a:pPr algn="ctr" indent="0" marL="0">
              <a:buNone/>
            </a:pPr>
            <a:r>
              <a:rPr lang="en-US" sz="1100" dirty="0">
                <a:solidFill>
                  <a:srgbClr val="8A8A92"/>
                </a:solidFill>
              </a:rPr>
              <a:t>t1</a:t>
            </a:r>
            <a:endParaRPr lang="en-US" sz="1100" dirty="0"/>
          </a:p>
        </p:txBody>
      </p:sp>
      <p:sp>
        <p:nvSpPr>
          <p:cNvPr id="41" name="Shape 39"/>
          <p:cNvSpPr/>
          <p:nvPr/>
        </p:nvSpPr>
        <p:spPr>
          <a:xfrm>
            <a:off x="6080760" y="4114800"/>
            <a:ext cx="438912" cy="347472"/>
          </a:xfrm>
          <a:prstGeom prst="roundRect">
            <a:avLst>
              <a:gd name="adj" fmla="val 13158"/>
            </a:avLst>
          </a:prstGeom>
          <a:solidFill>
            <a:srgbClr val="0A7F44"/>
          </a:solidFill>
          <a:ln w="12700">
            <a:solidFill>
              <a:srgbClr val="0A7F44"/>
            </a:solidFill>
            <a:prstDash val="solid"/>
          </a:ln>
        </p:spPr>
      </p:sp>
      <p:sp>
        <p:nvSpPr>
          <p:cNvPr id="42" name="Text 40"/>
          <p:cNvSpPr txBox="1"/>
          <p:nvPr/>
        </p:nvSpPr>
        <p:spPr>
          <a:xfrm>
            <a:off x="6080760" y="411480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t2</a:t>
            </a:r>
            <a:endParaRPr lang="en-US" sz="1100" dirty="0"/>
          </a:p>
        </p:txBody>
      </p:sp>
      <p:sp>
        <p:nvSpPr>
          <p:cNvPr id="43" name="Shape 41"/>
          <p:cNvSpPr/>
          <p:nvPr/>
        </p:nvSpPr>
        <p:spPr>
          <a:xfrm>
            <a:off x="6583680" y="4114800"/>
            <a:ext cx="438912" cy="347472"/>
          </a:xfrm>
          <a:prstGeom prst="roundRect">
            <a:avLst>
              <a:gd name="adj" fmla="val 13158"/>
            </a:avLst>
          </a:prstGeom>
          <a:solidFill>
            <a:srgbClr val="E1E4E2"/>
          </a:solidFill>
          <a:ln w="12700">
            <a:solidFill>
              <a:srgbClr val="E1E4E2"/>
            </a:solidFill>
            <a:prstDash val="solid"/>
          </a:ln>
        </p:spPr>
      </p:sp>
      <p:sp>
        <p:nvSpPr>
          <p:cNvPr id="44" name="Text 42"/>
          <p:cNvSpPr txBox="1"/>
          <p:nvPr/>
        </p:nvSpPr>
        <p:spPr>
          <a:xfrm>
            <a:off x="6583680" y="4114800"/>
            <a:ext cx="438912" cy="347472"/>
          </a:xfrm>
          <a:prstGeom prst="rect">
            <a:avLst/>
          </a:prstGeom>
          <a:noFill/>
          <a:ln/>
        </p:spPr>
        <p:txBody>
          <a:bodyPr wrap="square" lIns="0" tIns="0" rIns="0" bIns="0" rtlCol="0" anchor="ctr"/>
          <a:lstStyle/>
          <a:p>
            <a:pPr algn="ctr" indent="0" marL="0">
              <a:buNone/>
            </a:pPr>
            <a:r>
              <a:rPr lang="en-US" sz="1100" dirty="0">
                <a:solidFill>
                  <a:srgbClr val="8A8A92"/>
                </a:solidFill>
              </a:rPr>
              <a:t>t3</a:t>
            </a:r>
            <a:endParaRPr lang="en-US" sz="1100" dirty="0"/>
          </a:p>
        </p:txBody>
      </p:sp>
      <p:sp>
        <p:nvSpPr>
          <p:cNvPr id="45" name="Shape 43"/>
          <p:cNvSpPr/>
          <p:nvPr/>
        </p:nvSpPr>
        <p:spPr>
          <a:xfrm>
            <a:off x="7086600" y="4114800"/>
            <a:ext cx="438912" cy="347472"/>
          </a:xfrm>
          <a:prstGeom prst="roundRect">
            <a:avLst>
              <a:gd name="adj" fmla="val 13158"/>
            </a:avLst>
          </a:prstGeom>
          <a:solidFill>
            <a:srgbClr val="0A7F44"/>
          </a:solidFill>
          <a:ln w="12700">
            <a:solidFill>
              <a:srgbClr val="0A7F44"/>
            </a:solidFill>
            <a:prstDash val="solid"/>
          </a:ln>
        </p:spPr>
      </p:sp>
      <p:sp>
        <p:nvSpPr>
          <p:cNvPr id="46" name="Text 44"/>
          <p:cNvSpPr txBox="1"/>
          <p:nvPr/>
        </p:nvSpPr>
        <p:spPr>
          <a:xfrm>
            <a:off x="7086600" y="411480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t4</a:t>
            </a:r>
            <a:endParaRPr lang="en-US" sz="1100" dirty="0"/>
          </a:p>
        </p:txBody>
      </p:sp>
      <p:sp>
        <p:nvSpPr>
          <p:cNvPr id="47" name="Shape 45"/>
          <p:cNvSpPr/>
          <p:nvPr/>
        </p:nvSpPr>
        <p:spPr>
          <a:xfrm>
            <a:off x="7589520" y="4114800"/>
            <a:ext cx="438912" cy="347472"/>
          </a:xfrm>
          <a:prstGeom prst="roundRect">
            <a:avLst>
              <a:gd name="adj" fmla="val 13158"/>
            </a:avLst>
          </a:prstGeom>
          <a:solidFill>
            <a:srgbClr val="8CC5A6"/>
          </a:solidFill>
          <a:ln w="12700">
            <a:solidFill>
              <a:srgbClr val="8CC5A6"/>
            </a:solidFill>
            <a:prstDash val="solid"/>
          </a:ln>
        </p:spPr>
      </p:sp>
      <p:sp>
        <p:nvSpPr>
          <p:cNvPr id="48" name="Text 46"/>
          <p:cNvSpPr txBox="1"/>
          <p:nvPr/>
        </p:nvSpPr>
        <p:spPr>
          <a:xfrm>
            <a:off x="7589520" y="411480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t5</a:t>
            </a:r>
            <a:endParaRPr lang="en-US" sz="1100" dirty="0"/>
          </a:p>
        </p:txBody>
      </p:sp>
      <p:sp>
        <p:nvSpPr>
          <p:cNvPr id="49" name="Shape 47"/>
          <p:cNvSpPr/>
          <p:nvPr/>
        </p:nvSpPr>
        <p:spPr>
          <a:xfrm flipV="1">
            <a:off x="8266176" y="2971800"/>
            <a:ext cx="374904" cy="1143000"/>
          </a:xfrm>
          <a:prstGeom prst="line">
            <a:avLst/>
          </a:prstGeom>
          <a:noFill/>
          <a:ln w="25400">
            <a:solidFill>
              <a:srgbClr val="8A8A92"/>
            </a:solidFill>
            <a:prstDash val="solid"/>
            <a:tailEnd type="triangle"/>
          </a:ln>
        </p:spPr>
      </p:sp>
      <p:sp>
        <p:nvSpPr>
          <p:cNvPr id="50" name="Shape 48"/>
          <p:cNvSpPr/>
          <p:nvPr/>
        </p:nvSpPr>
        <p:spPr>
          <a:xfrm>
            <a:off x="8686800" y="2240280"/>
            <a:ext cx="2926080" cy="1463040"/>
          </a:xfrm>
          <a:prstGeom prst="roundRect">
            <a:avLst>
              <a:gd name="adj" fmla="val 5000"/>
            </a:avLst>
          </a:prstGeom>
          <a:solidFill>
            <a:srgbClr val="E9F3EC"/>
          </a:solidFill>
          <a:ln w="12700">
            <a:solidFill>
              <a:srgbClr val="E9F3EC"/>
            </a:solidFill>
            <a:prstDash val="solid"/>
          </a:ln>
        </p:spPr>
      </p:sp>
      <p:sp>
        <p:nvSpPr>
          <p:cNvPr id="51" name="Text 49"/>
          <p:cNvSpPr txBox="1"/>
          <p:nvPr/>
        </p:nvSpPr>
        <p:spPr>
          <a:xfrm>
            <a:off x="8823960" y="2240280"/>
            <a:ext cx="2651760" cy="1463040"/>
          </a:xfrm>
          <a:prstGeom prst="rect">
            <a:avLst/>
          </a:prstGeom>
          <a:noFill/>
          <a:ln/>
        </p:spPr>
        <p:txBody>
          <a:bodyPr wrap="square" lIns="0" tIns="0" rIns="0" bIns="0" rtlCol="0" anchor="ctr"/>
          <a:lstStyle/>
          <a:p>
            <a:pPr algn="ctr" indent="0" marL="0">
              <a:buNone/>
            </a:pPr>
            <a:r>
              <a:rPr lang="en-US" sz="1400" b="1" dirty="0">
                <a:solidFill>
                  <a:srgbClr val="0A0A0B"/>
                </a:solidFill>
              </a:rPr>
              <a:t>Intersection: t2, t4</a:t>
            </a:r>
            <a:endParaRPr lang="en-US" sz="1400" dirty="0"/>
          </a:p>
          <a:p>
            <a:pPr algn="ctr" indent="0" marL="0">
              <a:buNone/>
            </a:pPr>
            <a:r>
              <a:rPr lang="en-US" sz="1150" dirty="0">
                <a:solidFill>
                  <a:srgbClr val="55555C"/>
                </a:solidFill>
              </a:rPr>
              <a:t>every agent's set is binding; code takes the best, t2. Most talks end in round one</a:t>
            </a:r>
            <a:endParaRPr lang="en-US" sz="1400" dirty="0"/>
          </a:p>
        </p:txBody>
      </p:sp>
      <p:sp>
        <p:nvSpPr>
          <p:cNvPr id="52" name="Text 50"/>
          <p:cNvSpPr txBox="1"/>
          <p:nvPr/>
        </p:nvSpPr>
        <p:spPr>
          <a:xfrm>
            <a:off x="5413248" y="4892040"/>
            <a:ext cx="6217920" cy="457200"/>
          </a:xfrm>
          <a:prstGeom prst="rect">
            <a:avLst/>
          </a:prstGeom>
          <a:noFill/>
          <a:ln/>
        </p:spPr>
        <p:txBody>
          <a:bodyPr wrap="square" lIns="0" tIns="0" rIns="0" bIns="0" rtlCol="0" anchor="ctr"/>
          <a:lstStyle/>
          <a:p>
            <a:pPr indent="0" marL="0">
              <a:buNone/>
            </a:pPr>
            <a:r>
              <a:rPr lang="en-US" sz="1100" dirty="0">
                <a:solidFill>
                  <a:srgbClr val="55555C"/>
                </a:solidFill>
              </a:rPr>
              <a:t>Illustrative sets. Hard rules (days off, the latest finish, the longest trip) take times off before any model sees the list.</a:t>
            </a:r>
            <a:endParaRPr lang="en-US" sz="1100" dirty="0"/>
          </a:p>
        </p:txBody>
      </p:sp>
      <p:sp>
        <p:nvSpPr>
          <p:cNvPr id="53" name="Text 51"/>
          <p:cNvSpPr txBox="1"/>
          <p:nvPr/>
        </p:nvSpPr>
        <p:spPr>
          <a:xfrm>
            <a:off x="548640" y="5486400"/>
            <a:ext cx="3566160" cy="685800"/>
          </a:xfrm>
          <a:prstGeom prst="rect">
            <a:avLst/>
          </a:prstGeom>
          <a:noFill/>
          <a:ln/>
        </p:spPr>
        <p:txBody>
          <a:bodyPr wrap="square" lIns="0" tIns="0" rIns="0" bIns="0" rtlCol="0" anchor="t"/>
          <a:lstStyle/>
          <a:p>
            <a:pPr indent="0" marL="0">
              <a:buNone/>
            </a:pPr>
            <a:r>
              <a:rPr lang="en-US" sz="1300" b="1" dirty="0">
                <a:solidFill>
                  <a:srgbClr val="0A0A0B"/>
                </a:solidFill>
              </a:rPr>
              <a:t>Contract Net + one-shot intersection</a:t>
            </a:r>
            <a:endParaRPr lang="en-US" sz="1300" dirty="0"/>
          </a:p>
          <a:p>
            <a:pPr indent="0" marL="0">
              <a:buNone/>
            </a:pPr>
            <a:r>
              <a:rPr lang="en-US" sz="1150" dirty="0">
                <a:solidFill>
                  <a:srgbClr val="55555C"/>
                </a:solidFill>
              </a:rPr>
              <a:t>a simple distributed constraint satisfaction</a:t>
            </a:r>
            <a:endParaRPr lang="en-US" sz="1300" dirty="0"/>
          </a:p>
        </p:txBody>
      </p:sp>
      <p:sp>
        <p:nvSpPr>
          <p:cNvPr id="54" name="Text 52"/>
          <p:cNvSpPr txBox="1"/>
          <p:nvPr/>
        </p:nvSpPr>
        <p:spPr>
          <a:xfrm>
            <a:off x="4297680" y="5486400"/>
            <a:ext cx="3566160" cy="685800"/>
          </a:xfrm>
          <a:prstGeom prst="rect">
            <a:avLst/>
          </a:prstGeom>
          <a:noFill/>
          <a:ln/>
        </p:spPr>
        <p:txBody>
          <a:bodyPr wrap="square" lIns="0" tIns="0" rIns="0" bIns="0" rtlCol="0" anchor="t"/>
          <a:lstStyle/>
          <a:p>
            <a:pPr indent="0" marL="0">
              <a:buNone/>
            </a:pPr>
            <a:r>
              <a:rPr lang="en-US" sz="1300" b="1" dirty="0">
                <a:solidFill>
                  <a:srgbClr val="0A0A0B"/>
                </a:solidFill>
              </a:rPr>
              <a:t>No model reads another side's words</a:t>
            </a:r>
            <a:endParaRPr lang="en-US" sz="1300" dirty="0"/>
          </a:p>
          <a:p>
            <a:pPr indent="0" marL="0">
              <a:buNone/>
            </a:pPr>
            <a:r>
              <a:rPr lang="en-US" sz="1150" dirty="0">
                <a:solidFill>
                  <a:srgbClr val="55555C"/>
                </a:solidFill>
              </a:rPr>
              <a:t>sentences between agents are templates filled by code</a:t>
            </a:r>
            <a:endParaRPr lang="en-US" sz="1300" dirty="0"/>
          </a:p>
        </p:txBody>
      </p:sp>
      <p:sp>
        <p:nvSpPr>
          <p:cNvPr id="55" name="Text 53"/>
          <p:cNvSpPr txBox="1"/>
          <p:nvPr/>
        </p:nvSpPr>
        <p:spPr>
          <a:xfrm>
            <a:off x="8046720" y="5486400"/>
            <a:ext cx="3566160" cy="685800"/>
          </a:xfrm>
          <a:prstGeom prst="rect">
            <a:avLst/>
          </a:prstGeom>
          <a:noFill/>
          <a:ln/>
        </p:spPr>
        <p:txBody>
          <a:bodyPr wrap="square" lIns="0" tIns="0" rIns="0" bIns="0" rtlCol="0" anchor="t"/>
          <a:lstStyle/>
          <a:p>
            <a:pPr indent="0" marL="0">
              <a:buNone/>
            </a:pPr>
            <a:r>
              <a:rPr lang="en-US" sz="1300" b="1" dirty="0">
                <a:solidFill>
                  <a:srgbClr val="0A0A0B"/>
                </a:solidFill>
              </a:rPr>
              <a:t>To the standard</a:t>
            </a:r>
            <a:endParaRPr lang="en-US" sz="1300" dirty="0"/>
          </a:p>
          <a:p>
            <a:pPr indent="0" marL="0">
              <a:buNone/>
            </a:pPr>
            <a:r>
              <a:rPr lang="en-US" sz="1150" dirty="0">
                <a:solidFill>
                  <a:srgbClr val="55555C"/>
                </a:solidFill>
              </a:rPr>
              <a:t>jku on cards, proposal and hold extensions required, the protocol's error codes</a:t>
            </a:r>
            <a:endParaRPr lang="en-US" sz="13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Holds stop double bookings; fair venues cost 2.3 min a game</a:t>
            </a:r>
            <a:endParaRPr lang="en-US" sz="2800" dirty="0"/>
          </a:p>
        </p:txBody>
      </p:sp>
      <p:pic>
        <p:nvPicPr>
          <p:cNvPr id="3" name="Image 0" descr="preencoded.png">    </p:cNvPr>
          <p:cNvPicPr>
            <a:picLocks noChangeAspect="1"/>
          </p:cNvPicPr>
          <p:nvPr/>
        </p:nvPicPr>
        <p:blipFill>
          <a:blip r:embed="rId1"/>
          <a:stretch>
            <a:fillRect/>
          </a:stretch>
        </p:blipFill>
        <p:spPr>
          <a:xfrm>
            <a:off x="1648444" y="1188720"/>
            <a:ext cx="8894807"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4 | </a:t>
            </a:r>
            <a:pPr indent="0" marL="0">
              <a:buNone/>
            </a:pPr>
            <a:r>
              <a:rPr lang="en-US" sz="1100" dirty="0">
                <a:solidFill>
                  <a:srgbClr val="55555C"/>
                </a:solidFill>
              </a:rPr>
              <a:t>(a) Pairs of simultaneous talks for one member that booked the member twice, without and with 30-minute holds (n = 12 each; 95% Wilson intervals). (b) Fairness score of the booked games under three venue rules (12 simulated games). Recovery: 20 of 20 checks with the gateway killed at 5 points; 22 of 22 across two machines.</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Ranking times by the chance everyone says yes</a:t>
            </a:r>
            <a:endParaRPr lang="en-US" sz="2800" dirty="0"/>
          </a:p>
        </p:txBody>
      </p:sp>
      <p:pic>
        <p:nvPicPr>
          <p:cNvPr id="3" name="Image 0" descr="preencoded.png">    </p:cNvPr>
          <p:cNvPicPr>
            <a:picLocks noChangeAspect="1"/>
          </p:cNvPicPr>
          <p:nvPr/>
        </p:nvPicPr>
        <p:blipFill>
          <a:blip r:embed="rId1"/>
          <a:stretch>
            <a:fillRect/>
          </a:stretch>
        </p:blipFill>
        <p:spPr>
          <a:xfrm>
            <a:off x="1924191" y="1188720"/>
            <a:ext cx="8343313"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5 | </a:t>
            </a:r>
            <a:pPr indent="0" marL="0">
              <a:buNone/>
            </a:pPr>
            <a:r>
              <a:rPr lang="en-US" sz="1100" dirty="0">
                <a:solidFill>
                  <a:srgbClr val="55555C"/>
                </a:solidFill>
              </a:rPr>
              <a:t>(a) Requests whose first proposed time keeps every player's rules, before (the time most players had free) and now (product of each player's chance of a yes, least-misery floor 0.15); 3,000 simulated requests each, 95% intervals. (b) Model choices left per doubles request.</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When talks fail, ask the one question worth most</a:t>
            </a:r>
            <a:endParaRPr lang="en-US" sz="2800" dirty="0"/>
          </a:p>
        </p:txBody>
      </p:sp>
      <p:pic>
        <p:nvPicPr>
          <p:cNvPr id="3" name="Image 0" descr="preencoded.png">    </p:cNvPr>
          <p:cNvPicPr>
            <a:picLocks noChangeAspect="1"/>
          </p:cNvPicPr>
          <p:nvPr/>
        </p:nvPicPr>
        <p:blipFill>
          <a:blip r:embed="rId1"/>
          <a:stretch>
            <a:fillRect/>
          </a:stretch>
        </p:blipFill>
        <p:spPr>
          <a:xfrm>
            <a:off x="1871663" y="1188720"/>
            <a:ext cx="8448370"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6 | </a:t>
            </a:r>
            <a:pPr indent="0" marL="0">
              <a:buNone/>
            </a:pPr>
            <a:r>
              <a:rPr lang="en-US" sz="1100" dirty="0">
                <a:solidFill>
                  <a:srgbClr val="55555C"/>
                </a:solidFill>
              </a:rPr>
              <a:t>Games found after one yes-or-no question and one more talk, by question strategy; 20,000 simulated requests each (8 players, 6 times, hidden availability), 95% intervals. Beliefs are Beta posteriors over what each agent was seen to accept, never a calendar.</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A community that evolves the platform, and rolls itself back</a:t>
            </a:r>
            <a:endParaRPr lang="en-US" sz="2800" dirty="0"/>
          </a:p>
        </p:txBody>
      </p:sp>
      <p:sp>
        <p:nvSpPr>
          <p:cNvPr id="3" name="Shape 1"/>
          <p:cNvSpPr/>
          <p:nvPr/>
        </p:nvSpPr>
        <p:spPr>
          <a:xfrm>
            <a:off x="548640" y="1371600"/>
            <a:ext cx="1261872" cy="1143000"/>
          </a:xfrm>
          <a:prstGeom prst="roundRect">
            <a:avLst>
              <a:gd name="adj" fmla="val 6400"/>
            </a:avLst>
          </a:prstGeom>
          <a:solidFill>
            <a:srgbClr val="F3F6F4"/>
          </a:solidFill>
          <a:ln w="12700">
            <a:solidFill>
              <a:srgbClr val="F3F6F4"/>
            </a:solidFill>
            <a:prstDash val="solid"/>
          </a:ln>
        </p:spPr>
      </p:sp>
      <p:sp>
        <p:nvSpPr>
          <p:cNvPr id="4" name="Text 2"/>
          <p:cNvSpPr txBox="1"/>
          <p:nvPr/>
        </p:nvSpPr>
        <p:spPr>
          <a:xfrm>
            <a:off x="621792" y="1371600"/>
            <a:ext cx="1115568" cy="1143000"/>
          </a:xfrm>
          <a:prstGeom prst="rect">
            <a:avLst/>
          </a:prstGeom>
          <a:noFill/>
          <a:ln/>
        </p:spPr>
        <p:txBody>
          <a:bodyPr wrap="square" lIns="0" tIns="0" rIns="0" bIns="0" rtlCol="0" anchor="ctr"/>
          <a:lstStyle/>
          <a:p>
            <a:pPr algn="ctr" indent="0" marL="0">
              <a:buNone/>
            </a:pPr>
            <a:r>
              <a:rPr lang="en-US" sz="1200" b="1" dirty="0">
                <a:solidFill>
                  <a:srgbClr val="0A0A0B"/>
                </a:solidFill>
              </a:rPr>
              <a:t>Unmet request</a:t>
            </a:r>
            <a:endParaRPr lang="en-US" sz="1200" dirty="0"/>
          </a:p>
        </p:txBody>
      </p:sp>
      <p:sp>
        <p:nvSpPr>
          <p:cNvPr id="5" name="Shape 3"/>
          <p:cNvSpPr/>
          <p:nvPr/>
        </p:nvSpPr>
        <p:spPr>
          <a:xfrm>
            <a:off x="1947672" y="1371600"/>
            <a:ext cx="1261872" cy="1143000"/>
          </a:xfrm>
          <a:prstGeom prst="roundRect">
            <a:avLst>
              <a:gd name="adj" fmla="val 6400"/>
            </a:avLst>
          </a:prstGeom>
          <a:solidFill>
            <a:srgbClr val="F3F6F4"/>
          </a:solidFill>
          <a:ln w="12700">
            <a:solidFill>
              <a:srgbClr val="F3F6F4"/>
            </a:solidFill>
            <a:prstDash val="solid"/>
          </a:ln>
        </p:spPr>
      </p:sp>
      <p:sp>
        <p:nvSpPr>
          <p:cNvPr id="6" name="Text 4"/>
          <p:cNvSpPr txBox="1"/>
          <p:nvPr/>
        </p:nvSpPr>
        <p:spPr>
          <a:xfrm>
            <a:off x="2020824" y="1371600"/>
            <a:ext cx="1115568" cy="1143000"/>
          </a:xfrm>
          <a:prstGeom prst="rect">
            <a:avLst/>
          </a:prstGeom>
          <a:noFill/>
          <a:ln/>
        </p:spPr>
        <p:txBody>
          <a:bodyPr wrap="square" lIns="0" tIns="0" rIns="0" bIns="0" rtlCol="0" anchor="ctr"/>
          <a:lstStyle/>
          <a:p>
            <a:pPr algn="ctr" indent="0" marL="0">
              <a:buNone/>
            </a:pPr>
            <a:r>
              <a:rPr lang="en-US" sz="1200" b="1" dirty="0">
                <a:solidFill>
                  <a:srgbClr val="0A0A0B"/>
                </a:solidFill>
              </a:rPr>
              <a:t>One sentence, shared only with a yes</a:t>
            </a:r>
            <a:endParaRPr lang="en-US" sz="1200" dirty="0"/>
          </a:p>
        </p:txBody>
      </p:sp>
      <p:sp>
        <p:nvSpPr>
          <p:cNvPr id="7" name="Shape 5"/>
          <p:cNvSpPr/>
          <p:nvPr/>
        </p:nvSpPr>
        <p:spPr>
          <a:xfrm>
            <a:off x="3346704" y="1371600"/>
            <a:ext cx="1261872" cy="1143000"/>
          </a:xfrm>
          <a:prstGeom prst="roundRect">
            <a:avLst>
              <a:gd name="adj" fmla="val 6400"/>
            </a:avLst>
          </a:prstGeom>
          <a:solidFill>
            <a:srgbClr val="F3F6F4"/>
          </a:solidFill>
          <a:ln w="12700">
            <a:solidFill>
              <a:srgbClr val="F3F6F4"/>
            </a:solidFill>
            <a:prstDash val="solid"/>
          </a:ln>
        </p:spPr>
      </p:sp>
      <p:sp>
        <p:nvSpPr>
          <p:cNvPr id="8" name="Text 6"/>
          <p:cNvSpPr txBox="1"/>
          <p:nvPr/>
        </p:nvSpPr>
        <p:spPr>
          <a:xfrm>
            <a:off x="3419856" y="1371600"/>
            <a:ext cx="1115568" cy="1143000"/>
          </a:xfrm>
          <a:prstGeom prst="rect">
            <a:avLst/>
          </a:prstGeom>
          <a:noFill/>
          <a:ln/>
        </p:spPr>
        <p:txBody>
          <a:bodyPr wrap="square" lIns="0" tIns="0" rIns="0" bIns="0" rtlCol="0" anchor="ctr"/>
          <a:lstStyle/>
          <a:p>
            <a:pPr algn="ctr" indent="0" marL="0">
              <a:buNone/>
            </a:pPr>
            <a:r>
              <a:rPr lang="en-US" sz="1200" b="1" dirty="0">
                <a:solidFill>
                  <a:srgbClr val="0A0A0B"/>
                </a:solidFill>
              </a:rPr>
              <a:t>Screened</a:t>
            </a:r>
            <a:endParaRPr lang="en-US" sz="1200" dirty="0"/>
          </a:p>
        </p:txBody>
      </p:sp>
      <p:sp>
        <p:nvSpPr>
          <p:cNvPr id="9" name="Shape 7"/>
          <p:cNvSpPr/>
          <p:nvPr/>
        </p:nvSpPr>
        <p:spPr>
          <a:xfrm>
            <a:off x="4745736" y="1371600"/>
            <a:ext cx="1261872" cy="1143000"/>
          </a:xfrm>
          <a:prstGeom prst="roundRect">
            <a:avLst>
              <a:gd name="adj" fmla="val 6400"/>
            </a:avLst>
          </a:prstGeom>
          <a:solidFill>
            <a:srgbClr val="F3F6F4"/>
          </a:solidFill>
          <a:ln w="12700">
            <a:solidFill>
              <a:srgbClr val="F3F6F4"/>
            </a:solidFill>
            <a:prstDash val="solid"/>
          </a:ln>
        </p:spPr>
      </p:sp>
      <p:sp>
        <p:nvSpPr>
          <p:cNvPr id="10" name="Text 8"/>
          <p:cNvSpPr txBox="1"/>
          <p:nvPr/>
        </p:nvSpPr>
        <p:spPr>
          <a:xfrm>
            <a:off x="4818888" y="1371600"/>
            <a:ext cx="1115568" cy="1143000"/>
          </a:xfrm>
          <a:prstGeom prst="rect">
            <a:avLst/>
          </a:prstGeom>
          <a:noFill/>
          <a:ln/>
        </p:spPr>
        <p:txBody>
          <a:bodyPr wrap="square" lIns="0" tIns="0" rIns="0" bIns="0" rtlCol="0" anchor="ctr"/>
          <a:lstStyle/>
          <a:p>
            <a:pPr algn="ctr" indent="0" marL="0">
              <a:buNone/>
            </a:pPr>
            <a:r>
              <a:rPr lang="en-US" sz="1200" b="1" dirty="0">
                <a:solidFill>
                  <a:srgbClr val="0A0A0B"/>
                </a:solidFill>
              </a:rPr>
              <a:t>Idea and quadratic vote</a:t>
            </a:r>
            <a:endParaRPr lang="en-US" sz="1200" dirty="0"/>
          </a:p>
        </p:txBody>
      </p:sp>
      <p:sp>
        <p:nvSpPr>
          <p:cNvPr id="11" name="Shape 9"/>
          <p:cNvSpPr/>
          <p:nvPr/>
        </p:nvSpPr>
        <p:spPr>
          <a:xfrm>
            <a:off x="6144768" y="1371600"/>
            <a:ext cx="1261872" cy="1143000"/>
          </a:xfrm>
          <a:prstGeom prst="roundRect">
            <a:avLst>
              <a:gd name="adj" fmla="val 6400"/>
            </a:avLst>
          </a:prstGeom>
          <a:solidFill>
            <a:srgbClr val="F3F6F4"/>
          </a:solidFill>
          <a:ln w="12700">
            <a:solidFill>
              <a:srgbClr val="F3F6F4"/>
            </a:solidFill>
            <a:prstDash val="solid"/>
          </a:ln>
        </p:spPr>
      </p:sp>
      <p:sp>
        <p:nvSpPr>
          <p:cNvPr id="12" name="Text 10"/>
          <p:cNvSpPr txBox="1"/>
          <p:nvPr/>
        </p:nvSpPr>
        <p:spPr>
          <a:xfrm>
            <a:off x="6217920" y="1371600"/>
            <a:ext cx="1115568" cy="1143000"/>
          </a:xfrm>
          <a:prstGeom prst="rect">
            <a:avLst/>
          </a:prstGeom>
          <a:noFill/>
          <a:ln/>
        </p:spPr>
        <p:txBody>
          <a:bodyPr wrap="square" lIns="0" tIns="0" rIns="0" bIns="0" rtlCol="0" anchor="ctr"/>
          <a:lstStyle/>
          <a:p>
            <a:pPr algn="ctr" indent="0" marL="0">
              <a:buNone/>
            </a:pPr>
            <a:r>
              <a:rPr lang="en-US" sz="1200" b="1" dirty="0">
                <a:solidFill>
                  <a:srgbClr val="0A0A0B"/>
                </a:solidFill>
              </a:rPr>
              <a:t>Spec and class</a:t>
            </a:r>
            <a:endParaRPr lang="en-US" sz="1200" dirty="0"/>
          </a:p>
        </p:txBody>
      </p:sp>
      <p:sp>
        <p:nvSpPr>
          <p:cNvPr id="13" name="Shape 11"/>
          <p:cNvSpPr/>
          <p:nvPr/>
        </p:nvSpPr>
        <p:spPr>
          <a:xfrm>
            <a:off x="7543800" y="1371600"/>
            <a:ext cx="1261872" cy="1143000"/>
          </a:xfrm>
          <a:prstGeom prst="roundRect">
            <a:avLst>
              <a:gd name="adj" fmla="val 6400"/>
            </a:avLst>
          </a:prstGeom>
          <a:solidFill>
            <a:srgbClr val="F3F6F4"/>
          </a:solidFill>
          <a:ln w="12700">
            <a:solidFill>
              <a:srgbClr val="F3F6F4"/>
            </a:solidFill>
            <a:prstDash val="solid"/>
          </a:ln>
        </p:spPr>
      </p:sp>
      <p:sp>
        <p:nvSpPr>
          <p:cNvPr id="14" name="Text 12"/>
          <p:cNvSpPr txBox="1"/>
          <p:nvPr/>
        </p:nvSpPr>
        <p:spPr>
          <a:xfrm>
            <a:off x="7616952" y="1371600"/>
            <a:ext cx="1115568" cy="1143000"/>
          </a:xfrm>
          <a:prstGeom prst="rect">
            <a:avLst/>
          </a:prstGeom>
          <a:noFill/>
          <a:ln/>
        </p:spPr>
        <p:txBody>
          <a:bodyPr wrap="square" lIns="0" tIns="0" rIns="0" bIns="0" rtlCol="0" anchor="ctr"/>
          <a:lstStyle/>
          <a:p>
            <a:pPr algn="ctr" indent="0" marL="0">
              <a:buNone/>
            </a:pPr>
            <a:r>
              <a:rPr lang="en-US" sz="1200" b="1" dirty="0">
                <a:solidFill>
                  <a:srgbClr val="0A0A0B"/>
                </a:solidFill>
              </a:rPr>
              <a:t>Nine gates</a:t>
            </a:r>
            <a:endParaRPr lang="en-US" sz="1200" dirty="0"/>
          </a:p>
        </p:txBody>
      </p:sp>
      <p:sp>
        <p:nvSpPr>
          <p:cNvPr id="15" name="Shape 13"/>
          <p:cNvSpPr/>
          <p:nvPr/>
        </p:nvSpPr>
        <p:spPr>
          <a:xfrm>
            <a:off x="8942832" y="1371600"/>
            <a:ext cx="1261872" cy="1143000"/>
          </a:xfrm>
          <a:prstGeom prst="roundRect">
            <a:avLst>
              <a:gd name="adj" fmla="val 6400"/>
            </a:avLst>
          </a:prstGeom>
          <a:solidFill>
            <a:srgbClr val="F3F6F4"/>
          </a:solidFill>
          <a:ln w="12700">
            <a:solidFill>
              <a:srgbClr val="F3F6F4"/>
            </a:solidFill>
            <a:prstDash val="solid"/>
          </a:ln>
        </p:spPr>
      </p:sp>
      <p:sp>
        <p:nvSpPr>
          <p:cNvPr id="16" name="Text 14"/>
          <p:cNvSpPr txBox="1"/>
          <p:nvPr/>
        </p:nvSpPr>
        <p:spPr>
          <a:xfrm>
            <a:off x="9015984" y="1371600"/>
            <a:ext cx="1115568" cy="1143000"/>
          </a:xfrm>
          <a:prstGeom prst="rect">
            <a:avLst/>
          </a:prstGeom>
          <a:noFill/>
          <a:ln/>
        </p:spPr>
        <p:txBody>
          <a:bodyPr wrap="square" lIns="0" tIns="0" rIns="0" bIns="0" rtlCol="0" anchor="ctr"/>
          <a:lstStyle/>
          <a:p>
            <a:pPr algn="ctr" indent="0" marL="0">
              <a:buNone/>
            </a:pPr>
            <a:r>
              <a:rPr lang="en-US" sz="1200" b="1" dirty="0">
                <a:solidFill>
                  <a:srgbClr val="0A0A0B"/>
                </a:solidFill>
              </a:rPr>
              <a:t>Canary of members</a:t>
            </a:r>
            <a:endParaRPr lang="en-US" sz="1200" dirty="0"/>
          </a:p>
        </p:txBody>
      </p:sp>
      <p:sp>
        <p:nvSpPr>
          <p:cNvPr id="17" name="Shape 15"/>
          <p:cNvSpPr/>
          <p:nvPr/>
        </p:nvSpPr>
        <p:spPr>
          <a:xfrm>
            <a:off x="10341864" y="1371600"/>
            <a:ext cx="1261872" cy="1143000"/>
          </a:xfrm>
          <a:prstGeom prst="roundRect">
            <a:avLst>
              <a:gd name="adj" fmla="val 6400"/>
            </a:avLst>
          </a:prstGeom>
          <a:solidFill>
            <a:srgbClr val="0A7F44"/>
          </a:solidFill>
          <a:ln w="12700">
            <a:solidFill>
              <a:srgbClr val="0A7F44"/>
            </a:solidFill>
            <a:prstDash val="solid"/>
          </a:ln>
        </p:spPr>
      </p:sp>
      <p:sp>
        <p:nvSpPr>
          <p:cNvPr id="18" name="Text 16"/>
          <p:cNvSpPr txBox="1"/>
          <p:nvPr/>
        </p:nvSpPr>
        <p:spPr>
          <a:xfrm>
            <a:off x="10415016" y="1371600"/>
            <a:ext cx="1115568" cy="1143000"/>
          </a:xfrm>
          <a:prstGeom prst="rect">
            <a:avLst/>
          </a:prstGeom>
          <a:noFill/>
          <a:ln/>
        </p:spPr>
        <p:txBody>
          <a:bodyPr wrap="square" lIns="0" tIns="0" rIns="0" bIns="0" rtlCol="0" anchor="ctr"/>
          <a:lstStyle/>
          <a:p>
            <a:pPr algn="ctr" indent="0" marL="0">
              <a:buNone/>
            </a:pPr>
            <a:r>
              <a:rPr lang="en-US" sz="1200" b="1" dirty="0">
                <a:solidFill>
                  <a:srgbClr val="FFFFFF"/>
                </a:solidFill>
              </a:rPr>
              <a:t>Kept, or rolled back</a:t>
            </a:r>
            <a:endParaRPr lang="en-US" sz="1200" dirty="0"/>
          </a:p>
        </p:txBody>
      </p:sp>
      <p:sp>
        <p:nvSpPr>
          <p:cNvPr id="19" name="Text 17"/>
          <p:cNvSpPr txBox="1"/>
          <p:nvPr/>
        </p:nvSpPr>
        <p:spPr>
          <a:xfrm>
            <a:off x="548640" y="2834640"/>
            <a:ext cx="6035040" cy="3291840"/>
          </a:xfrm>
          <a:prstGeom prst="rect">
            <a:avLst/>
          </a:prstGeom>
          <a:noFill/>
          <a:ln/>
        </p:spPr>
        <p:txBody>
          <a:bodyPr wrap="square" lIns="0" tIns="0" rIns="0" bIns="0" rtlCol="0" anchor="t"/>
          <a:lstStyle/>
          <a:p>
            <a:pPr marL="342900" indent="-342900">
              <a:spcAft>
                <a:spcPts val="1000"/>
              </a:spcAft>
              <a:buSzPct val="100000"/>
              <a:buChar char="•"/>
            </a:pPr>
            <a:r>
              <a:rPr lang="en-US" sz="1400" b="1" dirty="0">
                <a:solidFill>
                  <a:srgbClr val="0A0A0B"/>
                </a:solidFill>
              </a:rPr>
              <a:t>Code makes every decision; </a:t>
            </a:r>
            <a:pPr indent="0" marL="0">
              <a:spcAft>
                <a:spcPts val="1000"/>
              </a:spcAft>
              <a:buNone/>
            </a:pPr>
            <a:r>
              <a:rPr lang="en-US" sz="1400" dirty="0">
                <a:solidFill>
                  <a:srgbClr val="0A0A0B"/>
                </a:solidFill>
              </a:rPr>
              <a:t>models only write short sentences that code checks. The class comes from what a change does, never from the draft.</a:t>
            </a:r>
            <a:endParaRPr lang="en-US" sz="1400" dirty="0"/>
          </a:p>
          <a:p>
            <a:pPr marL="342900" indent="-342900">
              <a:spcAft>
                <a:spcPts val="1000"/>
              </a:spcAft>
              <a:buSzPct val="100000"/>
              <a:buChar char="•"/>
            </a:pPr>
            <a:r>
              <a:rPr lang="en-US" sz="1400" b="1" dirty="0">
                <a:solidFill>
                  <a:srgbClr val="0A0A0B"/>
                </a:solidFill>
              </a:rPr>
              <a:t>Nine gates: </a:t>
            </a:r>
            <a:pPr indent="0" marL="0">
              <a:spcAft>
                <a:spcPts val="1000"/>
              </a:spcAft>
              <a:buNone/>
            </a:pPr>
            <a:r>
              <a:rPr lang="en-US" sz="1400" dirty="0">
                <a:solidFill>
                  <a:srgbClr val="0A0A0B"/>
                </a:solidFill>
              </a:rPr>
              <a:t>policy, a code scan, unit tests, the crash matrix, the red team, Messenger end to end, the planner test, the spec's oracle and a privacy canary.</a:t>
            </a:r>
            <a:endParaRPr lang="en-US" sz="1400" dirty="0"/>
          </a:p>
          <a:p>
            <a:pPr marL="342900" indent="-342900">
              <a:spcAft>
                <a:spcPts val="1000"/>
              </a:spcAft>
              <a:buSzPct val="100000"/>
              <a:buChar char="•"/>
            </a:pPr>
            <a:r>
              <a:rPr lang="en-US" sz="1400" b="1" dirty="0">
                <a:solidFill>
                  <a:srgbClr val="0A0A0B"/>
                </a:solidFill>
              </a:rPr>
              <a:t>Anything bigger goes to a person: </a:t>
            </a:r>
            <a:pPr indent="0" marL="0">
              <a:spcAft>
                <a:spcPts val="1000"/>
              </a:spcAft>
              <a:buNone/>
            </a:pPr>
            <a:r>
              <a:rPr lang="en-US" sz="1400" dirty="0">
                <a:solidFill>
                  <a:srgbClr val="0A0A0B"/>
                </a:solidFill>
              </a:rPr>
              <a:t>the builder agent writes it on a branch with read-only tests and no network.</a:t>
            </a:r>
            <a:endParaRPr lang="en-US" sz="1400" dirty="0"/>
          </a:p>
        </p:txBody>
      </p:sp>
      <p:pic>
        <p:nvPicPr>
          <p:cNvPr id="20" name="Image 0" descr="preencoded.png">    </p:cNvPr>
          <p:cNvPicPr>
            <a:picLocks noChangeAspect="1"/>
          </p:cNvPicPr>
          <p:nvPr/>
        </p:nvPicPr>
        <p:blipFill>
          <a:blip r:embed="rId1"/>
          <a:stretch>
            <a:fillRect/>
          </a:stretch>
        </p:blipFill>
        <p:spPr>
          <a:xfrm>
            <a:off x="6858000" y="2743200"/>
            <a:ext cx="4785055" cy="2440515"/>
          </a:xfrm>
          <a:prstGeom prst="rect">
            <a:avLst/>
          </a:prstGeom>
        </p:spPr>
      </p:pic>
      <p:sp>
        <p:nvSpPr>
          <p:cNvPr id="21" name="Text 18"/>
          <p:cNvSpPr txBox="1"/>
          <p:nvPr/>
        </p:nvSpPr>
        <p:spPr>
          <a:xfrm>
            <a:off x="6858000" y="5293443"/>
            <a:ext cx="4785055" cy="685800"/>
          </a:xfrm>
          <a:prstGeom prst="rect">
            <a:avLst/>
          </a:prstGeom>
          <a:noFill/>
          <a:ln/>
        </p:spPr>
        <p:txBody>
          <a:bodyPr wrap="square" lIns="0" tIns="0" rIns="0" bIns="0" rtlCol="0" anchor="t"/>
          <a:lstStyle/>
          <a:p>
            <a:pPr indent="0" marL="0">
              <a:buNone/>
            </a:pPr>
            <a:r>
              <a:rPr lang="en-US" sz="1100" b="1" dirty="0">
                <a:solidFill>
                  <a:srgbClr val="0A0A0B"/>
                </a:solidFill>
              </a:rPr>
              <a:t>Fig. 7 | </a:t>
            </a:r>
            <a:pPr indent="0" marL="0">
              <a:buNone/>
            </a:pPr>
            <a:r>
              <a:rPr lang="en-US" sz="1100" dirty="0">
                <a:solidFill>
                  <a:srgbClr val="55555C"/>
                </a:solidFill>
              </a:rPr>
              <a:t>Harmless changes rolled back in 20,000 simulated 7-day canaries of 5 members, looked at every 5 minutes (95% Wilson intervals). The price is caution: a bad change (thumbs down 25% to 60%) was caught in 61%.</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3D replays and automatic highlights from one phone video</a:t>
            </a:r>
            <a:endParaRPr lang="en-US" sz="2800" dirty="0"/>
          </a:p>
        </p:txBody>
      </p:sp>
      <p:pic>
        <p:nvPicPr>
          <p:cNvPr id="3" name="Image 0" descr="preencoded.png">    </p:cNvPr>
          <p:cNvPicPr>
            <a:picLocks noChangeAspect="1"/>
          </p:cNvPicPr>
          <p:nvPr/>
        </p:nvPicPr>
        <p:blipFill>
          <a:blip r:embed="rId1"/>
          <a:stretch>
            <a:fillRect/>
          </a:stretch>
        </p:blipFill>
        <p:spPr>
          <a:xfrm>
            <a:off x="548640" y="1280160"/>
            <a:ext cx="11094415" cy="2046101"/>
          </a:xfrm>
          <a:prstGeom prst="rect">
            <a:avLst/>
          </a:prstGeom>
        </p:spPr>
      </p:pic>
      <p:sp>
        <p:nvSpPr>
          <p:cNvPr id="4" name="Text 1"/>
          <p:cNvSpPr txBox="1"/>
          <p:nvPr/>
        </p:nvSpPr>
        <p:spPr>
          <a:xfrm>
            <a:off x="548640" y="3429000"/>
            <a:ext cx="11094415" cy="320040"/>
          </a:xfrm>
          <a:prstGeom prst="rect">
            <a:avLst/>
          </a:prstGeom>
          <a:noFill/>
          <a:ln/>
        </p:spPr>
        <p:txBody>
          <a:bodyPr wrap="square" lIns="0" tIns="0" rIns="0" bIns="0" rtlCol="0" anchor="t"/>
          <a:lstStyle/>
          <a:p>
            <a:pPr indent="0" marL="0">
              <a:spcAft>
                <a:spcPts val="600"/>
              </a:spcAft>
              <a:buNone/>
            </a:pPr>
            <a:r>
              <a:rPr lang="en-US" sz="1100" dirty="0">
                <a:solidFill>
                  <a:srgbClr val="55555C"/>
                </a:solidFill>
              </a:rPr>
              <a:t>An automatic highlight as the pipeline cut it (clip: Badminton klub Ljubljana, CC BY 3.0)</a:t>
            </a:r>
            <a:endParaRPr lang="en-US" sz="1100" dirty="0"/>
          </a:p>
        </p:txBody>
      </p:sp>
      <p:sp>
        <p:nvSpPr>
          <p:cNvPr id="5" name="Shape 2"/>
          <p:cNvSpPr/>
          <p:nvPr/>
        </p:nvSpPr>
        <p:spPr>
          <a:xfrm>
            <a:off x="548640" y="3931920"/>
            <a:ext cx="2743200" cy="1508760"/>
          </a:xfrm>
          <a:prstGeom prst="roundRect">
            <a:avLst>
              <a:gd name="adj" fmla="val 4848"/>
            </a:avLst>
          </a:prstGeom>
          <a:solidFill>
            <a:srgbClr val="F3F6F4"/>
          </a:solidFill>
          <a:ln w="12700">
            <a:solidFill>
              <a:srgbClr val="F3F6F4"/>
            </a:solidFill>
            <a:prstDash val="solid"/>
          </a:ln>
        </p:spPr>
      </p:sp>
      <p:sp>
        <p:nvSpPr>
          <p:cNvPr id="6" name="Text 3"/>
          <p:cNvSpPr txBox="1"/>
          <p:nvPr/>
        </p:nvSpPr>
        <p:spPr>
          <a:xfrm>
            <a:off x="777240" y="4096512"/>
            <a:ext cx="2286000"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1.00 / 0.79</a:t>
            </a:r>
            <a:endParaRPr lang="en-US" sz="3600" dirty="0"/>
          </a:p>
        </p:txBody>
      </p:sp>
      <p:sp>
        <p:nvSpPr>
          <p:cNvPr id="7" name="Text 4"/>
          <p:cNvSpPr txBox="1"/>
          <p:nvPr/>
        </p:nvSpPr>
        <p:spPr>
          <a:xfrm>
            <a:off x="777240" y="4773168"/>
            <a:ext cx="2286000" cy="594360"/>
          </a:xfrm>
          <a:prstGeom prst="rect">
            <a:avLst/>
          </a:prstGeom>
          <a:noFill/>
          <a:ln/>
        </p:spPr>
        <p:txBody>
          <a:bodyPr wrap="square" lIns="0" tIns="0" rIns="0" bIns="0" rtlCol="0" anchor="t"/>
          <a:lstStyle/>
          <a:p>
            <a:pPr indent="0" marL="0">
              <a:buNone/>
            </a:pPr>
            <a:r>
              <a:rPr lang="en-US" sz="1300" dirty="0">
                <a:solidFill>
                  <a:srgbClr val="55555C"/>
                </a:solidFill>
              </a:rPr>
              <a:t>precision / recall of the learned arc threshold (first rule: 0.45 / 0.64)</a:t>
            </a:r>
            <a:endParaRPr lang="en-US" sz="1300" dirty="0"/>
          </a:p>
        </p:txBody>
      </p:sp>
      <p:sp>
        <p:nvSpPr>
          <p:cNvPr id="8" name="Shape 5"/>
          <p:cNvSpPr/>
          <p:nvPr/>
        </p:nvSpPr>
        <p:spPr>
          <a:xfrm>
            <a:off x="3474720" y="3931920"/>
            <a:ext cx="2468880" cy="1508760"/>
          </a:xfrm>
          <a:prstGeom prst="roundRect">
            <a:avLst>
              <a:gd name="adj" fmla="val 4848"/>
            </a:avLst>
          </a:prstGeom>
          <a:solidFill>
            <a:srgbClr val="F3F6F4"/>
          </a:solidFill>
          <a:ln w="12700">
            <a:solidFill>
              <a:srgbClr val="F3F6F4"/>
            </a:solidFill>
            <a:prstDash val="solid"/>
          </a:ln>
        </p:spPr>
      </p:sp>
      <p:sp>
        <p:nvSpPr>
          <p:cNvPr id="9" name="Text 6"/>
          <p:cNvSpPr txBox="1"/>
          <p:nvPr/>
        </p:nvSpPr>
        <p:spPr>
          <a:xfrm>
            <a:off x="3703320" y="4096512"/>
            <a:ext cx="2011680"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87%</a:t>
            </a:r>
            <a:endParaRPr lang="en-US" sz="3600" dirty="0"/>
          </a:p>
        </p:txBody>
      </p:sp>
      <p:sp>
        <p:nvSpPr>
          <p:cNvPr id="10" name="Text 7"/>
          <p:cNvSpPr txBox="1"/>
          <p:nvPr/>
        </p:nvSpPr>
        <p:spPr>
          <a:xfrm>
            <a:off x="3703320" y="4773168"/>
            <a:ext cx="2011680" cy="594360"/>
          </a:xfrm>
          <a:prstGeom prst="rect">
            <a:avLst/>
          </a:prstGeom>
          <a:noFill/>
          <a:ln/>
        </p:spPr>
        <p:txBody>
          <a:bodyPr wrap="square" lIns="0" tIns="0" rIns="0" bIns="0" rtlCol="0" anchor="t"/>
          <a:lstStyle/>
          <a:p>
            <a:pPr indent="0" marL="0">
              <a:buNone/>
            </a:pPr>
            <a:r>
              <a:rPr lang="en-US" sz="1300" dirty="0">
                <a:solidFill>
                  <a:srgbClr val="55555C"/>
                </a:solidFill>
              </a:rPr>
              <a:t>Muse Wonder agreed with the labels, and says why</a:t>
            </a:r>
            <a:endParaRPr lang="en-US" sz="1300" dirty="0"/>
          </a:p>
        </p:txBody>
      </p:sp>
      <p:sp>
        <p:nvSpPr>
          <p:cNvPr id="11" name="Shape 8"/>
          <p:cNvSpPr/>
          <p:nvPr/>
        </p:nvSpPr>
        <p:spPr>
          <a:xfrm>
            <a:off x="6126480" y="3931920"/>
            <a:ext cx="2468880" cy="1508760"/>
          </a:xfrm>
          <a:prstGeom prst="roundRect">
            <a:avLst>
              <a:gd name="adj" fmla="val 4848"/>
            </a:avLst>
          </a:prstGeom>
          <a:solidFill>
            <a:srgbClr val="F3F6F4"/>
          </a:solidFill>
          <a:ln w="12700">
            <a:solidFill>
              <a:srgbClr val="F3F6F4"/>
            </a:solidFill>
            <a:prstDash val="solid"/>
          </a:ln>
        </p:spPr>
      </p:sp>
      <p:sp>
        <p:nvSpPr>
          <p:cNvPr id="12" name="Text 9"/>
          <p:cNvSpPr txBox="1"/>
          <p:nvPr/>
        </p:nvSpPr>
        <p:spPr>
          <a:xfrm>
            <a:off x="6355080" y="4096512"/>
            <a:ext cx="2011680"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19.9 s</a:t>
            </a:r>
            <a:endParaRPr lang="en-US" sz="3600" dirty="0"/>
          </a:p>
        </p:txBody>
      </p:sp>
      <p:sp>
        <p:nvSpPr>
          <p:cNvPr id="13" name="Text 10"/>
          <p:cNvSpPr txBox="1"/>
          <p:nvPr/>
        </p:nvSpPr>
        <p:spPr>
          <a:xfrm>
            <a:off x="6355080" y="4773168"/>
            <a:ext cx="2011680" cy="594360"/>
          </a:xfrm>
          <a:prstGeom prst="rect">
            <a:avLst/>
          </a:prstGeom>
          <a:noFill/>
          <a:ln/>
        </p:spPr>
        <p:txBody>
          <a:bodyPr wrap="square" lIns="0" tIns="0" rIns="0" bIns="0" rtlCol="0" anchor="t"/>
          <a:lstStyle/>
          <a:p>
            <a:pPr indent="0" marL="0">
              <a:buNone/>
            </a:pPr>
            <a:r>
              <a:rPr lang="en-US" sz="1300" dirty="0">
                <a:solidFill>
                  <a:srgbClr val="55555C"/>
                </a:solidFill>
              </a:rPr>
              <a:t>a moment on the RTX 3090, models loaded</a:t>
            </a:r>
            <a:endParaRPr lang="en-US" sz="1300" dirty="0"/>
          </a:p>
        </p:txBody>
      </p:sp>
      <p:sp>
        <p:nvSpPr>
          <p:cNvPr id="14" name="Text 11"/>
          <p:cNvSpPr txBox="1"/>
          <p:nvPr/>
        </p:nvSpPr>
        <p:spPr>
          <a:xfrm>
            <a:off x="8869680" y="3977640"/>
            <a:ext cx="2773375" cy="2011680"/>
          </a:xfrm>
          <a:prstGeom prst="rect">
            <a:avLst/>
          </a:prstGeom>
          <a:noFill/>
          <a:ln/>
        </p:spPr>
        <p:txBody>
          <a:bodyPr wrap="square" lIns="0" tIns="0" rIns="0" bIns="0" rtlCol="0" anchor="t"/>
          <a:lstStyle/>
          <a:p>
            <a:pPr marL="342900" indent="-342900">
              <a:spcAft>
                <a:spcPts val="800"/>
              </a:spcAft>
              <a:buSzPct val="100000"/>
              <a:buChar char="•"/>
            </a:pPr>
            <a:r>
              <a:rPr lang="en-US" sz="1300" b="1" dirty="0">
                <a:solidFill>
                  <a:srgbClr val="0A0A0B"/>
                </a:solidFill>
              </a:rPr>
              <a:t>MapAnything </a:t>
            </a:r>
            <a:pPr indent="0" marL="0">
              <a:spcAft>
                <a:spcPts val="800"/>
              </a:spcAft>
              <a:buNone/>
            </a:pPr>
            <a:r>
              <a:rPr lang="en-US" sz="1300" dirty="0">
                <a:solidFill>
                  <a:srgbClr val="0A0A0B"/>
                </a:solidFill>
              </a:rPr>
              <a:t>reads depth and the camera; SAM 2.1 cuts the player out.</a:t>
            </a:r>
            <a:endParaRPr lang="en-US" sz="1300" dirty="0"/>
          </a:p>
          <a:p>
            <a:pPr marL="342900" indent="-342900">
              <a:spcAft>
                <a:spcPts val="800"/>
              </a:spcAft>
              <a:buSzPct val="100000"/>
              <a:buChar char="•"/>
            </a:pPr>
            <a:r>
              <a:rPr lang="en-US" sz="1300" b="1" dirty="0">
                <a:solidFill>
                  <a:srgbClr val="0A0A0B"/>
                </a:solidFill>
              </a:rPr>
              <a:t>RT-DETR </a:t>
            </a:r>
            <a:pPr indent="0" marL="0">
              <a:spcAft>
                <a:spcPts val="800"/>
              </a:spcAft>
              <a:buNone/>
            </a:pPr>
            <a:r>
              <a:rPr lang="en-US" sz="1300" dirty="0">
                <a:solidFill>
                  <a:srgbClr val="0A0A0B"/>
                </a:solidFill>
              </a:rPr>
              <a:t>follows the right player on all three test clips, about 2× faster than DETR.</a:t>
            </a:r>
            <a:endParaRPr lang="en-US" sz="13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A tiered decision engine: each layer takes what is left</a:t>
            </a:r>
            <a:endParaRPr lang="en-US" sz="2800" dirty="0"/>
          </a:p>
        </p:txBody>
      </p:sp>
      <p:sp>
        <p:nvSpPr>
          <p:cNvPr id="3" name="Shape 1"/>
          <p:cNvSpPr/>
          <p:nvPr/>
        </p:nvSpPr>
        <p:spPr>
          <a:xfrm>
            <a:off x="548640" y="1325880"/>
            <a:ext cx="3108960" cy="960120"/>
          </a:xfrm>
          <a:prstGeom prst="roundRect">
            <a:avLst>
              <a:gd name="adj" fmla="val 7619"/>
            </a:avLst>
          </a:prstGeom>
          <a:solidFill>
            <a:srgbClr val="E9F3EC"/>
          </a:solidFill>
          <a:ln w="12700">
            <a:solidFill>
              <a:srgbClr val="E9F3EC"/>
            </a:solidFill>
            <a:prstDash val="solid"/>
          </a:ln>
        </p:spPr>
      </p:sp>
      <p:sp>
        <p:nvSpPr>
          <p:cNvPr id="4" name="Text 2"/>
          <p:cNvSpPr txBox="1"/>
          <p:nvPr/>
        </p:nvSpPr>
        <p:spPr>
          <a:xfrm>
            <a:off x="731520" y="1325880"/>
            <a:ext cx="2743200" cy="960120"/>
          </a:xfrm>
          <a:prstGeom prst="rect">
            <a:avLst/>
          </a:prstGeom>
          <a:noFill/>
          <a:ln/>
        </p:spPr>
        <p:txBody>
          <a:bodyPr wrap="square" lIns="0" tIns="0" rIns="0" bIns="0" rtlCol="0" anchor="ctr"/>
          <a:lstStyle/>
          <a:p>
            <a:pPr indent="0" marL="0">
              <a:buNone/>
            </a:pPr>
            <a:r>
              <a:rPr lang="en-US" sz="1500" b="1" dirty="0">
                <a:solidFill>
                  <a:srgbClr val="0A0A0B"/>
                </a:solidFill>
              </a:rPr>
              <a:t>Code</a:t>
            </a:r>
            <a:endParaRPr lang="en-US" sz="1500" dirty="0"/>
          </a:p>
          <a:p>
            <a:pPr indent="0" marL="0">
              <a:buNone/>
            </a:pPr>
            <a:r>
              <a:rPr lang="en-US" sz="1200" dirty="0">
                <a:solidFill>
                  <a:srgbClr val="55555C"/>
                </a:solidFill>
              </a:rPr>
              <a:t>milliseconds</a:t>
            </a:r>
            <a:endParaRPr lang="en-US" sz="1500" dirty="0"/>
          </a:p>
        </p:txBody>
      </p:sp>
      <p:sp>
        <p:nvSpPr>
          <p:cNvPr id="5" name="Text 3"/>
          <p:cNvSpPr txBox="1"/>
          <p:nvPr/>
        </p:nvSpPr>
        <p:spPr>
          <a:xfrm>
            <a:off x="3840480" y="1325880"/>
            <a:ext cx="7802575" cy="960120"/>
          </a:xfrm>
          <a:prstGeom prst="rect">
            <a:avLst/>
          </a:prstGeom>
          <a:noFill/>
          <a:ln/>
        </p:spPr>
        <p:txBody>
          <a:bodyPr wrap="square" lIns="0" tIns="0" rIns="0" bIns="0" rtlCol="0" anchor="ctr"/>
          <a:lstStyle/>
          <a:p>
            <a:pPr indent="0" marL="0">
              <a:buNone/>
            </a:pPr>
            <a:r>
              <a:rPr lang="en-US" sz="1400" dirty="0">
                <a:solidFill>
                  <a:srgbClr val="0A0A0B"/>
                </a:solidFill>
              </a:rPr>
              <a:t>Free times, clashes, trips, every hard rule; the game's card in 7 ms (median)</a:t>
            </a:r>
            <a:endParaRPr lang="en-US" sz="1400" dirty="0"/>
          </a:p>
        </p:txBody>
      </p:sp>
      <p:sp>
        <p:nvSpPr>
          <p:cNvPr id="6" name="Shape 4"/>
          <p:cNvSpPr/>
          <p:nvPr/>
        </p:nvSpPr>
        <p:spPr>
          <a:xfrm>
            <a:off x="868680" y="2468880"/>
            <a:ext cx="3108960" cy="960120"/>
          </a:xfrm>
          <a:prstGeom prst="roundRect">
            <a:avLst>
              <a:gd name="adj" fmla="val 7619"/>
            </a:avLst>
          </a:prstGeom>
          <a:solidFill>
            <a:srgbClr val="D3E8DB"/>
          </a:solidFill>
          <a:ln w="12700">
            <a:solidFill>
              <a:srgbClr val="D3E8DB"/>
            </a:solidFill>
            <a:prstDash val="solid"/>
          </a:ln>
        </p:spPr>
      </p:sp>
      <p:sp>
        <p:nvSpPr>
          <p:cNvPr id="7" name="Text 5"/>
          <p:cNvSpPr txBox="1"/>
          <p:nvPr/>
        </p:nvSpPr>
        <p:spPr>
          <a:xfrm>
            <a:off x="1051560" y="2468880"/>
            <a:ext cx="2743200" cy="960120"/>
          </a:xfrm>
          <a:prstGeom prst="rect">
            <a:avLst/>
          </a:prstGeom>
          <a:noFill/>
          <a:ln/>
        </p:spPr>
        <p:txBody>
          <a:bodyPr wrap="square" lIns="0" tIns="0" rIns="0" bIns="0" rtlCol="0" anchor="ctr"/>
          <a:lstStyle/>
          <a:p>
            <a:pPr indent="0" marL="0">
              <a:buNone/>
            </a:pPr>
            <a:r>
              <a:rPr lang="en-US" sz="1500" b="1" dirty="0">
                <a:solidFill>
                  <a:srgbClr val="0A0A0B"/>
                </a:solidFill>
              </a:rPr>
              <a:t>Our 1B student</a:t>
            </a:r>
            <a:endParaRPr lang="en-US" sz="1500" dirty="0"/>
          </a:p>
          <a:p>
            <a:pPr indent="0" marL="0">
              <a:buNone/>
            </a:pPr>
            <a:r>
              <a:rPr lang="en-US" sz="1200" dirty="0">
                <a:solidFill>
                  <a:srgbClr val="55555C"/>
                </a:solidFill>
              </a:rPr>
              <a:t>about 0.9 s, CPU</a:t>
            </a:r>
            <a:endParaRPr lang="en-US" sz="1500" dirty="0"/>
          </a:p>
        </p:txBody>
      </p:sp>
      <p:sp>
        <p:nvSpPr>
          <p:cNvPr id="8" name="Text 6"/>
          <p:cNvSpPr txBox="1"/>
          <p:nvPr/>
        </p:nvSpPr>
        <p:spPr>
          <a:xfrm>
            <a:off x="4160520" y="2468880"/>
            <a:ext cx="7482535" cy="960120"/>
          </a:xfrm>
          <a:prstGeom prst="rect">
            <a:avLst/>
          </a:prstGeom>
          <a:noFill/>
          <a:ln/>
        </p:spPr>
        <p:txBody>
          <a:bodyPr wrap="square" lIns="0" tIns="0" rIns="0" bIns="0" rtlCol="0" anchor="ctr"/>
          <a:lstStyle/>
          <a:p>
            <a:pPr indent="0" marL="0">
              <a:buNone/>
            </a:pPr>
            <a:r>
              <a:rPr lang="en-US" sz="1400" dirty="0">
                <a:solidFill>
                  <a:srgbClr val="0A0A0B"/>
                </a:solidFill>
              </a:rPr>
              <a:t>Answers when at least 0.6 sure: 96.0% of ordinary choices, 73.0% of the hardest</a:t>
            </a:r>
            <a:endParaRPr lang="en-US" sz="1400" dirty="0"/>
          </a:p>
        </p:txBody>
      </p:sp>
      <p:sp>
        <p:nvSpPr>
          <p:cNvPr id="9" name="Shape 7"/>
          <p:cNvSpPr/>
          <p:nvPr/>
        </p:nvSpPr>
        <p:spPr>
          <a:xfrm>
            <a:off x="1188720" y="3611880"/>
            <a:ext cx="3108960" cy="960120"/>
          </a:xfrm>
          <a:prstGeom prst="roundRect">
            <a:avLst>
              <a:gd name="adj" fmla="val 7619"/>
            </a:avLst>
          </a:prstGeom>
          <a:solidFill>
            <a:srgbClr val="BCDCC9"/>
          </a:solidFill>
          <a:ln w="12700">
            <a:solidFill>
              <a:srgbClr val="BCDCC9"/>
            </a:solidFill>
            <a:prstDash val="solid"/>
          </a:ln>
        </p:spPr>
      </p:sp>
      <p:sp>
        <p:nvSpPr>
          <p:cNvPr id="10" name="Text 8"/>
          <p:cNvSpPr txBox="1"/>
          <p:nvPr/>
        </p:nvSpPr>
        <p:spPr>
          <a:xfrm>
            <a:off x="1371600" y="3611880"/>
            <a:ext cx="2743200" cy="960120"/>
          </a:xfrm>
          <a:prstGeom prst="rect">
            <a:avLst/>
          </a:prstGeom>
          <a:noFill/>
          <a:ln/>
        </p:spPr>
        <p:txBody>
          <a:bodyPr wrap="square" lIns="0" tIns="0" rIns="0" bIns="0" rtlCol="0" anchor="ctr"/>
          <a:lstStyle/>
          <a:p>
            <a:pPr indent="0" marL="0">
              <a:buNone/>
            </a:pPr>
            <a:r>
              <a:rPr lang="en-US" sz="1500" b="1" dirty="0">
                <a:solidFill>
                  <a:srgbClr val="0A0A0B"/>
                </a:solidFill>
              </a:rPr>
              <a:t>Two cheap reads that agree</a:t>
            </a:r>
            <a:endParaRPr lang="en-US" sz="1500" dirty="0"/>
          </a:p>
          <a:p>
            <a:pPr indent="0" marL="0">
              <a:buNone/>
            </a:pPr>
            <a:r>
              <a:rPr lang="en-US" sz="1200" dirty="0">
                <a:solidFill>
                  <a:srgbClr val="55555C"/>
                </a:solidFill>
              </a:rPr>
              <a:t>0.53 s</a:t>
            </a:r>
            <a:endParaRPr lang="en-US" sz="1500" dirty="0"/>
          </a:p>
        </p:txBody>
      </p:sp>
      <p:sp>
        <p:nvSpPr>
          <p:cNvPr id="11" name="Text 9"/>
          <p:cNvSpPr txBox="1"/>
          <p:nvPr/>
        </p:nvSpPr>
        <p:spPr>
          <a:xfrm>
            <a:off x="4480560" y="3611880"/>
            <a:ext cx="7162495" cy="960120"/>
          </a:xfrm>
          <a:prstGeom prst="rect">
            <a:avLst/>
          </a:prstGeom>
          <a:noFill/>
          <a:ln/>
        </p:spPr>
        <p:txBody>
          <a:bodyPr wrap="square" lIns="0" tIns="0" rIns="0" bIns="0" rtlCol="0" anchor="ctr"/>
          <a:lstStyle/>
          <a:p>
            <a:pPr indent="0" marL="0">
              <a:buNone/>
            </a:pPr>
            <a:r>
              <a:rPr lang="en-US" sz="1400" dirty="0">
                <a:solidFill>
                  <a:srgbClr val="0A0A0B"/>
                </a:solidFill>
              </a:rPr>
              <a:t>The one-token decider and the student on the same time: settled without Glimmer 72.1% → 79.0%</a:t>
            </a:r>
            <a:endParaRPr lang="en-US" sz="1400" dirty="0"/>
          </a:p>
        </p:txBody>
      </p:sp>
      <p:sp>
        <p:nvSpPr>
          <p:cNvPr id="12" name="Shape 10"/>
          <p:cNvSpPr/>
          <p:nvPr/>
        </p:nvSpPr>
        <p:spPr>
          <a:xfrm>
            <a:off x="1508760" y="4754880"/>
            <a:ext cx="3108960" cy="960120"/>
          </a:xfrm>
          <a:prstGeom prst="roundRect">
            <a:avLst>
              <a:gd name="adj" fmla="val 7619"/>
            </a:avLst>
          </a:prstGeom>
          <a:solidFill>
            <a:srgbClr val="A6D0B7"/>
          </a:solidFill>
          <a:ln w="12700">
            <a:solidFill>
              <a:srgbClr val="A6D0B7"/>
            </a:solidFill>
            <a:prstDash val="solid"/>
          </a:ln>
        </p:spPr>
      </p:sp>
      <p:sp>
        <p:nvSpPr>
          <p:cNvPr id="13" name="Text 11"/>
          <p:cNvSpPr txBox="1"/>
          <p:nvPr/>
        </p:nvSpPr>
        <p:spPr>
          <a:xfrm>
            <a:off x="1691640" y="4754880"/>
            <a:ext cx="2743200" cy="960120"/>
          </a:xfrm>
          <a:prstGeom prst="rect">
            <a:avLst/>
          </a:prstGeom>
          <a:noFill/>
          <a:ln/>
        </p:spPr>
        <p:txBody>
          <a:bodyPr wrap="square" lIns="0" tIns="0" rIns="0" bIns="0" rtlCol="0" anchor="ctr"/>
          <a:lstStyle/>
          <a:p>
            <a:pPr indent="0" marL="0">
              <a:buNone/>
            </a:pPr>
            <a:r>
              <a:rPr lang="en-US" sz="1500" b="1" dirty="0">
                <a:solidFill>
                  <a:srgbClr val="0A0A0B"/>
                </a:solidFill>
              </a:rPr>
              <a:t>Muse Glimmer, stopped early</a:t>
            </a:r>
            <a:endParaRPr lang="en-US" sz="1500" dirty="0"/>
          </a:p>
          <a:p>
            <a:pPr indent="0" marL="0">
              <a:buNone/>
            </a:pPr>
            <a:r>
              <a:rPr lang="en-US" sz="1200" dirty="0">
                <a:solidFill>
                  <a:srgbClr val="55555C"/>
                </a:solidFill>
              </a:rPr>
              <a:t>20 to 40 s</a:t>
            </a:r>
            <a:endParaRPr lang="en-US" sz="1500" dirty="0"/>
          </a:p>
        </p:txBody>
      </p:sp>
      <p:sp>
        <p:nvSpPr>
          <p:cNvPr id="14" name="Text 12"/>
          <p:cNvSpPr txBox="1"/>
          <p:nvPr/>
        </p:nvSpPr>
        <p:spPr>
          <a:xfrm>
            <a:off x="4800600" y="4754880"/>
            <a:ext cx="6842455" cy="960120"/>
          </a:xfrm>
          <a:prstGeom prst="rect">
            <a:avLst/>
          </a:prstGeom>
          <a:noFill/>
          <a:ln/>
        </p:spPr>
        <p:txBody>
          <a:bodyPr wrap="square" lIns="0" tIns="0" rIns="0" bIns="0" rtlCol="0" anchor="ctr"/>
          <a:lstStyle/>
          <a:p>
            <a:pPr indent="0" marL="0">
              <a:buNone/>
            </a:pPr>
            <a:r>
              <a:rPr lang="en-US" sz="1400" dirty="0">
                <a:solidFill>
                  <a:srgbClr val="0A0A0B"/>
                </a:solidFill>
              </a:rPr>
              <a:t>Early exit after DEER: 596 → 420 tokens an answer, no later (22.3 s → 21.3 s)</a:t>
            </a:r>
            <a:endParaRPr lang="en-US" sz="1400" dirty="0"/>
          </a:p>
        </p:txBody>
      </p:sp>
      <p:sp>
        <p:nvSpPr>
          <p:cNvPr id="15" name="Text 13"/>
          <p:cNvSpPr txBox="1"/>
          <p:nvPr/>
        </p:nvSpPr>
        <p:spPr>
          <a:xfrm>
            <a:off x="548640" y="5943600"/>
            <a:ext cx="11094415" cy="365760"/>
          </a:xfrm>
          <a:prstGeom prst="rect">
            <a:avLst/>
          </a:prstGeom>
          <a:noFill/>
          <a:ln/>
        </p:spPr>
        <p:txBody>
          <a:bodyPr wrap="square" lIns="0" tIns="0" rIns="0" bIns="0" rtlCol="0" anchor="t"/>
          <a:lstStyle/>
          <a:p>
            <a:pPr indent="0" marL="0">
              <a:spcAft>
                <a:spcPts val="600"/>
              </a:spcAft>
              <a:buNone/>
            </a:pPr>
            <a:r>
              <a:rPr lang="en-US" sz="1300" dirty="0">
                <a:solidFill>
                  <a:srgbClr val="55555C"/>
                </a:solidFill>
              </a:rPr>
              <a:t>Following FrugalGPT. Before any of them, Match works ahead of time, so the agents have often agreed a game before anyone waits at all.</a:t>
            </a:r>
            <a:endParaRPr lang="en-US" sz="13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A booking, step by step, with its measured times</a:t>
            </a:r>
            <a:endParaRPr lang="en-US" sz="2800" dirty="0"/>
          </a:p>
        </p:txBody>
      </p:sp>
      <p:pic>
        <p:nvPicPr>
          <p:cNvPr id="3" name="Image 0" descr="preencoded.png">    </p:cNvPr>
          <p:cNvPicPr>
            <a:picLocks noChangeAspect="1"/>
          </p:cNvPicPr>
          <p:nvPr/>
        </p:nvPicPr>
        <p:blipFill>
          <a:blip r:embed="rId1"/>
          <a:stretch>
            <a:fillRect/>
          </a:stretch>
        </p:blipFill>
        <p:spPr>
          <a:xfrm>
            <a:off x="1783808" y="1234440"/>
            <a:ext cx="8624079" cy="5029200"/>
          </a:xfrm>
          <a:prstGeom prst="rect">
            <a:avLst/>
          </a:prstGeom>
        </p:spPr>
      </p:pic>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Our own 1B makes Glimmer's choice in 0.9 s instead of 40 s</a:t>
            </a:r>
            <a:endParaRPr lang="en-US" sz="2800" dirty="0"/>
          </a:p>
        </p:txBody>
      </p:sp>
      <p:pic>
        <p:nvPicPr>
          <p:cNvPr id="3" name="Image 0" descr="preencoded.png">    </p:cNvPr>
          <p:cNvPicPr>
            <a:picLocks noChangeAspect="1"/>
          </p:cNvPicPr>
          <p:nvPr/>
        </p:nvPicPr>
        <p:blipFill>
          <a:blip r:embed="rId1"/>
          <a:stretch>
            <a:fillRect/>
          </a:stretch>
        </p:blipFill>
        <p:spPr>
          <a:xfrm>
            <a:off x="1410504" y="1188720"/>
            <a:ext cx="9370687"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8 | </a:t>
            </a:r>
            <a:pPr indent="0" marL="0">
              <a:buNone/>
            </a:pPr>
            <a:r>
              <a:rPr lang="en-US" sz="1100" dirty="0">
                <a:solidFill>
                  <a:srgbClr val="55555C"/>
                </a:solidFill>
              </a:rPr>
              <a:t>Time for one choice between listed times (log scale). The 1B (Llama 3.2 1B distilled from 4,868 of Glimmer's choices, int4) runs on the CPU and agrees with Glimmer on 89.5% of 500 held-out cases, against Glimmer's 88.8% with itself.</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How we distilled it: from Glimmer's calls to the CPU</a:t>
            </a:r>
            <a:endParaRPr lang="en-US" sz="2800" dirty="0"/>
          </a:p>
        </p:txBody>
      </p:sp>
      <p:sp>
        <p:nvSpPr>
          <p:cNvPr id="3" name="Shape 1"/>
          <p:cNvSpPr/>
          <p:nvPr/>
        </p:nvSpPr>
        <p:spPr>
          <a:xfrm>
            <a:off x="548640" y="1325880"/>
            <a:ext cx="1691640" cy="1600200"/>
          </a:xfrm>
          <a:prstGeom prst="roundRect">
            <a:avLst>
              <a:gd name="adj" fmla="val 4571"/>
            </a:avLst>
          </a:prstGeom>
          <a:solidFill>
            <a:srgbClr val="F3F6F4"/>
          </a:solidFill>
          <a:ln w="12700">
            <a:solidFill>
              <a:srgbClr val="F3F6F4"/>
            </a:solidFill>
            <a:prstDash val="solid"/>
          </a:ln>
        </p:spPr>
      </p:sp>
      <p:sp>
        <p:nvSpPr>
          <p:cNvPr id="4" name="Text 2"/>
          <p:cNvSpPr txBox="1"/>
          <p:nvPr/>
        </p:nvSpPr>
        <p:spPr>
          <a:xfrm>
            <a:off x="685800" y="1325880"/>
            <a:ext cx="1417320" cy="1600200"/>
          </a:xfrm>
          <a:prstGeom prst="rect">
            <a:avLst/>
          </a:prstGeom>
          <a:noFill/>
          <a:ln/>
        </p:spPr>
        <p:txBody>
          <a:bodyPr wrap="square" lIns="0" tIns="0" rIns="0" bIns="0" rtlCol="0" anchor="ctr"/>
          <a:lstStyle/>
          <a:p>
            <a:pPr algn="ctr" indent="0" marL="0">
              <a:buNone/>
            </a:pPr>
            <a:r>
              <a:rPr lang="en-US" sz="1400" b="1" dirty="0">
                <a:solidFill>
                  <a:srgbClr val="0A0A0B"/>
                </a:solidFill>
              </a:rPr>
              <a:t>Real agent calls</a:t>
            </a:r>
            <a:endParaRPr lang="en-US" sz="1400" dirty="0"/>
          </a:p>
          <a:p>
            <a:pPr algn="ctr" indent="0" marL="0">
              <a:buNone/>
            </a:pPr>
            <a:r>
              <a:rPr lang="en-US" sz="1150" dirty="0">
                <a:solidFill>
                  <a:srgbClr val="55555C"/>
                </a:solidFill>
              </a:rPr>
              <a:t>the talks' own code builds each case from the simulated club</a:t>
            </a:r>
            <a:endParaRPr lang="en-US" sz="1400" dirty="0"/>
          </a:p>
        </p:txBody>
      </p:sp>
      <p:sp>
        <p:nvSpPr>
          <p:cNvPr id="5" name="Shape 3"/>
          <p:cNvSpPr/>
          <p:nvPr/>
        </p:nvSpPr>
        <p:spPr>
          <a:xfrm>
            <a:off x="2249424" y="2121408"/>
            <a:ext cx="164592" cy="914"/>
          </a:xfrm>
          <a:prstGeom prst="line">
            <a:avLst/>
          </a:prstGeom>
          <a:noFill/>
          <a:ln w="25400">
            <a:solidFill>
              <a:srgbClr val="8A8A92"/>
            </a:solidFill>
            <a:prstDash val="solid"/>
            <a:tailEnd type="triangle"/>
          </a:ln>
        </p:spPr>
      </p:sp>
      <p:sp>
        <p:nvSpPr>
          <p:cNvPr id="6" name="Shape 4"/>
          <p:cNvSpPr/>
          <p:nvPr/>
        </p:nvSpPr>
        <p:spPr>
          <a:xfrm>
            <a:off x="2423160" y="1325880"/>
            <a:ext cx="1691640" cy="1600200"/>
          </a:xfrm>
          <a:prstGeom prst="roundRect">
            <a:avLst>
              <a:gd name="adj" fmla="val 4571"/>
            </a:avLst>
          </a:prstGeom>
          <a:solidFill>
            <a:srgbClr val="F3F6F4"/>
          </a:solidFill>
          <a:ln w="12700">
            <a:solidFill>
              <a:srgbClr val="F3F6F4"/>
            </a:solidFill>
            <a:prstDash val="solid"/>
          </a:ln>
        </p:spPr>
      </p:sp>
      <p:sp>
        <p:nvSpPr>
          <p:cNvPr id="7" name="Text 5"/>
          <p:cNvSpPr txBox="1"/>
          <p:nvPr/>
        </p:nvSpPr>
        <p:spPr>
          <a:xfrm>
            <a:off x="2560320" y="1325880"/>
            <a:ext cx="1417320" cy="1600200"/>
          </a:xfrm>
          <a:prstGeom prst="rect">
            <a:avLst/>
          </a:prstGeom>
          <a:noFill/>
          <a:ln/>
        </p:spPr>
        <p:txBody>
          <a:bodyPr wrap="square" lIns="0" tIns="0" rIns="0" bIns="0" rtlCol="0" anchor="ctr"/>
          <a:lstStyle/>
          <a:p>
            <a:pPr algn="ctr" indent="0" marL="0">
              <a:buNone/>
            </a:pPr>
            <a:r>
              <a:rPr lang="en-US" sz="1400" b="1" dirty="0">
                <a:solidFill>
                  <a:srgbClr val="0A0A0B"/>
                </a:solidFill>
              </a:rPr>
              <a:t>Glimmer labels</a:t>
            </a:r>
            <a:endParaRPr lang="en-US" sz="1400" dirty="0"/>
          </a:p>
          <a:p>
            <a:pPr algn="ctr" indent="0" marL="0">
              <a:buNone/>
            </a:pPr>
            <a:r>
              <a:rPr lang="en-US" sz="1150" dirty="0">
                <a:solidFill>
                  <a:srgbClr val="55555C"/>
                </a:solidFill>
              </a:rPr>
              <a:t>muse-glimmer:30b through fullAnswer: 4,868 training choices</a:t>
            </a:r>
            <a:endParaRPr lang="en-US" sz="1400" dirty="0"/>
          </a:p>
        </p:txBody>
      </p:sp>
      <p:sp>
        <p:nvSpPr>
          <p:cNvPr id="8" name="Shape 6"/>
          <p:cNvSpPr/>
          <p:nvPr/>
        </p:nvSpPr>
        <p:spPr>
          <a:xfrm>
            <a:off x="4123944" y="2121408"/>
            <a:ext cx="164592" cy="914"/>
          </a:xfrm>
          <a:prstGeom prst="line">
            <a:avLst/>
          </a:prstGeom>
          <a:noFill/>
          <a:ln w="25400">
            <a:solidFill>
              <a:srgbClr val="8A8A92"/>
            </a:solidFill>
            <a:prstDash val="solid"/>
            <a:tailEnd type="triangle"/>
          </a:ln>
        </p:spPr>
      </p:sp>
      <p:sp>
        <p:nvSpPr>
          <p:cNvPr id="9" name="Shape 7"/>
          <p:cNvSpPr/>
          <p:nvPr/>
        </p:nvSpPr>
        <p:spPr>
          <a:xfrm>
            <a:off x="4297680" y="1325880"/>
            <a:ext cx="1691640" cy="1600200"/>
          </a:xfrm>
          <a:prstGeom prst="roundRect">
            <a:avLst>
              <a:gd name="adj" fmla="val 4571"/>
            </a:avLst>
          </a:prstGeom>
          <a:solidFill>
            <a:srgbClr val="F3F6F4"/>
          </a:solidFill>
          <a:ln w="12700">
            <a:solidFill>
              <a:srgbClr val="F3F6F4"/>
            </a:solidFill>
            <a:prstDash val="solid"/>
          </a:ln>
        </p:spPr>
      </p:sp>
      <p:sp>
        <p:nvSpPr>
          <p:cNvPr id="10" name="Text 8"/>
          <p:cNvSpPr txBox="1"/>
          <p:nvPr/>
        </p:nvSpPr>
        <p:spPr>
          <a:xfrm>
            <a:off x="4434840" y="1325880"/>
            <a:ext cx="1417320" cy="1600200"/>
          </a:xfrm>
          <a:prstGeom prst="rect">
            <a:avLst/>
          </a:prstGeom>
          <a:noFill/>
          <a:ln/>
        </p:spPr>
        <p:txBody>
          <a:bodyPr wrap="square" lIns="0" tIns="0" rIns="0" bIns="0" rtlCol="0" anchor="ctr"/>
          <a:lstStyle/>
          <a:p>
            <a:pPr algn="ctr" indent="0" marL="0">
              <a:buNone/>
            </a:pPr>
            <a:r>
              <a:rPr lang="en-US" sz="1400" b="1" dirty="0">
                <a:solidFill>
                  <a:srgbClr val="0A0A0B"/>
                </a:solidFill>
              </a:rPr>
              <a:t>One prompt, ~240 tokens</a:t>
            </a:r>
            <a:endParaRPr lang="en-US" sz="1400" dirty="0"/>
          </a:p>
          <a:p>
            <a:pPr algn="ctr" indent="0" marL="0">
              <a:buNone/>
            </a:pPr>
            <a:r>
              <a:rPr lang="en-US" sz="1150" dirty="0">
                <a:solidFill>
                  <a:srgbClr val="55555C"/>
                </a:solidFill>
              </a:rPr>
              <a:t>profile, the game, the times; letters in time order</a:t>
            </a:r>
            <a:endParaRPr lang="en-US" sz="1400" dirty="0"/>
          </a:p>
        </p:txBody>
      </p:sp>
      <p:sp>
        <p:nvSpPr>
          <p:cNvPr id="11" name="Shape 9"/>
          <p:cNvSpPr/>
          <p:nvPr/>
        </p:nvSpPr>
        <p:spPr>
          <a:xfrm>
            <a:off x="5998464" y="2121408"/>
            <a:ext cx="164592" cy="914"/>
          </a:xfrm>
          <a:prstGeom prst="line">
            <a:avLst/>
          </a:prstGeom>
          <a:noFill/>
          <a:ln w="25400">
            <a:solidFill>
              <a:srgbClr val="8A8A92"/>
            </a:solidFill>
            <a:prstDash val="solid"/>
            <a:tailEnd type="triangle"/>
          </a:ln>
        </p:spPr>
      </p:sp>
      <p:sp>
        <p:nvSpPr>
          <p:cNvPr id="12" name="Shape 10"/>
          <p:cNvSpPr/>
          <p:nvPr/>
        </p:nvSpPr>
        <p:spPr>
          <a:xfrm>
            <a:off x="6172200" y="1325880"/>
            <a:ext cx="1691640" cy="1600200"/>
          </a:xfrm>
          <a:prstGeom prst="roundRect">
            <a:avLst>
              <a:gd name="adj" fmla="val 4571"/>
            </a:avLst>
          </a:prstGeom>
          <a:solidFill>
            <a:srgbClr val="0A7F44"/>
          </a:solidFill>
          <a:ln w="12700">
            <a:solidFill>
              <a:srgbClr val="0A7F44"/>
            </a:solidFill>
            <a:prstDash val="solid"/>
          </a:ln>
        </p:spPr>
      </p:sp>
      <p:sp>
        <p:nvSpPr>
          <p:cNvPr id="13" name="Text 11"/>
          <p:cNvSpPr txBox="1"/>
          <p:nvPr/>
        </p:nvSpPr>
        <p:spPr>
          <a:xfrm>
            <a:off x="6309360" y="1325880"/>
            <a:ext cx="1417320" cy="1600200"/>
          </a:xfrm>
          <a:prstGeom prst="rect">
            <a:avLst/>
          </a:prstGeom>
          <a:noFill/>
          <a:ln/>
        </p:spPr>
        <p:txBody>
          <a:bodyPr wrap="square" lIns="0" tIns="0" rIns="0" bIns="0" rtlCol="0" anchor="ctr"/>
          <a:lstStyle/>
          <a:p>
            <a:pPr algn="ctr" indent="0" marL="0">
              <a:buNone/>
            </a:pPr>
            <a:r>
              <a:rPr lang="en-US" sz="1400" b="1" dirty="0">
                <a:solidFill>
                  <a:srgbClr val="FFFFFF"/>
                </a:solidFill>
              </a:rPr>
              <a:t>LoRA on Llama 3.2 1B</a:t>
            </a:r>
            <a:endParaRPr lang="en-US" sz="1400" dirty="0"/>
          </a:p>
          <a:p>
            <a:pPr algn="ctr" indent="0" marL="0">
              <a:buNone/>
            </a:pPr>
            <a:r>
              <a:rPr lang="en-US" sz="1150" dirty="0">
                <a:solidFill>
                  <a:srgbClr val="D9EBDF"/>
                </a:solidFill>
              </a:rPr>
              <a:t>rank 16, alpha 32, 3 epochs, 20 min on one A100</a:t>
            </a:r>
            <a:endParaRPr lang="en-US" sz="1400" dirty="0"/>
          </a:p>
        </p:txBody>
      </p:sp>
      <p:sp>
        <p:nvSpPr>
          <p:cNvPr id="14" name="Shape 12"/>
          <p:cNvSpPr/>
          <p:nvPr/>
        </p:nvSpPr>
        <p:spPr>
          <a:xfrm>
            <a:off x="7872984" y="2121408"/>
            <a:ext cx="164592" cy="914"/>
          </a:xfrm>
          <a:prstGeom prst="line">
            <a:avLst/>
          </a:prstGeom>
          <a:noFill/>
          <a:ln w="25400">
            <a:solidFill>
              <a:srgbClr val="8A8A92"/>
            </a:solidFill>
            <a:prstDash val="solid"/>
            <a:tailEnd type="triangle"/>
          </a:ln>
        </p:spPr>
      </p:sp>
      <p:sp>
        <p:nvSpPr>
          <p:cNvPr id="15" name="Shape 13"/>
          <p:cNvSpPr/>
          <p:nvPr/>
        </p:nvSpPr>
        <p:spPr>
          <a:xfrm>
            <a:off x="8046720" y="1325880"/>
            <a:ext cx="1691640" cy="1600200"/>
          </a:xfrm>
          <a:prstGeom prst="roundRect">
            <a:avLst>
              <a:gd name="adj" fmla="val 4571"/>
            </a:avLst>
          </a:prstGeom>
          <a:solidFill>
            <a:srgbClr val="F3F6F4"/>
          </a:solidFill>
          <a:ln w="12700">
            <a:solidFill>
              <a:srgbClr val="F3F6F4"/>
            </a:solidFill>
            <a:prstDash val="solid"/>
          </a:ln>
        </p:spPr>
      </p:sp>
      <p:sp>
        <p:nvSpPr>
          <p:cNvPr id="16" name="Text 14"/>
          <p:cNvSpPr txBox="1"/>
          <p:nvPr/>
        </p:nvSpPr>
        <p:spPr>
          <a:xfrm>
            <a:off x="8183880" y="1325880"/>
            <a:ext cx="1417320" cy="1600200"/>
          </a:xfrm>
          <a:prstGeom prst="rect">
            <a:avLst/>
          </a:prstGeom>
          <a:noFill/>
          <a:ln/>
        </p:spPr>
        <p:txBody>
          <a:bodyPr wrap="square" lIns="0" tIns="0" rIns="0" bIns="0" rtlCol="0" anchor="ctr"/>
          <a:lstStyle/>
          <a:p>
            <a:pPr algn="ctr" indent="0" marL="0">
              <a:buNone/>
            </a:pPr>
            <a:r>
              <a:rPr lang="en-US" sz="1400" b="1" dirty="0">
                <a:solidFill>
                  <a:srgbClr val="0A0A0B"/>
                </a:solidFill>
              </a:rPr>
              <a:t>int4 GGUF</a:t>
            </a:r>
            <a:endParaRPr lang="en-US" sz="1400" dirty="0"/>
          </a:p>
          <a:p>
            <a:pPr algn="ctr" indent="0" marL="0">
              <a:buNone/>
            </a:pPr>
            <a:r>
              <a:rPr lang="en-US" sz="1150" dirty="0">
                <a:solidFill>
                  <a:srgbClr val="55555C"/>
                </a:solidFill>
              </a:rPr>
              <a:t>merged, llama.cpp Q4_K_M, 0.8 GB</a:t>
            </a:r>
            <a:endParaRPr lang="en-US" sz="1400" dirty="0"/>
          </a:p>
        </p:txBody>
      </p:sp>
      <p:sp>
        <p:nvSpPr>
          <p:cNvPr id="17" name="Shape 15"/>
          <p:cNvSpPr/>
          <p:nvPr/>
        </p:nvSpPr>
        <p:spPr>
          <a:xfrm>
            <a:off x="9747504" y="2121408"/>
            <a:ext cx="164592" cy="914"/>
          </a:xfrm>
          <a:prstGeom prst="line">
            <a:avLst/>
          </a:prstGeom>
          <a:noFill/>
          <a:ln w="25400">
            <a:solidFill>
              <a:srgbClr val="8A8A92"/>
            </a:solidFill>
            <a:prstDash val="solid"/>
            <a:tailEnd type="triangle"/>
          </a:ln>
        </p:spPr>
      </p:sp>
      <p:sp>
        <p:nvSpPr>
          <p:cNvPr id="18" name="Shape 16"/>
          <p:cNvSpPr/>
          <p:nvPr/>
        </p:nvSpPr>
        <p:spPr>
          <a:xfrm>
            <a:off x="9921240" y="1325880"/>
            <a:ext cx="1691640" cy="1600200"/>
          </a:xfrm>
          <a:prstGeom prst="roundRect">
            <a:avLst>
              <a:gd name="adj" fmla="val 4571"/>
            </a:avLst>
          </a:prstGeom>
          <a:solidFill>
            <a:srgbClr val="F3F6F4"/>
          </a:solidFill>
          <a:ln w="12700">
            <a:solidFill>
              <a:srgbClr val="F3F6F4"/>
            </a:solidFill>
            <a:prstDash val="solid"/>
          </a:ln>
        </p:spPr>
      </p:sp>
      <p:sp>
        <p:nvSpPr>
          <p:cNvPr id="19" name="Text 17"/>
          <p:cNvSpPr txBox="1"/>
          <p:nvPr/>
        </p:nvSpPr>
        <p:spPr>
          <a:xfrm>
            <a:off x="10058400" y="1325880"/>
            <a:ext cx="1417320" cy="1600200"/>
          </a:xfrm>
          <a:prstGeom prst="rect">
            <a:avLst/>
          </a:prstGeom>
          <a:noFill/>
          <a:ln/>
        </p:spPr>
        <p:txBody>
          <a:bodyPr wrap="square" lIns="0" tIns="0" rIns="0" bIns="0" rtlCol="0" anchor="ctr"/>
          <a:lstStyle/>
          <a:p>
            <a:pPr algn="ctr" indent="0" marL="0">
              <a:buNone/>
            </a:pPr>
            <a:r>
              <a:rPr lang="en-US" sz="1400" b="1" dirty="0">
                <a:solidFill>
                  <a:srgbClr val="0A0A0B"/>
                </a:solidFill>
              </a:rPr>
              <a:t>CPU worker</a:t>
            </a:r>
            <a:endParaRPr lang="en-US" sz="1400" dirty="0"/>
          </a:p>
          <a:p>
            <a:pPr algn="ctr" indent="0" marL="0">
              <a:buNone/>
            </a:pPr>
            <a:r>
              <a:rPr lang="en-US" sz="1150" dirty="0">
                <a:solidFill>
                  <a:srgbClr val="55555C"/>
                </a:solidFill>
              </a:rPr>
              <a:t>8 threads, nice 19, prefix cache, one at a time</a:t>
            </a:r>
            <a:endParaRPr lang="en-US" sz="14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3246120"/>
          <a:ext cx="5669280" cy="914400"/>
        </p:xfrm>
        <a:graphic>
          <a:graphicData uri="http://schemas.openxmlformats.org/drawingml/2006/table">
            <a:tbl>
              <a:tblPr/>
              <a:tblGrid>
                <a:gridCol w="1554480"/>
                <a:gridCol w="822960"/>
                <a:gridCol w="3291840"/>
              </a:tblGrid>
              <a:tr h="384048">
                <a:tc>
                  <a:txBody>
                    <a:bodyPr/>
                    <a:lstStyle/>
                    <a:p>
                      <a:pPr indent="0" marL="0">
                        <a:buNone/>
                      </a:pPr>
                      <a:r>
                        <a:rPr lang="en-US" sz="1200" b="1" dirty="0">
                          <a:solidFill>
                            <a:srgbClr val="FFFFFF"/>
                          </a:solidFill>
                        </a:rPr>
                        <a:t>Set</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0A7F44"/>
                    </a:solidFill>
                  </a:tcPr>
                </a:tc>
                <a:tc>
                  <a:txBody>
                    <a:bodyPr/>
                    <a:lstStyle/>
                    <a:p>
                      <a:pPr algn="r" indent="0" marL="0">
                        <a:buNone/>
                      </a:pPr>
                      <a:r>
                        <a:rPr lang="en-US" sz="1200" b="1" dirty="0">
                          <a:solidFill>
                            <a:srgbClr val="FFFFFF"/>
                          </a:solidFill>
                        </a:rPr>
                        <a:t>Cases</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0A7F44"/>
                    </a:solidFill>
                  </a:tcPr>
                </a:tc>
                <a:tc>
                  <a:txBody>
                    <a:bodyPr/>
                    <a:lstStyle/>
                    <a:p>
                      <a:pPr indent="0" marL="0">
                        <a:buNone/>
                      </a:pPr>
                      <a:r>
                        <a:rPr lang="en-US" sz="1200" b="1" dirty="0">
                          <a:solidFill>
                            <a:srgbClr val="FFFFFF"/>
                          </a:solidFill>
                        </a:rPr>
                        <a:t>What it is</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0A7F44"/>
                    </a:solidFill>
                  </a:tcPr>
                </a:tc>
              </a:tr>
              <a:tr h="384048">
                <a:tc>
                  <a:txBody>
                    <a:bodyPr/>
                    <a:lstStyle/>
                    <a:p>
                      <a:pPr algn="l" indent="0" marL="0">
                        <a:buNone/>
                      </a:pPr>
                      <a:r>
                        <a:rPr lang="en-US" sz="1200" dirty="0">
                          <a:solidFill>
                            <a:srgbClr val="0A0A0B"/>
                          </a:solidFill>
                        </a:rPr>
                        <a:t>train</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c>
                  <a:txBody>
                    <a:bodyPr/>
                    <a:lstStyle/>
                    <a:p>
                      <a:pPr algn="r" indent="0" marL="0">
                        <a:buNone/>
                      </a:pPr>
                      <a:r>
                        <a:rPr lang="en-US" sz="1200" dirty="0">
                          <a:solidFill>
                            <a:srgbClr val="0A0A0B"/>
                          </a:solidFill>
                        </a:rPr>
                        <a:t>3,000</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c>
                  <a:txBody>
                    <a:bodyPr/>
                    <a:lstStyle/>
                    <a:p>
                      <a:pPr algn="l" indent="0" marL="0">
                        <a:buNone/>
                      </a:pPr>
                      <a:r>
                        <a:rPr lang="en-US" sz="1200" dirty="0">
                          <a:solidFill>
                            <a:srgbClr val="0A0A0B"/>
                          </a:solidFill>
                        </a:rPr>
                        <a:t>private calendars, habits reworded</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r>
              <a:tr h="384048">
                <a:tc>
                  <a:txBody>
                    <a:bodyPr/>
                    <a:lstStyle/>
                    <a:p>
                      <a:pPr algn="l" indent="0" marL="0">
                        <a:buNone/>
                      </a:pPr>
                      <a:r>
                        <a:rPr lang="en-US" sz="1200" dirty="0">
                          <a:solidFill>
                            <a:srgbClr val="0A0A0B"/>
                          </a:solidFill>
                        </a:rPr>
                        <a:t>trainshared</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200" dirty="0">
                          <a:solidFill>
                            <a:srgbClr val="0A0A0B"/>
                          </a:solidFill>
                        </a:rPr>
                        <a:t>596</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200" dirty="0">
                          <a:solidFill>
                            <a:srgbClr val="0A0A0B"/>
                          </a:solidFill>
                        </a:rPr>
                        <a:t>shared calendars (Serve's default)</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r>
              <a:tr h="384048">
                <a:tc>
                  <a:txBody>
                    <a:bodyPr/>
                    <a:lstStyle/>
                    <a:p>
                      <a:pPr algn="l" indent="0" marL="0">
                        <a:buNone/>
                      </a:pPr>
                      <a:r>
                        <a:rPr lang="en-US" sz="1200" dirty="0">
                          <a:solidFill>
                            <a:srgbClr val="0A0A0B"/>
                          </a:solidFill>
                        </a:rPr>
                        <a:t>asked</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c>
                  <a:txBody>
                    <a:bodyPr/>
                    <a:lstStyle/>
                    <a:p>
                      <a:pPr algn="r" indent="0" marL="0">
                        <a:buNone/>
                      </a:pPr>
                      <a:r>
                        <a:rPr lang="en-US" sz="1200" dirty="0">
                          <a:solidFill>
                            <a:srgbClr val="0A0A0B"/>
                          </a:solidFill>
                        </a:rPr>
                        <a:t>1,378</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c>
                  <a:txBody>
                    <a:bodyPr/>
                    <a:lstStyle/>
                    <a:p>
                      <a:pPr algn="l" indent="0" marL="0">
                        <a:buNone/>
                      </a:pPr>
                      <a:r>
                        <a:rPr lang="en-US" sz="1200" dirty="0">
                          <a:solidFill>
                            <a:srgbClr val="0A0A0B"/>
                          </a:solidFill>
                        </a:rPr>
                        <a:t>the asked time breaks a hard rule</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r>
              <a:tr h="384048">
                <a:tc>
                  <a:txBody>
                    <a:bodyPr/>
                    <a:lstStyle/>
                    <a:p>
                      <a:pPr algn="l" indent="0" marL="0">
                        <a:buNone/>
                      </a:pPr>
                      <a:r>
                        <a:rPr lang="en-US" sz="1200" dirty="0">
                          <a:solidFill>
                            <a:srgbClr val="0A0A0B"/>
                          </a:solidFill>
                        </a:rPr>
                        <a:t>test (held out)</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200" dirty="0">
                          <a:solidFill>
                            <a:srgbClr val="0A0A0B"/>
                          </a:solidFill>
                        </a:rPr>
                        <a:t>500</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200" dirty="0">
                          <a:solidFill>
                            <a:srgbClr val="0A0A0B"/>
                          </a:solidFill>
                        </a:rPr>
                        <a:t>3 Glimmer answers each</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r>
              <a:tr h="384048">
                <a:tc>
                  <a:txBody>
                    <a:bodyPr/>
                    <a:lstStyle/>
                    <a:p>
                      <a:pPr algn="l" indent="0" marL="0">
                        <a:buNone/>
                      </a:pPr>
                      <a:r>
                        <a:rPr lang="en-US" sz="1200" dirty="0">
                          <a:solidFill>
                            <a:srgbClr val="0A0A0B"/>
                          </a:solidFill>
                        </a:rPr>
                        <a:t>decider (held out)</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c>
                  <a:txBody>
                    <a:bodyPr/>
                    <a:lstStyle/>
                    <a:p>
                      <a:pPr algn="r" indent="0" marL="0">
                        <a:buNone/>
                      </a:pPr>
                      <a:r>
                        <a:rPr lang="en-US" sz="1200" dirty="0">
                          <a:solidFill>
                            <a:srgbClr val="0A0A0B"/>
                          </a:solidFill>
                        </a:rPr>
                        <a:t>196</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c>
                  <a:txBody>
                    <a:bodyPr/>
                    <a:lstStyle/>
                    <a:p>
                      <a:pPr algn="l" indent="0" marL="0">
                        <a:buNone/>
                      </a:pPr>
                      <a:r>
                        <a:rPr lang="en-US" sz="1200" dirty="0">
                          <a:solidFill>
                            <a:srgbClr val="0A0A0B"/>
                          </a:solidFill>
                        </a:rPr>
                        <a:t>the hardest: asked time breaks a rule</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r>
            </a:tbl>
          </a:graphicData>
        </a:graphic>
      </p:graphicFrame>
      <p:sp>
        <p:nvSpPr>
          <p:cNvPr id="21" name="Shape 18"/>
          <p:cNvSpPr/>
          <p:nvPr/>
        </p:nvSpPr>
        <p:spPr>
          <a:xfrm>
            <a:off x="6583680" y="3246120"/>
            <a:ext cx="5059375" cy="2331720"/>
          </a:xfrm>
          <a:prstGeom prst="roundRect">
            <a:avLst>
              <a:gd name="adj" fmla="val 3137"/>
            </a:avLst>
          </a:prstGeom>
          <a:solidFill>
            <a:srgbClr val="E9F3EC"/>
          </a:solidFill>
          <a:ln w="12700">
            <a:solidFill>
              <a:srgbClr val="E9F3EC"/>
            </a:solidFill>
            <a:prstDash val="solid"/>
          </a:ln>
        </p:spPr>
      </p:sp>
      <p:sp>
        <p:nvSpPr>
          <p:cNvPr id="22" name="Text 19"/>
          <p:cNvSpPr txBox="1"/>
          <p:nvPr/>
        </p:nvSpPr>
        <p:spPr>
          <a:xfrm>
            <a:off x="6812280" y="3383280"/>
            <a:ext cx="4602175" cy="2103120"/>
          </a:xfrm>
          <a:prstGeom prst="rect">
            <a:avLst/>
          </a:prstGeom>
          <a:noFill/>
          <a:ln/>
        </p:spPr>
        <p:txBody>
          <a:bodyPr wrap="square" lIns="0" tIns="0" rIns="0" bIns="0" rtlCol="0" anchor="t"/>
          <a:lstStyle/>
          <a:p>
            <a:pPr indent="0" marL="0">
              <a:spcAft>
                <a:spcPts val="600"/>
              </a:spcAft>
              <a:buNone/>
            </a:pPr>
            <a:r>
              <a:rPr lang="en-US" sz="1500" b="1" dirty="0">
                <a:solidFill>
                  <a:srgbClr val="0A7F44"/>
                </a:solidFill>
              </a:rPr>
              <a:t>Two losses, at positions code knows; no text generated</a:t>
            </a:r>
            <a:endParaRPr lang="en-US" sz="1300" dirty="0"/>
          </a:p>
          <a:p>
            <a:pPr marL="342900" indent="-342900">
              <a:spcAft>
                <a:spcPts val="600"/>
              </a:spcAft>
              <a:buSzPct val="100000"/>
              <a:buChar char="•"/>
            </a:pPr>
            <a:r>
              <a:rPr lang="en-US" sz="1300" b="1" dirty="0">
                <a:solidFill>
                  <a:srgbClr val="0A0A0B"/>
                </a:solidFill>
              </a:rPr>
              <a:t>Choice: </a:t>
            </a:r>
            <a:pPr indent="0" marL="0">
              <a:spcAft>
                <a:spcPts val="600"/>
              </a:spcAft>
              <a:buNone/>
            </a:pPr>
            <a:r>
              <a:rPr lang="en-US" sz="1300" dirty="0">
                <a:solidFill>
                  <a:srgbClr val="0A0A0B"/>
                </a:solidFill>
              </a:rPr>
              <a:t>cross-entropy at the answer position over the valid letters only, against Glimmer's answer</a:t>
            </a:r>
            <a:endParaRPr lang="en-US" sz="1300" dirty="0"/>
          </a:p>
          <a:p>
            <a:pPr marL="342900" indent="-342900">
              <a:spcAft>
                <a:spcPts val="600"/>
              </a:spcAft>
              <a:buSzPct val="100000"/>
              <a:buChar char="•"/>
            </a:pPr>
            <a:r>
              <a:rPr lang="en-US" sz="1300" b="1" dirty="0">
                <a:solidFill>
                  <a:srgbClr val="0A0A0B"/>
                </a:solidFill>
              </a:rPr>
              <a:t>Works: </a:t>
            </a:r>
            <a:pPr indent="0" marL="0">
              <a:spcAft>
                <a:spcPts val="600"/>
              </a:spcAft>
              <a:buNone/>
            </a:pPr>
            <a:r>
              <a:rPr lang="en-US" sz="1300" dirty="0">
                <a:solidFill>
                  <a:srgbClr val="0A0A0B"/>
                </a:solidFill>
              </a:rPr>
              <a:t>yes or no at a marker after every time, against code's truth: its own reading of the calendar and rules, checked against code's before it may answer</a:t>
            </a:r>
            <a:endParaRPr lang="en-US" sz="1300" dirty="0"/>
          </a:p>
        </p:txBody>
      </p:sp>
      <p:sp>
        <p:nvSpPr>
          <p:cNvPr id="23" name="Text 20"/>
          <p:cNvSpPr txBox="1"/>
          <p:nvPr/>
        </p:nvSpPr>
        <p:spPr>
          <a:xfrm>
            <a:off x="548640" y="5760720"/>
            <a:ext cx="11094415" cy="411480"/>
          </a:xfrm>
          <a:prstGeom prst="rect">
            <a:avLst/>
          </a:prstGeom>
          <a:noFill/>
          <a:ln/>
        </p:spPr>
        <p:txBody>
          <a:bodyPr wrap="square" lIns="0" tIns="0" rIns="0" bIns="0" rtlCol="0" anchor="t"/>
          <a:lstStyle/>
          <a:p>
            <a:pPr indent="0" marL="0">
              <a:spcAft>
                <a:spcPts val="600"/>
              </a:spcAft>
              <a:buNone/>
            </a:pPr>
            <a:r>
              <a:rPr lang="en-US" sz="1200" dirty="0">
                <a:solidFill>
                  <a:srgbClr val="55555C"/>
                </a:solidFill>
              </a:rPr>
              <a:t>Like TypeSafe's Jev decision models: options declared in advance and scored together in one read. Teacher: the same Glimmer blob as our server (digest de878ce33ad8).</a:t>
            </a:r>
            <a:endParaRPr lang="en-US" sz="12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One decision, one forward pass: a real held-out case</a:t>
            </a:r>
            <a:endParaRPr lang="en-US" sz="2800" dirty="0"/>
          </a:p>
        </p:txBody>
      </p:sp>
      <p:pic>
        <p:nvPicPr>
          <p:cNvPr id="3" name="Image 0" descr="preencoded.png">    </p:cNvPr>
          <p:cNvPicPr>
            <a:picLocks noChangeAspect="1"/>
          </p:cNvPicPr>
          <p:nvPr/>
        </p:nvPicPr>
        <p:blipFill>
          <a:blip r:embed="rId1"/>
          <a:stretch>
            <a:fillRect/>
          </a:stretch>
        </p:blipFill>
        <p:spPr>
          <a:xfrm>
            <a:off x="1240035" y="1188720"/>
            <a:ext cx="9711624"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9 | </a:t>
            </a:r>
            <a:pPr indent="0" marL="0">
              <a:buNone/>
            </a:pPr>
            <a:r>
              <a:rPr lang="en-US" sz="1100" dirty="0">
                <a:solidFill>
                  <a:srgbClr val="55555C"/>
                </a:solidFill>
              </a:rPr>
              <a:t>Case s009 from the 196 hardest (the asked time ends after the member's home-by limit). (a) The 1B's own reading of whether each time works, checked against code's before it may answer. (b) Its probabilities over the valid options: t2 at 0.673 clears the 0.6 threshold, and both of Glimmer's answers chose t2.</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Three training rounds, then round 4's variants</a:t>
            </a:r>
            <a:endParaRPr lang="en-US" sz="2800" dirty="0"/>
          </a:p>
        </p:txBody>
      </p:sp>
      <p:pic>
        <p:nvPicPr>
          <p:cNvPr id="3" name="Image 0" descr="preencoded.png">    </p:cNvPr>
          <p:cNvPicPr>
            <a:picLocks noChangeAspect="1"/>
          </p:cNvPicPr>
          <p:nvPr/>
        </p:nvPicPr>
        <p:blipFill>
          <a:blip r:embed="rId1"/>
          <a:stretch>
            <a:fillRect/>
          </a:stretch>
        </p:blipFill>
        <p:spPr>
          <a:xfrm>
            <a:off x="1795016" y="1188720"/>
            <a:ext cx="8601663"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10 | </a:t>
            </a:r>
            <a:pPr indent="0" marL="0">
              <a:buNone/>
            </a:pPr>
            <a:r>
              <a:rPr lang="en-US" sz="1100" dirty="0">
                <a:solidFill>
                  <a:srgbClr val="55555C"/>
                </a:solidFill>
              </a:rPr>
              <a:t>(a) Agreement with Glimmer on the 196 hardest cases over three rounds (3B student; 95% intervals; dashed: Glimmer with itself). (b) Round 4 variants of the 1B (bf16): agreement with the majority of Glimmer's other answers against how often the pick changes when the list is reversed.</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The threshold decides what the 1B answers itself</a:t>
            </a:r>
            <a:endParaRPr lang="en-US" sz="2800" dirty="0"/>
          </a:p>
        </p:txBody>
      </p:sp>
      <p:pic>
        <p:nvPicPr>
          <p:cNvPr id="3" name="Image 0" descr="preencoded.png">    </p:cNvPr>
          <p:cNvPicPr>
            <a:picLocks noChangeAspect="1"/>
          </p:cNvPicPr>
          <p:nvPr/>
        </p:nvPicPr>
        <p:blipFill>
          <a:blip r:embed="rId1"/>
          <a:stretch>
            <a:fillRect/>
          </a:stretch>
        </p:blipFill>
        <p:spPr>
          <a:xfrm>
            <a:off x="1751044" y="1188720"/>
            <a:ext cx="8689606"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11 | </a:t>
            </a:r>
            <a:pPr indent="0" marL="0">
              <a:buNone/>
            </a:pPr>
            <a:r>
              <a:rPr lang="en-US" sz="1100" dirty="0">
                <a:solidFill>
                  <a:srgbClr val="55555C"/>
                </a:solidFill>
              </a:rPr>
              <a:t>Share of choices the served int4 1B answers itself, and its agreement with Glimmer (the rest answered by Glimmer), by confidence threshold. (a) 500 ordinary held-out cases. (b) The 196 hardest. Dashed: Glimmer with itself. Served at 0.6.</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Its confidence can be trusted</a:t>
            </a:r>
            <a:endParaRPr lang="en-US" sz="2800" dirty="0"/>
          </a:p>
        </p:txBody>
      </p:sp>
      <p:pic>
        <p:nvPicPr>
          <p:cNvPr id="3" name="Image 0" descr="preencoded.png">    </p:cNvPr>
          <p:cNvPicPr>
            <a:picLocks noChangeAspect="1"/>
          </p:cNvPicPr>
          <p:nvPr/>
        </p:nvPicPr>
        <p:blipFill>
          <a:blip r:embed="rId1"/>
          <a:stretch>
            <a:fillRect/>
          </a:stretch>
        </p:blipFill>
        <p:spPr>
          <a:xfrm>
            <a:off x="3097763" y="1188720"/>
            <a:ext cx="5996169"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12 | </a:t>
            </a:r>
            <a:pPr indent="0" marL="0">
              <a:buNone/>
            </a:pPr>
            <a:r>
              <a:rPr lang="en-US" sz="1100" dirty="0">
                <a:solidFill>
                  <a:srgbClr val="55555C"/>
                </a:solidFill>
              </a:rPr>
              <a:t>Reliability of the 1B's confidence on 500 held-out cases: agreement with Glimmer against mean confidence per bin (marker size by bin size; 95% Wilson intervals; bins under 5 cases omitted). Expected calibration error 0.052.</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The one-token decider mostly reads the order, not the preference</a:t>
            </a:r>
            <a:endParaRPr lang="en-US" sz="2800" dirty="0"/>
          </a:p>
        </p:txBody>
      </p:sp>
      <p:pic>
        <p:nvPicPr>
          <p:cNvPr id="3" name="Image 0" descr="preencoded.png">    </p:cNvPr>
          <p:cNvPicPr>
            <a:picLocks noChangeAspect="1"/>
          </p:cNvPicPr>
          <p:nvPr/>
        </p:nvPicPr>
        <p:blipFill>
          <a:blip r:embed="rId1"/>
          <a:stretch>
            <a:fillRect/>
          </a:stretch>
        </p:blipFill>
        <p:spPr>
          <a:xfrm>
            <a:off x="866568" y="1188720"/>
            <a:ext cx="10458558"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13 | </a:t>
            </a:r>
            <a:pPr indent="0" marL="0">
              <a:buNone/>
            </a:pPr>
            <a:r>
              <a:rPr lang="en-US" sz="1100" dirty="0">
                <a:solidFill>
                  <a:srgbClr val="55555C"/>
                </a:solidFill>
              </a:rPr>
              <a:t>Picks that changed when only the order of the listed times changed, on the 196 hardest cases (95% Wilson intervals). Glimmer asked again in the same order is the baseline for its own sampling.</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Distillation techniques we tried, and what each did</a:t>
            </a:r>
            <a:endParaRPr lang="en-US" sz="2800" dirty="0"/>
          </a:p>
        </p:txBody>
      </p:sp>
      <p:sp>
        <p:nvSpPr>
          <p:cNvPr id="3" name="Text 1"/>
          <p:cNvSpPr txBox="1"/>
          <p:nvPr/>
        </p:nvSpPr>
        <p:spPr>
          <a:xfrm>
            <a:off x="548640" y="1188720"/>
            <a:ext cx="5486400" cy="365760"/>
          </a:xfrm>
          <a:prstGeom prst="rect">
            <a:avLst/>
          </a:prstGeom>
          <a:noFill/>
          <a:ln/>
        </p:spPr>
        <p:txBody>
          <a:bodyPr wrap="square" lIns="0" tIns="0" rIns="0" bIns="0" rtlCol="0" anchor="ctr"/>
          <a:lstStyle/>
          <a:p>
            <a:pPr indent="0" marL="0">
              <a:buNone/>
            </a:pPr>
            <a:r>
              <a:rPr lang="en-US" sz="1500" b="1" dirty="0">
                <a:solidFill>
                  <a:srgbClr val="0A0A0B"/>
                </a:solidFill>
              </a:rPr>
              <a:t>The decision 1B (choosing a time)</a:t>
            </a:r>
            <a:endParaRPr lang="en-US" sz="1500" dirty="0"/>
          </a:p>
        </p:txBody>
      </p:sp>
      <p:sp>
        <p:nvSpPr>
          <p:cNvPr id="4" name="Shape 2"/>
          <p:cNvSpPr/>
          <p:nvPr/>
        </p:nvSpPr>
        <p:spPr>
          <a:xfrm>
            <a:off x="548640" y="1600200"/>
            <a:ext cx="5486400" cy="402336"/>
          </a:xfrm>
          <a:prstGeom prst="roundRect">
            <a:avLst>
              <a:gd name="adj" fmla="val 11364"/>
            </a:avLst>
          </a:prstGeom>
          <a:solidFill>
            <a:srgbClr val="F3F6F4"/>
          </a:solidFill>
          <a:ln w="12700">
            <a:solidFill>
              <a:srgbClr val="F3F6F4"/>
            </a:solidFill>
            <a:prstDash val="solid"/>
          </a:ln>
        </p:spPr>
      </p:sp>
      <p:sp>
        <p:nvSpPr>
          <p:cNvPr id="5" name="Shape 3"/>
          <p:cNvSpPr/>
          <p:nvPr/>
        </p:nvSpPr>
        <p:spPr>
          <a:xfrm>
            <a:off x="621792" y="1682496"/>
            <a:ext cx="960120" cy="237744"/>
          </a:xfrm>
          <a:prstGeom prst="roundRect">
            <a:avLst>
              <a:gd name="adj" fmla="val 50000"/>
            </a:avLst>
          </a:prstGeom>
          <a:solidFill>
            <a:srgbClr val="0A7F44"/>
          </a:solidFill>
          <a:ln w="12700">
            <a:solidFill>
              <a:srgbClr val="0A7F44"/>
            </a:solidFill>
            <a:prstDash val="solid"/>
          </a:ln>
        </p:spPr>
      </p:sp>
      <p:sp>
        <p:nvSpPr>
          <p:cNvPr id="6" name="Text 4"/>
          <p:cNvSpPr txBox="1"/>
          <p:nvPr/>
        </p:nvSpPr>
        <p:spPr>
          <a:xfrm>
            <a:off x="621792" y="1682496"/>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used</a:t>
            </a:r>
            <a:endParaRPr lang="en-US" sz="800" dirty="0"/>
          </a:p>
        </p:txBody>
      </p:sp>
      <p:sp>
        <p:nvSpPr>
          <p:cNvPr id="7" name="Text 5"/>
          <p:cNvSpPr txBox="1"/>
          <p:nvPr/>
        </p:nvSpPr>
        <p:spPr>
          <a:xfrm>
            <a:off x="1664208" y="1600200"/>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LoRA SFT on Glimmer's choices </a:t>
            </a:r>
            <a:pPr indent="0" marL="0">
              <a:buNone/>
            </a:pPr>
            <a:r>
              <a:rPr lang="en-US" sz="950" dirty="0">
                <a:solidFill>
                  <a:srgbClr val="0064E0"/>
                </a:solidFill>
              </a:rPr>
              <a:t>[28] </a:t>
            </a:r>
            <a:pPr indent="0" marL="0">
              <a:buNone/>
            </a:pPr>
            <a:r>
              <a:rPr lang="en-US" sz="950" dirty="0">
                <a:solidFill>
                  <a:srgbClr val="55555C"/>
                </a:solidFill>
              </a:rPr>
              <a:t>rank 16, 4,868 cases, 20 min on one A100</a:t>
            </a:r>
            <a:endParaRPr lang="en-US" sz="950" dirty="0"/>
          </a:p>
        </p:txBody>
      </p:sp>
      <p:sp>
        <p:nvSpPr>
          <p:cNvPr id="8" name="Shape 6"/>
          <p:cNvSpPr/>
          <p:nvPr/>
        </p:nvSpPr>
        <p:spPr>
          <a:xfrm>
            <a:off x="548640" y="2039112"/>
            <a:ext cx="5486400" cy="402336"/>
          </a:xfrm>
          <a:prstGeom prst="roundRect">
            <a:avLst>
              <a:gd name="adj" fmla="val 11364"/>
            </a:avLst>
          </a:prstGeom>
          <a:solidFill>
            <a:srgbClr val="FFFFFF"/>
          </a:solidFill>
          <a:ln w="12700">
            <a:solidFill>
              <a:srgbClr val="FFFFFF"/>
            </a:solidFill>
            <a:prstDash val="solid"/>
          </a:ln>
        </p:spPr>
      </p:sp>
      <p:sp>
        <p:nvSpPr>
          <p:cNvPr id="9" name="Shape 7"/>
          <p:cNvSpPr/>
          <p:nvPr/>
        </p:nvSpPr>
        <p:spPr>
          <a:xfrm>
            <a:off x="621792" y="2121408"/>
            <a:ext cx="960120" cy="237744"/>
          </a:xfrm>
          <a:prstGeom prst="roundRect">
            <a:avLst>
              <a:gd name="adj" fmla="val 50000"/>
            </a:avLst>
          </a:prstGeom>
          <a:solidFill>
            <a:srgbClr val="0A7F44"/>
          </a:solidFill>
          <a:ln w="12700">
            <a:solidFill>
              <a:srgbClr val="0A7F44"/>
            </a:solidFill>
            <a:prstDash val="solid"/>
          </a:ln>
        </p:spPr>
      </p:sp>
      <p:sp>
        <p:nvSpPr>
          <p:cNvPr id="10" name="Text 8"/>
          <p:cNvSpPr txBox="1"/>
          <p:nvPr/>
        </p:nvSpPr>
        <p:spPr>
          <a:xfrm>
            <a:off x="621792" y="2121408"/>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used</a:t>
            </a:r>
            <a:endParaRPr lang="en-US" sz="800" dirty="0"/>
          </a:p>
        </p:txBody>
      </p:sp>
      <p:sp>
        <p:nvSpPr>
          <p:cNvPr id="11" name="Text 9"/>
          <p:cNvSpPr txBox="1"/>
          <p:nvPr/>
        </p:nvSpPr>
        <p:spPr>
          <a:xfrm>
            <a:off x="1664208" y="2039112"/>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One-pass scoring of declared options </a:t>
            </a:r>
            <a:pPr indent="0" marL="0">
              <a:buNone/>
            </a:pPr>
            <a:r>
              <a:rPr lang="en-US" sz="950" dirty="0">
                <a:solidFill>
                  <a:srgbClr val="0064E0"/>
                </a:solidFill>
              </a:rPr>
              <a:t>[20] </a:t>
            </a:r>
            <a:pPr indent="0" marL="0">
              <a:buNone/>
            </a:pPr>
            <a:r>
              <a:rPr lang="en-US" sz="950" dirty="0">
                <a:solidFill>
                  <a:srgbClr val="55555C"/>
                </a:solidFill>
              </a:rPr>
              <a:t>softmax over the valid letters; no text written</a:t>
            </a:r>
            <a:endParaRPr lang="en-US" sz="950" dirty="0"/>
          </a:p>
        </p:txBody>
      </p:sp>
      <p:sp>
        <p:nvSpPr>
          <p:cNvPr id="12" name="Shape 10"/>
          <p:cNvSpPr/>
          <p:nvPr/>
        </p:nvSpPr>
        <p:spPr>
          <a:xfrm>
            <a:off x="548640" y="2478024"/>
            <a:ext cx="5486400" cy="402336"/>
          </a:xfrm>
          <a:prstGeom prst="roundRect">
            <a:avLst>
              <a:gd name="adj" fmla="val 11364"/>
            </a:avLst>
          </a:prstGeom>
          <a:solidFill>
            <a:srgbClr val="F3F6F4"/>
          </a:solidFill>
          <a:ln w="12700">
            <a:solidFill>
              <a:srgbClr val="F3F6F4"/>
            </a:solidFill>
            <a:prstDash val="solid"/>
          </a:ln>
        </p:spPr>
      </p:sp>
      <p:sp>
        <p:nvSpPr>
          <p:cNvPr id="13" name="Shape 11"/>
          <p:cNvSpPr/>
          <p:nvPr/>
        </p:nvSpPr>
        <p:spPr>
          <a:xfrm>
            <a:off x="621792" y="2560320"/>
            <a:ext cx="960120" cy="237744"/>
          </a:xfrm>
          <a:prstGeom prst="roundRect">
            <a:avLst>
              <a:gd name="adj" fmla="val 50000"/>
            </a:avLst>
          </a:prstGeom>
          <a:solidFill>
            <a:srgbClr val="0A7F44"/>
          </a:solidFill>
          <a:ln w="12700">
            <a:solidFill>
              <a:srgbClr val="0A7F44"/>
            </a:solidFill>
            <a:prstDash val="solid"/>
          </a:ln>
        </p:spPr>
      </p:sp>
      <p:sp>
        <p:nvSpPr>
          <p:cNvPr id="14" name="Text 12"/>
          <p:cNvSpPr txBox="1"/>
          <p:nvPr/>
        </p:nvSpPr>
        <p:spPr>
          <a:xfrm>
            <a:off x="621792" y="2560320"/>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used</a:t>
            </a:r>
            <a:endParaRPr lang="en-US" sz="800" dirty="0"/>
          </a:p>
        </p:txBody>
      </p:sp>
      <p:sp>
        <p:nvSpPr>
          <p:cNvPr id="15" name="Text 13"/>
          <p:cNvSpPr txBox="1"/>
          <p:nvPr/>
        </p:nvSpPr>
        <p:spPr>
          <a:xfrm>
            <a:off x="1664208" y="2478024"/>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More teacher answers per case </a:t>
            </a:r>
            <a:pPr indent="0" marL="0">
              <a:buNone/>
            </a:pPr>
            <a:r>
              <a:rPr lang="en-US" sz="950" dirty="0">
                <a:solidFill>
                  <a:srgbClr val="0064E0"/>
                </a:solidFill>
              </a:rPr>
              <a:t>[27] </a:t>
            </a:r>
            <a:pPr indent="0" marL="0">
              <a:buNone/>
            </a:pPr>
            <a:r>
              <a:rPr lang="en-US" sz="950" dirty="0">
                <a:solidFill>
                  <a:srgbClr val="55555C"/>
                </a:solidFill>
              </a:rPr>
              <a:t>served as v4: int4 hardest 67.0% → 69.5%, test 88.5% → 88.9% vs v3</a:t>
            </a:r>
            <a:endParaRPr lang="en-US" sz="950" dirty="0"/>
          </a:p>
        </p:txBody>
      </p:sp>
      <p:sp>
        <p:nvSpPr>
          <p:cNvPr id="16" name="Shape 14"/>
          <p:cNvSpPr/>
          <p:nvPr/>
        </p:nvSpPr>
        <p:spPr>
          <a:xfrm>
            <a:off x="548640" y="2916936"/>
            <a:ext cx="5486400" cy="402336"/>
          </a:xfrm>
          <a:prstGeom prst="roundRect">
            <a:avLst>
              <a:gd name="adj" fmla="val 11364"/>
            </a:avLst>
          </a:prstGeom>
          <a:solidFill>
            <a:srgbClr val="FFFFFF"/>
          </a:solidFill>
          <a:ln w="12700">
            <a:solidFill>
              <a:srgbClr val="FFFFFF"/>
            </a:solidFill>
            <a:prstDash val="solid"/>
          </a:ln>
        </p:spPr>
      </p:sp>
      <p:sp>
        <p:nvSpPr>
          <p:cNvPr id="17" name="Shape 15"/>
          <p:cNvSpPr/>
          <p:nvPr/>
        </p:nvSpPr>
        <p:spPr>
          <a:xfrm>
            <a:off x="621792" y="2999232"/>
            <a:ext cx="960120" cy="237744"/>
          </a:xfrm>
          <a:prstGeom prst="roundRect">
            <a:avLst>
              <a:gd name="adj" fmla="val 50000"/>
            </a:avLst>
          </a:prstGeom>
          <a:solidFill>
            <a:srgbClr val="0064E0"/>
          </a:solidFill>
          <a:ln w="12700">
            <a:solidFill>
              <a:srgbClr val="0064E0"/>
            </a:solidFill>
            <a:prstDash val="solid"/>
          </a:ln>
        </p:spPr>
      </p:sp>
      <p:sp>
        <p:nvSpPr>
          <p:cNvPr id="18" name="Text 16"/>
          <p:cNvSpPr txBox="1"/>
          <p:nvPr/>
        </p:nvSpPr>
        <p:spPr>
          <a:xfrm>
            <a:off x="621792" y="2999232"/>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measured</a:t>
            </a:r>
            <a:endParaRPr lang="en-US" sz="800" dirty="0"/>
          </a:p>
        </p:txBody>
      </p:sp>
      <p:sp>
        <p:nvSpPr>
          <p:cNvPr id="19" name="Text 17"/>
          <p:cNvSpPr txBox="1"/>
          <p:nvPr/>
        </p:nvSpPr>
        <p:spPr>
          <a:xfrm>
            <a:off x="1664208" y="2916936"/>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Order augmentation </a:t>
            </a:r>
            <a:pPr indent="0" marL="0">
              <a:buNone/>
            </a:pPr>
            <a:r>
              <a:rPr lang="en-US" sz="950" dirty="0">
                <a:solidFill>
                  <a:srgbClr val="0064E0"/>
                </a:solidFill>
              </a:rPr>
              <a:t>[–] </a:t>
            </a:r>
            <a:pPr indent="0" marL="0">
              <a:buNone/>
            </a:pPr>
            <a:r>
              <a:rPr lang="en-US" sz="950" dirty="0">
                <a:solidFill>
                  <a:srgbClr val="55555C"/>
                </a:solidFill>
              </a:rPr>
              <a:t>flips when reversed 15.6% → 1.6%, for 1.5 points of agreement</a:t>
            </a:r>
            <a:endParaRPr lang="en-US" sz="950" dirty="0"/>
          </a:p>
        </p:txBody>
      </p:sp>
      <p:sp>
        <p:nvSpPr>
          <p:cNvPr id="20" name="Shape 18"/>
          <p:cNvSpPr/>
          <p:nvPr/>
        </p:nvSpPr>
        <p:spPr>
          <a:xfrm>
            <a:off x="548640" y="3355848"/>
            <a:ext cx="5486400" cy="402336"/>
          </a:xfrm>
          <a:prstGeom prst="roundRect">
            <a:avLst>
              <a:gd name="adj" fmla="val 11364"/>
            </a:avLst>
          </a:prstGeom>
          <a:solidFill>
            <a:srgbClr val="F3F6F4"/>
          </a:solidFill>
          <a:ln w="12700">
            <a:solidFill>
              <a:srgbClr val="F3F6F4"/>
            </a:solidFill>
            <a:prstDash val="solid"/>
          </a:ln>
        </p:spPr>
      </p:sp>
      <p:sp>
        <p:nvSpPr>
          <p:cNvPr id="21" name="Shape 19"/>
          <p:cNvSpPr/>
          <p:nvPr/>
        </p:nvSpPr>
        <p:spPr>
          <a:xfrm>
            <a:off x="621792" y="3438144"/>
            <a:ext cx="960120" cy="237744"/>
          </a:xfrm>
          <a:prstGeom prst="roundRect">
            <a:avLst>
              <a:gd name="adj" fmla="val 50000"/>
            </a:avLst>
          </a:prstGeom>
          <a:solidFill>
            <a:srgbClr val="B26A00"/>
          </a:solidFill>
          <a:ln w="12700">
            <a:solidFill>
              <a:srgbClr val="B26A00"/>
            </a:solidFill>
            <a:prstDash val="solid"/>
          </a:ln>
        </p:spPr>
      </p:sp>
      <p:sp>
        <p:nvSpPr>
          <p:cNvPr id="22" name="Text 20"/>
          <p:cNvSpPr txBox="1"/>
          <p:nvPr/>
        </p:nvSpPr>
        <p:spPr>
          <a:xfrm>
            <a:off x="621792" y="3438144"/>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tried, not kept</a:t>
            </a:r>
            <a:endParaRPr lang="en-US" sz="800" dirty="0"/>
          </a:p>
        </p:txBody>
      </p:sp>
      <p:sp>
        <p:nvSpPr>
          <p:cNvPr id="23" name="Text 21"/>
          <p:cNvSpPr txBox="1"/>
          <p:nvPr/>
        </p:nvSpPr>
        <p:spPr>
          <a:xfrm>
            <a:off x="1664208" y="3355848"/>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Soft labels, KL at T = 2 </a:t>
            </a:r>
            <a:pPr indent="0" marL="0">
              <a:buNone/>
            </a:pPr>
            <a:r>
              <a:rPr lang="en-US" sz="950" dirty="0">
                <a:solidFill>
                  <a:srgbClr val="0064E0"/>
                </a:solidFill>
              </a:rPr>
              <a:t>[27] </a:t>
            </a:r>
            <a:pPr indent="0" marL="0">
              <a:buNone/>
            </a:pPr>
            <a:r>
              <a:rPr lang="en-US" sz="950" dirty="0">
                <a:solidFill>
                  <a:srgbClr val="55555C"/>
                </a:solidFill>
              </a:rPr>
              <a:t>agreement and calibration both worse</a:t>
            </a:r>
            <a:endParaRPr lang="en-US" sz="950" dirty="0"/>
          </a:p>
        </p:txBody>
      </p:sp>
      <p:sp>
        <p:nvSpPr>
          <p:cNvPr id="24" name="Shape 22"/>
          <p:cNvSpPr/>
          <p:nvPr/>
        </p:nvSpPr>
        <p:spPr>
          <a:xfrm>
            <a:off x="548640" y="3794760"/>
            <a:ext cx="5486400" cy="402336"/>
          </a:xfrm>
          <a:prstGeom prst="roundRect">
            <a:avLst>
              <a:gd name="adj" fmla="val 11364"/>
            </a:avLst>
          </a:prstGeom>
          <a:solidFill>
            <a:srgbClr val="FFFFFF"/>
          </a:solidFill>
          <a:ln w="12700">
            <a:solidFill>
              <a:srgbClr val="FFFFFF"/>
            </a:solidFill>
            <a:prstDash val="solid"/>
          </a:ln>
        </p:spPr>
      </p:sp>
      <p:sp>
        <p:nvSpPr>
          <p:cNvPr id="25" name="Shape 23"/>
          <p:cNvSpPr/>
          <p:nvPr/>
        </p:nvSpPr>
        <p:spPr>
          <a:xfrm>
            <a:off x="621792" y="3877056"/>
            <a:ext cx="960120" cy="237744"/>
          </a:xfrm>
          <a:prstGeom prst="roundRect">
            <a:avLst>
              <a:gd name="adj" fmla="val 50000"/>
            </a:avLst>
          </a:prstGeom>
          <a:solidFill>
            <a:srgbClr val="B26A00"/>
          </a:solidFill>
          <a:ln w="12700">
            <a:solidFill>
              <a:srgbClr val="B26A00"/>
            </a:solidFill>
            <a:prstDash val="solid"/>
          </a:ln>
        </p:spPr>
      </p:sp>
      <p:sp>
        <p:nvSpPr>
          <p:cNvPr id="26" name="Text 24"/>
          <p:cNvSpPr txBox="1"/>
          <p:nvPr/>
        </p:nvSpPr>
        <p:spPr>
          <a:xfrm>
            <a:off x="621792" y="3877056"/>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tried, not kept</a:t>
            </a:r>
            <a:endParaRPr lang="en-US" sz="800" dirty="0"/>
          </a:p>
        </p:txBody>
      </p:sp>
      <p:sp>
        <p:nvSpPr>
          <p:cNvPr id="27" name="Text 25"/>
          <p:cNvSpPr txBox="1"/>
          <p:nvPr/>
        </p:nvSpPr>
        <p:spPr>
          <a:xfrm>
            <a:off x="1664208" y="3794760"/>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The decider's letters as soft labels </a:t>
            </a:r>
            <a:pPr indent="0" marL="0">
              <a:buNone/>
            </a:pPr>
            <a:r>
              <a:rPr lang="en-US" sz="950" dirty="0">
                <a:solidFill>
                  <a:srgbClr val="0064E0"/>
                </a:solidFill>
              </a:rPr>
              <a:t>[27] </a:t>
            </a:r>
            <a:pPr indent="0" marL="0">
              <a:buNone/>
            </a:pPr>
            <a:r>
              <a:rPr lang="en-US" sz="950" dirty="0">
                <a:solidFill>
                  <a:srgbClr val="55555C"/>
                </a:solidFill>
              </a:rPr>
              <a:t>99.5% of its picks were the first time listed</a:t>
            </a:r>
            <a:endParaRPr lang="en-US" sz="950" dirty="0"/>
          </a:p>
        </p:txBody>
      </p:sp>
      <p:sp>
        <p:nvSpPr>
          <p:cNvPr id="28" name="Shape 26"/>
          <p:cNvSpPr/>
          <p:nvPr/>
        </p:nvSpPr>
        <p:spPr>
          <a:xfrm>
            <a:off x="548640" y="4233672"/>
            <a:ext cx="5486400" cy="402336"/>
          </a:xfrm>
          <a:prstGeom prst="roundRect">
            <a:avLst>
              <a:gd name="adj" fmla="val 11364"/>
            </a:avLst>
          </a:prstGeom>
          <a:solidFill>
            <a:srgbClr val="F3F6F4"/>
          </a:solidFill>
          <a:ln w="12700">
            <a:solidFill>
              <a:srgbClr val="F3F6F4"/>
            </a:solidFill>
            <a:prstDash val="solid"/>
          </a:ln>
        </p:spPr>
      </p:sp>
      <p:sp>
        <p:nvSpPr>
          <p:cNvPr id="29" name="Shape 27"/>
          <p:cNvSpPr/>
          <p:nvPr/>
        </p:nvSpPr>
        <p:spPr>
          <a:xfrm>
            <a:off x="621792" y="4315968"/>
            <a:ext cx="960120" cy="237744"/>
          </a:xfrm>
          <a:prstGeom prst="roundRect">
            <a:avLst>
              <a:gd name="adj" fmla="val 50000"/>
            </a:avLst>
          </a:prstGeom>
          <a:solidFill>
            <a:srgbClr val="8A8A92"/>
          </a:solidFill>
          <a:ln w="12700">
            <a:solidFill>
              <a:srgbClr val="8A8A92"/>
            </a:solidFill>
            <a:prstDash val="solid"/>
          </a:ln>
        </p:spPr>
      </p:sp>
      <p:sp>
        <p:nvSpPr>
          <p:cNvPr id="30" name="Text 28"/>
          <p:cNvSpPr txBox="1"/>
          <p:nvPr/>
        </p:nvSpPr>
        <p:spPr>
          <a:xfrm>
            <a:off x="621792" y="4315968"/>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not run</a:t>
            </a:r>
            <a:endParaRPr lang="en-US" sz="800" dirty="0"/>
          </a:p>
        </p:txBody>
      </p:sp>
      <p:sp>
        <p:nvSpPr>
          <p:cNvPr id="31" name="Text 29"/>
          <p:cNvSpPr txBox="1"/>
          <p:nvPr/>
        </p:nvSpPr>
        <p:spPr>
          <a:xfrm>
            <a:off x="1664208" y="4233672"/>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Rationale as an auxiliary loss </a:t>
            </a:r>
            <a:pPr indent="0" marL="0">
              <a:buNone/>
            </a:pPr>
            <a:r>
              <a:rPr lang="en-US" sz="950" dirty="0">
                <a:solidFill>
                  <a:srgbClr val="0064E0"/>
                </a:solidFill>
              </a:rPr>
              <a:t>[30] </a:t>
            </a:r>
            <a:pPr indent="0" marL="0">
              <a:buNone/>
            </a:pPr>
            <a:r>
              <a:rPr lang="en-US" sz="950" dirty="0">
                <a:solidFill>
                  <a:srgbClr val="55555C"/>
                </a:solidFill>
              </a:rPr>
              <a:t>cut off when the VM was preempted</a:t>
            </a:r>
            <a:endParaRPr lang="en-US" sz="950" dirty="0"/>
          </a:p>
        </p:txBody>
      </p:sp>
      <p:sp>
        <p:nvSpPr>
          <p:cNvPr id="32" name="Shape 30"/>
          <p:cNvSpPr/>
          <p:nvPr/>
        </p:nvSpPr>
        <p:spPr>
          <a:xfrm>
            <a:off x="548640" y="4672584"/>
            <a:ext cx="5486400" cy="402336"/>
          </a:xfrm>
          <a:prstGeom prst="roundRect">
            <a:avLst>
              <a:gd name="adj" fmla="val 11364"/>
            </a:avLst>
          </a:prstGeom>
          <a:solidFill>
            <a:srgbClr val="FFFFFF"/>
          </a:solidFill>
          <a:ln w="12700">
            <a:solidFill>
              <a:srgbClr val="FFFFFF"/>
            </a:solidFill>
            <a:prstDash val="solid"/>
          </a:ln>
        </p:spPr>
      </p:sp>
      <p:sp>
        <p:nvSpPr>
          <p:cNvPr id="33" name="Shape 31"/>
          <p:cNvSpPr/>
          <p:nvPr/>
        </p:nvSpPr>
        <p:spPr>
          <a:xfrm>
            <a:off x="621792" y="4754880"/>
            <a:ext cx="960120" cy="237744"/>
          </a:xfrm>
          <a:prstGeom prst="roundRect">
            <a:avLst>
              <a:gd name="adj" fmla="val 50000"/>
            </a:avLst>
          </a:prstGeom>
          <a:solidFill>
            <a:srgbClr val="0064E0"/>
          </a:solidFill>
          <a:ln w="12700">
            <a:solidFill>
              <a:srgbClr val="0064E0"/>
            </a:solidFill>
            <a:prstDash val="solid"/>
          </a:ln>
        </p:spPr>
      </p:sp>
      <p:sp>
        <p:nvSpPr>
          <p:cNvPr id="34" name="Text 32"/>
          <p:cNvSpPr txBox="1"/>
          <p:nvPr/>
        </p:nvSpPr>
        <p:spPr>
          <a:xfrm>
            <a:off x="621792" y="4754880"/>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measured</a:t>
            </a:r>
            <a:endParaRPr lang="en-US" sz="800" dirty="0"/>
          </a:p>
        </p:txBody>
      </p:sp>
      <p:sp>
        <p:nvSpPr>
          <p:cNvPr id="35" name="Text 33"/>
          <p:cNvSpPr txBox="1"/>
          <p:nvPr/>
        </p:nvSpPr>
        <p:spPr>
          <a:xfrm>
            <a:off x="1664208" y="4672584"/>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Temperature scaling </a:t>
            </a:r>
            <a:pPr indent="0" marL="0">
              <a:buNone/>
            </a:pPr>
            <a:r>
              <a:rPr lang="en-US" sz="950" dirty="0">
                <a:solidFill>
                  <a:srgbClr val="0064E0"/>
                </a:solidFill>
              </a:rPr>
              <a:t>[31] </a:t>
            </a:r>
            <a:pPr indent="0" marL="0">
              <a:buNone/>
            </a:pPr>
            <a:r>
              <a:rPr lang="en-US" sz="950" dirty="0">
                <a:solidFill>
                  <a:srgbClr val="55555C"/>
                </a:solidFill>
              </a:rPr>
              <a:t>T 1.35–1.5 on val; test ECE 0.044 → 0.017 (A2A_STUDENT_TEMP)</a:t>
            </a:r>
            <a:endParaRPr lang="en-US" sz="950" dirty="0"/>
          </a:p>
        </p:txBody>
      </p:sp>
      <p:sp>
        <p:nvSpPr>
          <p:cNvPr id="36" name="Shape 34"/>
          <p:cNvSpPr/>
          <p:nvPr/>
        </p:nvSpPr>
        <p:spPr>
          <a:xfrm>
            <a:off x="548640" y="5111496"/>
            <a:ext cx="5486400" cy="402336"/>
          </a:xfrm>
          <a:prstGeom prst="roundRect">
            <a:avLst>
              <a:gd name="adj" fmla="val 11364"/>
            </a:avLst>
          </a:prstGeom>
          <a:solidFill>
            <a:srgbClr val="F3F6F4"/>
          </a:solidFill>
          <a:ln w="12700">
            <a:solidFill>
              <a:srgbClr val="F3F6F4"/>
            </a:solidFill>
            <a:prstDash val="solid"/>
          </a:ln>
        </p:spPr>
      </p:sp>
      <p:sp>
        <p:nvSpPr>
          <p:cNvPr id="37" name="Shape 35"/>
          <p:cNvSpPr/>
          <p:nvPr/>
        </p:nvSpPr>
        <p:spPr>
          <a:xfrm>
            <a:off x="621792" y="5193792"/>
            <a:ext cx="960120" cy="237744"/>
          </a:xfrm>
          <a:prstGeom prst="roundRect">
            <a:avLst>
              <a:gd name="adj" fmla="val 50000"/>
            </a:avLst>
          </a:prstGeom>
          <a:solidFill>
            <a:srgbClr val="0064E0"/>
          </a:solidFill>
          <a:ln w="12700">
            <a:solidFill>
              <a:srgbClr val="0064E0"/>
            </a:solidFill>
            <a:prstDash val="solid"/>
          </a:ln>
        </p:spPr>
      </p:sp>
      <p:sp>
        <p:nvSpPr>
          <p:cNvPr id="38" name="Text 36"/>
          <p:cNvSpPr txBox="1"/>
          <p:nvPr/>
        </p:nvSpPr>
        <p:spPr>
          <a:xfrm>
            <a:off x="621792" y="5193792"/>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measured</a:t>
            </a:r>
            <a:endParaRPr lang="en-US" sz="800" dirty="0"/>
          </a:p>
        </p:txBody>
      </p:sp>
      <p:sp>
        <p:nvSpPr>
          <p:cNvPr id="39" name="Text 37"/>
          <p:cNvSpPr txBox="1"/>
          <p:nvPr/>
        </p:nvSpPr>
        <p:spPr>
          <a:xfrm>
            <a:off x="1664208" y="5111496"/>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Conformal risk control </a:t>
            </a:r>
            <a:pPr indent="0" marL="0">
              <a:buNone/>
            </a:pPr>
            <a:r>
              <a:rPr lang="en-US" sz="950" dirty="0">
                <a:solidFill>
                  <a:srgbClr val="0064E0"/>
                </a:solidFill>
              </a:rPr>
              <a:t>[32] </a:t>
            </a:r>
            <a:pPr indent="0" marL="0">
              <a:buNone/>
            </a:pPr>
            <a:r>
              <a:rPr lang="en-US" sz="950" dirty="0">
                <a:solidFill>
                  <a:srgbClr val="55555C"/>
                </a:solidFill>
              </a:rPr>
              <a:t>0.79 at 5% risk; the served 0.6 is a trade for more answers</a:t>
            </a:r>
            <a:endParaRPr lang="en-US" sz="950" dirty="0"/>
          </a:p>
        </p:txBody>
      </p:sp>
      <p:sp>
        <p:nvSpPr>
          <p:cNvPr id="40" name="Shape 38"/>
          <p:cNvSpPr/>
          <p:nvPr/>
        </p:nvSpPr>
        <p:spPr>
          <a:xfrm>
            <a:off x="548640" y="5550408"/>
            <a:ext cx="5486400" cy="402336"/>
          </a:xfrm>
          <a:prstGeom prst="roundRect">
            <a:avLst>
              <a:gd name="adj" fmla="val 11364"/>
            </a:avLst>
          </a:prstGeom>
          <a:solidFill>
            <a:srgbClr val="FFFFFF"/>
          </a:solidFill>
          <a:ln w="12700">
            <a:solidFill>
              <a:srgbClr val="FFFFFF"/>
            </a:solidFill>
            <a:prstDash val="solid"/>
          </a:ln>
        </p:spPr>
      </p:sp>
      <p:sp>
        <p:nvSpPr>
          <p:cNvPr id="41" name="Shape 39"/>
          <p:cNvSpPr/>
          <p:nvPr/>
        </p:nvSpPr>
        <p:spPr>
          <a:xfrm>
            <a:off x="621792" y="5632704"/>
            <a:ext cx="960120" cy="237744"/>
          </a:xfrm>
          <a:prstGeom prst="roundRect">
            <a:avLst>
              <a:gd name="adj" fmla="val 50000"/>
            </a:avLst>
          </a:prstGeom>
          <a:solidFill>
            <a:srgbClr val="0064E0"/>
          </a:solidFill>
          <a:ln w="12700">
            <a:solidFill>
              <a:srgbClr val="0064E0"/>
            </a:solidFill>
            <a:prstDash val="solid"/>
          </a:ln>
        </p:spPr>
      </p:sp>
      <p:sp>
        <p:nvSpPr>
          <p:cNvPr id="42" name="Text 40"/>
          <p:cNvSpPr txBox="1"/>
          <p:nvPr/>
        </p:nvSpPr>
        <p:spPr>
          <a:xfrm>
            <a:off x="621792" y="5632704"/>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measured</a:t>
            </a:r>
            <a:endParaRPr lang="en-US" sz="800" dirty="0"/>
          </a:p>
        </p:txBody>
      </p:sp>
      <p:sp>
        <p:nvSpPr>
          <p:cNvPr id="43" name="Text 41"/>
          <p:cNvSpPr txBox="1"/>
          <p:nvPr/>
        </p:nvSpPr>
        <p:spPr>
          <a:xfrm>
            <a:off x="1664208" y="5550408"/>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int4 with an importance matrix </a:t>
            </a:r>
            <a:pPr indent="0" marL="0">
              <a:buNone/>
            </a:pPr>
            <a:r>
              <a:rPr lang="en-US" sz="950" dirty="0">
                <a:solidFill>
                  <a:srgbClr val="0064E0"/>
                </a:solidFill>
              </a:rPr>
              <a:t>[34, 33] </a:t>
            </a:r>
            <a:pPr indent="0" marL="0">
              <a:buNone/>
            </a:pPr>
            <a:r>
              <a:rPr lang="en-US" sz="950" dirty="0">
                <a:solidFill>
                  <a:srgbClr val="55555C"/>
                </a:solidFill>
              </a:rPr>
              <a:t>no significant change against bf16 (McNemar p ≥ 0.34)</a:t>
            </a:r>
            <a:endParaRPr lang="en-US" sz="950" dirty="0"/>
          </a:p>
        </p:txBody>
      </p:sp>
      <p:sp>
        <p:nvSpPr>
          <p:cNvPr id="44" name="Text 42"/>
          <p:cNvSpPr txBox="1"/>
          <p:nvPr/>
        </p:nvSpPr>
        <p:spPr>
          <a:xfrm>
            <a:off x="6263640" y="1188720"/>
            <a:ext cx="5379415" cy="365760"/>
          </a:xfrm>
          <a:prstGeom prst="rect">
            <a:avLst/>
          </a:prstGeom>
          <a:noFill/>
          <a:ln/>
        </p:spPr>
        <p:txBody>
          <a:bodyPr wrap="square" lIns="0" tIns="0" rIns="0" bIns="0" rtlCol="0" anchor="ctr"/>
          <a:lstStyle/>
          <a:p>
            <a:pPr indent="0" marL="0">
              <a:buNone/>
            </a:pPr>
            <a:r>
              <a:rPr lang="en-US" sz="1500" b="1" dirty="0">
                <a:solidFill>
                  <a:srgbClr val="0A0A0B"/>
                </a:solidFill>
              </a:rPr>
              <a:t>The text 1B, and the tiny layer</a:t>
            </a:r>
            <a:endParaRPr lang="en-US" sz="1500" dirty="0"/>
          </a:p>
        </p:txBody>
      </p:sp>
      <p:sp>
        <p:nvSpPr>
          <p:cNvPr id="45" name="Shape 43"/>
          <p:cNvSpPr/>
          <p:nvPr/>
        </p:nvSpPr>
        <p:spPr>
          <a:xfrm>
            <a:off x="6263640" y="1600200"/>
            <a:ext cx="5379415" cy="402336"/>
          </a:xfrm>
          <a:prstGeom prst="roundRect">
            <a:avLst>
              <a:gd name="adj" fmla="val 11364"/>
            </a:avLst>
          </a:prstGeom>
          <a:solidFill>
            <a:srgbClr val="F3F6F4"/>
          </a:solidFill>
          <a:ln w="12700">
            <a:solidFill>
              <a:srgbClr val="F3F6F4"/>
            </a:solidFill>
            <a:prstDash val="solid"/>
          </a:ln>
        </p:spPr>
      </p:sp>
      <p:sp>
        <p:nvSpPr>
          <p:cNvPr id="46" name="Shape 44"/>
          <p:cNvSpPr/>
          <p:nvPr/>
        </p:nvSpPr>
        <p:spPr>
          <a:xfrm>
            <a:off x="6336792" y="1682496"/>
            <a:ext cx="960120" cy="237744"/>
          </a:xfrm>
          <a:prstGeom prst="roundRect">
            <a:avLst>
              <a:gd name="adj" fmla="val 50000"/>
            </a:avLst>
          </a:prstGeom>
          <a:solidFill>
            <a:srgbClr val="0A7F44"/>
          </a:solidFill>
          <a:ln w="12700">
            <a:solidFill>
              <a:srgbClr val="0A7F44"/>
            </a:solidFill>
            <a:prstDash val="solid"/>
          </a:ln>
        </p:spPr>
      </p:sp>
      <p:sp>
        <p:nvSpPr>
          <p:cNvPr id="47" name="Text 45"/>
          <p:cNvSpPr txBox="1"/>
          <p:nvPr/>
        </p:nvSpPr>
        <p:spPr>
          <a:xfrm>
            <a:off x="6336792" y="1682496"/>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used</a:t>
            </a:r>
            <a:endParaRPr lang="en-US" sz="800" dirty="0"/>
          </a:p>
        </p:txBody>
      </p:sp>
      <p:sp>
        <p:nvSpPr>
          <p:cNvPr id="48" name="Text 46"/>
          <p:cNvSpPr txBox="1"/>
          <p:nvPr/>
        </p:nvSpPr>
        <p:spPr>
          <a:xfrm>
            <a:off x="7379208" y="1600200"/>
            <a:ext cx="4190695" cy="402336"/>
          </a:xfrm>
          <a:prstGeom prst="rect">
            <a:avLst/>
          </a:prstGeom>
          <a:noFill/>
          <a:ln/>
        </p:spPr>
        <p:txBody>
          <a:bodyPr wrap="square" lIns="0" tIns="0" rIns="0" bIns="0" rtlCol="0" anchor="ctr"/>
          <a:lstStyle/>
          <a:p>
            <a:pPr indent="0" marL="0">
              <a:buNone/>
            </a:pPr>
            <a:r>
              <a:rPr lang="en-US" sz="950" b="1" dirty="0">
                <a:solidFill>
                  <a:srgbClr val="0A0A0B"/>
                </a:solidFill>
              </a:rPr>
              <a:t>SFT on Glimmer's answers + attacked copies </a:t>
            </a:r>
            <a:pPr indent="0" marL="0">
              <a:buNone/>
            </a:pPr>
            <a:r>
              <a:rPr lang="en-US" sz="950" dirty="0">
                <a:solidFill>
                  <a:srgbClr val="0064E0"/>
                </a:solidFill>
              </a:rPr>
              <a:t>[28] </a:t>
            </a:r>
            <a:pPr indent="0" marL="0">
              <a:buNone/>
            </a:pPr>
            <a:r>
              <a:rPr lang="en-US" sz="950" dirty="0">
                <a:solidFill>
                  <a:srgbClr val="55555C"/>
                </a:solidFill>
              </a:rPr>
              <a:t>hostile comments passed 65/71 → 8/71 (Glimmer 0)</a:t>
            </a:r>
            <a:endParaRPr lang="en-US" sz="950" dirty="0"/>
          </a:p>
        </p:txBody>
      </p:sp>
      <p:sp>
        <p:nvSpPr>
          <p:cNvPr id="49" name="Shape 47"/>
          <p:cNvSpPr/>
          <p:nvPr/>
        </p:nvSpPr>
        <p:spPr>
          <a:xfrm>
            <a:off x="6263640" y="2039112"/>
            <a:ext cx="5379415" cy="402336"/>
          </a:xfrm>
          <a:prstGeom prst="roundRect">
            <a:avLst>
              <a:gd name="adj" fmla="val 11364"/>
            </a:avLst>
          </a:prstGeom>
          <a:solidFill>
            <a:srgbClr val="FFFFFF"/>
          </a:solidFill>
          <a:ln w="12700">
            <a:solidFill>
              <a:srgbClr val="FFFFFF"/>
            </a:solidFill>
            <a:prstDash val="solid"/>
          </a:ln>
        </p:spPr>
      </p:sp>
      <p:sp>
        <p:nvSpPr>
          <p:cNvPr id="50" name="Shape 48"/>
          <p:cNvSpPr/>
          <p:nvPr/>
        </p:nvSpPr>
        <p:spPr>
          <a:xfrm>
            <a:off x="6336792" y="2121408"/>
            <a:ext cx="960120" cy="237744"/>
          </a:xfrm>
          <a:prstGeom prst="roundRect">
            <a:avLst>
              <a:gd name="adj" fmla="val 50000"/>
            </a:avLst>
          </a:prstGeom>
          <a:solidFill>
            <a:srgbClr val="0A7F44"/>
          </a:solidFill>
          <a:ln w="12700">
            <a:solidFill>
              <a:srgbClr val="0A7F44"/>
            </a:solidFill>
            <a:prstDash val="solid"/>
          </a:ln>
        </p:spPr>
      </p:sp>
      <p:sp>
        <p:nvSpPr>
          <p:cNvPr id="51" name="Text 49"/>
          <p:cNvSpPr txBox="1"/>
          <p:nvPr/>
        </p:nvSpPr>
        <p:spPr>
          <a:xfrm>
            <a:off x="6336792" y="2121408"/>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used</a:t>
            </a:r>
            <a:endParaRPr lang="en-US" sz="800" dirty="0"/>
          </a:p>
        </p:txBody>
      </p:sp>
      <p:sp>
        <p:nvSpPr>
          <p:cNvPr id="52" name="Text 50"/>
          <p:cNvSpPr txBox="1"/>
          <p:nvPr/>
        </p:nvSpPr>
        <p:spPr>
          <a:xfrm>
            <a:off x="7379208" y="2039112"/>
            <a:ext cx="4190695" cy="402336"/>
          </a:xfrm>
          <a:prstGeom prst="rect">
            <a:avLst/>
          </a:prstGeom>
          <a:noFill/>
          <a:ln/>
        </p:spPr>
        <p:txBody>
          <a:bodyPr wrap="square" lIns="0" tIns="0" rIns="0" bIns="0" rtlCol="0" anchor="ctr"/>
          <a:lstStyle/>
          <a:p>
            <a:pPr indent="0" marL="0">
              <a:buNone/>
            </a:pPr>
            <a:r>
              <a:rPr lang="en-US" sz="950" b="1" dirty="0">
                <a:solidFill>
                  <a:srgbClr val="0A0A0B"/>
                </a:solidFill>
              </a:rPr>
              <a:t>Outside text in its own input message </a:t>
            </a:r>
            <a:pPr indent="0" marL="0">
              <a:buNone/>
            </a:pPr>
            <a:r>
              <a:rPr lang="en-US" sz="950" dirty="0">
                <a:solidFill>
                  <a:srgbClr val="0064E0"/>
                </a:solidFill>
              </a:rPr>
              <a:t>[35] </a:t>
            </a:r>
            <a:pPr indent="0" marL="0">
              <a:buNone/>
            </a:pPr>
            <a:r>
              <a:rPr lang="en-US" sz="950" dirty="0">
                <a:solidFill>
                  <a:srgbClr val="55555C"/>
                </a:solidFill>
              </a:rPr>
              <a:t>on the 1B route only; Glimmer's prompts unchanged</a:t>
            </a:r>
            <a:endParaRPr lang="en-US" sz="950" dirty="0"/>
          </a:p>
        </p:txBody>
      </p:sp>
      <p:sp>
        <p:nvSpPr>
          <p:cNvPr id="53" name="Shape 51"/>
          <p:cNvSpPr/>
          <p:nvPr/>
        </p:nvSpPr>
        <p:spPr>
          <a:xfrm>
            <a:off x="6263640" y="2478024"/>
            <a:ext cx="5379415" cy="402336"/>
          </a:xfrm>
          <a:prstGeom prst="roundRect">
            <a:avLst>
              <a:gd name="adj" fmla="val 11364"/>
            </a:avLst>
          </a:prstGeom>
          <a:solidFill>
            <a:srgbClr val="F3F6F4"/>
          </a:solidFill>
          <a:ln w="12700">
            <a:solidFill>
              <a:srgbClr val="F3F6F4"/>
            </a:solidFill>
            <a:prstDash val="solid"/>
          </a:ln>
        </p:spPr>
      </p:sp>
      <p:sp>
        <p:nvSpPr>
          <p:cNvPr id="54" name="Shape 52"/>
          <p:cNvSpPr/>
          <p:nvPr/>
        </p:nvSpPr>
        <p:spPr>
          <a:xfrm>
            <a:off x="6336792" y="2560320"/>
            <a:ext cx="960120" cy="237744"/>
          </a:xfrm>
          <a:prstGeom prst="roundRect">
            <a:avLst>
              <a:gd name="adj" fmla="val 50000"/>
            </a:avLst>
          </a:prstGeom>
          <a:solidFill>
            <a:srgbClr val="0064E0"/>
          </a:solidFill>
          <a:ln w="12700">
            <a:solidFill>
              <a:srgbClr val="0064E0"/>
            </a:solidFill>
            <a:prstDash val="solid"/>
          </a:ln>
        </p:spPr>
      </p:sp>
      <p:sp>
        <p:nvSpPr>
          <p:cNvPr id="55" name="Text 53"/>
          <p:cNvSpPr txBox="1"/>
          <p:nvPr/>
        </p:nvSpPr>
        <p:spPr>
          <a:xfrm>
            <a:off x="6336792" y="2560320"/>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measured</a:t>
            </a:r>
            <a:endParaRPr lang="en-US" sz="800" dirty="0"/>
          </a:p>
        </p:txBody>
      </p:sp>
      <p:sp>
        <p:nvSpPr>
          <p:cNvPr id="56" name="Text 54"/>
          <p:cNvSpPr txBox="1"/>
          <p:nvPr/>
        </p:nvSpPr>
        <p:spPr>
          <a:xfrm>
            <a:off x="7379208" y="2478024"/>
            <a:ext cx="4190695" cy="402336"/>
          </a:xfrm>
          <a:prstGeom prst="rect">
            <a:avLst/>
          </a:prstGeom>
          <a:noFill/>
          <a:ln/>
        </p:spPr>
        <p:txBody>
          <a:bodyPr wrap="square" lIns="0" tIns="0" rIns="0" bIns="0" rtlCol="0" anchor="ctr"/>
          <a:lstStyle/>
          <a:p>
            <a:pPr indent="0" marL="0">
              <a:buNone/>
            </a:pPr>
            <a:r>
              <a:rPr lang="en-US" sz="950" b="1" dirty="0">
                <a:solidFill>
                  <a:srgbClr val="0A0A0B"/>
                </a:solidFill>
              </a:rPr>
              <a:t>Soft labels on the verdict </a:t>
            </a:r>
            <a:pPr indent="0" marL="0">
              <a:buNone/>
            </a:pPr>
            <a:r>
              <a:rPr lang="en-US" sz="950" dirty="0">
                <a:solidFill>
                  <a:srgbClr val="0064E0"/>
                </a:solidFill>
              </a:rPr>
              <a:t>[27] </a:t>
            </a:r>
            <a:pPr indent="0" marL="0">
              <a:buNone/>
            </a:pPr>
            <a:r>
              <a:rPr lang="en-US" sz="950" dirty="0">
                <a:solidFill>
                  <a:srgbClr val="55555C"/>
                </a:solidFill>
              </a:rPr>
              <a:t>Glimmer is almost always certain: little to learn</a:t>
            </a:r>
            <a:endParaRPr lang="en-US" sz="950" dirty="0"/>
          </a:p>
        </p:txBody>
      </p:sp>
      <p:sp>
        <p:nvSpPr>
          <p:cNvPr id="57" name="Shape 55"/>
          <p:cNvSpPr/>
          <p:nvPr/>
        </p:nvSpPr>
        <p:spPr>
          <a:xfrm>
            <a:off x="6263640" y="2916936"/>
            <a:ext cx="5379415" cy="402336"/>
          </a:xfrm>
          <a:prstGeom prst="roundRect">
            <a:avLst>
              <a:gd name="adj" fmla="val 11364"/>
            </a:avLst>
          </a:prstGeom>
          <a:solidFill>
            <a:srgbClr val="FFFFFF"/>
          </a:solidFill>
          <a:ln w="12700">
            <a:solidFill>
              <a:srgbClr val="FFFFFF"/>
            </a:solidFill>
            <a:prstDash val="solid"/>
          </a:ln>
        </p:spPr>
      </p:sp>
      <p:sp>
        <p:nvSpPr>
          <p:cNvPr id="58" name="Shape 56"/>
          <p:cNvSpPr/>
          <p:nvPr/>
        </p:nvSpPr>
        <p:spPr>
          <a:xfrm>
            <a:off x="6336792" y="2999232"/>
            <a:ext cx="960120" cy="237744"/>
          </a:xfrm>
          <a:prstGeom prst="roundRect">
            <a:avLst>
              <a:gd name="adj" fmla="val 50000"/>
            </a:avLst>
          </a:prstGeom>
          <a:solidFill>
            <a:srgbClr val="B26A00"/>
          </a:solidFill>
          <a:ln w="12700">
            <a:solidFill>
              <a:srgbClr val="B26A00"/>
            </a:solidFill>
            <a:prstDash val="solid"/>
          </a:ln>
        </p:spPr>
      </p:sp>
      <p:sp>
        <p:nvSpPr>
          <p:cNvPr id="59" name="Text 57"/>
          <p:cNvSpPr txBox="1"/>
          <p:nvPr/>
        </p:nvSpPr>
        <p:spPr>
          <a:xfrm>
            <a:off x="6336792" y="2999232"/>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tried, not kept</a:t>
            </a:r>
            <a:endParaRPr lang="en-US" sz="800" dirty="0"/>
          </a:p>
        </p:txBody>
      </p:sp>
      <p:sp>
        <p:nvSpPr>
          <p:cNvPr id="60" name="Text 58"/>
          <p:cNvSpPr txBox="1"/>
          <p:nvPr/>
        </p:nvSpPr>
        <p:spPr>
          <a:xfrm>
            <a:off x="7379208" y="2916936"/>
            <a:ext cx="4190695" cy="402336"/>
          </a:xfrm>
          <a:prstGeom prst="rect">
            <a:avLst/>
          </a:prstGeom>
          <a:noFill/>
          <a:ln/>
        </p:spPr>
        <p:txBody>
          <a:bodyPr wrap="square" lIns="0" tIns="0" rIns="0" bIns="0" rtlCol="0" anchor="ctr"/>
          <a:lstStyle/>
          <a:p>
            <a:pPr indent="0" marL="0">
              <a:buNone/>
            </a:pPr>
            <a:r>
              <a:rPr lang="en-US" sz="950" b="1" dirty="0">
                <a:solidFill>
                  <a:srgbClr val="0A0A0B"/>
                </a:solidFill>
              </a:rPr>
              <a:t>SecAlign++ preference training </a:t>
            </a:r>
            <a:pPr indent="0" marL="0">
              <a:buNone/>
            </a:pPr>
            <a:r>
              <a:rPr lang="en-US" sz="950" dirty="0">
                <a:solidFill>
                  <a:srgbClr val="0064E0"/>
                </a:solidFill>
              </a:rPr>
              <a:t>[36, 37] </a:t>
            </a:r>
            <a:pPr indent="0" marL="0">
              <a:buNone/>
            </a:pPr>
            <a:r>
              <a:rPr lang="en-US" sz="950" dirty="0">
                <a:solidFill>
                  <a:srgbClr val="55555C"/>
                </a:solidFill>
              </a:rPr>
              <a:t>injected passes 5 → 2 of 71, but 8 of 32 ordinary blocked</a:t>
            </a:r>
            <a:endParaRPr lang="en-US" sz="950" dirty="0"/>
          </a:p>
        </p:txBody>
      </p:sp>
      <p:sp>
        <p:nvSpPr>
          <p:cNvPr id="61" name="Shape 59"/>
          <p:cNvSpPr/>
          <p:nvPr/>
        </p:nvSpPr>
        <p:spPr>
          <a:xfrm>
            <a:off x="6263640" y="3355848"/>
            <a:ext cx="5379415" cy="402336"/>
          </a:xfrm>
          <a:prstGeom prst="roundRect">
            <a:avLst>
              <a:gd name="adj" fmla="val 11364"/>
            </a:avLst>
          </a:prstGeom>
          <a:solidFill>
            <a:srgbClr val="F3F6F4"/>
          </a:solidFill>
          <a:ln w="12700">
            <a:solidFill>
              <a:srgbClr val="F3F6F4"/>
            </a:solidFill>
            <a:prstDash val="solid"/>
          </a:ln>
        </p:spPr>
      </p:sp>
      <p:sp>
        <p:nvSpPr>
          <p:cNvPr id="62" name="Shape 60"/>
          <p:cNvSpPr/>
          <p:nvPr/>
        </p:nvSpPr>
        <p:spPr>
          <a:xfrm>
            <a:off x="6336792" y="3438144"/>
            <a:ext cx="960120" cy="237744"/>
          </a:xfrm>
          <a:prstGeom prst="roundRect">
            <a:avLst>
              <a:gd name="adj" fmla="val 50000"/>
            </a:avLst>
          </a:prstGeom>
          <a:solidFill>
            <a:srgbClr val="B26A00"/>
          </a:solidFill>
          <a:ln w="12700">
            <a:solidFill>
              <a:srgbClr val="B26A00"/>
            </a:solidFill>
            <a:prstDash val="solid"/>
          </a:ln>
        </p:spPr>
      </p:sp>
      <p:sp>
        <p:nvSpPr>
          <p:cNvPr id="63" name="Text 61"/>
          <p:cNvSpPr txBox="1"/>
          <p:nvPr/>
        </p:nvSpPr>
        <p:spPr>
          <a:xfrm>
            <a:off x="6336792" y="3438144"/>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tried, not kept</a:t>
            </a:r>
            <a:endParaRPr lang="en-US" sz="800" dirty="0"/>
          </a:p>
        </p:txBody>
      </p:sp>
      <p:sp>
        <p:nvSpPr>
          <p:cNvPr id="64" name="Text 62"/>
          <p:cNvSpPr txBox="1"/>
          <p:nvPr/>
        </p:nvSpPr>
        <p:spPr>
          <a:xfrm>
            <a:off x="7379208" y="3355848"/>
            <a:ext cx="4190695" cy="402336"/>
          </a:xfrm>
          <a:prstGeom prst="rect">
            <a:avLst/>
          </a:prstGeom>
          <a:noFill/>
          <a:ln/>
        </p:spPr>
        <p:txBody>
          <a:bodyPr wrap="square" lIns="0" tIns="0" rIns="0" bIns="0" rtlCol="0" anchor="ctr"/>
          <a:lstStyle/>
          <a:p>
            <a:pPr indent="0" marL="0">
              <a:buNone/>
            </a:pPr>
            <a:r>
              <a:rPr lang="en-US" sz="950" b="1" dirty="0">
                <a:solidFill>
                  <a:srgbClr val="0A0A0B"/>
                </a:solidFill>
              </a:rPr>
              <a:t>int4 with an importance matrix </a:t>
            </a:r>
            <a:pPr indent="0" marL="0">
              <a:buNone/>
            </a:pPr>
            <a:r>
              <a:rPr lang="en-US" sz="950" dirty="0">
                <a:solidFill>
                  <a:srgbClr val="0064E0"/>
                </a:solidFill>
              </a:rPr>
              <a:t>[34] </a:t>
            </a:r>
            <a:pPr indent="0" marL="0">
              <a:buNone/>
            </a:pPr>
            <a:r>
              <a:rPr lang="en-US" sz="950" dirty="0">
                <a:solidFill>
                  <a:srgbClr val="55555C"/>
                </a:solidFill>
              </a:rPr>
              <a:t>no consistent gain over plain Q4_K_M</a:t>
            </a:r>
            <a:endParaRPr lang="en-US" sz="950" dirty="0"/>
          </a:p>
        </p:txBody>
      </p:sp>
      <p:sp>
        <p:nvSpPr>
          <p:cNvPr id="65" name="Shape 63"/>
          <p:cNvSpPr/>
          <p:nvPr/>
        </p:nvSpPr>
        <p:spPr>
          <a:xfrm>
            <a:off x="6263640" y="3794760"/>
            <a:ext cx="5379415" cy="402336"/>
          </a:xfrm>
          <a:prstGeom prst="roundRect">
            <a:avLst>
              <a:gd name="adj" fmla="val 11364"/>
            </a:avLst>
          </a:prstGeom>
          <a:solidFill>
            <a:srgbClr val="FFFFFF"/>
          </a:solidFill>
          <a:ln w="12700">
            <a:solidFill>
              <a:srgbClr val="FFFFFF"/>
            </a:solidFill>
            <a:prstDash val="solid"/>
          </a:ln>
        </p:spPr>
      </p:sp>
      <p:sp>
        <p:nvSpPr>
          <p:cNvPr id="66" name="Shape 64"/>
          <p:cNvSpPr/>
          <p:nvPr/>
        </p:nvSpPr>
        <p:spPr>
          <a:xfrm>
            <a:off x="6336792" y="3877056"/>
            <a:ext cx="960120" cy="237744"/>
          </a:xfrm>
          <a:prstGeom prst="roundRect">
            <a:avLst>
              <a:gd name="adj" fmla="val 50000"/>
            </a:avLst>
          </a:prstGeom>
          <a:solidFill>
            <a:srgbClr val="0A7F44"/>
          </a:solidFill>
          <a:ln w="12700">
            <a:solidFill>
              <a:srgbClr val="0A7F44"/>
            </a:solidFill>
            <a:prstDash val="solid"/>
          </a:ln>
        </p:spPr>
      </p:sp>
      <p:sp>
        <p:nvSpPr>
          <p:cNvPr id="67" name="Text 65"/>
          <p:cNvSpPr txBox="1"/>
          <p:nvPr/>
        </p:nvSpPr>
        <p:spPr>
          <a:xfrm>
            <a:off x="6336792" y="3877056"/>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used</a:t>
            </a:r>
            <a:endParaRPr lang="en-US" sz="800" dirty="0"/>
          </a:p>
        </p:txBody>
      </p:sp>
      <p:sp>
        <p:nvSpPr>
          <p:cNvPr id="68" name="Text 66"/>
          <p:cNvSpPr txBox="1"/>
          <p:nvPr/>
        </p:nvSpPr>
        <p:spPr>
          <a:xfrm>
            <a:off x="7379208" y="3794760"/>
            <a:ext cx="4190695" cy="402336"/>
          </a:xfrm>
          <a:prstGeom prst="rect">
            <a:avLst/>
          </a:prstGeom>
          <a:noFill/>
          <a:ln/>
        </p:spPr>
        <p:txBody>
          <a:bodyPr wrap="square" lIns="0" tIns="0" rIns="0" bIns="0" rtlCol="0" anchor="ctr"/>
          <a:lstStyle/>
          <a:p>
            <a:pPr indent="0" marL="0">
              <a:buNone/>
            </a:pPr>
            <a:r>
              <a:rPr lang="en-US" sz="950" b="1" dirty="0">
                <a:solidFill>
                  <a:srgbClr val="0A0A0B"/>
                </a:solidFill>
              </a:rPr>
              <a:t>Tiny MLPs on facts code holds </a:t>
            </a:r>
            <a:pPr indent="0" marL="0">
              <a:buNone/>
            </a:pPr>
            <a:r>
              <a:rPr lang="en-US" sz="950" dirty="0">
                <a:solidFill>
                  <a:srgbClr val="0064E0"/>
                </a:solidFill>
              </a:rPr>
              <a:t>[–] </a:t>
            </a:r>
            <a:pPr indent="0" marL="0">
              <a:buNone/>
            </a:pPr>
            <a:r>
              <a:rPr lang="en-US" sz="950" dirty="0">
                <a:solidFill>
                  <a:srgbClr val="55555C"/>
                </a:solidFill>
              </a:rPr>
              <a:t>27.6 KB; hardest 69.4% (the 1B 63.3%)</a:t>
            </a:r>
            <a:endParaRPr lang="en-US" sz="950" dirty="0"/>
          </a:p>
        </p:txBody>
      </p:sp>
      <p:sp>
        <p:nvSpPr>
          <p:cNvPr id="69" name="Shape 67"/>
          <p:cNvSpPr/>
          <p:nvPr/>
        </p:nvSpPr>
        <p:spPr>
          <a:xfrm>
            <a:off x="6263640" y="4233672"/>
            <a:ext cx="5379415" cy="402336"/>
          </a:xfrm>
          <a:prstGeom prst="roundRect">
            <a:avLst>
              <a:gd name="adj" fmla="val 11364"/>
            </a:avLst>
          </a:prstGeom>
          <a:solidFill>
            <a:srgbClr val="F3F6F4"/>
          </a:solidFill>
          <a:ln w="12700">
            <a:solidFill>
              <a:srgbClr val="F3F6F4"/>
            </a:solidFill>
            <a:prstDash val="solid"/>
          </a:ln>
        </p:spPr>
      </p:sp>
      <p:sp>
        <p:nvSpPr>
          <p:cNvPr id="70" name="Shape 68"/>
          <p:cNvSpPr/>
          <p:nvPr/>
        </p:nvSpPr>
        <p:spPr>
          <a:xfrm>
            <a:off x="6336792" y="4315968"/>
            <a:ext cx="960120" cy="237744"/>
          </a:xfrm>
          <a:prstGeom prst="roundRect">
            <a:avLst>
              <a:gd name="adj" fmla="val 50000"/>
            </a:avLst>
          </a:prstGeom>
          <a:solidFill>
            <a:srgbClr val="0A7F44"/>
          </a:solidFill>
          <a:ln w="12700">
            <a:solidFill>
              <a:srgbClr val="0A7F44"/>
            </a:solidFill>
            <a:prstDash val="solid"/>
          </a:ln>
        </p:spPr>
      </p:sp>
      <p:sp>
        <p:nvSpPr>
          <p:cNvPr id="71" name="Text 69"/>
          <p:cNvSpPr txBox="1"/>
          <p:nvPr/>
        </p:nvSpPr>
        <p:spPr>
          <a:xfrm>
            <a:off x="6336792" y="4315968"/>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used</a:t>
            </a:r>
            <a:endParaRPr lang="en-US" sz="800" dirty="0"/>
          </a:p>
        </p:txBody>
      </p:sp>
      <p:sp>
        <p:nvSpPr>
          <p:cNvPr id="72" name="Text 70"/>
          <p:cNvSpPr txBox="1"/>
          <p:nvPr/>
        </p:nvSpPr>
        <p:spPr>
          <a:xfrm>
            <a:off x="7379208" y="4233672"/>
            <a:ext cx="4190695" cy="402336"/>
          </a:xfrm>
          <a:prstGeom prst="rect">
            <a:avLst/>
          </a:prstGeom>
          <a:noFill/>
          <a:ln/>
        </p:spPr>
        <p:txBody>
          <a:bodyPr wrap="square" lIns="0" tIns="0" rIns="0" bIns="0" rtlCol="0" anchor="ctr"/>
          <a:lstStyle/>
          <a:p>
            <a:pPr indent="0" marL="0">
              <a:buNone/>
            </a:pPr>
            <a:r>
              <a:rPr lang="en-US" sz="950" b="1" dirty="0">
                <a:solidFill>
                  <a:srgbClr val="0A0A0B"/>
                </a:solidFill>
              </a:rPr>
              <a:t>A doubt model + conformal threshold </a:t>
            </a:r>
            <a:pPr indent="0" marL="0">
              <a:buNone/>
            </a:pPr>
            <a:r>
              <a:rPr lang="en-US" sz="950" dirty="0">
                <a:solidFill>
                  <a:srgbClr val="0064E0"/>
                </a:solidFill>
              </a:rPr>
              <a:t>[32] </a:t>
            </a:r>
            <a:pPr indent="0" marL="0">
              <a:buNone/>
            </a:pPr>
            <a:r>
              <a:rPr lang="en-US" sz="950" dirty="0">
                <a:solidFill>
                  <a:srgbClr val="55555C"/>
                </a:solidFill>
              </a:rPr>
              <a:t>answers 59.8% of ordinary choices at 4.3% disagreement</a:t>
            </a:r>
            <a:endParaRPr lang="en-US" sz="950" dirty="0"/>
          </a:p>
        </p:txBody>
      </p:sp>
      <p:sp>
        <p:nvSpPr>
          <p:cNvPr id="73" name="Shape 71"/>
          <p:cNvSpPr/>
          <p:nvPr/>
        </p:nvSpPr>
        <p:spPr>
          <a:xfrm>
            <a:off x="6263640" y="4672584"/>
            <a:ext cx="5379415" cy="402336"/>
          </a:xfrm>
          <a:prstGeom prst="roundRect">
            <a:avLst>
              <a:gd name="adj" fmla="val 11364"/>
            </a:avLst>
          </a:prstGeom>
          <a:solidFill>
            <a:srgbClr val="FFFFFF"/>
          </a:solidFill>
          <a:ln w="12700">
            <a:solidFill>
              <a:srgbClr val="FFFFFF"/>
            </a:solidFill>
            <a:prstDash val="solid"/>
          </a:ln>
        </p:spPr>
      </p:sp>
      <p:sp>
        <p:nvSpPr>
          <p:cNvPr id="74" name="Shape 72"/>
          <p:cNvSpPr/>
          <p:nvPr/>
        </p:nvSpPr>
        <p:spPr>
          <a:xfrm>
            <a:off x="6336792" y="4754880"/>
            <a:ext cx="960120" cy="237744"/>
          </a:xfrm>
          <a:prstGeom prst="roundRect">
            <a:avLst>
              <a:gd name="adj" fmla="val 50000"/>
            </a:avLst>
          </a:prstGeom>
          <a:solidFill>
            <a:srgbClr val="B26A00"/>
          </a:solidFill>
          <a:ln w="12700">
            <a:solidFill>
              <a:srgbClr val="B26A00"/>
            </a:solidFill>
            <a:prstDash val="solid"/>
          </a:ln>
        </p:spPr>
      </p:sp>
      <p:sp>
        <p:nvSpPr>
          <p:cNvPr id="75" name="Text 73"/>
          <p:cNvSpPr txBox="1"/>
          <p:nvPr/>
        </p:nvSpPr>
        <p:spPr>
          <a:xfrm>
            <a:off x="6336792" y="4754880"/>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tried, not kept</a:t>
            </a:r>
            <a:endParaRPr lang="en-US" sz="800" dirty="0"/>
          </a:p>
        </p:txBody>
      </p:sp>
      <p:sp>
        <p:nvSpPr>
          <p:cNvPr id="76" name="Text 74"/>
          <p:cNvSpPr txBox="1"/>
          <p:nvPr/>
        </p:nvSpPr>
        <p:spPr>
          <a:xfrm>
            <a:off x="7379208" y="4672584"/>
            <a:ext cx="4190695" cy="402336"/>
          </a:xfrm>
          <a:prstGeom prst="rect">
            <a:avLst/>
          </a:prstGeom>
          <a:noFill/>
          <a:ln/>
        </p:spPr>
        <p:txBody>
          <a:bodyPr wrap="square" lIns="0" tIns="0" rIns="0" bIns="0" rtlCol="0" anchor="ctr"/>
          <a:lstStyle/>
          <a:p>
            <a:pPr indent="0" marL="0">
              <a:buNone/>
            </a:pPr>
            <a:r>
              <a:rPr lang="en-US" sz="950" b="1" dirty="0">
                <a:solidFill>
                  <a:srgbClr val="0A0A0B"/>
                </a:solidFill>
              </a:rPr>
              <a:t>Hashed n-grams, int8 logistic regression </a:t>
            </a:r>
            <a:pPr indent="0" marL="0">
              <a:buNone/>
            </a:pPr>
            <a:r>
              <a:rPr lang="en-US" sz="950" dirty="0">
                <a:solidFill>
                  <a:srgbClr val="0064E0"/>
                </a:solidFill>
              </a:rPr>
              <a:t>[38] </a:t>
            </a:r>
            <a:pPr indent="0" marL="0">
              <a:buNone/>
            </a:pPr>
            <a:r>
              <a:rPr lang="en-US" sz="950" dirty="0">
                <a:solidFill>
                  <a:srgbClr val="55555C"/>
                </a:solidFill>
              </a:rPr>
              <a:t>post prefilter 87 KB: safe, but passes only 11%</a:t>
            </a:r>
            <a:endParaRPr lang="en-US" sz="950" dirty="0"/>
          </a:p>
        </p:txBody>
      </p:sp>
      <p:sp>
        <p:nvSpPr>
          <p:cNvPr id="77" name="Text 75"/>
          <p:cNvSpPr txBox="1"/>
          <p:nvPr/>
        </p:nvSpPr>
        <p:spPr>
          <a:xfrm>
            <a:off x="548640" y="6035040"/>
            <a:ext cx="11094415" cy="274320"/>
          </a:xfrm>
          <a:prstGeom prst="rect">
            <a:avLst/>
          </a:prstGeom>
          <a:noFill/>
          <a:ln/>
        </p:spPr>
        <p:txBody>
          <a:bodyPr wrap="square" lIns="0" tIns="0" rIns="0" bIns="0" rtlCol="0" anchor="ctr"/>
          <a:lstStyle/>
          <a:p>
            <a:pPr indent="0" marL="0">
              <a:buNone/>
            </a:pPr>
            <a:r>
              <a:rPr lang="en-US" sz="1000" dirty="0">
                <a:solidFill>
                  <a:srgbClr val="55555C"/>
                </a:solidFill>
              </a:rPr>
              <a:t>[n] = references on the last slides. Text 1B and tiny layer: submission/results/text1b.json and tiny.json; the decision 1B: its round-4 run (bf16).</a:t>
            </a:r>
            <a:endParaRPr lang="en-US" sz="10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What surprised us, running Meta's models in a product</a:t>
            </a:r>
            <a:endParaRPr lang="en-US" sz="2800" dirty="0"/>
          </a:p>
        </p:txBody>
      </p:sp>
      <p:sp>
        <p:nvSpPr>
          <p:cNvPr id="3" name="Shape 1"/>
          <p:cNvSpPr/>
          <p:nvPr/>
        </p:nvSpPr>
        <p:spPr>
          <a:xfrm>
            <a:off x="548640" y="1325880"/>
            <a:ext cx="5440680" cy="2194560"/>
          </a:xfrm>
          <a:prstGeom prst="roundRect">
            <a:avLst>
              <a:gd name="adj" fmla="val 3333"/>
            </a:avLst>
          </a:prstGeom>
          <a:solidFill>
            <a:srgbClr val="F3F6F4"/>
          </a:solidFill>
          <a:ln w="12700">
            <a:solidFill>
              <a:srgbClr val="F3F6F4"/>
            </a:solidFill>
            <a:prstDash val="solid"/>
          </a:ln>
        </p:spPr>
      </p:sp>
      <p:sp>
        <p:nvSpPr>
          <p:cNvPr id="4" name="Text 2"/>
          <p:cNvSpPr txBox="1"/>
          <p:nvPr/>
        </p:nvSpPr>
        <p:spPr>
          <a:xfrm>
            <a:off x="822960" y="1508760"/>
            <a:ext cx="4892040" cy="1874520"/>
          </a:xfrm>
          <a:prstGeom prst="rect">
            <a:avLst/>
          </a:prstGeom>
          <a:noFill/>
          <a:ln/>
        </p:spPr>
        <p:txBody>
          <a:bodyPr wrap="square" lIns="0" tIns="0" rIns="0" bIns="0" rtlCol="0" anchor="t"/>
          <a:lstStyle/>
          <a:p>
            <a:pPr indent="0" marL="0">
              <a:spcAft>
                <a:spcPts val="600"/>
              </a:spcAft>
              <a:buNone/>
            </a:pPr>
            <a:r>
              <a:rPr lang="en-US" sz="1700" b="1" dirty="0">
                <a:solidFill>
                  <a:srgbClr val="0A7F44"/>
                </a:solidFill>
              </a:rPr>
              <a:t>Glimmer reasons even when told not to</a:t>
            </a:r>
            <a:endParaRPr lang="en-US" sz="1700" dirty="0"/>
          </a:p>
          <a:p>
            <a:pPr indent="0" marL="0">
              <a:spcAft>
                <a:spcPts val="600"/>
              </a:spcAft>
              <a:buNone/>
            </a:pPr>
            <a:r>
              <a:rPr lang="en-US" sz="1400" dirty="0">
                <a:solidFill>
                  <a:srgbClr val="0A0A0B"/>
                </a:solidFill>
              </a:rPr>
              <a:t>84% of the tokens it wrote over 2,755 calls were reasoning; 9% of calls came back empty. Every call now asks for think "low" with 900 tokens of room.</a:t>
            </a:r>
            <a:endParaRPr lang="en-US" sz="1700" dirty="0"/>
          </a:p>
        </p:txBody>
      </p:sp>
      <p:sp>
        <p:nvSpPr>
          <p:cNvPr id="5" name="Shape 3"/>
          <p:cNvSpPr/>
          <p:nvPr/>
        </p:nvSpPr>
        <p:spPr>
          <a:xfrm>
            <a:off x="6172200" y="1325880"/>
            <a:ext cx="5440680" cy="2194560"/>
          </a:xfrm>
          <a:prstGeom prst="roundRect">
            <a:avLst>
              <a:gd name="adj" fmla="val 3333"/>
            </a:avLst>
          </a:prstGeom>
          <a:solidFill>
            <a:srgbClr val="F3F6F4"/>
          </a:solidFill>
          <a:ln w="12700">
            <a:solidFill>
              <a:srgbClr val="F3F6F4"/>
            </a:solidFill>
            <a:prstDash val="solid"/>
          </a:ln>
        </p:spPr>
      </p:sp>
      <p:sp>
        <p:nvSpPr>
          <p:cNvPr id="6" name="Text 4"/>
          <p:cNvSpPr txBox="1"/>
          <p:nvPr/>
        </p:nvSpPr>
        <p:spPr>
          <a:xfrm>
            <a:off x="6446520" y="1508760"/>
            <a:ext cx="4892040" cy="1874520"/>
          </a:xfrm>
          <a:prstGeom prst="rect">
            <a:avLst/>
          </a:prstGeom>
          <a:noFill/>
          <a:ln/>
        </p:spPr>
        <p:txBody>
          <a:bodyPr wrap="square" lIns="0" tIns="0" rIns="0" bIns="0" rtlCol="0" anchor="t"/>
          <a:lstStyle/>
          <a:p>
            <a:pPr indent="0" marL="0">
              <a:spcAft>
                <a:spcPts val="600"/>
              </a:spcAft>
              <a:buNone/>
            </a:pPr>
            <a:r>
              <a:rPr lang="en-US" sz="1700" b="1" dirty="0">
                <a:solidFill>
                  <a:srgbClr val="0A7F44"/>
                </a:solidFill>
              </a:rPr>
              <a:t>A 1B agrees with Glimmer as often as Glimmer agrees with itself</a:t>
            </a:r>
            <a:endParaRPr lang="en-US" sz="1700" dirty="0"/>
          </a:p>
          <a:p>
            <a:pPr indent="0" marL="0">
              <a:spcAft>
                <a:spcPts val="600"/>
              </a:spcAft>
              <a:buNone/>
            </a:pPr>
            <a:r>
              <a:rPr lang="en-US" sz="1400" dirty="0">
                <a:solidFill>
                  <a:srgbClr val="0A0A0B"/>
                </a:solidFill>
              </a:rPr>
              <a:t>89.5% against 88.8% on 500 held-out cases, in 0.9 s instead of about 40 s.</a:t>
            </a:r>
            <a:endParaRPr lang="en-US" sz="1700" dirty="0"/>
          </a:p>
        </p:txBody>
      </p:sp>
      <p:sp>
        <p:nvSpPr>
          <p:cNvPr id="7" name="Shape 5"/>
          <p:cNvSpPr/>
          <p:nvPr/>
        </p:nvSpPr>
        <p:spPr>
          <a:xfrm>
            <a:off x="548640" y="3749040"/>
            <a:ext cx="5440680" cy="2194560"/>
          </a:xfrm>
          <a:prstGeom prst="roundRect">
            <a:avLst>
              <a:gd name="adj" fmla="val 3333"/>
            </a:avLst>
          </a:prstGeom>
          <a:solidFill>
            <a:srgbClr val="F3F6F4"/>
          </a:solidFill>
          <a:ln w="12700">
            <a:solidFill>
              <a:srgbClr val="F3F6F4"/>
            </a:solidFill>
            <a:prstDash val="solid"/>
          </a:ln>
        </p:spPr>
      </p:sp>
      <p:sp>
        <p:nvSpPr>
          <p:cNvPr id="8" name="Text 6"/>
          <p:cNvSpPr txBox="1"/>
          <p:nvPr/>
        </p:nvSpPr>
        <p:spPr>
          <a:xfrm>
            <a:off x="822960" y="3931920"/>
            <a:ext cx="4892040" cy="1874520"/>
          </a:xfrm>
          <a:prstGeom prst="rect">
            <a:avLst/>
          </a:prstGeom>
          <a:noFill/>
          <a:ln/>
        </p:spPr>
        <p:txBody>
          <a:bodyPr wrap="square" lIns="0" tIns="0" rIns="0" bIns="0" rtlCol="0" anchor="t"/>
          <a:lstStyle/>
          <a:p>
            <a:pPr indent="0" marL="0">
              <a:spcAft>
                <a:spcPts val="600"/>
              </a:spcAft>
              <a:buNone/>
            </a:pPr>
            <a:r>
              <a:rPr lang="en-US" sz="1700" b="1" dirty="0">
                <a:solidFill>
                  <a:srgbClr val="0A7F44"/>
                </a:solidFill>
              </a:rPr>
              <a:t>Glimmer can decide in one token</a:t>
            </a:r>
            <a:endParaRPr lang="en-US" sz="1700" dirty="0"/>
          </a:p>
          <a:p>
            <a:pPr indent="0" marL="0">
              <a:spcAft>
                <a:spcPts val="600"/>
              </a:spcAft>
              <a:buNone/>
            </a:pPr>
            <a:r>
              <a:rPr lang="en-US" sz="1400" dirty="0">
                <a:solidFill>
                  <a:srgbClr val="0A0A0B"/>
                </a:solidFill>
              </a:rPr>
              <a:t>Read with no chat template, its next token gives a probability for each option: 0.53 s, no reasoning. It mostly reads the order, though: 99.5% of picks were the first time listed.</a:t>
            </a:r>
            <a:endParaRPr lang="en-US" sz="1700" dirty="0"/>
          </a:p>
        </p:txBody>
      </p:sp>
      <p:sp>
        <p:nvSpPr>
          <p:cNvPr id="9" name="Shape 7"/>
          <p:cNvSpPr/>
          <p:nvPr/>
        </p:nvSpPr>
        <p:spPr>
          <a:xfrm>
            <a:off x="6172200" y="3749040"/>
            <a:ext cx="5440680" cy="2194560"/>
          </a:xfrm>
          <a:prstGeom prst="roundRect">
            <a:avLst>
              <a:gd name="adj" fmla="val 3333"/>
            </a:avLst>
          </a:prstGeom>
          <a:solidFill>
            <a:srgbClr val="F3F6F4"/>
          </a:solidFill>
          <a:ln w="12700">
            <a:solidFill>
              <a:srgbClr val="F3F6F4"/>
            </a:solidFill>
            <a:prstDash val="solid"/>
          </a:ln>
        </p:spPr>
      </p:sp>
      <p:sp>
        <p:nvSpPr>
          <p:cNvPr id="10" name="Text 8"/>
          <p:cNvSpPr txBox="1"/>
          <p:nvPr/>
        </p:nvSpPr>
        <p:spPr>
          <a:xfrm>
            <a:off x="6446520" y="3931920"/>
            <a:ext cx="4892040" cy="1874520"/>
          </a:xfrm>
          <a:prstGeom prst="rect">
            <a:avLst/>
          </a:prstGeom>
          <a:noFill/>
          <a:ln/>
        </p:spPr>
        <p:txBody>
          <a:bodyPr wrap="square" lIns="0" tIns="0" rIns="0" bIns="0" rtlCol="0" anchor="t"/>
          <a:lstStyle/>
          <a:p>
            <a:pPr indent="0" marL="0">
              <a:spcAft>
                <a:spcPts val="600"/>
              </a:spcAft>
              <a:buNone/>
            </a:pPr>
            <a:r>
              <a:rPr lang="en-US" sz="1700" b="1" dirty="0">
                <a:solidFill>
                  <a:srgbClr val="0A7F44"/>
                </a:solidFill>
              </a:rPr>
              <a:t>Llama Guard 3 reads sports injuries as medical advice</a:t>
            </a:r>
            <a:endParaRPr lang="en-US" sz="1700" dirty="0"/>
          </a:p>
          <a:p>
            <a:pPr indent="0" marL="0">
              <a:spcAft>
                <a:spcPts val="600"/>
              </a:spcAft>
              <a:buNone/>
            </a:pPr>
            <a:r>
              <a:rPr lang="en-US" sz="1400" dirty="0">
                <a:solidFill>
                  <a:srgbClr val="0A0A0B"/>
                </a:solidFill>
              </a:rPr>
              <a:t>Its S6 category flagged 6 to 8 of 15 ordinary injury-care answers; S6 now blocks only when code also finds a dose, a medicine or a condition.</a:t>
            </a:r>
            <a:endParaRPr lang="en-US" sz="17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Security, and a failure the agents found</a:t>
            </a:r>
            <a:endParaRPr lang="en-US" sz="2800" dirty="0"/>
          </a:p>
        </p:txBody>
      </p:sp>
      <p:sp>
        <p:nvSpPr>
          <p:cNvPr id="3" name="Shape 1"/>
          <p:cNvSpPr/>
          <p:nvPr/>
        </p:nvSpPr>
        <p:spPr>
          <a:xfrm>
            <a:off x="548640" y="1325880"/>
            <a:ext cx="2377440" cy="1508760"/>
          </a:xfrm>
          <a:prstGeom prst="roundRect">
            <a:avLst>
              <a:gd name="adj" fmla="val 4848"/>
            </a:avLst>
          </a:prstGeom>
          <a:solidFill>
            <a:srgbClr val="F3F6F4"/>
          </a:solidFill>
          <a:ln w="12700">
            <a:solidFill>
              <a:srgbClr val="F3F6F4"/>
            </a:solidFill>
            <a:prstDash val="solid"/>
          </a:ln>
        </p:spPr>
      </p:sp>
      <p:sp>
        <p:nvSpPr>
          <p:cNvPr id="4" name="Text 2"/>
          <p:cNvSpPr txBox="1"/>
          <p:nvPr/>
        </p:nvSpPr>
        <p:spPr>
          <a:xfrm>
            <a:off x="777240" y="1490472"/>
            <a:ext cx="1920240"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93 / 93</a:t>
            </a:r>
            <a:endParaRPr lang="en-US" sz="3600" dirty="0"/>
          </a:p>
        </p:txBody>
      </p:sp>
      <p:sp>
        <p:nvSpPr>
          <p:cNvPr id="5" name="Text 3"/>
          <p:cNvSpPr txBox="1"/>
          <p:nvPr/>
        </p:nvSpPr>
        <p:spPr>
          <a:xfrm>
            <a:off x="777240" y="2167128"/>
            <a:ext cx="1920240" cy="594360"/>
          </a:xfrm>
          <a:prstGeom prst="rect">
            <a:avLst/>
          </a:prstGeom>
          <a:noFill/>
          <a:ln/>
        </p:spPr>
        <p:txBody>
          <a:bodyPr wrap="square" lIns="0" tIns="0" rIns="0" bIns="0" rtlCol="0" anchor="t"/>
          <a:lstStyle/>
          <a:p>
            <a:pPr indent="0" marL="0">
              <a:buNone/>
            </a:pPr>
            <a:r>
              <a:rPr lang="en-US" sz="1300" dirty="0">
                <a:solidFill>
                  <a:srgbClr val="55555C"/>
                </a:solidFill>
              </a:rPr>
              <a:t>attack cases stopped, named by OWASP LLM Top 10 risk</a:t>
            </a:r>
            <a:endParaRPr lang="en-US" sz="1300" dirty="0"/>
          </a:p>
        </p:txBody>
      </p:sp>
      <p:sp>
        <p:nvSpPr>
          <p:cNvPr id="6" name="Text 4"/>
          <p:cNvSpPr txBox="1"/>
          <p:nvPr/>
        </p:nvSpPr>
        <p:spPr>
          <a:xfrm>
            <a:off x="3200400" y="1325880"/>
            <a:ext cx="8412480" cy="320040"/>
          </a:xfrm>
          <a:prstGeom prst="rect">
            <a:avLst/>
          </a:prstGeom>
          <a:noFill/>
          <a:ln/>
        </p:spPr>
        <p:txBody>
          <a:bodyPr wrap="square" lIns="0" tIns="0" rIns="0" bIns="0" rtlCol="0" anchor="ctr"/>
          <a:lstStyle/>
          <a:p>
            <a:pPr indent="0" marL="0">
              <a:buNone/>
            </a:pPr>
            <a:r>
              <a:rPr lang="en-US" sz="1300" b="1" dirty="0">
                <a:solidFill>
                  <a:srgbClr val="0A0A0B"/>
                </a:solidFill>
              </a:rPr>
              <a:t>Untrusted text (posts, comments, reviews, wishes), layer by layer</a:t>
            </a:r>
            <a:endParaRPr lang="en-US" sz="1300" dirty="0"/>
          </a:p>
        </p:txBody>
      </p:sp>
      <p:sp>
        <p:nvSpPr>
          <p:cNvPr id="7" name="Shape 5"/>
          <p:cNvSpPr/>
          <p:nvPr/>
        </p:nvSpPr>
        <p:spPr>
          <a:xfrm>
            <a:off x="3200400" y="1737360"/>
            <a:ext cx="1481328" cy="1051560"/>
          </a:xfrm>
          <a:prstGeom prst="roundRect">
            <a:avLst>
              <a:gd name="adj" fmla="val 6957"/>
            </a:avLst>
          </a:prstGeom>
          <a:solidFill>
            <a:srgbClr val="FBEAE9"/>
          </a:solidFill>
          <a:ln w="12700">
            <a:solidFill>
              <a:srgbClr val="FBEAE9"/>
            </a:solidFill>
            <a:prstDash val="solid"/>
          </a:ln>
        </p:spPr>
      </p:sp>
      <p:sp>
        <p:nvSpPr>
          <p:cNvPr id="8" name="Text 6"/>
          <p:cNvSpPr txBox="1"/>
          <p:nvPr/>
        </p:nvSpPr>
        <p:spPr>
          <a:xfrm>
            <a:off x="3337560" y="1737360"/>
            <a:ext cx="1207008" cy="1051560"/>
          </a:xfrm>
          <a:prstGeom prst="rect">
            <a:avLst/>
          </a:prstGeom>
          <a:noFill/>
          <a:ln/>
        </p:spPr>
        <p:txBody>
          <a:bodyPr wrap="square" lIns="0" tIns="0" rIns="0" bIns="0" rtlCol="0" anchor="ctr"/>
          <a:lstStyle/>
          <a:p>
            <a:pPr algn="ctr" indent="0" marL="0">
              <a:buNone/>
            </a:pPr>
            <a:r>
              <a:rPr lang="en-US" sz="1400" b="1" dirty="0">
                <a:solidFill>
                  <a:srgbClr val="0A0A0B"/>
                </a:solidFill>
              </a:rPr>
              <a:t>Text in</a:t>
            </a:r>
            <a:endParaRPr lang="en-US" sz="1400" dirty="0"/>
          </a:p>
          <a:p>
            <a:pPr algn="ctr" indent="0" marL="0">
              <a:buNone/>
            </a:pPr>
            <a:r>
              <a:rPr lang="en-US" sz="1150" dirty="0">
                <a:solidFill>
                  <a:srgbClr val="55555C"/>
                </a:solidFill>
              </a:rPr>
              <a:t>a post, a review</a:t>
            </a:r>
            <a:endParaRPr lang="en-US" sz="1400" dirty="0"/>
          </a:p>
        </p:txBody>
      </p:sp>
      <p:sp>
        <p:nvSpPr>
          <p:cNvPr id="9" name="Shape 7"/>
          <p:cNvSpPr/>
          <p:nvPr/>
        </p:nvSpPr>
        <p:spPr>
          <a:xfrm>
            <a:off x="4690872" y="2258568"/>
            <a:ext cx="192024" cy="914"/>
          </a:xfrm>
          <a:prstGeom prst="line">
            <a:avLst/>
          </a:prstGeom>
          <a:noFill/>
          <a:ln w="25400">
            <a:solidFill>
              <a:srgbClr val="8A8A92"/>
            </a:solidFill>
            <a:prstDash val="solid"/>
            <a:tailEnd type="triangle"/>
          </a:ln>
        </p:spPr>
      </p:sp>
      <p:sp>
        <p:nvSpPr>
          <p:cNvPr id="10" name="Shape 8"/>
          <p:cNvSpPr/>
          <p:nvPr/>
        </p:nvSpPr>
        <p:spPr>
          <a:xfrm>
            <a:off x="4901184" y="1737360"/>
            <a:ext cx="1481328" cy="1051560"/>
          </a:xfrm>
          <a:prstGeom prst="roundRect">
            <a:avLst>
              <a:gd name="adj" fmla="val 6957"/>
            </a:avLst>
          </a:prstGeom>
          <a:solidFill>
            <a:srgbClr val="F3F6F4"/>
          </a:solidFill>
          <a:ln w="12700">
            <a:solidFill>
              <a:srgbClr val="F3F6F4"/>
            </a:solidFill>
            <a:prstDash val="solid"/>
          </a:ln>
        </p:spPr>
      </p:sp>
      <p:sp>
        <p:nvSpPr>
          <p:cNvPr id="11" name="Text 9"/>
          <p:cNvSpPr txBox="1"/>
          <p:nvPr/>
        </p:nvSpPr>
        <p:spPr>
          <a:xfrm>
            <a:off x="5038344" y="1737360"/>
            <a:ext cx="1207008" cy="1051560"/>
          </a:xfrm>
          <a:prstGeom prst="rect">
            <a:avLst/>
          </a:prstGeom>
          <a:noFill/>
          <a:ln/>
        </p:spPr>
        <p:txBody>
          <a:bodyPr wrap="square" lIns="0" tIns="0" rIns="0" bIns="0" rtlCol="0" anchor="ctr"/>
          <a:lstStyle/>
          <a:p>
            <a:pPr algn="ctr" indent="0" marL="0">
              <a:buNone/>
            </a:pPr>
            <a:r>
              <a:rPr lang="en-US" sz="1400" b="1" dirty="0">
                <a:solidFill>
                  <a:srgbClr val="0A0A0B"/>
                </a:solidFill>
              </a:rPr>
              <a:t>Prompt Guard</a:t>
            </a:r>
            <a:endParaRPr lang="en-US" sz="1400" dirty="0"/>
          </a:p>
          <a:p>
            <a:pPr algn="ctr" indent="0" marL="0">
              <a:buNone/>
            </a:pPr>
            <a:r>
              <a:rPr lang="en-US" sz="1150" dirty="0">
                <a:solidFill>
                  <a:srgbClr val="55555C"/>
                </a:solidFill>
              </a:rPr>
              <a:t>2 (86M): injections</a:t>
            </a:r>
            <a:endParaRPr lang="en-US" sz="1400" dirty="0"/>
          </a:p>
        </p:txBody>
      </p:sp>
      <p:sp>
        <p:nvSpPr>
          <p:cNvPr id="12" name="Shape 10"/>
          <p:cNvSpPr/>
          <p:nvPr/>
        </p:nvSpPr>
        <p:spPr>
          <a:xfrm>
            <a:off x="6391656" y="2258568"/>
            <a:ext cx="192024" cy="914"/>
          </a:xfrm>
          <a:prstGeom prst="line">
            <a:avLst/>
          </a:prstGeom>
          <a:noFill/>
          <a:ln w="25400">
            <a:solidFill>
              <a:srgbClr val="8A8A92"/>
            </a:solidFill>
            <a:prstDash val="solid"/>
            <a:tailEnd type="triangle"/>
          </a:ln>
        </p:spPr>
      </p:sp>
      <p:sp>
        <p:nvSpPr>
          <p:cNvPr id="13" name="Shape 11"/>
          <p:cNvSpPr/>
          <p:nvPr/>
        </p:nvSpPr>
        <p:spPr>
          <a:xfrm>
            <a:off x="6601968" y="1737360"/>
            <a:ext cx="1481328" cy="1051560"/>
          </a:xfrm>
          <a:prstGeom prst="roundRect">
            <a:avLst>
              <a:gd name="adj" fmla="val 6957"/>
            </a:avLst>
          </a:prstGeom>
          <a:solidFill>
            <a:srgbClr val="F3F6F4"/>
          </a:solidFill>
          <a:ln w="12700">
            <a:solidFill>
              <a:srgbClr val="F3F6F4"/>
            </a:solidFill>
            <a:prstDash val="solid"/>
          </a:ln>
        </p:spPr>
      </p:sp>
      <p:sp>
        <p:nvSpPr>
          <p:cNvPr id="14" name="Text 12"/>
          <p:cNvSpPr txBox="1"/>
          <p:nvPr/>
        </p:nvSpPr>
        <p:spPr>
          <a:xfrm>
            <a:off x="6739128" y="1737360"/>
            <a:ext cx="1207008" cy="1051560"/>
          </a:xfrm>
          <a:prstGeom prst="rect">
            <a:avLst/>
          </a:prstGeom>
          <a:noFill/>
          <a:ln/>
        </p:spPr>
        <p:txBody>
          <a:bodyPr wrap="square" lIns="0" tIns="0" rIns="0" bIns="0" rtlCol="0" anchor="ctr"/>
          <a:lstStyle/>
          <a:p>
            <a:pPr algn="ctr" indent="0" marL="0">
              <a:buNone/>
            </a:pPr>
            <a:r>
              <a:rPr lang="en-US" sz="1400" b="1" dirty="0">
                <a:solidFill>
                  <a:srgbClr val="0A0A0B"/>
                </a:solidFill>
              </a:rPr>
              <a:t>Llama Guard</a:t>
            </a:r>
            <a:endParaRPr lang="en-US" sz="1400" dirty="0"/>
          </a:p>
          <a:p>
            <a:pPr algn="ctr" indent="0" marL="0">
              <a:buNone/>
            </a:pPr>
            <a:r>
              <a:rPr lang="en-US" sz="1150" dirty="0">
                <a:solidFill>
                  <a:srgbClr val="55555C"/>
                </a:solidFill>
              </a:rPr>
              <a:t>3 (1B): harms</a:t>
            </a:r>
            <a:endParaRPr lang="en-US" sz="1400" dirty="0"/>
          </a:p>
        </p:txBody>
      </p:sp>
      <p:sp>
        <p:nvSpPr>
          <p:cNvPr id="15" name="Shape 13"/>
          <p:cNvSpPr/>
          <p:nvPr/>
        </p:nvSpPr>
        <p:spPr>
          <a:xfrm>
            <a:off x="8092440" y="2258568"/>
            <a:ext cx="192024" cy="914"/>
          </a:xfrm>
          <a:prstGeom prst="line">
            <a:avLst/>
          </a:prstGeom>
          <a:noFill/>
          <a:ln w="25400">
            <a:solidFill>
              <a:srgbClr val="8A8A92"/>
            </a:solidFill>
            <a:prstDash val="solid"/>
            <a:tailEnd type="triangle"/>
          </a:ln>
        </p:spPr>
      </p:sp>
      <p:sp>
        <p:nvSpPr>
          <p:cNvPr id="16" name="Shape 14"/>
          <p:cNvSpPr/>
          <p:nvPr/>
        </p:nvSpPr>
        <p:spPr>
          <a:xfrm>
            <a:off x="8302752" y="1737360"/>
            <a:ext cx="1481328" cy="1051560"/>
          </a:xfrm>
          <a:prstGeom prst="roundRect">
            <a:avLst>
              <a:gd name="adj" fmla="val 6957"/>
            </a:avLst>
          </a:prstGeom>
          <a:solidFill>
            <a:srgbClr val="F3F6F4"/>
          </a:solidFill>
          <a:ln w="12700">
            <a:solidFill>
              <a:srgbClr val="F3F6F4"/>
            </a:solidFill>
            <a:prstDash val="solid"/>
          </a:ln>
        </p:spPr>
      </p:sp>
      <p:sp>
        <p:nvSpPr>
          <p:cNvPr id="17" name="Text 15"/>
          <p:cNvSpPr txBox="1"/>
          <p:nvPr/>
        </p:nvSpPr>
        <p:spPr>
          <a:xfrm>
            <a:off x="8439912" y="1737360"/>
            <a:ext cx="1207008" cy="1051560"/>
          </a:xfrm>
          <a:prstGeom prst="rect">
            <a:avLst/>
          </a:prstGeom>
          <a:noFill/>
          <a:ln/>
        </p:spPr>
        <p:txBody>
          <a:bodyPr wrap="square" lIns="0" tIns="0" rIns="0" bIns="0" rtlCol="0" anchor="ctr"/>
          <a:lstStyle/>
          <a:p>
            <a:pPr algn="ctr" indent="0" marL="0">
              <a:buNone/>
            </a:pPr>
            <a:r>
              <a:rPr lang="en-US" sz="1400" b="1" dirty="0">
                <a:solidFill>
                  <a:srgbClr val="0A0A0B"/>
                </a:solidFill>
              </a:rPr>
              <a:t>Code checks</a:t>
            </a:r>
            <a:endParaRPr lang="en-US" sz="1400" dirty="0"/>
          </a:p>
          <a:p>
            <a:pPr algn="ctr" indent="0" marL="0">
              <a:buNone/>
            </a:pPr>
            <a:r>
              <a:rPr lang="en-US" sz="1150" dirty="0">
                <a:solidFill>
                  <a:srgbClr val="55555C"/>
                </a:solidFill>
              </a:rPr>
              <a:t>numbers, names, links</a:t>
            </a:r>
            <a:endParaRPr lang="en-US" sz="1400" dirty="0"/>
          </a:p>
        </p:txBody>
      </p:sp>
      <p:sp>
        <p:nvSpPr>
          <p:cNvPr id="18" name="Shape 16"/>
          <p:cNvSpPr/>
          <p:nvPr/>
        </p:nvSpPr>
        <p:spPr>
          <a:xfrm>
            <a:off x="9793224" y="2258568"/>
            <a:ext cx="192024" cy="914"/>
          </a:xfrm>
          <a:prstGeom prst="line">
            <a:avLst/>
          </a:prstGeom>
          <a:noFill/>
          <a:ln w="25400">
            <a:solidFill>
              <a:srgbClr val="8A8A92"/>
            </a:solidFill>
            <a:prstDash val="solid"/>
            <a:tailEnd type="triangle"/>
          </a:ln>
        </p:spPr>
      </p:sp>
      <p:sp>
        <p:nvSpPr>
          <p:cNvPr id="19" name="Shape 17"/>
          <p:cNvSpPr/>
          <p:nvPr/>
        </p:nvSpPr>
        <p:spPr>
          <a:xfrm>
            <a:off x="10003536" y="1737360"/>
            <a:ext cx="1481328" cy="1051560"/>
          </a:xfrm>
          <a:prstGeom prst="roundRect">
            <a:avLst>
              <a:gd name="adj" fmla="val 6957"/>
            </a:avLst>
          </a:prstGeom>
          <a:solidFill>
            <a:srgbClr val="0A7F44"/>
          </a:solidFill>
          <a:ln w="12700">
            <a:solidFill>
              <a:srgbClr val="0A7F44"/>
            </a:solidFill>
            <a:prstDash val="solid"/>
          </a:ln>
        </p:spPr>
      </p:sp>
      <p:sp>
        <p:nvSpPr>
          <p:cNvPr id="20" name="Text 18"/>
          <p:cNvSpPr txBox="1"/>
          <p:nvPr/>
        </p:nvSpPr>
        <p:spPr>
          <a:xfrm>
            <a:off x="10140696" y="1737360"/>
            <a:ext cx="1207008" cy="1051560"/>
          </a:xfrm>
          <a:prstGeom prst="rect">
            <a:avLst/>
          </a:prstGeom>
          <a:noFill/>
          <a:ln/>
        </p:spPr>
        <p:txBody>
          <a:bodyPr wrap="square" lIns="0" tIns="0" rIns="0" bIns="0" rtlCol="0" anchor="ctr"/>
          <a:lstStyle/>
          <a:p>
            <a:pPr algn="ctr" indent="0" marL="0">
              <a:buNone/>
            </a:pPr>
            <a:r>
              <a:rPr lang="en-US" sz="1400" b="1" dirty="0">
                <a:solidFill>
                  <a:srgbClr val="FFFFFF"/>
                </a:solidFill>
              </a:rPr>
              <a:t>Then a model</a:t>
            </a:r>
            <a:endParaRPr lang="en-US" sz="1400" dirty="0"/>
          </a:p>
          <a:p>
            <a:pPr algn="ctr" indent="0" marL="0">
              <a:buNone/>
            </a:pPr>
            <a:r>
              <a:rPr lang="en-US" sz="1150" dirty="0">
                <a:solidFill>
                  <a:srgbClr val="D9EBDF"/>
                </a:solidFill>
              </a:rPr>
              <a:t>never the one that acts</a:t>
            </a:r>
            <a:endParaRPr lang="en-US" sz="1400" dirty="0"/>
          </a:p>
        </p:txBody>
      </p:sp>
      <p:sp>
        <p:nvSpPr>
          <p:cNvPr id="21" name="Text 19"/>
          <p:cNvSpPr txBox="1"/>
          <p:nvPr/>
        </p:nvSpPr>
        <p:spPr>
          <a:xfrm>
            <a:off x="548640" y="3108960"/>
            <a:ext cx="5486400" cy="320040"/>
          </a:xfrm>
          <a:prstGeom prst="rect">
            <a:avLst/>
          </a:prstGeom>
          <a:noFill/>
          <a:ln/>
        </p:spPr>
        <p:txBody>
          <a:bodyPr wrap="square" lIns="0" tIns="0" rIns="0" bIns="0" rtlCol="0" anchor="ctr"/>
          <a:lstStyle/>
          <a:p>
            <a:pPr indent="0" marL="0">
              <a:buNone/>
            </a:pPr>
            <a:r>
              <a:rPr lang="en-US" sz="1300" b="1" dirty="0">
                <a:solidFill>
                  <a:srgbClr val="0A0A0B"/>
                </a:solidFill>
              </a:rPr>
              <a:t>A signed record of every yes</a:t>
            </a:r>
            <a:endParaRPr lang="en-US" sz="1300" dirty="0"/>
          </a:p>
        </p:txBody>
      </p:sp>
      <p:sp>
        <p:nvSpPr>
          <p:cNvPr id="22" name="Shape 20"/>
          <p:cNvSpPr/>
          <p:nvPr/>
        </p:nvSpPr>
        <p:spPr>
          <a:xfrm>
            <a:off x="548640" y="3520440"/>
            <a:ext cx="1188720" cy="777240"/>
          </a:xfrm>
          <a:prstGeom prst="roundRect">
            <a:avLst>
              <a:gd name="adj" fmla="val 9412"/>
            </a:avLst>
          </a:prstGeom>
          <a:solidFill>
            <a:srgbClr val="E9F3EC"/>
          </a:solidFill>
          <a:ln w="12700">
            <a:solidFill>
              <a:srgbClr val="E9F3EC"/>
            </a:solidFill>
            <a:prstDash val="solid"/>
          </a:ln>
        </p:spPr>
      </p:sp>
      <p:sp>
        <p:nvSpPr>
          <p:cNvPr id="23" name="Text 21"/>
          <p:cNvSpPr txBox="1"/>
          <p:nvPr/>
        </p:nvSpPr>
        <p:spPr>
          <a:xfrm>
            <a:off x="685800" y="3520440"/>
            <a:ext cx="914400" cy="777240"/>
          </a:xfrm>
          <a:prstGeom prst="rect">
            <a:avLst/>
          </a:prstGeom>
          <a:noFill/>
          <a:ln/>
        </p:spPr>
        <p:txBody>
          <a:bodyPr wrap="square" lIns="0" tIns="0" rIns="0" bIns="0" rtlCol="0" anchor="ctr"/>
          <a:lstStyle/>
          <a:p>
            <a:pPr algn="ctr" indent="0" marL="0">
              <a:buNone/>
            </a:pPr>
            <a:r>
              <a:rPr lang="en-US" sz="1400" b="1" dirty="0">
                <a:solidFill>
                  <a:srgbClr val="0A0A0B"/>
                </a:solidFill>
              </a:rPr>
              <a:t>yes #1</a:t>
            </a:r>
            <a:endParaRPr lang="en-US" sz="1400" dirty="0"/>
          </a:p>
          <a:p>
            <a:pPr algn="ctr" indent="0" marL="0">
              <a:buNone/>
            </a:pPr>
            <a:r>
              <a:rPr lang="en-US" sz="1150" dirty="0">
                <a:solidFill>
                  <a:srgbClr val="55555C"/>
                </a:solidFill>
              </a:rPr>
              <a:t>signed · hash of the last</a:t>
            </a:r>
            <a:endParaRPr lang="en-US" sz="1400" dirty="0"/>
          </a:p>
        </p:txBody>
      </p:sp>
      <p:sp>
        <p:nvSpPr>
          <p:cNvPr id="24" name="Shape 22"/>
          <p:cNvSpPr/>
          <p:nvPr/>
        </p:nvSpPr>
        <p:spPr>
          <a:xfrm>
            <a:off x="1746504" y="3904488"/>
            <a:ext cx="201168" cy="914"/>
          </a:xfrm>
          <a:prstGeom prst="line">
            <a:avLst/>
          </a:prstGeom>
          <a:noFill/>
          <a:ln w="25400">
            <a:solidFill>
              <a:srgbClr val="0A7F44"/>
            </a:solidFill>
            <a:prstDash val="solid"/>
            <a:tailEnd type="triangle"/>
          </a:ln>
        </p:spPr>
      </p:sp>
      <p:sp>
        <p:nvSpPr>
          <p:cNvPr id="25" name="Shape 23"/>
          <p:cNvSpPr/>
          <p:nvPr/>
        </p:nvSpPr>
        <p:spPr>
          <a:xfrm>
            <a:off x="1965960" y="3520440"/>
            <a:ext cx="1188720" cy="777240"/>
          </a:xfrm>
          <a:prstGeom prst="roundRect">
            <a:avLst>
              <a:gd name="adj" fmla="val 9412"/>
            </a:avLst>
          </a:prstGeom>
          <a:solidFill>
            <a:srgbClr val="E9F3EC"/>
          </a:solidFill>
          <a:ln w="12700">
            <a:solidFill>
              <a:srgbClr val="E9F3EC"/>
            </a:solidFill>
            <a:prstDash val="solid"/>
          </a:ln>
        </p:spPr>
      </p:sp>
      <p:sp>
        <p:nvSpPr>
          <p:cNvPr id="26" name="Text 24"/>
          <p:cNvSpPr txBox="1"/>
          <p:nvPr/>
        </p:nvSpPr>
        <p:spPr>
          <a:xfrm>
            <a:off x="2103120" y="3520440"/>
            <a:ext cx="914400" cy="777240"/>
          </a:xfrm>
          <a:prstGeom prst="rect">
            <a:avLst/>
          </a:prstGeom>
          <a:noFill/>
          <a:ln/>
        </p:spPr>
        <p:txBody>
          <a:bodyPr wrap="square" lIns="0" tIns="0" rIns="0" bIns="0" rtlCol="0" anchor="ctr"/>
          <a:lstStyle/>
          <a:p>
            <a:pPr algn="ctr" indent="0" marL="0">
              <a:buNone/>
            </a:pPr>
            <a:r>
              <a:rPr lang="en-US" sz="1400" b="1" dirty="0">
                <a:solidFill>
                  <a:srgbClr val="0A0A0B"/>
                </a:solidFill>
              </a:rPr>
              <a:t>yes #2</a:t>
            </a:r>
            <a:endParaRPr lang="en-US" sz="1400" dirty="0"/>
          </a:p>
          <a:p>
            <a:pPr algn="ctr" indent="0" marL="0">
              <a:buNone/>
            </a:pPr>
            <a:r>
              <a:rPr lang="en-US" sz="1150" dirty="0">
                <a:solidFill>
                  <a:srgbClr val="55555C"/>
                </a:solidFill>
              </a:rPr>
              <a:t>signed · hash of the last</a:t>
            </a:r>
            <a:endParaRPr lang="en-US" sz="1400" dirty="0"/>
          </a:p>
        </p:txBody>
      </p:sp>
      <p:sp>
        <p:nvSpPr>
          <p:cNvPr id="27" name="Shape 25"/>
          <p:cNvSpPr/>
          <p:nvPr/>
        </p:nvSpPr>
        <p:spPr>
          <a:xfrm>
            <a:off x="3163824" y="3904488"/>
            <a:ext cx="201168" cy="914"/>
          </a:xfrm>
          <a:prstGeom prst="line">
            <a:avLst/>
          </a:prstGeom>
          <a:noFill/>
          <a:ln w="25400">
            <a:solidFill>
              <a:srgbClr val="0A7F44"/>
            </a:solidFill>
            <a:prstDash val="solid"/>
            <a:tailEnd type="triangle"/>
          </a:ln>
        </p:spPr>
      </p:sp>
      <p:sp>
        <p:nvSpPr>
          <p:cNvPr id="28" name="Shape 26"/>
          <p:cNvSpPr/>
          <p:nvPr/>
        </p:nvSpPr>
        <p:spPr>
          <a:xfrm>
            <a:off x="3383280" y="3520440"/>
            <a:ext cx="1188720" cy="777240"/>
          </a:xfrm>
          <a:prstGeom prst="roundRect">
            <a:avLst>
              <a:gd name="adj" fmla="val 9412"/>
            </a:avLst>
          </a:prstGeom>
          <a:solidFill>
            <a:srgbClr val="E9F3EC"/>
          </a:solidFill>
          <a:ln w="12700">
            <a:solidFill>
              <a:srgbClr val="E9F3EC"/>
            </a:solidFill>
            <a:prstDash val="solid"/>
          </a:ln>
        </p:spPr>
      </p:sp>
      <p:sp>
        <p:nvSpPr>
          <p:cNvPr id="29" name="Text 27"/>
          <p:cNvSpPr txBox="1"/>
          <p:nvPr/>
        </p:nvSpPr>
        <p:spPr>
          <a:xfrm>
            <a:off x="3520440" y="3520440"/>
            <a:ext cx="914400" cy="777240"/>
          </a:xfrm>
          <a:prstGeom prst="rect">
            <a:avLst/>
          </a:prstGeom>
          <a:noFill/>
          <a:ln/>
        </p:spPr>
        <p:txBody>
          <a:bodyPr wrap="square" lIns="0" tIns="0" rIns="0" bIns="0" rtlCol="0" anchor="ctr"/>
          <a:lstStyle/>
          <a:p>
            <a:pPr algn="ctr" indent="0" marL="0">
              <a:buNone/>
            </a:pPr>
            <a:r>
              <a:rPr lang="en-US" sz="1400" b="1" dirty="0">
                <a:solidFill>
                  <a:srgbClr val="0A0A0B"/>
                </a:solidFill>
              </a:rPr>
              <a:t>yes #3</a:t>
            </a:r>
            <a:endParaRPr lang="en-US" sz="1400" dirty="0"/>
          </a:p>
          <a:p>
            <a:pPr algn="ctr" indent="0" marL="0">
              <a:buNone/>
            </a:pPr>
            <a:r>
              <a:rPr lang="en-US" sz="1150" dirty="0">
                <a:solidFill>
                  <a:srgbClr val="55555C"/>
                </a:solidFill>
              </a:rPr>
              <a:t>signed · hash of the last</a:t>
            </a:r>
            <a:endParaRPr lang="en-US" sz="1400" dirty="0"/>
          </a:p>
        </p:txBody>
      </p:sp>
      <p:sp>
        <p:nvSpPr>
          <p:cNvPr id="30" name="Shape 28"/>
          <p:cNvSpPr/>
          <p:nvPr/>
        </p:nvSpPr>
        <p:spPr>
          <a:xfrm>
            <a:off x="4581144" y="3904488"/>
            <a:ext cx="201168" cy="914"/>
          </a:xfrm>
          <a:prstGeom prst="line">
            <a:avLst/>
          </a:prstGeom>
          <a:noFill/>
          <a:ln w="25400">
            <a:solidFill>
              <a:srgbClr val="0A7F44"/>
            </a:solidFill>
            <a:prstDash val="solid"/>
            <a:tailEnd type="triangle"/>
          </a:ln>
        </p:spPr>
      </p:sp>
      <p:sp>
        <p:nvSpPr>
          <p:cNvPr id="31" name="Shape 29"/>
          <p:cNvSpPr/>
          <p:nvPr/>
        </p:nvSpPr>
        <p:spPr>
          <a:xfrm>
            <a:off x="4800600" y="3520440"/>
            <a:ext cx="1188720" cy="777240"/>
          </a:xfrm>
          <a:prstGeom prst="roundRect">
            <a:avLst>
              <a:gd name="adj" fmla="val 9412"/>
            </a:avLst>
          </a:prstGeom>
          <a:solidFill>
            <a:srgbClr val="E9F3EC"/>
          </a:solidFill>
          <a:ln w="12700">
            <a:solidFill>
              <a:srgbClr val="E9F3EC"/>
            </a:solidFill>
            <a:prstDash val="solid"/>
          </a:ln>
        </p:spPr>
      </p:sp>
      <p:sp>
        <p:nvSpPr>
          <p:cNvPr id="32" name="Text 30"/>
          <p:cNvSpPr txBox="1"/>
          <p:nvPr/>
        </p:nvSpPr>
        <p:spPr>
          <a:xfrm>
            <a:off x="4937760" y="3520440"/>
            <a:ext cx="914400" cy="777240"/>
          </a:xfrm>
          <a:prstGeom prst="rect">
            <a:avLst/>
          </a:prstGeom>
          <a:noFill/>
          <a:ln/>
        </p:spPr>
        <p:txBody>
          <a:bodyPr wrap="square" lIns="0" tIns="0" rIns="0" bIns="0" rtlCol="0" anchor="ctr"/>
          <a:lstStyle/>
          <a:p>
            <a:pPr algn="ctr" indent="0" marL="0">
              <a:buNone/>
            </a:pPr>
            <a:r>
              <a:rPr lang="en-US" sz="1400" b="1" dirty="0">
                <a:solidFill>
                  <a:srgbClr val="0A0A0B"/>
                </a:solidFill>
              </a:rPr>
              <a:t>yes #4</a:t>
            </a:r>
            <a:endParaRPr lang="en-US" sz="1400" dirty="0"/>
          </a:p>
          <a:p>
            <a:pPr algn="ctr" indent="0" marL="0">
              <a:buNone/>
            </a:pPr>
            <a:r>
              <a:rPr lang="en-US" sz="1150" dirty="0">
                <a:solidFill>
                  <a:srgbClr val="55555C"/>
                </a:solidFill>
              </a:rPr>
              <a:t>signed · hash of the last</a:t>
            </a:r>
            <a:endParaRPr lang="en-US" sz="1400" dirty="0"/>
          </a:p>
        </p:txBody>
      </p:sp>
      <p:sp>
        <p:nvSpPr>
          <p:cNvPr id="33" name="Text 31"/>
          <p:cNvSpPr txBox="1"/>
          <p:nvPr/>
        </p:nvSpPr>
        <p:spPr>
          <a:xfrm>
            <a:off x="6583680" y="3108960"/>
            <a:ext cx="5029200" cy="320040"/>
          </a:xfrm>
          <a:prstGeom prst="rect">
            <a:avLst/>
          </a:prstGeom>
          <a:noFill/>
          <a:ln/>
        </p:spPr>
        <p:txBody>
          <a:bodyPr wrap="square" lIns="0" tIns="0" rIns="0" bIns="0" rtlCol="0" anchor="ctr"/>
          <a:lstStyle/>
          <a:p>
            <a:pPr indent="0" marL="0">
              <a:buNone/>
            </a:pPr>
            <a:r>
              <a:rPr lang="en-US" sz="1300" b="1" dirty="0">
                <a:solidFill>
                  <a:srgbClr val="0A0A0B"/>
                </a:solidFill>
              </a:rPr>
              <a:t>No-shows, with no money</a:t>
            </a:r>
            <a:endParaRPr lang="en-US" sz="1300" dirty="0"/>
          </a:p>
        </p:txBody>
      </p:sp>
      <p:sp>
        <p:nvSpPr>
          <p:cNvPr id="34" name="Shape 32"/>
          <p:cNvSpPr/>
          <p:nvPr/>
        </p:nvSpPr>
        <p:spPr>
          <a:xfrm>
            <a:off x="6583680" y="3520440"/>
            <a:ext cx="1554480" cy="777240"/>
          </a:xfrm>
          <a:prstGeom prst="roundRect">
            <a:avLst>
              <a:gd name="adj" fmla="val 9412"/>
            </a:avLst>
          </a:prstGeom>
          <a:solidFill>
            <a:srgbClr val="F3F6F4"/>
          </a:solidFill>
          <a:ln w="12700">
            <a:solidFill>
              <a:srgbClr val="F3F6F4"/>
            </a:solidFill>
            <a:prstDash val="solid"/>
          </a:ln>
        </p:spPr>
      </p:sp>
      <p:sp>
        <p:nvSpPr>
          <p:cNvPr id="35" name="Text 33"/>
          <p:cNvSpPr txBox="1"/>
          <p:nvPr/>
        </p:nvSpPr>
        <p:spPr>
          <a:xfrm>
            <a:off x="6693408" y="3520440"/>
            <a:ext cx="1371600" cy="777240"/>
          </a:xfrm>
          <a:prstGeom prst="rect">
            <a:avLst/>
          </a:prstGeom>
          <a:noFill/>
          <a:ln/>
        </p:spPr>
        <p:txBody>
          <a:bodyPr wrap="square" lIns="0" tIns="0" rIns="0" bIns="0" rtlCol="0" anchor="ctr"/>
          <a:lstStyle/>
          <a:p>
            <a:pPr indent="0" marL="0">
              <a:buNone/>
            </a:pPr>
            <a:r>
              <a:rPr lang="en-US" sz="1600" b="1" dirty="0">
                <a:solidFill>
                  <a:srgbClr val="0A7F44"/>
                </a:solidFill>
              </a:rPr>
              <a:t>60 days</a:t>
            </a:r>
            <a:endParaRPr lang="en-US" sz="1600" dirty="0"/>
          </a:p>
          <a:p>
            <a:pPr indent="0" marL="0">
              <a:buNone/>
            </a:pPr>
            <a:r>
              <a:rPr lang="en-US" sz="950" dirty="0">
                <a:solidFill>
                  <a:srgbClr val="55555C"/>
                </a:solidFill>
              </a:rPr>
              <a:t>half-life of a show-up record, shown in words</a:t>
            </a:r>
            <a:endParaRPr lang="en-US" sz="1600" dirty="0"/>
          </a:p>
        </p:txBody>
      </p:sp>
      <p:sp>
        <p:nvSpPr>
          <p:cNvPr id="36" name="Shape 34"/>
          <p:cNvSpPr/>
          <p:nvPr/>
        </p:nvSpPr>
        <p:spPr>
          <a:xfrm>
            <a:off x="8275320" y="3520440"/>
            <a:ext cx="1554480" cy="777240"/>
          </a:xfrm>
          <a:prstGeom prst="roundRect">
            <a:avLst>
              <a:gd name="adj" fmla="val 9412"/>
            </a:avLst>
          </a:prstGeom>
          <a:solidFill>
            <a:srgbClr val="F3F6F4"/>
          </a:solidFill>
          <a:ln w="12700">
            <a:solidFill>
              <a:srgbClr val="F3F6F4"/>
            </a:solidFill>
            <a:prstDash val="solid"/>
          </a:ln>
        </p:spPr>
      </p:sp>
      <p:sp>
        <p:nvSpPr>
          <p:cNvPr id="37" name="Text 35"/>
          <p:cNvSpPr txBox="1"/>
          <p:nvPr/>
        </p:nvSpPr>
        <p:spPr>
          <a:xfrm>
            <a:off x="8385048" y="3520440"/>
            <a:ext cx="1371600" cy="777240"/>
          </a:xfrm>
          <a:prstGeom prst="rect">
            <a:avLst/>
          </a:prstGeom>
          <a:noFill/>
          <a:ln/>
        </p:spPr>
        <p:txBody>
          <a:bodyPr wrap="square" lIns="0" tIns="0" rIns="0" bIns="0" rtlCol="0" anchor="ctr"/>
          <a:lstStyle/>
          <a:p>
            <a:pPr indent="0" marL="0">
              <a:buNone/>
            </a:pPr>
            <a:r>
              <a:rPr lang="en-US" sz="1600" b="1" dirty="0">
                <a:solidFill>
                  <a:srgbClr val="0A7F44"/>
                </a:solidFill>
              </a:rPr>
              <a:t>3 h</a:t>
            </a:r>
            <a:endParaRPr lang="en-US" sz="1600" dirty="0"/>
          </a:p>
          <a:p>
            <a:pPr indent="0" marL="0">
              <a:buNone/>
            </a:pPr>
            <a:r>
              <a:rPr lang="en-US" sz="950" dirty="0">
                <a:solidFill>
                  <a:srgbClr val="55555C"/>
                </a:solidFill>
              </a:rPr>
              <a:t>before: a short game is called off</a:t>
            </a:r>
            <a:endParaRPr lang="en-US" sz="1600" dirty="0"/>
          </a:p>
        </p:txBody>
      </p:sp>
      <p:sp>
        <p:nvSpPr>
          <p:cNvPr id="38" name="Shape 36"/>
          <p:cNvSpPr/>
          <p:nvPr/>
        </p:nvSpPr>
        <p:spPr>
          <a:xfrm>
            <a:off x="9966960" y="3520440"/>
            <a:ext cx="1554480" cy="777240"/>
          </a:xfrm>
          <a:prstGeom prst="roundRect">
            <a:avLst>
              <a:gd name="adj" fmla="val 9412"/>
            </a:avLst>
          </a:prstGeom>
          <a:solidFill>
            <a:srgbClr val="F3F6F4"/>
          </a:solidFill>
          <a:ln w="12700">
            <a:solidFill>
              <a:srgbClr val="F3F6F4"/>
            </a:solidFill>
            <a:prstDash val="solid"/>
          </a:ln>
        </p:spPr>
      </p:sp>
      <p:sp>
        <p:nvSpPr>
          <p:cNvPr id="39" name="Text 37"/>
          <p:cNvSpPr txBox="1"/>
          <p:nvPr/>
        </p:nvSpPr>
        <p:spPr>
          <a:xfrm>
            <a:off x="10076688" y="3520440"/>
            <a:ext cx="1371600" cy="777240"/>
          </a:xfrm>
          <a:prstGeom prst="rect">
            <a:avLst/>
          </a:prstGeom>
          <a:noFill/>
          <a:ln/>
        </p:spPr>
        <p:txBody>
          <a:bodyPr wrap="square" lIns="0" tIns="0" rIns="0" bIns="0" rtlCol="0" anchor="ctr"/>
          <a:lstStyle/>
          <a:p>
            <a:pPr indent="0" marL="0">
              <a:buNone/>
            </a:pPr>
            <a:r>
              <a:rPr lang="en-US" sz="1600" b="1" dirty="0">
                <a:solidFill>
                  <a:srgbClr val="0A7F44"/>
                </a:solidFill>
              </a:rPr>
              <a:t>12 h</a:t>
            </a:r>
            <a:endParaRPr lang="en-US" sz="1600" dirty="0"/>
          </a:p>
          <a:p>
            <a:pPr indent="0" marL="0">
              <a:buNone/>
            </a:pPr>
            <a:r>
              <a:rPr lang="en-US" sz="950" dirty="0">
                <a:solidFill>
                  <a:srgbClr val="55555C"/>
                </a:solidFill>
              </a:rPr>
              <a:t>to confirm a freed spot</a:t>
            </a:r>
            <a:endParaRPr lang="en-US" sz="1600" dirty="0"/>
          </a:p>
        </p:txBody>
      </p:sp>
      <p:sp>
        <p:nvSpPr>
          <p:cNvPr id="40" name="Shape 38"/>
          <p:cNvSpPr/>
          <p:nvPr/>
        </p:nvSpPr>
        <p:spPr>
          <a:xfrm>
            <a:off x="548640" y="4617720"/>
            <a:ext cx="11094415" cy="1143000"/>
          </a:xfrm>
          <a:prstGeom prst="roundRect">
            <a:avLst>
              <a:gd name="adj" fmla="val 6400"/>
            </a:avLst>
          </a:prstGeom>
          <a:solidFill>
            <a:srgbClr val="FBEAE9"/>
          </a:solidFill>
          <a:ln w="12700">
            <a:solidFill>
              <a:srgbClr val="FBEAE9"/>
            </a:solidFill>
            <a:prstDash val="solid"/>
          </a:ln>
        </p:spPr>
      </p:sp>
      <p:sp>
        <p:nvSpPr>
          <p:cNvPr id="41" name="Text 39"/>
          <p:cNvSpPr txBox="1"/>
          <p:nvPr/>
        </p:nvSpPr>
        <p:spPr>
          <a:xfrm>
            <a:off x="822960" y="4709160"/>
            <a:ext cx="10545775" cy="1005840"/>
          </a:xfrm>
          <a:prstGeom prst="rect">
            <a:avLst/>
          </a:prstGeom>
          <a:noFill/>
          <a:ln/>
        </p:spPr>
        <p:txBody>
          <a:bodyPr wrap="square" lIns="0" tIns="0" rIns="0" bIns="0" rtlCol="0" anchor="t"/>
          <a:lstStyle/>
          <a:p>
            <a:pPr indent="0" marL="0">
              <a:spcAft>
                <a:spcPts val="600"/>
              </a:spcAft>
              <a:buNone/>
            </a:pPr>
            <a:r>
              <a:rPr lang="en-US" sz="1300" b="1" dirty="0">
                <a:solidFill>
                  <a:srgbClr val="D1352B"/>
                </a:solidFill>
              </a:rPr>
              <a:t>A failure, and the fix. </a:t>
            </a:r>
            <a:pPr indent="0" marL="0">
              <a:spcAft>
                <a:spcPts val="600"/>
              </a:spcAft>
              <a:buNone/>
            </a:pPr>
            <a:r>
              <a:rPr lang="en-US" sz="1300" dirty="0">
                <a:solidFill>
                  <a:srgbClr val="0A0A0B"/>
                </a:solidFill>
              </a:rPr>
              <a:t>A tester working as a host could work out how many people nearby were open to being asked, first from a count, then from the talk. Now nearby people appear only once they can actually play, and everyone else sees only published badge words; later rounds re-checked it and found nothing. The Agents Rule of Two: no agent holds untrusted input, private data and the power to act at once.</a:t>
            </a:r>
            <a:endParaRPr lang="en-US" sz="13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Meta models, and which one answers: by length</a:t>
            </a:r>
            <a:endParaRPr lang="en-US" sz="2800" dirty="0"/>
          </a:p>
        </p:txBody>
      </p:sp>
      <p:sp>
        <p:nvSpPr>
          <p:cNvPr id="3" name="Shape 1"/>
          <p:cNvSpPr/>
          <p:nvPr/>
        </p:nvSpPr>
        <p:spPr>
          <a:xfrm>
            <a:off x="548640" y="1234440"/>
            <a:ext cx="6400800" cy="3337560"/>
          </a:xfrm>
          <a:prstGeom prst="roundRect">
            <a:avLst>
              <a:gd name="adj" fmla="val 2192"/>
            </a:avLst>
          </a:prstGeom>
          <a:solidFill>
            <a:srgbClr val="F3F6F4"/>
          </a:solidFill>
          <a:ln w="12700">
            <a:solidFill>
              <a:srgbClr val="F3F6F4"/>
            </a:solidFill>
            <a:prstDash val="solid"/>
          </a:ln>
        </p:spPr>
      </p:sp>
      <p:sp>
        <p:nvSpPr>
          <p:cNvPr id="4" name="Text 2"/>
          <p:cNvSpPr txBox="1"/>
          <p:nvPr/>
        </p:nvSpPr>
        <p:spPr>
          <a:xfrm>
            <a:off x="731520" y="1298448"/>
            <a:ext cx="6035040" cy="548640"/>
          </a:xfrm>
          <a:prstGeom prst="rect">
            <a:avLst/>
          </a:prstGeom>
          <a:noFill/>
          <a:ln/>
        </p:spPr>
        <p:txBody>
          <a:bodyPr wrap="square" lIns="0" tIns="0" rIns="0" bIns="0" rtlCol="0" anchor="ctr"/>
          <a:lstStyle/>
          <a:p>
            <a:pPr indent="0" marL="0">
              <a:buNone/>
            </a:pPr>
            <a:r>
              <a:rPr lang="en-US" sz="1500" b="1" dirty="0">
                <a:solidFill>
                  <a:srgbClr val="0A0A0B"/>
                </a:solidFill>
              </a:rPr>
              <a:t>Our GPU server (two RTX 3090s and their CPU)</a:t>
            </a:r>
            <a:endParaRPr lang="en-US" sz="1500" dirty="0"/>
          </a:p>
          <a:p>
            <a:pPr indent="0" marL="0">
              <a:buNone/>
            </a:pPr>
            <a:r>
              <a:rPr lang="en-US" sz="1100" dirty="0">
                <a:solidFill>
                  <a:srgbClr val="55555C"/>
                </a:solidFill>
              </a:rPr>
              <a:t>players' data stays here</a:t>
            </a:r>
            <a:endParaRPr lang="en-US" sz="1500" dirty="0"/>
          </a:p>
        </p:txBody>
      </p:sp>
      <p:sp>
        <p:nvSpPr>
          <p:cNvPr id="5" name="Text 3"/>
          <p:cNvSpPr txBox="1"/>
          <p:nvPr/>
        </p:nvSpPr>
        <p:spPr>
          <a:xfrm>
            <a:off x="731520" y="1920240"/>
            <a:ext cx="1051560" cy="731520"/>
          </a:xfrm>
          <a:prstGeom prst="rect">
            <a:avLst/>
          </a:prstGeom>
          <a:noFill/>
          <a:ln/>
        </p:spPr>
        <p:txBody>
          <a:bodyPr wrap="square" lIns="0" tIns="0" rIns="0" bIns="0" rtlCol="0" anchor="ctr"/>
          <a:lstStyle/>
          <a:p>
            <a:pPr indent="0" marL="0">
              <a:buNone/>
            </a:pPr>
            <a:r>
              <a:rPr lang="en-US" sz="1100" b="1" dirty="0">
                <a:solidFill>
                  <a:srgbClr val="55555C"/>
                </a:solidFill>
              </a:rPr>
              <a:t>GPU 1</a:t>
            </a:r>
            <a:endParaRPr lang="en-US" sz="1100" dirty="0"/>
          </a:p>
        </p:txBody>
      </p:sp>
      <p:sp>
        <p:nvSpPr>
          <p:cNvPr id="6" name="Shape 4"/>
          <p:cNvSpPr/>
          <p:nvPr/>
        </p:nvSpPr>
        <p:spPr>
          <a:xfrm>
            <a:off x="1783080" y="1993392"/>
            <a:ext cx="4983480" cy="585216"/>
          </a:xfrm>
          <a:prstGeom prst="roundRect">
            <a:avLst>
              <a:gd name="adj" fmla="val 9375"/>
            </a:avLst>
          </a:prstGeom>
          <a:solidFill>
            <a:srgbClr val="0A7F44"/>
          </a:solidFill>
          <a:ln w="12700">
            <a:solidFill>
              <a:srgbClr val="0A7F44"/>
            </a:solidFill>
            <a:prstDash val="solid"/>
          </a:ln>
        </p:spPr>
      </p:sp>
      <p:sp>
        <p:nvSpPr>
          <p:cNvPr id="7" name="Text 5"/>
          <p:cNvSpPr txBox="1"/>
          <p:nvPr/>
        </p:nvSpPr>
        <p:spPr>
          <a:xfrm>
            <a:off x="1828800" y="1993392"/>
            <a:ext cx="4892040" cy="585216"/>
          </a:xfrm>
          <a:prstGeom prst="rect">
            <a:avLst/>
          </a:prstGeom>
          <a:noFill/>
          <a:ln/>
        </p:spPr>
        <p:txBody>
          <a:bodyPr wrap="square" lIns="0" tIns="0" rIns="0" bIns="0" rtlCol="0" anchor="ctr"/>
          <a:lstStyle/>
          <a:p>
            <a:pPr algn="ctr" indent="0" marL="0">
              <a:buNone/>
            </a:pPr>
            <a:r>
              <a:rPr lang="en-US" sz="1050" b="1" dirty="0">
                <a:solidFill>
                  <a:srgbClr val="FFFFFF"/>
                </a:solidFill>
              </a:rPr>
              <a:t>Muse Glimmer 30B: every agent's reasoning</a:t>
            </a:r>
            <a:endParaRPr lang="en-US" sz="1050" dirty="0"/>
          </a:p>
        </p:txBody>
      </p:sp>
      <p:sp>
        <p:nvSpPr>
          <p:cNvPr id="8" name="Text 6"/>
          <p:cNvSpPr txBox="1"/>
          <p:nvPr/>
        </p:nvSpPr>
        <p:spPr>
          <a:xfrm>
            <a:off x="731520" y="2788920"/>
            <a:ext cx="1051560" cy="731520"/>
          </a:xfrm>
          <a:prstGeom prst="rect">
            <a:avLst/>
          </a:prstGeom>
          <a:noFill/>
          <a:ln/>
        </p:spPr>
        <p:txBody>
          <a:bodyPr wrap="square" lIns="0" tIns="0" rIns="0" bIns="0" rtlCol="0" anchor="ctr"/>
          <a:lstStyle/>
          <a:p>
            <a:pPr indent="0" marL="0">
              <a:buNone/>
            </a:pPr>
            <a:r>
              <a:rPr lang="en-US" sz="1100" b="1" dirty="0">
                <a:solidFill>
                  <a:srgbClr val="55555C"/>
                </a:solidFill>
              </a:rPr>
              <a:t>CPU</a:t>
            </a:r>
            <a:endParaRPr lang="en-US" sz="1100" dirty="0"/>
          </a:p>
        </p:txBody>
      </p:sp>
      <p:sp>
        <p:nvSpPr>
          <p:cNvPr id="9" name="Shape 7"/>
          <p:cNvSpPr/>
          <p:nvPr/>
        </p:nvSpPr>
        <p:spPr>
          <a:xfrm>
            <a:off x="1783080" y="2862072"/>
            <a:ext cx="754380" cy="585216"/>
          </a:xfrm>
          <a:prstGeom prst="roundRect">
            <a:avLst>
              <a:gd name="adj" fmla="val 9375"/>
            </a:avLst>
          </a:prstGeom>
          <a:solidFill>
            <a:srgbClr val="E9F3EC"/>
          </a:solidFill>
          <a:ln w="12700">
            <a:solidFill>
              <a:srgbClr val="E9F3EC"/>
            </a:solidFill>
            <a:prstDash val="solid"/>
          </a:ln>
        </p:spPr>
      </p:sp>
      <p:sp>
        <p:nvSpPr>
          <p:cNvPr id="10" name="Text 8"/>
          <p:cNvSpPr txBox="1"/>
          <p:nvPr/>
        </p:nvSpPr>
        <p:spPr>
          <a:xfrm>
            <a:off x="1828800" y="2862072"/>
            <a:ext cx="662940" cy="585216"/>
          </a:xfrm>
          <a:prstGeom prst="rect">
            <a:avLst/>
          </a:prstGeom>
          <a:noFill/>
          <a:ln/>
        </p:spPr>
        <p:txBody>
          <a:bodyPr wrap="square" lIns="0" tIns="0" rIns="0" bIns="0" rtlCol="0" anchor="ctr"/>
          <a:lstStyle/>
          <a:p>
            <a:pPr algn="ctr" indent="0" marL="0">
              <a:buNone/>
            </a:pPr>
            <a:r>
              <a:rPr lang="en-US" sz="1050" b="1" dirty="0">
                <a:solidFill>
                  <a:srgbClr val="0A0A0B"/>
                </a:solidFill>
              </a:rPr>
              <a:t>Our 1B</a:t>
            </a:r>
            <a:endParaRPr lang="en-US" sz="1050" dirty="0"/>
          </a:p>
        </p:txBody>
      </p:sp>
      <p:sp>
        <p:nvSpPr>
          <p:cNvPr id="11" name="Shape 9"/>
          <p:cNvSpPr/>
          <p:nvPr/>
        </p:nvSpPr>
        <p:spPr>
          <a:xfrm>
            <a:off x="2628900" y="2862072"/>
            <a:ext cx="754380" cy="585216"/>
          </a:xfrm>
          <a:prstGeom prst="roundRect">
            <a:avLst>
              <a:gd name="adj" fmla="val 9375"/>
            </a:avLst>
          </a:prstGeom>
          <a:solidFill>
            <a:srgbClr val="E9F3EC"/>
          </a:solidFill>
          <a:ln w="12700">
            <a:solidFill>
              <a:srgbClr val="E9F3EC"/>
            </a:solidFill>
            <a:prstDash val="solid"/>
          </a:ln>
        </p:spPr>
      </p:sp>
      <p:sp>
        <p:nvSpPr>
          <p:cNvPr id="12" name="Text 10"/>
          <p:cNvSpPr txBox="1"/>
          <p:nvPr/>
        </p:nvSpPr>
        <p:spPr>
          <a:xfrm>
            <a:off x="2674620" y="2862072"/>
            <a:ext cx="662940" cy="585216"/>
          </a:xfrm>
          <a:prstGeom prst="rect">
            <a:avLst/>
          </a:prstGeom>
          <a:noFill/>
          <a:ln/>
        </p:spPr>
        <p:txBody>
          <a:bodyPr wrap="square" lIns="0" tIns="0" rIns="0" bIns="0" rtlCol="0" anchor="ctr"/>
          <a:lstStyle/>
          <a:p>
            <a:pPr algn="ctr" indent="0" marL="0">
              <a:buNone/>
            </a:pPr>
            <a:r>
              <a:rPr lang="en-US" sz="1050" b="1" dirty="0">
                <a:solidFill>
                  <a:srgbClr val="0A0A0B"/>
                </a:solidFill>
              </a:rPr>
              <a:t>Tiny layer</a:t>
            </a:r>
            <a:endParaRPr lang="en-US" sz="1050" dirty="0"/>
          </a:p>
        </p:txBody>
      </p:sp>
      <p:sp>
        <p:nvSpPr>
          <p:cNvPr id="13" name="Shape 11"/>
          <p:cNvSpPr/>
          <p:nvPr/>
        </p:nvSpPr>
        <p:spPr>
          <a:xfrm>
            <a:off x="3474720" y="2862072"/>
            <a:ext cx="754380" cy="585216"/>
          </a:xfrm>
          <a:prstGeom prst="roundRect">
            <a:avLst>
              <a:gd name="adj" fmla="val 9375"/>
            </a:avLst>
          </a:prstGeom>
          <a:solidFill>
            <a:srgbClr val="E9F3EC"/>
          </a:solidFill>
          <a:ln w="12700">
            <a:solidFill>
              <a:srgbClr val="E9F3EC"/>
            </a:solidFill>
            <a:prstDash val="solid"/>
          </a:ln>
        </p:spPr>
      </p:sp>
      <p:sp>
        <p:nvSpPr>
          <p:cNvPr id="14" name="Text 12"/>
          <p:cNvSpPr txBox="1"/>
          <p:nvPr/>
        </p:nvSpPr>
        <p:spPr>
          <a:xfrm>
            <a:off x="3520440" y="2862072"/>
            <a:ext cx="662940" cy="585216"/>
          </a:xfrm>
          <a:prstGeom prst="rect">
            <a:avLst/>
          </a:prstGeom>
          <a:noFill/>
          <a:ln/>
        </p:spPr>
        <p:txBody>
          <a:bodyPr wrap="square" lIns="0" tIns="0" rIns="0" bIns="0" rtlCol="0" anchor="ctr"/>
          <a:lstStyle/>
          <a:p>
            <a:pPr algn="ctr" indent="0" marL="0">
              <a:buNone/>
            </a:pPr>
            <a:r>
              <a:rPr lang="en-US" sz="1050" b="1" dirty="0">
                <a:solidFill>
                  <a:srgbClr val="0A0A0B"/>
                </a:solidFill>
              </a:rPr>
              <a:t>Llama Guard 3</a:t>
            </a:r>
            <a:endParaRPr lang="en-US" sz="1050" dirty="0"/>
          </a:p>
        </p:txBody>
      </p:sp>
      <p:sp>
        <p:nvSpPr>
          <p:cNvPr id="15" name="Shape 13"/>
          <p:cNvSpPr/>
          <p:nvPr/>
        </p:nvSpPr>
        <p:spPr>
          <a:xfrm>
            <a:off x="4320540" y="2862072"/>
            <a:ext cx="754380" cy="585216"/>
          </a:xfrm>
          <a:prstGeom prst="roundRect">
            <a:avLst>
              <a:gd name="adj" fmla="val 9375"/>
            </a:avLst>
          </a:prstGeom>
          <a:solidFill>
            <a:srgbClr val="E9F3EC"/>
          </a:solidFill>
          <a:ln w="12700">
            <a:solidFill>
              <a:srgbClr val="E9F3EC"/>
            </a:solidFill>
            <a:prstDash val="solid"/>
          </a:ln>
        </p:spPr>
      </p:sp>
      <p:sp>
        <p:nvSpPr>
          <p:cNvPr id="16" name="Text 14"/>
          <p:cNvSpPr txBox="1"/>
          <p:nvPr/>
        </p:nvSpPr>
        <p:spPr>
          <a:xfrm>
            <a:off x="4366260" y="2862072"/>
            <a:ext cx="662940" cy="585216"/>
          </a:xfrm>
          <a:prstGeom prst="rect">
            <a:avLst/>
          </a:prstGeom>
          <a:noFill/>
          <a:ln/>
        </p:spPr>
        <p:txBody>
          <a:bodyPr wrap="square" lIns="0" tIns="0" rIns="0" bIns="0" rtlCol="0" anchor="ctr"/>
          <a:lstStyle/>
          <a:p>
            <a:pPr algn="ctr" indent="0" marL="0">
              <a:buNone/>
            </a:pPr>
            <a:r>
              <a:rPr lang="en-US" sz="1050" b="1" dirty="0">
                <a:solidFill>
                  <a:srgbClr val="0A0A0B"/>
                </a:solidFill>
              </a:rPr>
              <a:t>Prompt Guard 2</a:t>
            </a:r>
            <a:endParaRPr lang="en-US" sz="1050" dirty="0"/>
          </a:p>
        </p:txBody>
      </p:sp>
      <p:sp>
        <p:nvSpPr>
          <p:cNvPr id="17" name="Shape 15"/>
          <p:cNvSpPr/>
          <p:nvPr/>
        </p:nvSpPr>
        <p:spPr>
          <a:xfrm>
            <a:off x="5166360" y="2862072"/>
            <a:ext cx="754380" cy="585216"/>
          </a:xfrm>
          <a:prstGeom prst="roundRect">
            <a:avLst>
              <a:gd name="adj" fmla="val 9375"/>
            </a:avLst>
          </a:prstGeom>
          <a:solidFill>
            <a:srgbClr val="E9F3EC"/>
          </a:solidFill>
          <a:ln w="12700">
            <a:solidFill>
              <a:srgbClr val="E9F3EC"/>
            </a:solidFill>
            <a:prstDash val="solid"/>
          </a:ln>
        </p:spPr>
      </p:sp>
      <p:sp>
        <p:nvSpPr>
          <p:cNvPr id="18" name="Text 16"/>
          <p:cNvSpPr txBox="1"/>
          <p:nvPr/>
        </p:nvSpPr>
        <p:spPr>
          <a:xfrm>
            <a:off x="5212080" y="2862072"/>
            <a:ext cx="662940" cy="585216"/>
          </a:xfrm>
          <a:prstGeom prst="rect">
            <a:avLst/>
          </a:prstGeom>
          <a:noFill/>
          <a:ln/>
        </p:spPr>
        <p:txBody>
          <a:bodyPr wrap="square" lIns="0" tIns="0" rIns="0" bIns="0" rtlCol="0" anchor="ctr"/>
          <a:lstStyle/>
          <a:p>
            <a:pPr algn="ctr" indent="0" marL="0">
              <a:buNone/>
            </a:pPr>
            <a:r>
              <a:rPr lang="en-US" sz="1050" b="1" dirty="0">
                <a:solidFill>
                  <a:srgbClr val="0A0A0B"/>
                </a:solidFill>
              </a:rPr>
              <a:t>DRAMA</a:t>
            </a:r>
            <a:endParaRPr lang="en-US" sz="1050" dirty="0"/>
          </a:p>
        </p:txBody>
      </p:sp>
      <p:sp>
        <p:nvSpPr>
          <p:cNvPr id="19" name="Shape 17"/>
          <p:cNvSpPr/>
          <p:nvPr/>
        </p:nvSpPr>
        <p:spPr>
          <a:xfrm>
            <a:off x="6012180" y="2862072"/>
            <a:ext cx="754380" cy="585216"/>
          </a:xfrm>
          <a:prstGeom prst="roundRect">
            <a:avLst>
              <a:gd name="adj" fmla="val 9375"/>
            </a:avLst>
          </a:prstGeom>
          <a:solidFill>
            <a:srgbClr val="E9F3EC"/>
          </a:solidFill>
          <a:ln w="12700">
            <a:solidFill>
              <a:srgbClr val="E9F3EC"/>
            </a:solidFill>
            <a:prstDash val="solid"/>
          </a:ln>
        </p:spPr>
      </p:sp>
      <p:sp>
        <p:nvSpPr>
          <p:cNvPr id="20" name="Text 18"/>
          <p:cNvSpPr txBox="1"/>
          <p:nvPr/>
        </p:nvSpPr>
        <p:spPr>
          <a:xfrm>
            <a:off x="6057900" y="2862072"/>
            <a:ext cx="662940" cy="585216"/>
          </a:xfrm>
          <a:prstGeom prst="rect">
            <a:avLst/>
          </a:prstGeom>
          <a:noFill/>
          <a:ln/>
        </p:spPr>
        <p:txBody>
          <a:bodyPr wrap="square" lIns="0" tIns="0" rIns="0" bIns="0" rtlCol="0" anchor="ctr"/>
          <a:lstStyle/>
          <a:p>
            <a:pPr algn="ctr" indent="0" marL="0">
              <a:buNone/>
            </a:pPr>
            <a:r>
              <a:rPr lang="en-US" sz="1050" b="1" dirty="0">
                <a:solidFill>
                  <a:srgbClr val="0A0A0B"/>
                </a:solidFill>
              </a:rPr>
              <a:t>Speech (ASR)</a:t>
            </a:r>
            <a:endParaRPr lang="en-US" sz="1050" dirty="0"/>
          </a:p>
        </p:txBody>
      </p:sp>
      <p:sp>
        <p:nvSpPr>
          <p:cNvPr id="21" name="Text 19"/>
          <p:cNvSpPr txBox="1"/>
          <p:nvPr/>
        </p:nvSpPr>
        <p:spPr>
          <a:xfrm>
            <a:off x="731520" y="3657600"/>
            <a:ext cx="1051560" cy="731520"/>
          </a:xfrm>
          <a:prstGeom prst="rect">
            <a:avLst/>
          </a:prstGeom>
          <a:noFill/>
          <a:ln/>
        </p:spPr>
        <p:txBody>
          <a:bodyPr wrap="square" lIns="0" tIns="0" rIns="0" bIns="0" rtlCol="0" anchor="ctr"/>
          <a:lstStyle/>
          <a:p>
            <a:pPr indent="0" marL="0">
              <a:buNone/>
            </a:pPr>
            <a:r>
              <a:rPr lang="en-US" sz="1100" b="1" dirty="0">
                <a:solidFill>
                  <a:srgbClr val="55555C"/>
                </a:solidFill>
              </a:rPr>
              <a:t>GPU 0</a:t>
            </a:r>
            <a:endParaRPr lang="en-US" sz="1100" dirty="0"/>
          </a:p>
        </p:txBody>
      </p:sp>
      <p:sp>
        <p:nvSpPr>
          <p:cNvPr id="22" name="Shape 20"/>
          <p:cNvSpPr/>
          <p:nvPr/>
        </p:nvSpPr>
        <p:spPr>
          <a:xfrm>
            <a:off x="1783080" y="3730752"/>
            <a:ext cx="1177290" cy="585216"/>
          </a:xfrm>
          <a:prstGeom prst="roundRect">
            <a:avLst>
              <a:gd name="adj" fmla="val 9375"/>
            </a:avLst>
          </a:prstGeom>
          <a:solidFill>
            <a:srgbClr val="E9F3EC"/>
          </a:solidFill>
          <a:ln w="12700">
            <a:solidFill>
              <a:srgbClr val="E9F3EC"/>
            </a:solidFill>
            <a:prstDash val="solid"/>
          </a:ln>
        </p:spPr>
      </p:sp>
      <p:sp>
        <p:nvSpPr>
          <p:cNvPr id="23" name="Text 21"/>
          <p:cNvSpPr txBox="1"/>
          <p:nvPr/>
        </p:nvSpPr>
        <p:spPr>
          <a:xfrm>
            <a:off x="1828800" y="3730752"/>
            <a:ext cx="1085850" cy="585216"/>
          </a:xfrm>
          <a:prstGeom prst="rect">
            <a:avLst/>
          </a:prstGeom>
          <a:noFill/>
          <a:ln/>
        </p:spPr>
        <p:txBody>
          <a:bodyPr wrap="square" lIns="0" tIns="0" rIns="0" bIns="0" rtlCol="0" anchor="ctr"/>
          <a:lstStyle/>
          <a:p>
            <a:pPr algn="ctr" indent="0" marL="0">
              <a:buNone/>
            </a:pPr>
            <a:r>
              <a:rPr lang="en-US" sz="1050" b="1" dirty="0">
                <a:solidFill>
                  <a:srgbClr val="0A0A0B"/>
                </a:solidFill>
              </a:rPr>
              <a:t>SAM 2.1</a:t>
            </a:r>
            <a:endParaRPr lang="en-US" sz="1050" dirty="0"/>
          </a:p>
        </p:txBody>
      </p:sp>
      <p:sp>
        <p:nvSpPr>
          <p:cNvPr id="24" name="Shape 22"/>
          <p:cNvSpPr/>
          <p:nvPr/>
        </p:nvSpPr>
        <p:spPr>
          <a:xfrm>
            <a:off x="3051810" y="3730752"/>
            <a:ext cx="1177290" cy="585216"/>
          </a:xfrm>
          <a:prstGeom prst="roundRect">
            <a:avLst>
              <a:gd name="adj" fmla="val 9375"/>
            </a:avLst>
          </a:prstGeom>
          <a:solidFill>
            <a:srgbClr val="E9F3EC"/>
          </a:solidFill>
          <a:ln w="12700">
            <a:solidFill>
              <a:srgbClr val="E9F3EC"/>
            </a:solidFill>
            <a:prstDash val="solid"/>
          </a:ln>
        </p:spPr>
      </p:sp>
      <p:sp>
        <p:nvSpPr>
          <p:cNvPr id="25" name="Text 23"/>
          <p:cNvSpPr txBox="1"/>
          <p:nvPr/>
        </p:nvSpPr>
        <p:spPr>
          <a:xfrm>
            <a:off x="3097530" y="3730752"/>
            <a:ext cx="1085850" cy="585216"/>
          </a:xfrm>
          <a:prstGeom prst="rect">
            <a:avLst/>
          </a:prstGeom>
          <a:noFill/>
          <a:ln/>
        </p:spPr>
        <p:txBody>
          <a:bodyPr wrap="square" lIns="0" tIns="0" rIns="0" bIns="0" rtlCol="0" anchor="ctr"/>
          <a:lstStyle/>
          <a:p>
            <a:pPr algn="ctr" indent="0" marL="0">
              <a:buNone/>
            </a:pPr>
            <a:r>
              <a:rPr lang="en-US" sz="1050" b="1" dirty="0">
                <a:solidFill>
                  <a:srgbClr val="0A0A0B"/>
                </a:solidFill>
              </a:rPr>
              <a:t>Sapiens2</a:t>
            </a:r>
            <a:endParaRPr lang="en-US" sz="1050" dirty="0"/>
          </a:p>
        </p:txBody>
      </p:sp>
      <p:sp>
        <p:nvSpPr>
          <p:cNvPr id="26" name="Shape 24"/>
          <p:cNvSpPr/>
          <p:nvPr/>
        </p:nvSpPr>
        <p:spPr>
          <a:xfrm>
            <a:off x="4320540" y="3730752"/>
            <a:ext cx="1177290" cy="585216"/>
          </a:xfrm>
          <a:prstGeom prst="roundRect">
            <a:avLst>
              <a:gd name="adj" fmla="val 9375"/>
            </a:avLst>
          </a:prstGeom>
          <a:solidFill>
            <a:srgbClr val="E9F3EC"/>
          </a:solidFill>
          <a:ln w="12700">
            <a:solidFill>
              <a:srgbClr val="E9F3EC"/>
            </a:solidFill>
            <a:prstDash val="solid"/>
          </a:ln>
        </p:spPr>
      </p:sp>
      <p:sp>
        <p:nvSpPr>
          <p:cNvPr id="27" name="Text 25"/>
          <p:cNvSpPr txBox="1"/>
          <p:nvPr/>
        </p:nvSpPr>
        <p:spPr>
          <a:xfrm>
            <a:off x="4366260" y="3730752"/>
            <a:ext cx="1085850" cy="585216"/>
          </a:xfrm>
          <a:prstGeom prst="rect">
            <a:avLst/>
          </a:prstGeom>
          <a:noFill/>
          <a:ln/>
        </p:spPr>
        <p:txBody>
          <a:bodyPr wrap="square" lIns="0" tIns="0" rIns="0" bIns="0" rtlCol="0" anchor="ctr"/>
          <a:lstStyle/>
          <a:p>
            <a:pPr algn="ctr" indent="0" marL="0">
              <a:buNone/>
            </a:pPr>
            <a:r>
              <a:rPr lang="en-US" sz="1050" b="1" dirty="0">
                <a:solidFill>
                  <a:srgbClr val="0A0A0B"/>
                </a:solidFill>
              </a:rPr>
              <a:t>MapAnything</a:t>
            </a:r>
            <a:endParaRPr lang="en-US" sz="1050" dirty="0"/>
          </a:p>
        </p:txBody>
      </p:sp>
      <p:sp>
        <p:nvSpPr>
          <p:cNvPr id="28" name="Shape 26"/>
          <p:cNvSpPr/>
          <p:nvPr/>
        </p:nvSpPr>
        <p:spPr>
          <a:xfrm>
            <a:off x="5589270" y="3730752"/>
            <a:ext cx="1177290" cy="585216"/>
          </a:xfrm>
          <a:prstGeom prst="roundRect">
            <a:avLst>
              <a:gd name="adj" fmla="val 9375"/>
            </a:avLst>
          </a:prstGeom>
          <a:solidFill>
            <a:srgbClr val="E9F3EC"/>
          </a:solidFill>
          <a:ln w="12700">
            <a:solidFill>
              <a:srgbClr val="E9F3EC"/>
            </a:solidFill>
            <a:prstDash val="solid"/>
          </a:ln>
        </p:spPr>
      </p:sp>
      <p:sp>
        <p:nvSpPr>
          <p:cNvPr id="29" name="Text 27"/>
          <p:cNvSpPr txBox="1"/>
          <p:nvPr/>
        </p:nvSpPr>
        <p:spPr>
          <a:xfrm>
            <a:off x="5634990" y="3730752"/>
            <a:ext cx="1085850" cy="585216"/>
          </a:xfrm>
          <a:prstGeom prst="rect">
            <a:avLst/>
          </a:prstGeom>
          <a:noFill/>
          <a:ln/>
        </p:spPr>
        <p:txBody>
          <a:bodyPr wrap="square" lIns="0" tIns="0" rIns="0" bIns="0" rtlCol="0" anchor="ctr"/>
          <a:lstStyle/>
          <a:p>
            <a:pPr algn="ctr" indent="0" marL="0">
              <a:buNone/>
            </a:pPr>
            <a:r>
              <a:rPr lang="en-US" sz="1050" b="1" dirty="0">
                <a:solidFill>
                  <a:srgbClr val="0A0A0B"/>
                </a:solidFill>
              </a:rPr>
              <a:t>DETR / RT-DETR</a:t>
            </a:r>
            <a:endParaRPr lang="en-US" sz="1050" dirty="0"/>
          </a:p>
        </p:txBody>
      </p:sp>
      <p:sp>
        <p:nvSpPr>
          <p:cNvPr id="30" name="Shape 28"/>
          <p:cNvSpPr/>
          <p:nvPr/>
        </p:nvSpPr>
        <p:spPr>
          <a:xfrm>
            <a:off x="7223760" y="1234440"/>
            <a:ext cx="4419295" cy="3337560"/>
          </a:xfrm>
          <a:prstGeom prst="roundRect">
            <a:avLst>
              <a:gd name="adj" fmla="val 2192"/>
            </a:avLst>
          </a:prstGeom>
          <a:solidFill>
            <a:srgbClr val="F3F6F4"/>
          </a:solidFill>
          <a:ln w="12700">
            <a:solidFill>
              <a:srgbClr val="F3F6F4"/>
            </a:solidFill>
            <a:prstDash val="solid"/>
          </a:ln>
        </p:spPr>
      </p:sp>
      <p:sp>
        <p:nvSpPr>
          <p:cNvPr id="31" name="Text 29"/>
          <p:cNvSpPr txBox="1"/>
          <p:nvPr/>
        </p:nvSpPr>
        <p:spPr>
          <a:xfrm>
            <a:off x="7406640" y="1298448"/>
            <a:ext cx="4053535" cy="548640"/>
          </a:xfrm>
          <a:prstGeom prst="rect">
            <a:avLst/>
          </a:prstGeom>
          <a:noFill/>
          <a:ln/>
        </p:spPr>
        <p:txBody>
          <a:bodyPr wrap="square" lIns="0" tIns="0" rIns="0" bIns="0" rtlCol="0" anchor="ctr"/>
          <a:lstStyle/>
          <a:p>
            <a:pPr indent="0" marL="0">
              <a:buNone/>
            </a:pPr>
            <a:r>
              <a:rPr lang="en-US" sz="1500" b="1" dirty="0">
                <a:solidFill>
                  <a:srgbClr val="0A0A0B"/>
                </a:solidFill>
              </a:rPr>
              <a:t>Meta Model API</a:t>
            </a:r>
            <a:endParaRPr lang="en-US" sz="1500" dirty="0"/>
          </a:p>
          <a:p>
            <a:pPr indent="0" marL="0">
              <a:buNone/>
            </a:pPr>
            <a:r>
              <a:rPr lang="en-US" sz="1100" dirty="0">
                <a:solidFill>
                  <a:srgbClr val="55555C"/>
                </a:solidFill>
              </a:rPr>
              <a:t>only what needs it</a:t>
            </a:r>
            <a:endParaRPr lang="en-US" sz="1500" dirty="0"/>
          </a:p>
        </p:txBody>
      </p:sp>
      <p:sp>
        <p:nvSpPr>
          <p:cNvPr id="32" name="Text 30"/>
          <p:cNvSpPr txBox="1"/>
          <p:nvPr/>
        </p:nvSpPr>
        <p:spPr>
          <a:xfrm>
            <a:off x="7406640" y="1920240"/>
            <a:ext cx="1051560" cy="731520"/>
          </a:xfrm>
          <a:prstGeom prst="rect">
            <a:avLst/>
          </a:prstGeom>
          <a:noFill/>
          <a:ln/>
        </p:spPr>
        <p:txBody>
          <a:bodyPr wrap="square" lIns="0" tIns="0" rIns="0" bIns="0" rtlCol="0" anchor="ctr"/>
          <a:lstStyle/>
          <a:p>
            <a:pPr indent="0" marL="0">
              <a:buNone/>
            </a:pPr>
            <a:r>
              <a:rPr lang="en-US" sz="1100" b="1" dirty="0">
                <a:solidFill>
                  <a:srgbClr val="55555C"/>
                </a:solidFill>
              </a:rPr>
              <a:t>Text</a:t>
            </a:r>
            <a:endParaRPr lang="en-US" sz="1100" dirty="0"/>
          </a:p>
        </p:txBody>
      </p:sp>
      <p:sp>
        <p:nvSpPr>
          <p:cNvPr id="33" name="Shape 31"/>
          <p:cNvSpPr/>
          <p:nvPr/>
        </p:nvSpPr>
        <p:spPr>
          <a:xfrm>
            <a:off x="8458200" y="1993392"/>
            <a:ext cx="3001975" cy="585216"/>
          </a:xfrm>
          <a:prstGeom prst="roundRect">
            <a:avLst>
              <a:gd name="adj" fmla="val 9375"/>
            </a:avLst>
          </a:prstGeom>
          <a:solidFill>
            <a:srgbClr val="DCE6F5"/>
          </a:solidFill>
          <a:ln w="12700">
            <a:solidFill>
              <a:srgbClr val="DCE6F5"/>
            </a:solidFill>
            <a:prstDash val="solid"/>
          </a:ln>
        </p:spPr>
      </p:sp>
      <p:sp>
        <p:nvSpPr>
          <p:cNvPr id="34" name="Text 32"/>
          <p:cNvSpPr txBox="1"/>
          <p:nvPr/>
        </p:nvSpPr>
        <p:spPr>
          <a:xfrm>
            <a:off x="8503920" y="1993392"/>
            <a:ext cx="2910535" cy="585216"/>
          </a:xfrm>
          <a:prstGeom prst="rect">
            <a:avLst/>
          </a:prstGeom>
          <a:noFill/>
          <a:ln/>
        </p:spPr>
        <p:txBody>
          <a:bodyPr wrap="square" lIns="0" tIns="0" rIns="0" bIns="0" rtlCol="0" anchor="ctr"/>
          <a:lstStyle/>
          <a:p>
            <a:pPr algn="ctr" indent="0" marL="0">
              <a:buNone/>
            </a:pPr>
            <a:r>
              <a:rPr lang="en-US" sz="1050" b="1" dirty="0">
                <a:solidFill>
                  <a:srgbClr val="0A0A0B"/>
                </a:solidFill>
              </a:rPr>
              <a:t>Muse Spark 1.3: long calls, fallback</a:t>
            </a:r>
            <a:endParaRPr lang="en-US" sz="1050" dirty="0"/>
          </a:p>
        </p:txBody>
      </p:sp>
      <p:sp>
        <p:nvSpPr>
          <p:cNvPr id="35" name="Text 33"/>
          <p:cNvSpPr txBox="1"/>
          <p:nvPr/>
        </p:nvSpPr>
        <p:spPr>
          <a:xfrm>
            <a:off x="7406640" y="2788920"/>
            <a:ext cx="1051560" cy="731520"/>
          </a:xfrm>
          <a:prstGeom prst="rect">
            <a:avLst/>
          </a:prstGeom>
          <a:noFill/>
          <a:ln/>
        </p:spPr>
        <p:txBody>
          <a:bodyPr wrap="square" lIns="0" tIns="0" rIns="0" bIns="0" rtlCol="0" anchor="ctr"/>
          <a:lstStyle/>
          <a:p>
            <a:pPr indent="0" marL="0">
              <a:buNone/>
            </a:pPr>
            <a:r>
              <a:rPr lang="en-US" sz="1100" b="1" dirty="0">
                <a:solidFill>
                  <a:srgbClr val="55555C"/>
                </a:solidFill>
              </a:rPr>
              <a:t>Voice</a:t>
            </a:r>
            <a:endParaRPr lang="en-US" sz="1100" dirty="0"/>
          </a:p>
        </p:txBody>
      </p:sp>
      <p:sp>
        <p:nvSpPr>
          <p:cNvPr id="36" name="Shape 34"/>
          <p:cNvSpPr/>
          <p:nvPr/>
        </p:nvSpPr>
        <p:spPr>
          <a:xfrm>
            <a:off x="8458200" y="2862072"/>
            <a:ext cx="3001975" cy="585216"/>
          </a:xfrm>
          <a:prstGeom prst="roundRect">
            <a:avLst>
              <a:gd name="adj" fmla="val 9375"/>
            </a:avLst>
          </a:prstGeom>
          <a:solidFill>
            <a:srgbClr val="DCE6F5"/>
          </a:solidFill>
          <a:ln w="12700">
            <a:solidFill>
              <a:srgbClr val="DCE6F5"/>
            </a:solidFill>
            <a:prstDash val="solid"/>
          </a:ln>
        </p:spPr>
      </p:sp>
      <p:sp>
        <p:nvSpPr>
          <p:cNvPr id="37" name="Text 35"/>
          <p:cNvSpPr txBox="1"/>
          <p:nvPr/>
        </p:nvSpPr>
        <p:spPr>
          <a:xfrm>
            <a:off x="8503920" y="2862072"/>
            <a:ext cx="2910535" cy="585216"/>
          </a:xfrm>
          <a:prstGeom prst="rect">
            <a:avLst/>
          </a:prstGeom>
          <a:noFill/>
          <a:ln/>
        </p:spPr>
        <p:txBody>
          <a:bodyPr wrap="square" lIns="0" tIns="0" rIns="0" bIns="0" rtlCol="0" anchor="ctr"/>
          <a:lstStyle/>
          <a:p>
            <a:pPr algn="ctr" indent="0" marL="0">
              <a:buNone/>
            </a:pPr>
            <a:r>
              <a:rPr lang="en-US" sz="1050" b="1" dirty="0">
                <a:solidFill>
                  <a:srgbClr val="0A0A0B"/>
                </a:solidFill>
              </a:rPr>
              <a:t>Muse Voice Transcribe</a:t>
            </a:r>
            <a:endParaRPr lang="en-US" sz="1050" dirty="0"/>
          </a:p>
        </p:txBody>
      </p:sp>
      <p:sp>
        <p:nvSpPr>
          <p:cNvPr id="38" name="Text 36"/>
          <p:cNvSpPr txBox="1"/>
          <p:nvPr/>
        </p:nvSpPr>
        <p:spPr>
          <a:xfrm>
            <a:off x="7406640" y="3657600"/>
            <a:ext cx="1051560" cy="731520"/>
          </a:xfrm>
          <a:prstGeom prst="rect">
            <a:avLst/>
          </a:prstGeom>
          <a:noFill/>
          <a:ln/>
        </p:spPr>
        <p:txBody>
          <a:bodyPr wrap="square" lIns="0" tIns="0" rIns="0" bIns="0" rtlCol="0" anchor="ctr"/>
          <a:lstStyle/>
          <a:p>
            <a:pPr indent="0" marL="0">
              <a:buNone/>
            </a:pPr>
            <a:r>
              <a:rPr lang="en-US" sz="1100" b="1" dirty="0">
                <a:solidFill>
                  <a:srgbClr val="55555C"/>
                </a:solidFill>
              </a:rPr>
              <a:t>Vision</a:t>
            </a:r>
            <a:endParaRPr lang="en-US" sz="1100" dirty="0"/>
          </a:p>
        </p:txBody>
      </p:sp>
      <p:sp>
        <p:nvSpPr>
          <p:cNvPr id="39" name="Shape 37"/>
          <p:cNvSpPr/>
          <p:nvPr/>
        </p:nvSpPr>
        <p:spPr>
          <a:xfrm>
            <a:off x="8458200" y="3730752"/>
            <a:ext cx="939698" cy="585216"/>
          </a:xfrm>
          <a:prstGeom prst="roundRect">
            <a:avLst>
              <a:gd name="adj" fmla="val 9375"/>
            </a:avLst>
          </a:prstGeom>
          <a:solidFill>
            <a:srgbClr val="DCE6F5"/>
          </a:solidFill>
          <a:ln w="12700">
            <a:solidFill>
              <a:srgbClr val="DCE6F5"/>
            </a:solidFill>
            <a:prstDash val="solid"/>
          </a:ln>
        </p:spPr>
      </p:sp>
      <p:sp>
        <p:nvSpPr>
          <p:cNvPr id="40" name="Text 38"/>
          <p:cNvSpPr txBox="1"/>
          <p:nvPr/>
        </p:nvSpPr>
        <p:spPr>
          <a:xfrm>
            <a:off x="8503920" y="3730752"/>
            <a:ext cx="848258" cy="585216"/>
          </a:xfrm>
          <a:prstGeom prst="rect">
            <a:avLst/>
          </a:prstGeom>
          <a:noFill/>
          <a:ln/>
        </p:spPr>
        <p:txBody>
          <a:bodyPr wrap="square" lIns="0" tIns="0" rIns="0" bIns="0" rtlCol="0" anchor="ctr"/>
          <a:lstStyle/>
          <a:p>
            <a:pPr algn="ctr" indent="0" marL="0">
              <a:buNone/>
            </a:pPr>
            <a:r>
              <a:rPr lang="en-US" sz="1050" b="1" dirty="0">
                <a:solidFill>
                  <a:srgbClr val="0A0A0B"/>
                </a:solidFill>
              </a:rPr>
              <a:t>Muse Image</a:t>
            </a:r>
            <a:endParaRPr lang="en-US" sz="1050" dirty="0"/>
          </a:p>
        </p:txBody>
      </p:sp>
      <p:sp>
        <p:nvSpPr>
          <p:cNvPr id="41" name="Shape 39"/>
          <p:cNvSpPr/>
          <p:nvPr/>
        </p:nvSpPr>
        <p:spPr>
          <a:xfrm>
            <a:off x="9489338" y="3730752"/>
            <a:ext cx="939698" cy="585216"/>
          </a:xfrm>
          <a:prstGeom prst="roundRect">
            <a:avLst>
              <a:gd name="adj" fmla="val 9375"/>
            </a:avLst>
          </a:prstGeom>
          <a:solidFill>
            <a:srgbClr val="DCE6F5"/>
          </a:solidFill>
          <a:ln w="12700">
            <a:solidFill>
              <a:srgbClr val="DCE6F5"/>
            </a:solidFill>
            <a:prstDash val="solid"/>
          </a:ln>
        </p:spPr>
      </p:sp>
      <p:sp>
        <p:nvSpPr>
          <p:cNvPr id="42" name="Text 40"/>
          <p:cNvSpPr txBox="1"/>
          <p:nvPr/>
        </p:nvSpPr>
        <p:spPr>
          <a:xfrm>
            <a:off x="9535058" y="3730752"/>
            <a:ext cx="848258" cy="585216"/>
          </a:xfrm>
          <a:prstGeom prst="rect">
            <a:avLst/>
          </a:prstGeom>
          <a:noFill/>
          <a:ln/>
        </p:spPr>
        <p:txBody>
          <a:bodyPr wrap="square" lIns="0" tIns="0" rIns="0" bIns="0" rtlCol="0" anchor="ctr"/>
          <a:lstStyle/>
          <a:p>
            <a:pPr algn="ctr" indent="0" marL="0">
              <a:buNone/>
            </a:pPr>
            <a:r>
              <a:rPr lang="en-US" sz="1050" b="1" dirty="0">
                <a:solidFill>
                  <a:srgbClr val="0A0A0B"/>
                </a:solidFill>
              </a:rPr>
              <a:t>Muse Wonder</a:t>
            </a:r>
            <a:endParaRPr lang="en-US" sz="1050" dirty="0"/>
          </a:p>
        </p:txBody>
      </p:sp>
      <p:sp>
        <p:nvSpPr>
          <p:cNvPr id="43" name="Shape 41"/>
          <p:cNvSpPr/>
          <p:nvPr/>
        </p:nvSpPr>
        <p:spPr>
          <a:xfrm>
            <a:off x="10520477" y="3730752"/>
            <a:ext cx="939698" cy="585216"/>
          </a:xfrm>
          <a:prstGeom prst="roundRect">
            <a:avLst>
              <a:gd name="adj" fmla="val 9375"/>
            </a:avLst>
          </a:prstGeom>
          <a:solidFill>
            <a:srgbClr val="DCE6F5"/>
          </a:solidFill>
          <a:ln w="12700">
            <a:solidFill>
              <a:srgbClr val="DCE6F5"/>
            </a:solidFill>
            <a:prstDash val="solid"/>
          </a:ln>
        </p:spPr>
      </p:sp>
      <p:sp>
        <p:nvSpPr>
          <p:cNvPr id="44" name="Text 42"/>
          <p:cNvSpPr txBox="1"/>
          <p:nvPr/>
        </p:nvSpPr>
        <p:spPr>
          <a:xfrm>
            <a:off x="10566197" y="3730752"/>
            <a:ext cx="848258" cy="585216"/>
          </a:xfrm>
          <a:prstGeom prst="rect">
            <a:avLst/>
          </a:prstGeom>
          <a:noFill/>
          <a:ln/>
        </p:spPr>
        <p:txBody>
          <a:bodyPr wrap="square" lIns="0" tIns="0" rIns="0" bIns="0" rtlCol="0" anchor="ctr"/>
          <a:lstStyle/>
          <a:p>
            <a:pPr algn="ctr" indent="0" marL="0">
              <a:buNone/>
            </a:pPr>
            <a:r>
              <a:rPr lang="en-US" sz="1050" b="1" dirty="0">
                <a:solidFill>
                  <a:srgbClr val="0A0A0B"/>
                </a:solidFill>
              </a:rPr>
              <a:t>SAM 3.1</a:t>
            </a:r>
            <a:endParaRPr lang="en-US" sz="1050" dirty="0"/>
          </a:p>
        </p:txBody>
      </p:sp>
      <p:sp>
        <p:nvSpPr>
          <p:cNvPr id="45" name="Text 43"/>
          <p:cNvSpPr txBox="1"/>
          <p:nvPr/>
        </p:nvSpPr>
        <p:spPr>
          <a:xfrm>
            <a:off x="548640" y="4754880"/>
            <a:ext cx="7315200" cy="320040"/>
          </a:xfrm>
          <a:prstGeom prst="rect">
            <a:avLst/>
          </a:prstGeom>
          <a:noFill/>
          <a:ln/>
        </p:spPr>
        <p:txBody>
          <a:bodyPr wrap="square" lIns="0" tIns="0" rIns="0" bIns="0" rtlCol="0" anchor="ctr"/>
          <a:lstStyle/>
          <a:p>
            <a:pPr indent="0" marL="0">
              <a:buNone/>
            </a:pPr>
            <a:r>
              <a:rPr lang="en-US" sz="1300" b="1" dirty="0">
                <a:solidFill>
                  <a:srgbClr val="0A0A0B"/>
                </a:solidFill>
              </a:rPr>
              <a:t>Which model answers a text call, by its length in tokens</a:t>
            </a:r>
            <a:endParaRPr lang="en-US" sz="1300" dirty="0"/>
          </a:p>
        </p:txBody>
      </p:sp>
      <p:sp>
        <p:nvSpPr>
          <p:cNvPr id="46" name="Shape 44"/>
          <p:cNvSpPr/>
          <p:nvPr/>
        </p:nvSpPr>
        <p:spPr>
          <a:xfrm>
            <a:off x="548640" y="5166360"/>
            <a:ext cx="1463040" cy="502920"/>
          </a:xfrm>
          <a:prstGeom prst="rect">
            <a:avLst/>
          </a:prstGeom>
          <a:solidFill>
            <a:srgbClr val="0A7F44"/>
          </a:solidFill>
          <a:ln w="12700">
            <a:solidFill>
              <a:srgbClr val="FFFFFF"/>
            </a:solidFill>
            <a:prstDash val="solid"/>
          </a:ln>
        </p:spPr>
      </p:sp>
      <p:sp>
        <p:nvSpPr>
          <p:cNvPr id="47" name="Text 45"/>
          <p:cNvSpPr txBox="1"/>
          <p:nvPr/>
        </p:nvSpPr>
        <p:spPr>
          <a:xfrm>
            <a:off x="640080" y="5166360"/>
            <a:ext cx="1280160" cy="502920"/>
          </a:xfrm>
          <a:prstGeom prst="rect">
            <a:avLst/>
          </a:prstGeom>
          <a:noFill/>
          <a:ln/>
        </p:spPr>
        <p:txBody>
          <a:bodyPr wrap="square" lIns="0" tIns="0" rIns="0" bIns="0" rtlCol="0" anchor="ctr"/>
          <a:lstStyle/>
          <a:p>
            <a:pPr indent="0" marL="0">
              <a:buNone/>
            </a:pPr>
            <a:r>
              <a:rPr lang="en-US" sz="1100" b="1" dirty="0">
                <a:solidFill>
                  <a:srgbClr val="FFFFFF"/>
                </a:solidFill>
              </a:rPr>
              <a:t>≤ 700, checked site: our 1B</a:t>
            </a:r>
            <a:endParaRPr lang="en-US" sz="1100" dirty="0"/>
          </a:p>
        </p:txBody>
      </p:sp>
      <p:sp>
        <p:nvSpPr>
          <p:cNvPr id="48" name="Shape 46"/>
          <p:cNvSpPr/>
          <p:nvPr/>
        </p:nvSpPr>
        <p:spPr>
          <a:xfrm>
            <a:off x="2011680" y="5166360"/>
            <a:ext cx="6949440" cy="502920"/>
          </a:xfrm>
          <a:prstGeom prst="rect">
            <a:avLst/>
          </a:prstGeom>
          <a:solidFill>
            <a:srgbClr val="E9F3EC"/>
          </a:solidFill>
          <a:ln w="12700">
            <a:solidFill>
              <a:srgbClr val="FFFFFF"/>
            </a:solidFill>
            <a:prstDash val="solid"/>
          </a:ln>
        </p:spPr>
      </p:sp>
      <p:sp>
        <p:nvSpPr>
          <p:cNvPr id="49" name="Text 47"/>
          <p:cNvSpPr txBox="1"/>
          <p:nvPr/>
        </p:nvSpPr>
        <p:spPr>
          <a:xfrm>
            <a:off x="2103120" y="5166360"/>
            <a:ext cx="6766560" cy="502920"/>
          </a:xfrm>
          <a:prstGeom prst="rect">
            <a:avLst/>
          </a:prstGeom>
          <a:noFill/>
          <a:ln/>
        </p:spPr>
        <p:txBody>
          <a:bodyPr wrap="square" lIns="0" tIns="0" rIns="0" bIns="0" rtlCol="0" anchor="ctr"/>
          <a:lstStyle/>
          <a:p>
            <a:pPr indent="0" marL="0">
              <a:buNone/>
            </a:pPr>
            <a:r>
              <a:rPr lang="en-US" sz="1100" b="1" dirty="0">
                <a:solidFill>
                  <a:srgbClr val="0A0A0B"/>
                </a:solidFill>
              </a:rPr>
              <a:t>longer, or any other site: Muse Glimmer (16,384-token context)</a:t>
            </a:r>
            <a:endParaRPr lang="en-US" sz="1100" dirty="0"/>
          </a:p>
        </p:txBody>
      </p:sp>
      <p:sp>
        <p:nvSpPr>
          <p:cNvPr id="50" name="Shape 48"/>
          <p:cNvSpPr/>
          <p:nvPr/>
        </p:nvSpPr>
        <p:spPr>
          <a:xfrm>
            <a:off x="8961120" y="5166360"/>
            <a:ext cx="2681935" cy="502920"/>
          </a:xfrm>
          <a:prstGeom prst="rect">
            <a:avLst/>
          </a:prstGeom>
          <a:solidFill>
            <a:srgbClr val="DCE6F5"/>
          </a:solidFill>
          <a:ln w="12700">
            <a:solidFill>
              <a:srgbClr val="FFFFFF"/>
            </a:solidFill>
            <a:prstDash val="solid"/>
          </a:ln>
        </p:spPr>
      </p:sp>
      <p:sp>
        <p:nvSpPr>
          <p:cNvPr id="51" name="Text 49"/>
          <p:cNvSpPr txBox="1"/>
          <p:nvPr/>
        </p:nvSpPr>
        <p:spPr>
          <a:xfrm>
            <a:off x="9052560" y="5166360"/>
            <a:ext cx="2499055" cy="502920"/>
          </a:xfrm>
          <a:prstGeom prst="rect">
            <a:avLst/>
          </a:prstGeom>
          <a:noFill/>
          <a:ln/>
        </p:spPr>
        <p:txBody>
          <a:bodyPr wrap="square" lIns="0" tIns="0" rIns="0" bIns="0" rtlCol="0" anchor="ctr"/>
          <a:lstStyle/>
          <a:p>
            <a:pPr indent="0" marL="0">
              <a:buNone/>
            </a:pPr>
            <a:r>
              <a:rPr lang="en-US" sz="1100" b="1" dirty="0">
                <a:solidFill>
                  <a:srgbClr val="0A0A0B"/>
                </a:solidFill>
              </a:rPr>
              <a:t>12,000+: Muse Spark</a:t>
            </a:r>
            <a:endParaRPr lang="en-US" sz="1100" dirty="0"/>
          </a:p>
        </p:txBody>
      </p:sp>
      <p:sp>
        <p:nvSpPr>
          <p:cNvPr id="52" name="Text 50"/>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150" dirty="0">
                <a:solidFill>
                  <a:srgbClr val="55555C"/>
                </a:solidFill>
              </a:rPr>
              <a:t>Every short site was tried on the 1B first: 9 end-to-end checks failed, 2 of 6 hostile comments got through and 4 of 10 injected reviews were obeyed, so a second 1B was distilled for short text, and it takes six checked sites.</a:t>
            </a:r>
            <a:endParaRPr lang="en-US" sz="115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Measured since the report: six agent upgrades</a:t>
            </a:r>
            <a:endParaRPr lang="en-US" sz="2800" dirty="0"/>
          </a:p>
        </p:txBody>
      </p:sp>
      <p:pic>
        <p:nvPicPr>
          <p:cNvPr id="3" name="Image 0" descr="preencoded.png">    </p:cNvPr>
          <p:cNvPicPr>
            <a:picLocks noChangeAspect="1"/>
          </p:cNvPicPr>
          <p:nvPr/>
        </p:nvPicPr>
        <p:blipFill>
          <a:blip r:embed="rId1"/>
          <a:stretch>
            <a:fillRect/>
          </a:stretch>
        </p:blipFill>
        <p:spPr>
          <a:xfrm>
            <a:off x="2619263" y="1188720"/>
            <a:ext cx="6953170"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14 | </a:t>
            </a:r>
            <a:pPr indent="0" marL="0">
              <a:buNone/>
            </a:pPr>
            <a:r>
              <a:rPr lang="en-US" sz="1100" dirty="0">
                <a:solidFill>
                  <a:srgbClr val="55555C"/>
                </a:solidFill>
              </a:rPr>
              <a:t>Each upgrade before and after, on its own scale. Send gate, preference records and the stretch round are simulated; tool checks use injected faults; courts judged ahead ran on the RTX 3090 (4 cities); the tiny layer is held-out agreement on the hardest choices, against the 1B.</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A 27.6 KB classifier in front of the 1B, on by default</a:t>
            </a:r>
            <a:endParaRPr lang="en-US" sz="2800" dirty="0"/>
          </a:p>
        </p:txBody>
      </p:sp>
      <p:pic>
        <p:nvPicPr>
          <p:cNvPr id="3" name="Image 0" descr="preencoded.png">    </p:cNvPr>
          <p:cNvPicPr>
            <a:picLocks noChangeAspect="1"/>
          </p:cNvPicPr>
          <p:nvPr/>
        </p:nvPicPr>
        <p:blipFill>
          <a:blip r:embed="rId1"/>
          <a:stretch>
            <a:fillRect/>
          </a:stretch>
        </p:blipFill>
        <p:spPr>
          <a:xfrm>
            <a:off x="2101820" y="1188720"/>
            <a:ext cx="7988055"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15 | </a:t>
            </a:r>
            <a:pPr indent="0" marL="0">
              <a:buNone/>
            </a:pPr>
            <a:r>
              <a:rPr lang="en-US" sz="1100" dirty="0">
                <a:solidFill>
                  <a:srgbClr val="55555C"/>
                </a:solidFill>
              </a:rPr>
              <a:t>Agreement with Glimmer over all held-out cases (95% Wilson intervals). The tiny layer is small MLPs over facts code holds, with a doubt model; 0.06 ms a choice. It answers 59.8% of ordinary choices itself at 4.3% disagreement and sends the rest on.</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A 1B distilled for short text resists attacks it never saw</a:t>
            </a:r>
            <a:endParaRPr lang="en-US" sz="2800" dirty="0"/>
          </a:p>
        </p:txBody>
      </p:sp>
      <p:pic>
        <p:nvPicPr>
          <p:cNvPr id="3" name="Image 0" descr="preencoded.png">    </p:cNvPr>
          <p:cNvPicPr>
            <a:picLocks noChangeAspect="1"/>
          </p:cNvPicPr>
          <p:nvPr/>
        </p:nvPicPr>
        <p:blipFill>
          <a:blip r:embed="rId1"/>
          <a:stretch>
            <a:fillRect/>
          </a:stretch>
        </p:blipFill>
        <p:spPr>
          <a:xfrm>
            <a:off x="1451733" y="1188720"/>
            <a:ext cx="9288229"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16 | </a:t>
            </a:r>
            <a:pPr indent="0" marL="0">
              <a:buNone/>
            </a:pPr>
            <a:r>
              <a:rPr lang="en-US" sz="1100" dirty="0">
                <a:solidFill>
                  <a:srgbClr val="55555C"/>
                </a:solidFill>
              </a:rPr>
              <a:t>Attacks that succeeded on 446 held-out items built from attack templates not used in training, for the model alone with no guards in front (95% Wilson intervals). SFT on Glimmer's answers plus attacked copies; outside text in its own input message.</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Six flow bugs found by difficult simulated people, fixed</a:t>
            </a:r>
            <a:endParaRPr lang="en-US" sz="2800" dirty="0"/>
          </a:p>
        </p:txBody>
      </p:sp>
      <p:pic>
        <p:nvPicPr>
          <p:cNvPr id="3" name="Image 0" descr="preencoded.png">    </p:cNvPr>
          <p:cNvPicPr>
            <a:picLocks noChangeAspect="1"/>
          </p:cNvPicPr>
          <p:nvPr/>
        </p:nvPicPr>
        <p:blipFill>
          <a:blip r:embed="rId1"/>
          <a:stretch>
            <a:fillRect/>
          </a:stretch>
        </p:blipFill>
        <p:spPr>
          <a:xfrm>
            <a:off x="1778710" y="1188720"/>
            <a:ext cx="8634276"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17 | </a:t>
            </a:r>
            <a:pPr indent="0" marL="0">
              <a:buNone/>
            </a:pPr>
            <a:r>
              <a:rPr lang="en-US" sz="1100" dirty="0">
                <a:solidFill>
                  <a:srgbClr val="55555C"/>
                </a:solidFill>
              </a:rPr>
              <a:t>(a) Failures in 160 code-only runs with the difficult club (25% difficult people), before and after the fixes. (b) pass^k with Muse Glimmer (8 requests x 4 runs): a request counts only if every run succeeds. The pass^k gains are small and their intervals still include no change.</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What is not done yet</a:t>
            </a:r>
            <a:endParaRPr lang="en-US" sz="2800" dirty="0"/>
          </a:p>
        </p:txBody>
      </p:sp>
      <p:sp>
        <p:nvSpPr>
          <p:cNvPr id="3" name="Shape 1"/>
          <p:cNvSpPr/>
          <p:nvPr/>
        </p:nvSpPr>
        <p:spPr>
          <a:xfrm>
            <a:off x="548640" y="1435608"/>
            <a:ext cx="384048" cy="384048"/>
          </a:xfrm>
          <a:prstGeom prst="ellipse">
            <a:avLst/>
          </a:prstGeom>
          <a:solidFill>
            <a:srgbClr val="B26A00"/>
          </a:solidFill>
          <a:ln w="12700">
            <a:solidFill>
              <a:srgbClr val="B26A00"/>
            </a:solidFill>
            <a:prstDash val="solid"/>
          </a:ln>
        </p:spPr>
      </p:sp>
      <p:sp>
        <p:nvSpPr>
          <p:cNvPr id="4" name="Text 2"/>
          <p:cNvSpPr txBox="1"/>
          <p:nvPr/>
        </p:nvSpPr>
        <p:spPr>
          <a:xfrm>
            <a:off x="548640" y="1435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5" name="Text 3"/>
          <p:cNvSpPr txBox="1"/>
          <p:nvPr/>
        </p:nvSpPr>
        <p:spPr>
          <a:xfrm>
            <a:off x="1188720" y="1325880"/>
            <a:ext cx="10454335" cy="841248"/>
          </a:xfrm>
          <a:prstGeom prst="rect">
            <a:avLst/>
          </a:prstGeom>
          <a:noFill/>
          <a:ln/>
        </p:spPr>
        <p:txBody>
          <a:bodyPr wrap="square" lIns="0" tIns="0" rIns="0" bIns="0" rtlCol="0" anchor="t"/>
          <a:lstStyle/>
          <a:p>
            <a:pPr indent="0" marL="0">
              <a:buNone/>
            </a:pPr>
            <a:r>
              <a:rPr lang="en-US" sz="1600" b="1" dirty="0">
                <a:solidFill>
                  <a:srgbClr val="0A0A0B"/>
                </a:solidFill>
              </a:rPr>
              <a:t>Most validation is simulated</a:t>
            </a:r>
            <a:endParaRPr lang="en-US" sz="1600" dirty="0"/>
          </a:p>
          <a:p>
            <a:pPr indent="0" marL="0">
              <a:buNone/>
            </a:pPr>
            <a:r>
              <a:rPr lang="en-US" sz="1400" dirty="0">
                <a:solidFill>
                  <a:srgbClr val="55555C"/>
                </a:solidFill>
              </a:rPr>
              <a:t>Beyond one real club and two games, the evidence comes from AI agents, simulated members and local copies.</a:t>
            </a:r>
            <a:endParaRPr lang="en-US" sz="1600" dirty="0"/>
          </a:p>
        </p:txBody>
      </p:sp>
      <p:sp>
        <p:nvSpPr>
          <p:cNvPr id="6" name="Shape 4"/>
          <p:cNvSpPr/>
          <p:nvPr/>
        </p:nvSpPr>
        <p:spPr>
          <a:xfrm>
            <a:off x="548640" y="2368296"/>
            <a:ext cx="384048" cy="384048"/>
          </a:xfrm>
          <a:prstGeom prst="ellipse">
            <a:avLst/>
          </a:prstGeom>
          <a:solidFill>
            <a:srgbClr val="B26A00"/>
          </a:solidFill>
          <a:ln w="12700">
            <a:solidFill>
              <a:srgbClr val="B26A00"/>
            </a:solidFill>
            <a:prstDash val="solid"/>
          </a:ln>
        </p:spPr>
      </p:sp>
      <p:sp>
        <p:nvSpPr>
          <p:cNvPr id="7" name="Text 5"/>
          <p:cNvSpPr txBox="1"/>
          <p:nvPr/>
        </p:nvSpPr>
        <p:spPr>
          <a:xfrm>
            <a:off x="548640" y="236829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8" name="Text 6"/>
          <p:cNvSpPr txBox="1"/>
          <p:nvPr/>
        </p:nvSpPr>
        <p:spPr>
          <a:xfrm>
            <a:off x="1188720" y="2258568"/>
            <a:ext cx="10454335" cy="841248"/>
          </a:xfrm>
          <a:prstGeom prst="rect">
            <a:avLst/>
          </a:prstGeom>
          <a:noFill/>
          <a:ln/>
        </p:spPr>
        <p:txBody>
          <a:bodyPr wrap="square" lIns="0" tIns="0" rIns="0" bIns="0" rtlCol="0" anchor="t"/>
          <a:lstStyle/>
          <a:p>
            <a:pPr indent="0" marL="0">
              <a:buNone/>
            </a:pPr>
            <a:r>
              <a:rPr lang="en-US" sz="1600" b="1" dirty="0">
                <a:solidFill>
                  <a:srgbClr val="0A0A0B"/>
                </a:solidFill>
              </a:rPr>
              <a:t>The slow path still exists</a:t>
            </a:r>
            <a:endParaRPr lang="en-US" sz="1600" dirty="0"/>
          </a:p>
          <a:p>
            <a:pPr indent="0" marL="0">
              <a:buNone/>
            </a:pPr>
            <a:r>
              <a:rPr lang="en-US" sz="1400" dirty="0">
                <a:solidFill>
                  <a:srgbClr val="55555C"/>
                </a:solidFill>
              </a:rPr>
              <a:t>When the small models are unsure, Glimmer takes about 20 to 40 s; the steps stream in, but it is still a wait.</a:t>
            </a:r>
            <a:endParaRPr lang="en-US" sz="1600" dirty="0"/>
          </a:p>
        </p:txBody>
      </p:sp>
      <p:sp>
        <p:nvSpPr>
          <p:cNvPr id="9" name="Shape 7"/>
          <p:cNvSpPr/>
          <p:nvPr/>
        </p:nvSpPr>
        <p:spPr>
          <a:xfrm>
            <a:off x="548640" y="3300984"/>
            <a:ext cx="384048" cy="384048"/>
          </a:xfrm>
          <a:prstGeom prst="ellipse">
            <a:avLst/>
          </a:prstGeom>
          <a:solidFill>
            <a:srgbClr val="B26A00"/>
          </a:solidFill>
          <a:ln w="12700">
            <a:solidFill>
              <a:srgbClr val="B26A00"/>
            </a:solidFill>
            <a:prstDash val="solid"/>
          </a:ln>
        </p:spPr>
      </p:sp>
      <p:sp>
        <p:nvSpPr>
          <p:cNvPr id="10" name="Text 8"/>
          <p:cNvSpPr txBox="1"/>
          <p:nvPr/>
        </p:nvSpPr>
        <p:spPr>
          <a:xfrm>
            <a:off x="548640" y="330098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1" name="Text 9"/>
          <p:cNvSpPr txBox="1"/>
          <p:nvPr/>
        </p:nvSpPr>
        <p:spPr>
          <a:xfrm>
            <a:off x="1188720" y="3191256"/>
            <a:ext cx="10454335" cy="841248"/>
          </a:xfrm>
          <a:prstGeom prst="rect">
            <a:avLst/>
          </a:prstGeom>
          <a:noFill/>
          <a:ln/>
        </p:spPr>
        <p:txBody>
          <a:bodyPr wrap="square" lIns="0" tIns="0" rIns="0" bIns="0" rtlCol="0" anchor="t"/>
          <a:lstStyle/>
          <a:p>
            <a:pPr indent="0" marL="0">
              <a:buNone/>
            </a:pPr>
            <a:r>
              <a:rPr lang="en-US" sz="1600" b="1" dirty="0">
                <a:solidFill>
                  <a:srgbClr val="0A0A0B"/>
                </a:solidFill>
              </a:rPr>
              <a:t>Venues are samples</a:t>
            </a:r>
            <a:endParaRPr lang="en-US" sz="1600" dirty="0"/>
          </a:p>
          <a:p>
            <a:pPr indent="0" marL="0">
              <a:buNone/>
            </a:pPr>
            <a:r>
              <a:rPr lang="en-US" sz="1400" dirty="0">
                <a:solidFill>
                  <a:srgbClr val="55555C"/>
                </a:solidFill>
              </a:rPr>
              <a:t>No venue has joined yet, so quiet-hour prices are sample prices.</a:t>
            </a:r>
            <a:endParaRPr lang="en-US" sz="1600" dirty="0"/>
          </a:p>
        </p:txBody>
      </p:sp>
      <p:sp>
        <p:nvSpPr>
          <p:cNvPr id="12" name="Shape 10"/>
          <p:cNvSpPr/>
          <p:nvPr/>
        </p:nvSpPr>
        <p:spPr>
          <a:xfrm>
            <a:off x="548640" y="4233672"/>
            <a:ext cx="384048" cy="384048"/>
          </a:xfrm>
          <a:prstGeom prst="ellipse">
            <a:avLst/>
          </a:prstGeom>
          <a:solidFill>
            <a:srgbClr val="B26A00"/>
          </a:solidFill>
          <a:ln w="12700">
            <a:solidFill>
              <a:srgbClr val="B26A00"/>
            </a:solidFill>
            <a:prstDash val="solid"/>
          </a:ln>
        </p:spPr>
      </p:sp>
      <p:sp>
        <p:nvSpPr>
          <p:cNvPr id="13" name="Text 11"/>
          <p:cNvSpPr txBox="1"/>
          <p:nvPr/>
        </p:nvSpPr>
        <p:spPr>
          <a:xfrm>
            <a:off x="548640" y="42336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4" name="Text 12"/>
          <p:cNvSpPr txBox="1"/>
          <p:nvPr/>
        </p:nvSpPr>
        <p:spPr>
          <a:xfrm>
            <a:off x="1188720" y="4123944"/>
            <a:ext cx="10454335" cy="841248"/>
          </a:xfrm>
          <a:prstGeom prst="rect">
            <a:avLst/>
          </a:prstGeom>
          <a:noFill/>
          <a:ln/>
        </p:spPr>
        <p:txBody>
          <a:bodyPr wrap="square" lIns="0" tIns="0" rIns="0" bIns="0" rtlCol="0" anchor="t"/>
          <a:lstStyle/>
          <a:p>
            <a:pPr indent="0" marL="0">
              <a:buNone/>
            </a:pPr>
            <a:r>
              <a:rPr lang="en-US" sz="1600" b="1" dirty="0">
                <a:solidFill>
                  <a:srgbClr val="0A0A0B"/>
                </a:solidFill>
              </a:rPr>
              <a:t>The community loop has not run on real members</a:t>
            </a:r>
            <a:endParaRPr lang="en-US" sz="1600" dirty="0"/>
          </a:p>
          <a:p>
            <a:pPr indent="0" marL="0">
              <a:buNone/>
            </a:pPr>
            <a:r>
              <a:rPr lang="en-US" sz="1400" dirty="0">
                <a:solidFill>
                  <a:srgbClr val="55555C"/>
                </a:solidFill>
              </a:rPr>
              <a:t>An idea shows only once 5 different members ask for it.</a:t>
            </a:r>
            <a:endParaRPr lang="en-US" sz="1600" dirty="0"/>
          </a:p>
        </p:txBody>
      </p:sp>
      <p:sp>
        <p:nvSpPr>
          <p:cNvPr id="15" name="Shape 13"/>
          <p:cNvSpPr/>
          <p:nvPr/>
        </p:nvSpPr>
        <p:spPr>
          <a:xfrm>
            <a:off x="548640" y="5166360"/>
            <a:ext cx="384048" cy="384048"/>
          </a:xfrm>
          <a:prstGeom prst="ellipse">
            <a:avLst/>
          </a:prstGeom>
          <a:solidFill>
            <a:srgbClr val="B26A00"/>
          </a:solidFill>
          <a:ln w="12700">
            <a:solidFill>
              <a:srgbClr val="B26A00"/>
            </a:solidFill>
            <a:prstDash val="solid"/>
          </a:ln>
        </p:spPr>
      </p:sp>
      <p:sp>
        <p:nvSpPr>
          <p:cNvPr id="16" name="Text 14"/>
          <p:cNvSpPr txBox="1"/>
          <p:nvPr/>
        </p:nvSpPr>
        <p:spPr>
          <a:xfrm>
            <a:off x="548640" y="5166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17" name="Text 15"/>
          <p:cNvSpPr txBox="1"/>
          <p:nvPr/>
        </p:nvSpPr>
        <p:spPr>
          <a:xfrm>
            <a:off x="1188720" y="5056632"/>
            <a:ext cx="10454335" cy="841248"/>
          </a:xfrm>
          <a:prstGeom prst="rect">
            <a:avLst/>
          </a:prstGeom>
          <a:noFill/>
          <a:ln/>
        </p:spPr>
        <p:txBody>
          <a:bodyPr wrap="square" lIns="0" tIns="0" rIns="0" bIns="0" rtlCol="0" anchor="t"/>
          <a:lstStyle/>
          <a:p>
            <a:pPr indent="0" marL="0">
              <a:buNone/>
            </a:pPr>
            <a:r>
              <a:rPr lang="en-US" sz="1600" b="1" dirty="0">
                <a:solidFill>
                  <a:srgbClr val="0A0A0B"/>
                </a:solidFill>
              </a:rPr>
              <a:t>Orbit replays are short</a:t>
            </a:r>
            <a:endParaRPr lang="en-US" sz="1600" dirty="0"/>
          </a:p>
          <a:p>
            <a:pPr indent="0" marL="0">
              <a:buNone/>
            </a:pPr>
            <a:r>
              <a:rPr lang="en-US" sz="1400" dirty="0">
                <a:solidFill>
                  <a:srgbClr val="55555C"/>
                </a:solidFill>
              </a:rPr>
              <a:t>Only arcs of about ±6 to 12° look right; otherwise a zoom.</a:t>
            </a:r>
            <a:endParaRPr lang="en-US" sz="16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References 1 to 26, and where every number comes from</a:t>
            </a:r>
            <a:endParaRPr lang="en-US" sz="2800" dirty="0"/>
          </a:p>
        </p:txBody>
      </p:sp>
      <p:sp>
        <p:nvSpPr>
          <p:cNvPr id="3" name="Text 1"/>
          <p:cNvSpPr txBox="1"/>
          <p:nvPr/>
        </p:nvSpPr>
        <p:spPr>
          <a:xfrm>
            <a:off x="548640" y="1234440"/>
            <a:ext cx="3703320" cy="4937760"/>
          </a:xfrm>
          <a:prstGeom prst="rect">
            <a:avLst/>
          </a:prstGeom>
          <a:noFill/>
          <a:ln/>
        </p:spPr>
        <p:txBody>
          <a:bodyPr wrap="square" lIns="0" tIns="0" rIns="0" bIns="0" rtlCol="0" anchor="t"/>
          <a:lstStyle/>
          <a:p>
            <a:pPr indent="0" marL="0">
              <a:spcAft>
                <a:spcPts val="300"/>
              </a:spcAft>
              <a:buNone/>
            </a:pPr>
            <a:r>
              <a:rPr lang="en-US" sz="1050" dirty="0">
                <a:solidFill>
                  <a:srgbClr val="0A0A0B"/>
                </a:solidFill>
              </a:rPr>
              <a:t>1. NPR, RWJF and Harvard Chan: Sports and Health in America, 2015</a:t>
            </a:r>
            <a:endParaRPr lang="en-US" sz="1050" dirty="0"/>
          </a:p>
          <a:p>
            <a:pPr indent="0" marL="0">
              <a:spcAft>
                <a:spcPts val="300"/>
              </a:spcAft>
              <a:buNone/>
            </a:pPr>
            <a:r>
              <a:rPr lang="en-US" sz="1050" dirty="0">
                <a:solidFill>
                  <a:srgbClr val="0A0A0B"/>
                </a:solidFill>
              </a:rPr>
              <a:t>2. Sport New Zealand: Active NZ survey, 2023</a:t>
            </a:r>
            <a:endParaRPr lang="en-US" sz="1050" dirty="0"/>
          </a:p>
          <a:p>
            <a:pPr indent="0" marL="0">
              <a:spcAft>
                <a:spcPts val="300"/>
              </a:spcAft>
              <a:buNone/>
            </a:pPr>
            <a:r>
              <a:rPr lang="en-US" sz="1050" dirty="0">
                <a:solidFill>
                  <a:srgbClr val="0A0A0B"/>
                </a:solidFill>
              </a:rPr>
              <a:t>3. Agent2Agent (A2A) Protocol v1.0, Linux Foundation</a:t>
            </a:r>
            <a:endParaRPr lang="en-US" sz="1050" dirty="0"/>
          </a:p>
          <a:p>
            <a:pPr indent="0" marL="0">
              <a:spcAft>
                <a:spcPts val="300"/>
              </a:spcAft>
              <a:buNone/>
            </a:pPr>
            <a:r>
              <a:rPr lang="en-US" sz="1050" dirty="0">
                <a:solidFill>
                  <a:srgbClr val="0A0A0B"/>
                </a:solidFill>
              </a:rPr>
              <a:t>4. Smith: The Contract Net Protocol, 1980</a:t>
            </a:r>
            <a:endParaRPr lang="en-US" sz="1050" dirty="0"/>
          </a:p>
          <a:p>
            <a:pPr indent="0" marL="0">
              <a:spcAft>
                <a:spcPts val="300"/>
              </a:spcAft>
              <a:buNone/>
            </a:pPr>
            <a:r>
              <a:rPr lang="en-US" sz="1050" dirty="0">
                <a:solidFill>
                  <a:srgbClr val="0A0A0B"/>
                </a:solidFill>
              </a:rPr>
              <a:t>5. Yokoo et al.: Distributed Constraint Satisfaction, 1998</a:t>
            </a:r>
            <a:endParaRPr lang="en-US" sz="1050" dirty="0"/>
          </a:p>
          <a:p>
            <a:pPr indent="0" marL="0">
              <a:spcAft>
                <a:spcPts val="300"/>
              </a:spcAft>
              <a:buNone/>
            </a:pPr>
            <a:r>
              <a:rPr lang="en-US" sz="1050" dirty="0">
                <a:solidFill>
                  <a:srgbClr val="0A0A0B"/>
                </a:solidFill>
              </a:rPr>
              <a:t>6. Gray and Cheriton: Leases, SOSP 1989</a:t>
            </a:r>
            <a:endParaRPr lang="en-US" sz="1050" dirty="0"/>
          </a:p>
          <a:p>
            <a:pPr indent="0" marL="0">
              <a:spcAft>
                <a:spcPts val="300"/>
              </a:spcAft>
              <a:buNone/>
            </a:pPr>
            <a:r>
              <a:rPr lang="en-US" sz="1050" dirty="0">
                <a:solidFill>
                  <a:srgbClr val="0A0A0B"/>
                </a:solidFill>
              </a:rPr>
              <a:t>7. Havender: Avoiding Deadlock, 1968</a:t>
            </a:r>
            <a:endParaRPr lang="en-US" sz="1050" dirty="0"/>
          </a:p>
          <a:p>
            <a:pPr indent="0" marL="0">
              <a:spcAft>
                <a:spcPts val="300"/>
              </a:spcAft>
              <a:buNone/>
            </a:pPr>
            <a:r>
              <a:rPr lang="en-US" sz="1050" dirty="0">
                <a:solidFill>
                  <a:srgbClr val="0A0A0B"/>
                </a:solidFill>
              </a:rPr>
              <a:t>8. RFC 7515, JSON Web Signature</a:t>
            </a:r>
            <a:endParaRPr lang="en-US" sz="1050" dirty="0"/>
          </a:p>
          <a:p>
            <a:pPr indent="0" marL="0">
              <a:spcAft>
                <a:spcPts val="300"/>
              </a:spcAft>
              <a:buNone/>
            </a:pPr>
            <a:r>
              <a:rPr lang="en-US" sz="1050" dirty="0">
                <a:solidFill>
                  <a:srgbClr val="0A0A0B"/>
                </a:solidFill>
              </a:rPr>
              <a:t>9. RFC 8785, JSON Canonicalization Scheme</a:t>
            </a:r>
            <a:endParaRPr lang="en-US" sz="1050" dirty="0"/>
          </a:p>
          <a:p>
            <a:pPr indent="0" marL="0">
              <a:spcAft>
                <a:spcPts val="300"/>
              </a:spcAft>
              <a:buNone/>
            </a:pPr>
            <a:r>
              <a:rPr lang="en-US" sz="1050" dirty="0">
                <a:solidFill>
                  <a:srgbClr val="0A0A0B"/>
                </a:solidFill>
              </a:rPr>
              <a:t>10. Lalley and Weyl: Quadratic Voting, 2018</a:t>
            </a:r>
            <a:endParaRPr lang="en-US" sz="1050" dirty="0"/>
          </a:p>
          <a:p>
            <a:pPr indent="0" marL="0">
              <a:spcAft>
                <a:spcPts val="300"/>
              </a:spcAft>
              <a:buNone/>
            </a:pPr>
            <a:r>
              <a:rPr lang="en-US" sz="1050" dirty="0">
                <a:solidFill>
                  <a:srgbClr val="0A0A0B"/>
                </a:solidFill>
              </a:rPr>
              <a:t>11. LlamaFirewall, arXiv 2505.03574</a:t>
            </a:r>
            <a:endParaRPr lang="en-US" sz="1050" dirty="0"/>
          </a:p>
          <a:p>
            <a:pPr indent="0" marL="0">
              <a:spcAft>
                <a:spcPts val="300"/>
              </a:spcAft>
              <a:buNone/>
            </a:pPr>
            <a:r>
              <a:rPr lang="en-US" sz="1050" dirty="0">
                <a:solidFill>
                  <a:srgbClr val="0A0A0B"/>
                </a:solidFill>
              </a:rPr>
              <a:t>12. Darwin Gödel Machine, arXiv 2505.22954</a:t>
            </a:r>
            <a:endParaRPr lang="en-US" sz="1050" dirty="0"/>
          </a:p>
          <a:p>
            <a:pPr indent="0" marL="0">
              <a:spcAft>
                <a:spcPts val="300"/>
              </a:spcAft>
              <a:buNone/>
            </a:pPr>
            <a:r>
              <a:rPr lang="en-US" sz="1050" dirty="0">
                <a:solidFill>
                  <a:srgbClr val="0A0A0B"/>
                </a:solidFill>
              </a:rPr>
              <a:t>13. AlphaEvolve, arXiv 2506.13131</a:t>
            </a:r>
            <a:endParaRPr lang="en-US" sz="1050" dirty="0"/>
          </a:p>
        </p:txBody>
      </p:sp>
      <p:sp>
        <p:nvSpPr>
          <p:cNvPr id="4" name="Text 2"/>
          <p:cNvSpPr txBox="1"/>
          <p:nvPr/>
        </p:nvSpPr>
        <p:spPr>
          <a:xfrm>
            <a:off x="4434840" y="1234440"/>
            <a:ext cx="3703320" cy="4937760"/>
          </a:xfrm>
          <a:prstGeom prst="rect">
            <a:avLst/>
          </a:prstGeom>
          <a:noFill/>
          <a:ln/>
        </p:spPr>
        <p:txBody>
          <a:bodyPr wrap="square" lIns="0" tIns="0" rIns="0" bIns="0" rtlCol="0" anchor="t"/>
          <a:lstStyle/>
          <a:p>
            <a:pPr indent="0" marL="0">
              <a:spcAft>
                <a:spcPts val="300"/>
              </a:spcAft>
              <a:buNone/>
            </a:pPr>
            <a:r>
              <a:rPr lang="en-US" sz="1050" dirty="0">
                <a:solidFill>
                  <a:srgbClr val="0A0A0B"/>
                </a:solidFill>
              </a:rPr>
              <a:t>14. Clio, arXiv 2412.13678</a:t>
            </a:r>
            <a:endParaRPr lang="en-US" sz="1050" dirty="0"/>
          </a:p>
          <a:p>
            <a:pPr indent="0" marL="0">
              <a:spcAft>
                <a:spcPts val="300"/>
              </a:spcAft>
              <a:buNone/>
            </a:pPr>
            <a:r>
              <a:rPr lang="en-US" sz="1050" dirty="0">
                <a:solidFill>
                  <a:srgbClr val="0A0A0B"/>
                </a:solidFill>
              </a:rPr>
              <a:t>15. CaMeL, arXiv 2503.18813</a:t>
            </a:r>
            <a:endParaRPr lang="en-US" sz="1050" dirty="0"/>
          </a:p>
          <a:p>
            <a:pPr indent="0" marL="0">
              <a:spcAft>
                <a:spcPts val="300"/>
              </a:spcAft>
              <a:buNone/>
            </a:pPr>
            <a:r>
              <a:rPr lang="en-US" sz="1050" dirty="0">
                <a:solidFill>
                  <a:srgbClr val="0A0A0B"/>
                </a:solidFill>
              </a:rPr>
              <a:t>16. MapAnything, 3DV 2026</a:t>
            </a:r>
            <a:endParaRPr lang="en-US" sz="1050" dirty="0"/>
          </a:p>
          <a:p>
            <a:pPr indent="0" marL="0">
              <a:spcAft>
                <a:spcPts val="300"/>
              </a:spcAft>
              <a:buNone/>
            </a:pPr>
            <a:r>
              <a:rPr lang="en-US" sz="1050" dirty="0">
                <a:solidFill>
                  <a:srgbClr val="0A0A0B"/>
                </a:solidFill>
              </a:rPr>
              <a:t>17. SAM 2, 2024</a:t>
            </a:r>
            <a:endParaRPr lang="en-US" sz="1050" dirty="0"/>
          </a:p>
          <a:p>
            <a:pPr indent="0" marL="0">
              <a:spcAft>
                <a:spcPts val="300"/>
              </a:spcAft>
              <a:buNone/>
            </a:pPr>
            <a:r>
              <a:rPr lang="en-US" sz="1050" dirty="0">
                <a:solidFill>
                  <a:srgbClr val="0A0A0B"/>
                </a:solidFill>
              </a:rPr>
              <a:t>18. RT-DETR, CVPR 2024</a:t>
            </a:r>
            <a:endParaRPr lang="en-US" sz="1050" dirty="0"/>
          </a:p>
          <a:p>
            <a:pPr indent="0" marL="0">
              <a:spcAft>
                <a:spcPts val="300"/>
              </a:spcAft>
              <a:buNone/>
            </a:pPr>
            <a:r>
              <a:rPr lang="en-US" sz="1050" dirty="0">
                <a:solidFill>
                  <a:srgbClr val="0A0A0B"/>
                </a:solidFill>
              </a:rPr>
              <a:t>19. FrugalGPT, arXiv 2305.05176</a:t>
            </a:r>
            <a:endParaRPr lang="en-US" sz="1050" dirty="0"/>
          </a:p>
          <a:p>
            <a:pPr indent="0" marL="0">
              <a:spcAft>
                <a:spcPts val="300"/>
              </a:spcAft>
              <a:buNone/>
            </a:pPr>
            <a:r>
              <a:rPr lang="en-US" sz="1050" dirty="0">
                <a:solidFill>
                  <a:srgbClr val="0A0A0B"/>
                </a:solidFill>
              </a:rPr>
              <a:t>20. TypeSafe: Jev decision models, 2026</a:t>
            </a:r>
            <a:endParaRPr lang="en-US" sz="1050" dirty="0"/>
          </a:p>
          <a:p>
            <a:pPr indent="0" marL="0">
              <a:spcAft>
                <a:spcPts val="300"/>
              </a:spcAft>
              <a:buNone/>
            </a:pPr>
            <a:r>
              <a:rPr lang="en-US" sz="1050" dirty="0">
                <a:solidFill>
                  <a:srgbClr val="0A0A0B"/>
                </a:solidFill>
              </a:rPr>
              <a:t>21. Meta: Agents Rule of Two, 2025</a:t>
            </a:r>
            <a:endParaRPr lang="en-US" sz="1050" dirty="0"/>
          </a:p>
          <a:p>
            <a:pPr indent="0" marL="0">
              <a:spcAft>
                <a:spcPts val="300"/>
              </a:spcAft>
              <a:buNone/>
            </a:pPr>
            <a:r>
              <a:rPr lang="en-US" sz="1050" dirty="0">
                <a:solidFill>
                  <a:srgbClr val="0A0A0B"/>
                </a:solidFill>
              </a:rPr>
              <a:t>22. Ramdas et al.: Safe Anytime-Valid Inference, 2023</a:t>
            </a:r>
            <a:endParaRPr lang="en-US" sz="1050" dirty="0"/>
          </a:p>
          <a:p>
            <a:pPr indent="0" marL="0">
              <a:spcAft>
                <a:spcPts val="300"/>
              </a:spcAft>
              <a:buNone/>
            </a:pPr>
            <a:r>
              <a:rPr lang="en-US" sz="1050" dirty="0">
                <a:solidFill>
                  <a:srgbClr val="0A0A0B"/>
                </a:solidFill>
              </a:rPr>
              <a:t>23. DEER: Dynamic Early Exit, arXiv 2504.15895</a:t>
            </a:r>
            <a:endParaRPr lang="en-US" sz="1050" dirty="0"/>
          </a:p>
          <a:p>
            <a:pPr indent="0" marL="0">
              <a:spcAft>
                <a:spcPts val="300"/>
              </a:spcAft>
              <a:buNone/>
            </a:pPr>
            <a:r>
              <a:rPr lang="en-US" sz="1050" dirty="0">
                <a:solidFill>
                  <a:srgbClr val="0A0A0B"/>
                </a:solidFill>
              </a:rPr>
              <a:t>24. Pep, arXiv 2602.15012</a:t>
            </a:r>
            <a:endParaRPr lang="en-US" sz="1050" dirty="0"/>
          </a:p>
          <a:p>
            <a:pPr indent="0" marL="0">
              <a:spcAft>
                <a:spcPts val="300"/>
              </a:spcAft>
              <a:buNone/>
            </a:pPr>
            <a:r>
              <a:rPr lang="en-US" sz="1050" dirty="0">
                <a:solidFill>
                  <a:srgbClr val="0A0A0B"/>
                </a:solidFill>
              </a:rPr>
              <a:t>25. VPL, NeurIPS 2024</a:t>
            </a:r>
            <a:endParaRPr lang="en-US" sz="1050" dirty="0"/>
          </a:p>
          <a:p>
            <a:pPr indent="0" marL="0">
              <a:spcAft>
                <a:spcPts val="300"/>
              </a:spcAft>
              <a:buNone/>
            </a:pPr>
            <a:r>
              <a:rPr lang="en-US" sz="1050" dirty="0">
                <a:solidFill>
                  <a:srgbClr val="0A0A0B"/>
                </a:solidFill>
              </a:rPr>
              <a:t>26. Consensus vs. Dissent, RecSys 2026</a:t>
            </a:r>
            <a:endParaRPr lang="en-US" sz="1050" dirty="0"/>
          </a:p>
        </p:txBody>
      </p:sp>
      <p:sp>
        <p:nvSpPr>
          <p:cNvPr id="5" name="Shape 3"/>
          <p:cNvSpPr/>
          <p:nvPr/>
        </p:nvSpPr>
        <p:spPr>
          <a:xfrm>
            <a:off x="8412480" y="1234440"/>
            <a:ext cx="3230575" cy="4892040"/>
          </a:xfrm>
          <a:prstGeom prst="roundRect">
            <a:avLst>
              <a:gd name="adj" fmla="val 2264"/>
            </a:avLst>
          </a:prstGeom>
          <a:solidFill>
            <a:srgbClr val="E9F3EC"/>
          </a:solidFill>
          <a:ln w="12700">
            <a:solidFill>
              <a:srgbClr val="E9F3EC"/>
            </a:solidFill>
            <a:prstDash val="solid"/>
          </a:ln>
        </p:spPr>
      </p:sp>
      <p:sp>
        <p:nvSpPr>
          <p:cNvPr id="6" name="Text 4"/>
          <p:cNvSpPr txBox="1"/>
          <p:nvPr/>
        </p:nvSpPr>
        <p:spPr>
          <a:xfrm>
            <a:off x="8595360" y="1371600"/>
            <a:ext cx="2864815" cy="4663440"/>
          </a:xfrm>
          <a:prstGeom prst="rect">
            <a:avLst/>
          </a:prstGeom>
          <a:noFill/>
          <a:ln/>
        </p:spPr>
        <p:txBody>
          <a:bodyPr wrap="square" lIns="0" tIns="0" rIns="0" bIns="0" rtlCol="0" anchor="t"/>
          <a:lstStyle/>
          <a:p>
            <a:pPr indent="0" marL="0">
              <a:spcAft>
                <a:spcPts val="800"/>
              </a:spcAft>
              <a:buNone/>
            </a:pPr>
            <a:r>
              <a:rPr lang="en-US" sz="1400" b="1" dirty="0">
                <a:solidFill>
                  <a:srgbClr val="0A7F44"/>
                </a:solidFill>
              </a:rPr>
              <a:t>Where the numbers come from</a:t>
            </a:r>
            <a:endParaRPr lang="en-US" sz="1150" dirty="0"/>
          </a:p>
          <a:p>
            <a:pPr indent="0" marL="0">
              <a:spcAft>
                <a:spcPts val="800"/>
              </a:spcAft>
              <a:buNone/>
            </a:pPr>
            <a:r>
              <a:rPr lang="en-US" sz="1150" dirty="0">
                <a:solidFill>
                  <a:srgbClr val="0A0A0B"/>
                </a:solidFill>
              </a:rPr>
              <a:t>Each number is from a result file in submission/results/ or from docs/ in the repository: the student in docs/decision_model.md, the agent testing in submission/agent_testing.md.</a:t>
            </a:r>
            <a:endParaRPr lang="en-US" sz="1150" dirty="0"/>
          </a:p>
          <a:p>
            <a:pPr indent="0" marL="0">
              <a:spcAft>
                <a:spcPts val="800"/>
              </a:spcAft>
              <a:buNone/>
            </a:pPr>
            <a:r>
              <a:rPr lang="en-US" sz="1150" dirty="0">
                <a:solidFill>
                  <a:srgbClr val="0A0A0B"/>
                </a:solidFill>
              </a:rPr>
              <a:t>Real and simulated: the badminton club is real people; the demo club, the evaluation clubs and the testers' members are simulated, and the testers were AI models.</a:t>
            </a:r>
            <a:endParaRPr lang="en-US" sz="1150" dirty="0"/>
          </a:p>
          <a:p>
            <a:pPr indent="0" marL="0">
              <a:spcAft>
                <a:spcPts val="800"/>
              </a:spcAft>
              <a:buNone/>
            </a:pPr>
            <a:r>
              <a:rPr lang="en-US" sz="1150" dirty="0">
                <a:solidFill>
                  <a:srgbClr val="0A0A0B"/>
                </a:solidFill>
              </a:rPr>
              <a:t>Built during the hackathon, from October 27; an AI coding agent wrote code to our instructions, credited in the commits.</a:t>
            </a:r>
            <a:endParaRPr lang="en-US" sz="115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The algorithm behind each part, with its reference</a:t>
            </a:r>
            <a:endParaRPr lang="en-US" sz="2800" dirty="0"/>
          </a:p>
        </p:txBody>
      </p:sp>
      <p:sp>
        <p:nvSpPr>
          <p:cNvPr id="3" name="Shape 1"/>
          <p:cNvSpPr/>
          <p:nvPr/>
        </p:nvSpPr>
        <p:spPr>
          <a:xfrm>
            <a:off x="548640" y="1234440"/>
            <a:ext cx="5440680" cy="512064"/>
          </a:xfrm>
          <a:prstGeom prst="roundRect">
            <a:avLst>
              <a:gd name="adj" fmla="val 8929"/>
            </a:avLst>
          </a:prstGeom>
          <a:solidFill>
            <a:srgbClr val="F3F6F4"/>
          </a:solidFill>
          <a:ln w="12700">
            <a:solidFill>
              <a:srgbClr val="F3F6F4"/>
            </a:solidFill>
            <a:prstDash val="solid"/>
          </a:ln>
        </p:spPr>
      </p:sp>
      <p:sp>
        <p:nvSpPr>
          <p:cNvPr id="4" name="Text 2"/>
          <p:cNvSpPr txBox="1"/>
          <p:nvPr/>
        </p:nvSpPr>
        <p:spPr>
          <a:xfrm>
            <a:off x="685800" y="1234440"/>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Negotiation</a:t>
            </a:r>
            <a:endParaRPr lang="en-US" sz="1200" dirty="0"/>
          </a:p>
        </p:txBody>
      </p:sp>
      <p:sp>
        <p:nvSpPr>
          <p:cNvPr id="5" name="Text 3"/>
          <p:cNvSpPr txBox="1"/>
          <p:nvPr/>
        </p:nvSpPr>
        <p:spPr>
          <a:xfrm>
            <a:off x="2468880" y="1234440"/>
            <a:ext cx="3429000" cy="512064"/>
          </a:xfrm>
          <a:prstGeom prst="rect">
            <a:avLst/>
          </a:prstGeom>
          <a:noFill/>
          <a:ln/>
        </p:spPr>
        <p:txBody>
          <a:bodyPr wrap="square" lIns="0" tIns="0" rIns="0" bIns="0" rtlCol="0" anchor="ctr"/>
          <a:lstStyle/>
          <a:p>
            <a:pPr indent="0" marL="0">
              <a:buNone/>
            </a:pPr>
            <a:r>
              <a:rPr lang="en-US" sz="1100" dirty="0">
                <a:solidFill>
                  <a:srgbClr val="0A0A0B"/>
                </a:solidFill>
              </a:rPr>
              <a:t>Contract Net with a one-shot intersection; distributed constraint satisfaction </a:t>
            </a:r>
            <a:pPr indent="0" marL="0">
              <a:buNone/>
            </a:pPr>
            <a:r>
              <a:rPr lang="en-US" sz="1100" b="1" dirty="0">
                <a:solidFill>
                  <a:srgbClr val="0064E0"/>
                </a:solidFill>
              </a:rPr>
              <a:t>[4, 5]</a:t>
            </a:r>
            <a:endParaRPr lang="en-US" sz="1100" dirty="0"/>
          </a:p>
        </p:txBody>
      </p:sp>
      <p:sp>
        <p:nvSpPr>
          <p:cNvPr id="6" name="Shape 4"/>
          <p:cNvSpPr/>
          <p:nvPr/>
        </p:nvSpPr>
        <p:spPr>
          <a:xfrm>
            <a:off x="548640" y="1837944"/>
            <a:ext cx="5440680" cy="512064"/>
          </a:xfrm>
          <a:prstGeom prst="roundRect">
            <a:avLst>
              <a:gd name="adj" fmla="val 8929"/>
            </a:avLst>
          </a:prstGeom>
          <a:solidFill>
            <a:srgbClr val="FFFFFF"/>
          </a:solidFill>
          <a:ln w="12700">
            <a:solidFill>
              <a:srgbClr val="FFFFFF"/>
            </a:solidFill>
            <a:prstDash val="solid"/>
          </a:ln>
        </p:spPr>
      </p:sp>
      <p:sp>
        <p:nvSpPr>
          <p:cNvPr id="7" name="Text 5"/>
          <p:cNvSpPr txBox="1"/>
          <p:nvPr/>
        </p:nvSpPr>
        <p:spPr>
          <a:xfrm>
            <a:off x="685800" y="1837944"/>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Holds</a:t>
            </a:r>
            <a:endParaRPr lang="en-US" sz="1200" dirty="0"/>
          </a:p>
        </p:txBody>
      </p:sp>
      <p:sp>
        <p:nvSpPr>
          <p:cNvPr id="8" name="Text 6"/>
          <p:cNvSpPr txBox="1"/>
          <p:nvPr/>
        </p:nvSpPr>
        <p:spPr>
          <a:xfrm>
            <a:off x="2468880" y="1837944"/>
            <a:ext cx="3429000" cy="512064"/>
          </a:xfrm>
          <a:prstGeom prst="rect">
            <a:avLst/>
          </a:prstGeom>
          <a:noFill/>
          <a:ln/>
        </p:spPr>
        <p:txBody>
          <a:bodyPr wrap="square" lIns="0" tIns="0" rIns="0" bIns="0" rtlCol="0" anchor="ctr"/>
          <a:lstStyle/>
          <a:p>
            <a:pPr indent="0" marL="0">
              <a:buNone/>
            </a:pPr>
            <a:r>
              <a:rPr lang="en-US" sz="1100" dirty="0">
                <a:solidFill>
                  <a:srgbClr val="0A0A0B"/>
                </a:solidFill>
              </a:rPr>
              <a:t>leases with resource ordering (no deadlock) </a:t>
            </a:r>
            <a:pPr indent="0" marL="0">
              <a:buNone/>
            </a:pPr>
            <a:r>
              <a:rPr lang="en-US" sz="1100" b="1" dirty="0">
                <a:solidFill>
                  <a:srgbClr val="0064E0"/>
                </a:solidFill>
              </a:rPr>
              <a:t>[6, 7]</a:t>
            </a:r>
            <a:endParaRPr lang="en-US" sz="1100" dirty="0"/>
          </a:p>
        </p:txBody>
      </p:sp>
      <p:sp>
        <p:nvSpPr>
          <p:cNvPr id="9" name="Shape 7"/>
          <p:cNvSpPr/>
          <p:nvPr/>
        </p:nvSpPr>
        <p:spPr>
          <a:xfrm>
            <a:off x="548640" y="2441448"/>
            <a:ext cx="5440680" cy="512064"/>
          </a:xfrm>
          <a:prstGeom prst="roundRect">
            <a:avLst>
              <a:gd name="adj" fmla="val 8929"/>
            </a:avLst>
          </a:prstGeom>
          <a:solidFill>
            <a:srgbClr val="F3F6F4"/>
          </a:solidFill>
          <a:ln w="12700">
            <a:solidFill>
              <a:srgbClr val="F3F6F4"/>
            </a:solidFill>
            <a:prstDash val="solid"/>
          </a:ln>
        </p:spPr>
      </p:sp>
      <p:sp>
        <p:nvSpPr>
          <p:cNvPr id="10" name="Text 8"/>
          <p:cNvSpPr txBox="1"/>
          <p:nvPr/>
        </p:nvSpPr>
        <p:spPr>
          <a:xfrm>
            <a:off x="685800" y="2441448"/>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Signed cards and consent</a:t>
            </a:r>
            <a:endParaRPr lang="en-US" sz="1200" dirty="0"/>
          </a:p>
        </p:txBody>
      </p:sp>
      <p:sp>
        <p:nvSpPr>
          <p:cNvPr id="11" name="Text 9"/>
          <p:cNvSpPr txBox="1"/>
          <p:nvPr/>
        </p:nvSpPr>
        <p:spPr>
          <a:xfrm>
            <a:off x="2468880" y="2441448"/>
            <a:ext cx="3429000" cy="512064"/>
          </a:xfrm>
          <a:prstGeom prst="rect">
            <a:avLst/>
          </a:prstGeom>
          <a:noFill/>
          <a:ln/>
        </p:spPr>
        <p:txBody>
          <a:bodyPr wrap="square" lIns="0" tIns="0" rIns="0" bIns="0" rtlCol="0" anchor="ctr"/>
          <a:lstStyle/>
          <a:p>
            <a:pPr indent="0" marL="0">
              <a:buNone/>
            </a:pPr>
            <a:r>
              <a:rPr lang="en-US" sz="1100" dirty="0">
                <a:solidFill>
                  <a:srgbClr val="0A0A0B"/>
                </a:solidFill>
              </a:rPr>
              <a:t>JWS over canonical JSON, Ed25519; a hash chain </a:t>
            </a:r>
            <a:pPr indent="0" marL="0">
              <a:buNone/>
            </a:pPr>
            <a:r>
              <a:rPr lang="en-US" sz="1100" b="1" dirty="0">
                <a:solidFill>
                  <a:srgbClr val="0064E0"/>
                </a:solidFill>
              </a:rPr>
              <a:t>[8, 9]</a:t>
            </a:r>
            <a:endParaRPr lang="en-US" sz="1100" dirty="0"/>
          </a:p>
        </p:txBody>
      </p:sp>
      <p:sp>
        <p:nvSpPr>
          <p:cNvPr id="12" name="Shape 10"/>
          <p:cNvSpPr/>
          <p:nvPr/>
        </p:nvSpPr>
        <p:spPr>
          <a:xfrm>
            <a:off x="548640" y="3044952"/>
            <a:ext cx="5440680" cy="512064"/>
          </a:xfrm>
          <a:prstGeom prst="roundRect">
            <a:avLst>
              <a:gd name="adj" fmla="val 8929"/>
            </a:avLst>
          </a:prstGeom>
          <a:solidFill>
            <a:srgbClr val="FFFFFF"/>
          </a:solidFill>
          <a:ln w="12700">
            <a:solidFill>
              <a:srgbClr val="FFFFFF"/>
            </a:solidFill>
            <a:prstDash val="solid"/>
          </a:ln>
        </p:spPr>
      </p:sp>
      <p:sp>
        <p:nvSpPr>
          <p:cNvPr id="13" name="Text 11"/>
          <p:cNvSpPr txBox="1"/>
          <p:nvPr/>
        </p:nvSpPr>
        <p:spPr>
          <a:xfrm>
            <a:off x="685800" y="3044952"/>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Asking one question</a:t>
            </a:r>
            <a:endParaRPr lang="en-US" sz="1200" dirty="0"/>
          </a:p>
        </p:txBody>
      </p:sp>
      <p:sp>
        <p:nvSpPr>
          <p:cNvPr id="14" name="Text 12"/>
          <p:cNvSpPr txBox="1"/>
          <p:nvPr/>
        </p:nvSpPr>
        <p:spPr>
          <a:xfrm>
            <a:off x="2468880" y="3044952"/>
            <a:ext cx="3429000" cy="512064"/>
          </a:xfrm>
          <a:prstGeom prst="rect">
            <a:avLst/>
          </a:prstGeom>
          <a:noFill/>
          <a:ln/>
        </p:spPr>
        <p:txBody>
          <a:bodyPr wrap="square" lIns="0" tIns="0" rIns="0" bIns="0" rtlCol="0" anchor="ctr"/>
          <a:lstStyle/>
          <a:p>
            <a:pPr indent="0" marL="0">
              <a:buNone/>
            </a:pPr>
            <a:r>
              <a:rPr lang="en-US" sz="1100" dirty="0">
                <a:solidFill>
                  <a:srgbClr val="0A0A0B"/>
                </a:solidFill>
              </a:rPr>
              <a:t>value of information over Beta posteriors; shared structure across people </a:t>
            </a:r>
            <a:pPr indent="0" marL="0">
              <a:buNone/>
            </a:pPr>
            <a:r>
              <a:rPr lang="en-US" sz="1100" b="1" dirty="0">
                <a:solidFill>
                  <a:srgbClr val="0064E0"/>
                </a:solidFill>
              </a:rPr>
              <a:t>[24, 25]</a:t>
            </a:r>
            <a:endParaRPr lang="en-US" sz="1100" dirty="0"/>
          </a:p>
        </p:txBody>
      </p:sp>
      <p:sp>
        <p:nvSpPr>
          <p:cNvPr id="15" name="Shape 13"/>
          <p:cNvSpPr/>
          <p:nvPr/>
        </p:nvSpPr>
        <p:spPr>
          <a:xfrm>
            <a:off x="548640" y="3648456"/>
            <a:ext cx="5440680" cy="512064"/>
          </a:xfrm>
          <a:prstGeom prst="roundRect">
            <a:avLst>
              <a:gd name="adj" fmla="val 8929"/>
            </a:avLst>
          </a:prstGeom>
          <a:solidFill>
            <a:srgbClr val="F3F6F4"/>
          </a:solidFill>
          <a:ln w="12700">
            <a:solidFill>
              <a:srgbClr val="F3F6F4"/>
            </a:solidFill>
            <a:prstDash val="solid"/>
          </a:ln>
        </p:spPr>
      </p:sp>
      <p:sp>
        <p:nvSpPr>
          <p:cNvPr id="16" name="Text 14"/>
          <p:cNvSpPr txBox="1"/>
          <p:nvPr/>
        </p:nvSpPr>
        <p:spPr>
          <a:xfrm>
            <a:off x="685800" y="3648456"/>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Ranking times</a:t>
            </a:r>
            <a:endParaRPr lang="en-US" sz="1200" dirty="0"/>
          </a:p>
        </p:txBody>
      </p:sp>
      <p:sp>
        <p:nvSpPr>
          <p:cNvPr id="17" name="Text 15"/>
          <p:cNvSpPr txBox="1"/>
          <p:nvPr/>
        </p:nvSpPr>
        <p:spPr>
          <a:xfrm>
            <a:off x="2468880" y="3648456"/>
            <a:ext cx="3429000" cy="512064"/>
          </a:xfrm>
          <a:prstGeom prst="rect">
            <a:avLst/>
          </a:prstGeom>
          <a:noFill/>
          <a:ln/>
        </p:spPr>
        <p:txBody>
          <a:bodyPr wrap="square" lIns="0" tIns="0" rIns="0" bIns="0" rtlCol="0" anchor="ctr"/>
          <a:lstStyle/>
          <a:p>
            <a:pPr indent="0" marL="0">
              <a:buNone/>
            </a:pPr>
            <a:r>
              <a:rPr lang="en-US" sz="1100" dirty="0">
                <a:solidFill>
                  <a:srgbClr val="0A0A0B"/>
                </a:solidFill>
              </a:rPr>
              <a:t>product of chances with a least-misery floor </a:t>
            </a:r>
            <a:pPr indent="0" marL="0">
              <a:buNone/>
            </a:pPr>
            <a:r>
              <a:rPr lang="en-US" sz="1100" b="1" dirty="0">
                <a:solidFill>
                  <a:srgbClr val="0064E0"/>
                </a:solidFill>
              </a:rPr>
              <a:t>[26]</a:t>
            </a:r>
            <a:endParaRPr lang="en-US" sz="1100" dirty="0"/>
          </a:p>
        </p:txBody>
      </p:sp>
      <p:sp>
        <p:nvSpPr>
          <p:cNvPr id="18" name="Shape 16"/>
          <p:cNvSpPr/>
          <p:nvPr/>
        </p:nvSpPr>
        <p:spPr>
          <a:xfrm>
            <a:off x="548640" y="4251960"/>
            <a:ext cx="5440680" cy="512064"/>
          </a:xfrm>
          <a:prstGeom prst="roundRect">
            <a:avLst>
              <a:gd name="adj" fmla="val 8929"/>
            </a:avLst>
          </a:prstGeom>
          <a:solidFill>
            <a:srgbClr val="FFFFFF"/>
          </a:solidFill>
          <a:ln w="12700">
            <a:solidFill>
              <a:srgbClr val="FFFFFF"/>
            </a:solidFill>
            <a:prstDash val="solid"/>
          </a:ln>
        </p:spPr>
      </p:sp>
      <p:sp>
        <p:nvSpPr>
          <p:cNvPr id="19" name="Text 17"/>
          <p:cNvSpPr txBox="1"/>
          <p:nvPr/>
        </p:nvSpPr>
        <p:spPr>
          <a:xfrm>
            <a:off x="685800" y="4251960"/>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Decision tiers</a:t>
            </a:r>
            <a:endParaRPr lang="en-US" sz="1200" dirty="0"/>
          </a:p>
        </p:txBody>
      </p:sp>
      <p:sp>
        <p:nvSpPr>
          <p:cNvPr id="20" name="Text 18"/>
          <p:cNvSpPr txBox="1"/>
          <p:nvPr/>
        </p:nvSpPr>
        <p:spPr>
          <a:xfrm>
            <a:off x="2468880" y="4251960"/>
            <a:ext cx="3429000" cy="512064"/>
          </a:xfrm>
          <a:prstGeom prst="rect">
            <a:avLst/>
          </a:prstGeom>
          <a:noFill/>
          <a:ln/>
        </p:spPr>
        <p:txBody>
          <a:bodyPr wrap="square" lIns="0" tIns="0" rIns="0" bIns="0" rtlCol="0" anchor="ctr"/>
          <a:lstStyle/>
          <a:p>
            <a:pPr indent="0" marL="0">
              <a:buNone/>
            </a:pPr>
            <a:r>
              <a:rPr lang="en-US" sz="1100" dirty="0">
                <a:solidFill>
                  <a:srgbClr val="0A0A0B"/>
                </a:solidFill>
              </a:rPr>
              <a:t>a cascade of models, cheapest first </a:t>
            </a:r>
            <a:pPr indent="0" marL="0">
              <a:buNone/>
            </a:pPr>
            <a:r>
              <a:rPr lang="en-US" sz="1100" b="1" dirty="0">
                <a:solidFill>
                  <a:srgbClr val="0064E0"/>
                </a:solidFill>
              </a:rPr>
              <a:t>[19]</a:t>
            </a:r>
            <a:endParaRPr lang="en-US" sz="1100" dirty="0"/>
          </a:p>
        </p:txBody>
      </p:sp>
      <p:sp>
        <p:nvSpPr>
          <p:cNvPr id="21" name="Shape 19"/>
          <p:cNvSpPr/>
          <p:nvPr/>
        </p:nvSpPr>
        <p:spPr>
          <a:xfrm>
            <a:off x="548640" y="4855464"/>
            <a:ext cx="5440680" cy="512064"/>
          </a:xfrm>
          <a:prstGeom prst="roundRect">
            <a:avLst>
              <a:gd name="adj" fmla="val 8929"/>
            </a:avLst>
          </a:prstGeom>
          <a:solidFill>
            <a:srgbClr val="F3F6F4"/>
          </a:solidFill>
          <a:ln w="12700">
            <a:solidFill>
              <a:srgbClr val="F3F6F4"/>
            </a:solidFill>
            <a:prstDash val="solid"/>
          </a:ln>
        </p:spPr>
      </p:sp>
      <p:sp>
        <p:nvSpPr>
          <p:cNvPr id="22" name="Text 20"/>
          <p:cNvSpPr txBox="1"/>
          <p:nvPr/>
        </p:nvSpPr>
        <p:spPr>
          <a:xfrm>
            <a:off x="685800" y="4855464"/>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Early exit</a:t>
            </a:r>
            <a:endParaRPr lang="en-US" sz="1200" dirty="0"/>
          </a:p>
        </p:txBody>
      </p:sp>
      <p:sp>
        <p:nvSpPr>
          <p:cNvPr id="23" name="Text 21"/>
          <p:cNvSpPr txBox="1"/>
          <p:nvPr/>
        </p:nvSpPr>
        <p:spPr>
          <a:xfrm>
            <a:off x="2468880" y="4855464"/>
            <a:ext cx="3429000" cy="512064"/>
          </a:xfrm>
          <a:prstGeom prst="rect">
            <a:avLst/>
          </a:prstGeom>
          <a:noFill/>
          <a:ln/>
        </p:spPr>
        <p:txBody>
          <a:bodyPr wrap="square" lIns="0" tIns="0" rIns="0" bIns="0" rtlCol="0" anchor="ctr"/>
          <a:lstStyle/>
          <a:p>
            <a:pPr indent="0" marL="0">
              <a:buNone/>
            </a:pPr>
            <a:r>
              <a:rPr lang="en-US" sz="1100" dirty="0">
                <a:solidFill>
                  <a:srgbClr val="0A0A0B"/>
                </a:solidFill>
              </a:rPr>
              <a:t>dynamic early exit from reasoning </a:t>
            </a:r>
            <a:pPr indent="0" marL="0">
              <a:buNone/>
            </a:pPr>
            <a:r>
              <a:rPr lang="en-US" sz="1100" b="1" dirty="0">
                <a:solidFill>
                  <a:srgbClr val="0064E0"/>
                </a:solidFill>
              </a:rPr>
              <a:t>[23]</a:t>
            </a:r>
            <a:endParaRPr lang="en-US" sz="1100" dirty="0"/>
          </a:p>
        </p:txBody>
      </p:sp>
      <p:sp>
        <p:nvSpPr>
          <p:cNvPr id="24" name="Shape 22"/>
          <p:cNvSpPr/>
          <p:nvPr/>
        </p:nvSpPr>
        <p:spPr>
          <a:xfrm>
            <a:off x="548640" y="5458968"/>
            <a:ext cx="5440680" cy="512064"/>
          </a:xfrm>
          <a:prstGeom prst="roundRect">
            <a:avLst>
              <a:gd name="adj" fmla="val 8929"/>
            </a:avLst>
          </a:prstGeom>
          <a:solidFill>
            <a:srgbClr val="FFFFFF"/>
          </a:solidFill>
          <a:ln w="12700">
            <a:solidFill>
              <a:srgbClr val="FFFFFF"/>
            </a:solidFill>
            <a:prstDash val="solid"/>
          </a:ln>
        </p:spPr>
      </p:sp>
      <p:sp>
        <p:nvSpPr>
          <p:cNvPr id="25" name="Text 23"/>
          <p:cNvSpPr txBox="1"/>
          <p:nvPr/>
        </p:nvSpPr>
        <p:spPr>
          <a:xfrm>
            <a:off x="685800" y="5458968"/>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Rollback</a:t>
            </a:r>
            <a:endParaRPr lang="en-US" sz="1200" dirty="0"/>
          </a:p>
        </p:txBody>
      </p:sp>
      <p:sp>
        <p:nvSpPr>
          <p:cNvPr id="26" name="Text 24"/>
          <p:cNvSpPr txBox="1"/>
          <p:nvPr/>
        </p:nvSpPr>
        <p:spPr>
          <a:xfrm>
            <a:off x="2468880" y="5458968"/>
            <a:ext cx="3429000" cy="512064"/>
          </a:xfrm>
          <a:prstGeom prst="rect">
            <a:avLst/>
          </a:prstGeom>
          <a:noFill/>
          <a:ln/>
        </p:spPr>
        <p:txBody>
          <a:bodyPr wrap="square" lIns="0" tIns="0" rIns="0" bIns="0" rtlCol="0" anchor="ctr"/>
          <a:lstStyle/>
          <a:p>
            <a:pPr indent="0" marL="0">
              <a:buNone/>
            </a:pPr>
            <a:r>
              <a:rPr lang="en-US" sz="1100" dirty="0">
                <a:solidFill>
                  <a:srgbClr val="0A0A0B"/>
                </a:solidFill>
              </a:rPr>
              <a:t>an anytime-valid e-process test </a:t>
            </a:r>
            <a:pPr indent="0" marL="0">
              <a:buNone/>
            </a:pPr>
            <a:r>
              <a:rPr lang="en-US" sz="1100" b="1" dirty="0">
                <a:solidFill>
                  <a:srgbClr val="0064E0"/>
                </a:solidFill>
              </a:rPr>
              <a:t>[22]</a:t>
            </a:r>
            <a:endParaRPr lang="en-US" sz="1100" dirty="0"/>
          </a:p>
        </p:txBody>
      </p:sp>
      <p:sp>
        <p:nvSpPr>
          <p:cNvPr id="27" name="Shape 25"/>
          <p:cNvSpPr/>
          <p:nvPr/>
        </p:nvSpPr>
        <p:spPr>
          <a:xfrm>
            <a:off x="6172200" y="1234440"/>
            <a:ext cx="5440680" cy="512064"/>
          </a:xfrm>
          <a:prstGeom prst="roundRect">
            <a:avLst>
              <a:gd name="adj" fmla="val 8929"/>
            </a:avLst>
          </a:prstGeom>
          <a:solidFill>
            <a:srgbClr val="F3F6F4"/>
          </a:solidFill>
          <a:ln w="12700">
            <a:solidFill>
              <a:srgbClr val="F3F6F4"/>
            </a:solidFill>
            <a:prstDash val="solid"/>
          </a:ln>
        </p:spPr>
      </p:sp>
      <p:sp>
        <p:nvSpPr>
          <p:cNvPr id="28" name="Text 26"/>
          <p:cNvSpPr txBox="1"/>
          <p:nvPr/>
        </p:nvSpPr>
        <p:spPr>
          <a:xfrm>
            <a:off x="6309360" y="1234440"/>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Votes</a:t>
            </a:r>
            <a:endParaRPr lang="en-US" sz="1200" dirty="0"/>
          </a:p>
        </p:txBody>
      </p:sp>
      <p:sp>
        <p:nvSpPr>
          <p:cNvPr id="29" name="Text 27"/>
          <p:cNvSpPr txBox="1"/>
          <p:nvPr/>
        </p:nvSpPr>
        <p:spPr>
          <a:xfrm>
            <a:off x="8092440" y="1234440"/>
            <a:ext cx="3429000" cy="512064"/>
          </a:xfrm>
          <a:prstGeom prst="rect">
            <a:avLst/>
          </a:prstGeom>
          <a:noFill/>
          <a:ln/>
        </p:spPr>
        <p:txBody>
          <a:bodyPr wrap="square" lIns="0" tIns="0" rIns="0" bIns="0" rtlCol="0" anchor="ctr"/>
          <a:lstStyle/>
          <a:p>
            <a:pPr indent="0" marL="0">
              <a:buNone/>
            </a:pPr>
            <a:r>
              <a:rPr lang="en-US" sz="1100" dirty="0">
                <a:solidFill>
                  <a:srgbClr val="0A0A0B"/>
                </a:solidFill>
              </a:rPr>
              <a:t>quadratic voting </a:t>
            </a:r>
            <a:pPr indent="0" marL="0">
              <a:buNone/>
            </a:pPr>
            <a:r>
              <a:rPr lang="en-US" sz="1100" b="1" dirty="0">
                <a:solidFill>
                  <a:srgbClr val="0064E0"/>
                </a:solidFill>
              </a:rPr>
              <a:t>[10]</a:t>
            </a:r>
            <a:endParaRPr lang="en-US" sz="1100" dirty="0"/>
          </a:p>
        </p:txBody>
      </p:sp>
      <p:sp>
        <p:nvSpPr>
          <p:cNvPr id="30" name="Shape 28"/>
          <p:cNvSpPr/>
          <p:nvPr/>
        </p:nvSpPr>
        <p:spPr>
          <a:xfrm>
            <a:off x="6172200" y="1837944"/>
            <a:ext cx="5440680" cy="512064"/>
          </a:xfrm>
          <a:prstGeom prst="roundRect">
            <a:avLst>
              <a:gd name="adj" fmla="val 8929"/>
            </a:avLst>
          </a:prstGeom>
          <a:solidFill>
            <a:srgbClr val="FFFFFF"/>
          </a:solidFill>
          <a:ln w="12700">
            <a:solidFill>
              <a:srgbClr val="FFFFFF"/>
            </a:solidFill>
            <a:prstDash val="solid"/>
          </a:ln>
        </p:spPr>
      </p:sp>
      <p:sp>
        <p:nvSpPr>
          <p:cNvPr id="31" name="Text 29"/>
          <p:cNvSpPr txBox="1"/>
          <p:nvPr/>
        </p:nvSpPr>
        <p:spPr>
          <a:xfrm>
            <a:off x="6309360" y="1837944"/>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When to send</a:t>
            </a:r>
            <a:endParaRPr lang="en-US" sz="1200" dirty="0"/>
          </a:p>
        </p:txBody>
      </p:sp>
      <p:sp>
        <p:nvSpPr>
          <p:cNvPr id="32" name="Text 30"/>
          <p:cNvSpPr txBox="1"/>
          <p:nvPr/>
        </p:nvSpPr>
        <p:spPr>
          <a:xfrm>
            <a:off x="8092440" y="1837944"/>
            <a:ext cx="3429000" cy="512064"/>
          </a:xfrm>
          <a:prstGeom prst="rect">
            <a:avLst/>
          </a:prstGeom>
          <a:noFill/>
          <a:ln/>
        </p:spPr>
        <p:txBody>
          <a:bodyPr wrap="square" lIns="0" tIns="0" rIns="0" bIns="0" rtlCol="0" anchor="ctr"/>
          <a:lstStyle/>
          <a:p>
            <a:pPr indent="0" marL="0">
              <a:buNone/>
            </a:pPr>
            <a:r>
              <a:rPr lang="en-US" sz="1100" dirty="0">
                <a:solidFill>
                  <a:srgbClr val="0A0A0B"/>
                </a:solidFill>
              </a:rPr>
              <a:t>Thompson sampling with a burden cost </a:t>
            </a:r>
            <a:pPr indent="0" marL="0">
              <a:buNone/>
            </a:pPr>
            <a:r>
              <a:rPr lang="en-US" sz="1100" b="1" dirty="0">
                <a:solidFill>
                  <a:srgbClr val="0064E0"/>
                </a:solidFill>
              </a:rPr>
              <a:t>[39, 40]</a:t>
            </a:r>
            <a:endParaRPr lang="en-US" sz="1100" dirty="0"/>
          </a:p>
        </p:txBody>
      </p:sp>
      <p:sp>
        <p:nvSpPr>
          <p:cNvPr id="33" name="Shape 31"/>
          <p:cNvSpPr/>
          <p:nvPr/>
        </p:nvSpPr>
        <p:spPr>
          <a:xfrm>
            <a:off x="6172200" y="2441448"/>
            <a:ext cx="5440680" cy="512064"/>
          </a:xfrm>
          <a:prstGeom prst="roundRect">
            <a:avLst>
              <a:gd name="adj" fmla="val 8929"/>
            </a:avLst>
          </a:prstGeom>
          <a:solidFill>
            <a:srgbClr val="F3F6F4"/>
          </a:solidFill>
          <a:ln w="12700">
            <a:solidFill>
              <a:srgbClr val="F3F6F4"/>
            </a:solidFill>
            <a:prstDash val="solid"/>
          </a:ln>
        </p:spPr>
      </p:sp>
      <p:sp>
        <p:nvSpPr>
          <p:cNvPr id="34" name="Text 32"/>
          <p:cNvSpPr txBox="1"/>
          <p:nvPr/>
        </p:nvSpPr>
        <p:spPr>
          <a:xfrm>
            <a:off x="6309360" y="2441448"/>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Preference memory</a:t>
            </a:r>
            <a:endParaRPr lang="en-US" sz="1200" dirty="0"/>
          </a:p>
        </p:txBody>
      </p:sp>
      <p:sp>
        <p:nvSpPr>
          <p:cNvPr id="35" name="Text 33"/>
          <p:cNvSpPr txBox="1"/>
          <p:nvPr/>
        </p:nvSpPr>
        <p:spPr>
          <a:xfrm>
            <a:off x="8092440" y="2441448"/>
            <a:ext cx="3429000" cy="512064"/>
          </a:xfrm>
          <a:prstGeom prst="rect">
            <a:avLst/>
          </a:prstGeom>
          <a:noFill/>
          <a:ln/>
        </p:spPr>
        <p:txBody>
          <a:bodyPr wrap="square" lIns="0" tIns="0" rIns="0" bIns="0" rtlCol="0" anchor="ctr"/>
          <a:lstStyle/>
          <a:p>
            <a:pPr indent="0" marL="0">
              <a:buNone/>
            </a:pPr>
            <a:r>
              <a:rPr lang="en-US" sz="1100" dirty="0">
                <a:solidFill>
                  <a:srgbClr val="0A0A0B"/>
                </a:solidFill>
              </a:rPr>
              <a:t>typed records, the newest wins </a:t>
            </a:r>
            <a:pPr indent="0" marL="0">
              <a:buNone/>
            </a:pPr>
            <a:r>
              <a:rPr lang="en-US" sz="1100" b="1" dirty="0">
                <a:solidFill>
                  <a:srgbClr val="0064E0"/>
                </a:solidFill>
              </a:rPr>
              <a:t>[41, 42]</a:t>
            </a:r>
            <a:endParaRPr lang="en-US" sz="1100" dirty="0"/>
          </a:p>
        </p:txBody>
      </p:sp>
      <p:sp>
        <p:nvSpPr>
          <p:cNvPr id="36" name="Shape 34"/>
          <p:cNvSpPr/>
          <p:nvPr/>
        </p:nvSpPr>
        <p:spPr>
          <a:xfrm>
            <a:off x="6172200" y="3044952"/>
            <a:ext cx="5440680" cy="512064"/>
          </a:xfrm>
          <a:prstGeom prst="roundRect">
            <a:avLst>
              <a:gd name="adj" fmla="val 8929"/>
            </a:avLst>
          </a:prstGeom>
          <a:solidFill>
            <a:srgbClr val="FFFFFF"/>
          </a:solidFill>
          <a:ln w="12700">
            <a:solidFill>
              <a:srgbClr val="FFFFFF"/>
            </a:solidFill>
            <a:prstDash val="solid"/>
          </a:ln>
        </p:spPr>
      </p:sp>
      <p:sp>
        <p:nvSpPr>
          <p:cNvPr id="37" name="Text 35"/>
          <p:cNvSpPr txBox="1"/>
          <p:nvPr/>
        </p:nvSpPr>
        <p:spPr>
          <a:xfrm>
            <a:off x="6309360" y="3044952"/>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Tool calls</a:t>
            </a:r>
            <a:endParaRPr lang="en-US" sz="1200" dirty="0"/>
          </a:p>
        </p:txBody>
      </p:sp>
      <p:sp>
        <p:nvSpPr>
          <p:cNvPr id="38" name="Text 36"/>
          <p:cNvSpPr txBox="1"/>
          <p:nvPr/>
        </p:nvSpPr>
        <p:spPr>
          <a:xfrm>
            <a:off x="8092440" y="3044952"/>
            <a:ext cx="3429000" cy="512064"/>
          </a:xfrm>
          <a:prstGeom prst="rect">
            <a:avLst/>
          </a:prstGeom>
          <a:noFill/>
          <a:ln/>
        </p:spPr>
        <p:txBody>
          <a:bodyPr wrap="square" lIns="0" tIns="0" rIns="0" bIns="0" rtlCol="0" anchor="ctr"/>
          <a:lstStyle/>
          <a:p>
            <a:pPr indent="0" marL="0">
              <a:buNone/>
            </a:pPr>
            <a:r>
              <a:rPr lang="en-US" sz="1100" dirty="0">
                <a:solidFill>
                  <a:srgbClr val="0A0A0B"/>
                </a:solidFill>
              </a:rPr>
              <a:t>schema, then typed semantic checks and bounded repair </a:t>
            </a:r>
            <a:pPr indent="0" marL="0">
              <a:buNone/>
            </a:pPr>
            <a:r>
              <a:rPr lang="en-US" sz="1100" b="1" dirty="0">
                <a:solidFill>
                  <a:srgbClr val="0064E0"/>
                </a:solidFill>
              </a:rPr>
              <a:t>[43, 44]</a:t>
            </a:r>
            <a:endParaRPr lang="en-US" sz="1100" dirty="0"/>
          </a:p>
        </p:txBody>
      </p:sp>
      <p:sp>
        <p:nvSpPr>
          <p:cNvPr id="39" name="Shape 37"/>
          <p:cNvSpPr/>
          <p:nvPr/>
        </p:nvSpPr>
        <p:spPr>
          <a:xfrm>
            <a:off x="6172200" y="3648456"/>
            <a:ext cx="5440680" cy="512064"/>
          </a:xfrm>
          <a:prstGeom prst="roundRect">
            <a:avLst>
              <a:gd name="adj" fmla="val 8929"/>
            </a:avLst>
          </a:prstGeom>
          <a:solidFill>
            <a:srgbClr val="F3F6F4"/>
          </a:solidFill>
          <a:ln w="12700">
            <a:solidFill>
              <a:srgbClr val="F3F6F4"/>
            </a:solidFill>
            <a:prstDash val="solid"/>
          </a:ln>
        </p:spPr>
      </p:sp>
      <p:sp>
        <p:nvSpPr>
          <p:cNvPr id="40" name="Text 38"/>
          <p:cNvSpPr txBox="1"/>
          <p:nvPr/>
        </p:nvSpPr>
        <p:spPr>
          <a:xfrm>
            <a:off x="6309360" y="3648456"/>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Courts judged ahead</a:t>
            </a:r>
            <a:endParaRPr lang="en-US" sz="1200" dirty="0"/>
          </a:p>
        </p:txBody>
      </p:sp>
      <p:sp>
        <p:nvSpPr>
          <p:cNvPr id="41" name="Text 39"/>
          <p:cNvSpPr txBox="1"/>
          <p:nvPr/>
        </p:nvSpPr>
        <p:spPr>
          <a:xfrm>
            <a:off x="8092440" y="3648456"/>
            <a:ext cx="3429000" cy="512064"/>
          </a:xfrm>
          <a:prstGeom prst="rect">
            <a:avLst/>
          </a:prstGeom>
          <a:noFill/>
          <a:ln/>
        </p:spPr>
        <p:txBody>
          <a:bodyPr wrap="square" lIns="0" tIns="0" rIns="0" bIns="0" rtlCol="0" anchor="ctr"/>
          <a:lstStyle/>
          <a:p>
            <a:pPr indent="0" marL="0">
              <a:buNone/>
            </a:pPr>
            <a:r>
              <a:rPr lang="en-US" sz="1100" dirty="0">
                <a:solidFill>
                  <a:srgbClr val="0A0A0B"/>
                </a:solidFill>
              </a:rPr>
              <a:t>speculative actions </a:t>
            </a:r>
            <a:pPr indent="0" marL="0">
              <a:buNone/>
            </a:pPr>
            <a:r>
              <a:rPr lang="en-US" sz="1100" b="1" dirty="0">
                <a:solidFill>
                  <a:srgbClr val="0064E0"/>
                </a:solidFill>
              </a:rPr>
              <a:t>[45]</a:t>
            </a:r>
            <a:endParaRPr lang="en-US" sz="1100" dirty="0"/>
          </a:p>
        </p:txBody>
      </p:sp>
      <p:sp>
        <p:nvSpPr>
          <p:cNvPr id="42" name="Shape 40"/>
          <p:cNvSpPr/>
          <p:nvPr/>
        </p:nvSpPr>
        <p:spPr>
          <a:xfrm>
            <a:off x="6172200" y="4251960"/>
            <a:ext cx="5440680" cy="512064"/>
          </a:xfrm>
          <a:prstGeom prst="roundRect">
            <a:avLst>
              <a:gd name="adj" fmla="val 8929"/>
            </a:avLst>
          </a:prstGeom>
          <a:solidFill>
            <a:srgbClr val="FFFFFF"/>
          </a:solidFill>
          <a:ln w="12700">
            <a:solidFill>
              <a:srgbClr val="FFFFFF"/>
            </a:solidFill>
            <a:prstDash val="solid"/>
          </a:ln>
        </p:spPr>
      </p:sp>
      <p:sp>
        <p:nvSpPr>
          <p:cNvPr id="43" name="Text 41"/>
          <p:cNvSpPr txBox="1"/>
          <p:nvPr/>
        </p:nvSpPr>
        <p:spPr>
          <a:xfrm>
            <a:off x="6309360" y="4251960"/>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Harder testing</a:t>
            </a:r>
            <a:endParaRPr lang="en-US" sz="1200" dirty="0"/>
          </a:p>
        </p:txBody>
      </p:sp>
      <p:sp>
        <p:nvSpPr>
          <p:cNvPr id="44" name="Text 42"/>
          <p:cNvSpPr txBox="1"/>
          <p:nvPr/>
        </p:nvSpPr>
        <p:spPr>
          <a:xfrm>
            <a:off x="8092440" y="4251960"/>
            <a:ext cx="3429000" cy="512064"/>
          </a:xfrm>
          <a:prstGeom prst="rect">
            <a:avLst/>
          </a:prstGeom>
          <a:noFill/>
          <a:ln/>
        </p:spPr>
        <p:txBody>
          <a:bodyPr wrap="square" lIns="0" tIns="0" rIns="0" bIns="0" rtlCol="0" anchor="ctr"/>
          <a:lstStyle/>
          <a:p>
            <a:pPr indent="0" marL="0">
              <a:buNone/>
            </a:pPr>
            <a:r>
              <a:rPr lang="en-US" sz="1100" dirty="0">
                <a:solidFill>
                  <a:srgbClr val="0A0A0B"/>
                </a:solidFill>
              </a:rPr>
              <a:t>pass^k with difficult simulated people </a:t>
            </a:r>
            <a:pPr indent="0" marL="0">
              <a:buNone/>
            </a:pPr>
            <a:r>
              <a:rPr lang="en-US" sz="1100" b="1" dirty="0">
                <a:solidFill>
                  <a:srgbClr val="0064E0"/>
                </a:solidFill>
              </a:rPr>
              <a:t>[46, 47]</a:t>
            </a:r>
            <a:endParaRPr lang="en-US" sz="1100" dirty="0"/>
          </a:p>
        </p:txBody>
      </p:sp>
      <p:sp>
        <p:nvSpPr>
          <p:cNvPr id="45" name="Shape 43"/>
          <p:cNvSpPr/>
          <p:nvPr/>
        </p:nvSpPr>
        <p:spPr>
          <a:xfrm>
            <a:off x="6172200" y="4855464"/>
            <a:ext cx="5440680" cy="512064"/>
          </a:xfrm>
          <a:prstGeom prst="roundRect">
            <a:avLst>
              <a:gd name="adj" fmla="val 8929"/>
            </a:avLst>
          </a:prstGeom>
          <a:solidFill>
            <a:srgbClr val="F3F6F4"/>
          </a:solidFill>
          <a:ln w="12700">
            <a:solidFill>
              <a:srgbClr val="F3F6F4"/>
            </a:solidFill>
            <a:prstDash val="solid"/>
          </a:ln>
        </p:spPr>
      </p:sp>
      <p:sp>
        <p:nvSpPr>
          <p:cNvPr id="46" name="Text 44"/>
          <p:cNvSpPr txBox="1"/>
          <p:nvPr/>
        </p:nvSpPr>
        <p:spPr>
          <a:xfrm>
            <a:off x="6309360" y="4855464"/>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Order of options</a:t>
            </a:r>
            <a:endParaRPr lang="en-US" sz="1200" dirty="0"/>
          </a:p>
        </p:txBody>
      </p:sp>
      <p:sp>
        <p:nvSpPr>
          <p:cNvPr id="47" name="Text 45"/>
          <p:cNvSpPr txBox="1"/>
          <p:nvPr/>
        </p:nvSpPr>
        <p:spPr>
          <a:xfrm>
            <a:off x="8092440" y="4855464"/>
            <a:ext cx="3429000" cy="512064"/>
          </a:xfrm>
          <a:prstGeom prst="rect">
            <a:avLst/>
          </a:prstGeom>
          <a:noFill/>
          <a:ln/>
        </p:spPr>
        <p:txBody>
          <a:bodyPr wrap="square" lIns="0" tIns="0" rIns="0" bIns="0" rtlCol="0" anchor="ctr"/>
          <a:lstStyle/>
          <a:p>
            <a:pPr indent="0" marL="0">
              <a:buNone/>
            </a:pPr>
            <a:r>
              <a:rPr lang="en-US" sz="1100" dirty="0">
                <a:solidFill>
                  <a:srgbClr val="0A0A0B"/>
                </a:solidFill>
              </a:rPr>
              <a:t>the first-proposal bias, measured </a:t>
            </a:r>
            <a:pPr indent="0" marL="0">
              <a:buNone/>
            </a:pPr>
            <a:r>
              <a:rPr lang="en-US" sz="1100" b="1" dirty="0">
                <a:solidFill>
                  <a:srgbClr val="0064E0"/>
                </a:solidFill>
              </a:rPr>
              <a:t>[48]</a:t>
            </a:r>
            <a:endParaRPr lang="en-US" sz="1100" dirty="0"/>
          </a:p>
        </p:txBody>
      </p:sp>
      <p:sp>
        <p:nvSpPr>
          <p:cNvPr id="48" name="Shape 46"/>
          <p:cNvSpPr/>
          <p:nvPr/>
        </p:nvSpPr>
        <p:spPr>
          <a:xfrm>
            <a:off x="6172200" y="5458968"/>
            <a:ext cx="5440680" cy="512064"/>
          </a:xfrm>
          <a:prstGeom prst="roundRect">
            <a:avLst>
              <a:gd name="adj" fmla="val 8929"/>
            </a:avLst>
          </a:prstGeom>
          <a:solidFill>
            <a:srgbClr val="FFFFFF"/>
          </a:solidFill>
          <a:ln w="12700">
            <a:solidFill>
              <a:srgbClr val="FFFFFF"/>
            </a:solidFill>
            <a:prstDash val="solid"/>
          </a:ln>
        </p:spPr>
      </p:sp>
      <p:sp>
        <p:nvSpPr>
          <p:cNvPr id="49" name="Text 47"/>
          <p:cNvSpPr txBox="1"/>
          <p:nvPr/>
        </p:nvSpPr>
        <p:spPr>
          <a:xfrm>
            <a:off x="6309360" y="5458968"/>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Second round</a:t>
            </a:r>
            <a:endParaRPr lang="en-US" sz="1200" dirty="0"/>
          </a:p>
        </p:txBody>
      </p:sp>
      <p:sp>
        <p:nvSpPr>
          <p:cNvPr id="50" name="Text 48"/>
          <p:cNvSpPr txBox="1"/>
          <p:nvPr/>
        </p:nvSpPr>
        <p:spPr>
          <a:xfrm>
            <a:off x="8092440" y="5458968"/>
            <a:ext cx="3429000" cy="512064"/>
          </a:xfrm>
          <a:prstGeom prst="rect">
            <a:avLst/>
          </a:prstGeom>
          <a:noFill/>
          <a:ln/>
        </p:spPr>
        <p:txBody>
          <a:bodyPr wrap="square" lIns="0" tIns="0" rIns="0" bIns="0" rtlCol="0" anchor="ctr"/>
          <a:lstStyle/>
          <a:p>
            <a:pPr indent="0" marL="0">
              <a:buNone/>
            </a:pPr>
            <a:r>
              <a:rPr lang="en-US" sz="1100" dirty="0">
                <a:solidFill>
                  <a:srgbClr val="0A0A0B"/>
                </a:solidFill>
              </a:rPr>
              <a:t>graded costs instead of yes or no </a:t>
            </a:r>
            <a:pPr indent="0" marL="0">
              <a:buNone/>
            </a:pPr>
            <a:r>
              <a:rPr lang="en-US" sz="1100" b="1" dirty="0">
                <a:solidFill>
                  <a:srgbClr val="0064E0"/>
                </a:solidFill>
              </a:rPr>
              <a:t>[49]</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References 27 to 49: the algorithms we used</a:t>
            </a:r>
            <a:endParaRPr lang="en-US" sz="2800" dirty="0"/>
          </a:p>
        </p:txBody>
      </p:sp>
      <p:sp>
        <p:nvSpPr>
          <p:cNvPr id="3" name="Text 1"/>
          <p:cNvSpPr txBox="1"/>
          <p:nvPr/>
        </p:nvSpPr>
        <p:spPr>
          <a:xfrm>
            <a:off x="548640" y="1234440"/>
            <a:ext cx="5440680" cy="4937760"/>
          </a:xfrm>
          <a:prstGeom prst="rect">
            <a:avLst/>
          </a:prstGeom>
          <a:noFill/>
          <a:ln/>
        </p:spPr>
        <p:txBody>
          <a:bodyPr wrap="square" lIns="0" tIns="0" rIns="0" bIns="0" rtlCol="0" anchor="t"/>
          <a:lstStyle/>
          <a:p>
            <a:pPr indent="0" marL="0">
              <a:spcAft>
                <a:spcPts val="500"/>
              </a:spcAft>
              <a:buNone/>
            </a:pPr>
            <a:r>
              <a:rPr lang="en-US" sz="1100" dirty="0">
                <a:solidFill>
                  <a:srgbClr val="0A0A0B"/>
                </a:solidFill>
              </a:rPr>
              <a:t>27. Hinton, Vinyals and Dean: Distilling the Knowledge in a Neural Network, arXiv 1503.02531, 2015</a:t>
            </a:r>
            <a:endParaRPr lang="en-US" sz="1100" dirty="0"/>
          </a:p>
          <a:p>
            <a:pPr indent="0" marL="0">
              <a:spcAft>
                <a:spcPts val="500"/>
              </a:spcAft>
              <a:buNone/>
            </a:pPr>
            <a:r>
              <a:rPr lang="en-US" sz="1100" dirty="0">
                <a:solidFill>
                  <a:srgbClr val="0A0A0B"/>
                </a:solidFill>
              </a:rPr>
              <a:t>28. Hu et al.: LoRA: Low-Rank Adaptation of Large Language Models, ICLR 2022</a:t>
            </a:r>
            <a:endParaRPr lang="en-US" sz="1100" dirty="0"/>
          </a:p>
          <a:p>
            <a:pPr indent="0" marL="0">
              <a:spcAft>
                <a:spcPts val="500"/>
              </a:spcAft>
              <a:buNone/>
            </a:pPr>
            <a:r>
              <a:rPr lang="en-US" sz="1100" dirty="0">
                <a:solidFill>
                  <a:srgbClr val="0A0A0B"/>
                </a:solidFill>
              </a:rPr>
              <a:t>29. Agarwal et al.: On-Policy Distillation of Language Models (GKD), ICLR 2024</a:t>
            </a:r>
            <a:endParaRPr lang="en-US" sz="1100" dirty="0"/>
          </a:p>
          <a:p>
            <a:pPr indent="0" marL="0">
              <a:spcAft>
                <a:spcPts val="500"/>
              </a:spcAft>
              <a:buNone/>
            </a:pPr>
            <a:r>
              <a:rPr lang="en-US" sz="1100" dirty="0">
                <a:solidFill>
                  <a:srgbClr val="0A0A0B"/>
                </a:solidFill>
              </a:rPr>
              <a:t>30. Hsieh et al.: Distilling Step-by-Step, Findings of ACL 2023</a:t>
            </a:r>
            <a:endParaRPr lang="en-US" sz="1100" dirty="0"/>
          </a:p>
          <a:p>
            <a:pPr indent="0" marL="0">
              <a:spcAft>
                <a:spcPts val="500"/>
              </a:spcAft>
              <a:buNone/>
            </a:pPr>
            <a:r>
              <a:rPr lang="en-US" sz="1100" dirty="0">
                <a:solidFill>
                  <a:srgbClr val="0A0A0B"/>
                </a:solidFill>
              </a:rPr>
              <a:t>31. Guo et al.: On Calibration of Modern Neural Networks, ICML 2017</a:t>
            </a:r>
            <a:endParaRPr lang="en-US" sz="1100" dirty="0"/>
          </a:p>
          <a:p>
            <a:pPr indent="0" marL="0">
              <a:spcAft>
                <a:spcPts val="500"/>
              </a:spcAft>
              <a:buNone/>
            </a:pPr>
            <a:r>
              <a:rPr lang="en-US" sz="1100" dirty="0">
                <a:solidFill>
                  <a:srgbClr val="0A0A0B"/>
                </a:solidFill>
              </a:rPr>
              <a:t>32. Angelopoulos et al.: Conformal Risk Control, arXiv 2208.02814</a:t>
            </a:r>
            <a:endParaRPr lang="en-US" sz="1100" dirty="0"/>
          </a:p>
          <a:p>
            <a:pPr indent="0" marL="0">
              <a:spcAft>
                <a:spcPts val="500"/>
              </a:spcAft>
              <a:buNone/>
            </a:pPr>
            <a:r>
              <a:rPr lang="en-US" sz="1100" dirty="0">
                <a:solidFill>
                  <a:srgbClr val="0A0A0B"/>
                </a:solidFill>
              </a:rPr>
              <a:t>33. McNemar: the sampling error of the difference between correlated proportions, Psychometrika 1947</a:t>
            </a:r>
            <a:endParaRPr lang="en-US" sz="1100" dirty="0"/>
          </a:p>
          <a:p>
            <a:pPr indent="0" marL="0">
              <a:spcAft>
                <a:spcPts val="500"/>
              </a:spcAft>
              <a:buNone/>
            </a:pPr>
            <a:r>
              <a:rPr lang="en-US" sz="1100" dirty="0">
                <a:solidFill>
                  <a:srgbClr val="0A0A0B"/>
                </a:solidFill>
              </a:rPr>
              <a:t>34. llama.cpp: quantization with an importance matrix (imatrix), ggml-org</a:t>
            </a:r>
            <a:endParaRPr lang="en-US" sz="1100" dirty="0"/>
          </a:p>
          <a:p>
            <a:pPr indent="0" marL="0">
              <a:spcAft>
                <a:spcPts val="500"/>
              </a:spcAft>
              <a:buNone/>
            </a:pPr>
            <a:r>
              <a:rPr lang="en-US" sz="1100" dirty="0">
                <a:solidFill>
                  <a:srgbClr val="0A0A0B"/>
                </a:solidFill>
              </a:rPr>
              <a:t>35. Chen et al.: StruQ: Defending Against Prompt Injection with Structured Queries, arXiv 2402.06363</a:t>
            </a:r>
            <a:endParaRPr lang="en-US" sz="1100" dirty="0"/>
          </a:p>
          <a:p>
            <a:pPr indent="0" marL="0">
              <a:spcAft>
                <a:spcPts val="500"/>
              </a:spcAft>
              <a:buNone/>
            </a:pPr>
            <a:r>
              <a:rPr lang="en-US" sz="1100" dirty="0">
                <a:solidFill>
                  <a:srgbClr val="0A0A0B"/>
                </a:solidFill>
              </a:rPr>
              <a:t>36. Chen et al.: SecAlign: Defending Against Prompt Injection with Preference Optimization, arXiv 2410.05451</a:t>
            </a:r>
            <a:endParaRPr lang="en-US" sz="1100" dirty="0"/>
          </a:p>
          <a:p>
            <a:pPr indent="0" marL="0">
              <a:spcAft>
                <a:spcPts val="500"/>
              </a:spcAft>
              <a:buNone/>
            </a:pPr>
            <a:r>
              <a:rPr lang="en-US" sz="1100" dirty="0">
                <a:solidFill>
                  <a:srgbClr val="0A0A0B"/>
                </a:solidFill>
              </a:rPr>
              <a:t>37. Rafailov et al.: Direct Preference Optimization, NeurIPS 2023</a:t>
            </a:r>
            <a:endParaRPr lang="en-US" sz="1100" dirty="0"/>
          </a:p>
          <a:p>
            <a:pPr indent="0" marL="0">
              <a:spcAft>
                <a:spcPts val="500"/>
              </a:spcAft>
              <a:buNone/>
            </a:pPr>
            <a:r>
              <a:rPr lang="en-US" sz="1100" dirty="0">
                <a:solidFill>
                  <a:srgbClr val="0A0A0B"/>
                </a:solidFill>
              </a:rPr>
              <a:t>38. Weinberger et al.: Feature Hashing for Large Scale Multitask Learning, ICML 2009</a:t>
            </a:r>
            <a:endParaRPr lang="en-US" sz="1100" dirty="0"/>
          </a:p>
        </p:txBody>
      </p:sp>
      <p:sp>
        <p:nvSpPr>
          <p:cNvPr id="4" name="Text 2"/>
          <p:cNvSpPr txBox="1"/>
          <p:nvPr/>
        </p:nvSpPr>
        <p:spPr>
          <a:xfrm>
            <a:off x="6172200" y="1234440"/>
            <a:ext cx="5440680" cy="4937760"/>
          </a:xfrm>
          <a:prstGeom prst="rect">
            <a:avLst/>
          </a:prstGeom>
          <a:noFill/>
          <a:ln/>
        </p:spPr>
        <p:txBody>
          <a:bodyPr wrap="square" lIns="0" tIns="0" rIns="0" bIns="0" rtlCol="0" anchor="t"/>
          <a:lstStyle/>
          <a:p>
            <a:pPr indent="0" marL="0">
              <a:spcAft>
                <a:spcPts val="500"/>
              </a:spcAft>
              <a:buNone/>
            </a:pPr>
            <a:r>
              <a:rPr lang="en-US" sz="1100" dirty="0">
                <a:solidFill>
                  <a:srgbClr val="0A0A0B"/>
                </a:solidFill>
              </a:rPr>
              <a:t>39. Thompson: On the likelihood that one unknown probability exceeds another, Biometrika 1933</a:t>
            </a:r>
            <a:endParaRPr lang="en-US" sz="1100" dirty="0"/>
          </a:p>
          <a:p>
            <a:pPr indent="0" marL="0">
              <a:spcAft>
                <a:spcPts val="500"/>
              </a:spcAft>
              <a:buNone/>
            </a:pPr>
            <a:r>
              <a:rPr lang="en-US" sz="1100" dirty="0">
                <a:solidFill>
                  <a:srgbClr val="0A0A0B"/>
                </a:solidFill>
              </a:rPr>
              <a:t>40. Kim et al.: ProPerSim, proactive and personalized assistants, arXiv 2509.21730</a:t>
            </a:r>
            <a:endParaRPr lang="en-US" sz="1100" dirty="0"/>
          </a:p>
          <a:p>
            <a:pPr indent="0" marL="0">
              <a:spcAft>
                <a:spcPts val="500"/>
              </a:spcAft>
              <a:buNone/>
            </a:pPr>
            <a:r>
              <a:rPr lang="en-US" sz="1100" dirty="0">
                <a:solidFill>
                  <a:srgbClr val="0A0A0B"/>
                </a:solidFill>
              </a:rPr>
              <a:t>41. Mem0: scalable long-term memory for agents, arXiv 2504.19413</a:t>
            </a:r>
            <a:endParaRPr lang="en-US" sz="1100" dirty="0"/>
          </a:p>
          <a:p>
            <a:pPr indent="0" marL="0">
              <a:spcAft>
                <a:spcPts val="500"/>
              </a:spcAft>
              <a:buNone/>
            </a:pPr>
            <a:r>
              <a:rPr lang="en-US" sz="1100" dirty="0">
                <a:solidFill>
                  <a:srgbClr val="0A0A0B"/>
                </a:solidFill>
              </a:rPr>
              <a:t>42. PersonaMem: dynamic user preferences, arXiv 2504.14225</a:t>
            </a:r>
            <a:endParaRPr lang="en-US" sz="1100" dirty="0"/>
          </a:p>
          <a:p>
            <a:pPr indent="0" marL="0">
              <a:spcAft>
                <a:spcPts val="500"/>
              </a:spcAft>
              <a:buNone/>
            </a:pPr>
            <a:r>
              <a:rPr lang="en-US" sz="1100" dirty="0">
                <a:solidFill>
                  <a:srgbClr val="0A0A0B"/>
                </a:solidFill>
              </a:rPr>
              <a:t>43. JSONSchemaBench, arXiv 2501.10868</a:t>
            </a:r>
            <a:endParaRPr lang="en-US" sz="1100" dirty="0"/>
          </a:p>
          <a:p>
            <a:pPr indent="0" marL="0">
              <a:spcAft>
                <a:spcPts val="500"/>
              </a:spcAft>
              <a:buNone/>
            </a:pPr>
            <a:r>
              <a:rPr lang="en-US" sz="1100" dirty="0">
                <a:solidFill>
                  <a:srgbClr val="0A0A0B"/>
                </a:solidFill>
              </a:rPr>
              <a:t>44. ReliabilityBench, arXiv 2601.06112</a:t>
            </a:r>
            <a:endParaRPr lang="en-US" sz="1100" dirty="0"/>
          </a:p>
          <a:p>
            <a:pPr indent="0" marL="0">
              <a:spcAft>
                <a:spcPts val="500"/>
              </a:spcAft>
              <a:buNone/>
            </a:pPr>
            <a:r>
              <a:rPr lang="en-US" sz="1100" dirty="0">
                <a:solidFill>
                  <a:srgbClr val="0A0A0B"/>
                </a:solidFill>
              </a:rPr>
              <a:t>45. Speculative Actions, arXiv 2510.04371</a:t>
            </a:r>
            <a:endParaRPr lang="en-US" sz="1100" dirty="0"/>
          </a:p>
          <a:p>
            <a:pPr indent="0" marL="0">
              <a:spcAft>
                <a:spcPts val="500"/>
              </a:spcAft>
              <a:buNone/>
            </a:pPr>
            <a:r>
              <a:rPr lang="en-US" sz="1100" dirty="0">
                <a:solidFill>
                  <a:srgbClr val="0A0A0B"/>
                </a:solidFill>
              </a:rPr>
              <a:t>46. τ-bench: pass^k for tool agents, arXiv 2406.12045</a:t>
            </a:r>
            <a:endParaRPr lang="en-US" sz="1100" dirty="0"/>
          </a:p>
          <a:p>
            <a:pPr indent="0" marL="0">
              <a:spcAft>
                <a:spcPts val="500"/>
              </a:spcAft>
              <a:buNone/>
            </a:pPr>
            <a:r>
              <a:rPr lang="en-US" sz="1100" dirty="0">
                <a:solidFill>
                  <a:srgbClr val="0A0A0B"/>
                </a:solidFill>
              </a:rPr>
              <a:t>47. Sim2Real gap of simulated users, arXiv 2603.11245</a:t>
            </a:r>
            <a:endParaRPr lang="en-US" sz="1100" dirty="0"/>
          </a:p>
          <a:p>
            <a:pPr indent="0" marL="0">
              <a:spcAft>
                <a:spcPts val="500"/>
              </a:spcAft>
              <a:buNone/>
            </a:pPr>
            <a:r>
              <a:rPr lang="en-US" sz="1100" dirty="0">
                <a:solidFill>
                  <a:srgbClr val="0A0A0B"/>
                </a:solidFill>
              </a:rPr>
              <a:t>48. Magentic Marketplace, arXiv 2510.25779</a:t>
            </a:r>
            <a:endParaRPr lang="en-US" sz="1100" dirty="0"/>
          </a:p>
          <a:p>
            <a:pPr indent="0" marL="0">
              <a:spcAft>
                <a:spcPts val="500"/>
              </a:spcAft>
              <a:buNone/>
            </a:pPr>
            <a:r>
              <a:rPr lang="en-US" sz="1100" dirty="0">
                <a:solidFill>
                  <a:srgbClr val="0A0A0B"/>
                </a:solidFill>
              </a:rPr>
              <a:t>49. CalBench, arXiv 2605.09823</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7863840" cy="1463040"/>
          </a:xfrm>
          <a:prstGeom prst="rect">
            <a:avLst/>
          </a:prstGeom>
          <a:noFill/>
          <a:ln/>
        </p:spPr>
        <p:txBody>
          <a:bodyPr wrap="square" lIns="0" tIns="0" rIns="0" bIns="0" rtlCol="0" anchor="b"/>
          <a:lstStyle/>
          <a:p>
            <a:pPr algn="l" indent="0" marL="0">
              <a:buNone/>
            </a:pPr>
            <a:r>
              <a:rPr lang="en-US" sz="4800" b="1" dirty="0">
                <a:solidFill>
                  <a:schemeClr val="bg1"/>
                </a:solidFill>
              </a:rPr>
              <a:t>One yes from each person</a:t>
            </a:r>
            <a:endParaRPr lang="en-US" sz="4800" dirty="0"/>
          </a:p>
        </p:txBody>
      </p:sp>
      <p:sp>
        <p:nvSpPr>
          <p:cNvPr id="3" name="Text 0"/>
          <p:cNvSpPr/>
          <p:nvPr>
            <p:ph idx="101" type="body" hasCustomPrompt="1"/>
          </p:nvPr>
        </p:nvSpPr>
        <p:spPr>
          <a:xfrm>
            <a:off x="548640" y="3703320"/>
            <a:ext cx="7863840" cy="1097280"/>
          </a:xfrm>
          <a:prstGeom prst="rect">
            <a:avLst/>
          </a:prstGeom>
          <a:noFill/>
          <a:ln/>
        </p:spPr>
        <p:txBody>
          <a:bodyPr wrap="square" lIns="0" tIns="0" rIns="0" bIns="0" rtlCol="0" anchor="t"/>
          <a:lstStyle/>
          <a:p>
            <a:pPr algn="l" indent="0" marL="0">
              <a:buNone/>
            </a:pPr>
            <a:r>
              <a:rPr lang="en-US" sz="2000" dirty="0">
                <a:solidFill>
                  <a:srgbClr val="C9D6CE"/>
                </a:solidFill>
              </a:rPr>
              <a:t>Live: play.theminimallab.com · Code: github.com/gino6178/serve-meta-hackathon · Every number from submission/results/</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Serve: technical report</dc:title>
  <dc:subject>PptxGenJS Presentation</dc:subject>
  <dc:creator>Serve</dc:creator>
  <cp:lastModifiedBy>Serve</cp:lastModifiedBy>
  <cp:revision>1</cp:revision>
  <dcterms:created xsi:type="dcterms:W3CDTF">2026-10-31T14:16:42Z</dcterms:created>
  <dcterms:modified xsi:type="dcterms:W3CDTF">2026-10-31T14:16:42Z</dcterms:modified>
</cp:coreProperties>
</file>