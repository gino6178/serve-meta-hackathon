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9.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0.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3.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Play a sport, by age (%)</a:t>
            </a:r>
          </a:p>
        </c:rich>
      </c:tx>
      <c:layout/>
      <c:overlay val="0"/>
    </c:title>
    <c:autoTitleDeleted val="0"/>
    <c:plotArea>
      <c:layout/>
      <c:barChart>
        <c:barDir val="col"/>
        <c:grouping val="clustered"/>
        <c:varyColors val="0"/>
        <c:ser>
          <c:idx val="0"/>
          <c:order val="0"/>
          <c:tx>
            <c:strRef>
              <c:f>Sheet1!$B$1</c:f>
              <c:strCache>
                <c:ptCount val="1"/>
                <c:pt idx="0">
                  <c:v>value</c:v>
                </c:pt>
              </c:strCache>
            </c:strRef>
          </c:tx>
          <c:spPr>
            <a:solidFill>
              <a:srgbClr val="8A8A92"/>
            </a:solidFill>
            <a:effectLst/>
          </c:spPr>
          <c:invertIfNegative val="0"/>
          <c:dLbls>
            <c:numFmt formatCode="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Sheet1!$A$2:$A$3</c:f>
              <c:multiLvlStrCache>
                <c:ptCount val="2"/>
                <c:lvl>
                  <c:pt idx="0">
                    <c:v>18 to 21</c:v>
                  </c:pt>
                  <c:pt idx="1">
                    <c:v>26 to 49</c:v>
                  </c:pt>
                </c:lvl>
              </c:multiLvlStrCache>
            </c:multiLvlStrRef>
          </c:cat>
          <c:val>
            <c:numRef>
              <c:f>Sheet1!$B$2:$B$3</c:f>
              <c:numCache>
                <c:formatCode>General</c:formatCode>
                <c:ptCount val="2"/>
                <c:pt idx="0">
                  <c:v>40</c:v>
                </c:pt>
                <c:pt idx="1">
                  <c:v>26</c:v>
                </c:pt>
              </c:numCache>
            </c:numRef>
          </c:val>
        </c:ser>
        <c:dLbls>
          <c:numFmt formatCode="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What stops adults playing regularly (%)</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D1352B"/>
            </a:solidFill>
            <a:effectLst/>
          </c:spPr>
          <c:invertIfNegative val="0"/>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No regular people to play with</c:v>
                  </c:pt>
                  <c:pt idx="1">
                    <c:v>No way to keep the habit going</c:v>
                  </c:pt>
                  <c:pt idx="2">
                    <c:v>Times hard to fit around other commitments</c:v>
                  </c:pt>
                </c:lvl>
              </c:multiLvlStrCache>
            </c:multiLvlStrRef>
          </c:cat>
          <c:val>
            <c:numRef>
              <c:f>Sheet1!$B$2:$B$4</c:f>
              <c:numCache>
                <c:formatCode>General</c:formatCode>
                <c:ptCount val="3"/>
                <c:pt idx="0">
                  <c:v>10.2</c:v>
                </c:pt>
                <c:pt idx="1">
                  <c:v>21.3</c:v>
                </c:pt>
                <c:pt idx="2">
                  <c:v>64.2</c:v>
                </c:pt>
              </c:numCache>
            </c:numRef>
          </c:val>
        </c:ser>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8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Bugs reported per round (rounds 21 to 25: core flows only)</a:t>
            </a:r>
          </a:p>
        </c:rich>
      </c:tx>
      <c:layout/>
      <c:overlay val="0"/>
    </c:title>
    <c:autoTitleDeleted val="0"/>
    <c:plotArea>
      <c:layout/>
      <c:barChart>
        <c:barDir val="col"/>
        <c:grouping val="clustered"/>
        <c:varyColors val="0"/>
        <c:ser>
          <c:idx val="0"/>
          <c:order val="0"/>
          <c:tx>
            <c:strRef>
              <c:f>Sheet1!$B$1</c:f>
              <c:strCache>
                <c:ptCount val="1"/>
                <c:pt idx="0">
                  <c:v>Bugs reported</c:v>
                </c:pt>
              </c:strCache>
            </c:strRef>
          </c:tx>
          <c:spPr>
            <a:solidFill>
              <a:srgbClr val="D1352B"/>
            </a:solidFill>
            <a:effectLst/>
          </c:spPr>
          <c:invertIfNegative val="0"/>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Sheet1!$A$2:$A$21</c:f>
              <c:multiLvlStrCache>
                <c:ptCount val="20"/>
                <c:lvl>
                  <c:pt idx="0">
                    <c:v>6</c:v>
                  </c:pt>
                  <c:pt idx="1">
                    <c:v>7</c:v>
                  </c:pt>
                  <c:pt idx="2">
                    <c:v>8</c:v>
                  </c:pt>
                  <c:pt idx="3">
                    <c:v>9</c:v>
                  </c:pt>
                  <c:pt idx="4">
                    <c:v>10</c:v>
                  </c:pt>
                  <c:pt idx="5">
                    <c:v>11</c:v>
                  </c:pt>
                  <c:pt idx="6">
                    <c:v>12</c:v>
                  </c:pt>
                  <c:pt idx="7">
                    <c:v>13</c:v>
                  </c:pt>
                  <c:pt idx="8">
                    <c:v>14</c:v>
                  </c:pt>
                  <c:pt idx="9">
                    <c:v>15</c:v>
                  </c:pt>
                  <c:pt idx="10">
                    <c:v>16</c:v>
                  </c:pt>
                  <c:pt idx="11">
                    <c:v>17</c:v>
                  </c:pt>
                  <c:pt idx="12">
                    <c:v>18</c:v>
                  </c:pt>
                  <c:pt idx="13">
                    <c:v>19</c:v>
                  </c:pt>
                  <c:pt idx="14">
                    <c:v>20</c:v>
                  </c:pt>
                  <c:pt idx="15">
                    <c:v>21</c:v>
                  </c:pt>
                  <c:pt idx="16">
                    <c:v>22</c:v>
                  </c:pt>
                  <c:pt idx="17">
                    <c:v>23</c:v>
                  </c:pt>
                  <c:pt idx="18">
                    <c:v>24</c:v>
                  </c:pt>
                  <c:pt idx="19">
                    <c:v>25</c:v>
                  </c:pt>
                </c:lvl>
              </c:multiLvlStrCache>
            </c:multiLvlStrRef>
          </c:cat>
          <c:val>
            <c:numRef>
              <c:f>Sheet1!$B$2:$B$21</c:f>
              <c:numCache>
                <c:formatCode>General</c:formatCode>
                <c:ptCount val="20"/>
                <c:pt idx="0">
                  <c:v>5</c:v>
                </c:pt>
                <c:pt idx="1">
                  <c:v>9</c:v>
                </c:pt>
                <c:pt idx="2">
                  <c:v>10</c:v>
                </c:pt>
                <c:pt idx="3">
                  <c:v>10</c:v>
                </c:pt>
                <c:pt idx="4">
                  <c:v>13</c:v>
                </c:pt>
                <c:pt idx="5">
                  <c:v>6</c:v>
                </c:pt>
                <c:pt idx="6">
                  <c:v>19</c:v>
                </c:pt>
                <c:pt idx="7">
                  <c:v>16</c:v>
                </c:pt>
                <c:pt idx="8">
                  <c:v>11</c:v>
                </c:pt>
                <c:pt idx="9">
                  <c:v>8</c:v>
                </c:pt>
                <c:pt idx="10">
                  <c:v>9</c:v>
                </c:pt>
                <c:pt idx="11">
                  <c:v>7</c:v>
                </c:pt>
                <c:pt idx="12">
                  <c:v>10</c:v>
                </c:pt>
                <c:pt idx="13">
                  <c:v>9</c:v>
                </c:pt>
                <c:pt idx="14">
                  <c:v>9</c:v>
                </c:pt>
                <c:pt idx="15">
                  <c:v>2</c:v>
                </c:pt>
                <c:pt idx="16">
                  <c:v>2</c:v>
                </c:pt>
                <c:pt idx="17">
                  <c:v>3</c:v>
                </c:pt>
                <c:pt idx="18">
                  <c:v>4</c:v>
                </c:pt>
                <c:pt idx="19">
                  <c:v>0</c:v>
                </c:pt>
              </c:numCache>
            </c:numRef>
          </c:val>
        </c:ser>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55555C"/>
                    </a:solidFill>
                    <a:latin typeface="Arial"/>
                  </a:defRPr>
                </a:pPr>
                <a:r>
                  <a:rPr sz="1100" b="0" i="0" u="none" strike="noStrike">
                    <a:solidFill>
                      <a:srgbClr val="55555C"/>
                    </a:solidFill>
                    <a:latin typeface="Arial"/>
                  </a:rPr>
                  <a:t>round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Testers whose report came back CLEAN (of 6)</a:t>
            </a:r>
          </a:p>
        </c:rich>
      </c:tx>
      <c:layout/>
      <c:overlay val="0"/>
    </c:title>
    <c:autoTitleDeleted val="0"/>
    <c:plotArea>
      <c:layout/>
      <c:lineChart>
        <c:varyColors val="0"/>
        <c:ser>
          <c:idx val="0"/>
          <c:order val="0"/>
          <c:tx>
            <c:strRef>
              <c:f>Sheet1!$B$1</c:f>
              <c:strCache>
                <c:ptCount val="1"/>
                <c:pt idx="0">
                  <c:v>Clean reports (of 6)</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Sheet1!$A$2:$A$21</c:f>
              <c:multiLvlStrCache>
                <c:ptCount val="20"/>
                <c:lvl>
                  <c:pt idx="0">
                    <c:v>6</c:v>
                  </c:pt>
                  <c:pt idx="1">
                    <c:v>7</c:v>
                  </c:pt>
                  <c:pt idx="2">
                    <c:v>8</c:v>
                  </c:pt>
                  <c:pt idx="3">
                    <c:v>9</c:v>
                  </c:pt>
                  <c:pt idx="4">
                    <c:v>10</c:v>
                  </c:pt>
                  <c:pt idx="5">
                    <c:v>11</c:v>
                  </c:pt>
                  <c:pt idx="6">
                    <c:v>12</c:v>
                  </c:pt>
                  <c:pt idx="7">
                    <c:v>13</c:v>
                  </c:pt>
                  <c:pt idx="8">
                    <c:v>14</c:v>
                  </c:pt>
                  <c:pt idx="9">
                    <c:v>15</c:v>
                  </c:pt>
                  <c:pt idx="10">
                    <c:v>16</c:v>
                  </c:pt>
                  <c:pt idx="11">
                    <c:v>17</c:v>
                  </c:pt>
                  <c:pt idx="12">
                    <c:v>18</c:v>
                  </c:pt>
                  <c:pt idx="13">
                    <c:v>19</c:v>
                  </c:pt>
                  <c:pt idx="14">
                    <c:v>20</c:v>
                  </c:pt>
                  <c:pt idx="15">
                    <c:v>21</c:v>
                  </c:pt>
                  <c:pt idx="16">
                    <c:v>22</c:v>
                  </c:pt>
                  <c:pt idx="17">
                    <c:v>23</c:v>
                  </c:pt>
                  <c:pt idx="18">
                    <c:v>24</c:v>
                  </c:pt>
                  <c:pt idx="19">
                    <c:v>25</c:v>
                  </c:pt>
                </c:lvl>
              </c:multiLvlStrCache>
            </c:multiLvlStrRef>
          </c:cat>
          <c:val>
            <c:numRef>
              <c:f>Sheet1!$B$2:$B$21</c:f>
              <c:numCache>
                <c:formatCode>General</c:formatCode>
                <c:ptCount val="20"/>
                <c:pt idx="0">
                  <c:v>2</c:v>
                </c:pt>
                <c:pt idx="1">
                  <c:v>1</c:v>
                </c:pt>
                <c:pt idx="2">
                  <c:v>2</c:v>
                </c:pt>
                <c:pt idx="3">
                  <c:v>1</c:v>
                </c:pt>
                <c:pt idx="4">
                  <c:v>1</c:v>
                </c:pt>
                <c:pt idx="5">
                  <c:v>2</c:v>
                </c:pt>
                <c:pt idx="6">
                  <c:v>1</c:v>
                </c:pt>
                <c:pt idx="7">
                  <c:v>2</c:v>
                </c:pt>
                <c:pt idx="8">
                  <c:v>2</c:v>
                </c:pt>
                <c:pt idx="9">
                  <c:v>2</c:v>
                </c:pt>
                <c:pt idx="10">
                  <c:v>2</c:v>
                </c:pt>
                <c:pt idx="11">
                  <c:v>2</c:v>
                </c:pt>
                <c:pt idx="12">
                  <c:v>1</c:v>
                </c:pt>
                <c:pt idx="13">
                  <c:v>1</c:v>
                </c:pt>
                <c:pt idx="14">
                  <c:v>2</c:v>
                </c:pt>
                <c:pt idx="15">
                  <c:v>4</c:v>
                </c:pt>
                <c:pt idx="16">
                  <c:v>4</c:v>
                </c:pt>
                <c:pt idx="17">
                  <c:v>3</c:v>
                </c:pt>
                <c:pt idx="18">
                  <c:v>4</c:v>
                </c:pt>
                <c:pt idx="19">
                  <c:v>6</c:v>
                </c:pt>
              </c:numCache>
            </c:numRef>
          </c:val>
          <c:smooth val="0"/>
        </c:ser>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5555C"/>
                    </a:solidFill>
                    <a:latin typeface="Arial"/>
                  </a:defRPr>
                </a:pPr>
                <a:r>
                  <a:rPr sz="1100" b="0" i="0" u="none" strike="noStrike">
                    <a:solidFill>
                      <a:srgbClr val="55555C"/>
                    </a:solidFill>
                    <a:latin typeface="Arial"/>
                  </a:rPr>
                  <a:t>round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Pairs of talks that booked one member twice (of 12)</a:t>
            </a:r>
          </a:p>
        </c:rich>
      </c:tx>
      <c:layout/>
      <c:overlay val="0"/>
    </c:title>
    <c:autoTitleDeleted val="0"/>
    <c:plotArea>
      <c:layout/>
      <c:barChart>
        <c:barDir val="col"/>
        <c:grouping val="clustered"/>
        <c:varyColors val="0"/>
        <c:ser>
          <c:idx val="0"/>
          <c:order val="0"/>
          <c:tx>
            <c:strRef>
              <c:f>Sheet1!$B$1</c:f>
              <c:strCache>
                <c:ptCount val="1"/>
                <c:pt idx="0">
                  <c:v>value</c:v>
                </c:pt>
              </c:strCache>
            </c:strRef>
          </c:tx>
          <c:spPr>
            <a:solidFill>
              <a:srgbClr val="D1352B"/>
            </a:solidFill>
            <a:effectLst/>
          </c:spPr>
          <c:invertIfNegative val="0"/>
          <c:dLbls>
            <c:numFmt formatCode="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Sheet1!$A$2:$A$3</c:f>
              <c:multiLvlStrCache>
                <c:ptCount val="2"/>
                <c:lvl>
                  <c:pt idx="0">
                    <c:v>With holds</c:v>
                  </c:pt>
                  <c:pt idx="1">
                    <c:v>Without holds</c:v>
                  </c:pt>
                </c:lvl>
              </c:multiLvlStrCache>
            </c:multiLvlStrRef>
          </c:cat>
          <c:val>
            <c:numRef>
              <c:f>Sheet1!$B$2:$B$3</c:f>
              <c:numCache>
                <c:formatCode>General</c:formatCode>
                <c:ptCount val="2"/>
                <c:pt idx="0">
                  <c:v>0</c:v>
                </c:pt>
                <c:pt idx="1">
                  <c:v>11</c:v>
                </c:pt>
              </c:numCache>
            </c:numRef>
          </c:val>
        </c:ser>
        <c:dLbls>
          <c:numFmt formatCode="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Fairness score of the booked games</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0A7F44"/>
            </a:solidFill>
            <a:effectLst/>
          </c:spPr>
          <c:invertIfNegative val="0"/>
          <c:dLbls>
            <c:numFmt formatCode="0.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Nash product</c:v>
                  </c:pt>
                  <c:pt idx="1">
                    <c:v>Shortest total trip</c:v>
                  </c:pt>
                  <c:pt idx="2">
                    <c:v>Minimax (Serve)</c:v>
                  </c:pt>
                </c:lvl>
              </c:multiLvlStrCache>
            </c:multiLvlStrRef>
          </c:cat>
          <c:val>
            <c:numRef>
              <c:f>Sheet1!$B$2:$B$4</c:f>
              <c:numCache>
                <c:formatCode>General</c:formatCode>
                <c:ptCount val="3"/>
                <c:pt idx="0">
                  <c:v>0.58</c:v>
                </c:pt>
                <c:pt idx="1">
                  <c:v>0.59</c:v>
                </c:pt>
                <c:pt idx="2">
                  <c:v>0.73</c:v>
                </c:pt>
              </c:numCache>
            </c:numRef>
          </c:val>
        </c:ser>
        <c:dLbls>
          <c:numFmt formatCode="0.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0.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First time proposed keeps every player's rules (%)</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0A7F44"/>
            </a:solidFill>
            <a:effectLst/>
          </c:spPr>
          <c:invertIfNegative val="0"/>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Sheet1!$A$2:$A$5</c:f>
              <c:multiLvlStrCache>
                <c:ptCount val="4"/>
                <c:lvl>
                  <c:pt idx="0">
                    <c:v>Doubles, now</c:v>
                  </c:pt>
                  <c:pt idx="1">
                    <c:v>Doubles, before</c:v>
                  </c:pt>
                  <c:pt idx="2">
                    <c:v>Singles, now</c:v>
                  </c:pt>
                  <c:pt idx="3">
                    <c:v>Singles, before</c:v>
                  </c:pt>
                </c:lvl>
              </c:multiLvlStrCache>
            </c:multiLvlStrRef>
          </c:cat>
          <c:val>
            <c:numRef>
              <c:f>Sheet1!$B$2:$B$5</c:f>
              <c:numCache>
                <c:formatCode>General</c:formatCode>
                <c:ptCount val="4"/>
                <c:pt idx="0">
                  <c:v>89.1</c:v>
                </c:pt>
                <c:pt idx="1">
                  <c:v>73.9</c:v>
                </c:pt>
                <c:pt idx="2">
                  <c:v>92.4</c:v>
                </c:pt>
                <c:pt idx="3">
                  <c:v>89.8</c:v>
                </c:pt>
              </c:numCache>
            </c:numRef>
          </c:val>
        </c:ser>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Game found, one question then one talk (%), 20,000 requests each</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0A7F44"/>
            </a:solidFill>
            <a:effectLst/>
          </c:spPr>
          <c:invertIfNegative val="0"/>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Sheet1!$A$2:$A$5</c:f>
              <c:multiLvlStrCache>
                <c:ptCount val="4"/>
                <c:lvl>
                  <c:pt idx="0">
                    <c:v>No question</c:v>
                  </c:pt>
                  <c:pt idx="1">
                    <c:v>A random question</c:v>
                  </c:pt>
                  <c:pt idx="2">
                    <c:v>The likeliest pair</c:v>
                  </c:pt>
                  <c:pt idx="3">
                    <c:v>Value of information</c:v>
                  </c:pt>
                </c:lvl>
              </c:multiLvlStrCache>
            </c:multiLvlStrRef>
          </c:cat>
          <c:val>
            <c:numRef>
              <c:f>Sheet1!$B$2:$B$5</c:f>
              <c:numCache>
                <c:formatCode>General</c:formatCode>
                <c:ptCount val="4"/>
                <c:pt idx="0">
                  <c:v>40.7</c:v>
                </c:pt>
                <c:pt idx="1">
                  <c:v>44.4</c:v>
                </c:pt>
                <c:pt idx="2">
                  <c:v>48.2</c:v>
                </c:pt>
                <c:pt idx="3">
                  <c:v>51.9</c:v>
                </c:pt>
              </c:numCache>
            </c:numRef>
          </c:val>
        </c:ser>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Seconds per choice</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0A7F44"/>
            </a:solidFill>
            <a:effectLst/>
          </c:spPr>
          <c:invertIfNegative val="0"/>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Our 1B student (CPU)</c:v>
                  </c:pt>
                  <c:pt idx="1">
                    <c:v>One-token decider (GPU)</c:v>
                  </c:pt>
                  <c:pt idx="2">
                    <c:v>Glimmer, full answer (GPU)</c:v>
                  </c:pt>
                </c:lvl>
              </c:multiLvlStrCache>
            </c:multiLvlStrRef>
          </c:cat>
          <c:val>
            <c:numRef>
              <c:f>Sheet1!$B$2:$B$4</c:f>
              <c:numCache>
                <c:formatCode>General</c:formatCode>
                <c:ptCount val="3"/>
                <c:pt idx="0">
                  <c:v>0.9</c:v>
                </c:pt>
                <c:pt idx="1">
                  <c:v>0.53</c:v>
                </c:pt>
                <c:pt idx="2">
                  <c:v>40</c:v>
                </c:pt>
              </c:numCache>
            </c:numRef>
          </c:val>
        </c:ser>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4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Its choice: softmax over the valid letters</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0A7F44"/>
            </a:solidFill>
            <a:effectLst/>
          </c:spPr>
          <c:invertIfNegative val="0"/>
          <c:dLbls>
            <c:numFmt formatCode="0.0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Sheet1!$A$2:$A$6</c:f>
              <c:multiLvlStrCache>
                <c:ptCount val="5"/>
                <c:lvl>
                  <c:pt idx="0">
                    <c:v>can't play</c:v>
                  </c:pt>
                  <c:pt idx="1">
                    <c:v>t5</c:v>
                  </c:pt>
                  <c:pt idx="2">
                    <c:v>t4</c:v>
                  </c:pt>
                  <c:pt idx="3">
                    <c:v>t3</c:v>
                  </c:pt>
                  <c:pt idx="4">
                    <c:v>t2</c:v>
                  </c:pt>
                </c:lvl>
              </c:multiLvlStrCache>
            </c:multiLvlStrRef>
          </c:cat>
          <c:val>
            <c:numRef>
              <c:f>Sheet1!$B$2:$B$6</c:f>
              <c:numCache>
                <c:formatCode>General</c:formatCode>
                <c:ptCount val="5"/>
                <c:pt idx="0">
                  <c:v>0.0001</c:v>
                </c:pt>
                <c:pt idx="1">
                  <c:v>0.001</c:v>
                </c:pt>
                <c:pt idx="2">
                  <c:v>0.008</c:v>
                </c:pt>
                <c:pt idx="3">
                  <c:v>0.318</c:v>
                </c:pt>
                <c:pt idx="4">
                  <c:v>0.673</c:v>
                </c:pt>
              </c:numCache>
            </c:numRef>
          </c:val>
        </c:ser>
        <c:dLbls>
          <c:numFmt formatCode="0.0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Agreement with Glimmer on the hardest cases (%), 3B student</a:t>
            </a:r>
          </a:p>
        </c:rich>
      </c:tx>
      <c:layout/>
      <c:overlay val="0"/>
    </c:title>
    <c:autoTitleDeleted val="0"/>
    <c:plotArea>
      <c:layout/>
      <c:barChart>
        <c:barDir val="col"/>
        <c:grouping val="clustered"/>
        <c:varyColors val="0"/>
        <c:ser>
          <c:idx val="0"/>
          <c:order val="0"/>
          <c:tx>
            <c:strRef>
              <c:f>Sheet1!$B$1</c:f>
              <c:strCache>
                <c:ptCount val="1"/>
                <c:pt idx="0">
                  <c:v>Agreement on the hardest cases (%)</c:v>
                </c:pt>
              </c:strCache>
            </c:strRef>
          </c:tx>
          <c:spPr>
            <a:solidFill>
              <a:srgbClr val="0A7F44"/>
            </a:solidFill>
            <a:effectLst/>
          </c:spPr>
          <c:invertIfNegative val="0"/>
          <c:dLbls>
            <c:numFmt formatCode="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1. private calendars</c:v>
                  </c:pt>
                  <c:pt idx="1">
                    <c:v>2. + asked times</c:v>
                  </c:pt>
                  <c:pt idx="2">
                    <c:v>3. letters in time order</c:v>
                  </c:pt>
                </c:lvl>
              </c:multiLvlStrCache>
            </c:multiLvlStrRef>
          </c:cat>
          <c:val>
            <c:numRef>
              <c:f>Sheet1!$B$2:$B$4</c:f>
              <c:numCache>
                <c:formatCode>General</c:formatCode>
                <c:ptCount val="3"/>
                <c:pt idx="0">
                  <c:v>58.7</c:v>
                </c:pt>
                <c:pt idx="1">
                  <c:v>69.4</c:v>
                </c:pt>
                <c:pt idx="2">
                  <c:v>69.4</c:v>
                </c:pt>
              </c:numCache>
            </c:numRef>
          </c:val>
        </c:ser>
        <c:dLbls>
          <c:numFmt formatCode="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The served 1B, int4, by threshold (%)</a:t>
            </a:r>
          </a:p>
        </c:rich>
      </c:tx>
      <c:layout/>
      <c:overlay val="0"/>
    </c:title>
    <c:autoTitleDeleted val="0"/>
    <c:plotArea>
      <c:layout/>
      <c:lineChart>
        <c:varyColors val="0"/>
        <c:ser>
          <c:idx val="0"/>
          <c:order val="0"/>
          <c:tx>
            <c:strRef>
              <c:f>Sheet1!$B$1</c:f>
              <c:strCache>
                <c:ptCount val="1"/>
                <c:pt idx="0">
                  <c:v>Hardest: share it answers</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000" u="none">
                    <a:solidFill>
                      <a:srgbClr val="0A0A0B"/>
                    </a:solidFill>
                    <a:latin typeface="+mn-lt"/>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Hardest: agreement with Glimmer</c:v>
                </c:pt>
              </c:strCache>
            </c:strRef>
          </c:tx>
          <c:spPr>
            <a:solidFill>
              <a:srgbClr val="D1352B"/>
            </a:solidFill>
            <a:ln w="31750" cap="flat">
              <a:solidFill>
                <a:srgbClr val="D1352B"/>
              </a:solidFill>
              <a:prstDash val="solid"/>
              <a:round/>
            </a:ln>
            <a:effectLst/>
          </c:spPr>
          <c:invertIfNegative val="0"/>
          <c:dLbls>
            <c:numFmt formatCode="0" sourceLinked="0"/>
            <c:txPr>
              <a:bodyPr/>
              <a:lstStyle/>
              <a:p>
                <a:pPr>
                  <a:defRPr b="0" i="0" strike="noStrike" sz="1000" u="none">
                    <a:solidFill>
                      <a:srgbClr val="0A0A0B"/>
                    </a:solidFill>
                    <a:latin typeface="+mn-lt"/>
                  </a:defRPr>
                </a:pPr>
              </a:p>
            </c:txPr>
            <c:showLegendKey val="0"/>
            <c:showVal val="0"/>
            <c:showCatName val="0"/>
            <c:showSerName val="0"/>
            <c:showPercent val="0"/>
            <c:showBubbleSize val="0"/>
            <c:showLeaderLines val="0"/>
          </c:dLbls>
          <c:marker>
            <c:symbol val="circle"/>
            <c:size val="7"/>
            <c:spPr>
              <a:solidFill>
                <a:srgbClr val="D1352B"/>
              </a:solidFill>
              <a:ln w="9525" cap="flat">
                <a:solidFill>
                  <a:srgbClr val="D1352B"/>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ser>
          <c:idx val="2"/>
          <c:order val="2"/>
          <c:tx>
            <c:strRef>
              <c:f>Sheet1!$D$1</c:f>
              <c:strCache>
                <c:ptCount val="1"/>
                <c:pt idx="0">
                  <c:v>Test: share it answers</c:v>
                </c:pt>
              </c:strCache>
            </c:strRef>
          </c:tx>
          <c:spPr>
            <a:solidFill>
              <a:srgbClr val="7FBF9E"/>
            </a:solidFill>
            <a:ln w="31750" cap="flat">
              <a:solidFill>
                <a:srgbClr val="7FBF9E"/>
              </a:solidFill>
              <a:prstDash val="solid"/>
              <a:round/>
            </a:ln>
            <a:effectLst/>
          </c:spPr>
          <c:invertIfNegative val="0"/>
          <c:dLbls>
            <c:numFmt formatCode="0" sourceLinked="0"/>
            <c:txPr>
              <a:bodyPr/>
              <a:lstStyle/>
              <a:p>
                <a:pPr>
                  <a:defRPr b="0" i="0" strike="noStrike" sz="1000" u="none">
                    <a:solidFill>
                      <a:srgbClr val="0A0A0B"/>
                    </a:solidFill>
                    <a:latin typeface="+mn-lt"/>
                  </a:defRPr>
                </a:pPr>
              </a:p>
            </c:txPr>
            <c:showLegendKey val="0"/>
            <c:showVal val="0"/>
            <c:showCatName val="0"/>
            <c:showSerName val="0"/>
            <c:showPercent val="0"/>
            <c:showBubbleSize val="0"/>
            <c:showLeaderLines val="0"/>
          </c:dLbls>
          <c:marker>
            <c:symbol val="circle"/>
            <c:size val="7"/>
            <c:spPr>
              <a:solidFill>
                <a:srgbClr val="7FBF9E"/>
              </a:solidFill>
              <a:ln w="9525" cap="flat">
                <a:solidFill>
                  <a:srgbClr val="7FBF9E"/>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Sheet1!$D$2:$D$7</c:f>
              <c:numCache>
                <c:formatCode>General</c:formatCode>
                <c:ptCount val="6"/>
                <c:pt idx="0">
                  <c:v>100</c:v>
                </c:pt>
                <c:pt idx="1">
                  <c:v>99</c:v>
                </c:pt>
                <c:pt idx="2">
                  <c:v>96</c:v>
                </c:pt>
                <c:pt idx="3">
                  <c:v>92.6</c:v>
                </c:pt>
                <c:pt idx="4">
                  <c:v>87.4</c:v>
                </c:pt>
                <c:pt idx="5">
                  <c:v>78.4</c:v>
                </c:pt>
              </c:numCache>
            </c:numRef>
          </c:val>
          <c:smooth val="0"/>
        </c:ser>
        <c:ser>
          <c:idx val="3"/>
          <c:order val="3"/>
          <c:tx>
            <c:strRef>
              <c:f>Sheet1!$E$1</c:f>
              <c:strCache>
                <c:ptCount val="1"/>
                <c:pt idx="0">
                  <c:v>Test: agreement with Glimmer</c:v>
                </c:pt>
              </c:strCache>
            </c:strRef>
          </c:tx>
          <c:spPr>
            <a:solidFill>
              <a:srgbClr val="E59A94"/>
            </a:solidFill>
            <a:ln w="31750" cap="flat">
              <a:solidFill>
                <a:srgbClr val="E59A94"/>
              </a:solidFill>
              <a:prstDash val="solid"/>
              <a:round/>
            </a:ln>
            <a:effectLst/>
          </c:spPr>
          <c:invertIfNegative val="0"/>
          <c:dLbls>
            <c:numFmt formatCode="0" sourceLinked="0"/>
            <c:txPr>
              <a:bodyPr/>
              <a:lstStyle/>
              <a:p>
                <a:pPr>
                  <a:defRPr b="0" i="0" strike="noStrike" sz="1000" u="none">
                    <a:solidFill>
                      <a:srgbClr val="0A0A0B"/>
                    </a:solidFill>
                    <a:latin typeface="+mn-lt"/>
                  </a:defRPr>
                </a:pPr>
              </a:p>
            </c:txPr>
            <c:showLegendKey val="0"/>
            <c:showVal val="0"/>
            <c:showCatName val="0"/>
            <c:showSerName val="0"/>
            <c:showPercent val="0"/>
            <c:showBubbleSize val="0"/>
            <c:showLeaderLines val="0"/>
          </c:dLbls>
          <c:marker>
            <c:symbol val="circle"/>
            <c:size val="7"/>
            <c:spPr>
              <a:solidFill>
                <a:srgbClr val="E59A94"/>
              </a:solidFill>
              <a:ln w="9525" cap="flat">
                <a:solidFill>
                  <a:srgbClr val="E59A9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Sheet1!$E$2:$E$7</c:f>
              <c:numCache>
                <c:formatCode>General</c:formatCode>
                <c:ptCount val="6"/>
                <c:pt idx="0">
                  <c:v>89.4</c:v>
                </c:pt>
                <c:pt idx="1">
                  <c:v>89.6</c:v>
                </c:pt>
                <c:pt idx="2">
                  <c:v>89.9</c:v>
                </c:pt>
                <c:pt idx="3">
                  <c:v>90.7</c:v>
                </c:pt>
                <c:pt idx="4">
                  <c:v>90.9</c:v>
                </c:pt>
                <c:pt idx="5">
                  <c:v>90</c:v>
                </c:pt>
              </c:numCache>
            </c:numRef>
          </c:val>
          <c:smooth val="0"/>
        </c:ser>
        <c:dLbls>
          <c:numFmt formatCode="0" sourceLinked="0"/>
          <c:txPr>
            <a:bodyPr/>
            <a:lstStyle/>
            <a:p>
              <a:pPr>
                <a:defRPr b="0" i="0" strike="noStrike" sz="1000" u="none">
                  <a:solidFill>
                    <a:srgbClr val="0A0A0B"/>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5555C"/>
                    </a:solidFill>
                    <a:latin typeface="Arial"/>
                  </a:defRPr>
                </a:pPr>
                <a:r>
                  <a:rPr sz="11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555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By confidence bin (cases in brackets), %</a:t>
            </a:r>
          </a:p>
        </c:rich>
      </c:tx>
      <c:layout/>
      <c:overlay val="0"/>
    </c:title>
    <c:autoTitleDeleted val="0"/>
    <c:plotArea>
      <c:layout/>
      <c:barChart>
        <c:barDir val="col"/>
        <c:grouping val="clustered"/>
        <c:varyColors val="0"/>
        <c:ser>
          <c:idx val="0"/>
          <c:order val="0"/>
          <c:tx>
            <c:strRef>
              <c:f>Sheet1!$B$1</c:f>
              <c:strCache>
                <c:ptCount val="1"/>
                <c:pt idx="0">
                  <c:v>Its confidence (mean)</c:v>
                </c:pt>
              </c:strCache>
            </c:strRef>
          </c:tx>
          <c:spPr>
            <a:solidFill>
              <a:srgbClr val="8A8A92"/>
            </a:solidFill>
            <a:effectLst/>
          </c:spPr>
          <c:invertIfNegative val="0"/>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Sheet1!$A$2:$A$6</c:f>
              <c:multiLvlStrCache>
                <c:ptCount val="5"/>
                <c:lvl>
                  <c:pt idx="0">
                    <c:v>0.5–0.6 (15)</c:v>
                  </c:pt>
                  <c:pt idx="1">
                    <c:v>0.6–0.7 (16)</c:v>
                  </c:pt>
                  <c:pt idx="2">
                    <c:v>0.7–0.8 (21)</c:v>
                  </c:pt>
                  <c:pt idx="3">
                    <c:v>0.8–0.9 (41)</c:v>
                  </c:pt>
                  <c:pt idx="4">
                    <c:v>0.9–1.0 (404)</c:v>
                  </c:pt>
                </c:lvl>
              </c:multiLvlStrCache>
            </c:multiLvlStrRef>
          </c:cat>
          <c:val>
            <c:numRef>
              <c:f>Sheet1!$B$2:$B$6</c:f>
              <c:numCache>
                <c:formatCode>General</c:formatCode>
                <c:ptCount val="5"/>
                <c:pt idx="0">
                  <c:v>57</c:v>
                </c:pt>
                <c:pt idx="1">
                  <c:v>63.6</c:v>
                </c:pt>
                <c:pt idx="2">
                  <c:v>75.2</c:v>
                </c:pt>
                <c:pt idx="3">
                  <c:v>86.5</c:v>
                </c:pt>
                <c:pt idx="4">
                  <c:v>98.5</c:v>
                </c:pt>
              </c:numCache>
            </c:numRef>
          </c:val>
        </c:ser>
        <c:ser>
          <c:idx val="1"/>
          <c:order val="1"/>
          <c:tx>
            <c:strRef>
              <c:f>Sheet1!$C$1</c:f>
              <c:strCache>
                <c:ptCount val="1"/>
                <c:pt idx="0">
                  <c:v>How often Glimmer agreed</c:v>
                </c:pt>
              </c:strCache>
            </c:strRef>
          </c:tx>
          <c:spPr>
            <a:solidFill>
              <a:srgbClr val="0A7F44"/>
            </a:solidFill>
            <a:effectLst/>
          </c:spPr>
          <c:invertIfNegative val="0"/>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Sheet1!$A$2:$A$6</c:f>
              <c:multiLvlStrCache>
                <c:ptCount val="5"/>
                <c:lvl>
                  <c:pt idx="0">
                    <c:v>0.5–0.6 (15)</c:v>
                  </c:pt>
                  <c:pt idx="1">
                    <c:v>0.6–0.7 (16)</c:v>
                  </c:pt>
                  <c:pt idx="2">
                    <c:v>0.7–0.8 (21)</c:v>
                  </c:pt>
                  <c:pt idx="3">
                    <c:v>0.8–0.9 (41)</c:v>
                  </c:pt>
                  <c:pt idx="4">
                    <c:v>0.9–1.0 (404)</c:v>
                  </c:pt>
                </c:lvl>
              </c:multiLvlStrCache>
            </c:multiLvlStrRef>
          </c:cat>
          <c:val>
            <c:numRef>
              <c:f>Sheet1!$C$2:$C$6</c:f>
              <c:numCache>
                <c:formatCode>General</c:formatCode>
                <c:ptCount val="5"/>
                <c:pt idx="0">
                  <c:v>66.7</c:v>
                </c:pt>
                <c:pt idx="1">
                  <c:v>68.8</c:v>
                </c:pt>
                <c:pt idx="2">
                  <c:v>65.1</c:v>
                </c:pt>
                <c:pt idx="3">
                  <c:v>76.4</c:v>
                </c:pt>
                <c:pt idx="4">
                  <c:v>94.4</c:v>
                </c:pt>
              </c:numCache>
            </c:numRef>
          </c:val>
        </c:ser>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55555C"/>
                    </a:solidFill>
                    <a:latin typeface="Arial"/>
                  </a:defRPr>
                </a:pPr>
                <a:r>
                  <a:rPr sz="1100" b="0" i="0" u="none" strike="noStrike">
                    <a:solidFill>
                      <a:srgbClr val="55555C"/>
                    </a:solidFill>
                    <a:latin typeface="Arial"/>
                  </a:rPr>
                  <a:t>confidence bin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555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tokens</c:v>
                </c:pt>
              </c:strCache>
            </c:strRef>
          </c:tx>
          <c:spPr>
            <a:solidFill>
              <a:schemeClr val="accent1"/>
            </a:solidFill>
            <a:ln w="9525" cap="flat">
              <a:solidFill>
                <a:srgbClr val="F9F9F9"/>
              </a:solidFill>
              <a:prstDash val="solid"/>
              <a:round/>
            </a:ln>
            <a:effectLst/>
          </c:spPr>
          <c:dPt>
            <c:idx val="0"/>
            <c:bubble3D val="0"/>
            <c:spPr>
              <a:solidFill>
                <a:srgbClr val="D1352B"/>
              </a:solidFill>
              <a:effectLst/>
            </c:spPr>
          </c:dPt>
          <c:dPt>
            <c:idx val="1"/>
            <c:bubble3D val="0"/>
            <c:spPr>
              <a:solidFill>
                <a:srgbClr val="0A7F44"/>
              </a:solidFill>
              <a:effectLst/>
            </c:spPr>
          </c:dPt>
          <c:dLbls>
            <c:dLbl>
              <c:idx val="0"/>
              <c:numFmt formatCode="0%" sourceLinked="0"/>
              <c:spPr/>
              <c:txPr>
                <a:bodyPr/>
                <a:lstStyle/>
                <a:p>
                  <a:pPr>
                    <a:defRPr sz="10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0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reasoning</c:v>
                </c:pt>
                <c:pt idx="1">
                  <c:v>answer</c:v>
                </c:pt>
              </c:strCache>
            </c:strRef>
          </c:cat>
          <c:val>
            <c:numRef>
              <c:f>Sheet1!$B$2:$B$3</c:f>
              <c:numCache>
                <c:ptCount val="2"/>
                <c:pt idx="0">
                  <c:v>84</c:v>
                </c:pt>
                <c:pt idx="1">
                  <c:v>16</c:v>
                </c:pt>
              </c:numCache>
            </c:numRef>
          </c:val>
        </c:ser>
        <c:firstSliceAng val="0"/>
        <c:holeSize val="55"/>
      </c:doughnutChart>
      <c:spPr>
        <a:noFill/>
        <a:ln>
          <a:noFill/>
        </a:ln>
        <a:effectLst/>
      </c:spPr>
    </c:plotArea>
    <c:legend>
      <c:legendPos val="b"/>
      <c:overlay val="0"/>
      <c:txPr>
        <a:bodyPr/>
        <a:lstStyle/>
        <a:p>
          <a:pPr>
            <a:defRPr sz="900">
              <a:solidFill>
                <a:srgbClr val="55555C"/>
              </a:solidFill>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agreement</c:v>
                </c:pt>
              </c:strCache>
            </c:strRef>
          </c:tx>
          <c:spPr>
            <a:solidFill>
              <a:srgbClr val="0A7F44"/>
            </a:solidFill>
            <a:effectLst/>
          </c:spPr>
          <c:invertIfNegative val="0"/>
          <c:dLbls>
            <c:numFmt formatCode="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Sheet1!$A$2:$A$3</c:f>
              <c:multiLvlStrCache>
                <c:ptCount val="2"/>
                <c:lvl>
                  <c:pt idx="0">
                    <c:v>Glimmer vs itself</c:v>
                  </c:pt>
                  <c:pt idx="1">
                    <c:v>Our 1B</c:v>
                  </c:pt>
                </c:lvl>
              </c:multiLvlStrCache>
            </c:multiLvlStrRef>
          </c:cat>
          <c:val>
            <c:numRef>
              <c:f>Sheet1!$B$2:$B$3</c:f>
              <c:numCache>
                <c:formatCode>General</c:formatCode>
                <c:ptCount val="2"/>
                <c:pt idx="0">
                  <c:v>88.8</c:v>
                </c:pt>
                <c:pt idx="1">
                  <c:v>89.5</c:v>
                </c:pt>
              </c:numCache>
            </c:numRef>
          </c:val>
        </c:ser>
        <c:dLbls>
          <c:numFmt formatCode="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92"/>
          <c:min val="8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picks</c:v>
                </c:pt>
              </c:strCache>
            </c:strRef>
          </c:tx>
          <c:spPr>
            <a:solidFill>
              <a:schemeClr val="accent1"/>
            </a:solidFill>
            <a:ln w="9525" cap="flat">
              <a:solidFill>
                <a:srgbClr val="F9F9F9"/>
              </a:solidFill>
              <a:prstDash val="solid"/>
              <a:round/>
            </a:ln>
            <a:effectLst/>
          </c:spPr>
          <c:dPt>
            <c:idx val="0"/>
            <c:bubble3D val="0"/>
            <c:spPr>
              <a:solidFill>
                <a:srgbClr val="B26A00"/>
              </a:solidFill>
              <a:effectLst/>
            </c:spPr>
          </c:dPt>
          <c:dPt>
            <c:idx val="1"/>
            <c:bubble3D val="0"/>
            <c:spPr>
              <a:solidFill>
                <a:srgbClr val="8A8A92"/>
              </a:solidFill>
              <a:effectLst/>
            </c:spPr>
          </c:dPt>
          <c:dLbls>
            <c:dLbl>
              <c:idx val="0"/>
              <c:numFmt formatCode="0%" sourceLinked="0"/>
              <c:spPr/>
              <c:txPr>
                <a:bodyPr/>
                <a:lstStyle/>
                <a:p>
                  <a:pPr>
                    <a:defRPr sz="10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0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first listed</c:v>
                </c:pt>
                <c:pt idx="1">
                  <c:v>other</c:v>
                </c:pt>
              </c:strCache>
            </c:strRef>
          </c:cat>
          <c:val>
            <c:numRef>
              <c:f>Sheet1!$B$2:$B$3</c:f>
              <c:numCache>
                <c:ptCount val="2"/>
                <c:pt idx="0">
                  <c:v>99.5</c:v>
                </c:pt>
                <c:pt idx="1">
                  <c:v>0.5</c:v>
                </c:pt>
              </c:numCache>
            </c:numRef>
          </c:val>
        </c:ser>
        <c:firstSliceAng val="0"/>
        <c:holeSize val="55"/>
      </c:doughnutChart>
      <c:spPr>
        <a:noFill/>
        <a:ln>
          <a:noFill/>
        </a:ln>
        <a:effectLst/>
      </c:spPr>
    </c:plotArea>
    <c:legend>
      <c:legendPos val="b"/>
      <c:overlay val="0"/>
      <c:txPr>
        <a:bodyPr/>
        <a:lstStyle/>
        <a:p>
          <a:pPr>
            <a:defRPr sz="900">
              <a:solidFill>
                <a:srgbClr val="55555C"/>
              </a:solidFill>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00" b="0" i="0" u="none" strike="noStrike">
                <a:solidFill>
                  <a:srgbClr val="55555C"/>
                </a:solidFill>
                <a:latin typeface="+mn-lt"/>
              </a:defRPr>
            </a:pPr>
            <a:r>
              <a:rPr sz="900" b="0" i="0" u="none" strike="noStrike">
                <a:solidFill>
                  <a:srgbClr val="55555C"/>
                </a:solidFill>
                <a:latin typeface="+mn-lt"/>
              </a:rPr>
              <a:t>of 15 injury-care answers</a:t>
            </a:r>
          </a:p>
        </c:rich>
      </c:tx>
      <c:layout/>
      <c:overlay val="0"/>
    </c:title>
    <c:autoTitleDeleted val="0"/>
    <c:plotArea>
      <c:layout/>
      <c:barChart>
        <c:barDir val="col"/>
        <c:grouping val="clustered"/>
        <c:varyColors val="0"/>
        <c:ser>
          <c:idx val="0"/>
          <c:order val="0"/>
          <c:tx>
            <c:strRef>
              <c:f>Sheet1!$B$1</c:f>
              <c:strCache>
                <c:ptCount val="1"/>
                <c:pt idx="0">
                  <c:v>flagged</c:v>
                </c:pt>
              </c:strCache>
            </c:strRef>
          </c:tx>
          <c:spPr>
            <a:solidFill>
              <a:srgbClr val="D1352B"/>
            </a:solidFill>
            <a:effectLst/>
          </c:spPr>
          <c:invertIfNegative val="0"/>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Sheet1!$A$2:$A$3</c:f>
              <c:multiLvlStrCache>
                <c:ptCount val="2"/>
                <c:lvl>
                  <c:pt idx="0">
                    <c:v>fewest runs</c:v>
                  </c:pt>
                  <c:pt idx="1">
                    <c:v>most runs</c:v>
                  </c:pt>
                </c:lvl>
              </c:multiLvlStrCache>
            </c:multiLvlStrRef>
          </c:cat>
          <c:val>
            <c:numRef>
              <c:f>Sheet1!$B$2:$B$3</c:f>
              <c:numCache>
                <c:formatCode>General</c:formatCode>
                <c:ptCount val="2"/>
                <c:pt idx="0">
                  <c:v>6</c:v>
                </c:pt>
                <c:pt idx="1">
                  <c:v>8</c:v>
                </c:pt>
              </c:numCache>
            </c:numRef>
          </c:val>
        </c:ser>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Agreement with Glimmer over all held-out cases (%)</a:t>
            </a:r>
          </a:p>
        </c:rich>
      </c:tx>
      <c:layout/>
      <c:overlay val="0"/>
    </c:title>
    <c:autoTitleDeleted val="0"/>
    <c:plotArea>
      <c:layout/>
      <c:barChart>
        <c:barDir val="col"/>
        <c:grouping val="clustered"/>
        <c:varyColors val="0"/>
        <c:ser>
          <c:idx val="0"/>
          <c:order val="0"/>
          <c:tx>
            <c:strRef>
              <c:f>Sheet1!$B$1</c:f>
              <c:strCache>
                <c:ptCount val="1"/>
                <c:pt idx="0">
                  <c:v>Ordinary choices (500)</c:v>
                </c:pt>
              </c:strCache>
            </c:strRef>
          </c:tx>
          <c:spPr>
            <a:solidFill>
              <a:srgbClr val="8A8A92"/>
            </a:solidFill>
            <a:effectLst/>
          </c:spPr>
          <c:invertIfNegative val="0"/>
          <c:dLbls>
            <c:numFmt formatCode="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Sheet1!$A$2:$A$5</c:f>
              <c:multiLvlStrCache>
                <c:ptCount val="4"/>
                <c:lvl>
                  <c:pt idx="0">
                    <c:v>Tiny layer (27.6 KB)</c:v>
                  </c:pt>
                  <c:pt idx="1">
                    <c:v>Our 1B (0.8 GB)</c:v>
                  </c:pt>
                  <c:pt idx="2">
                    <c:v>Glimmer vs itself</c:v>
                  </c:pt>
                  <c:pt idx="3">
                    <c:v>First listed time</c:v>
                  </c:pt>
                </c:lvl>
              </c:multiLvlStrCache>
            </c:multiLvlStrRef>
          </c:cat>
          <c:val>
            <c:numRef>
              <c:f>Sheet1!$B$2:$B$5</c:f>
              <c:numCache>
                <c:formatCode>General</c:formatCode>
                <c:ptCount val="4"/>
                <c:pt idx="0">
                  <c:v>88.5</c:v>
                </c:pt>
                <c:pt idx="1">
                  <c:v>89.5</c:v>
                </c:pt>
                <c:pt idx="2">
                  <c:v>88.8</c:v>
                </c:pt>
                <c:pt idx="3">
                  <c:v>82.7</c:v>
                </c:pt>
              </c:numCache>
            </c:numRef>
          </c:val>
        </c:ser>
        <c:ser>
          <c:idx val="1"/>
          <c:order val="1"/>
          <c:tx>
            <c:strRef>
              <c:f>Sheet1!$C$1</c:f>
              <c:strCache>
                <c:ptCount val="1"/>
                <c:pt idx="0">
                  <c:v>Hardest choices (196)</c:v>
                </c:pt>
              </c:strCache>
            </c:strRef>
          </c:tx>
          <c:spPr>
            <a:solidFill>
              <a:srgbClr val="0A7F44"/>
            </a:solidFill>
            <a:effectLst/>
          </c:spPr>
          <c:invertIfNegative val="0"/>
          <c:dLbls>
            <c:numFmt formatCode="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Sheet1!$A$2:$A$5</c:f>
              <c:multiLvlStrCache>
                <c:ptCount val="4"/>
                <c:lvl>
                  <c:pt idx="0">
                    <c:v>Tiny layer (27.6 KB)</c:v>
                  </c:pt>
                  <c:pt idx="1">
                    <c:v>Our 1B (0.8 GB)</c:v>
                  </c:pt>
                  <c:pt idx="2">
                    <c:v>Glimmer vs itself</c:v>
                  </c:pt>
                  <c:pt idx="3">
                    <c:v>First listed time</c:v>
                  </c:pt>
                </c:lvl>
              </c:multiLvlStrCache>
            </c:multiLvlStrRef>
          </c:cat>
          <c:val>
            <c:numRef>
              <c:f>Sheet1!$C$2:$C$5</c:f>
              <c:numCache>
                <c:formatCode>General</c:formatCode>
                <c:ptCount val="4"/>
                <c:pt idx="0">
                  <c:v>69.4</c:v>
                </c:pt>
                <c:pt idx="1">
                  <c:v>63.3</c:v>
                </c:pt>
                <c:pt idx="2">
                  <c:v>73.5</c:v>
                </c:pt>
                <c:pt idx="3">
                  <c:v>58.2</c:v>
                </c:pt>
              </c:numCache>
            </c:numRef>
          </c:val>
        </c:ser>
        <c:dLbls>
          <c:numFmt formatCode="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555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Failures in 160 code-only runs, difficult club</a:t>
            </a:r>
          </a:p>
        </c:rich>
      </c:tx>
      <c:layout/>
      <c:overlay val="0"/>
    </c:title>
    <c:autoTitleDeleted val="0"/>
    <c:plotArea>
      <c:layout/>
      <c:barChart>
        <c:barDir val="col"/>
        <c:grouping val="clustered"/>
        <c:varyColors val="0"/>
        <c:ser>
          <c:idx val="0"/>
          <c:order val="0"/>
          <c:tx>
            <c:strRef>
              <c:f>Sheet1!$B$1</c:f>
              <c:strCache>
                <c:ptCount val="1"/>
                <c:pt idx="0">
                  <c:v>Before the fixes</c:v>
                </c:pt>
              </c:strCache>
            </c:strRef>
          </c:tx>
          <c:spPr>
            <a:solidFill>
              <a:srgbClr val="D1352B"/>
            </a:solidFill>
            <a:effectLst/>
          </c:spPr>
          <c:invertIfNegative val="0"/>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Sheet1!$A$2:$A$5</c:f>
              <c:multiLvlStrCache>
                <c:ptCount val="4"/>
                <c:lvl>
                  <c:pt idx="0">
                    <c:v>False “booked”</c:v>
                  </c:pt>
                  <c:pt idx="1">
                    <c:v>Asker left waiting</c:v>
                  </c:pt>
                  <c:pt idx="2">
                    <c:v>Searches that looped</c:v>
                  </c:pt>
                  <c:pt idx="3">
                    <c:v>Asked again after a no</c:v>
                  </c:pt>
                </c:lvl>
              </c:multiLvlStrCache>
            </c:multiLvlStrRef>
          </c:cat>
          <c:val>
            <c:numRef>
              <c:f>Sheet1!$B$2:$B$5</c:f>
              <c:numCache>
                <c:formatCode>General</c:formatCode>
                <c:ptCount val="4"/>
                <c:pt idx="0">
                  <c:v>12</c:v>
                </c:pt>
                <c:pt idx="1">
                  <c:v>19</c:v>
                </c:pt>
                <c:pt idx="2">
                  <c:v>16</c:v>
                </c:pt>
                <c:pt idx="3">
                  <c:v>19</c:v>
                </c:pt>
              </c:numCache>
            </c:numRef>
          </c:val>
        </c:ser>
        <c:ser>
          <c:idx val="1"/>
          <c:order val="1"/>
          <c:tx>
            <c:strRef>
              <c:f>Sheet1!$C$1</c:f>
              <c:strCache>
                <c:ptCount val="1"/>
                <c:pt idx="0">
                  <c:v>After</c:v>
                </c:pt>
              </c:strCache>
            </c:strRef>
          </c:tx>
          <c:spPr>
            <a:solidFill>
              <a:srgbClr val="0A7F44"/>
            </a:solidFill>
            <a:effectLst/>
          </c:spPr>
          <c:invertIfNegative val="0"/>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Sheet1!$A$2:$A$5</c:f>
              <c:multiLvlStrCache>
                <c:ptCount val="4"/>
                <c:lvl>
                  <c:pt idx="0">
                    <c:v>False “booked”</c:v>
                  </c:pt>
                  <c:pt idx="1">
                    <c:v>Asker left waiting</c:v>
                  </c:pt>
                  <c:pt idx="2">
                    <c:v>Searches that looped</c:v>
                  </c:pt>
                  <c:pt idx="3">
                    <c:v>Asked again after a no</c:v>
                  </c:pt>
                </c:lvl>
              </c:multiLvlStrCache>
            </c:multiLvlStrRef>
          </c:cat>
          <c:val>
            <c:numRef>
              <c:f>Sheet1!$C$2:$C$5</c:f>
              <c:numCache>
                <c:formatCode>General</c:formatCode>
                <c:ptCount val="4"/>
                <c:pt idx="0">
                  <c:v>0</c:v>
                </c:pt>
                <c:pt idx="1">
                  <c:v>0</c:v>
                </c:pt>
                <c:pt idx="2">
                  <c:v>0</c:v>
                </c:pt>
                <c:pt idx="3">
                  <c:v>0</c:v>
                </c:pt>
              </c:numCache>
            </c:numRef>
          </c:val>
        </c:ser>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555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With Muse Glimmer (8 requests × 4)</a:t>
            </a:r>
          </a:p>
        </c:rich>
      </c:tx>
      <c:layout/>
      <c:overlay val="0"/>
    </c:title>
    <c:autoTitleDeleted val="0"/>
    <c:plotArea>
      <c:layout/>
      <c:barChart>
        <c:barDir val="col"/>
        <c:grouping val="clustered"/>
        <c:varyColors val="0"/>
        <c:ser>
          <c:idx val="0"/>
          <c:order val="0"/>
          <c:tx>
            <c:strRef>
              <c:f>Sheet1!$B$1</c:f>
              <c:strCache>
                <c:ptCount val="1"/>
                <c:pt idx="0">
                  <c:v>Cooperative club</c:v>
                </c:pt>
              </c:strCache>
            </c:strRef>
          </c:tx>
          <c:spPr>
            <a:solidFill>
              <a:srgbClr val="8A8A92"/>
            </a:solidFill>
            <a:effectLst/>
          </c:spPr>
          <c:invertIfNegative val="0"/>
          <c:dLbls>
            <c:numFmt formatCode="0.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Sheet1!$A$2:$A$3</c:f>
              <c:multiLvlStrCache>
                <c:ptCount val="2"/>
                <c:lvl>
                  <c:pt idx="0">
                    <c:v>pass^1</c:v>
                  </c:pt>
                  <c:pt idx="1">
                    <c:v>pass^4</c:v>
                  </c:pt>
                </c:lvl>
              </c:multiLvlStrCache>
            </c:multiLvlStrRef>
          </c:cat>
          <c:val>
            <c:numRef>
              <c:f>Sheet1!$B$2:$B$3</c:f>
              <c:numCache>
                <c:formatCode>General</c:formatCode>
                <c:ptCount val="2"/>
                <c:pt idx="0">
                  <c:v>0.69</c:v>
                </c:pt>
                <c:pt idx="1">
                  <c:v>0.5</c:v>
                </c:pt>
              </c:numCache>
            </c:numRef>
          </c:val>
        </c:ser>
        <c:ser>
          <c:idx val="1"/>
          <c:order val="1"/>
          <c:tx>
            <c:strRef>
              <c:f>Sheet1!$C$1</c:f>
              <c:strCache>
                <c:ptCount val="1"/>
                <c:pt idx="0">
                  <c:v>Difficult club, before</c:v>
                </c:pt>
              </c:strCache>
            </c:strRef>
          </c:tx>
          <c:spPr>
            <a:solidFill>
              <a:srgbClr val="D1352B"/>
            </a:solidFill>
            <a:effectLst/>
          </c:spPr>
          <c:invertIfNegative val="0"/>
          <c:dLbls>
            <c:numFmt formatCode="0.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Sheet1!$A$2:$A$3</c:f>
              <c:multiLvlStrCache>
                <c:ptCount val="2"/>
                <c:lvl>
                  <c:pt idx="0">
                    <c:v>pass^1</c:v>
                  </c:pt>
                  <c:pt idx="1">
                    <c:v>pass^4</c:v>
                  </c:pt>
                </c:lvl>
              </c:multiLvlStrCache>
            </c:multiLvlStrRef>
          </c:cat>
          <c:val>
            <c:numRef>
              <c:f>Sheet1!$C$2:$C$3</c:f>
              <c:numCache>
                <c:formatCode>General</c:formatCode>
                <c:ptCount val="2"/>
                <c:pt idx="0">
                  <c:v>0.38</c:v>
                </c:pt>
                <c:pt idx="1">
                  <c:v>0.25</c:v>
                </c:pt>
              </c:numCache>
            </c:numRef>
          </c:val>
        </c:ser>
        <c:ser>
          <c:idx val="2"/>
          <c:order val="2"/>
          <c:tx>
            <c:strRef>
              <c:f>Sheet1!$D$1</c:f>
              <c:strCache>
                <c:ptCount val="1"/>
                <c:pt idx="0">
                  <c:v>Difficult club, after</c:v>
                </c:pt>
              </c:strCache>
            </c:strRef>
          </c:tx>
          <c:spPr>
            <a:solidFill>
              <a:srgbClr val="0A7F44"/>
            </a:solidFill>
            <a:effectLst/>
          </c:spPr>
          <c:invertIfNegative val="0"/>
          <c:dLbls>
            <c:numFmt formatCode="0.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Sheet1!$A$2:$A$3</c:f>
              <c:multiLvlStrCache>
                <c:ptCount val="2"/>
                <c:lvl>
                  <c:pt idx="0">
                    <c:v>pass^1</c:v>
                  </c:pt>
                  <c:pt idx="1">
                    <c:v>pass^4</c:v>
                  </c:pt>
                </c:lvl>
              </c:multiLvlStrCache>
            </c:multiLvlStrRef>
          </c:cat>
          <c:val>
            <c:numRef>
              <c:f>Sheet1!$D$2:$D$3</c:f>
              <c:numCache>
                <c:formatCode>General</c:formatCode>
                <c:ptCount val="2"/>
                <c:pt idx="0">
                  <c:v>0.47</c:v>
                </c:pt>
                <c:pt idx="1">
                  <c:v>0.38</c:v>
                </c:pt>
              </c:numCache>
            </c:numRef>
          </c:val>
        </c:ser>
        <c:dLbls>
          <c:numFmt formatCode="0.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5555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is a platform where people and agents make games together. This deck follows the technical report: impact, technical depth, Meta models, and what is not done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of 18 to 21 year olds played a sport but only 26% of 26 to 49 year olds. The top barrier, times that are hard to fit together, is 64.2%. Each barrier maps to one of Serve's helpers.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Settled when: in the group chat, when everyone has voted and the organiser posts; in Serve, when the spots fill. Someone not in the group opens the link and joins.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web a sentence becomes an invite, the players' agents agree the time, one tap books it; in Messenger the same booking, with the agent's real replies from the Messenger end-to-end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town sits on Taipei, with prices in NT$, but nothing in Serve is tied to one place or one 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October 29 and 30, 25 rounds. After every round we fixed what they found, ran the unit tests, checked the pages in a browser, deployed, and started the next round with new testers.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Rounds 1 to 5 used free-form reports before the verdict line. A few reported bugs turned out to be the test setup, not Serve. From round 21 the rule changed to core flows only, which let the loop end on a clear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from each round's requests.jsonl (video/shotcraft/public/swarm/sessions.json, video/deck/make_swarm.py). The same sessions are replayed side by side in the demo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Grouped by kind from the 25 rounds' reports (submission/agent_testing.md).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rule throughout: code computes the facts and keeps the hard rules; the models choose only among the real preferences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proposal carries each time as id, date, start, venue, court and trip, nothing else; an answer carries intent, date, start and the times that work. No agent can inject instructions into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two talks at once for one member, 11 of 12 pairs booked the member twice without holds and 0 of 12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times were ordered by how many players had them free. Now they are ordered by the chance that every player accepts.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neither gives up nor asks the player again: it asks the single yes-or-no question whose answer most raises the expected chance of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draws on the Darwin Godel Machine (tests read-only), AlphaEvolve (keep a change only when evaluators pass it), Clio (minimum cluster sizes) and CaMeL.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Arcs of about 6 to 12 degrees look like a real camera move; a learned threshold on the share of invented pixels picks the widest arc that still looks right, or falls back to a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wait the person starts shows a moving bar and a status line within 250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as measured: the card on a local copy; the hop between two machines; the student on the server CPU; the decider and Glimmer on the RTX 3090.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distil when the decider takes 0.53 s? The decider is still Glimmer and needs the GPU; the student runs on the CPU and leaves the GPU free for work only Glimmer can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the training prompts list every offered time and half only the ones Glimmer is shown. The 3B was trained the same way (44 minutes) and is kept as an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submission/results/decision_model/preds_1b_v3_decider.jsonl (bf16 predictions). Below 0.6, or if its reading of which times work differed from code's, the case would go on to the decider and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cascade is the student where it is sure and Glimmer elsewhere. Glimmer alone agrees with itself 73.5% on the hardest cases and 88.3% on the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submission/results/student_calibration.json, bf16 predictions; the served int4 picks the same option on 492 of 500 test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1B's round 4 was measured in bf16 before the VM was preempted; the chosen variant is the one with more teacher answers per case. Rationale and active selection were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findings, each measured. The order finding was measured after the report: on 196 hard cases the one-token decider picked the first listed time 99.5%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 attack cases all stopped; crash and recovery checks are on the A2A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weights run on our own GPU server so players' data stays there; the Meta Model API handles live voice, long calls, images and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report: send gate (Oralytics, EOPA), preference records (PersonaMem, Mem0), tool checks (JSONSchemaBench, ToolMaze), judging ahead (Speculative Actions), pass^k (tau-bench, Sim2Real), order (Magentic Marketplace), stretch round (CalBench).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submission/results/tiny.json. It saves 299 of 500 student calls on ordinary choices but only a few Glimmer calls, since the student already answers what it is sure of; overall agreement rises from 89.9% to 90.3%.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submission/results/sim_users_hard.json. The after runs are on main, which also has the other upgrades merged since the before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Said plainly: this is a nine-day build, validated mostly by agents and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github.com/gino6178/serve-meta-hackathon, with the full evaluation in README.md and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part of Serve and the published algorithm it follows; the numbers in brackets are the references on the last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1 to 26 are on the previous references slide (the report's own list); 27 on are the algorithms behind the distillation, the tiny layer and the agent upgrades.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turns hours of back-and-forth into one tap from each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4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86384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3703320"/>
            <a:ext cx="7863840" cy="1097280"/>
          </a:xfrm>
          <a:prstGeom prst="rect">
            <a:avLst/>
          </a:prstGeom>
          <a:noFill/>
          <a:ln/>
        </p:spPr>
        <p:txBody>
          <a:bodyPr wrap="square" rtlCol="0"/>
          <a:lstStyle>
            <a:lvl1pPr algn="l" indent="0" marL="0">
              <a:buNone/>
              <a:defRPr lang="en-US" sz="2000" dirty="0">
                <a:solidFill>
                  <a:srgbClr val="C9D6CE"/>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8A8A92"/>
                </a:solidFill>
              </a:rPr>
              <a:t>Serve · technical report</a:t>
            </a:r>
            <a:endParaRPr lang="en-US" sz="1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chart" Target="/ppt/charts/chart16.xml"/><Relationship Id="rId4" Type="http://schemas.openxmlformats.org/officeDocument/2006/relationships/chart" Target="/ppt/charts/chart17.xml"/><Relationship Id="rId5" Type="http://schemas.openxmlformats.org/officeDocument/2006/relationships/slideLayout" Target="../slideLayouts/slideLayout3.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3.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899855" y="548640"/>
            <a:ext cx="2651760" cy="5739166"/>
          </a:xfrm>
          <a:prstGeom prst="rect">
            <a:avLst/>
          </a:prstGeom>
        </p:spPr>
      </p:pic>
      <p:sp>
        <p:nvSpPr>
          <p:cNvPr id="3" name="Text 0"/>
          <p:cNvSpPr/>
          <p:nvPr>
            <p:ph idx="100" type="title" hasCustomPrompt="1"/>
          </p:nvPr>
        </p:nvSpPr>
        <p:spPr>
          <a:xfrm>
            <a:off x="548640" y="2103120"/>
            <a:ext cx="7863840" cy="1463040"/>
          </a:xfrm>
          <a:prstGeom prst="rect">
            <a:avLst/>
          </a:prstGeom>
          <a:noFill/>
          <a:ln/>
        </p:spPr>
        <p:txBody>
          <a:bodyPr wrap="square" lIns="0" tIns="0" rIns="0" bIns="0" rtlCol="0" anchor="b"/>
          <a:lstStyle/>
          <a:p>
            <a:pPr algn="l" indent="0" marL="0">
              <a:buNone/>
            </a:pPr>
            <a:r>
              <a:rPr lang="en-US" sz="4800" b="1" dirty="0">
                <a:solidFill>
                  <a:schemeClr val="bg1"/>
                </a:solidFill>
              </a:rPr>
              <a:t>Serve: Play more.</a:t>
            </a:r>
            <a:endParaRPr lang="en-US" sz="4800" dirty="0"/>
          </a:p>
          <a:p>
            <a:pPr algn="l" indent="0" marL="0">
              <a:buNone/>
            </a:pPr>
            <a:r>
              <a:rPr lang="en-US" sz="4800" b="1" dirty="0">
                <a:solidFill>
                  <a:schemeClr val="bg1"/>
                </a:solidFill>
              </a:rPr>
              <a:t>Manage less.</a:t>
            </a:r>
            <a:endParaRPr lang="en-US" sz="4800" dirty="0"/>
          </a:p>
        </p:txBody>
      </p:sp>
      <p:sp>
        <p:nvSpPr>
          <p:cNvPr id="4" name="Text 0"/>
          <p:cNvSpPr/>
          <p:nvPr>
            <p:ph idx="101" type="body" hasCustomPrompt="1"/>
          </p:nvPr>
        </p:nvSpPr>
        <p:spPr>
          <a:xfrm>
            <a:off x="548640" y="3703320"/>
            <a:ext cx="7863840" cy="1097280"/>
          </a:xfrm>
          <a:prstGeom prst="rect">
            <a:avLst/>
          </a:prstGeom>
          <a:noFill/>
          <a:ln/>
        </p:spPr>
        <p:txBody>
          <a:bodyPr wrap="square" lIns="0" tIns="0" rIns="0" bIns="0" rtlCol="0" anchor="t"/>
          <a:lstStyle/>
          <a:p>
            <a:pPr algn="l" indent="0" marL="0">
              <a:buNone/>
            </a:pPr>
            <a:r>
              <a:rPr lang="en-US" sz="2000" dirty="0">
                <a:solidFill>
                  <a:srgbClr val="C9D6CE"/>
                </a:solidFill>
              </a:rPr>
              <a:t>Technical report · Meta Global AI Developer Hackathon 2026 · Indie Developer track</a:t>
            </a:r>
            <a:endParaRPr lang="en-US" sz="2000" dirty="0"/>
          </a:p>
        </p:txBody>
      </p:sp>
      <p:sp>
        <p:nvSpPr>
          <p:cNvPr id="5" name="Text 2"/>
          <p:cNvSpPr txBox="1"/>
          <p:nvPr/>
        </p:nvSpPr>
        <p:spPr>
          <a:xfrm>
            <a:off x="548640" y="5943600"/>
            <a:ext cx="8229600" cy="365760"/>
          </a:xfrm>
          <a:prstGeom prst="rect">
            <a:avLst/>
          </a:prstGeom>
          <a:noFill/>
          <a:ln/>
        </p:spPr>
        <p:txBody>
          <a:bodyPr wrap="square" lIns="0" tIns="0" rIns="0" bIns="0" rtlCol="0" anchor="ctr"/>
          <a:lstStyle/>
          <a:p>
            <a:pPr indent="0" marL="0">
              <a:buNone/>
            </a:pPr>
            <a:r>
              <a:rPr lang="en-US" sz="1400" dirty="0">
                <a:solidFill>
                  <a:srgbClr val="9FB3A7"/>
                </a:solidFill>
              </a:rPr>
              <a:t>play.theminimallab.com · github.com/gino6178/serve-meta-hackathon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pain: people stop playing because organising is hard</a:t>
            </a:r>
            <a:endParaRPr lang="en-US" sz="2800" dirty="0"/>
          </a:p>
        </p:txBody>
      </p:sp>
      <p:graphicFrame>
        <p:nvGraphicFramePr>
          <p:cNvPr id="3" name="Chart 0" descr=""/>
          <p:cNvGraphicFramePr/>
          <p:nvPr/>
        </p:nvGraphicFramePr>
        <p:xfrm>
          <a:off x="548640" y="1280160"/>
          <a:ext cx="3291840" cy="38404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166360"/>
            <a:ext cx="3291840" cy="320040"/>
          </a:xfrm>
          <a:prstGeom prst="rect">
            <a:avLst/>
          </a:prstGeom>
          <a:noFill/>
          <a:ln/>
        </p:spPr>
        <p:txBody>
          <a:bodyPr wrap="square" lIns="0" tIns="0" rIns="0" bIns="0" rtlCol="0" anchor="t"/>
          <a:lstStyle/>
          <a:p>
            <a:pPr indent="0" marL="0">
              <a:spcAft>
                <a:spcPts val="600"/>
              </a:spcAft>
              <a:buNone/>
            </a:pPr>
            <a:r>
              <a:rPr lang="en-US" sz="1100" dirty="0">
                <a:solidFill>
                  <a:srgbClr val="55555C"/>
                </a:solidFill>
              </a:rPr>
              <a:t>NPR, RWJF and Harvard Chan poll, 2015</a:t>
            </a:r>
            <a:endParaRPr lang="en-US" sz="1100" dirty="0"/>
          </a:p>
        </p:txBody>
      </p:sp>
      <p:graphicFrame>
        <p:nvGraphicFramePr>
          <p:cNvPr id="5" name="Chart 1" descr=""/>
          <p:cNvGraphicFramePr/>
          <p:nvPr/>
        </p:nvGraphicFramePr>
        <p:xfrm>
          <a:off x="4114800" y="1280160"/>
          <a:ext cx="4846320" cy="384048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4114800" y="5166360"/>
            <a:ext cx="4846320" cy="320040"/>
          </a:xfrm>
          <a:prstGeom prst="rect">
            <a:avLst/>
          </a:prstGeom>
          <a:noFill/>
          <a:ln/>
        </p:spPr>
        <p:txBody>
          <a:bodyPr wrap="square" lIns="0" tIns="0" rIns="0" bIns="0" rtlCol="0" anchor="t"/>
          <a:lstStyle/>
          <a:p>
            <a:pPr indent="0" marL="0">
              <a:spcAft>
                <a:spcPts val="600"/>
              </a:spcAft>
              <a:buNone/>
            </a:pPr>
            <a:r>
              <a:rPr lang="en-US" sz="1100" dirty="0">
                <a:solidFill>
                  <a:srgbClr val="55555C"/>
                </a:solidFill>
              </a:rPr>
              <a:t>Sport New Zealand, Active NZ survey, 2023</a:t>
            </a:r>
            <a:endParaRPr lang="en-US" sz="1100" dirty="0"/>
          </a:p>
        </p:txBody>
      </p:sp>
      <p:sp>
        <p:nvSpPr>
          <p:cNvPr id="7" name="Shape 3"/>
          <p:cNvSpPr/>
          <p:nvPr/>
        </p:nvSpPr>
        <p:spPr>
          <a:xfrm>
            <a:off x="9235440" y="1417320"/>
            <a:ext cx="2407615" cy="1033272"/>
          </a:xfrm>
          <a:prstGeom prst="roundRect">
            <a:avLst>
              <a:gd name="adj" fmla="val 7080"/>
            </a:avLst>
          </a:prstGeom>
          <a:solidFill>
            <a:srgbClr val="E9F3EC"/>
          </a:solidFill>
          <a:ln w="12700">
            <a:solidFill>
              <a:srgbClr val="E9F3EC"/>
            </a:solidFill>
            <a:prstDash val="solid"/>
          </a:ln>
        </p:spPr>
      </p:sp>
      <p:sp>
        <p:nvSpPr>
          <p:cNvPr id="8" name="Text 4"/>
          <p:cNvSpPr txBox="1"/>
          <p:nvPr/>
        </p:nvSpPr>
        <p:spPr>
          <a:xfrm>
            <a:off x="9418320" y="1417320"/>
            <a:ext cx="2041855" cy="1033272"/>
          </a:xfrm>
          <a:prstGeom prst="rect">
            <a:avLst/>
          </a:prstGeom>
          <a:noFill/>
          <a:ln/>
        </p:spPr>
        <p:txBody>
          <a:bodyPr wrap="square" lIns="0" tIns="0" rIns="0" bIns="0" rtlCol="0" anchor="ctr"/>
          <a:lstStyle/>
          <a:p>
            <a:pPr indent="0" marL="0">
              <a:buNone/>
            </a:pPr>
            <a:r>
              <a:rPr lang="en-US" sz="1600" b="1" dirty="0">
                <a:solidFill>
                  <a:srgbClr val="0A7F44"/>
                </a:solidFill>
              </a:rPr>
              <a:t>Talk</a:t>
            </a:r>
            <a:endParaRPr lang="en-US" sz="1600" dirty="0"/>
          </a:p>
          <a:p>
            <a:pPr indent="0" marL="0">
              <a:buNone/>
            </a:pPr>
            <a:r>
              <a:rPr lang="en-US" sz="1200" dirty="0">
                <a:solidFill>
                  <a:srgbClr val="0A0A0B"/>
                </a:solidFill>
              </a:rPr>
              <a:t>fits the time: the agents agree it among themselves</a:t>
            </a:r>
            <a:endParaRPr lang="en-US" sz="1600" dirty="0"/>
          </a:p>
        </p:txBody>
      </p:sp>
      <p:sp>
        <p:nvSpPr>
          <p:cNvPr id="9" name="Shape 5"/>
          <p:cNvSpPr/>
          <p:nvPr/>
        </p:nvSpPr>
        <p:spPr>
          <a:xfrm>
            <a:off x="9235440" y="2633472"/>
            <a:ext cx="2407615" cy="1033272"/>
          </a:xfrm>
          <a:prstGeom prst="roundRect">
            <a:avLst>
              <a:gd name="adj" fmla="val 7080"/>
            </a:avLst>
          </a:prstGeom>
          <a:solidFill>
            <a:srgbClr val="E9F3EC"/>
          </a:solidFill>
          <a:ln w="12700">
            <a:solidFill>
              <a:srgbClr val="E9F3EC"/>
            </a:solidFill>
            <a:prstDash val="solid"/>
          </a:ln>
        </p:spPr>
      </p:sp>
      <p:sp>
        <p:nvSpPr>
          <p:cNvPr id="10" name="Text 6"/>
          <p:cNvSpPr txBox="1"/>
          <p:nvPr/>
        </p:nvSpPr>
        <p:spPr>
          <a:xfrm>
            <a:off x="9418320" y="2633472"/>
            <a:ext cx="2041855" cy="1033272"/>
          </a:xfrm>
          <a:prstGeom prst="rect">
            <a:avLst/>
          </a:prstGeom>
          <a:noFill/>
          <a:ln/>
        </p:spPr>
        <p:txBody>
          <a:bodyPr wrap="square" lIns="0" tIns="0" rIns="0" bIns="0" rtlCol="0" anchor="ctr"/>
          <a:lstStyle/>
          <a:p>
            <a:pPr indent="0" marL="0">
              <a:buNone/>
            </a:pPr>
            <a:r>
              <a:rPr lang="en-US" sz="1600" b="1" dirty="0">
                <a:solidFill>
                  <a:srgbClr val="0A7F44"/>
                </a:solidFill>
              </a:rPr>
              <a:t>Match</a:t>
            </a:r>
            <a:endParaRPr lang="en-US" sz="1600" dirty="0"/>
          </a:p>
          <a:p>
            <a:pPr indent="0" marL="0">
              <a:buNone/>
            </a:pPr>
            <a:r>
              <a:rPr lang="en-US" sz="1200" dirty="0">
                <a:solidFill>
                  <a:srgbClr val="0A0A0B"/>
                </a:solidFill>
              </a:rPr>
              <a:t>keeps the habit: it asks first, at the player's usual times</a:t>
            </a:r>
            <a:endParaRPr lang="en-US" sz="1600" dirty="0"/>
          </a:p>
        </p:txBody>
      </p:sp>
      <p:sp>
        <p:nvSpPr>
          <p:cNvPr id="11" name="Shape 7"/>
          <p:cNvSpPr/>
          <p:nvPr/>
        </p:nvSpPr>
        <p:spPr>
          <a:xfrm>
            <a:off x="9235440" y="3849624"/>
            <a:ext cx="2407615" cy="1033272"/>
          </a:xfrm>
          <a:prstGeom prst="roundRect">
            <a:avLst>
              <a:gd name="adj" fmla="val 7080"/>
            </a:avLst>
          </a:prstGeom>
          <a:solidFill>
            <a:srgbClr val="E9F3EC"/>
          </a:solidFill>
          <a:ln w="12700">
            <a:solidFill>
              <a:srgbClr val="E9F3EC"/>
            </a:solidFill>
            <a:prstDash val="solid"/>
          </a:ln>
        </p:spPr>
      </p:sp>
      <p:sp>
        <p:nvSpPr>
          <p:cNvPr id="12" name="Text 8"/>
          <p:cNvSpPr txBox="1"/>
          <p:nvPr/>
        </p:nvSpPr>
        <p:spPr>
          <a:xfrm>
            <a:off x="9418320" y="3849624"/>
            <a:ext cx="2041855" cy="1033272"/>
          </a:xfrm>
          <a:prstGeom prst="rect">
            <a:avLst/>
          </a:prstGeom>
          <a:noFill/>
          <a:ln/>
        </p:spPr>
        <p:txBody>
          <a:bodyPr wrap="square" lIns="0" tIns="0" rIns="0" bIns="0" rtlCol="0" anchor="ctr"/>
          <a:lstStyle/>
          <a:p>
            <a:pPr indent="0" marL="0">
              <a:buNone/>
            </a:pPr>
            <a:r>
              <a:rPr lang="en-US" sz="1600" b="1" dirty="0">
                <a:solidFill>
                  <a:srgbClr val="0A7F44"/>
                </a:solidFill>
              </a:rPr>
              <a:t>The agents</a:t>
            </a:r>
            <a:endParaRPr lang="en-US" sz="1600" dirty="0"/>
          </a:p>
          <a:p>
            <a:pPr indent="0" marL="0">
              <a:buNone/>
            </a:pPr>
            <a:r>
              <a:rPr lang="en-US" sz="1200" dirty="0">
                <a:solidFill>
                  <a:srgbClr val="0A0A0B"/>
                </a:solidFill>
              </a:rPr>
              <a:t>find the people: free players nearby, ranked</a:t>
            </a:r>
            <a:endParaRPr lang="en-US" sz="1600" dirty="0"/>
          </a:p>
        </p:txBody>
      </p:sp>
      <p:sp>
        <p:nvSpPr>
          <p:cNvPr id="13" name="Text 9"/>
          <p:cNvSpPr txBox="1"/>
          <p:nvPr/>
        </p:nvSpPr>
        <p:spPr>
          <a:xfrm>
            <a:off x="548640" y="5715000"/>
            <a:ext cx="11094415" cy="457200"/>
          </a:xfrm>
          <a:prstGeom prst="rect">
            <a:avLst/>
          </a:prstGeom>
          <a:noFill/>
          <a:ln/>
        </p:spPr>
        <p:txBody>
          <a:bodyPr wrap="square" lIns="0" tIns="0" rIns="0" bIns="0" rtlCol="0" anchor="t"/>
          <a:lstStyle/>
          <a:p>
            <a:pPr indent="0" marL="0">
              <a:spcAft>
                <a:spcPts val="600"/>
              </a:spcAft>
              <a:buNone/>
            </a:pPr>
            <a:r>
              <a:rPr lang="en-US" sz="1500" dirty="0">
                <a:solidFill>
                  <a:srgbClr val="0A0A0B"/>
                </a:solidFill>
              </a:rPr>
              <a:t>Most people who stop have not lost interest: they are worn down by organising. Serve turns hours of back-and-forth into </a:t>
            </a:r>
            <a:pPr indent="0" marL="0">
              <a:spcAft>
                <a:spcPts val="600"/>
              </a:spcAft>
              <a:buNone/>
            </a:pPr>
            <a:r>
              <a:rPr lang="en-US" sz="1500" b="1" dirty="0">
                <a:solidFill>
                  <a:srgbClr val="0A7F44"/>
                </a:solidFill>
              </a:rPr>
              <a:t>one yes from each person.</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group-chat poll against Serve, step by step</a:t>
            </a:r>
            <a:endParaRPr lang="en-US" sz="2800" dirty="0"/>
          </a:p>
        </p:txBody>
      </p:sp>
      <p:sp>
        <p:nvSpPr>
          <p:cNvPr id="3" name="Text 1"/>
          <p:cNvSpPr txBox="1"/>
          <p:nvPr/>
        </p:nvSpPr>
        <p:spPr>
          <a:xfrm>
            <a:off x="548640" y="1234440"/>
            <a:ext cx="5212080" cy="411480"/>
          </a:xfrm>
          <a:prstGeom prst="rect">
            <a:avLst/>
          </a:prstGeom>
          <a:noFill/>
          <a:ln/>
        </p:spPr>
        <p:txBody>
          <a:bodyPr wrap="square" lIns="0" tIns="0" rIns="0" bIns="0" rtlCol="0" anchor="ctr"/>
          <a:lstStyle/>
          <a:p>
            <a:pPr indent="0" marL="0">
              <a:buNone/>
            </a:pPr>
            <a:r>
              <a:rPr lang="en-US" sz="1800" b="1" dirty="0">
                <a:solidFill>
                  <a:srgbClr val="55555C"/>
                </a:solidFill>
              </a:rPr>
              <a:t>Group chat: the organiser does everything</a:t>
            </a:r>
            <a:endParaRPr lang="en-US" sz="1800" dirty="0"/>
          </a:p>
        </p:txBody>
      </p:sp>
      <p:sp>
        <p:nvSpPr>
          <p:cNvPr id="4" name="Shape 2"/>
          <p:cNvSpPr/>
          <p:nvPr/>
        </p:nvSpPr>
        <p:spPr>
          <a:xfrm>
            <a:off x="1371600" y="1783080"/>
            <a:ext cx="4389120" cy="566928"/>
          </a:xfrm>
          <a:prstGeom prst="roundRect">
            <a:avLst>
              <a:gd name="adj" fmla="val 19355"/>
            </a:avLst>
          </a:prstGeom>
          <a:solidFill>
            <a:srgbClr val="E4E6E5"/>
          </a:solidFill>
          <a:ln w="12700">
            <a:solidFill>
              <a:srgbClr val="E4E6E5"/>
            </a:solidFill>
            <a:prstDash val="solid"/>
          </a:ln>
        </p:spPr>
      </p:sp>
      <p:sp>
        <p:nvSpPr>
          <p:cNvPr id="5" name="Text 3"/>
          <p:cNvSpPr txBox="1"/>
          <p:nvPr/>
        </p:nvSpPr>
        <p:spPr>
          <a:xfrm>
            <a:off x="1554480" y="1783080"/>
            <a:ext cx="4023360" cy="566928"/>
          </a:xfrm>
          <a:prstGeom prst="rect">
            <a:avLst/>
          </a:prstGeom>
          <a:noFill/>
          <a:ln/>
        </p:spPr>
        <p:txBody>
          <a:bodyPr wrap="square" lIns="0" tIns="0" rIns="0" bIns="0" rtlCol="0" anchor="ctr"/>
          <a:lstStyle/>
          <a:p>
            <a:pPr indent="0" marL="0">
              <a:buNone/>
            </a:pPr>
            <a:r>
              <a:rPr lang="en-US" sz="1300" dirty="0">
                <a:solidFill>
                  <a:srgbClr val="0A0A0B"/>
                </a:solidFill>
              </a:rPr>
              <a:t>Anyone up for badminton this week?</a:t>
            </a:r>
            <a:endParaRPr lang="en-US" sz="1300" dirty="0"/>
          </a:p>
        </p:txBody>
      </p:sp>
      <p:sp>
        <p:nvSpPr>
          <p:cNvPr id="6" name="Shape 4"/>
          <p:cNvSpPr/>
          <p:nvPr/>
        </p:nvSpPr>
        <p:spPr>
          <a:xfrm>
            <a:off x="548640" y="2496312"/>
            <a:ext cx="4389120" cy="566928"/>
          </a:xfrm>
          <a:prstGeom prst="roundRect">
            <a:avLst>
              <a:gd name="adj" fmla="val 19355"/>
            </a:avLst>
          </a:prstGeom>
          <a:solidFill>
            <a:srgbClr val="F3F6F4"/>
          </a:solidFill>
          <a:ln w="12700">
            <a:solidFill>
              <a:srgbClr val="F3F6F4"/>
            </a:solidFill>
            <a:prstDash val="solid"/>
          </a:ln>
        </p:spPr>
      </p:sp>
      <p:sp>
        <p:nvSpPr>
          <p:cNvPr id="7" name="Text 5"/>
          <p:cNvSpPr txBox="1"/>
          <p:nvPr/>
        </p:nvSpPr>
        <p:spPr>
          <a:xfrm>
            <a:off x="731520" y="2496312"/>
            <a:ext cx="4023360" cy="566928"/>
          </a:xfrm>
          <a:prstGeom prst="rect">
            <a:avLst/>
          </a:prstGeom>
          <a:noFill/>
          <a:ln/>
        </p:spPr>
        <p:txBody>
          <a:bodyPr wrap="square" lIns="0" tIns="0" rIns="0" bIns="0" rtlCol="0" anchor="ctr"/>
          <a:lstStyle/>
          <a:p>
            <a:pPr indent="0" marL="0">
              <a:buNone/>
            </a:pPr>
            <a:r>
              <a:rPr lang="en-US" sz="1300" dirty="0">
                <a:solidFill>
                  <a:srgbClr val="0A0A0B"/>
                </a:solidFill>
              </a:rPr>
              <a:t>Maybe Thu? / Sat works / not Fri</a:t>
            </a:r>
            <a:endParaRPr lang="en-US" sz="1300" dirty="0"/>
          </a:p>
        </p:txBody>
      </p:sp>
      <p:sp>
        <p:nvSpPr>
          <p:cNvPr id="8" name="Shape 6"/>
          <p:cNvSpPr/>
          <p:nvPr/>
        </p:nvSpPr>
        <p:spPr>
          <a:xfrm>
            <a:off x="1371600" y="3209544"/>
            <a:ext cx="4389120" cy="566928"/>
          </a:xfrm>
          <a:prstGeom prst="roundRect">
            <a:avLst>
              <a:gd name="adj" fmla="val 19355"/>
            </a:avLst>
          </a:prstGeom>
          <a:solidFill>
            <a:srgbClr val="E4E6E5"/>
          </a:solidFill>
          <a:ln w="12700">
            <a:solidFill>
              <a:srgbClr val="E4E6E5"/>
            </a:solidFill>
            <a:prstDash val="solid"/>
          </a:ln>
        </p:spPr>
      </p:sp>
      <p:sp>
        <p:nvSpPr>
          <p:cNvPr id="9" name="Text 7"/>
          <p:cNvSpPr txBox="1"/>
          <p:nvPr/>
        </p:nvSpPr>
        <p:spPr>
          <a:xfrm>
            <a:off x="1554480" y="3209544"/>
            <a:ext cx="4023360" cy="566928"/>
          </a:xfrm>
          <a:prstGeom prst="rect">
            <a:avLst/>
          </a:prstGeom>
          <a:noFill/>
          <a:ln/>
        </p:spPr>
        <p:txBody>
          <a:bodyPr wrap="square" lIns="0" tIns="0" rIns="0" bIns="0" rtlCol="0" anchor="ctr"/>
          <a:lstStyle/>
          <a:p>
            <a:pPr indent="0" marL="0">
              <a:buNone/>
            </a:pPr>
            <a:r>
              <a:rPr lang="en-US" sz="1300" dirty="0">
                <a:solidFill>
                  <a:srgbClr val="0A0A0B"/>
                </a:solidFill>
              </a:rPr>
              <a:t>Poll: Tue 19 · Thu 20 · Sat 10</a:t>
            </a:r>
            <a:endParaRPr lang="en-US" sz="1300" dirty="0"/>
          </a:p>
        </p:txBody>
      </p:sp>
      <p:sp>
        <p:nvSpPr>
          <p:cNvPr id="10" name="Shape 8"/>
          <p:cNvSpPr/>
          <p:nvPr/>
        </p:nvSpPr>
        <p:spPr>
          <a:xfrm>
            <a:off x="548640" y="3922776"/>
            <a:ext cx="4389120" cy="566928"/>
          </a:xfrm>
          <a:prstGeom prst="roundRect">
            <a:avLst>
              <a:gd name="adj" fmla="val 19355"/>
            </a:avLst>
          </a:prstGeom>
          <a:solidFill>
            <a:srgbClr val="F3F6F4"/>
          </a:solidFill>
          <a:ln w="12700">
            <a:solidFill>
              <a:srgbClr val="F3F6F4"/>
            </a:solidFill>
            <a:prstDash val="solid"/>
          </a:ln>
        </p:spPr>
      </p:sp>
      <p:sp>
        <p:nvSpPr>
          <p:cNvPr id="11" name="Text 9"/>
          <p:cNvSpPr txBox="1"/>
          <p:nvPr/>
        </p:nvSpPr>
        <p:spPr>
          <a:xfrm>
            <a:off x="731520" y="3922776"/>
            <a:ext cx="4023360" cy="566928"/>
          </a:xfrm>
          <a:prstGeom prst="rect">
            <a:avLst/>
          </a:prstGeom>
          <a:noFill/>
          <a:ln/>
        </p:spPr>
        <p:txBody>
          <a:bodyPr wrap="square" lIns="0" tIns="0" rIns="0" bIns="0" rtlCol="0" anchor="ctr"/>
          <a:lstStyle/>
          <a:p>
            <a:pPr indent="0" marL="0">
              <a:buNone/>
            </a:pPr>
            <a:r>
              <a:rPr lang="en-US" sz="1300" dirty="0">
                <a:solidFill>
                  <a:srgbClr val="0A0A0B"/>
                </a:solidFill>
              </a:rPr>
              <a:t>Votes trickle in over a day</a:t>
            </a:r>
            <a:endParaRPr lang="en-US" sz="1300" dirty="0"/>
          </a:p>
        </p:txBody>
      </p:sp>
      <p:sp>
        <p:nvSpPr>
          <p:cNvPr id="12" name="Shape 10"/>
          <p:cNvSpPr/>
          <p:nvPr/>
        </p:nvSpPr>
        <p:spPr>
          <a:xfrm>
            <a:off x="1371600" y="4636008"/>
            <a:ext cx="4389120" cy="566928"/>
          </a:xfrm>
          <a:prstGeom prst="roundRect">
            <a:avLst>
              <a:gd name="adj" fmla="val 19355"/>
            </a:avLst>
          </a:prstGeom>
          <a:solidFill>
            <a:srgbClr val="E4E6E5"/>
          </a:solidFill>
          <a:ln w="12700">
            <a:solidFill>
              <a:srgbClr val="E4E6E5"/>
            </a:solidFill>
            <a:prstDash val="solid"/>
          </a:ln>
        </p:spPr>
      </p:sp>
      <p:sp>
        <p:nvSpPr>
          <p:cNvPr id="13" name="Text 11"/>
          <p:cNvSpPr txBox="1"/>
          <p:nvPr/>
        </p:nvSpPr>
        <p:spPr>
          <a:xfrm>
            <a:off x="1554480" y="4636008"/>
            <a:ext cx="4023360" cy="566928"/>
          </a:xfrm>
          <a:prstGeom prst="rect">
            <a:avLst/>
          </a:prstGeom>
          <a:noFill/>
          <a:ln/>
        </p:spPr>
        <p:txBody>
          <a:bodyPr wrap="square" lIns="0" tIns="0" rIns="0" bIns="0" rtlCol="0" anchor="ctr"/>
          <a:lstStyle/>
          <a:p>
            <a:pPr indent="0" marL="0">
              <a:buNone/>
            </a:pPr>
            <a:r>
              <a:rPr lang="en-US" sz="1300" dirty="0">
                <a:solidFill>
                  <a:srgbClr val="0A0A0B"/>
                </a:solidFill>
              </a:rPr>
              <a:t>Books the court, posts the result</a:t>
            </a:r>
            <a:endParaRPr lang="en-US" sz="1300" dirty="0"/>
          </a:p>
        </p:txBody>
      </p:sp>
      <p:sp>
        <p:nvSpPr>
          <p:cNvPr id="14" name="Shape 12"/>
          <p:cNvSpPr/>
          <p:nvPr/>
        </p:nvSpPr>
        <p:spPr>
          <a:xfrm>
            <a:off x="1371600" y="5349240"/>
            <a:ext cx="4389120" cy="566928"/>
          </a:xfrm>
          <a:prstGeom prst="roundRect">
            <a:avLst>
              <a:gd name="adj" fmla="val 19355"/>
            </a:avLst>
          </a:prstGeom>
          <a:solidFill>
            <a:srgbClr val="E4E6E5"/>
          </a:solidFill>
          <a:ln w="12700">
            <a:solidFill>
              <a:srgbClr val="E4E6E5"/>
            </a:solidFill>
            <a:prstDash val="solid"/>
          </a:ln>
        </p:spPr>
      </p:sp>
      <p:sp>
        <p:nvSpPr>
          <p:cNvPr id="15" name="Text 13"/>
          <p:cNvSpPr txBox="1"/>
          <p:nvPr/>
        </p:nvSpPr>
        <p:spPr>
          <a:xfrm>
            <a:off x="1554480" y="5349240"/>
            <a:ext cx="4023360" cy="566928"/>
          </a:xfrm>
          <a:prstGeom prst="rect">
            <a:avLst/>
          </a:prstGeom>
          <a:noFill/>
          <a:ln/>
        </p:spPr>
        <p:txBody>
          <a:bodyPr wrap="square" lIns="0" tIns="0" rIns="0" bIns="0" rtlCol="0" anchor="ctr"/>
          <a:lstStyle/>
          <a:p>
            <a:pPr indent="0" marL="0">
              <a:buNone/>
            </a:pPr>
            <a:r>
              <a:rPr lang="en-US" sz="1300" dirty="0">
                <a:solidFill>
                  <a:srgbClr val="0A0A0B"/>
                </a:solidFill>
              </a:rPr>
              <a:t>Someone new? Add them to the chat first</a:t>
            </a:r>
            <a:endParaRPr lang="en-US" sz="1300" dirty="0"/>
          </a:p>
        </p:txBody>
      </p:sp>
      <p:sp>
        <p:nvSpPr>
          <p:cNvPr id="16" name="Text 14"/>
          <p:cNvSpPr txBox="1"/>
          <p:nvPr/>
        </p:nvSpPr>
        <p:spPr>
          <a:xfrm>
            <a:off x="6400800" y="1234440"/>
            <a:ext cx="5242255" cy="411480"/>
          </a:xfrm>
          <a:prstGeom prst="rect">
            <a:avLst/>
          </a:prstGeom>
          <a:noFill/>
          <a:ln/>
        </p:spPr>
        <p:txBody>
          <a:bodyPr wrap="square" lIns="0" tIns="0" rIns="0" bIns="0" rtlCol="0" anchor="ctr"/>
          <a:lstStyle/>
          <a:p>
            <a:pPr indent="0" marL="0">
              <a:buNone/>
            </a:pPr>
            <a:r>
              <a:rPr lang="en-US" sz="1800" b="1" dirty="0">
                <a:solidFill>
                  <a:srgbClr val="0A7F44"/>
                </a:solidFill>
              </a:rPr>
              <a:t>Serve: one sentence, one tap each</a:t>
            </a:r>
            <a:endParaRPr lang="en-US" sz="1800" dirty="0"/>
          </a:p>
        </p:txBody>
      </p:sp>
      <p:sp>
        <p:nvSpPr>
          <p:cNvPr id="17" name="Shape 15"/>
          <p:cNvSpPr/>
          <p:nvPr/>
        </p:nvSpPr>
        <p:spPr>
          <a:xfrm>
            <a:off x="7223760" y="1783080"/>
            <a:ext cx="4419295" cy="566928"/>
          </a:xfrm>
          <a:prstGeom prst="roundRect">
            <a:avLst>
              <a:gd name="adj" fmla="val 19355"/>
            </a:avLst>
          </a:prstGeom>
          <a:solidFill>
            <a:srgbClr val="0A7F44"/>
          </a:solidFill>
          <a:ln w="12700">
            <a:solidFill>
              <a:srgbClr val="0A7F44"/>
            </a:solidFill>
            <a:prstDash val="solid"/>
          </a:ln>
        </p:spPr>
      </p:sp>
      <p:sp>
        <p:nvSpPr>
          <p:cNvPr id="18" name="Text 16"/>
          <p:cNvSpPr txBox="1"/>
          <p:nvPr/>
        </p:nvSpPr>
        <p:spPr>
          <a:xfrm>
            <a:off x="7406640" y="1783080"/>
            <a:ext cx="4053535" cy="566928"/>
          </a:xfrm>
          <a:prstGeom prst="rect">
            <a:avLst/>
          </a:prstGeom>
          <a:noFill/>
          <a:ln/>
        </p:spPr>
        <p:txBody>
          <a:bodyPr wrap="square" lIns="0" tIns="0" rIns="0" bIns="0" rtlCol="0" anchor="ctr"/>
          <a:lstStyle/>
          <a:p>
            <a:pPr indent="0" marL="0">
              <a:buNone/>
            </a:pPr>
            <a:r>
              <a:rPr lang="en-US" sz="1300" dirty="0">
                <a:solidFill>
                  <a:srgbClr val="FFFFFF"/>
                </a:solidFill>
              </a:rPr>
              <a:t>“Doubles on Saturday”</a:t>
            </a:r>
            <a:endParaRPr lang="en-US" sz="1300" dirty="0"/>
          </a:p>
        </p:txBody>
      </p:sp>
      <p:sp>
        <p:nvSpPr>
          <p:cNvPr id="19" name="Shape 17"/>
          <p:cNvSpPr/>
          <p:nvPr/>
        </p:nvSpPr>
        <p:spPr>
          <a:xfrm>
            <a:off x="6400800" y="2496312"/>
            <a:ext cx="4419295" cy="566928"/>
          </a:xfrm>
          <a:prstGeom prst="roundRect">
            <a:avLst>
              <a:gd name="adj" fmla="val 19355"/>
            </a:avLst>
          </a:prstGeom>
          <a:solidFill>
            <a:srgbClr val="F3F6F4"/>
          </a:solidFill>
          <a:ln w="12700">
            <a:solidFill>
              <a:srgbClr val="F3F6F4"/>
            </a:solidFill>
            <a:prstDash val="solid"/>
          </a:ln>
        </p:spPr>
      </p:sp>
      <p:sp>
        <p:nvSpPr>
          <p:cNvPr id="20" name="Text 18"/>
          <p:cNvSpPr txBox="1"/>
          <p:nvPr/>
        </p:nvSpPr>
        <p:spPr>
          <a:xfrm>
            <a:off x="6583680" y="2496312"/>
            <a:ext cx="4053535" cy="566928"/>
          </a:xfrm>
          <a:prstGeom prst="rect">
            <a:avLst/>
          </a:prstGeom>
          <a:noFill/>
          <a:ln/>
        </p:spPr>
        <p:txBody>
          <a:bodyPr wrap="square" lIns="0" tIns="0" rIns="0" bIns="0" rtlCol="0" anchor="ctr"/>
          <a:lstStyle/>
          <a:p>
            <a:pPr indent="0" marL="0">
              <a:buNone/>
            </a:pPr>
            <a:r>
              <a:rPr lang="en-US" sz="1300" dirty="0">
                <a:solidFill>
                  <a:srgbClr val="0A0A0B"/>
                </a:solidFill>
              </a:rPr>
              <a:t>The card: the day, the nearest court, 7 ms</a:t>
            </a:r>
            <a:endParaRPr lang="en-US" sz="1300" dirty="0"/>
          </a:p>
        </p:txBody>
      </p:sp>
      <p:sp>
        <p:nvSpPr>
          <p:cNvPr id="21" name="Shape 19"/>
          <p:cNvSpPr/>
          <p:nvPr/>
        </p:nvSpPr>
        <p:spPr>
          <a:xfrm>
            <a:off x="6400800" y="3209544"/>
            <a:ext cx="4419295" cy="566928"/>
          </a:xfrm>
          <a:prstGeom prst="roundRect">
            <a:avLst>
              <a:gd name="adj" fmla="val 19355"/>
            </a:avLst>
          </a:prstGeom>
          <a:solidFill>
            <a:srgbClr val="F3F6F4"/>
          </a:solidFill>
          <a:ln w="12700">
            <a:solidFill>
              <a:srgbClr val="F3F6F4"/>
            </a:solidFill>
            <a:prstDash val="solid"/>
          </a:ln>
        </p:spPr>
      </p:sp>
      <p:sp>
        <p:nvSpPr>
          <p:cNvPr id="22" name="Text 20"/>
          <p:cNvSpPr txBox="1"/>
          <p:nvPr/>
        </p:nvSpPr>
        <p:spPr>
          <a:xfrm>
            <a:off x="6583680" y="3209544"/>
            <a:ext cx="4053535" cy="566928"/>
          </a:xfrm>
          <a:prstGeom prst="rect">
            <a:avLst/>
          </a:prstGeom>
          <a:noFill/>
          <a:ln/>
        </p:spPr>
        <p:txBody>
          <a:bodyPr wrap="square" lIns="0" tIns="0" rIns="0" bIns="0" rtlCol="0" anchor="ctr"/>
          <a:lstStyle/>
          <a:p>
            <a:pPr indent="0" marL="0">
              <a:buNone/>
            </a:pPr>
            <a:r>
              <a:rPr lang="en-US" sz="1300" dirty="0">
                <a:solidFill>
                  <a:srgbClr val="0A0A0B"/>
                </a:solidFill>
              </a:rPr>
              <a:t>The players' agents agree the time in the background</a:t>
            </a:r>
            <a:endParaRPr lang="en-US" sz="1300" dirty="0"/>
          </a:p>
        </p:txBody>
      </p:sp>
      <p:sp>
        <p:nvSpPr>
          <p:cNvPr id="23" name="Shape 21"/>
          <p:cNvSpPr/>
          <p:nvPr/>
        </p:nvSpPr>
        <p:spPr>
          <a:xfrm>
            <a:off x="7223760" y="3922776"/>
            <a:ext cx="4419295" cy="566928"/>
          </a:xfrm>
          <a:prstGeom prst="roundRect">
            <a:avLst>
              <a:gd name="adj" fmla="val 19355"/>
            </a:avLst>
          </a:prstGeom>
          <a:solidFill>
            <a:srgbClr val="0A7F44"/>
          </a:solidFill>
          <a:ln w="12700">
            <a:solidFill>
              <a:srgbClr val="0A7F44"/>
            </a:solidFill>
            <a:prstDash val="solid"/>
          </a:ln>
        </p:spPr>
      </p:sp>
      <p:sp>
        <p:nvSpPr>
          <p:cNvPr id="24" name="Text 22"/>
          <p:cNvSpPr txBox="1"/>
          <p:nvPr/>
        </p:nvSpPr>
        <p:spPr>
          <a:xfrm>
            <a:off x="7406640" y="3922776"/>
            <a:ext cx="4053535" cy="566928"/>
          </a:xfrm>
          <a:prstGeom prst="rect">
            <a:avLst/>
          </a:prstGeom>
          <a:noFill/>
          <a:ln/>
        </p:spPr>
        <p:txBody>
          <a:bodyPr wrap="square" lIns="0" tIns="0" rIns="0" bIns="0" rtlCol="0" anchor="ctr"/>
          <a:lstStyle/>
          <a:p>
            <a:pPr indent="0" marL="0">
              <a:buNone/>
            </a:pPr>
            <a:r>
              <a:rPr lang="en-US" sz="1300" dirty="0">
                <a:solidFill>
                  <a:srgbClr val="FFFFFF"/>
                </a:solidFill>
              </a:rPr>
              <a:t>Each person taps once: one yes</a:t>
            </a:r>
            <a:endParaRPr lang="en-US" sz="1300" dirty="0"/>
          </a:p>
        </p:txBody>
      </p:sp>
      <p:sp>
        <p:nvSpPr>
          <p:cNvPr id="25" name="Shape 23"/>
          <p:cNvSpPr/>
          <p:nvPr/>
        </p:nvSpPr>
        <p:spPr>
          <a:xfrm>
            <a:off x="6400800" y="4636008"/>
            <a:ext cx="4419295" cy="566928"/>
          </a:xfrm>
          <a:prstGeom prst="roundRect">
            <a:avLst>
              <a:gd name="adj" fmla="val 19355"/>
            </a:avLst>
          </a:prstGeom>
          <a:solidFill>
            <a:srgbClr val="F3F6F4"/>
          </a:solidFill>
          <a:ln w="12700">
            <a:solidFill>
              <a:srgbClr val="F3F6F4"/>
            </a:solidFill>
            <a:prstDash val="solid"/>
          </a:ln>
        </p:spPr>
      </p:sp>
      <p:sp>
        <p:nvSpPr>
          <p:cNvPr id="26" name="Text 24"/>
          <p:cNvSpPr txBox="1"/>
          <p:nvPr/>
        </p:nvSpPr>
        <p:spPr>
          <a:xfrm>
            <a:off x="6583680" y="4636008"/>
            <a:ext cx="4053535" cy="566928"/>
          </a:xfrm>
          <a:prstGeom prst="rect">
            <a:avLst/>
          </a:prstGeom>
          <a:noFill/>
          <a:ln/>
        </p:spPr>
        <p:txBody>
          <a:bodyPr wrap="square" lIns="0" tIns="0" rIns="0" bIns="0" rtlCol="0" anchor="ctr"/>
          <a:lstStyle/>
          <a:p>
            <a:pPr indent="0" marL="0">
              <a:buNone/>
            </a:pPr>
            <a:r>
              <a:rPr lang="en-US" sz="1300" dirty="0">
                <a:solidFill>
                  <a:srgbClr val="0A0A0B"/>
                </a:solidFill>
              </a:rPr>
              <a:t>Booked; the agent posts each join in the thread</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first real club: 3 invites, 2 games played in three days</a:t>
            </a:r>
            <a:endParaRPr lang="en-US" sz="2800" dirty="0"/>
          </a:p>
        </p:txBody>
      </p:sp>
      <p:pic>
        <p:nvPicPr>
          <p:cNvPr id="3" name="Image 0" descr="preencoded.png">    </p:cNvPr>
          <p:cNvPicPr>
            <a:picLocks noChangeAspect="1"/>
          </p:cNvPicPr>
          <p:nvPr/>
        </p:nvPicPr>
        <p:blipFill>
          <a:blip r:embed="rId1"/>
          <a:stretch>
            <a:fillRect/>
          </a:stretch>
        </p:blipFill>
        <p:spPr>
          <a:xfrm>
            <a:off x="2276202" y="1280160"/>
            <a:ext cx="7639291" cy="3017520"/>
          </a:xfrm>
          <a:prstGeom prst="rect">
            <a:avLst/>
          </a:prstGeom>
        </p:spPr>
      </p:pic>
      <p:sp>
        <p:nvSpPr>
          <p:cNvPr id="4" name="Shape 1"/>
          <p:cNvSpPr/>
          <p:nvPr/>
        </p:nvSpPr>
        <p:spPr>
          <a:xfrm>
            <a:off x="548640" y="4526280"/>
            <a:ext cx="5394960" cy="1508760"/>
          </a:xfrm>
          <a:prstGeom prst="roundRect">
            <a:avLst>
              <a:gd name="adj" fmla="val 4848"/>
            </a:avLst>
          </a:prstGeom>
          <a:solidFill>
            <a:srgbClr val="F3F6F4"/>
          </a:solidFill>
          <a:ln w="12700">
            <a:solidFill>
              <a:srgbClr val="F3F6F4"/>
            </a:solidFill>
            <a:prstDash val="solid"/>
          </a:ln>
        </p:spPr>
      </p:sp>
      <p:sp>
        <p:nvSpPr>
          <p:cNvPr id="5" name="Text 2"/>
          <p:cNvSpPr txBox="1"/>
          <p:nvPr/>
        </p:nvSpPr>
        <p:spPr>
          <a:xfrm>
            <a:off x="777240" y="4681728"/>
            <a:ext cx="4937760" cy="1280160"/>
          </a:xfrm>
          <a:prstGeom prst="rect">
            <a:avLst/>
          </a:prstGeom>
          <a:noFill/>
          <a:ln/>
        </p:spPr>
        <p:txBody>
          <a:bodyPr wrap="square" lIns="0" tIns="0" rIns="0" bIns="0" rtlCol="0" anchor="t"/>
          <a:lstStyle/>
          <a:p>
            <a:pPr indent="0" marL="0">
              <a:spcAft>
                <a:spcPts val="600"/>
              </a:spcAft>
              <a:buNone/>
            </a:pPr>
            <a:r>
              <a:rPr lang="en-US" sz="1400" b="1" dirty="0">
                <a:solidFill>
                  <a:srgbClr val="0A0A0B"/>
                </a:solidFill>
              </a:rPr>
              <a:t>More than 10 people</a:t>
            </a:r>
            <a:endParaRPr lang="en-US" sz="1400" dirty="0"/>
          </a:p>
          <a:p>
            <a:pPr indent="0" marL="0">
              <a:spcAft>
                <a:spcPts val="600"/>
              </a:spcAft>
              <a:buNone/>
            </a:pPr>
            <a:r>
              <a:rPr lang="en-US" sz="1400" dirty="0">
                <a:solidFill>
                  <a:srgbClr val="0A0A0B"/>
                </a:solidFill>
              </a:rPr>
              <a:t>of a real badminton club used Serve during the hackathon; of the 3 game invites sent through it, 2 became games that were played.</a:t>
            </a:r>
            <a:endParaRPr lang="en-US" sz="1400" dirty="0"/>
          </a:p>
        </p:txBody>
      </p:sp>
      <p:sp>
        <p:nvSpPr>
          <p:cNvPr id="6" name="Shape 3"/>
          <p:cNvSpPr/>
          <p:nvPr/>
        </p:nvSpPr>
        <p:spPr>
          <a:xfrm>
            <a:off x="6217920" y="4526280"/>
            <a:ext cx="5425135" cy="1508760"/>
          </a:xfrm>
          <a:prstGeom prst="roundRect">
            <a:avLst>
              <a:gd name="adj" fmla="val 4848"/>
            </a:avLst>
          </a:prstGeom>
          <a:solidFill>
            <a:srgbClr val="E9F3EC"/>
          </a:solidFill>
          <a:ln w="12700">
            <a:solidFill>
              <a:srgbClr val="E9F3EC"/>
            </a:solidFill>
            <a:prstDash val="solid"/>
          </a:ln>
        </p:spPr>
      </p:sp>
      <p:sp>
        <p:nvSpPr>
          <p:cNvPr id="7" name="Text 4"/>
          <p:cNvSpPr txBox="1"/>
          <p:nvPr/>
        </p:nvSpPr>
        <p:spPr>
          <a:xfrm>
            <a:off x="6446520" y="4681728"/>
            <a:ext cx="4967935" cy="1280160"/>
          </a:xfrm>
          <a:prstGeom prst="rect">
            <a:avLst/>
          </a:prstGeom>
          <a:noFill/>
          <a:ln/>
        </p:spPr>
        <p:txBody>
          <a:bodyPr wrap="square" lIns="0" tIns="0" rIns="0" bIns="0" rtlCol="0" anchor="t"/>
          <a:lstStyle/>
          <a:p>
            <a:pPr indent="0" marL="0">
              <a:spcAft>
                <a:spcPts val="600"/>
              </a:spcAft>
              <a:buNone/>
            </a:pPr>
            <a:r>
              <a:rPr lang="en-US" sz="1400" i="1" dirty="0">
                <a:solidFill>
                  <a:srgbClr val="0A0A0B"/>
                </a:solidFill>
              </a:rPr>
              <a:t>“It's actually really handy. You just talk to the agent.”</a:t>
            </a:r>
            <a:endParaRPr lang="en-US" sz="1400" dirty="0"/>
          </a:p>
          <a:p>
            <a:pPr indent="0" marL="0">
              <a:spcAft>
                <a:spcPts val="600"/>
              </a:spcAft>
              <a:buNone/>
            </a:pPr>
            <a:r>
              <a:rPr lang="en-US" sz="1400" i="1" dirty="0">
                <a:solidFill>
                  <a:srgbClr val="0A0A0B"/>
                </a:solidFill>
              </a:rPr>
              <a:t>“The way it suggests games first can make people more motivated to play.”</a:t>
            </a:r>
            <a:endParaRPr lang="en-US" sz="1400" dirty="0"/>
          </a:p>
          <a:p>
            <a:pPr indent="0" marL="0">
              <a:spcAft>
                <a:spcPts val="600"/>
              </a:spcAft>
              <a:buNone/>
            </a:pPr>
            <a:r>
              <a:rPr lang="en-US" sz="1100" dirty="0">
                <a:solidFill>
                  <a:srgbClr val="55555C"/>
                </a:solidFill>
              </a:rPr>
              <a:t>Players A and B, translated from Chinese</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Three helpers take the friction out, for anyone, anywhere</a:t>
            </a:r>
            <a:endParaRPr lang="en-US" sz="2800" dirty="0"/>
          </a:p>
        </p:txBody>
      </p:sp>
      <p:sp>
        <p:nvSpPr>
          <p:cNvPr id="3" name="Shape 1"/>
          <p:cNvSpPr/>
          <p:nvPr/>
        </p:nvSpPr>
        <p:spPr>
          <a:xfrm>
            <a:off x="548640" y="1280160"/>
            <a:ext cx="3520440" cy="2514600"/>
          </a:xfrm>
          <a:prstGeom prst="roundRect">
            <a:avLst>
              <a:gd name="adj" fmla="val 2909"/>
            </a:avLst>
          </a:prstGeom>
          <a:solidFill>
            <a:srgbClr val="F3F6F4"/>
          </a:solidFill>
          <a:ln w="12700">
            <a:solidFill>
              <a:srgbClr val="F3F6F4"/>
            </a:solidFill>
            <a:prstDash val="solid"/>
          </a:ln>
        </p:spPr>
      </p:sp>
      <p:sp>
        <p:nvSpPr>
          <p:cNvPr id="4" name="Shape 2"/>
          <p:cNvSpPr/>
          <p:nvPr/>
        </p:nvSpPr>
        <p:spPr>
          <a:xfrm>
            <a:off x="777240" y="1463040"/>
            <a:ext cx="548640" cy="548640"/>
          </a:xfrm>
          <a:prstGeom prst="ellipse">
            <a:avLst/>
          </a:prstGeom>
          <a:solidFill>
            <a:srgbClr val="0A7F44"/>
          </a:solidFill>
          <a:ln w="12700">
            <a:solidFill>
              <a:srgbClr val="0A7F44"/>
            </a:solidFill>
            <a:prstDash val="solid"/>
          </a:ln>
        </p:spPr>
      </p:sp>
      <p:sp>
        <p:nvSpPr>
          <p:cNvPr id="5" name="Text 3"/>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46304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Match</a:t>
            </a:r>
            <a:endParaRPr lang="en-US" sz="1800" dirty="0"/>
          </a:p>
          <a:p>
            <a:pPr indent="0" marL="0">
              <a:buNone/>
            </a:pPr>
            <a:r>
              <a:rPr lang="en-US" sz="1200" dirty="0">
                <a:solidFill>
                  <a:srgbClr val="55555C"/>
                </a:solidFill>
              </a:rPr>
              <a:t>asks first</a:t>
            </a:r>
            <a:endParaRPr lang="en-US" sz="1800" dirty="0"/>
          </a:p>
        </p:txBody>
      </p:sp>
      <p:sp>
        <p:nvSpPr>
          <p:cNvPr id="7" name="Text 5"/>
          <p:cNvSpPr txBox="1"/>
          <p:nvPr/>
        </p:nvSpPr>
        <p:spPr>
          <a:xfrm>
            <a:off x="77724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“Thursday 19:00: Leo is free. Want a game?” It learns the player's usual times and asks when one is open and the people they play best with are free.</a:t>
            </a:r>
            <a:endParaRPr lang="en-US" sz="1250" dirty="0"/>
          </a:p>
        </p:txBody>
      </p:sp>
      <p:sp>
        <p:nvSpPr>
          <p:cNvPr id="8" name="Shape 6"/>
          <p:cNvSpPr/>
          <p:nvPr/>
        </p:nvSpPr>
        <p:spPr>
          <a:xfrm>
            <a:off x="4297680" y="1280160"/>
            <a:ext cx="3520440" cy="2514600"/>
          </a:xfrm>
          <a:prstGeom prst="roundRect">
            <a:avLst>
              <a:gd name="adj" fmla="val 2909"/>
            </a:avLst>
          </a:prstGeom>
          <a:solidFill>
            <a:srgbClr val="F3F6F4"/>
          </a:solidFill>
          <a:ln w="12700">
            <a:solidFill>
              <a:srgbClr val="F3F6F4"/>
            </a:solidFill>
            <a:prstDash val="solid"/>
          </a:ln>
        </p:spPr>
      </p:sp>
      <p:sp>
        <p:nvSpPr>
          <p:cNvPr id="9" name="Shape 7"/>
          <p:cNvSpPr/>
          <p:nvPr/>
        </p:nvSpPr>
        <p:spPr>
          <a:xfrm>
            <a:off x="4526280" y="1463040"/>
            <a:ext cx="548640" cy="548640"/>
          </a:xfrm>
          <a:prstGeom prst="ellipse">
            <a:avLst/>
          </a:prstGeom>
          <a:solidFill>
            <a:srgbClr val="0064E0"/>
          </a:solidFill>
          <a:ln w="12700">
            <a:solidFill>
              <a:srgbClr val="0064E0"/>
            </a:solidFill>
            <a:prstDash val="solid"/>
          </a:ln>
        </p:spPr>
      </p:sp>
      <p:sp>
        <p:nvSpPr>
          <p:cNvPr id="10" name="Text 8"/>
          <p:cNvSpPr txBox="1"/>
          <p:nvPr/>
        </p:nvSpPr>
        <p:spPr>
          <a:xfrm>
            <a:off x="452628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521208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Talk</a:t>
            </a:r>
            <a:endParaRPr lang="en-US" sz="1800" dirty="0"/>
          </a:p>
          <a:p>
            <a:pPr indent="0" marL="0">
              <a:buNone/>
            </a:pPr>
            <a:r>
              <a:rPr lang="en-US" sz="1200" dirty="0">
                <a:solidFill>
                  <a:srgbClr val="55555C"/>
                </a:solidFill>
              </a:rPr>
              <a:t>agents agree on their own</a:t>
            </a:r>
            <a:endParaRPr lang="en-US" sz="1800" dirty="0"/>
          </a:p>
        </p:txBody>
      </p:sp>
      <p:sp>
        <p:nvSpPr>
          <p:cNvPr id="12" name="Text 10"/>
          <p:cNvSpPr txBox="1"/>
          <p:nvPr/>
        </p:nvSpPr>
        <p:spPr>
          <a:xfrm>
            <a:off x="452628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The person only says they want to play. Each player's agent agrees the time, the people and the court with the others' agents in the background.</a:t>
            </a:r>
            <a:endParaRPr lang="en-US" sz="1250" dirty="0"/>
          </a:p>
        </p:txBody>
      </p:sp>
      <p:sp>
        <p:nvSpPr>
          <p:cNvPr id="13" name="Shape 11"/>
          <p:cNvSpPr/>
          <p:nvPr/>
        </p:nvSpPr>
        <p:spPr>
          <a:xfrm>
            <a:off x="8046720" y="1280160"/>
            <a:ext cx="3520440" cy="2514600"/>
          </a:xfrm>
          <a:prstGeom prst="roundRect">
            <a:avLst>
              <a:gd name="adj" fmla="val 2909"/>
            </a:avLst>
          </a:prstGeom>
          <a:solidFill>
            <a:srgbClr val="F3F6F4"/>
          </a:solidFill>
          <a:ln w="12700">
            <a:solidFill>
              <a:srgbClr val="F3F6F4"/>
            </a:solidFill>
            <a:prstDash val="solid"/>
          </a:ln>
        </p:spPr>
      </p:sp>
      <p:sp>
        <p:nvSpPr>
          <p:cNvPr id="14" name="Shape 12"/>
          <p:cNvSpPr/>
          <p:nvPr/>
        </p:nvSpPr>
        <p:spPr>
          <a:xfrm>
            <a:off x="8275320" y="1463040"/>
            <a:ext cx="548640" cy="548640"/>
          </a:xfrm>
          <a:prstGeom prst="ellipse">
            <a:avLst/>
          </a:prstGeom>
          <a:solidFill>
            <a:srgbClr val="B26A00"/>
          </a:solidFill>
          <a:ln w="12700">
            <a:solidFill>
              <a:srgbClr val="B26A00"/>
            </a:solidFill>
            <a:prstDash val="solid"/>
          </a:ln>
        </p:spPr>
      </p:sp>
      <p:sp>
        <p:nvSpPr>
          <p:cNvPr id="15" name="Text 13"/>
          <p:cNvSpPr txBox="1"/>
          <p:nvPr/>
        </p:nvSpPr>
        <p:spPr>
          <a:xfrm>
            <a:off x="827532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6" name="Text 14"/>
          <p:cNvSpPr txBox="1"/>
          <p:nvPr/>
        </p:nvSpPr>
        <p:spPr>
          <a:xfrm>
            <a:off x="896112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Body</a:t>
            </a:r>
            <a:endParaRPr lang="en-US" sz="1800" dirty="0"/>
          </a:p>
          <a:p>
            <a:pPr indent="0" marL="0">
              <a:buNone/>
            </a:pPr>
            <a:r>
              <a:rPr lang="en-US" sz="1200" dirty="0">
                <a:solidFill>
                  <a:srgbClr val="55555C"/>
                </a:solidFill>
              </a:rPr>
              <a:t>schedules around the body</a:t>
            </a:r>
            <a:endParaRPr lang="en-US" sz="1800" dirty="0"/>
          </a:p>
        </p:txBody>
      </p:sp>
      <p:sp>
        <p:nvSpPr>
          <p:cNvPr id="17" name="Text 15"/>
          <p:cNvSpPr txBox="1"/>
          <p:nvPr/>
        </p:nvSpPr>
        <p:spPr>
          <a:xfrm>
            <a:off x="827532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A body log and health-app export become scheduling limits: doubles while a knee is sore, one game fewer in a heavy week. Not medical advice.</a:t>
            </a:r>
            <a:endParaRPr lang="en-US" sz="1250" dirty="0"/>
          </a:p>
        </p:txBody>
      </p:sp>
      <p:sp>
        <p:nvSpPr>
          <p:cNvPr id="18" name="Text 16"/>
          <p:cNvSpPr txBox="1"/>
          <p:nvPr/>
        </p:nvSpPr>
        <p:spPr>
          <a:xfrm>
            <a:off x="548640" y="4023360"/>
            <a:ext cx="11094415" cy="365760"/>
          </a:xfrm>
          <a:prstGeom prst="rect">
            <a:avLst/>
          </a:prstGeom>
          <a:noFill/>
          <a:ln/>
        </p:spPr>
        <p:txBody>
          <a:bodyPr wrap="square" lIns="0" tIns="0" rIns="0" bIns="0" rtlCol="0" anchor="ctr"/>
          <a:lstStyle/>
          <a:p>
            <a:pPr indent="0" marL="0">
              <a:buNone/>
            </a:pPr>
            <a:r>
              <a:rPr lang="en-US" sz="1400" b="1" dirty="0">
                <a:solidFill>
                  <a:srgbClr val="0A7F44"/>
                </a:solidFill>
              </a:rPr>
              <a:t>Build for Your World: any town with courts on OpenStreetMap, any ball sport, in a phone's browser and in Messenger</a:t>
            </a:r>
            <a:endParaRPr lang="en-US" sz="1400" dirty="0"/>
          </a:p>
        </p:txBody>
      </p:sp>
      <p:sp>
        <p:nvSpPr>
          <p:cNvPr id="19" name="Shape 17"/>
          <p:cNvSpPr/>
          <p:nvPr/>
        </p:nvSpPr>
        <p:spPr>
          <a:xfrm>
            <a:off x="548640" y="4526280"/>
            <a:ext cx="1444752" cy="457200"/>
          </a:xfrm>
          <a:prstGeom prst="roundRect">
            <a:avLst>
              <a:gd name="adj" fmla="val 50000"/>
            </a:avLst>
          </a:prstGeom>
          <a:solidFill>
            <a:srgbClr val="E9F3EC"/>
          </a:solidFill>
          <a:ln w="12700">
            <a:solidFill>
              <a:srgbClr val="E9F3EC"/>
            </a:solidFill>
            <a:prstDash val="solid"/>
          </a:ln>
        </p:spPr>
      </p:sp>
      <p:sp>
        <p:nvSpPr>
          <p:cNvPr id="20" name="Text 18"/>
          <p:cNvSpPr txBox="1"/>
          <p:nvPr/>
        </p:nvSpPr>
        <p:spPr>
          <a:xfrm>
            <a:off x="548640"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badminton</a:t>
            </a:r>
            <a:endParaRPr lang="en-US" sz="1200" dirty="0"/>
          </a:p>
        </p:txBody>
      </p:sp>
      <p:sp>
        <p:nvSpPr>
          <p:cNvPr id="21" name="Shape 19"/>
          <p:cNvSpPr/>
          <p:nvPr/>
        </p:nvSpPr>
        <p:spPr>
          <a:xfrm>
            <a:off x="2130552" y="4526280"/>
            <a:ext cx="1444752" cy="457200"/>
          </a:xfrm>
          <a:prstGeom prst="roundRect">
            <a:avLst>
              <a:gd name="adj" fmla="val 50000"/>
            </a:avLst>
          </a:prstGeom>
          <a:solidFill>
            <a:srgbClr val="E9F3EC"/>
          </a:solidFill>
          <a:ln w="12700">
            <a:solidFill>
              <a:srgbClr val="E9F3EC"/>
            </a:solidFill>
            <a:prstDash val="solid"/>
          </a:ln>
        </p:spPr>
      </p:sp>
      <p:sp>
        <p:nvSpPr>
          <p:cNvPr id="22" name="Text 20"/>
          <p:cNvSpPr txBox="1"/>
          <p:nvPr/>
        </p:nvSpPr>
        <p:spPr>
          <a:xfrm>
            <a:off x="2130552"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tennis</a:t>
            </a:r>
            <a:endParaRPr lang="en-US" sz="1200" dirty="0"/>
          </a:p>
        </p:txBody>
      </p:sp>
      <p:sp>
        <p:nvSpPr>
          <p:cNvPr id="23" name="Shape 21"/>
          <p:cNvSpPr/>
          <p:nvPr/>
        </p:nvSpPr>
        <p:spPr>
          <a:xfrm>
            <a:off x="3712464" y="4526280"/>
            <a:ext cx="1444752" cy="457200"/>
          </a:xfrm>
          <a:prstGeom prst="roundRect">
            <a:avLst>
              <a:gd name="adj" fmla="val 50000"/>
            </a:avLst>
          </a:prstGeom>
          <a:solidFill>
            <a:srgbClr val="E9F3EC"/>
          </a:solidFill>
          <a:ln w="12700">
            <a:solidFill>
              <a:srgbClr val="E9F3EC"/>
            </a:solidFill>
            <a:prstDash val="solid"/>
          </a:ln>
        </p:spPr>
      </p:sp>
      <p:sp>
        <p:nvSpPr>
          <p:cNvPr id="24" name="Text 22"/>
          <p:cNvSpPr txBox="1"/>
          <p:nvPr/>
        </p:nvSpPr>
        <p:spPr>
          <a:xfrm>
            <a:off x="3712464"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pickleball</a:t>
            </a:r>
            <a:endParaRPr lang="en-US" sz="1200" dirty="0"/>
          </a:p>
        </p:txBody>
      </p:sp>
      <p:sp>
        <p:nvSpPr>
          <p:cNvPr id="25" name="Shape 23"/>
          <p:cNvSpPr/>
          <p:nvPr/>
        </p:nvSpPr>
        <p:spPr>
          <a:xfrm>
            <a:off x="5294376" y="4526280"/>
            <a:ext cx="1444752" cy="457200"/>
          </a:xfrm>
          <a:prstGeom prst="roundRect">
            <a:avLst>
              <a:gd name="adj" fmla="val 50000"/>
            </a:avLst>
          </a:prstGeom>
          <a:solidFill>
            <a:srgbClr val="E9F3EC"/>
          </a:solidFill>
          <a:ln w="12700">
            <a:solidFill>
              <a:srgbClr val="E9F3EC"/>
            </a:solidFill>
            <a:prstDash val="solid"/>
          </a:ln>
        </p:spPr>
      </p:sp>
      <p:sp>
        <p:nvSpPr>
          <p:cNvPr id="26" name="Text 24"/>
          <p:cNvSpPr txBox="1"/>
          <p:nvPr/>
        </p:nvSpPr>
        <p:spPr>
          <a:xfrm>
            <a:off x="5294376"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table tennis</a:t>
            </a:r>
            <a:endParaRPr lang="en-US" sz="1200" dirty="0"/>
          </a:p>
        </p:txBody>
      </p:sp>
      <p:sp>
        <p:nvSpPr>
          <p:cNvPr id="27" name="Shape 25"/>
          <p:cNvSpPr/>
          <p:nvPr/>
        </p:nvSpPr>
        <p:spPr>
          <a:xfrm>
            <a:off x="6876288" y="4526280"/>
            <a:ext cx="1444752" cy="457200"/>
          </a:xfrm>
          <a:prstGeom prst="roundRect">
            <a:avLst>
              <a:gd name="adj" fmla="val 50000"/>
            </a:avLst>
          </a:prstGeom>
          <a:solidFill>
            <a:srgbClr val="E9F3EC"/>
          </a:solidFill>
          <a:ln w="12700">
            <a:solidFill>
              <a:srgbClr val="E9F3EC"/>
            </a:solidFill>
            <a:prstDash val="solid"/>
          </a:ln>
        </p:spPr>
      </p:sp>
      <p:sp>
        <p:nvSpPr>
          <p:cNvPr id="28" name="Text 26"/>
          <p:cNvSpPr txBox="1"/>
          <p:nvPr/>
        </p:nvSpPr>
        <p:spPr>
          <a:xfrm>
            <a:off x="6876288"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basketball</a:t>
            </a:r>
            <a:endParaRPr lang="en-US" sz="1200" dirty="0"/>
          </a:p>
        </p:txBody>
      </p:sp>
      <p:sp>
        <p:nvSpPr>
          <p:cNvPr id="29" name="Shape 27"/>
          <p:cNvSpPr/>
          <p:nvPr/>
        </p:nvSpPr>
        <p:spPr>
          <a:xfrm>
            <a:off x="8458200" y="4526280"/>
            <a:ext cx="1444752" cy="457200"/>
          </a:xfrm>
          <a:prstGeom prst="roundRect">
            <a:avLst>
              <a:gd name="adj" fmla="val 50000"/>
            </a:avLst>
          </a:prstGeom>
          <a:solidFill>
            <a:srgbClr val="E9F3EC"/>
          </a:solidFill>
          <a:ln w="12700">
            <a:solidFill>
              <a:srgbClr val="E9F3EC"/>
            </a:solidFill>
            <a:prstDash val="solid"/>
          </a:ln>
        </p:spPr>
      </p:sp>
      <p:sp>
        <p:nvSpPr>
          <p:cNvPr id="30" name="Text 28"/>
          <p:cNvSpPr txBox="1"/>
          <p:nvPr/>
        </p:nvSpPr>
        <p:spPr>
          <a:xfrm>
            <a:off x="8458200"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volleyball</a:t>
            </a:r>
            <a:endParaRPr lang="en-US" sz="1200" dirty="0"/>
          </a:p>
        </p:txBody>
      </p:sp>
      <p:sp>
        <p:nvSpPr>
          <p:cNvPr id="31" name="Shape 29"/>
          <p:cNvSpPr/>
          <p:nvPr/>
        </p:nvSpPr>
        <p:spPr>
          <a:xfrm>
            <a:off x="10040112" y="4526280"/>
            <a:ext cx="1444752" cy="457200"/>
          </a:xfrm>
          <a:prstGeom prst="roundRect">
            <a:avLst>
              <a:gd name="adj" fmla="val 50000"/>
            </a:avLst>
          </a:prstGeom>
          <a:solidFill>
            <a:srgbClr val="E9F3EC"/>
          </a:solidFill>
          <a:ln w="12700">
            <a:solidFill>
              <a:srgbClr val="E9F3EC"/>
            </a:solidFill>
            <a:prstDash val="solid"/>
          </a:ln>
        </p:spPr>
      </p:sp>
      <p:sp>
        <p:nvSpPr>
          <p:cNvPr id="32" name="Text 30"/>
          <p:cNvSpPr txBox="1"/>
          <p:nvPr/>
        </p:nvSpPr>
        <p:spPr>
          <a:xfrm>
            <a:off x="10040112"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soccer</a:t>
            </a:r>
            <a:endParaRPr lang="en-US" sz="1200" dirty="0"/>
          </a:p>
        </p:txBody>
      </p:sp>
      <p:sp>
        <p:nvSpPr>
          <p:cNvPr id="33" name="Text 31"/>
          <p:cNvSpPr txBox="1"/>
          <p:nvPr/>
        </p:nvSpPr>
        <p:spPr>
          <a:xfrm>
            <a:off x="548640" y="5257800"/>
            <a:ext cx="5440680" cy="868680"/>
          </a:xfrm>
          <a:prstGeom prst="rect">
            <a:avLst/>
          </a:prstGeom>
          <a:noFill/>
          <a:ln/>
        </p:spPr>
        <p:txBody>
          <a:bodyPr wrap="square" lIns="0" tIns="0" rIns="0" bIns="0" rtlCol="0" anchor="t"/>
          <a:lstStyle/>
          <a:p>
            <a:pPr indent="0" marL="0">
              <a:buNone/>
            </a:pPr>
            <a:r>
              <a:rPr lang="en-US" sz="1250" b="1" dirty="0">
                <a:solidFill>
                  <a:srgbClr val="0A0A0B"/>
                </a:solidFill>
              </a:rPr>
              <a:t>Groups nobody organises: </a:t>
            </a:r>
            <a:pPr indent="0" marL="0">
              <a:buNone/>
            </a:pPr>
            <a:r>
              <a:rPr lang="en-US" sz="1250" dirty="0">
                <a:solidFill>
                  <a:srgbClr val="0A0A0B"/>
                </a:solidFill>
              </a:rPr>
              <a:t>children's sessions with fair turns and no child accounts, gentle daytime doubles for older adults, charity round-robins that record pledges but handle no money</a:t>
            </a:r>
            <a:endParaRPr lang="en-US" sz="1250" dirty="0"/>
          </a:p>
        </p:txBody>
      </p:sp>
      <p:sp>
        <p:nvSpPr>
          <p:cNvPr id="34" name="Text 32"/>
          <p:cNvSpPr txBox="1"/>
          <p:nvPr/>
        </p:nvSpPr>
        <p:spPr>
          <a:xfrm>
            <a:off x="6172200" y="5257800"/>
            <a:ext cx="5440680" cy="868680"/>
          </a:xfrm>
          <a:prstGeom prst="rect">
            <a:avLst/>
          </a:prstGeom>
          <a:noFill/>
          <a:ln/>
        </p:spPr>
        <p:txBody>
          <a:bodyPr wrap="square" lIns="0" tIns="0" rIns="0" bIns="0" rtlCol="0" anchor="t"/>
          <a:lstStyle/>
          <a:p>
            <a:pPr indent="0" marL="0">
              <a:buNone/>
            </a:pPr>
            <a:r>
              <a:rPr lang="en-US" sz="1250" b="1" dirty="0">
                <a:solidFill>
                  <a:srgbClr val="0A0A0B"/>
                </a:solidFill>
              </a:rPr>
              <a:t>Quiet courts: </a:t>
            </a:r>
            <a:pPr indent="0" marL="0">
              <a:buNone/>
            </a:pPr>
            <a:r>
              <a:rPr lang="en-US" sz="1250" dirty="0">
                <a:solidFill>
                  <a:srgbClr val="0A0A0B"/>
                </a:solidFill>
              </a:rPr>
              <a:t>a group's agent asks a venue's agent for a quiet-hour price, so venues fill empty hours</a:t>
            </a:r>
            <a:endParaRPr lang="en-US" sz="12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Validated by 153 AI agents in 25 rounds: how a round worked</a:t>
            </a:r>
            <a:endParaRPr lang="en-US" sz="2800" dirty="0"/>
          </a:p>
        </p:txBody>
      </p:sp>
      <p:sp>
        <p:nvSpPr>
          <p:cNvPr id="3" name="Shape 1"/>
          <p:cNvSpPr/>
          <p:nvPr/>
        </p:nvSpPr>
        <p:spPr>
          <a:xfrm>
            <a:off x="548640" y="1325880"/>
            <a:ext cx="2468880" cy="1234440"/>
          </a:xfrm>
          <a:prstGeom prst="roundRect">
            <a:avLst>
              <a:gd name="adj" fmla="val 5926"/>
            </a:avLst>
          </a:prstGeom>
          <a:solidFill>
            <a:srgbClr val="F3F6F4"/>
          </a:solidFill>
          <a:ln w="12700">
            <a:solidFill>
              <a:srgbClr val="F3F6F4"/>
            </a:solidFill>
            <a:prstDash val="solid"/>
          </a:ln>
        </p:spPr>
      </p:sp>
      <p:sp>
        <p:nvSpPr>
          <p:cNvPr id="4" name="Text 2"/>
          <p:cNvSpPr txBox="1"/>
          <p:nvPr/>
        </p:nvSpPr>
        <p:spPr>
          <a:xfrm>
            <a:off x="685800"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Fresh local copy</a:t>
            </a:r>
            <a:endParaRPr lang="en-US" sz="1400" dirty="0"/>
          </a:p>
          <a:p>
            <a:pPr algn="ctr" indent="0" marL="0">
              <a:buNone/>
            </a:pPr>
            <a:r>
              <a:rPr lang="en-US" sz="1150" dirty="0">
                <a:solidFill>
                  <a:srgbClr val="55555C"/>
                </a:solidFill>
              </a:rPr>
              <a:t>same code as the live site; 12 neighbours, 3 clubs, 3 open games</a:t>
            </a:r>
            <a:endParaRPr lang="en-US" sz="1400" dirty="0"/>
          </a:p>
        </p:txBody>
      </p:sp>
      <p:sp>
        <p:nvSpPr>
          <p:cNvPr id="5" name="Shape 3"/>
          <p:cNvSpPr/>
          <p:nvPr/>
        </p:nvSpPr>
        <p:spPr>
          <a:xfrm>
            <a:off x="3035808" y="1938528"/>
            <a:ext cx="310896" cy="914"/>
          </a:xfrm>
          <a:prstGeom prst="line">
            <a:avLst/>
          </a:prstGeom>
          <a:noFill/>
          <a:ln w="25400">
            <a:solidFill>
              <a:srgbClr val="8A8A92"/>
            </a:solidFill>
            <a:prstDash val="solid"/>
            <a:tailEnd type="triangle"/>
          </a:ln>
        </p:spPr>
      </p:sp>
      <p:sp>
        <p:nvSpPr>
          <p:cNvPr id="6" name="Shape 4"/>
          <p:cNvSpPr/>
          <p:nvPr/>
        </p:nvSpPr>
        <p:spPr>
          <a:xfrm>
            <a:off x="3364992" y="1325880"/>
            <a:ext cx="2468880" cy="1234440"/>
          </a:xfrm>
          <a:prstGeom prst="roundRect">
            <a:avLst>
              <a:gd name="adj" fmla="val 5926"/>
            </a:avLst>
          </a:prstGeom>
          <a:solidFill>
            <a:srgbClr val="F3F6F4"/>
          </a:solidFill>
          <a:ln w="12700">
            <a:solidFill>
              <a:srgbClr val="F3F6F4"/>
            </a:solidFill>
            <a:prstDash val="solid"/>
          </a:ln>
        </p:spPr>
      </p:sp>
      <p:sp>
        <p:nvSpPr>
          <p:cNvPr id="7" name="Text 5"/>
          <p:cNvSpPr txBox="1"/>
          <p:nvPr/>
        </p:nvSpPr>
        <p:spPr>
          <a:xfrm>
            <a:off x="3502152"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Six new testers</a:t>
            </a:r>
            <a:endParaRPr lang="en-US" sz="1400" dirty="0"/>
          </a:p>
          <a:p>
            <a:pPr algn="ctr" indent="0" marL="0">
              <a:buNone/>
            </a:pPr>
            <a:r>
              <a:rPr lang="en-US" sz="1150" dirty="0">
                <a:solidFill>
                  <a:srgbClr val="55555C"/>
                </a:solidFill>
              </a:rPr>
              <a:t>each a fresh model with only a persona and the address</a:t>
            </a:r>
            <a:endParaRPr lang="en-US" sz="1400" dirty="0"/>
          </a:p>
        </p:txBody>
      </p:sp>
      <p:sp>
        <p:nvSpPr>
          <p:cNvPr id="8" name="Shape 6"/>
          <p:cNvSpPr/>
          <p:nvPr/>
        </p:nvSpPr>
        <p:spPr>
          <a:xfrm>
            <a:off x="5852160" y="1938528"/>
            <a:ext cx="310896" cy="914"/>
          </a:xfrm>
          <a:prstGeom prst="line">
            <a:avLst/>
          </a:prstGeom>
          <a:noFill/>
          <a:ln w="25400">
            <a:solidFill>
              <a:srgbClr val="8A8A92"/>
            </a:solidFill>
            <a:prstDash val="solid"/>
            <a:tailEnd type="triangle"/>
          </a:ln>
        </p:spPr>
      </p:sp>
      <p:sp>
        <p:nvSpPr>
          <p:cNvPr id="9" name="Shape 7"/>
          <p:cNvSpPr/>
          <p:nvPr/>
        </p:nvSpPr>
        <p:spPr>
          <a:xfrm>
            <a:off x="6181344" y="1325880"/>
            <a:ext cx="2468880" cy="1234440"/>
          </a:xfrm>
          <a:prstGeom prst="roundRect">
            <a:avLst>
              <a:gd name="adj" fmla="val 5926"/>
            </a:avLst>
          </a:prstGeom>
          <a:solidFill>
            <a:srgbClr val="F3F6F4"/>
          </a:solidFill>
          <a:ln w="12700">
            <a:solidFill>
              <a:srgbClr val="F3F6F4"/>
            </a:solidFill>
            <a:prstDash val="solid"/>
          </a:ln>
        </p:spPr>
      </p:sp>
      <p:sp>
        <p:nvSpPr>
          <p:cNvPr id="10" name="Text 8"/>
          <p:cNvSpPr txBox="1"/>
          <p:nvPr/>
        </p:nvSpPr>
        <p:spPr>
          <a:xfrm>
            <a:off x="6318504"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One verdict line</a:t>
            </a:r>
            <a:endParaRPr lang="en-US" sz="1400" dirty="0"/>
          </a:p>
          <a:p>
            <a:pPr algn="ctr" indent="0" marL="0">
              <a:buNone/>
            </a:pPr>
            <a:r>
              <a:rPr lang="en-US" sz="1150" dirty="0">
                <a:solidFill>
                  <a:srgbClr val="55555C"/>
                </a:solidFill>
              </a:rPr>
              <a:t>CLEAN, or n BLOCKER, m BUG; every request logged</a:t>
            </a:r>
            <a:endParaRPr lang="en-US" sz="1400" dirty="0"/>
          </a:p>
        </p:txBody>
      </p:sp>
      <p:sp>
        <p:nvSpPr>
          <p:cNvPr id="11" name="Shape 9"/>
          <p:cNvSpPr/>
          <p:nvPr/>
        </p:nvSpPr>
        <p:spPr>
          <a:xfrm>
            <a:off x="8668512" y="1938528"/>
            <a:ext cx="310896" cy="914"/>
          </a:xfrm>
          <a:prstGeom prst="line">
            <a:avLst/>
          </a:prstGeom>
          <a:noFill/>
          <a:ln w="25400">
            <a:solidFill>
              <a:srgbClr val="8A8A92"/>
            </a:solidFill>
            <a:prstDash val="solid"/>
            <a:tailEnd type="triangle"/>
          </a:ln>
        </p:spPr>
      </p:sp>
      <p:sp>
        <p:nvSpPr>
          <p:cNvPr id="12" name="Shape 10"/>
          <p:cNvSpPr/>
          <p:nvPr/>
        </p:nvSpPr>
        <p:spPr>
          <a:xfrm>
            <a:off x="8997696" y="1325880"/>
            <a:ext cx="2468880" cy="1234440"/>
          </a:xfrm>
          <a:prstGeom prst="roundRect">
            <a:avLst>
              <a:gd name="adj" fmla="val 5926"/>
            </a:avLst>
          </a:prstGeom>
          <a:solidFill>
            <a:srgbClr val="0A7F44"/>
          </a:solidFill>
          <a:ln w="12700">
            <a:solidFill>
              <a:srgbClr val="0A7F44"/>
            </a:solidFill>
            <a:prstDash val="solid"/>
          </a:ln>
        </p:spPr>
      </p:sp>
      <p:sp>
        <p:nvSpPr>
          <p:cNvPr id="13" name="Text 11"/>
          <p:cNvSpPr txBox="1"/>
          <p:nvPr/>
        </p:nvSpPr>
        <p:spPr>
          <a:xfrm>
            <a:off x="9134856" y="1325880"/>
            <a:ext cx="2194560" cy="1234440"/>
          </a:xfrm>
          <a:prstGeom prst="rect">
            <a:avLst/>
          </a:prstGeom>
          <a:noFill/>
          <a:ln/>
        </p:spPr>
        <p:txBody>
          <a:bodyPr wrap="square" lIns="0" tIns="0" rIns="0" bIns="0" rtlCol="0" anchor="ctr"/>
          <a:lstStyle/>
          <a:p>
            <a:pPr algn="ctr" indent="0" marL="0">
              <a:buNone/>
            </a:pPr>
            <a:r>
              <a:rPr lang="en-US" sz="1400" b="1" dirty="0">
                <a:solidFill>
                  <a:srgbClr val="FFFFFF"/>
                </a:solidFill>
              </a:rPr>
              <a:t>Fix what they found</a:t>
            </a:r>
            <a:endParaRPr lang="en-US" sz="1400" dirty="0"/>
          </a:p>
          <a:p>
            <a:pPr algn="ctr" indent="0" marL="0">
              <a:buNone/>
            </a:pPr>
            <a:r>
              <a:rPr lang="en-US" sz="1150" dirty="0">
                <a:solidFill>
                  <a:srgbClr val="D9EBDF"/>
                </a:solidFill>
              </a:rPr>
              <a:t>then unit tests, a browser check, deploy</a:t>
            </a:r>
            <a:endParaRPr lang="en-US" sz="1400" dirty="0"/>
          </a:p>
        </p:txBody>
      </p:sp>
      <p:sp>
        <p:nvSpPr>
          <p:cNvPr id="14" name="Text 12"/>
          <p:cNvSpPr txBox="1"/>
          <p:nvPr/>
        </p:nvSpPr>
        <p:spPr>
          <a:xfrm>
            <a:off x="548640" y="2651760"/>
            <a:ext cx="11094415" cy="320040"/>
          </a:xfrm>
          <a:prstGeom prst="rect">
            <a:avLst/>
          </a:prstGeom>
          <a:noFill/>
          <a:ln/>
        </p:spPr>
        <p:txBody>
          <a:bodyPr wrap="square" lIns="0" tIns="0" rIns="0" bIns="0" rtlCol="0" anchor="ctr"/>
          <a:lstStyle/>
          <a:p>
            <a:pPr algn="r" indent="0" marL="0">
              <a:buNone/>
            </a:pPr>
            <a:r>
              <a:rPr lang="en-US" sz="1200" i="1" dirty="0">
                <a:solidFill>
                  <a:srgbClr val="0A7F44"/>
                </a:solidFill>
              </a:rPr>
              <a:t>↺ next round, new testers</a:t>
            </a:r>
            <a:endParaRPr lang="en-US" sz="1200" dirty="0"/>
          </a:p>
        </p:txBody>
      </p:sp>
      <p:sp>
        <p:nvSpPr>
          <p:cNvPr id="15" name="Text 13"/>
          <p:cNvSpPr txBox="1"/>
          <p:nvPr/>
        </p:nvSpPr>
        <p:spPr>
          <a:xfrm>
            <a:off x="548640" y="3154680"/>
            <a:ext cx="5486400" cy="365760"/>
          </a:xfrm>
          <a:prstGeom prst="rect">
            <a:avLst/>
          </a:prstGeom>
          <a:noFill/>
          <a:ln/>
        </p:spPr>
        <p:txBody>
          <a:bodyPr wrap="square" lIns="0" tIns="0" rIns="0" bIns="0" rtlCol="0" anchor="ctr"/>
          <a:lstStyle/>
          <a:p>
            <a:pPr indent="0" marL="0">
              <a:buNone/>
            </a:pPr>
            <a:r>
              <a:rPr lang="en-US" sz="1500" b="1" dirty="0">
                <a:solidFill>
                  <a:srgbClr val="0A0A0B"/>
                </a:solidFill>
              </a:rPr>
              <a:t>The six testers in each round (from round 6)</a:t>
            </a:r>
            <a:endParaRPr lang="en-US" sz="1500" dirty="0"/>
          </a:p>
        </p:txBody>
      </p:sp>
      <p:sp>
        <p:nvSpPr>
          <p:cNvPr id="16" name="Shape 14"/>
          <p:cNvSpPr/>
          <p:nvPr/>
        </p:nvSpPr>
        <p:spPr>
          <a:xfrm>
            <a:off x="548640" y="3657600"/>
            <a:ext cx="3520440" cy="1600200"/>
          </a:xfrm>
          <a:prstGeom prst="roundRect">
            <a:avLst>
              <a:gd name="adj" fmla="val 4571"/>
            </a:avLst>
          </a:prstGeom>
          <a:solidFill>
            <a:srgbClr val="F3F6F4"/>
          </a:solidFill>
          <a:ln w="12700">
            <a:solidFill>
              <a:srgbClr val="F3F6F4"/>
            </a:solidFill>
            <a:prstDash val="solid"/>
          </a:ln>
        </p:spPr>
      </p:sp>
      <p:sp>
        <p:nvSpPr>
          <p:cNvPr id="17" name="Shape 15"/>
          <p:cNvSpPr/>
          <p:nvPr/>
        </p:nvSpPr>
        <p:spPr>
          <a:xfrm>
            <a:off x="777240" y="3886200"/>
            <a:ext cx="457200" cy="457200"/>
          </a:xfrm>
          <a:prstGeom prst="ellipse">
            <a:avLst/>
          </a:prstGeom>
          <a:solidFill>
            <a:srgbClr val="0064E0"/>
          </a:solidFill>
          <a:ln w="12700">
            <a:solidFill>
              <a:srgbClr val="0064E0"/>
            </a:solidFill>
            <a:prstDash val="solid"/>
          </a:ln>
        </p:spPr>
      </p:sp>
      <p:sp>
        <p:nvSpPr>
          <p:cNvPr id="18" name="Text 16"/>
          <p:cNvSpPr txBox="1"/>
          <p:nvPr/>
        </p:nvSpPr>
        <p:spPr>
          <a:xfrm>
            <a:off x="137160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new agents</a:t>
            </a:r>
            <a:endParaRPr lang="en-US" sz="1600" dirty="0"/>
          </a:p>
        </p:txBody>
      </p:sp>
      <p:sp>
        <p:nvSpPr>
          <p:cNvPr id="19" name="Text 17"/>
          <p:cNvSpPr txBox="1"/>
          <p:nvPr/>
        </p:nvSpPr>
        <p:spPr>
          <a:xfrm>
            <a:off x="77724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arrive cold: find the guide, sign their person in, register an Ed25519 key, get a game; or audit privacy and the API</a:t>
            </a:r>
            <a:endParaRPr lang="en-US" sz="1200" dirty="0"/>
          </a:p>
        </p:txBody>
      </p:sp>
      <p:sp>
        <p:nvSpPr>
          <p:cNvPr id="20" name="Shape 18"/>
          <p:cNvSpPr/>
          <p:nvPr/>
        </p:nvSpPr>
        <p:spPr>
          <a:xfrm>
            <a:off x="4297680" y="3657600"/>
            <a:ext cx="3520440" cy="1600200"/>
          </a:xfrm>
          <a:prstGeom prst="roundRect">
            <a:avLst>
              <a:gd name="adj" fmla="val 4571"/>
            </a:avLst>
          </a:prstGeom>
          <a:solidFill>
            <a:srgbClr val="F3F6F4"/>
          </a:solidFill>
          <a:ln w="12700">
            <a:solidFill>
              <a:srgbClr val="F3F6F4"/>
            </a:solidFill>
            <a:prstDash val="solid"/>
          </a:ln>
        </p:spPr>
      </p:sp>
      <p:sp>
        <p:nvSpPr>
          <p:cNvPr id="21" name="Shape 19"/>
          <p:cNvSpPr/>
          <p:nvPr/>
        </p:nvSpPr>
        <p:spPr>
          <a:xfrm>
            <a:off x="4526280" y="3886200"/>
            <a:ext cx="457200" cy="457200"/>
          </a:xfrm>
          <a:prstGeom prst="ellipse">
            <a:avLst/>
          </a:prstGeom>
          <a:solidFill>
            <a:srgbClr val="0A7F44"/>
          </a:solidFill>
          <a:ln w="12700">
            <a:solidFill>
              <a:srgbClr val="0A7F44"/>
            </a:solidFill>
            <a:prstDash val="solid"/>
          </a:ln>
        </p:spPr>
      </p:sp>
      <p:sp>
        <p:nvSpPr>
          <p:cNvPr id="22" name="Text 20"/>
          <p:cNvSpPr txBox="1"/>
          <p:nvPr/>
        </p:nvSpPr>
        <p:spPr>
          <a:xfrm>
            <a:off x="512064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member agents</a:t>
            </a:r>
            <a:endParaRPr lang="en-US" sz="1600" dirty="0"/>
          </a:p>
        </p:txBody>
      </p:sp>
      <p:sp>
        <p:nvSpPr>
          <p:cNvPr id="23" name="Text 21"/>
          <p:cNvSpPr txBox="1"/>
          <p:nvPr/>
        </p:nvSpPr>
        <p:spPr>
          <a:xfrm>
            <a:off x="452628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a seeded member's session: host and answer games, re-check last round's fixes</a:t>
            </a:r>
            <a:endParaRPr lang="en-US" sz="1200" dirty="0"/>
          </a:p>
        </p:txBody>
      </p:sp>
      <p:sp>
        <p:nvSpPr>
          <p:cNvPr id="24" name="Shape 22"/>
          <p:cNvSpPr/>
          <p:nvPr/>
        </p:nvSpPr>
        <p:spPr>
          <a:xfrm>
            <a:off x="8046720" y="3657600"/>
            <a:ext cx="3520440" cy="1600200"/>
          </a:xfrm>
          <a:prstGeom prst="roundRect">
            <a:avLst>
              <a:gd name="adj" fmla="val 4571"/>
            </a:avLst>
          </a:prstGeom>
          <a:solidFill>
            <a:srgbClr val="F3F6F4"/>
          </a:solidFill>
          <a:ln w="12700">
            <a:solidFill>
              <a:srgbClr val="F3F6F4"/>
            </a:solidFill>
            <a:prstDash val="solid"/>
          </a:ln>
        </p:spPr>
      </p:sp>
      <p:sp>
        <p:nvSpPr>
          <p:cNvPr id="25" name="Shape 23"/>
          <p:cNvSpPr/>
          <p:nvPr/>
        </p:nvSpPr>
        <p:spPr>
          <a:xfrm>
            <a:off x="8275320" y="3886200"/>
            <a:ext cx="457200" cy="457200"/>
          </a:xfrm>
          <a:prstGeom prst="ellipse">
            <a:avLst/>
          </a:prstGeom>
          <a:solidFill>
            <a:srgbClr val="B26A00"/>
          </a:solidFill>
          <a:ln w="12700">
            <a:solidFill>
              <a:srgbClr val="B26A00"/>
            </a:solidFill>
            <a:prstDash val="solid"/>
          </a:ln>
        </p:spPr>
      </p:sp>
      <p:sp>
        <p:nvSpPr>
          <p:cNvPr id="26" name="Text 24"/>
          <p:cNvSpPr txBox="1"/>
          <p:nvPr/>
        </p:nvSpPr>
        <p:spPr>
          <a:xfrm>
            <a:off x="886968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web users</a:t>
            </a:r>
            <a:endParaRPr lang="en-US" sz="1600" dirty="0"/>
          </a:p>
        </p:txBody>
      </p:sp>
      <p:sp>
        <p:nvSpPr>
          <p:cNvPr id="27" name="Text 25"/>
          <p:cNvSpPr txBox="1"/>
          <p:nvPr/>
        </p:nvSpPr>
        <p:spPr>
          <a:xfrm>
            <a:off x="827532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in the browser, one at phone size and one on a laptop: read the screen and click</a:t>
            </a:r>
            <a:endParaRPr lang="en-US" sz="1200" dirty="0"/>
          </a:p>
        </p:txBody>
      </p:sp>
      <p:sp>
        <p:nvSpPr>
          <p:cNvPr id="28" name="Text 26"/>
          <p:cNvSpPr txBox="1"/>
          <p:nvPr/>
        </p:nvSpPr>
        <p:spPr>
          <a:xfrm>
            <a:off x="548640" y="5532120"/>
            <a:ext cx="11094415" cy="6400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From round 21 a bug meant a problem in a core flow: getting a game, yes or no, joining and leaving, calling off, limits and permission, privacy, trust records. The testers were AI models, not people.</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Round by round: bugs fell to zero, clean reports rose to 6 of 6</a:t>
            </a:r>
            <a:endParaRPr lang="en-US" sz="2800" dirty="0"/>
          </a:p>
        </p:txBody>
      </p:sp>
      <p:graphicFrame>
        <p:nvGraphicFramePr>
          <p:cNvPr id="3" name="Chart 0" descr=""/>
          <p:cNvGraphicFramePr/>
          <p:nvPr/>
        </p:nvGraphicFramePr>
        <p:xfrm>
          <a:off x="548640" y="1234440"/>
          <a:ext cx="731520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548640" y="3794760"/>
          <a:ext cx="7315200" cy="233172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8229600" y="1280160"/>
            <a:ext cx="3413455" cy="1508760"/>
          </a:xfrm>
          <a:prstGeom prst="roundRect">
            <a:avLst>
              <a:gd name="adj" fmla="val 4848"/>
            </a:avLst>
          </a:prstGeom>
          <a:solidFill>
            <a:srgbClr val="F3F6F4"/>
          </a:solidFill>
          <a:ln w="12700">
            <a:solidFill>
              <a:srgbClr val="F3F6F4"/>
            </a:solidFill>
            <a:prstDash val="solid"/>
          </a:ln>
        </p:spPr>
      </p:sp>
      <p:sp>
        <p:nvSpPr>
          <p:cNvPr id="6" name="Text 2"/>
          <p:cNvSpPr txBox="1"/>
          <p:nvPr/>
        </p:nvSpPr>
        <p:spPr>
          <a:xfrm>
            <a:off x="8458200" y="1444752"/>
            <a:ext cx="295625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153</a:t>
            </a:r>
            <a:endParaRPr lang="en-US" sz="3600" dirty="0"/>
          </a:p>
        </p:txBody>
      </p:sp>
      <p:sp>
        <p:nvSpPr>
          <p:cNvPr id="7" name="Text 3"/>
          <p:cNvSpPr txBox="1"/>
          <p:nvPr/>
        </p:nvSpPr>
        <p:spPr>
          <a:xfrm>
            <a:off x="8458200" y="2121408"/>
            <a:ext cx="2956255" cy="594360"/>
          </a:xfrm>
          <a:prstGeom prst="rect">
            <a:avLst/>
          </a:prstGeom>
          <a:noFill/>
          <a:ln/>
        </p:spPr>
        <p:txBody>
          <a:bodyPr wrap="square" lIns="0" tIns="0" rIns="0" bIns="0" rtlCol="0" anchor="t"/>
          <a:lstStyle/>
          <a:p>
            <a:pPr indent="0" marL="0">
              <a:buNone/>
            </a:pPr>
            <a:r>
              <a:rPr lang="en-US" sz="1300" dirty="0">
                <a:solidFill>
                  <a:srgbClr val="55555C"/>
                </a:solidFill>
              </a:rPr>
              <a:t>AI testers, one report each</a:t>
            </a:r>
            <a:endParaRPr lang="en-US" sz="1300" dirty="0"/>
          </a:p>
        </p:txBody>
      </p:sp>
      <p:sp>
        <p:nvSpPr>
          <p:cNvPr id="8" name="Shape 4"/>
          <p:cNvSpPr/>
          <p:nvPr/>
        </p:nvSpPr>
        <p:spPr>
          <a:xfrm>
            <a:off x="8229600" y="2926080"/>
            <a:ext cx="3413455" cy="1508760"/>
          </a:xfrm>
          <a:prstGeom prst="roundRect">
            <a:avLst>
              <a:gd name="adj" fmla="val 4848"/>
            </a:avLst>
          </a:prstGeom>
          <a:solidFill>
            <a:srgbClr val="F3F6F4"/>
          </a:solidFill>
          <a:ln w="12700">
            <a:solidFill>
              <a:srgbClr val="F3F6F4"/>
            </a:solidFill>
            <a:prstDash val="solid"/>
          </a:ln>
        </p:spPr>
      </p:sp>
      <p:sp>
        <p:nvSpPr>
          <p:cNvPr id="9" name="Text 5"/>
          <p:cNvSpPr txBox="1"/>
          <p:nvPr/>
        </p:nvSpPr>
        <p:spPr>
          <a:xfrm>
            <a:off x="8458200" y="3090672"/>
            <a:ext cx="295625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16,713</a:t>
            </a:r>
            <a:endParaRPr lang="en-US" sz="3600" dirty="0"/>
          </a:p>
        </p:txBody>
      </p:sp>
      <p:sp>
        <p:nvSpPr>
          <p:cNvPr id="10" name="Text 6"/>
          <p:cNvSpPr txBox="1"/>
          <p:nvPr/>
        </p:nvSpPr>
        <p:spPr>
          <a:xfrm>
            <a:off x="8458200" y="3767328"/>
            <a:ext cx="2956255" cy="594360"/>
          </a:xfrm>
          <a:prstGeom prst="rect">
            <a:avLst/>
          </a:prstGeom>
          <a:noFill/>
          <a:ln/>
        </p:spPr>
        <p:txBody>
          <a:bodyPr wrap="square" lIns="0" tIns="0" rIns="0" bIns="0" rtlCol="0" anchor="t"/>
          <a:lstStyle/>
          <a:p>
            <a:pPr indent="0" marL="0">
              <a:buNone/>
            </a:pPr>
            <a:r>
              <a:rPr lang="en-US" sz="1300" dirty="0">
                <a:solidFill>
                  <a:srgbClr val="55555C"/>
                </a:solidFill>
              </a:rPr>
              <a:t>requests logged, with a hash of the session, never the session</a:t>
            </a:r>
            <a:endParaRPr lang="en-US" sz="1300" dirty="0"/>
          </a:p>
        </p:txBody>
      </p:sp>
      <p:sp>
        <p:nvSpPr>
          <p:cNvPr id="11" name="Shape 7"/>
          <p:cNvSpPr/>
          <p:nvPr/>
        </p:nvSpPr>
        <p:spPr>
          <a:xfrm>
            <a:off x="8229600" y="4572000"/>
            <a:ext cx="3413455" cy="1508760"/>
          </a:xfrm>
          <a:prstGeom prst="roundRect">
            <a:avLst>
              <a:gd name="adj" fmla="val 4848"/>
            </a:avLst>
          </a:prstGeom>
          <a:solidFill>
            <a:srgbClr val="F3F6F4"/>
          </a:solidFill>
          <a:ln w="12700">
            <a:solidFill>
              <a:srgbClr val="F3F6F4"/>
            </a:solidFill>
            <a:prstDash val="solid"/>
          </a:ln>
        </p:spPr>
      </p:sp>
      <p:sp>
        <p:nvSpPr>
          <p:cNvPr id="12" name="Text 8"/>
          <p:cNvSpPr txBox="1"/>
          <p:nvPr/>
        </p:nvSpPr>
        <p:spPr>
          <a:xfrm>
            <a:off x="8458200" y="4736592"/>
            <a:ext cx="295625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6 of 6</a:t>
            </a:r>
            <a:endParaRPr lang="en-US" sz="3600" dirty="0"/>
          </a:p>
        </p:txBody>
      </p:sp>
      <p:sp>
        <p:nvSpPr>
          <p:cNvPr id="13" name="Text 9"/>
          <p:cNvSpPr txBox="1"/>
          <p:nvPr/>
        </p:nvSpPr>
        <p:spPr>
          <a:xfrm>
            <a:off x="8458200" y="5413248"/>
            <a:ext cx="2956255" cy="594360"/>
          </a:xfrm>
          <a:prstGeom prst="rect">
            <a:avLst/>
          </a:prstGeom>
          <a:noFill/>
          <a:ln/>
        </p:spPr>
        <p:txBody>
          <a:bodyPr wrap="square" lIns="0" tIns="0" rIns="0" bIns="0" rtlCol="0" anchor="t"/>
          <a:lstStyle/>
          <a:p>
            <a:pPr indent="0" marL="0">
              <a:buNone/>
            </a:pPr>
            <a:r>
              <a:rPr lang="en-US" sz="1300" dirty="0">
                <a:solidFill>
                  <a:srgbClr val="55555C"/>
                </a:solidFill>
              </a:rPr>
              <a:t>clean in round 25, on every core flow</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146 tester sessions from the logs: every request, in order</a:t>
            </a:r>
            <a:endParaRPr lang="en-US" sz="2800" dirty="0"/>
          </a:p>
        </p:txBody>
      </p:sp>
      <p:pic>
        <p:nvPicPr>
          <p:cNvPr id="3" name="Image 0" descr="preencoded.png">    </p:cNvPr>
          <p:cNvPicPr>
            <a:picLocks noChangeAspect="1"/>
          </p:cNvPicPr>
          <p:nvPr/>
        </p:nvPicPr>
        <p:blipFill>
          <a:blip r:embed="rId1"/>
          <a:stretch>
            <a:fillRect/>
          </a:stretch>
        </p:blipFill>
        <p:spPr>
          <a:xfrm>
            <a:off x="600891" y="1188720"/>
            <a:ext cx="8307977" cy="4846320"/>
          </a:xfrm>
          <a:prstGeom prst="rect">
            <a:avLst/>
          </a:prstGeom>
        </p:spPr>
      </p:pic>
      <p:sp>
        <p:nvSpPr>
          <p:cNvPr id="4" name="Text 1"/>
          <p:cNvSpPr txBox="1"/>
          <p:nvPr/>
        </p:nvSpPr>
        <p:spPr>
          <a:xfrm>
            <a:off x="9235440" y="1280160"/>
            <a:ext cx="2407615" cy="3291840"/>
          </a:xfrm>
          <a:prstGeom prst="rect">
            <a:avLst/>
          </a:prstGeom>
          <a:noFill/>
          <a:ln/>
        </p:spPr>
        <p:txBody>
          <a:bodyPr wrap="square" lIns="0" tIns="0" rIns="0" bIns="0" rtlCol="0" anchor="t"/>
          <a:lstStyle/>
          <a:p>
            <a:pPr indent="0" marL="0">
              <a:spcAft>
                <a:spcPts val="1000"/>
              </a:spcAft>
              <a:buNone/>
            </a:pPr>
            <a:r>
              <a:rPr lang="en-US" sz="1300" dirty="0">
                <a:solidFill>
                  <a:srgbClr val="0A0A0B"/>
                </a:solidFill>
              </a:rPr>
              <a:t>One row per tester session, rounds 4 to 25; one dot per request at its time since the session began.</a:t>
            </a:r>
            <a:endParaRPr lang="en-US" sz="1300" dirty="0"/>
          </a:p>
          <a:p>
            <a:pPr indent="0" marL="0">
              <a:spcAft>
                <a:spcPts val="1000"/>
              </a:spcAft>
              <a:buNone/>
            </a:pPr>
            <a:r>
              <a:rPr lang="en-US" sz="1300" dirty="0">
                <a:solidFill>
                  <a:srgbClr val="0A7F44"/>
                </a:solidFill>
              </a:rPr>
              <a:t>● </a:t>
            </a:r>
            <a:pPr indent="0" marL="0">
              <a:spcAft>
                <a:spcPts val="1000"/>
              </a:spcAft>
              <a:buNone/>
            </a:pPr>
            <a:r>
              <a:rPr lang="en-US" sz="1300" dirty="0">
                <a:solidFill>
                  <a:srgbClr val="0A0A0B"/>
                </a:solidFill>
              </a:rPr>
              <a:t>2xx answered  </a:t>
            </a:r>
            <a:pPr indent="0" marL="0">
              <a:spcAft>
                <a:spcPts val="1000"/>
              </a:spcAft>
              <a:buNone/>
            </a:pPr>
            <a:r>
              <a:rPr lang="en-US" sz="1300" dirty="0">
                <a:solidFill>
                  <a:srgbClr val="B26A00"/>
                </a:solidFill>
              </a:rPr>
              <a:t>● </a:t>
            </a:r>
            <a:pPr indent="0" marL="0">
              <a:spcAft>
                <a:spcPts val="1000"/>
              </a:spcAft>
              <a:buNone/>
            </a:pPr>
            <a:r>
              <a:rPr lang="en-US" sz="1300" dirty="0">
                <a:solidFill>
                  <a:srgbClr val="0A0A0B"/>
                </a:solidFill>
              </a:rPr>
              <a:t>4xx refused or not found</a:t>
            </a:r>
            <a:endParaRPr lang="en-US" sz="1300" dirty="0"/>
          </a:p>
          <a:p>
            <a:pPr indent="0" marL="0">
              <a:spcAft>
                <a:spcPts val="1000"/>
              </a:spcAft>
              <a:buNone/>
            </a:pPr>
            <a:r>
              <a:rPr lang="en-US" sz="1300" dirty="0">
                <a:solidFill>
                  <a:srgbClr val="0A0A0B"/>
                </a:solidFill>
              </a:rPr>
              <a:t>11,525 requests drawn: 10,135 answered, 1,389 refused, not found or invalid, and no server errors (5xx).</a:t>
            </a:r>
            <a:endParaRPr lang="en-US" sz="1300" dirty="0"/>
          </a:p>
        </p:txBody>
      </p:sp>
      <p:sp>
        <p:nvSpPr>
          <p:cNvPr id="5" name="Shape 2"/>
          <p:cNvSpPr/>
          <p:nvPr/>
        </p:nvSpPr>
        <p:spPr>
          <a:xfrm>
            <a:off x="9235440" y="4663440"/>
            <a:ext cx="2407615" cy="1371600"/>
          </a:xfrm>
          <a:prstGeom prst="roundRect">
            <a:avLst>
              <a:gd name="adj" fmla="val 5333"/>
            </a:avLst>
          </a:prstGeom>
          <a:solidFill>
            <a:srgbClr val="E9F3EC"/>
          </a:solidFill>
          <a:ln w="12700">
            <a:solidFill>
              <a:srgbClr val="E9F3EC"/>
            </a:solidFill>
            <a:prstDash val="solid"/>
          </a:ln>
        </p:spPr>
      </p:sp>
      <p:sp>
        <p:nvSpPr>
          <p:cNvPr id="6" name="Text 3"/>
          <p:cNvSpPr txBox="1"/>
          <p:nvPr/>
        </p:nvSpPr>
        <p:spPr>
          <a:xfrm>
            <a:off x="9418320" y="4773168"/>
            <a:ext cx="2041855" cy="1188720"/>
          </a:xfrm>
          <a:prstGeom prst="rect">
            <a:avLst/>
          </a:prstGeom>
          <a:noFill/>
          <a:ln/>
        </p:spPr>
        <p:txBody>
          <a:bodyPr wrap="square" lIns="0" tIns="0" rIns="0" bIns="0" rtlCol="0" anchor="t"/>
          <a:lstStyle/>
          <a:p>
            <a:pPr indent="0" marL="0">
              <a:spcAft>
                <a:spcPts val="600"/>
              </a:spcAft>
              <a:buNone/>
            </a:pPr>
            <a:r>
              <a:rPr lang="en-US" sz="1250" b="1" dirty="0">
                <a:solidFill>
                  <a:srgbClr val="0A0A0B"/>
                </a:solidFill>
              </a:rPr>
              <a:t>An agent with only the address </a:t>
            </a:r>
            <a:pPr indent="0" marL="0">
              <a:spcAft>
                <a:spcPts val="600"/>
              </a:spcAft>
              <a:buNone/>
            </a:pPr>
            <a:r>
              <a:rPr lang="en-US" sz="1250" dirty="0">
                <a:solidFill>
                  <a:srgbClr val="0A0A0B"/>
                </a:solidFill>
              </a:rPr>
              <a:t>was doing useful work by its third request and found its person a Sunday 09:00 tennis game, free, 2.6 km away.</a:t>
            </a:r>
            <a:endParaRPr lang="en-US" sz="12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the testers found, and what changed</a:t>
            </a:r>
            <a:endParaRPr lang="en-US" sz="2800" dirty="0"/>
          </a:p>
        </p:txBody>
      </p:sp>
      <p:sp>
        <p:nvSpPr>
          <p:cNvPr id="3" name="Shape 1"/>
          <p:cNvSpPr/>
          <p:nvPr/>
        </p:nvSpPr>
        <p:spPr>
          <a:xfrm>
            <a:off x="548640" y="1280160"/>
            <a:ext cx="3520440" cy="2240280"/>
          </a:xfrm>
          <a:prstGeom prst="roundRect">
            <a:avLst>
              <a:gd name="adj" fmla="val 3265"/>
            </a:avLst>
          </a:prstGeom>
          <a:solidFill>
            <a:srgbClr val="F3F6F4"/>
          </a:solidFill>
          <a:ln w="12700">
            <a:solidFill>
              <a:srgbClr val="F3F6F4"/>
            </a:solidFill>
            <a:prstDash val="solid"/>
          </a:ln>
        </p:spPr>
      </p:sp>
      <p:sp>
        <p:nvSpPr>
          <p:cNvPr id="4" name="Text 2"/>
          <p:cNvSpPr txBox="1"/>
          <p:nvPr/>
        </p:nvSpPr>
        <p:spPr>
          <a:xfrm>
            <a:off x="77724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Privacy</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 host could count who nearby was open to being asked; a waitlist note showed a show-up rate.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Nearby people appear only once they can play; others see badge words only.</a:t>
            </a:r>
            <a:endParaRPr lang="en-US" sz="1600" dirty="0"/>
          </a:p>
        </p:txBody>
      </p:sp>
      <p:sp>
        <p:nvSpPr>
          <p:cNvPr id="5" name="Shape 3"/>
          <p:cNvSpPr/>
          <p:nvPr/>
        </p:nvSpPr>
        <p:spPr>
          <a:xfrm>
            <a:off x="4297680" y="1280160"/>
            <a:ext cx="3520440" cy="2240280"/>
          </a:xfrm>
          <a:prstGeom prst="roundRect">
            <a:avLst>
              <a:gd name="adj" fmla="val 3265"/>
            </a:avLst>
          </a:prstGeom>
          <a:solidFill>
            <a:srgbClr val="F3F6F4"/>
          </a:solidFill>
          <a:ln w="12700">
            <a:solidFill>
              <a:srgbClr val="F3F6F4"/>
            </a:solidFill>
            <a:prstDash val="solid"/>
          </a:ln>
        </p:spPr>
      </p:sp>
      <p:sp>
        <p:nvSpPr>
          <p:cNvPr id="6" name="Text 4"/>
          <p:cNvSpPr txBox="1"/>
          <p:nvPr/>
        </p:nvSpPr>
        <p:spPr>
          <a:xfrm>
            <a:off x="452628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Limits and permission</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An agent's game ignored “no new people” and the price cap; a learned distance overrode the person's own.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person's settings decide, on every path.</a:t>
            </a:r>
            <a:endParaRPr lang="en-US" sz="1600" dirty="0"/>
          </a:p>
        </p:txBody>
      </p:sp>
      <p:sp>
        <p:nvSpPr>
          <p:cNvPr id="7" name="Shape 5"/>
          <p:cNvSpPr/>
          <p:nvPr/>
        </p:nvSpPr>
        <p:spPr>
          <a:xfrm>
            <a:off x="8046720" y="1280160"/>
            <a:ext cx="3520440" cy="2240280"/>
          </a:xfrm>
          <a:prstGeom prst="roundRect">
            <a:avLst>
              <a:gd name="adj" fmla="val 3265"/>
            </a:avLst>
          </a:prstGeom>
          <a:solidFill>
            <a:srgbClr val="F3F6F4"/>
          </a:solidFill>
          <a:ln w="12700">
            <a:solidFill>
              <a:srgbClr val="F3F6F4"/>
            </a:solidFill>
            <a:prstDash val="solid"/>
          </a:ln>
        </p:spPr>
      </p:sp>
      <p:sp>
        <p:nvSpPr>
          <p:cNvPr id="8" name="Text 6"/>
          <p:cNvSpPr txBox="1"/>
          <p:nvPr/>
        </p:nvSpPr>
        <p:spPr>
          <a:xfrm>
            <a:off x="827532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Double-booking</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Overlapping joins, a post over an agreed game, a waitlist promotion into a clash.</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One clash rule for posts, joins, promotions and the agents' talk.</a:t>
            </a:r>
            <a:endParaRPr lang="en-US" sz="1600" dirty="0"/>
          </a:p>
        </p:txBody>
      </p:sp>
      <p:sp>
        <p:nvSpPr>
          <p:cNvPr id="9" name="Shape 7"/>
          <p:cNvSpPr/>
          <p:nvPr/>
        </p:nvSpPr>
        <p:spPr>
          <a:xfrm>
            <a:off x="548640" y="3703320"/>
            <a:ext cx="3520440" cy="2240280"/>
          </a:xfrm>
          <a:prstGeom prst="roundRect">
            <a:avLst>
              <a:gd name="adj" fmla="val 3265"/>
            </a:avLst>
          </a:prstGeom>
          <a:solidFill>
            <a:srgbClr val="F3F6F4"/>
          </a:solidFill>
          <a:ln w="12700">
            <a:solidFill>
              <a:srgbClr val="F3F6F4"/>
            </a:solidFill>
            <a:prstDash val="solid"/>
          </a:ln>
        </p:spPr>
      </p:sp>
      <p:sp>
        <p:nvSpPr>
          <p:cNvPr id="10" name="Text 8"/>
          <p:cNvSpPr txBox="1"/>
          <p:nvPr/>
        </p:nvSpPr>
        <p:spPr>
          <a:xfrm>
            <a:off x="77724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Telling the truth</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“Agreed” with too few players; a called-off game left people uninformed.</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Every affected person is told what happened, once.</a:t>
            </a:r>
            <a:endParaRPr lang="en-US" sz="1600" dirty="0"/>
          </a:p>
        </p:txBody>
      </p:sp>
      <p:sp>
        <p:nvSpPr>
          <p:cNvPr id="11" name="Shape 9"/>
          <p:cNvSpPr/>
          <p:nvPr/>
        </p:nvSpPr>
        <p:spPr>
          <a:xfrm>
            <a:off x="4297680" y="3703320"/>
            <a:ext cx="3520440" cy="2240280"/>
          </a:xfrm>
          <a:prstGeom prst="roundRect">
            <a:avLst>
              <a:gd name="adj" fmla="val 3265"/>
            </a:avLst>
          </a:prstGeom>
          <a:solidFill>
            <a:srgbClr val="F3F6F4"/>
          </a:solidFill>
          <a:ln w="12700">
            <a:solidFill>
              <a:srgbClr val="F3F6F4"/>
            </a:solidFill>
            <a:prstDash val="solid"/>
          </a:ln>
        </p:spPr>
      </p:sp>
      <p:sp>
        <p:nvSpPr>
          <p:cNvPr id="12" name="Text 10"/>
          <p:cNvSpPr txBox="1"/>
          <p:nvPr/>
        </p:nvSpPr>
        <p:spPr>
          <a:xfrm>
            <a:off x="452628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Fills of a posted game</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Stopping the agents and calling the game off were one action.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Two actions; a game that fills stops the agents and tells those asked.</a:t>
            </a:r>
            <a:endParaRPr lang="en-US" sz="1600" dirty="0"/>
          </a:p>
        </p:txBody>
      </p:sp>
      <p:sp>
        <p:nvSpPr>
          <p:cNvPr id="13" name="Shape 11"/>
          <p:cNvSpPr/>
          <p:nvPr/>
        </p:nvSpPr>
        <p:spPr>
          <a:xfrm>
            <a:off x="8046720" y="3703320"/>
            <a:ext cx="3520440" cy="2240280"/>
          </a:xfrm>
          <a:prstGeom prst="roundRect">
            <a:avLst>
              <a:gd name="adj" fmla="val 3265"/>
            </a:avLst>
          </a:prstGeom>
          <a:solidFill>
            <a:srgbClr val="F3F6F4"/>
          </a:solidFill>
          <a:ln w="12700">
            <a:solidFill>
              <a:srgbClr val="F3F6F4"/>
            </a:solidFill>
            <a:prstDash val="solid"/>
          </a:ln>
        </p:spPr>
      </p:sp>
      <p:sp>
        <p:nvSpPr>
          <p:cNvPr id="14" name="Text 12"/>
          <p:cNvSpPr txBox="1"/>
          <p:nvPr/>
        </p:nvSpPr>
        <p:spPr>
          <a:xfrm>
            <a:off x="827532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Agents arriving cold</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Hard to find the way in.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A guide in the site's HTML, /llms.txt with a six-call quick start.</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Code computes the facts; models choose among preferences</a:t>
            </a:r>
            <a:endParaRPr lang="en-US" sz="2800" dirty="0"/>
          </a:p>
        </p:txBody>
      </p:sp>
      <p:pic>
        <p:nvPicPr>
          <p:cNvPr id="3" name="Image 0" descr="preencoded.png">    </p:cNvPr>
          <p:cNvPicPr>
            <a:picLocks noChangeAspect="1"/>
          </p:cNvPicPr>
          <p:nvPr/>
        </p:nvPicPr>
        <p:blipFill>
          <a:blip r:embed="rId1"/>
          <a:stretch>
            <a:fillRect/>
          </a:stretch>
        </p:blipFill>
        <p:spPr>
          <a:xfrm>
            <a:off x="2127697" y="1234440"/>
            <a:ext cx="7936302" cy="4206240"/>
          </a:xfrm>
          <a:prstGeom prst="rect">
            <a:avLst/>
          </a:prstGeom>
        </p:spPr>
      </p:pic>
      <p:sp>
        <p:nvSpPr>
          <p:cNvPr id="4" name="Text 1"/>
          <p:cNvSpPr txBox="1"/>
          <p:nvPr/>
        </p:nvSpPr>
        <p:spPr>
          <a:xfrm>
            <a:off x="548640" y="5623560"/>
            <a:ext cx="11094415" cy="914400"/>
          </a:xfrm>
          <a:prstGeom prst="rect">
            <a:avLst/>
          </a:prstGeom>
          <a:noFill/>
          <a:ln/>
        </p:spPr>
        <p:txBody>
          <a:bodyPr wrap="square" lIns="0" tIns="0" rIns="0" bIns="0" rtlCol="0" anchor="t"/>
          <a:lstStyle/>
          <a:p>
            <a:pPr indent="0" marL="0">
              <a:spcAft>
                <a:spcPts val="600"/>
              </a:spcAft>
              <a:buNone/>
            </a:pPr>
            <a:r>
              <a:rPr lang="en-US" sz="1400" dirty="0">
                <a:solidFill>
                  <a:srgbClr val="55555C"/>
                </a:solidFill>
              </a:rPr>
              <a:t>That keeps a model's mistake from turning into a wrong booking or a clash. Four pieces of engineering underneath: a standard A2A protocol with a negotiation engine, active querying by the value of information, a community that evolves the platform with rollback, and 3D reconstruction from a phone video.</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A2A v1.0: facts only, settled in one round by intersection</a:t>
            </a:r>
            <a:endParaRPr lang="en-US" sz="2800" dirty="0"/>
          </a:p>
        </p:txBody>
      </p:sp>
      <p:sp>
        <p:nvSpPr>
          <p:cNvPr id="3" name="Shape 1"/>
          <p:cNvSpPr/>
          <p:nvPr/>
        </p:nvSpPr>
        <p:spPr>
          <a:xfrm>
            <a:off x="548640" y="2331720"/>
            <a:ext cx="1828800" cy="1280160"/>
          </a:xfrm>
          <a:prstGeom prst="roundRect">
            <a:avLst>
              <a:gd name="adj" fmla="val 5714"/>
            </a:avLst>
          </a:prstGeom>
          <a:solidFill>
            <a:srgbClr val="0A7F44"/>
          </a:solidFill>
          <a:ln w="12700">
            <a:solidFill>
              <a:srgbClr val="0A7F44"/>
            </a:solidFill>
            <a:prstDash val="solid"/>
          </a:ln>
        </p:spPr>
      </p:sp>
      <p:sp>
        <p:nvSpPr>
          <p:cNvPr id="4" name="Text 2"/>
          <p:cNvSpPr txBox="1"/>
          <p:nvPr/>
        </p:nvSpPr>
        <p:spPr>
          <a:xfrm>
            <a:off x="685800" y="2331720"/>
            <a:ext cx="1554480" cy="1280160"/>
          </a:xfrm>
          <a:prstGeom prst="rect">
            <a:avLst/>
          </a:prstGeom>
          <a:noFill/>
          <a:ln/>
        </p:spPr>
        <p:txBody>
          <a:bodyPr wrap="square" lIns="0" tIns="0" rIns="0" bIns="0" rtlCol="0" anchor="ctr"/>
          <a:lstStyle/>
          <a:p>
            <a:pPr algn="ctr" indent="0" marL="0">
              <a:buNone/>
            </a:pPr>
            <a:r>
              <a:rPr lang="en-US" sz="1400" b="1" dirty="0">
                <a:solidFill>
                  <a:srgbClr val="FFFFFF"/>
                </a:solidFill>
              </a:rPr>
              <a:t>Host's agent</a:t>
            </a:r>
            <a:endParaRPr lang="en-US" sz="1400" dirty="0"/>
          </a:p>
          <a:p>
            <a:pPr algn="ctr" indent="0" marL="0">
              <a:buNone/>
            </a:pPr>
            <a:r>
              <a:rPr lang="en-US" sz="1150" dirty="0">
                <a:solidFill>
                  <a:srgbClr val="D9EBDF"/>
                </a:solidFill>
              </a:rPr>
              <a:t>lists up to 12 times that fit every calendar and have a court</a:t>
            </a:r>
            <a:endParaRPr lang="en-US" sz="1400" dirty="0"/>
          </a:p>
        </p:txBody>
      </p:sp>
      <p:sp>
        <p:nvSpPr>
          <p:cNvPr id="5" name="Shape 3"/>
          <p:cNvSpPr/>
          <p:nvPr/>
        </p:nvSpPr>
        <p:spPr>
          <a:xfrm>
            <a:off x="2697480" y="2240280"/>
            <a:ext cx="2331720" cy="1463040"/>
          </a:xfrm>
          <a:prstGeom prst="roundRect">
            <a:avLst>
              <a:gd name="adj" fmla="val 3750"/>
            </a:avLst>
          </a:prstGeom>
          <a:solidFill>
            <a:srgbClr val="FFFFFF"/>
          </a:solidFill>
          <a:ln w="12700">
            <a:solidFill>
              <a:srgbClr val="DCDCE0"/>
            </a:solidFill>
            <a:prstDash val="solid"/>
          </a:ln>
        </p:spPr>
      </p:sp>
      <p:sp>
        <p:nvSpPr>
          <p:cNvPr id="6" name="Text 4"/>
          <p:cNvSpPr txBox="1"/>
          <p:nvPr/>
        </p:nvSpPr>
        <p:spPr>
          <a:xfrm>
            <a:off x="2834640" y="2286000"/>
            <a:ext cx="2103120" cy="1371600"/>
          </a:xfrm>
          <a:prstGeom prst="rect">
            <a:avLst/>
          </a:prstGeom>
          <a:noFill/>
          <a:ln/>
        </p:spPr>
        <p:txBody>
          <a:bodyPr wrap="square" lIns="0" tIns="0" rIns="0" bIns="0" rtlCol="0" anchor="ctr"/>
          <a:lstStyle/>
          <a:p>
            <a:pPr indent="0" marL="0">
              <a:buNone/>
            </a:pPr>
            <a:r>
              <a:rPr lang="en-US" sz="1200" b="1" dirty="0">
                <a:solidFill>
                  <a:srgbClr val="0A7F44"/>
                </a:solidFill>
              </a:rPr>
              <a:t>serve.proposal</a:t>
            </a:r>
            <a:endParaRPr lang="en-US" sz="1200" dirty="0"/>
          </a:p>
          <a:p>
            <a:pPr indent="0" marL="0">
              <a:buNone/>
            </a:pPr>
            <a:r>
              <a:rPr lang="en-US" sz="1200" dirty="0">
                <a:solidFill>
                  <a:srgbClr val="0A0A0B"/>
                </a:solidFill>
                <a:latin typeface="Consolas" pitchFamily="34" charset="0"/>
                <a:ea typeface="Consolas" pitchFamily="34" charset="-122"/>
                <a:cs typeface="Consolas" pitchFamily="34" charset="-120"/>
              </a:rPr>
              <a:t>{ id, date, start,</a:t>
            </a:r>
            <a:endParaRPr lang="en-US" sz="1200" dirty="0"/>
          </a:p>
          <a:p>
            <a:pPr indent="0" marL="0">
              <a:buNone/>
            </a:pPr>
            <a:r>
              <a:rPr lang="en-US" sz="1200" dirty="0">
                <a:solidFill>
                  <a:srgbClr val="0A0A0B"/>
                </a:solidFill>
                <a:latin typeface="Consolas" pitchFamily="34" charset="0"/>
                <a:ea typeface="Consolas" pitchFamily="34" charset="-122"/>
                <a:cs typeface="Consolas" pitchFamily="34" charset="-120"/>
              </a:rPr>
              <a:t>  venue, court, trip }</a:t>
            </a:r>
            <a:endParaRPr lang="en-US" sz="1200" dirty="0"/>
          </a:p>
          <a:p>
            <a:pPr indent="0" marL="0">
              <a:buNone/>
            </a:pPr>
            <a:r>
              <a:rPr lang="en-US" sz="1050" dirty="0">
                <a:solidFill>
                  <a:srgbClr val="55555C"/>
                </a:solidFill>
              </a:rPr>
              <a:t>facts only, signed (Ed25519)</a:t>
            </a:r>
            <a:endParaRPr lang="en-US" sz="1200" dirty="0"/>
          </a:p>
        </p:txBody>
      </p:sp>
      <p:sp>
        <p:nvSpPr>
          <p:cNvPr id="7" name="Shape 5"/>
          <p:cNvSpPr/>
          <p:nvPr/>
        </p:nvSpPr>
        <p:spPr>
          <a:xfrm>
            <a:off x="2395728" y="2971800"/>
            <a:ext cx="283464" cy="914"/>
          </a:xfrm>
          <a:prstGeom prst="line">
            <a:avLst/>
          </a:prstGeom>
          <a:noFill/>
          <a:ln w="25400">
            <a:solidFill>
              <a:srgbClr val="8A8A92"/>
            </a:solidFill>
            <a:prstDash val="solid"/>
            <a:tailEnd type="triangle"/>
          </a:ln>
        </p:spPr>
      </p:sp>
      <p:sp>
        <p:nvSpPr>
          <p:cNvPr id="8" name="Shape 6"/>
          <p:cNvSpPr/>
          <p:nvPr/>
        </p:nvSpPr>
        <p:spPr>
          <a:xfrm flipV="1">
            <a:off x="5047488" y="1737360"/>
            <a:ext cx="347472" cy="1234440"/>
          </a:xfrm>
          <a:prstGeom prst="line">
            <a:avLst/>
          </a:prstGeom>
          <a:noFill/>
          <a:ln w="25400">
            <a:solidFill>
              <a:srgbClr val="8A8A92"/>
            </a:solidFill>
            <a:prstDash val="solid"/>
            <a:tailEnd type="triangle"/>
          </a:ln>
        </p:spPr>
      </p:sp>
      <p:sp>
        <p:nvSpPr>
          <p:cNvPr id="9" name="Shape 7"/>
          <p:cNvSpPr/>
          <p:nvPr/>
        </p:nvSpPr>
        <p:spPr>
          <a:xfrm>
            <a:off x="5413248" y="1280160"/>
            <a:ext cx="2834640" cy="960120"/>
          </a:xfrm>
          <a:prstGeom prst="roundRect">
            <a:avLst>
              <a:gd name="adj" fmla="val 7619"/>
            </a:avLst>
          </a:prstGeom>
          <a:solidFill>
            <a:srgbClr val="F3F6F4"/>
          </a:solidFill>
          <a:ln w="12700">
            <a:solidFill>
              <a:srgbClr val="F3F6F4"/>
            </a:solidFill>
            <a:prstDash val="solid"/>
          </a:ln>
        </p:spPr>
      </p:sp>
      <p:sp>
        <p:nvSpPr>
          <p:cNvPr id="10" name="Text 8"/>
          <p:cNvSpPr txBox="1"/>
          <p:nvPr/>
        </p:nvSpPr>
        <p:spPr>
          <a:xfrm>
            <a:off x="5577840" y="135331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Ana's agent</a:t>
            </a:r>
            <a:endParaRPr lang="en-US" sz="1300" dirty="0"/>
          </a:p>
        </p:txBody>
      </p:sp>
      <p:sp>
        <p:nvSpPr>
          <p:cNvPr id="11" name="Shape 9"/>
          <p:cNvSpPr/>
          <p:nvPr/>
        </p:nvSpPr>
        <p:spPr>
          <a:xfrm>
            <a:off x="5577840" y="1737360"/>
            <a:ext cx="438912" cy="347472"/>
          </a:xfrm>
          <a:prstGeom prst="roundRect">
            <a:avLst>
              <a:gd name="adj" fmla="val 13158"/>
            </a:avLst>
          </a:prstGeom>
          <a:solidFill>
            <a:srgbClr val="8CC5A6"/>
          </a:solidFill>
          <a:ln w="12700">
            <a:solidFill>
              <a:srgbClr val="8CC5A6"/>
            </a:solidFill>
            <a:prstDash val="solid"/>
          </a:ln>
        </p:spPr>
      </p:sp>
      <p:sp>
        <p:nvSpPr>
          <p:cNvPr id="12" name="Text 10"/>
          <p:cNvSpPr txBox="1"/>
          <p:nvPr/>
        </p:nvSpPr>
        <p:spPr>
          <a:xfrm>
            <a:off x="557784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t1</a:t>
            </a:r>
            <a:endParaRPr lang="en-US" sz="1100" dirty="0"/>
          </a:p>
        </p:txBody>
      </p:sp>
      <p:sp>
        <p:nvSpPr>
          <p:cNvPr id="13" name="Shape 11"/>
          <p:cNvSpPr/>
          <p:nvPr/>
        </p:nvSpPr>
        <p:spPr>
          <a:xfrm>
            <a:off x="6080760" y="1737360"/>
            <a:ext cx="438912" cy="347472"/>
          </a:xfrm>
          <a:prstGeom prst="roundRect">
            <a:avLst>
              <a:gd name="adj" fmla="val 13158"/>
            </a:avLst>
          </a:prstGeom>
          <a:solidFill>
            <a:srgbClr val="0A7F44"/>
          </a:solidFill>
          <a:ln w="12700">
            <a:solidFill>
              <a:srgbClr val="0A7F44"/>
            </a:solidFill>
            <a:prstDash val="solid"/>
          </a:ln>
        </p:spPr>
      </p:sp>
      <p:sp>
        <p:nvSpPr>
          <p:cNvPr id="14" name="Text 12"/>
          <p:cNvSpPr txBox="1"/>
          <p:nvPr/>
        </p:nvSpPr>
        <p:spPr>
          <a:xfrm>
            <a:off x="608076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15" name="Shape 13"/>
          <p:cNvSpPr/>
          <p:nvPr/>
        </p:nvSpPr>
        <p:spPr>
          <a:xfrm>
            <a:off x="6583680" y="1737360"/>
            <a:ext cx="438912" cy="347472"/>
          </a:xfrm>
          <a:prstGeom prst="roundRect">
            <a:avLst>
              <a:gd name="adj" fmla="val 13158"/>
            </a:avLst>
          </a:prstGeom>
          <a:solidFill>
            <a:srgbClr val="E1E4E2"/>
          </a:solidFill>
          <a:ln w="12700">
            <a:solidFill>
              <a:srgbClr val="E1E4E2"/>
            </a:solidFill>
            <a:prstDash val="solid"/>
          </a:ln>
        </p:spPr>
      </p:sp>
      <p:sp>
        <p:nvSpPr>
          <p:cNvPr id="16" name="Text 14"/>
          <p:cNvSpPr txBox="1"/>
          <p:nvPr/>
        </p:nvSpPr>
        <p:spPr>
          <a:xfrm>
            <a:off x="6583680" y="173736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t3</a:t>
            </a:r>
            <a:endParaRPr lang="en-US" sz="1100" dirty="0"/>
          </a:p>
        </p:txBody>
      </p:sp>
      <p:sp>
        <p:nvSpPr>
          <p:cNvPr id="17" name="Shape 15"/>
          <p:cNvSpPr/>
          <p:nvPr/>
        </p:nvSpPr>
        <p:spPr>
          <a:xfrm>
            <a:off x="7086600" y="1737360"/>
            <a:ext cx="438912" cy="347472"/>
          </a:xfrm>
          <a:prstGeom prst="roundRect">
            <a:avLst>
              <a:gd name="adj" fmla="val 13158"/>
            </a:avLst>
          </a:prstGeom>
          <a:solidFill>
            <a:srgbClr val="0A7F44"/>
          </a:solidFill>
          <a:ln w="12700">
            <a:solidFill>
              <a:srgbClr val="0A7F44"/>
            </a:solidFill>
            <a:prstDash val="solid"/>
          </a:ln>
        </p:spPr>
      </p:sp>
      <p:sp>
        <p:nvSpPr>
          <p:cNvPr id="18" name="Text 16"/>
          <p:cNvSpPr txBox="1"/>
          <p:nvPr/>
        </p:nvSpPr>
        <p:spPr>
          <a:xfrm>
            <a:off x="708660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19" name="Shape 17"/>
          <p:cNvSpPr/>
          <p:nvPr/>
        </p:nvSpPr>
        <p:spPr>
          <a:xfrm>
            <a:off x="7589520" y="1737360"/>
            <a:ext cx="438912" cy="347472"/>
          </a:xfrm>
          <a:prstGeom prst="roundRect">
            <a:avLst>
              <a:gd name="adj" fmla="val 13158"/>
            </a:avLst>
          </a:prstGeom>
          <a:solidFill>
            <a:srgbClr val="E1E4E2"/>
          </a:solidFill>
          <a:ln w="12700">
            <a:solidFill>
              <a:srgbClr val="E1E4E2"/>
            </a:solidFill>
            <a:prstDash val="solid"/>
          </a:ln>
        </p:spPr>
      </p:sp>
      <p:sp>
        <p:nvSpPr>
          <p:cNvPr id="20" name="Text 18"/>
          <p:cNvSpPr txBox="1"/>
          <p:nvPr/>
        </p:nvSpPr>
        <p:spPr>
          <a:xfrm>
            <a:off x="7589520" y="173736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t5</a:t>
            </a:r>
            <a:endParaRPr lang="en-US" sz="1100" dirty="0"/>
          </a:p>
        </p:txBody>
      </p:sp>
      <p:sp>
        <p:nvSpPr>
          <p:cNvPr id="21" name="Shape 19"/>
          <p:cNvSpPr/>
          <p:nvPr/>
        </p:nvSpPr>
        <p:spPr>
          <a:xfrm>
            <a:off x="8266176" y="1737360"/>
            <a:ext cx="374904" cy="1234440"/>
          </a:xfrm>
          <a:prstGeom prst="line">
            <a:avLst/>
          </a:prstGeom>
          <a:noFill/>
          <a:ln w="25400">
            <a:solidFill>
              <a:srgbClr val="8A8A92"/>
            </a:solidFill>
            <a:prstDash val="solid"/>
            <a:tailEnd type="triangle"/>
          </a:ln>
        </p:spPr>
      </p:sp>
      <p:sp>
        <p:nvSpPr>
          <p:cNvPr id="22" name="Shape 20"/>
          <p:cNvSpPr/>
          <p:nvPr/>
        </p:nvSpPr>
        <p:spPr>
          <a:xfrm flipV="1">
            <a:off x="5047488" y="2926080"/>
            <a:ext cx="347472" cy="45720"/>
          </a:xfrm>
          <a:prstGeom prst="line">
            <a:avLst/>
          </a:prstGeom>
          <a:noFill/>
          <a:ln w="25400">
            <a:solidFill>
              <a:srgbClr val="8A8A92"/>
            </a:solidFill>
            <a:prstDash val="solid"/>
            <a:tailEnd type="triangle"/>
          </a:ln>
        </p:spPr>
      </p:sp>
      <p:sp>
        <p:nvSpPr>
          <p:cNvPr id="23" name="Shape 21"/>
          <p:cNvSpPr/>
          <p:nvPr/>
        </p:nvSpPr>
        <p:spPr>
          <a:xfrm>
            <a:off x="5413248" y="2468880"/>
            <a:ext cx="2834640" cy="960120"/>
          </a:xfrm>
          <a:prstGeom prst="roundRect">
            <a:avLst>
              <a:gd name="adj" fmla="val 7619"/>
            </a:avLst>
          </a:prstGeom>
          <a:solidFill>
            <a:srgbClr val="F3F6F4"/>
          </a:solidFill>
          <a:ln w="12700">
            <a:solidFill>
              <a:srgbClr val="F3F6F4"/>
            </a:solidFill>
            <a:prstDash val="solid"/>
          </a:ln>
        </p:spPr>
      </p:sp>
      <p:sp>
        <p:nvSpPr>
          <p:cNvPr id="24" name="Text 22"/>
          <p:cNvSpPr txBox="1"/>
          <p:nvPr/>
        </p:nvSpPr>
        <p:spPr>
          <a:xfrm>
            <a:off x="5577840" y="254203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Leo's agent</a:t>
            </a:r>
            <a:endParaRPr lang="en-US" sz="1300" dirty="0"/>
          </a:p>
        </p:txBody>
      </p:sp>
      <p:sp>
        <p:nvSpPr>
          <p:cNvPr id="25" name="Shape 23"/>
          <p:cNvSpPr/>
          <p:nvPr/>
        </p:nvSpPr>
        <p:spPr>
          <a:xfrm>
            <a:off x="5577840" y="2926080"/>
            <a:ext cx="438912" cy="347472"/>
          </a:xfrm>
          <a:prstGeom prst="roundRect">
            <a:avLst>
              <a:gd name="adj" fmla="val 13158"/>
            </a:avLst>
          </a:prstGeom>
          <a:solidFill>
            <a:srgbClr val="E1E4E2"/>
          </a:solidFill>
          <a:ln w="12700">
            <a:solidFill>
              <a:srgbClr val="E1E4E2"/>
            </a:solidFill>
            <a:prstDash val="solid"/>
          </a:ln>
        </p:spPr>
      </p:sp>
      <p:sp>
        <p:nvSpPr>
          <p:cNvPr id="26" name="Text 24"/>
          <p:cNvSpPr txBox="1"/>
          <p:nvPr/>
        </p:nvSpPr>
        <p:spPr>
          <a:xfrm>
            <a:off x="5577840" y="292608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t1</a:t>
            </a:r>
            <a:endParaRPr lang="en-US" sz="1100" dirty="0"/>
          </a:p>
        </p:txBody>
      </p:sp>
      <p:sp>
        <p:nvSpPr>
          <p:cNvPr id="27" name="Shape 25"/>
          <p:cNvSpPr/>
          <p:nvPr/>
        </p:nvSpPr>
        <p:spPr>
          <a:xfrm>
            <a:off x="6080760" y="2926080"/>
            <a:ext cx="438912" cy="347472"/>
          </a:xfrm>
          <a:prstGeom prst="roundRect">
            <a:avLst>
              <a:gd name="adj" fmla="val 13158"/>
            </a:avLst>
          </a:prstGeom>
          <a:solidFill>
            <a:srgbClr val="0A7F44"/>
          </a:solidFill>
          <a:ln w="12700">
            <a:solidFill>
              <a:srgbClr val="0A7F44"/>
            </a:solidFill>
            <a:prstDash val="solid"/>
          </a:ln>
        </p:spPr>
      </p:sp>
      <p:sp>
        <p:nvSpPr>
          <p:cNvPr id="28" name="Text 26"/>
          <p:cNvSpPr txBox="1"/>
          <p:nvPr/>
        </p:nvSpPr>
        <p:spPr>
          <a:xfrm>
            <a:off x="608076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29" name="Shape 27"/>
          <p:cNvSpPr/>
          <p:nvPr/>
        </p:nvSpPr>
        <p:spPr>
          <a:xfrm>
            <a:off x="6583680" y="2926080"/>
            <a:ext cx="438912" cy="347472"/>
          </a:xfrm>
          <a:prstGeom prst="roundRect">
            <a:avLst>
              <a:gd name="adj" fmla="val 13158"/>
            </a:avLst>
          </a:prstGeom>
          <a:solidFill>
            <a:srgbClr val="8CC5A6"/>
          </a:solidFill>
          <a:ln w="12700">
            <a:solidFill>
              <a:srgbClr val="8CC5A6"/>
            </a:solidFill>
            <a:prstDash val="solid"/>
          </a:ln>
        </p:spPr>
      </p:sp>
      <p:sp>
        <p:nvSpPr>
          <p:cNvPr id="30" name="Text 28"/>
          <p:cNvSpPr txBox="1"/>
          <p:nvPr/>
        </p:nvSpPr>
        <p:spPr>
          <a:xfrm>
            <a:off x="658368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t3</a:t>
            </a:r>
            <a:endParaRPr lang="en-US" sz="1100" dirty="0"/>
          </a:p>
        </p:txBody>
      </p:sp>
      <p:sp>
        <p:nvSpPr>
          <p:cNvPr id="31" name="Shape 29"/>
          <p:cNvSpPr/>
          <p:nvPr/>
        </p:nvSpPr>
        <p:spPr>
          <a:xfrm>
            <a:off x="7086600" y="2926080"/>
            <a:ext cx="438912" cy="347472"/>
          </a:xfrm>
          <a:prstGeom prst="roundRect">
            <a:avLst>
              <a:gd name="adj" fmla="val 13158"/>
            </a:avLst>
          </a:prstGeom>
          <a:solidFill>
            <a:srgbClr val="0A7F44"/>
          </a:solidFill>
          <a:ln w="12700">
            <a:solidFill>
              <a:srgbClr val="0A7F44"/>
            </a:solidFill>
            <a:prstDash val="solid"/>
          </a:ln>
        </p:spPr>
      </p:sp>
      <p:sp>
        <p:nvSpPr>
          <p:cNvPr id="32" name="Text 30"/>
          <p:cNvSpPr txBox="1"/>
          <p:nvPr/>
        </p:nvSpPr>
        <p:spPr>
          <a:xfrm>
            <a:off x="708660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33" name="Shape 31"/>
          <p:cNvSpPr/>
          <p:nvPr/>
        </p:nvSpPr>
        <p:spPr>
          <a:xfrm>
            <a:off x="7589520" y="2926080"/>
            <a:ext cx="438912" cy="347472"/>
          </a:xfrm>
          <a:prstGeom prst="roundRect">
            <a:avLst>
              <a:gd name="adj" fmla="val 13158"/>
            </a:avLst>
          </a:prstGeom>
          <a:solidFill>
            <a:srgbClr val="E1E4E2"/>
          </a:solidFill>
          <a:ln w="12700">
            <a:solidFill>
              <a:srgbClr val="E1E4E2"/>
            </a:solidFill>
            <a:prstDash val="solid"/>
          </a:ln>
        </p:spPr>
      </p:sp>
      <p:sp>
        <p:nvSpPr>
          <p:cNvPr id="34" name="Text 32"/>
          <p:cNvSpPr txBox="1"/>
          <p:nvPr/>
        </p:nvSpPr>
        <p:spPr>
          <a:xfrm>
            <a:off x="7589520" y="292608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t5</a:t>
            </a:r>
            <a:endParaRPr lang="en-US" sz="1100" dirty="0"/>
          </a:p>
        </p:txBody>
      </p:sp>
      <p:sp>
        <p:nvSpPr>
          <p:cNvPr id="35" name="Shape 33"/>
          <p:cNvSpPr/>
          <p:nvPr/>
        </p:nvSpPr>
        <p:spPr>
          <a:xfrm>
            <a:off x="8266176" y="2926080"/>
            <a:ext cx="374904" cy="45720"/>
          </a:xfrm>
          <a:prstGeom prst="line">
            <a:avLst/>
          </a:prstGeom>
          <a:noFill/>
          <a:ln w="25400">
            <a:solidFill>
              <a:srgbClr val="8A8A92"/>
            </a:solidFill>
            <a:prstDash val="solid"/>
            <a:tailEnd type="triangle"/>
          </a:ln>
        </p:spPr>
      </p:sp>
      <p:sp>
        <p:nvSpPr>
          <p:cNvPr id="36" name="Shape 34"/>
          <p:cNvSpPr/>
          <p:nvPr/>
        </p:nvSpPr>
        <p:spPr>
          <a:xfrm>
            <a:off x="5047488" y="2971800"/>
            <a:ext cx="347472" cy="1143000"/>
          </a:xfrm>
          <a:prstGeom prst="line">
            <a:avLst/>
          </a:prstGeom>
          <a:noFill/>
          <a:ln w="25400">
            <a:solidFill>
              <a:srgbClr val="8A8A92"/>
            </a:solidFill>
            <a:prstDash val="solid"/>
            <a:tailEnd type="triangle"/>
          </a:ln>
        </p:spPr>
      </p:sp>
      <p:sp>
        <p:nvSpPr>
          <p:cNvPr id="37" name="Shape 35"/>
          <p:cNvSpPr/>
          <p:nvPr/>
        </p:nvSpPr>
        <p:spPr>
          <a:xfrm>
            <a:off x="5413248" y="3657600"/>
            <a:ext cx="2834640" cy="960120"/>
          </a:xfrm>
          <a:prstGeom prst="roundRect">
            <a:avLst>
              <a:gd name="adj" fmla="val 7619"/>
            </a:avLst>
          </a:prstGeom>
          <a:solidFill>
            <a:srgbClr val="F3F6F4"/>
          </a:solidFill>
          <a:ln w="12700">
            <a:solidFill>
              <a:srgbClr val="F3F6F4"/>
            </a:solidFill>
            <a:prstDash val="solid"/>
          </a:ln>
        </p:spPr>
      </p:sp>
      <p:sp>
        <p:nvSpPr>
          <p:cNvPr id="38" name="Text 36"/>
          <p:cNvSpPr txBox="1"/>
          <p:nvPr/>
        </p:nvSpPr>
        <p:spPr>
          <a:xfrm>
            <a:off x="5577840" y="373075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Kenji's agent</a:t>
            </a:r>
            <a:endParaRPr lang="en-US" sz="1300" dirty="0"/>
          </a:p>
        </p:txBody>
      </p:sp>
      <p:sp>
        <p:nvSpPr>
          <p:cNvPr id="39" name="Shape 37"/>
          <p:cNvSpPr/>
          <p:nvPr/>
        </p:nvSpPr>
        <p:spPr>
          <a:xfrm>
            <a:off x="5577840" y="4114800"/>
            <a:ext cx="438912" cy="347472"/>
          </a:xfrm>
          <a:prstGeom prst="roundRect">
            <a:avLst>
              <a:gd name="adj" fmla="val 13158"/>
            </a:avLst>
          </a:prstGeom>
          <a:solidFill>
            <a:srgbClr val="E1E4E2"/>
          </a:solidFill>
          <a:ln w="12700">
            <a:solidFill>
              <a:srgbClr val="E1E4E2"/>
            </a:solidFill>
            <a:prstDash val="solid"/>
          </a:ln>
        </p:spPr>
      </p:sp>
      <p:sp>
        <p:nvSpPr>
          <p:cNvPr id="40" name="Text 38"/>
          <p:cNvSpPr txBox="1"/>
          <p:nvPr/>
        </p:nvSpPr>
        <p:spPr>
          <a:xfrm>
            <a:off x="5577840" y="411480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t1</a:t>
            </a:r>
            <a:endParaRPr lang="en-US" sz="1100" dirty="0"/>
          </a:p>
        </p:txBody>
      </p:sp>
      <p:sp>
        <p:nvSpPr>
          <p:cNvPr id="41" name="Shape 39"/>
          <p:cNvSpPr/>
          <p:nvPr/>
        </p:nvSpPr>
        <p:spPr>
          <a:xfrm>
            <a:off x="6080760" y="4114800"/>
            <a:ext cx="438912" cy="347472"/>
          </a:xfrm>
          <a:prstGeom prst="roundRect">
            <a:avLst>
              <a:gd name="adj" fmla="val 13158"/>
            </a:avLst>
          </a:prstGeom>
          <a:solidFill>
            <a:srgbClr val="0A7F44"/>
          </a:solidFill>
          <a:ln w="12700">
            <a:solidFill>
              <a:srgbClr val="0A7F44"/>
            </a:solidFill>
            <a:prstDash val="solid"/>
          </a:ln>
        </p:spPr>
      </p:sp>
      <p:sp>
        <p:nvSpPr>
          <p:cNvPr id="42" name="Text 40"/>
          <p:cNvSpPr txBox="1"/>
          <p:nvPr/>
        </p:nvSpPr>
        <p:spPr>
          <a:xfrm>
            <a:off x="608076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43" name="Shape 41"/>
          <p:cNvSpPr/>
          <p:nvPr/>
        </p:nvSpPr>
        <p:spPr>
          <a:xfrm>
            <a:off x="6583680" y="4114800"/>
            <a:ext cx="438912" cy="347472"/>
          </a:xfrm>
          <a:prstGeom prst="roundRect">
            <a:avLst>
              <a:gd name="adj" fmla="val 13158"/>
            </a:avLst>
          </a:prstGeom>
          <a:solidFill>
            <a:srgbClr val="E1E4E2"/>
          </a:solidFill>
          <a:ln w="12700">
            <a:solidFill>
              <a:srgbClr val="E1E4E2"/>
            </a:solidFill>
            <a:prstDash val="solid"/>
          </a:ln>
        </p:spPr>
      </p:sp>
      <p:sp>
        <p:nvSpPr>
          <p:cNvPr id="44" name="Text 42"/>
          <p:cNvSpPr txBox="1"/>
          <p:nvPr/>
        </p:nvSpPr>
        <p:spPr>
          <a:xfrm>
            <a:off x="6583680" y="411480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t3</a:t>
            </a:r>
            <a:endParaRPr lang="en-US" sz="1100" dirty="0"/>
          </a:p>
        </p:txBody>
      </p:sp>
      <p:sp>
        <p:nvSpPr>
          <p:cNvPr id="45" name="Shape 43"/>
          <p:cNvSpPr/>
          <p:nvPr/>
        </p:nvSpPr>
        <p:spPr>
          <a:xfrm>
            <a:off x="7086600" y="4114800"/>
            <a:ext cx="438912" cy="347472"/>
          </a:xfrm>
          <a:prstGeom prst="roundRect">
            <a:avLst>
              <a:gd name="adj" fmla="val 13158"/>
            </a:avLst>
          </a:prstGeom>
          <a:solidFill>
            <a:srgbClr val="0A7F44"/>
          </a:solidFill>
          <a:ln w="12700">
            <a:solidFill>
              <a:srgbClr val="0A7F44"/>
            </a:solidFill>
            <a:prstDash val="solid"/>
          </a:ln>
        </p:spPr>
      </p:sp>
      <p:sp>
        <p:nvSpPr>
          <p:cNvPr id="46" name="Text 44"/>
          <p:cNvSpPr txBox="1"/>
          <p:nvPr/>
        </p:nvSpPr>
        <p:spPr>
          <a:xfrm>
            <a:off x="708660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47" name="Shape 45"/>
          <p:cNvSpPr/>
          <p:nvPr/>
        </p:nvSpPr>
        <p:spPr>
          <a:xfrm>
            <a:off x="7589520" y="4114800"/>
            <a:ext cx="438912" cy="347472"/>
          </a:xfrm>
          <a:prstGeom prst="roundRect">
            <a:avLst>
              <a:gd name="adj" fmla="val 13158"/>
            </a:avLst>
          </a:prstGeom>
          <a:solidFill>
            <a:srgbClr val="8CC5A6"/>
          </a:solidFill>
          <a:ln w="12700">
            <a:solidFill>
              <a:srgbClr val="8CC5A6"/>
            </a:solidFill>
            <a:prstDash val="solid"/>
          </a:ln>
        </p:spPr>
      </p:sp>
      <p:sp>
        <p:nvSpPr>
          <p:cNvPr id="48" name="Text 46"/>
          <p:cNvSpPr txBox="1"/>
          <p:nvPr/>
        </p:nvSpPr>
        <p:spPr>
          <a:xfrm>
            <a:off x="758952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t5</a:t>
            </a:r>
            <a:endParaRPr lang="en-US" sz="1100" dirty="0"/>
          </a:p>
        </p:txBody>
      </p:sp>
      <p:sp>
        <p:nvSpPr>
          <p:cNvPr id="49" name="Shape 47"/>
          <p:cNvSpPr/>
          <p:nvPr/>
        </p:nvSpPr>
        <p:spPr>
          <a:xfrm flipV="1">
            <a:off x="8266176" y="2971800"/>
            <a:ext cx="374904" cy="1143000"/>
          </a:xfrm>
          <a:prstGeom prst="line">
            <a:avLst/>
          </a:prstGeom>
          <a:noFill/>
          <a:ln w="25400">
            <a:solidFill>
              <a:srgbClr val="8A8A92"/>
            </a:solidFill>
            <a:prstDash val="solid"/>
            <a:tailEnd type="triangle"/>
          </a:ln>
        </p:spPr>
      </p:sp>
      <p:sp>
        <p:nvSpPr>
          <p:cNvPr id="50" name="Shape 48"/>
          <p:cNvSpPr/>
          <p:nvPr/>
        </p:nvSpPr>
        <p:spPr>
          <a:xfrm>
            <a:off x="8686800" y="2240280"/>
            <a:ext cx="2926080" cy="1463040"/>
          </a:xfrm>
          <a:prstGeom prst="roundRect">
            <a:avLst>
              <a:gd name="adj" fmla="val 5000"/>
            </a:avLst>
          </a:prstGeom>
          <a:solidFill>
            <a:srgbClr val="E9F3EC"/>
          </a:solidFill>
          <a:ln w="12700">
            <a:solidFill>
              <a:srgbClr val="E9F3EC"/>
            </a:solidFill>
            <a:prstDash val="solid"/>
          </a:ln>
        </p:spPr>
      </p:sp>
      <p:sp>
        <p:nvSpPr>
          <p:cNvPr id="51" name="Text 49"/>
          <p:cNvSpPr txBox="1"/>
          <p:nvPr/>
        </p:nvSpPr>
        <p:spPr>
          <a:xfrm>
            <a:off x="8823960" y="2240280"/>
            <a:ext cx="2651760" cy="1463040"/>
          </a:xfrm>
          <a:prstGeom prst="rect">
            <a:avLst/>
          </a:prstGeom>
          <a:noFill/>
          <a:ln/>
        </p:spPr>
        <p:txBody>
          <a:bodyPr wrap="square" lIns="0" tIns="0" rIns="0" bIns="0" rtlCol="0" anchor="ctr"/>
          <a:lstStyle/>
          <a:p>
            <a:pPr algn="ctr" indent="0" marL="0">
              <a:buNone/>
            </a:pPr>
            <a:r>
              <a:rPr lang="en-US" sz="1400" b="1" dirty="0">
                <a:solidFill>
                  <a:srgbClr val="0A0A0B"/>
                </a:solidFill>
              </a:rPr>
              <a:t>Intersection: t2, t4</a:t>
            </a:r>
            <a:endParaRPr lang="en-US" sz="1400" dirty="0"/>
          </a:p>
          <a:p>
            <a:pPr algn="ctr" indent="0" marL="0">
              <a:buNone/>
            </a:pPr>
            <a:r>
              <a:rPr lang="en-US" sz="1150" dirty="0">
                <a:solidFill>
                  <a:srgbClr val="55555C"/>
                </a:solidFill>
              </a:rPr>
              <a:t>every agent's set is binding; code takes the best, t2. Most talks end in round one</a:t>
            </a:r>
            <a:endParaRPr lang="en-US" sz="1400" dirty="0"/>
          </a:p>
        </p:txBody>
      </p:sp>
      <p:sp>
        <p:nvSpPr>
          <p:cNvPr id="52" name="Text 50"/>
          <p:cNvSpPr txBox="1"/>
          <p:nvPr/>
        </p:nvSpPr>
        <p:spPr>
          <a:xfrm>
            <a:off x="5413248" y="4892040"/>
            <a:ext cx="6217920" cy="457200"/>
          </a:xfrm>
          <a:prstGeom prst="rect">
            <a:avLst/>
          </a:prstGeom>
          <a:noFill/>
          <a:ln/>
        </p:spPr>
        <p:txBody>
          <a:bodyPr wrap="square" lIns="0" tIns="0" rIns="0" bIns="0" rtlCol="0" anchor="ctr"/>
          <a:lstStyle/>
          <a:p>
            <a:pPr indent="0" marL="0">
              <a:buNone/>
            </a:pPr>
            <a:r>
              <a:rPr lang="en-US" sz="1100" dirty="0">
                <a:solidFill>
                  <a:srgbClr val="55555C"/>
                </a:solidFill>
              </a:rPr>
              <a:t>Illustrative sets. Hard rules (days off, the latest finish, the longest trip) take times off before any model sees the list.</a:t>
            </a:r>
            <a:endParaRPr lang="en-US" sz="1100" dirty="0"/>
          </a:p>
        </p:txBody>
      </p:sp>
      <p:sp>
        <p:nvSpPr>
          <p:cNvPr id="53" name="Text 51"/>
          <p:cNvSpPr txBox="1"/>
          <p:nvPr/>
        </p:nvSpPr>
        <p:spPr>
          <a:xfrm>
            <a:off x="54864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Contract Net + one-shot intersection</a:t>
            </a:r>
            <a:endParaRPr lang="en-US" sz="1300" dirty="0"/>
          </a:p>
          <a:p>
            <a:pPr indent="0" marL="0">
              <a:buNone/>
            </a:pPr>
            <a:r>
              <a:rPr lang="en-US" sz="1150" dirty="0">
                <a:solidFill>
                  <a:srgbClr val="55555C"/>
                </a:solidFill>
              </a:rPr>
              <a:t>a simple distributed constraint satisfaction</a:t>
            </a:r>
            <a:endParaRPr lang="en-US" sz="1300" dirty="0"/>
          </a:p>
        </p:txBody>
      </p:sp>
      <p:sp>
        <p:nvSpPr>
          <p:cNvPr id="54" name="Text 52"/>
          <p:cNvSpPr txBox="1"/>
          <p:nvPr/>
        </p:nvSpPr>
        <p:spPr>
          <a:xfrm>
            <a:off x="429768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No model reads another side's words</a:t>
            </a:r>
            <a:endParaRPr lang="en-US" sz="1300" dirty="0"/>
          </a:p>
          <a:p>
            <a:pPr indent="0" marL="0">
              <a:buNone/>
            </a:pPr>
            <a:r>
              <a:rPr lang="en-US" sz="1150" dirty="0">
                <a:solidFill>
                  <a:srgbClr val="55555C"/>
                </a:solidFill>
              </a:rPr>
              <a:t>sentences between agents are templates filled by code</a:t>
            </a:r>
            <a:endParaRPr lang="en-US" sz="1300" dirty="0"/>
          </a:p>
        </p:txBody>
      </p:sp>
      <p:sp>
        <p:nvSpPr>
          <p:cNvPr id="55" name="Text 53"/>
          <p:cNvSpPr txBox="1"/>
          <p:nvPr/>
        </p:nvSpPr>
        <p:spPr>
          <a:xfrm>
            <a:off x="804672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To the standard</a:t>
            </a:r>
            <a:endParaRPr lang="en-US" sz="1300" dirty="0"/>
          </a:p>
          <a:p>
            <a:pPr indent="0" marL="0">
              <a:buNone/>
            </a:pPr>
            <a:r>
              <a:rPr lang="en-US" sz="1150" dirty="0">
                <a:solidFill>
                  <a:srgbClr val="55555C"/>
                </a:solidFill>
              </a:rPr>
              <a:t>jku on cards, proposal and hold extensions required, the protocol's error codes</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Holds, recovery and the fairest venue, measured</a:t>
            </a:r>
            <a:endParaRPr lang="en-US" sz="2800" dirty="0"/>
          </a:p>
        </p:txBody>
      </p:sp>
      <p:graphicFrame>
        <p:nvGraphicFramePr>
          <p:cNvPr id="3" name="Chart 0" descr=""/>
          <p:cNvGraphicFramePr/>
          <p:nvPr/>
        </p:nvGraphicFramePr>
        <p:xfrm>
          <a:off x="548640" y="1280160"/>
          <a:ext cx="3566160" cy="310896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389120" y="1280160"/>
          <a:ext cx="3931920" cy="310896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8595360" y="1280160"/>
            <a:ext cx="3047695" cy="1508760"/>
          </a:xfrm>
          <a:prstGeom prst="roundRect">
            <a:avLst>
              <a:gd name="adj" fmla="val 4848"/>
            </a:avLst>
          </a:prstGeom>
          <a:solidFill>
            <a:srgbClr val="F3F6F4"/>
          </a:solidFill>
          <a:ln w="12700">
            <a:solidFill>
              <a:srgbClr val="F3F6F4"/>
            </a:solidFill>
            <a:prstDash val="solid"/>
          </a:ln>
        </p:spPr>
      </p:sp>
      <p:sp>
        <p:nvSpPr>
          <p:cNvPr id="6" name="Text 2"/>
          <p:cNvSpPr txBox="1"/>
          <p:nvPr/>
        </p:nvSpPr>
        <p:spPr>
          <a:xfrm>
            <a:off x="8823960" y="1444752"/>
            <a:ext cx="259049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20 / 20</a:t>
            </a:r>
            <a:endParaRPr lang="en-US" sz="3600" dirty="0"/>
          </a:p>
        </p:txBody>
      </p:sp>
      <p:sp>
        <p:nvSpPr>
          <p:cNvPr id="7" name="Text 3"/>
          <p:cNvSpPr txBox="1"/>
          <p:nvPr/>
        </p:nvSpPr>
        <p:spPr>
          <a:xfrm>
            <a:off x="8823960" y="2121408"/>
            <a:ext cx="2590495" cy="594360"/>
          </a:xfrm>
          <a:prstGeom prst="rect">
            <a:avLst/>
          </a:prstGeom>
          <a:noFill/>
          <a:ln/>
        </p:spPr>
        <p:txBody>
          <a:bodyPr wrap="square" lIns="0" tIns="0" rIns="0" bIns="0" rtlCol="0" anchor="t"/>
          <a:lstStyle/>
          <a:p>
            <a:pPr indent="0" marL="0">
              <a:buNone/>
            </a:pPr>
            <a:r>
              <a:rPr lang="en-US" sz="1300" dirty="0">
                <a:solidFill>
                  <a:srgbClr val="55555C"/>
                </a:solidFill>
              </a:rPr>
              <a:t>recovery checks, the gateway killed at 5 points in a booking; nothing booked twice</a:t>
            </a:r>
            <a:endParaRPr lang="en-US" sz="1300" dirty="0"/>
          </a:p>
        </p:txBody>
      </p:sp>
      <p:sp>
        <p:nvSpPr>
          <p:cNvPr id="8" name="Shape 4"/>
          <p:cNvSpPr/>
          <p:nvPr/>
        </p:nvSpPr>
        <p:spPr>
          <a:xfrm>
            <a:off x="8595360" y="2926080"/>
            <a:ext cx="3047695" cy="1508760"/>
          </a:xfrm>
          <a:prstGeom prst="roundRect">
            <a:avLst>
              <a:gd name="adj" fmla="val 4848"/>
            </a:avLst>
          </a:prstGeom>
          <a:solidFill>
            <a:srgbClr val="F3F6F4"/>
          </a:solidFill>
          <a:ln w="12700">
            <a:solidFill>
              <a:srgbClr val="F3F6F4"/>
            </a:solidFill>
            <a:prstDash val="solid"/>
          </a:ln>
        </p:spPr>
      </p:sp>
      <p:sp>
        <p:nvSpPr>
          <p:cNvPr id="9" name="Text 5"/>
          <p:cNvSpPr txBox="1"/>
          <p:nvPr/>
        </p:nvSpPr>
        <p:spPr>
          <a:xfrm>
            <a:off x="8823960" y="3090672"/>
            <a:ext cx="259049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22 / 22</a:t>
            </a:r>
            <a:endParaRPr lang="en-US" sz="3600" dirty="0"/>
          </a:p>
        </p:txBody>
      </p:sp>
      <p:sp>
        <p:nvSpPr>
          <p:cNvPr id="10" name="Text 6"/>
          <p:cNvSpPr txBox="1"/>
          <p:nvPr/>
        </p:nvSpPr>
        <p:spPr>
          <a:xfrm>
            <a:off x="8823960" y="3767328"/>
            <a:ext cx="2590495" cy="594360"/>
          </a:xfrm>
          <a:prstGeom prst="rect">
            <a:avLst/>
          </a:prstGeom>
          <a:noFill/>
          <a:ln/>
        </p:spPr>
        <p:txBody>
          <a:bodyPr wrap="square" lIns="0" tIns="0" rIns="0" bIns="0" rtlCol="0" anchor="t"/>
          <a:lstStyle/>
          <a:p>
            <a:pPr indent="0" marL="0">
              <a:buNone/>
            </a:pPr>
            <a:r>
              <a:rPr lang="en-US" sz="1300" dirty="0">
                <a:solidFill>
                  <a:srgbClr val="55555C"/>
                </a:solidFill>
              </a:rPr>
              <a:t>checks across two machines, 12 talks at once, +185 ms a request</a:t>
            </a:r>
            <a:endParaRPr lang="en-US" sz="1300" dirty="0"/>
          </a:p>
        </p:txBody>
      </p:sp>
      <p:sp>
        <p:nvSpPr>
          <p:cNvPr id="11" name="Text 7"/>
          <p:cNvSpPr txBox="1"/>
          <p:nvPr/>
        </p:nvSpPr>
        <p:spPr>
          <a:xfrm>
            <a:off x="548640" y="4617720"/>
            <a:ext cx="11094415" cy="1554480"/>
          </a:xfrm>
          <a:prstGeom prst="rect">
            <a:avLst/>
          </a:prstGeom>
          <a:noFill/>
          <a:ln/>
        </p:spPr>
        <p:txBody>
          <a:bodyPr wrap="square" lIns="0" tIns="0" rIns="0" bIns="0" rtlCol="0" anchor="t"/>
          <a:lstStyle/>
          <a:p>
            <a:pPr marL="342900" indent="-342900">
              <a:spcAft>
                <a:spcPts val="600"/>
              </a:spcAft>
              <a:buSzPct val="100000"/>
              <a:buChar char="•"/>
            </a:pPr>
            <a:r>
              <a:rPr lang="en-US" sz="1300" b="1" dirty="0">
                <a:solidFill>
                  <a:srgbClr val="0A0A0B"/>
                </a:solidFill>
              </a:rPr>
              <a:t>Holds, all or nothing: </a:t>
            </a:r>
            <a:pPr indent="0" marL="0">
              <a:spcAft>
                <a:spcPts val="600"/>
              </a:spcAft>
              <a:buNone/>
            </a:pPr>
            <a:r>
              <a:rPr lang="en-US" sz="1300" dirty="0">
                <a:solidFill>
                  <a:srgbClr val="0A0A0B"/>
                </a:solidFill>
              </a:rPr>
              <a:t>every player's agent holds the agreed time for 30 minutes, asked in a fixed order (leases with resource ordering).</a:t>
            </a:r>
            <a:endParaRPr lang="en-US" sz="1300" dirty="0"/>
          </a:p>
          <a:p>
            <a:pPr marL="342900" indent="-342900">
              <a:spcAft>
                <a:spcPts val="600"/>
              </a:spcAft>
              <a:buSzPct val="100000"/>
              <a:buChar char="•"/>
            </a:pPr>
            <a:r>
              <a:rPr lang="en-US" sz="1300" b="1" dirty="0">
                <a:solidFill>
                  <a:srgbClr val="0A0A0B"/>
                </a:solidFill>
              </a:rPr>
              <a:t>The fairest venue: </a:t>
            </a:r>
            <a:pPr indent="0" marL="0">
              <a:spcAft>
                <a:spcPts val="600"/>
              </a:spcAft>
              <a:buNone/>
            </a:pPr>
            <a:r>
              <a:rPr lang="en-US" sz="1300" dirty="0">
                <a:solidFill>
                  <a:srgbClr val="0A0A0B"/>
                </a:solidFill>
              </a:rPr>
              <a:t>the longest trip shortest, from home areas, never addresses; at 2.3 more minutes per game over 12 simulated games, and no one ever got a longer longest trip than the best venue possible.</a:t>
            </a:r>
            <a:endParaRPr lang="en-US" sz="1300" dirty="0"/>
          </a:p>
          <a:p>
            <a:pPr marL="342900" indent="-342900">
              <a:spcAft>
                <a:spcPts val="600"/>
              </a:spcAft>
              <a:buSzPct val="100000"/>
              <a:buChar char="•"/>
            </a:pPr>
            <a:r>
              <a:rPr lang="en-US" sz="1300" b="1" dirty="0">
                <a:solidFill>
                  <a:srgbClr val="0A0A0B"/>
                </a:solidFill>
              </a:rPr>
              <a:t>Durable: </a:t>
            </a:r>
            <a:pPr indent="0" marL="0">
              <a:spcAft>
                <a:spcPts val="600"/>
              </a:spcAft>
              <a:buNone/>
            </a:pPr>
            <a:r>
              <a:rPr lang="en-US" sz="1300" dirty="0">
                <a:solidFill>
                  <a:srgbClr val="0A0A0B"/>
                </a:solidFill>
              </a:rPr>
              <a:t>saved before every round, answered once, idempotent booking.</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Times ranked by the chance everyone says yes</a:t>
            </a:r>
            <a:endParaRPr lang="en-US" sz="2800" dirty="0"/>
          </a:p>
        </p:txBody>
      </p:sp>
      <p:sp>
        <p:nvSpPr>
          <p:cNvPr id="3" name="Text 1"/>
          <p:cNvSpPr txBox="1"/>
          <p:nvPr/>
        </p:nvSpPr>
        <p:spPr>
          <a:xfrm>
            <a:off x="548640" y="1371600"/>
            <a:ext cx="4206240" cy="4389120"/>
          </a:xfrm>
          <a:prstGeom prst="rect">
            <a:avLst/>
          </a:prstGeom>
          <a:noFill/>
          <a:ln/>
        </p:spPr>
        <p:txBody>
          <a:bodyPr wrap="square" lIns="0" tIns="0" rIns="0" bIns="0" rtlCol="0" anchor="t"/>
          <a:lstStyle/>
          <a:p>
            <a:pPr marL="342900" indent="-342900">
              <a:spcAft>
                <a:spcPts val="1200"/>
              </a:spcAft>
              <a:buSzPct val="100000"/>
              <a:buChar char="•"/>
            </a:pPr>
            <a:r>
              <a:rPr lang="en-US" sz="1500" b="1" dirty="0">
                <a:solidFill>
                  <a:srgbClr val="0A0A0B"/>
                </a:solidFill>
              </a:rPr>
              <a:t>The product of each player's chance of a yes, </a:t>
            </a:r>
            <a:pPr indent="0" marL="0">
              <a:spcAft>
                <a:spcPts val="1200"/>
              </a:spcAft>
              <a:buNone/>
            </a:pPr>
            <a:r>
              <a:rPr lang="en-US" sz="1500" dirty="0">
                <a:solidFill>
                  <a:srgbClr val="0A0A0B"/>
                </a:solidFill>
              </a:rPr>
              <a:t>with a least-misery floor: a time where anyone's chance is under 0.15 goes to the back.</a:t>
            </a:r>
            <a:endParaRPr lang="en-US" sz="1500" dirty="0"/>
          </a:p>
          <a:p>
            <a:pPr marL="342900" indent="-342900">
              <a:spcAft>
                <a:spcPts val="1200"/>
              </a:spcAft>
              <a:buSzPct val="100000"/>
              <a:buChar char="•"/>
            </a:pPr>
            <a:r>
              <a:rPr lang="en-US" sz="1500" b="1" dirty="0">
                <a:solidFill>
                  <a:srgbClr val="0A0A0B"/>
                </a:solidFill>
              </a:rPr>
              <a:t>Why it matters: </a:t>
            </a:r>
            <a:pPr indent="0" marL="0">
              <a:spcAft>
                <a:spcPts val="1200"/>
              </a:spcAft>
              <a:buNone/>
            </a:pPr>
            <a:r>
              <a:rPr lang="en-US" sz="1500" dirty="0">
                <a:solidFill>
                  <a:srgbClr val="0A0A0B"/>
                </a:solidFill>
              </a:rPr>
              <a:t>with shared calendars, the first time proposed decides whether each agent can say yes by code or must ask a model.</a:t>
            </a:r>
            <a:endParaRPr lang="en-US" sz="1500" dirty="0"/>
          </a:p>
          <a:p>
            <a:pPr marL="342900" indent="-342900">
              <a:spcAft>
                <a:spcPts val="1200"/>
              </a:spcAft>
              <a:buSzPct val="100000"/>
              <a:buChar char="•"/>
            </a:pPr>
            <a:r>
              <a:rPr lang="en-US" sz="1500" b="1" dirty="0">
                <a:solidFill>
                  <a:srgbClr val="0A0A0B"/>
                </a:solidFill>
              </a:rPr>
              <a:t>3,000 simulated requests of each kind; </a:t>
            </a:r>
            <a:pPr indent="0" marL="0">
              <a:spcAft>
                <a:spcPts val="1200"/>
              </a:spcAft>
              <a:buNone/>
            </a:pPr>
            <a:r>
              <a:rPr lang="en-US" sz="1500" dirty="0">
                <a:solidFill>
                  <a:srgbClr val="0A0A0B"/>
                </a:solidFill>
              </a:rPr>
              <a:t>with private calendars it found no more games.</a:t>
            </a:r>
            <a:endParaRPr lang="en-US" sz="1500" dirty="0"/>
          </a:p>
        </p:txBody>
      </p:sp>
      <p:graphicFrame>
        <p:nvGraphicFramePr>
          <p:cNvPr id="4" name="Chart 0" descr=""/>
          <p:cNvGraphicFramePr/>
          <p:nvPr/>
        </p:nvGraphicFramePr>
        <p:xfrm>
          <a:off x="5120640" y="1280160"/>
          <a:ext cx="6492240" cy="3017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120640" y="4526280"/>
            <a:ext cx="6492240" cy="1508760"/>
          </a:xfrm>
          <a:prstGeom prst="roundRect">
            <a:avLst>
              <a:gd name="adj" fmla="val 4848"/>
            </a:avLst>
          </a:prstGeom>
          <a:solidFill>
            <a:srgbClr val="F3F6F4"/>
          </a:solidFill>
          <a:ln w="12700">
            <a:solidFill>
              <a:srgbClr val="F3F6F4"/>
            </a:solidFill>
            <a:prstDash val="solid"/>
          </a:ln>
        </p:spPr>
      </p:sp>
      <p:sp>
        <p:nvSpPr>
          <p:cNvPr id="6" name="Text 3"/>
          <p:cNvSpPr txBox="1"/>
          <p:nvPr/>
        </p:nvSpPr>
        <p:spPr>
          <a:xfrm>
            <a:off x="5349240" y="4690872"/>
            <a:ext cx="603504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0.261 → 0.109</a:t>
            </a:r>
            <a:endParaRPr lang="en-US" sz="3600" dirty="0"/>
          </a:p>
        </p:txBody>
      </p:sp>
      <p:sp>
        <p:nvSpPr>
          <p:cNvPr id="7" name="Text 4"/>
          <p:cNvSpPr txBox="1"/>
          <p:nvPr/>
        </p:nvSpPr>
        <p:spPr>
          <a:xfrm>
            <a:off x="5349240" y="5367528"/>
            <a:ext cx="6035040" cy="594360"/>
          </a:xfrm>
          <a:prstGeom prst="rect">
            <a:avLst/>
          </a:prstGeom>
          <a:noFill/>
          <a:ln/>
        </p:spPr>
        <p:txBody>
          <a:bodyPr wrap="square" lIns="0" tIns="0" rIns="0" bIns="0" rtlCol="0" anchor="t"/>
          <a:lstStyle/>
          <a:p>
            <a:pPr indent="0" marL="0">
              <a:buNone/>
            </a:pPr>
            <a:r>
              <a:rPr lang="en-US" sz="1300" dirty="0">
                <a:solidFill>
                  <a:srgbClr val="55555C"/>
                </a:solidFill>
              </a:rPr>
              <a:t>model choices per doubles request, so most doubles talks need no model at all</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When talks fail, ask the one question worth most</a:t>
            </a:r>
            <a:endParaRPr lang="en-US" sz="2800" dirty="0"/>
          </a:p>
        </p:txBody>
      </p:sp>
      <p:graphicFrame>
        <p:nvGraphicFramePr>
          <p:cNvPr id="3" name="Chart 0" descr=""/>
          <p:cNvGraphicFramePr/>
          <p:nvPr/>
        </p:nvGraphicFramePr>
        <p:xfrm>
          <a:off x="548640" y="1280160"/>
          <a:ext cx="5852160" cy="32918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766560" y="1325880"/>
            <a:ext cx="4876495" cy="4754880"/>
          </a:xfrm>
          <a:prstGeom prst="rect">
            <a:avLst/>
          </a:prstGeom>
          <a:noFill/>
          <a:ln/>
        </p:spPr>
        <p:txBody>
          <a:bodyPr wrap="square" lIns="0" tIns="0" rIns="0" bIns="0" rtlCol="0" anchor="t"/>
          <a:lstStyle/>
          <a:p>
            <a:pPr marL="342900" indent="-342900">
              <a:spcAft>
                <a:spcPts val="1000"/>
              </a:spcAft>
              <a:buSzPct val="100000"/>
              <a:buChar char="•"/>
            </a:pPr>
            <a:r>
              <a:rPr lang="en-US" sz="1400" b="1" dirty="0">
                <a:solidFill>
                  <a:srgbClr val="0A0A0B"/>
                </a:solidFill>
              </a:rPr>
              <a:t>A belief per player and hour, </a:t>
            </a:r>
            <a:pPr indent="0" marL="0">
              <a:spcAft>
                <a:spcPts val="1000"/>
              </a:spcAft>
              <a:buNone/>
            </a:pPr>
            <a:r>
              <a:rPr lang="en-US" sz="1400" dirty="0">
                <a:solidFill>
                  <a:srgbClr val="0A0A0B"/>
                </a:solidFill>
              </a:rPr>
              <a:t>a Beta posterior over what the agent has seen of that player's agent, never their calendar.</a:t>
            </a:r>
            <a:endParaRPr lang="en-US" sz="1400" dirty="0"/>
          </a:p>
          <a:p>
            <a:pPr marL="342900" indent="-342900">
              <a:spcAft>
                <a:spcPts val="1000"/>
              </a:spcAft>
              <a:buSzPct val="100000"/>
              <a:buChar char="•"/>
            </a:pPr>
            <a:r>
              <a:rPr lang="en-US" sz="1400" b="1" dirty="0">
                <a:solidFill>
                  <a:srgbClr val="0A0A0B"/>
                </a:solidFill>
              </a:rPr>
              <a:t>One answer teaches about similar hours </a:t>
            </a:r>
            <a:pPr indent="0" marL="0">
              <a:spcAft>
                <a:spcPts val="1000"/>
              </a:spcAft>
              <a:buNone/>
            </a:pPr>
            <a:r>
              <a:rPr lang="en-US" sz="1400" dirty="0">
                <a:solidFill>
                  <a:srgbClr val="0A0A0B"/>
                </a:solidFill>
              </a:rPr>
              <a:t>(after Pep and VPL): Brier 0.223 → 0.200; first talk lands 68.9% → 73.7%, or 75.1% → 79.2% with one question first.</a:t>
            </a:r>
            <a:endParaRPr lang="en-US" sz="1400" dirty="0"/>
          </a:p>
          <a:p>
            <a:pPr marL="342900" indent="-342900">
              <a:spcAft>
                <a:spcPts val="1000"/>
              </a:spcAft>
              <a:buSzPct val="100000"/>
              <a:buChar char="•"/>
            </a:pPr>
            <a:r>
              <a:rPr lang="en-US" sz="1400" b="1" dirty="0">
                <a:solidFill>
                  <a:srgbClr val="0A0A0B"/>
                </a:solidFill>
              </a:rPr>
              <a:t>Private by budget: </a:t>
            </a:r>
            <a:pPr indent="0" marL="0">
              <a:spcAft>
                <a:spcPts val="1000"/>
              </a:spcAft>
              <a:buNone/>
            </a:pPr>
            <a:r>
              <a:rPr lang="en-US" sz="1400" dirty="0">
                <a:solidFill>
                  <a:srgbClr val="0A0A0B"/>
                </a:solidFill>
              </a:rPr>
              <a:t>every free-or-busy question is charged to the disclosure budget; an agent that keeps asking learns at most 24 of 112 weekly hours in 28 days.</a:t>
            </a:r>
            <a:endParaRPr lang="en-US" sz="1400" dirty="0"/>
          </a:p>
          <a:p>
            <a:pPr marL="342900" indent="-342900">
              <a:spcAft>
                <a:spcPts val="1000"/>
              </a:spcAft>
              <a:buSzPct val="100000"/>
              <a:buChar char="•"/>
            </a:pPr>
            <a:r>
              <a:rPr lang="en-US" sz="1400" b="1" dirty="0">
                <a:solidFill>
                  <a:srgbClr val="0A0A0B"/>
                </a:solidFill>
              </a:rPr>
              <a:t>At most 3 asks a week, </a:t>
            </a:r>
            <a:pPr indent="0" marL="0">
              <a:spcAft>
                <a:spcPts val="1000"/>
              </a:spcAft>
              <a:buNone/>
            </a:pPr>
            <a:r>
              <a:rPr lang="en-US" sz="1400" dirty="0">
                <a:solidFill>
                  <a:srgbClr val="0A0A0B"/>
                </a:solidFill>
              </a:rPr>
              <a:t>and an .ics calendar can be imported (busy times only).</a:t>
            </a:r>
            <a:endParaRPr lang="en-US" sz="1400" dirty="0"/>
          </a:p>
        </p:txBody>
      </p:sp>
      <p:sp>
        <p:nvSpPr>
          <p:cNvPr id="5" name="Text 2"/>
          <p:cNvSpPr txBox="1"/>
          <p:nvPr/>
        </p:nvSpPr>
        <p:spPr>
          <a:xfrm>
            <a:off x="548640" y="4709160"/>
            <a:ext cx="5852160" cy="36576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Each rate is good to about 0.7 points either way.</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community that evolves the platform, and rolls itself back</a:t>
            </a:r>
            <a:endParaRPr lang="en-US" sz="2800" dirty="0"/>
          </a:p>
        </p:txBody>
      </p:sp>
      <p:sp>
        <p:nvSpPr>
          <p:cNvPr id="3" name="Shape 1"/>
          <p:cNvSpPr/>
          <p:nvPr/>
        </p:nvSpPr>
        <p:spPr>
          <a:xfrm>
            <a:off x="548640" y="1371600"/>
            <a:ext cx="1261872" cy="1143000"/>
          </a:xfrm>
          <a:prstGeom prst="roundRect">
            <a:avLst>
              <a:gd name="adj" fmla="val 6400"/>
            </a:avLst>
          </a:prstGeom>
          <a:solidFill>
            <a:srgbClr val="F3F6F4"/>
          </a:solidFill>
          <a:ln w="12700">
            <a:solidFill>
              <a:srgbClr val="F3F6F4"/>
            </a:solidFill>
            <a:prstDash val="solid"/>
          </a:ln>
        </p:spPr>
      </p:sp>
      <p:sp>
        <p:nvSpPr>
          <p:cNvPr id="4" name="Text 2"/>
          <p:cNvSpPr txBox="1"/>
          <p:nvPr/>
        </p:nvSpPr>
        <p:spPr>
          <a:xfrm>
            <a:off x="621792"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Unmet request</a:t>
            </a:r>
            <a:endParaRPr lang="en-US" sz="1200" dirty="0"/>
          </a:p>
        </p:txBody>
      </p:sp>
      <p:sp>
        <p:nvSpPr>
          <p:cNvPr id="5" name="Shape 3"/>
          <p:cNvSpPr/>
          <p:nvPr/>
        </p:nvSpPr>
        <p:spPr>
          <a:xfrm>
            <a:off x="1947672" y="1371600"/>
            <a:ext cx="1261872" cy="1143000"/>
          </a:xfrm>
          <a:prstGeom prst="roundRect">
            <a:avLst>
              <a:gd name="adj" fmla="val 6400"/>
            </a:avLst>
          </a:prstGeom>
          <a:solidFill>
            <a:srgbClr val="F3F6F4"/>
          </a:solidFill>
          <a:ln w="12700">
            <a:solidFill>
              <a:srgbClr val="F3F6F4"/>
            </a:solidFill>
            <a:prstDash val="solid"/>
          </a:ln>
        </p:spPr>
      </p:sp>
      <p:sp>
        <p:nvSpPr>
          <p:cNvPr id="6" name="Text 4"/>
          <p:cNvSpPr txBox="1"/>
          <p:nvPr/>
        </p:nvSpPr>
        <p:spPr>
          <a:xfrm>
            <a:off x="2020824"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One sentence, shared only with a yes</a:t>
            </a:r>
            <a:endParaRPr lang="en-US" sz="1200" dirty="0"/>
          </a:p>
        </p:txBody>
      </p:sp>
      <p:sp>
        <p:nvSpPr>
          <p:cNvPr id="7" name="Shape 5"/>
          <p:cNvSpPr/>
          <p:nvPr/>
        </p:nvSpPr>
        <p:spPr>
          <a:xfrm>
            <a:off x="3346704" y="1371600"/>
            <a:ext cx="1261872" cy="1143000"/>
          </a:xfrm>
          <a:prstGeom prst="roundRect">
            <a:avLst>
              <a:gd name="adj" fmla="val 6400"/>
            </a:avLst>
          </a:prstGeom>
          <a:solidFill>
            <a:srgbClr val="F3F6F4"/>
          </a:solidFill>
          <a:ln w="12700">
            <a:solidFill>
              <a:srgbClr val="F3F6F4"/>
            </a:solidFill>
            <a:prstDash val="solid"/>
          </a:ln>
        </p:spPr>
      </p:sp>
      <p:sp>
        <p:nvSpPr>
          <p:cNvPr id="8" name="Text 6"/>
          <p:cNvSpPr txBox="1"/>
          <p:nvPr/>
        </p:nvSpPr>
        <p:spPr>
          <a:xfrm>
            <a:off x="3419856"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Screened</a:t>
            </a:r>
            <a:endParaRPr lang="en-US" sz="1200" dirty="0"/>
          </a:p>
        </p:txBody>
      </p:sp>
      <p:sp>
        <p:nvSpPr>
          <p:cNvPr id="9" name="Shape 7"/>
          <p:cNvSpPr/>
          <p:nvPr/>
        </p:nvSpPr>
        <p:spPr>
          <a:xfrm>
            <a:off x="4745736" y="1371600"/>
            <a:ext cx="1261872" cy="1143000"/>
          </a:xfrm>
          <a:prstGeom prst="roundRect">
            <a:avLst>
              <a:gd name="adj" fmla="val 6400"/>
            </a:avLst>
          </a:prstGeom>
          <a:solidFill>
            <a:srgbClr val="F3F6F4"/>
          </a:solidFill>
          <a:ln w="12700">
            <a:solidFill>
              <a:srgbClr val="F3F6F4"/>
            </a:solidFill>
            <a:prstDash val="solid"/>
          </a:ln>
        </p:spPr>
      </p:sp>
      <p:sp>
        <p:nvSpPr>
          <p:cNvPr id="10" name="Text 8"/>
          <p:cNvSpPr txBox="1"/>
          <p:nvPr/>
        </p:nvSpPr>
        <p:spPr>
          <a:xfrm>
            <a:off x="4818888"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Idea and quadratic vote</a:t>
            </a:r>
            <a:endParaRPr lang="en-US" sz="1200" dirty="0"/>
          </a:p>
        </p:txBody>
      </p:sp>
      <p:sp>
        <p:nvSpPr>
          <p:cNvPr id="11" name="Shape 9"/>
          <p:cNvSpPr/>
          <p:nvPr/>
        </p:nvSpPr>
        <p:spPr>
          <a:xfrm>
            <a:off x="6144768" y="1371600"/>
            <a:ext cx="1261872" cy="1143000"/>
          </a:xfrm>
          <a:prstGeom prst="roundRect">
            <a:avLst>
              <a:gd name="adj" fmla="val 6400"/>
            </a:avLst>
          </a:prstGeom>
          <a:solidFill>
            <a:srgbClr val="F3F6F4"/>
          </a:solidFill>
          <a:ln w="12700">
            <a:solidFill>
              <a:srgbClr val="F3F6F4"/>
            </a:solidFill>
            <a:prstDash val="solid"/>
          </a:ln>
        </p:spPr>
      </p:sp>
      <p:sp>
        <p:nvSpPr>
          <p:cNvPr id="12" name="Text 10"/>
          <p:cNvSpPr txBox="1"/>
          <p:nvPr/>
        </p:nvSpPr>
        <p:spPr>
          <a:xfrm>
            <a:off x="6217920"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Spec and class</a:t>
            </a:r>
            <a:endParaRPr lang="en-US" sz="1200" dirty="0"/>
          </a:p>
        </p:txBody>
      </p:sp>
      <p:sp>
        <p:nvSpPr>
          <p:cNvPr id="13" name="Shape 11"/>
          <p:cNvSpPr/>
          <p:nvPr/>
        </p:nvSpPr>
        <p:spPr>
          <a:xfrm>
            <a:off x="7543800" y="1371600"/>
            <a:ext cx="1261872" cy="1143000"/>
          </a:xfrm>
          <a:prstGeom prst="roundRect">
            <a:avLst>
              <a:gd name="adj" fmla="val 6400"/>
            </a:avLst>
          </a:prstGeom>
          <a:solidFill>
            <a:srgbClr val="F3F6F4"/>
          </a:solidFill>
          <a:ln w="12700">
            <a:solidFill>
              <a:srgbClr val="F3F6F4"/>
            </a:solidFill>
            <a:prstDash val="solid"/>
          </a:ln>
        </p:spPr>
      </p:sp>
      <p:sp>
        <p:nvSpPr>
          <p:cNvPr id="14" name="Text 12"/>
          <p:cNvSpPr txBox="1"/>
          <p:nvPr/>
        </p:nvSpPr>
        <p:spPr>
          <a:xfrm>
            <a:off x="7616952"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Nine gates</a:t>
            </a:r>
            <a:endParaRPr lang="en-US" sz="1200" dirty="0"/>
          </a:p>
        </p:txBody>
      </p:sp>
      <p:sp>
        <p:nvSpPr>
          <p:cNvPr id="15" name="Shape 13"/>
          <p:cNvSpPr/>
          <p:nvPr/>
        </p:nvSpPr>
        <p:spPr>
          <a:xfrm>
            <a:off x="8942832" y="1371600"/>
            <a:ext cx="1261872" cy="1143000"/>
          </a:xfrm>
          <a:prstGeom prst="roundRect">
            <a:avLst>
              <a:gd name="adj" fmla="val 6400"/>
            </a:avLst>
          </a:prstGeom>
          <a:solidFill>
            <a:srgbClr val="F3F6F4"/>
          </a:solidFill>
          <a:ln w="12700">
            <a:solidFill>
              <a:srgbClr val="F3F6F4"/>
            </a:solidFill>
            <a:prstDash val="solid"/>
          </a:ln>
        </p:spPr>
      </p:sp>
      <p:sp>
        <p:nvSpPr>
          <p:cNvPr id="16" name="Text 14"/>
          <p:cNvSpPr txBox="1"/>
          <p:nvPr/>
        </p:nvSpPr>
        <p:spPr>
          <a:xfrm>
            <a:off x="9015984"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Canary of members</a:t>
            </a:r>
            <a:endParaRPr lang="en-US" sz="1200" dirty="0"/>
          </a:p>
        </p:txBody>
      </p:sp>
      <p:sp>
        <p:nvSpPr>
          <p:cNvPr id="17" name="Shape 15"/>
          <p:cNvSpPr/>
          <p:nvPr/>
        </p:nvSpPr>
        <p:spPr>
          <a:xfrm>
            <a:off x="10341864" y="1371600"/>
            <a:ext cx="1261872" cy="1143000"/>
          </a:xfrm>
          <a:prstGeom prst="roundRect">
            <a:avLst>
              <a:gd name="adj" fmla="val 6400"/>
            </a:avLst>
          </a:prstGeom>
          <a:solidFill>
            <a:srgbClr val="0A7F44"/>
          </a:solidFill>
          <a:ln w="12700">
            <a:solidFill>
              <a:srgbClr val="0A7F44"/>
            </a:solidFill>
            <a:prstDash val="solid"/>
          </a:ln>
        </p:spPr>
      </p:sp>
      <p:sp>
        <p:nvSpPr>
          <p:cNvPr id="18" name="Text 16"/>
          <p:cNvSpPr txBox="1"/>
          <p:nvPr/>
        </p:nvSpPr>
        <p:spPr>
          <a:xfrm>
            <a:off x="10415016" y="1371600"/>
            <a:ext cx="1115568" cy="1143000"/>
          </a:xfrm>
          <a:prstGeom prst="rect">
            <a:avLst/>
          </a:prstGeom>
          <a:noFill/>
          <a:ln/>
        </p:spPr>
        <p:txBody>
          <a:bodyPr wrap="square" lIns="0" tIns="0" rIns="0" bIns="0" rtlCol="0" anchor="ctr"/>
          <a:lstStyle/>
          <a:p>
            <a:pPr algn="ctr" indent="0" marL="0">
              <a:buNone/>
            </a:pPr>
            <a:r>
              <a:rPr lang="en-US" sz="1200" b="1" dirty="0">
                <a:solidFill>
                  <a:srgbClr val="FFFFFF"/>
                </a:solidFill>
              </a:rPr>
              <a:t>Kept, or rolled back</a:t>
            </a:r>
            <a:endParaRPr lang="en-US" sz="1200" dirty="0"/>
          </a:p>
        </p:txBody>
      </p:sp>
      <p:sp>
        <p:nvSpPr>
          <p:cNvPr id="19" name="Text 17"/>
          <p:cNvSpPr txBox="1"/>
          <p:nvPr/>
        </p:nvSpPr>
        <p:spPr>
          <a:xfrm>
            <a:off x="548640" y="2834640"/>
            <a:ext cx="6035040" cy="3291840"/>
          </a:xfrm>
          <a:prstGeom prst="rect">
            <a:avLst/>
          </a:prstGeom>
          <a:noFill/>
          <a:ln/>
        </p:spPr>
        <p:txBody>
          <a:bodyPr wrap="square" lIns="0" tIns="0" rIns="0" bIns="0" rtlCol="0" anchor="t"/>
          <a:lstStyle/>
          <a:p>
            <a:pPr marL="342900" indent="-342900">
              <a:spcAft>
                <a:spcPts val="1000"/>
              </a:spcAft>
              <a:buSzPct val="100000"/>
              <a:buChar char="•"/>
            </a:pPr>
            <a:r>
              <a:rPr lang="en-US" sz="1400" b="1" dirty="0">
                <a:solidFill>
                  <a:srgbClr val="0A0A0B"/>
                </a:solidFill>
              </a:rPr>
              <a:t>Code makes every decision; </a:t>
            </a:r>
            <a:pPr indent="0" marL="0">
              <a:spcAft>
                <a:spcPts val="1000"/>
              </a:spcAft>
              <a:buNone/>
            </a:pPr>
            <a:r>
              <a:rPr lang="en-US" sz="1400" dirty="0">
                <a:solidFill>
                  <a:srgbClr val="0A0A0B"/>
                </a:solidFill>
              </a:rPr>
              <a:t>models only write short sentences that code checks. The class comes from what a change does, never from the draft.</a:t>
            </a:r>
            <a:endParaRPr lang="en-US" sz="1400" dirty="0"/>
          </a:p>
          <a:p>
            <a:pPr marL="342900" indent="-342900">
              <a:spcAft>
                <a:spcPts val="1000"/>
              </a:spcAft>
              <a:buSzPct val="100000"/>
              <a:buChar char="•"/>
            </a:pPr>
            <a:r>
              <a:rPr lang="en-US" sz="1400" b="1" dirty="0">
                <a:solidFill>
                  <a:srgbClr val="0A0A0B"/>
                </a:solidFill>
              </a:rPr>
              <a:t>Nine gates: </a:t>
            </a:r>
            <a:pPr indent="0" marL="0">
              <a:spcAft>
                <a:spcPts val="1000"/>
              </a:spcAft>
              <a:buNone/>
            </a:pPr>
            <a:r>
              <a:rPr lang="en-US" sz="1400" dirty="0">
                <a:solidFill>
                  <a:srgbClr val="0A0A0B"/>
                </a:solidFill>
              </a:rPr>
              <a:t>policy, a code scan, unit tests, the crash matrix, the red team, Messenger end to end, the planner test, the spec's oracle and a privacy canary.</a:t>
            </a:r>
            <a:endParaRPr lang="en-US" sz="1400" dirty="0"/>
          </a:p>
          <a:p>
            <a:pPr marL="342900" indent="-342900">
              <a:spcAft>
                <a:spcPts val="1000"/>
              </a:spcAft>
              <a:buSzPct val="100000"/>
              <a:buChar char="•"/>
            </a:pPr>
            <a:r>
              <a:rPr lang="en-US" sz="1400" b="1" dirty="0">
                <a:solidFill>
                  <a:srgbClr val="0A0A0B"/>
                </a:solidFill>
              </a:rPr>
              <a:t>Anything bigger goes to a person: </a:t>
            </a:r>
            <a:pPr indent="0" marL="0">
              <a:spcAft>
                <a:spcPts val="1000"/>
              </a:spcAft>
              <a:buNone/>
            </a:pPr>
            <a:r>
              <a:rPr lang="en-US" sz="1400" dirty="0">
                <a:solidFill>
                  <a:srgbClr val="0A0A0B"/>
                </a:solidFill>
              </a:rPr>
              <a:t>the builder agent writes it on a branch with read-only tests and no network.</a:t>
            </a:r>
            <a:endParaRPr lang="en-US" sz="1400" dirty="0"/>
          </a:p>
        </p:txBody>
      </p:sp>
      <p:sp>
        <p:nvSpPr>
          <p:cNvPr id="20" name="Shape 18"/>
          <p:cNvSpPr/>
          <p:nvPr/>
        </p:nvSpPr>
        <p:spPr>
          <a:xfrm>
            <a:off x="6949440" y="2834640"/>
            <a:ext cx="2331720" cy="1508760"/>
          </a:xfrm>
          <a:prstGeom prst="roundRect">
            <a:avLst>
              <a:gd name="adj" fmla="val 4848"/>
            </a:avLst>
          </a:prstGeom>
          <a:solidFill>
            <a:srgbClr val="F3F6F4"/>
          </a:solidFill>
          <a:ln w="12700">
            <a:solidFill>
              <a:srgbClr val="F3F6F4"/>
            </a:solidFill>
            <a:prstDash val="solid"/>
          </a:ln>
        </p:spPr>
      </p:sp>
      <p:sp>
        <p:nvSpPr>
          <p:cNvPr id="21" name="Text 19"/>
          <p:cNvSpPr txBox="1"/>
          <p:nvPr/>
        </p:nvSpPr>
        <p:spPr>
          <a:xfrm>
            <a:off x="7178040" y="2999232"/>
            <a:ext cx="187452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0.6%</a:t>
            </a:r>
            <a:endParaRPr lang="en-US" sz="3600" dirty="0"/>
          </a:p>
        </p:txBody>
      </p:sp>
      <p:sp>
        <p:nvSpPr>
          <p:cNvPr id="22" name="Text 20"/>
          <p:cNvSpPr txBox="1"/>
          <p:nvPr/>
        </p:nvSpPr>
        <p:spPr>
          <a:xfrm>
            <a:off x="7178040" y="3675888"/>
            <a:ext cx="1874520" cy="594360"/>
          </a:xfrm>
          <a:prstGeom prst="rect">
            <a:avLst/>
          </a:prstGeom>
          <a:noFill/>
          <a:ln/>
        </p:spPr>
        <p:txBody>
          <a:bodyPr wrap="square" lIns="0" tIns="0" rIns="0" bIns="0" rtlCol="0" anchor="t"/>
          <a:lstStyle/>
          <a:p>
            <a:pPr indent="0" marL="0">
              <a:buNone/>
            </a:pPr>
            <a:r>
              <a:rPr lang="en-US" sz="1300" dirty="0">
                <a:solidFill>
                  <a:srgbClr val="55555C"/>
                </a:solidFill>
              </a:rPr>
              <a:t>harmless changes rolled back (anytime-valid test)</a:t>
            </a:r>
            <a:endParaRPr lang="en-US" sz="1300" dirty="0"/>
          </a:p>
        </p:txBody>
      </p:sp>
      <p:sp>
        <p:nvSpPr>
          <p:cNvPr id="23" name="Shape 21"/>
          <p:cNvSpPr/>
          <p:nvPr/>
        </p:nvSpPr>
        <p:spPr>
          <a:xfrm>
            <a:off x="9464040" y="2834640"/>
            <a:ext cx="2194560" cy="1508760"/>
          </a:xfrm>
          <a:prstGeom prst="roundRect">
            <a:avLst>
              <a:gd name="adj" fmla="val 4848"/>
            </a:avLst>
          </a:prstGeom>
          <a:solidFill>
            <a:srgbClr val="F3F6F4"/>
          </a:solidFill>
          <a:ln w="12700">
            <a:solidFill>
              <a:srgbClr val="F3F6F4"/>
            </a:solidFill>
            <a:prstDash val="solid"/>
          </a:ln>
        </p:spPr>
      </p:sp>
      <p:sp>
        <p:nvSpPr>
          <p:cNvPr id="24" name="Text 22"/>
          <p:cNvSpPr txBox="1"/>
          <p:nvPr/>
        </p:nvSpPr>
        <p:spPr>
          <a:xfrm>
            <a:off x="9692640" y="2999232"/>
            <a:ext cx="1737360" cy="685800"/>
          </a:xfrm>
          <a:prstGeom prst="rect">
            <a:avLst/>
          </a:prstGeom>
          <a:noFill/>
          <a:ln/>
        </p:spPr>
        <p:txBody>
          <a:bodyPr wrap="square" lIns="0" tIns="0" rIns="0" bIns="0" rtlCol="0" anchor="ctr"/>
          <a:lstStyle/>
          <a:p>
            <a:pPr indent="0" marL="0">
              <a:buNone/>
            </a:pPr>
            <a:r>
              <a:rPr lang="en-US" sz="3600" b="1" dirty="0">
                <a:solidFill>
                  <a:srgbClr val="D1352B"/>
                </a:solidFill>
                <a:latin typeface="Segoe UI Semibold" pitchFamily="34" charset="0"/>
                <a:ea typeface="Segoe UI Semibold" pitchFamily="34" charset="-122"/>
                <a:cs typeface="Segoe UI Semibold" pitchFamily="34" charset="-120"/>
              </a:rPr>
              <a:t>22%</a:t>
            </a:r>
            <a:endParaRPr lang="en-US" sz="3600" dirty="0"/>
          </a:p>
        </p:txBody>
      </p:sp>
      <p:sp>
        <p:nvSpPr>
          <p:cNvPr id="25" name="Text 23"/>
          <p:cNvSpPr txBox="1"/>
          <p:nvPr/>
        </p:nvSpPr>
        <p:spPr>
          <a:xfrm>
            <a:off x="9692640" y="3675888"/>
            <a:ext cx="1737360" cy="594360"/>
          </a:xfrm>
          <a:prstGeom prst="rect">
            <a:avLst/>
          </a:prstGeom>
          <a:noFill/>
          <a:ln/>
        </p:spPr>
        <p:txBody>
          <a:bodyPr wrap="square" lIns="0" tIns="0" rIns="0" bIns="0" rtlCol="0" anchor="t"/>
          <a:lstStyle/>
          <a:p>
            <a:pPr indent="0" marL="0">
              <a:buNone/>
            </a:pPr>
            <a:r>
              <a:rPr lang="en-US" sz="1300" dirty="0">
                <a:solidFill>
                  <a:srgbClr val="55555C"/>
                </a:solidFill>
              </a:rPr>
              <a:t>with a z-test checked at every look</a:t>
            </a:r>
            <a:endParaRPr lang="en-US" sz="1300" dirty="0"/>
          </a:p>
        </p:txBody>
      </p:sp>
      <p:sp>
        <p:nvSpPr>
          <p:cNvPr id="26" name="Shape 24"/>
          <p:cNvSpPr/>
          <p:nvPr/>
        </p:nvSpPr>
        <p:spPr>
          <a:xfrm>
            <a:off x="6949440" y="4572000"/>
            <a:ext cx="4693615" cy="1463040"/>
          </a:xfrm>
          <a:prstGeom prst="roundRect">
            <a:avLst>
              <a:gd name="adj" fmla="val 5000"/>
            </a:avLst>
          </a:prstGeom>
          <a:solidFill>
            <a:srgbClr val="E9F3EC"/>
          </a:solidFill>
          <a:ln w="12700">
            <a:solidFill>
              <a:srgbClr val="E9F3EC"/>
            </a:solidFill>
            <a:prstDash val="solid"/>
          </a:ln>
        </p:spPr>
      </p:sp>
      <p:sp>
        <p:nvSpPr>
          <p:cNvPr id="27" name="Text 25"/>
          <p:cNvSpPr txBox="1"/>
          <p:nvPr/>
        </p:nvSpPr>
        <p:spPr>
          <a:xfrm>
            <a:off x="7178040" y="4709160"/>
            <a:ext cx="4236415" cy="1234440"/>
          </a:xfrm>
          <a:prstGeom prst="rect">
            <a:avLst/>
          </a:prstGeom>
          <a:noFill/>
          <a:ln/>
        </p:spPr>
        <p:txBody>
          <a:bodyPr wrap="square" lIns="0" tIns="0" rIns="0" bIns="0" rtlCol="0" anchor="t"/>
          <a:lstStyle/>
          <a:p>
            <a:pPr indent="0" marL="0">
              <a:spcAft>
                <a:spcPts val="600"/>
              </a:spcAft>
              <a:buNone/>
            </a:pPr>
            <a:r>
              <a:rPr lang="en-US" sz="1300" dirty="0">
                <a:solidFill>
                  <a:srgbClr val="0A0A0B"/>
                </a:solidFill>
              </a:rPr>
              <a:t>In 20,000 simulated 7-day canaries of 5 members, looked at every 5 minutes. The price is caution: a bad change (thumbs down 25% → 60%) was caught in 61% of canaries.</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3D replays and automatic highlights from one phone video</a:t>
            </a:r>
            <a:endParaRPr lang="en-US" sz="2800" dirty="0"/>
          </a:p>
        </p:txBody>
      </p:sp>
      <p:pic>
        <p:nvPicPr>
          <p:cNvPr id="3" name="Image 0" descr="preencoded.png">    </p:cNvPr>
          <p:cNvPicPr>
            <a:picLocks noChangeAspect="1"/>
          </p:cNvPicPr>
          <p:nvPr/>
        </p:nvPicPr>
        <p:blipFill>
          <a:blip r:embed="rId1"/>
          <a:stretch>
            <a:fillRect/>
          </a:stretch>
        </p:blipFill>
        <p:spPr>
          <a:xfrm>
            <a:off x="548640" y="1280160"/>
            <a:ext cx="11094415" cy="2046101"/>
          </a:xfrm>
          <a:prstGeom prst="rect">
            <a:avLst/>
          </a:prstGeom>
        </p:spPr>
      </p:pic>
      <p:sp>
        <p:nvSpPr>
          <p:cNvPr id="4" name="Text 1"/>
          <p:cNvSpPr txBox="1"/>
          <p:nvPr/>
        </p:nvSpPr>
        <p:spPr>
          <a:xfrm>
            <a:off x="548640" y="3429000"/>
            <a:ext cx="11094415" cy="320040"/>
          </a:xfrm>
          <a:prstGeom prst="rect">
            <a:avLst/>
          </a:prstGeom>
          <a:noFill/>
          <a:ln/>
        </p:spPr>
        <p:txBody>
          <a:bodyPr wrap="square" lIns="0" tIns="0" rIns="0" bIns="0" rtlCol="0" anchor="t"/>
          <a:lstStyle/>
          <a:p>
            <a:pPr indent="0" marL="0">
              <a:spcAft>
                <a:spcPts val="600"/>
              </a:spcAft>
              <a:buNone/>
            </a:pPr>
            <a:r>
              <a:rPr lang="en-US" sz="1100" dirty="0">
                <a:solidFill>
                  <a:srgbClr val="55555C"/>
                </a:solidFill>
              </a:rPr>
              <a:t>An automatic highlight as the pipeline cut it (clip: Badminton klub Ljubljana, CC BY 3.0)</a:t>
            </a:r>
            <a:endParaRPr lang="en-US" sz="1100" dirty="0"/>
          </a:p>
        </p:txBody>
      </p:sp>
      <p:sp>
        <p:nvSpPr>
          <p:cNvPr id="5" name="Shape 2"/>
          <p:cNvSpPr/>
          <p:nvPr/>
        </p:nvSpPr>
        <p:spPr>
          <a:xfrm>
            <a:off x="548640" y="3931920"/>
            <a:ext cx="2743200" cy="1508760"/>
          </a:xfrm>
          <a:prstGeom prst="roundRect">
            <a:avLst>
              <a:gd name="adj" fmla="val 4848"/>
            </a:avLst>
          </a:prstGeom>
          <a:solidFill>
            <a:srgbClr val="F3F6F4"/>
          </a:solidFill>
          <a:ln w="12700">
            <a:solidFill>
              <a:srgbClr val="F3F6F4"/>
            </a:solidFill>
            <a:prstDash val="solid"/>
          </a:ln>
        </p:spPr>
      </p:sp>
      <p:sp>
        <p:nvSpPr>
          <p:cNvPr id="6" name="Text 3"/>
          <p:cNvSpPr txBox="1"/>
          <p:nvPr/>
        </p:nvSpPr>
        <p:spPr>
          <a:xfrm>
            <a:off x="777240" y="4096512"/>
            <a:ext cx="228600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1.00 / 0.79</a:t>
            </a:r>
            <a:endParaRPr lang="en-US" sz="3600" dirty="0"/>
          </a:p>
        </p:txBody>
      </p:sp>
      <p:sp>
        <p:nvSpPr>
          <p:cNvPr id="7" name="Text 4"/>
          <p:cNvSpPr txBox="1"/>
          <p:nvPr/>
        </p:nvSpPr>
        <p:spPr>
          <a:xfrm>
            <a:off x="777240" y="4773168"/>
            <a:ext cx="2286000" cy="594360"/>
          </a:xfrm>
          <a:prstGeom prst="rect">
            <a:avLst/>
          </a:prstGeom>
          <a:noFill/>
          <a:ln/>
        </p:spPr>
        <p:txBody>
          <a:bodyPr wrap="square" lIns="0" tIns="0" rIns="0" bIns="0" rtlCol="0" anchor="t"/>
          <a:lstStyle/>
          <a:p>
            <a:pPr indent="0" marL="0">
              <a:buNone/>
            </a:pPr>
            <a:r>
              <a:rPr lang="en-US" sz="1300" dirty="0">
                <a:solidFill>
                  <a:srgbClr val="55555C"/>
                </a:solidFill>
              </a:rPr>
              <a:t>precision / recall of the learned arc threshold (first rule: 0.45 / 0.64)</a:t>
            </a:r>
            <a:endParaRPr lang="en-US" sz="1300" dirty="0"/>
          </a:p>
        </p:txBody>
      </p:sp>
      <p:sp>
        <p:nvSpPr>
          <p:cNvPr id="8" name="Shape 5"/>
          <p:cNvSpPr/>
          <p:nvPr/>
        </p:nvSpPr>
        <p:spPr>
          <a:xfrm>
            <a:off x="3474720" y="3931920"/>
            <a:ext cx="2468880" cy="1508760"/>
          </a:xfrm>
          <a:prstGeom prst="roundRect">
            <a:avLst>
              <a:gd name="adj" fmla="val 4848"/>
            </a:avLst>
          </a:prstGeom>
          <a:solidFill>
            <a:srgbClr val="F3F6F4"/>
          </a:solidFill>
          <a:ln w="12700">
            <a:solidFill>
              <a:srgbClr val="F3F6F4"/>
            </a:solidFill>
            <a:prstDash val="solid"/>
          </a:ln>
        </p:spPr>
      </p:sp>
      <p:sp>
        <p:nvSpPr>
          <p:cNvPr id="9" name="Text 6"/>
          <p:cNvSpPr txBox="1"/>
          <p:nvPr/>
        </p:nvSpPr>
        <p:spPr>
          <a:xfrm>
            <a:off x="3703320" y="4096512"/>
            <a:ext cx="201168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87%</a:t>
            </a:r>
            <a:endParaRPr lang="en-US" sz="3600" dirty="0"/>
          </a:p>
        </p:txBody>
      </p:sp>
      <p:sp>
        <p:nvSpPr>
          <p:cNvPr id="10" name="Text 7"/>
          <p:cNvSpPr txBox="1"/>
          <p:nvPr/>
        </p:nvSpPr>
        <p:spPr>
          <a:xfrm>
            <a:off x="3703320" y="4773168"/>
            <a:ext cx="2011680" cy="594360"/>
          </a:xfrm>
          <a:prstGeom prst="rect">
            <a:avLst/>
          </a:prstGeom>
          <a:noFill/>
          <a:ln/>
        </p:spPr>
        <p:txBody>
          <a:bodyPr wrap="square" lIns="0" tIns="0" rIns="0" bIns="0" rtlCol="0" anchor="t"/>
          <a:lstStyle/>
          <a:p>
            <a:pPr indent="0" marL="0">
              <a:buNone/>
            </a:pPr>
            <a:r>
              <a:rPr lang="en-US" sz="1300" dirty="0">
                <a:solidFill>
                  <a:srgbClr val="55555C"/>
                </a:solidFill>
              </a:rPr>
              <a:t>Muse Wonder agreed with the labels, and says why</a:t>
            </a:r>
            <a:endParaRPr lang="en-US" sz="1300" dirty="0"/>
          </a:p>
        </p:txBody>
      </p:sp>
      <p:sp>
        <p:nvSpPr>
          <p:cNvPr id="11" name="Shape 8"/>
          <p:cNvSpPr/>
          <p:nvPr/>
        </p:nvSpPr>
        <p:spPr>
          <a:xfrm>
            <a:off x="6126480" y="3931920"/>
            <a:ext cx="2468880" cy="1508760"/>
          </a:xfrm>
          <a:prstGeom prst="roundRect">
            <a:avLst>
              <a:gd name="adj" fmla="val 4848"/>
            </a:avLst>
          </a:prstGeom>
          <a:solidFill>
            <a:srgbClr val="F3F6F4"/>
          </a:solidFill>
          <a:ln w="12700">
            <a:solidFill>
              <a:srgbClr val="F3F6F4"/>
            </a:solidFill>
            <a:prstDash val="solid"/>
          </a:ln>
        </p:spPr>
      </p:sp>
      <p:sp>
        <p:nvSpPr>
          <p:cNvPr id="12" name="Text 9"/>
          <p:cNvSpPr txBox="1"/>
          <p:nvPr/>
        </p:nvSpPr>
        <p:spPr>
          <a:xfrm>
            <a:off x="6355080" y="4096512"/>
            <a:ext cx="201168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19.9 s</a:t>
            </a:r>
            <a:endParaRPr lang="en-US" sz="3600" dirty="0"/>
          </a:p>
        </p:txBody>
      </p:sp>
      <p:sp>
        <p:nvSpPr>
          <p:cNvPr id="13" name="Text 10"/>
          <p:cNvSpPr txBox="1"/>
          <p:nvPr/>
        </p:nvSpPr>
        <p:spPr>
          <a:xfrm>
            <a:off x="6355080" y="4773168"/>
            <a:ext cx="2011680" cy="594360"/>
          </a:xfrm>
          <a:prstGeom prst="rect">
            <a:avLst/>
          </a:prstGeom>
          <a:noFill/>
          <a:ln/>
        </p:spPr>
        <p:txBody>
          <a:bodyPr wrap="square" lIns="0" tIns="0" rIns="0" bIns="0" rtlCol="0" anchor="t"/>
          <a:lstStyle/>
          <a:p>
            <a:pPr indent="0" marL="0">
              <a:buNone/>
            </a:pPr>
            <a:r>
              <a:rPr lang="en-US" sz="1300" dirty="0">
                <a:solidFill>
                  <a:srgbClr val="55555C"/>
                </a:solidFill>
              </a:rPr>
              <a:t>a moment on the RTX 3090, models loaded</a:t>
            </a:r>
            <a:endParaRPr lang="en-US" sz="1300" dirty="0"/>
          </a:p>
        </p:txBody>
      </p:sp>
      <p:sp>
        <p:nvSpPr>
          <p:cNvPr id="14" name="Text 11"/>
          <p:cNvSpPr txBox="1"/>
          <p:nvPr/>
        </p:nvSpPr>
        <p:spPr>
          <a:xfrm>
            <a:off x="8869680" y="3977640"/>
            <a:ext cx="2773375" cy="2011680"/>
          </a:xfrm>
          <a:prstGeom prst="rect">
            <a:avLst/>
          </a:prstGeom>
          <a:noFill/>
          <a:ln/>
        </p:spPr>
        <p:txBody>
          <a:bodyPr wrap="square" lIns="0" tIns="0" rIns="0" bIns="0" rtlCol="0" anchor="t"/>
          <a:lstStyle/>
          <a:p>
            <a:pPr marL="342900" indent="-342900">
              <a:spcAft>
                <a:spcPts val="800"/>
              </a:spcAft>
              <a:buSzPct val="100000"/>
              <a:buChar char="•"/>
            </a:pPr>
            <a:r>
              <a:rPr lang="en-US" sz="1300" b="1" dirty="0">
                <a:solidFill>
                  <a:srgbClr val="0A0A0B"/>
                </a:solidFill>
              </a:rPr>
              <a:t>MapAnything </a:t>
            </a:r>
            <a:pPr indent="0" marL="0">
              <a:spcAft>
                <a:spcPts val="800"/>
              </a:spcAft>
              <a:buNone/>
            </a:pPr>
            <a:r>
              <a:rPr lang="en-US" sz="1300" dirty="0">
                <a:solidFill>
                  <a:srgbClr val="0A0A0B"/>
                </a:solidFill>
              </a:rPr>
              <a:t>reads depth and the camera; SAM 2.1 cuts the player out.</a:t>
            </a:r>
            <a:endParaRPr lang="en-US" sz="1300" dirty="0"/>
          </a:p>
          <a:p>
            <a:pPr marL="342900" indent="-342900">
              <a:spcAft>
                <a:spcPts val="800"/>
              </a:spcAft>
              <a:buSzPct val="100000"/>
              <a:buChar char="•"/>
            </a:pPr>
            <a:r>
              <a:rPr lang="en-US" sz="1300" b="1" dirty="0">
                <a:solidFill>
                  <a:srgbClr val="0A0A0B"/>
                </a:solidFill>
              </a:rPr>
              <a:t>RT-DETR </a:t>
            </a:r>
            <a:pPr indent="0" marL="0">
              <a:spcAft>
                <a:spcPts val="800"/>
              </a:spcAft>
              <a:buNone/>
            </a:pPr>
            <a:r>
              <a:rPr lang="en-US" sz="1300" dirty="0">
                <a:solidFill>
                  <a:srgbClr val="0A0A0B"/>
                </a:solidFill>
              </a:rPr>
              <a:t>follows the right player on all three test clips, about 2× faster than DETR.</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tiered decision engine: each layer takes what is left</a:t>
            </a:r>
            <a:endParaRPr lang="en-US" sz="2800" dirty="0"/>
          </a:p>
        </p:txBody>
      </p:sp>
      <p:sp>
        <p:nvSpPr>
          <p:cNvPr id="3" name="Shape 1"/>
          <p:cNvSpPr/>
          <p:nvPr/>
        </p:nvSpPr>
        <p:spPr>
          <a:xfrm>
            <a:off x="548640" y="1325880"/>
            <a:ext cx="3108960" cy="960120"/>
          </a:xfrm>
          <a:prstGeom prst="roundRect">
            <a:avLst>
              <a:gd name="adj" fmla="val 7619"/>
            </a:avLst>
          </a:prstGeom>
          <a:solidFill>
            <a:srgbClr val="E9F3EC"/>
          </a:solidFill>
          <a:ln w="12700">
            <a:solidFill>
              <a:srgbClr val="E9F3EC"/>
            </a:solidFill>
            <a:prstDash val="solid"/>
          </a:ln>
        </p:spPr>
      </p:sp>
      <p:sp>
        <p:nvSpPr>
          <p:cNvPr id="4" name="Text 2"/>
          <p:cNvSpPr txBox="1"/>
          <p:nvPr/>
        </p:nvSpPr>
        <p:spPr>
          <a:xfrm>
            <a:off x="731520" y="1325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Code</a:t>
            </a:r>
            <a:endParaRPr lang="en-US" sz="1500" dirty="0"/>
          </a:p>
          <a:p>
            <a:pPr indent="0" marL="0">
              <a:buNone/>
            </a:pPr>
            <a:r>
              <a:rPr lang="en-US" sz="1200" dirty="0">
                <a:solidFill>
                  <a:srgbClr val="55555C"/>
                </a:solidFill>
              </a:rPr>
              <a:t>milliseconds</a:t>
            </a:r>
            <a:endParaRPr lang="en-US" sz="1500" dirty="0"/>
          </a:p>
        </p:txBody>
      </p:sp>
      <p:sp>
        <p:nvSpPr>
          <p:cNvPr id="5" name="Text 3"/>
          <p:cNvSpPr txBox="1"/>
          <p:nvPr/>
        </p:nvSpPr>
        <p:spPr>
          <a:xfrm>
            <a:off x="3840480" y="1325880"/>
            <a:ext cx="7802575" cy="960120"/>
          </a:xfrm>
          <a:prstGeom prst="rect">
            <a:avLst/>
          </a:prstGeom>
          <a:noFill/>
          <a:ln/>
        </p:spPr>
        <p:txBody>
          <a:bodyPr wrap="square" lIns="0" tIns="0" rIns="0" bIns="0" rtlCol="0" anchor="ctr"/>
          <a:lstStyle/>
          <a:p>
            <a:pPr indent="0" marL="0">
              <a:buNone/>
            </a:pPr>
            <a:r>
              <a:rPr lang="en-US" sz="1400" dirty="0">
                <a:solidFill>
                  <a:srgbClr val="0A0A0B"/>
                </a:solidFill>
              </a:rPr>
              <a:t>Free times, clashes, trips, every hard rule; the game's card in 7 ms (median)</a:t>
            </a:r>
            <a:endParaRPr lang="en-US" sz="1400" dirty="0"/>
          </a:p>
        </p:txBody>
      </p:sp>
      <p:sp>
        <p:nvSpPr>
          <p:cNvPr id="6" name="Shape 4"/>
          <p:cNvSpPr/>
          <p:nvPr/>
        </p:nvSpPr>
        <p:spPr>
          <a:xfrm>
            <a:off x="868680" y="2468880"/>
            <a:ext cx="3108960" cy="960120"/>
          </a:xfrm>
          <a:prstGeom prst="roundRect">
            <a:avLst>
              <a:gd name="adj" fmla="val 7619"/>
            </a:avLst>
          </a:prstGeom>
          <a:solidFill>
            <a:srgbClr val="D3E8DB"/>
          </a:solidFill>
          <a:ln w="12700">
            <a:solidFill>
              <a:srgbClr val="D3E8DB"/>
            </a:solidFill>
            <a:prstDash val="solid"/>
          </a:ln>
        </p:spPr>
      </p:sp>
      <p:sp>
        <p:nvSpPr>
          <p:cNvPr id="7" name="Text 5"/>
          <p:cNvSpPr txBox="1"/>
          <p:nvPr/>
        </p:nvSpPr>
        <p:spPr>
          <a:xfrm>
            <a:off x="1051560" y="2468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Our 1B student</a:t>
            </a:r>
            <a:endParaRPr lang="en-US" sz="1500" dirty="0"/>
          </a:p>
          <a:p>
            <a:pPr indent="0" marL="0">
              <a:buNone/>
            </a:pPr>
            <a:r>
              <a:rPr lang="en-US" sz="1200" dirty="0">
                <a:solidFill>
                  <a:srgbClr val="55555C"/>
                </a:solidFill>
              </a:rPr>
              <a:t>about 0.9 s, CPU</a:t>
            </a:r>
            <a:endParaRPr lang="en-US" sz="1500" dirty="0"/>
          </a:p>
        </p:txBody>
      </p:sp>
      <p:sp>
        <p:nvSpPr>
          <p:cNvPr id="8" name="Text 6"/>
          <p:cNvSpPr txBox="1"/>
          <p:nvPr/>
        </p:nvSpPr>
        <p:spPr>
          <a:xfrm>
            <a:off x="4160520" y="2468880"/>
            <a:ext cx="7482535" cy="960120"/>
          </a:xfrm>
          <a:prstGeom prst="rect">
            <a:avLst/>
          </a:prstGeom>
          <a:noFill/>
          <a:ln/>
        </p:spPr>
        <p:txBody>
          <a:bodyPr wrap="square" lIns="0" tIns="0" rIns="0" bIns="0" rtlCol="0" anchor="ctr"/>
          <a:lstStyle/>
          <a:p>
            <a:pPr indent="0" marL="0">
              <a:buNone/>
            </a:pPr>
            <a:r>
              <a:rPr lang="en-US" sz="1400" dirty="0">
                <a:solidFill>
                  <a:srgbClr val="0A0A0B"/>
                </a:solidFill>
              </a:rPr>
              <a:t>Answers when at least 0.6 sure: 96.0% of ordinary choices, 73.0% of the hardest</a:t>
            </a:r>
            <a:endParaRPr lang="en-US" sz="1400" dirty="0"/>
          </a:p>
        </p:txBody>
      </p:sp>
      <p:sp>
        <p:nvSpPr>
          <p:cNvPr id="9" name="Shape 7"/>
          <p:cNvSpPr/>
          <p:nvPr/>
        </p:nvSpPr>
        <p:spPr>
          <a:xfrm>
            <a:off x="1188720" y="3611880"/>
            <a:ext cx="3108960" cy="960120"/>
          </a:xfrm>
          <a:prstGeom prst="roundRect">
            <a:avLst>
              <a:gd name="adj" fmla="val 7619"/>
            </a:avLst>
          </a:prstGeom>
          <a:solidFill>
            <a:srgbClr val="BCDCC9"/>
          </a:solidFill>
          <a:ln w="12700">
            <a:solidFill>
              <a:srgbClr val="BCDCC9"/>
            </a:solidFill>
            <a:prstDash val="solid"/>
          </a:ln>
        </p:spPr>
      </p:sp>
      <p:sp>
        <p:nvSpPr>
          <p:cNvPr id="10" name="Text 8"/>
          <p:cNvSpPr txBox="1"/>
          <p:nvPr/>
        </p:nvSpPr>
        <p:spPr>
          <a:xfrm>
            <a:off x="1371600" y="3611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Two cheap reads that agree</a:t>
            </a:r>
            <a:endParaRPr lang="en-US" sz="1500" dirty="0"/>
          </a:p>
          <a:p>
            <a:pPr indent="0" marL="0">
              <a:buNone/>
            </a:pPr>
            <a:r>
              <a:rPr lang="en-US" sz="1200" dirty="0">
                <a:solidFill>
                  <a:srgbClr val="55555C"/>
                </a:solidFill>
              </a:rPr>
              <a:t>0.53 s</a:t>
            </a:r>
            <a:endParaRPr lang="en-US" sz="1500" dirty="0"/>
          </a:p>
        </p:txBody>
      </p:sp>
      <p:sp>
        <p:nvSpPr>
          <p:cNvPr id="11" name="Text 9"/>
          <p:cNvSpPr txBox="1"/>
          <p:nvPr/>
        </p:nvSpPr>
        <p:spPr>
          <a:xfrm>
            <a:off x="4480560" y="3611880"/>
            <a:ext cx="7162495" cy="960120"/>
          </a:xfrm>
          <a:prstGeom prst="rect">
            <a:avLst/>
          </a:prstGeom>
          <a:noFill/>
          <a:ln/>
        </p:spPr>
        <p:txBody>
          <a:bodyPr wrap="square" lIns="0" tIns="0" rIns="0" bIns="0" rtlCol="0" anchor="ctr"/>
          <a:lstStyle/>
          <a:p>
            <a:pPr indent="0" marL="0">
              <a:buNone/>
            </a:pPr>
            <a:r>
              <a:rPr lang="en-US" sz="1400" dirty="0">
                <a:solidFill>
                  <a:srgbClr val="0A0A0B"/>
                </a:solidFill>
              </a:rPr>
              <a:t>The one-token decider and the student on the same time: settled without Glimmer 72.1% → 79.0%</a:t>
            </a:r>
            <a:endParaRPr lang="en-US" sz="1400" dirty="0"/>
          </a:p>
        </p:txBody>
      </p:sp>
      <p:sp>
        <p:nvSpPr>
          <p:cNvPr id="12" name="Shape 10"/>
          <p:cNvSpPr/>
          <p:nvPr/>
        </p:nvSpPr>
        <p:spPr>
          <a:xfrm>
            <a:off x="1508760" y="4754880"/>
            <a:ext cx="3108960" cy="960120"/>
          </a:xfrm>
          <a:prstGeom prst="roundRect">
            <a:avLst>
              <a:gd name="adj" fmla="val 7619"/>
            </a:avLst>
          </a:prstGeom>
          <a:solidFill>
            <a:srgbClr val="A6D0B7"/>
          </a:solidFill>
          <a:ln w="12700">
            <a:solidFill>
              <a:srgbClr val="A6D0B7"/>
            </a:solidFill>
            <a:prstDash val="solid"/>
          </a:ln>
        </p:spPr>
      </p:sp>
      <p:sp>
        <p:nvSpPr>
          <p:cNvPr id="13" name="Text 11"/>
          <p:cNvSpPr txBox="1"/>
          <p:nvPr/>
        </p:nvSpPr>
        <p:spPr>
          <a:xfrm>
            <a:off x="1691640" y="4754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Muse Glimmer, stopped early</a:t>
            </a:r>
            <a:endParaRPr lang="en-US" sz="1500" dirty="0"/>
          </a:p>
          <a:p>
            <a:pPr indent="0" marL="0">
              <a:buNone/>
            </a:pPr>
            <a:r>
              <a:rPr lang="en-US" sz="1200" dirty="0">
                <a:solidFill>
                  <a:srgbClr val="55555C"/>
                </a:solidFill>
              </a:rPr>
              <a:t>20 to 40 s</a:t>
            </a:r>
            <a:endParaRPr lang="en-US" sz="1500" dirty="0"/>
          </a:p>
        </p:txBody>
      </p:sp>
      <p:sp>
        <p:nvSpPr>
          <p:cNvPr id="14" name="Text 12"/>
          <p:cNvSpPr txBox="1"/>
          <p:nvPr/>
        </p:nvSpPr>
        <p:spPr>
          <a:xfrm>
            <a:off x="4800600" y="4754880"/>
            <a:ext cx="6842455" cy="960120"/>
          </a:xfrm>
          <a:prstGeom prst="rect">
            <a:avLst/>
          </a:prstGeom>
          <a:noFill/>
          <a:ln/>
        </p:spPr>
        <p:txBody>
          <a:bodyPr wrap="square" lIns="0" tIns="0" rIns="0" bIns="0" rtlCol="0" anchor="ctr"/>
          <a:lstStyle/>
          <a:p>
            <a:pPr indent="0" marL="0">
              <a:buNone/>
            </a:pPr>
            <a:r>
              <a:rPr lang="en-US" sz="1400" dirty="0">
                <a:solidFill>
                  <a:srgbClr val="0A0A0B"/>
                </a:solidFill>
              </a:rPr>
              <a:t>Early exit after DEER: 596 → 420 tokens an answer, no later (22.3 s → 21.3 s)</a:t>
            </a:r>
            <a:endParaRPr lang="en-US" sz="1400" dirty="0"/>
          </a:p>
        </p:txBody>
      </p:sp>
      <p:sp>
        <p:nvSpPr>
          <p:cNvPr id="15" name="Text 13"/>
          <p:cNvSpPr txBox="1"/>
          <p:nvPr/>
        </p:nvSpPr>
        <p:spPr>
          <a:xfrm>
            <a:off x="548640" y="5943600"/>
            <a:ext cx="11094415" cy="365760"/>
          </a:xfrm>
          <a:prstGeom prst="rect">
            <a:avLst/>
          </a:prstGeom>
          <a:noFill/>
          <a:ln/>
        </p:spPr>
        <p:txBody>
          <a:bodyPr wrap="square" lIns="0" tIns="0" rIns="0" bIns="0" rtlCol="0" anchor="t"/>
          <a:lstStyle/>
          <a:p>
            <a:pPr indent="0" marL="0">
              <a:spcAft>
                <a:spcPts val="600"/>
              </a:spcAft>
              <a:buNone/>
            </a:pPr>
            <a:r>
              <a:rPr lang="en-US" sz="1300" dirty="0">
                <a:solidFill>
                  <a:srgbClr val="55555C"/>
                </a:solidFill>
              </a:rPr>
              <a:t>Following FrugalGPT. Before any of them, Match works ahead of time, so the agents have often agreed a game before anyone waits at all.</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booking, step by step, with its measured times</a:t>
            </a:r>
            <a:endParaRPr lang="en-US" sz="2800" dirty="0"/>
          </a:p>
        </p:txBody>
      </p:sp>
      <p:pic>
        <p:nvPicPr>
          <p:cNvPr id="3" name="Image 0" descr="preencoded.png">    </p:cNvPr>
          <p:cNvPicPr>
            <a:picLocks noChangeAspect="1"/>
          </p:cNvPicPr>
          <p:nvPr/>
        </p:nvPicPr>
        <p:blipFill>
          <a:blip r:embed="rId1"/>
          <a:stretch>
            <a:fillRect/>
          </a:stretch>
        </p:blipFill>
        <p:spPr>
          <a:xfrm>
            <a:off x="1783808" y="1234440"/>
            <a:ext cx="8624079" cy="5029200"/>
          </a:xfrm>
          <a:prstGeom prst="rect">
            <a:avLst/>
          </a:prstGeom>
        </p:spPr>
      </p:pic>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Our own model: a Llama 3.2 1B distilled from Muse Glimmer</a:t>
            </a:r>
            <a:endParaRPr lang="en-US" sz="2800" dirty="0"/>
          </a:p>
        </p:txBody>
      </p:sp>
      <p:sp>
        <p:nvSpPr>
          <p:cNvPr id="3" name="Shape 1"/>
          <p:cNvSpPr/>
          <p:nvPr/>
        </p:nvSpPr>
        <p:spPr>
          <a:xfrm>
            <a:off x="548640" y="1325880"/>
            <a:ext cx="2651760" cy="1508760"/>
          </a:xfrm>
          <a:prstGeom prst="roundRect">
            <a:avLst>
              <a:gd name="adj" fmla="val 4848"/>
            </a:avLst>
          </a:prstGeom>
          <a:solidFill>
            <a:srgbClr val="F3F6F4"/>
          </a:solidFill>
          <a:ln w="12700">
            <a:solidFill>
              <a:srgbClr val="F3F6F4"/>
            </a:solidFill>
            <a:prstDash val="solid"/>
          </a:ln>
        </p:spPr>
      </p:sp>
      <p:sp>
        <p:nvSpPr>
          <p:cNvPr id="4" name="Text 2"/>
          <p:cNvSpPr txBox="1"/>
          <p:nvPr/>
        </p:nvSpPr>
        <p:spPr>
          <a:xfrm>
            <a:off x="777240" y="1490472"/>
            <a:ext cx="219456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89.5%</a:t>
            </a:r>
            <a:endParaRPr lang="en-US" sz="3600" dirty="0"/>
          </a:p>
        </p:txBody>
      </p:sp>
      <p:sp>
        <p:nvSpPr>
          <p:cNvPr id="5" name="Text 3"/>
          <p:cNvSpPr txBox="1"/>
          <p:nvPr/>
        </p:nvSpPr>
        <p:spPr>
          <a:xfrm>
            <a:off x="777240" y="2167128"/>
            <a:ext cx="2194560" cy="594360"/>
          </a:xfrm>
          <a:prstGeom prst="rect">
            <a:avLst/>
          </a:prstGeom>
          <a:noFill/>
          <a:ln/>
        </p:spPr>
        <p:txBody>
          <a:bodyPr wrap="square" lIns="0" tIns="0" rIns="0" bIns="0" rtlCol="0" anchor="t"/>
          <a:lstStyle/>
          <a:p>
            <a:pPr indent="0" marL="0">
              <a:buNone/>
            </a:pPr>
            <a:r>
              <a:rPr lang="en-US" sz="1300" dirty="0">
                <a:solidFill>
                  <a:srgbClr val="55555C"/>
                </a:solidFill>
              </a:rPr>
              <a:t>agreement with Glimmer on 500 held-out cases (Glimmer with itself: 88.8%)</a:t>
            </a:r>
            <a:endParaRPr lang="en-US" sz="1300" dirty="0"/>
          </a:p>
        </p:txBody>
      </p:sp>
      <p:sp>
        <p:nvSpPr>
          <p:cNvPr id="6" name="Shape 4"/>
          <p:cNvSpPr/>
          <p:nvPr/>
        </p:nvSpPr>
        <p:spPr>
          <a:xfrm>
            <a:off x="3383280" y="1325880"/>
            <a:ext cx="2651760" cy="1508760"/>
          </a:xfrm>
          <a:prstGeom prst="roundRect">
            <a:avLst>
              <a:gd name="adj" fmla="val 4848"/>
            </a:avLst>
          </a:prstGeom>
          <a:solidFill>
            <a:srgbClr val="F3F6F4"/>
          </a:solidFill>
          <a:ln w="12700">
            <a:solidFill>
              <a:srgbClr val="F3F6F4"/>
            </a:solidFill>
            <a:prstDash val="solid"/>
          </a:ln>
        </p:spPr>
      </p:sp>
      <p:sp>
        <p:nvSpPr>
          <p:cNvPr id="7" name="Text 5"/>
          <p:cNvSpPr txBox="1"/>
          <p:nvPr/>
        </p:nvSpPr>
        <p:spPr>
          <a:xfrm>
            <a:off x="3611880" y="1490472"/>
            <a:ext cx="219456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0.9 s</a:t>
            </a:r>
            <a:endParaRPr lang="en-US" sz="3600" dirty="0"/>
          </a:p>
        </p:txBody>
      </p:sp>
      <p:sp>
        <p:nvSpPr>
          <p:cNvPr id="8" name="Text 6"/>
          <p:cNvSpPr txBox="1"/>
          <p:nvPr/>
        </p:nvSpPr>
        <p:spPr>
          <a:xfrm>
            <a:off x="3611880" y="2167128"/>
            <a:ext cx="2194560" cy="594360"/>
          </a:xfrm>
          <a:prstGeom prst="rect">
            <a:avLst/>
          </a:prstGeom>
          <a:noFill/>
          <a:ln/>
        </p:spPr>
        <p:txBody>
          <a:bodyPr wrap="square" lIns="0" tIns="0" rIns="0" bIns="0" rtlCol="0" anchor="t"/>
          <a:lstStyle/>
          <a:p>
            <a:pPr indent="0" marL="0">
              <a:buNone/>
            </a:pPr>
            <a:r>
              <a:rPr lang="en-US" sz="1300" dirty="0">
                <a:solidFill>
                  <a:srgbClr val="55555C"/>
                </a:solidFill>
              </a:rPr>
              <a:t>a choice on the CPU, about 44× faster than Glimmer's ~40 s</a:t>
            </a:r>
            <a:endParaRPr lang="en-US" sz="1300" dirty="0"/>
          </a:p>
        </p:txBody>
      </p:sp>
      <p:sp>
        <p:nvSpPr>
          <p:cNvPr id="9" name="Shape 7"/>
          <p:cNvSpPr/>
          <p:nvPr/>
        </p:nvSpPr>
        <p:spPr>
          <a:xfrm>
            <a:off x="6217920" y="1325880"/>
            <a:ext cx="2651760" cy="1508760"/>
          </a:xfrm>
          <a:prstGeom prst="roundRect">
            <a:avLst>
              <a:gd name="adj" fmla="val 4848"/>
            </a:avLst>
          </a:prstGeom>
          <a:solidFill>
            <a:srgbClr val="F3F6F4"/>
          </a:solidFill>
          <a:ln w="12700">
            <a:solidFill>
              <a:srgbClr val="F3F6F4"/>
            </a:solidFill>
            <a:prstDash val="solid"/>
          </a:ln>
        </p:spPr>
      </p:sp>
      <p:sp>
        <p:nvSpPr>
          <p:cNvPr id="10" name="Text 8"/>
          <p:cNvSpPr txBox="1"/>
          <p:nvPr/>
        </p:nvSpPr>
        <p:spPr>
          <a:xfrm>
            <a:off x="6446520" y="1490472"/>
            <a:ext cx="219456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0.052</a:t>
            </a:r>
            <a:endParaRPr lang="en-US" sz="3600" dirty="0"/>
          </a:p>
        </p:txBody>
      </p:sp>
      <p:sp>
        <p:nvSpPr>
          <p:cNvPr id="11" name="Text 9"/>
          <p:cNvSpPr txBox="1"/>
          <p:nvPr/>
        </p:nvSpPr>
        <p:spPr>
          <a:xfrm>
            <a:off x="6446520" y="2167128"/>
            <a:ext cx="2194560" cy="594360"/>
          </a:xfrm>
          <a:prstGeom prst="rect">
            <a:avLst/>
          </a:prstGeom>
          <a:noFill/>
          <a:ln/>
        </p:spPr>
        <p:txBody>
          <a:bodyPr wrap="square" lIns="0" tIns="0" rIns="0" bIns="0" rtlCol="0" anchor="t"/>
          <a:lstStyle/>
          <a:p>
            <a:pPr indent="0" marL="0">
              <a:buNone/>
            </a:pPr>
            <a:r>
              <a:rPr lang="en-US" sz="1300" dirty="0">
                <a:solidFill>
                  <a:srgbClr val="55555C"/>
                </a:solidFill>
              </a:rPr>
              <a:t>expected calibration error: its confidence can be trusted</a:t>
            </a:r>
            <a:endParaRPr lang="en-US" sz="1300" dirty="0"/>
          </a:p>
        </p:txBody>
      </p:sp>
      <p:sp>
        <p:nvSpPr>
          <p:cNvPr id="12" name="Shape 10"/>
          <p:cNvSpPr/>
          <p:nvPr/>
        </p:nvSpPr>
        <p:spPr>
          <a:xfrm>
            <a:off x="9052560" y="1325880"/>
            <a:ext cx="2590495" cy="1508760"/>
          </a:xfrm>
          <a:prstGeom prst="roundRect">
            <a:avLst>
              <a:gd name="adj" fmla="val 4848"/>
            </a:avLst>
          </a:prstGeom>
          <a:solidFill>
            <a:srgbClr val="F3F6F4"/>
          </a:solidFill>
          <a:ln w="12700">
            <a:solidFill>
              <a:srgbClr val="F3F6F4"/>
            </a:solidFill>
            <a:prstDash val="solid"/>
          </a:ln>
        </p:spPr>
      </p:sp>
      <p:sp>
        <p:nvSpPr>
          <p:cNvPr id="13" name="Text 11"/>
          <p:cNvSpPr txBox="1"/>
          <p:nvPr/>
        </p:nvSpPr>
        <p:spPr>
          <a:xfrm>
            <a:off x="9281160" y="1490472"/>
            <a:ext cx="213329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4,868</a:t>
            </a:r>
            <a:endParaRPr lang="en-US" sz="3600" dirty="0"/>
          </a:p>
        </p:txBody>
      </p:sp>
      <p:sp>
        <p:nvSpPr>
          <p:cNvPr id="14" name="Text 12"/>
          <p:cNvSpPr txBox="1"/>
          <p:nvPr/>
        </p:nvSpPr>
        <p:spPr>
          <a:xfrm>
            <a:off x="9281160" y="2167128"/>
            <a:ext cx="2133295" cy="594360"/>
          </a:xfrm>
          <a:prstGeom prst="rect">
            <a:avLst/>
          </a:prstGeom>
          <a:noFill/>
          <a:ln/>
        </p:spPr>
        <p:txBody>
          <a:bodyPr wrap="square" lIns="0" tIns="0" rIns="0" bIns="0" rtlCol="0" anchor="t"/>
          <a:lstStyle/>
          <a:p>
            <a:pPr indent="0" marL="0">
              <a:buNone/>
            </a:pPr>
            <a:r>
              <a:rPr lang="en-US" sz="1300" dirty="0">
                <a:solidFill>
                  <a:srgbClr val="55555C"/>
                </a:solidFill>
              </a:rPr>
              <a:t>of Glimmer's choices distilled</a:t>
            </a:r>
            <a:endParaRPr lang="en-US" sz="1300" dirty="0"/>
          </a:p>
        </p:txBody>
      </p:sp>
      <p:sp>
        <p:nvSpPr>
          <p:cNvPr id="15" name="Text 13"/>
          <p:cNvSpPr txBox="1"/>
          <p:nvPr/>
        </p:nvSpPr>
        <p:spPr>
          <a:xfrm>
            <a:off x="548640" y="3154680"/>
            <a:ext cx="6035040" cy="3017520"/>
          </a:xfrm>
          <a:prstGeom prst="rect">
            <a:avLst/>
          </a:prstGeom>
          <a:noFill/>
          <a:ln/>
        </p:spPr>
        <p:txBody>
          <a:bodyPr wrap="square" lIns="0" tIns="0" rIns="0" bIns="0" rtlCol="0" anchor="t"/>
          <a:lstStyle/>
          <a:p>
            <a:pPr marL="342900" indent="-342900">
              <a:spcAft>
                <a:spcPts val="900"/>
              </a:spcAft>
              <a:buSzPct val="100000"/>
              <a:buChar char="•"/>
            </a:pPr>
            <a:r>
              <a:rPr lang="en-US" sz="1400" b="1" dirty="0">
                <a:solidFill>
                  <a:srgbClr val="0A0A0B"/>
                </a:solidFill>
              </a:rPr>
              <a:t>A decision model, like TypeSafe's Jev: </a:t>
            </a:r>
            <a:pPr indent="0" marL="0">
              <a:spcAft>
                <a:spcPts val="900"/>
              </a:spcAft>
              <a:buNone/>
            </a:pPr>
            <a:r>
              <a:rPr lang="en-US" sz="1400" dirty="0">
                <a:solidFill>
                  <a:srgbClr val="0A0A0B"/>
                </a:solidFill>
              </a:rPr>
              <a:t>options declared in advance and scored together in one read; it never writes text that could break a rule.</a:t>
            </a:r>
            <a:endParaRPr lang="en-US" sz="1400" dirty="0"/>
          </a:p>
          <a:p>
            <a:pPr marL="342900" indent="-342900">
              <a:spcAft>
                <a:spcPts val="900"/>
              </a:spcAft>
              <a:buSzPct val="100000"/>
              <a:buChar char="•"/>
            </a:pPr>
            <a:r>
              <a:rPr lang="en-US" sz="1400" b="1" dirty="0">
                <a:solidFill>
                  <a:srgbClr val="0A0A0B"/>
                </a:solidFill>
              </a:rPr>
              <a:t>Served at 0.6 sure: </a:t>
            </a:r>
            <a:pPr indent="0" marL="0">
              <a:spcAft>
                <a:spcPts val="900"/>
              </a:spcAft>
              <a:buNone/>
            </a:pPr>
            <a:r>
              <a:rPr lang="en-US" sz="1400" dirty="0">
                <a:solidFill>
                  <a:srgbClr val="0A0A0B"/>
                </a:solidFill>
              </a:rPr>
              <a:t>answers 96.0% of 500 and 73.0% of the 196 hardest; agreement 89.9% and 68.4% (Glimmer again: 73.5%).</a:t>
            </a:r>
            <a:endParaRPr lang="en-US" sz="1400" dirty="0"/>
          </a:p>
          <a:p>
            <a:pPr marL="342900" indent="-342900">
              <a:spcAft>
                <a:spcPts val="900"/>
              </a:spcAft>
              <a:buSzPct val="100000"/>
              <a:buChar char="•"/>
            </a:pPr>
            <a:r>
              <a:rPr lang="en-US" sz="1400" b="1" dirty="0">
                <a:solidFill>
                  <a:srgbClr val="0A0A0B"/>
                </a:solidFill>
              </a:rPr>
              <a:t>0.5 was tried and not kept: </a:t>
            </a:r>
            <a:pPr indent="0" marL="0">
              <a:spcAft>
                <a:spcPts val="900"/>
              </a:spcAft>
              <a:buNone/>
            </a:pPr>
            <a:r>
              <a:rPr lang="en-US" sz="1400" dirty="0">
                <a:solidFill>
                  <a:srgbClr val="0A0A0B"/>
                </a:solidFill>
              </a:rPr>
              <a:t>96.9% of the hardest answered, but agreement there fell to 61.2%.</a:t>
            </a:r>
            <a:endParaRPr lang="en-US" sz="1400" dirty="0"/>
          </a:p>
          <a:p>
            <a:pPr marL="342900" indent="-342900">
              <a:spcAft>
                <a:spcPts val="900"/>
              </a:spcAft>
              <a:buSzPct val="100000"/>
              <a:buChar char="•"/>
            </a:pPr>
            <a:r>
              <a:rPr lang="en-US" sz="1400" b="1" dirty="0">
                <a:solidFill>
                  <a:srgbClr val="0A0A0B"/>
                </a:solidFill>
              </a:rPr>
              <a:t>In talks with the simulated club: </a:t>
            </a:r>
            <a:pPr indent="0" marL="0">
              <a:spcAft>
                <a:spcPts val="900"/>
              </a:spcAft>
              <a:buNone/>
            </a:pPr>
            <a:r>
              <a:rPr lang="en-US" sz="1400" dirty="0">
                <a:solidFill>
                  <a:srgbClr val="0A0A0B"/>
                </a:solidFill>
              </a:rPr>
              <a:t>Glimmer's member answers cut by 67% (54% with private calendars), no rule broken.</a:t>
            </a:r>
            <a:endParaRPr lang="en-US" sz="1400" dirty="0"/>
          </a:p>
        </p:txBody>
      </p:sp>
      <p:graphicFrame>
        <p:nvGraphicFramePr>
          <p:cNvPr id="16" name="Chart 0" descr=""/>
          <p:cNvGraphicFramePr/>
          <p:nvPr/>
        </p:nvGraphicFramePr>
        <p:xfrm>
          <a:off x="6858000" y="3063240"/>
          <a:ext cx="4785055" cy="30632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How we distilled it: from Glimmer's calls to the CPU</a:t>
            </a:r>
            <a:endParaRPr lang="en-US" sz="2800" dirty="0"/>
          </a:p>
        </p:txBody>
      </p:sp>
      <p:sp>
        <p:nvSpPr>
          <p:cNvPr id="3" name="Shape 1"/>
          <p:cNvSpPr/>
          <p:nvPr/>
        </p:nvSpPr>
        <p:spPr>
          <a:xfrm>
            <a:off x="548640" y="1325880"/>
            <a:ext cx="1691640" cy="1600200"/>
          </a:xfrm>
          <a:prstGeom prst="roundRect">
            <a:avLst>
              <a:gd name="adj" fmla="val 4571"/>
            </a:avLst>
          </a:prstGeom>
          <a:solidFill>
            <a:srgbClr val="F3F6F4"/>
          </a:solidFill>
          <a:ln w="12700">
            <a:solidFill>
              <a:srgbClr val="F3F6F4"/>
            </a:solidFill>
            <a:prstDash val="solid"/>
          </a:ln>
        </p:spPr>
      </p:sp>
      <p:sp>
        <p:nvSpPr>
          <p:cNvPr id="4" name="Text 2"/>
          <p:cNvSpPr txBox="1"/>
          <p:nvPr/>
        </p:nvSpPr>
        <p:spPr>
          <a:xfrm>
            <a:off x="68580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Real agent calls</a:t>
            </a:r>
            <a:endParaRPr lang="en-US" sz="1400" dirty="0"/>
          </a:p>
          <a:p>
            <a:pPr algn="ctr" indent="0" marL="0">
              <a:buNone/>
            </a:pPr>
            <a:r>
              <a:rPr lang="en-US" sz="1150" dirty="0">
                <a:solidFill>
                  <a:srgbClr val="55555C"/>
                </a:solidFill>
              </a:rPr>
              <a:t>the talks' own code builds each case from the simulated club</a:t>
            </a:r>
            <a:endParaRPr lang="en-US" sz="1400" dirty="0"/>
          </a:p>
        </p:txBody>
      </p:sp>
      <p:sp>
        <p:nvSpPr>
          <p:cNvPr id="5" name="Shape 3"/>
          <p:cNvSpPr/>
          <p:nvPr/>
        </p:nvSpPr>
        <p:spPr>
          <a:xfrm>
            <a:off x="2249424" y="2121408"/>
            <a:ext cx="164592" cy="914"/>
          </a:xfrm>
          <a:prstGeom prst="line">
            <a:avLst/>
          </a:prstGeom>
          <a:noFill/>
          <a:ln w="25400">
            <a:solidFill>
              <a:srgbClr val="8A8A92"/>
            </a:solidFill>
            <a:prstDash val="solid"/>
            <a:tailEnd type="triangle"/>
          </a:ln>
        </p:spPr>
      </p:sp>
      <p:sp>
        <p:nvSpPr>
          <p:cNvPr id="6" name="Shape 4"/>
          <p:cNvSpPr/>
          <p:nvPr/>
        </p:nvSpPr>
        <p:spPr>
          <a:xfrm>
            <a:off x="2423160" y="1325880"/>
            <a:ext cx="1691640" cy="1600200"/>
          </a:xfrm>
          <a:prstGeom prst="roundRect">
            <a:avLst>
              <a:gd name="adj" fmla="val 4571"/>
            </a:avLst>
          </a:prstGeom>
          <a:solidFill>
            <a:srgbClr val="F3F6F4"/>
          </a:solidFill>
          <a:ln w="12700">
            <a:solidFill>
              <a:srgbClr val="F3F6F4"/>
            </a:solidFill>
            <a:prstDash val="solid"/>
          </a:ln>
        </p:spPr>
      </p:sp>
      <p:sp>
        <p:nvSpPr>
          <p:cNvPr id="7" name="Text 5"/>
          <p:cNvSpPr txBox="1"/>
          <p:nvPr/>
        </p:nvSpPr>
        <p:spPr>
          <a:xfrm>
            <a:off x="256032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Glimmer labels</a:t>
            </a:r>
            <a:endParaRPr lang="en-US" sz="1400" dirty="0"/>
          </a:p>
          <a:p>
            <a:pPr algn="ctr" indent="0" marL="0">
              <a:buNone/>
            </a:pPr>
            <a:r>
              <a:rPr lang="en-US" sz="1150" dirty="0">
                <a:solidFill>
                  <a:srgbClr val="55555C"/>
                </a:solidFill>
              </a:rPr>
              <a:t>muse-glimmer:30b through fullAnswer: 4,868 training choices</a:t>
            </a:r>
            <a:endParaRPr lang="en-US" sz="1400" dirty="0"/>
          </a:p>
        </p:txBody>
      </p:sp>
      <p:sp>
        <p:nvSpPr>
          <p:cNvPr id="8" name="Shape 6"/>
          <p:cNvSpPr/>
          <p:nvPr/>
        </p:nvSpPr>
        <p:spPr>
          <a:xfrm>
            <a:off x="4123944" y="2121408"/>
            <a:ext cx="164592" cy="914"/>
          </a:xfrm>
          <a:prstGeom prst="line">
            <a:avLst/>
          </a:prstGeom>
          <a:noFill/>
          <a:ln w="25400">
            <a:solidFill>
              <a:srgbClr val="8A8A92"/>
            </a:solidFill>
            <a:prstDash val="solid"/>
            <a:tailEnd type="triangle"/>
          </a:ln>
        </p:spPr>
      </p:sp>
      <p:sp>
        <p:nvSpPr>
          <p:cNvPr id="9" name="Shape 7"/>
          <p:cNvSpPr/>
          <p:nvPr/>
        </p:nvSpPr>
        <p:spPr>
          <a:xfrm>
            <a:off x="4297680" y="1325880"/>
            <a:ext cx="1691640" cy="1600200"/>
          </a:xfrm>
          <a:prstGeom prst="roundRect">
            <a:avLst>
              <a:gd name="adj" fmla="val 4571"/>
            </a:avLst>
          </a:prstGeom>
          <a:solidFill>
            <a:srgbClr val="F3F6F4"/>
          </a:solidFill>
          <a:ln w="12700">
            <a:solidFill>
              <a:srgbClr val="F3F6F4"/>
            </a:solidFill>
            <a:prstDash val="solid"/>
          </a:ln>
        </p:spPr>
      </p:sp>
      <p:sp>
        <p:nvSpPr>
          <p:cNvPr id="10" name="Text 8"/>
          <p:cNvSpPr txBox="1"/>
          <p:nvPr/>
        </p:nvSpPr>
        <p:spPr>
          <a:xfrm>
            <a:off x="443484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One prompt, ~240 tokens</a:t>
            </a:r>
            <a:endParaRPr lang="en-US" sz="1400" dirty="0"/>
          </a:p>
          <a:p>
            <a:pPr algn="ctr" indent="0" marL="0">
              <a:buNone/>
            </a:pPr>
            <a:r>
              <a:rPr lang="en-US" sz="1150" dirty="0">
                <a:solidFill>
                  <a:srgbClr val="55555C"/>
                </a:solidFill>
              </a:rPr>
              <a:t>profile, the game, the times; letters in time order</a:t>
            </a:r>
            <a:endParaRPr lang="en-US" sz="1400" dirty="0"/>
          </a:p>
        </p:txBody>
      </p:sp>
      <p:sp>
        <p:nvSpPr>
          <p:cNvPr id="11" name="Shape 9"/>
          <p:cNvSpPr/>
          <p:nvPr/>
        </p:nvSpPr>
        <p:spPr>
          <a:xfrm>
            <a:off x="5998464" y="2121408"/>
            <a:ext cx="164592" cy="914"/>
          </a:xfrm>
          <a:prstGeom prst="line">
            <a:avLst/>
          </a:prstGeom>
          <a:noFill/>
          <a:ln w="25400">
            <a:solidFill>
              <a:srgbClr val="8A8A92"/>
            </a:solidFill>
            <a:prstDash val="solid"/>
            <a:tailEnd type="triangle"/>
          </a:ln>
        </p:spPr>
      </p:sp>
      <p:sp>
        <p:nvSpPr>
          <p:cNvPr id="12" name="Shape 10"/>
          <p:cNvSpPr/>
          <p:nvPr/>
        </p:nvSpPr>
        <p:spPr>
          <a:xfrm>
            <a:off x="6172200" y="1325880"/>
            <a:ext cx="1691640" cy="1600200"/>
          </a:xfrm>
          <a:prstGeom prst="roundRect">
            <a:avLst>
              <a:gd name="adj" fmla="val 4571"/>
            </a:avLst>
          </a:prstGeom>
          <a:solidFill>
            <a:srgbClr val="0A7F44"/>
          </a:solidFill>
          <a:ln w="12700">
            <a:solidFill>
              <a:srgbClr val="0A7F44"/>
            </a:solidFill>
            <a:prstDash val="solid"/>
          </a:ln>
        </p:spPr>
      </p:sp>
      <p:sp>
        <p:nvSpPr>
          <p:cNvPr id="13" name="Text 11"/>
          <p:cNvSpPr txBox="1"/>
          <p:nvPr/>
        </p:nvSpPr>
        <p:spPr>
          <a:xfrm>
            <a:off x="6309360" y="1325880"/>
            <a:ext cx="1417320" cy="1600200"/>
          </a:xfrm>
          <a:prstGeom prst="rect">
            <a:avLst/>
          </a:prstGeom>
          <a:noFill/>
          <a:ln/>
        </p:spPr>
        <p:txBody>
          <a:bodyPr wrap="square" lIns="0" tIns="0" rIns="0" bIns="0" rtlCol="0" anchor="ctr"/>
          <a:lstStyle/>
          <a:p>
            <a:pPr algn="ctr" indent="0" marL="0">
              <a:buNone/>
            </a:pPr>
            <a:r>
              <a:rPr lang="en-US" sz="1400" b="1" dirty="0">
                <a:solidFill>
                  <a:srgbClr val="FFFFFF"/>
                </a:solidFill>
              </a:rPr>
              <a:t>LoRA on Llama 3.2 1B</a:t>
            </a:r>
            <a:endParaRPr lang="en-US" sz="1400" dirty="0"/>
          </a:p>
          <a:p>
            <a:pPr algn="ctr" indent="0" marL="0">
              <a:buNone/>
            </a:pPr>
            <a:r>
              <a:rPr lang="en-US" sz="1150" dirty="0">
                <a:solidFill>
                  <a:srgbClr val="D9EBDF"/>
                </a:solidFill>
              </a:rPr>
              <a:t>rank 16, alpha 32, 3 epochs, 20 min on one A100</a:t>
            </a:r>
            <a:endParaRPr lang="en-US" sz="1400" dirty="0"/>
          </a:p>
        </p:txBody>
      </p:sp>
      <p:sp>
        <p:nvSpPr>
          <p:cNvPr id="14" name="Shape 12"/>
          <p:cNvSpPr/>
          <p:nvPr/>
        </p:nvSpPr>
        <p:spPr>
          <a:xfrm>
            <a:off x="7872984" y="2121408"/>
            <a:ext cx="164592" cy="914"/>
          </a:xfrm>
          <a:prstGeom prst="line">
            <a:avLst/>
          </a:prstGeom>
          <a:noFill/>
          <a:ln w="25400">
            <a:solidFill>
              <a:srgbClr val="8A8A92"/>
            </a:solidFill>
            <a:prstDash val="solid"/>
            <a:tailEnd type="triangle"/>
          </a:ln>
        </p:spPr>
      </p:sp>
      <p:sp>
        <p:nvSpPr>
          <p:cNvPr id="15" name="Shape 13"/>
          <p:cNvSpPr/>
          <p:nvPr/>
        </p:nvSpPr>
        <p:spPr>
          <a:xfrm>
            <a:off x="8046720" y="1325880"/>
            <a:ext cx="1691640" cy="1600200"/>
          </a:xfrm>
          <a:prstGeom prst="roundRect">
            <a:avLst>
              <a:gd name="adj" fmla="val 4571"/>
            </a:avLst>
          </a:prstGeom>
          <a:solidFill>
            <a:srgbClr val="F3F6F4"/>
          </a:solidFill>
          <a:ln w="12700">
            <a:solidFill>
              <a:srgbClr val="F3F6F4"/>
            </a:solidFill>
            <a:prstDash val="solid"/>
          </a:ln>
        </p:spPr>
      </p:sp>
      <p:sp>
        <p:nvSpPr>
          <p:cNvPr id="16" name="Text 14"/>
          <p:cNvSpPr txBox="1"/>
          <p:nvPr/>
        </p:nvSpPr>
        <p:spPr>
          <a:xfrm>
            <a:off x="818388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int4 GGUF</a:t>
            </a:r>
            <a:endParaRPr lang="en-US" sz="1400" dirty="0"/>
          </a:p>
          <a:p>
            <a:pPr algn="ctr" indent="0" marL="0">
              <a:buNone/>
            </a:pPr>
            <a:r>
              <a:rPr lang="en-US" sz="1150" dirty="0">
                <a:solidFill>
                  <a:srgbClr val="55555C"/>
                </a:solidFill>
              </a:rPr>
              <a:t>merged, llama.cpp Q4_K_M, 0.8 GB</a:t>
            </a:r>
            <a:endParaRPr lang="en-US" sz="1400" dirty="0"/>
          </a:p>
        </p:txBody>
      </p:sp>
      <p:sp>
        <p:nvSpPr>
          <p:cNvPr id="17" name="Shape 15"/>
          <p:cNvSpPr/>
          <p:nvPr/>
        </p:nvSpPr>
        <p:spPr>
          <a:xfrm>
            <a:off x="9747504" y="2121408"/>
            <a:ext cx="164592" cy="914"/>
          </a:xfrm>
          <a:prstGeom prst="line">
            <a:avLst/>
          </a:prstGeom>
          <a:noFill/>
          <a:ln w="25400">
            <a:solidFill>
              <a:srgbClr val="8A8A92"/>
            </a:solidFill>
            <a:prstDash val="solid"/>
            <a:tailEnd type="triangle"/>
          </a:ln>
        </p:spPr>
      </p:sp>
      <p:sp>
        <p:nvSpPr>
          <p:cNvPr id="18" name="Shape 16"/>
          <p:cNvSpPr/>
          <p:nvPr/>
        </p:nvSpPr>
        <p:spPr>
          <a:xfrm>
            <a:off x="9921240" y="1325880"/>
            <a:ext cx="1691640" cy="1600200"/>
          </a:xfrm>
          <a:prstGeom prst="roundRect">
            <a:avLst>
              <a:gd name="adj" fmla="val 4571"/>
            </a:avLst>
          </a:prstGeom>
          <a:solidFill>
            <a:srgbClr val="F3F6F4"/>
          </a:solidFill>
          <a:ln w="12700">
            <a:solidFill>
              <a:srgbClr val="F3F6F4"/>
            </a:solidFill>
            <a:prstDash val="solid"/>
          </a:ln>
        </p:spPr>
      </p:sp>
      <p:sp>
        <p:nvSpPr>
          <p:cNvPr id="19" name="Text 17"/>
          <p:cNvSpPr txBox="1"/>
          <p:nvPr/>
        </p:nvSpPr>
        <p:spPr>
          <a:xfrm>
            <a:off x="1005840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CPU worker</a:t>
            </a:r>
            <a:endParaRPr lang="en-US" sz="1400" dirty="0"/>
          </a:p>
          <a:p>
            <a:pPr algn="ctr" indent="0" marL="0">
              <a:buNone/>
            </a:pPr>
            <a:r>
              <a:rPr lang="en-US" sz="1150" dirty="0">
                <a:solidFill>
                  <a:srgbClr val="55555C"/>
                </a:solidFill>
              </a:rPr>
              <a:t>8 threads, nice 19, prefix cache, one at a time</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3246120"/>
          <a:ext cx="5669280" cy="914400"/>
        </p:xfrm>
        <a:graphic>
          <a:graphicData uri="http://schemas.openxmlformats.org/drawingml/2006/table">
            <a:tbl>
              <a:tblPr/>
              <a:tblGrid>
                <a:gridCol w="1554480"/>
                <a:gridCol w="822960"/>
                <a:gridCol w="3291840"/>
              </a:tblGrid>
              <a:tr h="384048">
                <a:tc>
                  <a:txBody>
                    <a:bodyPr/>
                    <a:lstStyle/>
                    <a:p>
                      <a:pPr indent="0" marL="0">
                        <a:buNone/>
                      </a:pPr>
                      <a:r>
                        <a:rPr lang="en-US" sz="1200" b="1" dirty="0">
                          <a:solidFill>
                            <a:srgbClr val="FFFFFF"/>
                          </a:solidFill>
                        </a:rPr>
                        <a:t>Set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algn="r" indent="0" marL="0">
                        <a:buNone/>
                      </a:pPr>
                      <a:r>
                        <a:rPr lang="en-US" sz="1200" b="1" dirty="0">
                          <a:solidFill>
                            <a:srgbClr val="FFFFFF"/>
                          </a:solidFill>
                        </a:rPr>
                        <a:t>Cases</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indent="0" marL="0">
                        <a:buNone/>
                      </a:pPr>
                      <a:r>
                        <a:rPr lang="en-US" sz="1200" b="1" dirty="0">
                          <a:solidFill>
                            <a:srgbClr val="FFFFFF"/>
                          </a:solidFill>
                        </a:rPr>
                        <a:t>What it is</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r>
              <a:tr h="384048">
                <a:tc>
                  <a:txBody>
                    <a:bodyPr/>
                    <a:lstStyle/>
                    <a:p>
                      <a:pPr algn="l" indent="0" marL="0">
                        <a:buNone/>
                      </a:pPr>
                      <a:r>
                        <a:rPr lang="en-US" sz="1200" dirty="0">
                          <a:solidFill>
                            <a:srgbClr val="0A0A0B"/>
                          </a:solidFill>
                        </a:rPr>
                        <a:t>train</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3,000</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private calendars, habits reworded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algn="l" indent="0" marL="0">
                        <a:buNone/>
                      </a:pPr>
                      <a:r>
                        <a:rPr lang="en-US" sz="1200" dirty="0">
                          <a:solidFill>
                            <a:srgbClr val="0A0A0B"/>
                          </a:solidFill>
                        </a:rPr>
                        <a:t>trainshared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0A0A0B"/>
                          </a:solidFill>
                        </a:rPr>
                        <a:t>596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0A0A0B"/>
                          </a:solidFill>
                        </a:rPr>
                        <a:t>shared calendars (Serve's default)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algn="l" indent="0" marL="0">
                        <a:buNone/>
                      </a:pPr>
                      <a:r>
                        <a:rPr lang="en-US" sz="1200" dirty="0">
                          <a:solidFill>
                            <a:srgbClr val="0A0A0B"/>
                          </a:solidFill>
                        </a:rPr>
                        <a:t>asked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1,378</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the asked time breaks a hard rule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algn="l" indent="0" marL="0">
                        <a:buNone/>
                      </a:pPr>
                      <a:r>
                        <a:rPr lang="en-US" sz="1200" dirty="0">
                          <a:solidFill>
                            <a:srgbClr val="0A0A0B"/>
                          </a:solidFill>
                        </a:rPr>
                        <a:t>test (held out)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0A0A0B"/>
                          </a:solidFill>
                        </a:rPr>
                        <a:t>500</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0A0A0B"/>
                          </a:solidFill>
                        </a:rPr>
                        <a:t>3 Glimmer answers each</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algn="l" indent="0" marL="0">
                        <a:buNone/>
                      </a:pPr>
                      <a:r>
                        <a:rPr lang="en-US" sz="1200" dirty="0">
                          <a:solidFill>
                            <a:srgbClr val="0A0A0B"/>
                          </a:solidFill>
                        </a:rPr>
                        <a:t>decider (held out)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196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the hardest: asked time breaks a rule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bl>
          </a:graphicData>
        </a:graphic>
      </p:graphicFrame>
      <p:sp>
        <p:nvSpPr>
          <p:cNvPr id="21" name="Shape 18"/>
          <p:cNvSpPr/>
          <p:nvPr/>
        </p:nvSpPr>
        <p:spPr>
          <a:xfrm>
            <a:off x="6583680" y="3246120"/>
            <a:ext cx="5059375" cy="2331720"/>
          </a:xfrm>
          <a:prstGeom prst="roundRect">
            <a:avLst>
              <a:gd name="adj" fmla="val 3137"/>
            </a:avLst>
          </a:prstGeom>
          <a:solidFill>
            <a:srgbClr val="E9F3EC"/>
          </a:solidFill>
          <a:ln w="12700">
            <a:solidFill>
              <a:srgbClr val="E9F3EC"/>
            </a:solidFill>
            <a:prstDash val="solid"/>
          </a:ln>
        </p:spPr>
      </p:sp>
      <p:sp>
        <p:nvSpPr>
          <p:cNvPr id="22" name="Text 19"/>
          <p:cNvSpPr txBox="1"/>
          <p:nvPr/>
        </p:nvSpPr>
        <p:spPr>
          <a:xfrm>
            <a:off x="6812280" y="3383280"/>
            <a:ext cx="4602175" cy="2103120"/>
          </a:xfrm>
          <a:prstGeom prst="rect">
            <a:avLst/>
          </a:prstGeom>
          <a:noFill/>
          <a:ln/>
        </p:spPr>
        <p:txBody>
          <a:bodyPr wrap="square" lIns="0" tIns="0" rIns="0" bIns="0" rtlCol="0" anchor="t"/>
          <a:lstStyle/>
          <a:p>
            <a:pPr indent="0" marL="0">
              <a:spcAft>
                <a:spcPts val="600"/>
              </a:spcAft>
              <a:buNone/>
            </a:pPr>
            <a:r>
              <a:rPr lang="en-US" sz="1500" b="1" dirty="0">
                <a:solidFill>
                  <a:srgbClr val="0A7F44"/>
                </a:solidFill>
              </a:rPr>
              <a:t>Two losses, at positions code knows; no text generated</a:t>
            </a:r>
            <a:endParaRPr lang="en-US" sz="1300" dirty="0"/>
          </a:p>
          <a:p>
            <a:pPr marL="342900" indent="-342900">
              <a:spcAft>
                <a:spcPts val="600"/>
              </a:spcAft>
              <a:buSzPct val="100000"/>
              <a:buChar char="•"/>
            </a:pPr>
            <a:r>
              <a:rPr lang="en-US" sz="1300" b="1" dirty="0">
                <a:solidFill>
                  <a:srgbClr val="0A0A0B"/>
                </a:solidFill>
              </a:rPr>
              <a:t>Choice: </a:t>
            </a:r>
            <a:pPr indent="0" marL="0">
              <a:spcAft>
                <a:spcPts val="600"/>
              </a:spcAft>
              <a:buNone/>
            </a:pPr>
            <a:r>
              <a:rPr lang="en-US" sz="1300" dirty="0">
                <a:solidFill>
                  <a:srgbClr val="0A0A0B"/>
                </a:solidFill>
              </a:rPr>
              <a:t>cross-entropy at the answer position over the valid letters only, against Glimmer's answer</a:t>
            </a:r>
            <a:endParaRPr lang="en-US" sz="1300" dirty="0"/>
          </a:p>
          <a:p>
            <a:pPr marL="342900" indent="-342900">
              <a:spcAft>
                <a:spcPts val="600"/>
              </a:spcAft>
              <a:buSzPct val="100000"/>
              <a:buChar char="•"/>
            </a:pPr>
            <a:r>
              <a:rPr lang="en-US" sz="1300" b="1" dirty="0">
                <a:solidFill>
                  <a:srgbClr val="0A0A0B"/>
                </a:solidFill>
              </a:rPr>
              <a:t>Works: </a:t>
            </a:r>
            <a:pPr indent="0" marL="0">
              <a:spcAft>
                <a:spcPts val="600"/>
              </a:spcAft>
              <a:buNone/>
            </a:pPr>
            <a:r>
              <a:rPr lang="en-US" sz="1300" dirty="0">
                <a:solidFill>
                  <a:srgbClr val="0A0A0B"/>
                </a:solidFill>
              </a:rPr>
              <a:t>yes or no at a marker after every time, against code's truth: its own reading of the calendar and rules, checked against code's before it may answer</a:t>
            </a:r>
            <a:endParaRPr lang="en-US" sz="1300" dirty="0"/>
          </a:p>
        </p:txBody>
      </p:sp>
      <p:sp>
        <p:nvSpPr>
          <p:cNvPr id="23" name="Text 20"/>
          <p:cNvSpPr txBox="1"/>
          <p:nvPr/>
        </p:nvSpPr>
        <p:spPr>
          <a:xfrm>
            <a:off x="548640" y="5760720"/>
            <a:ext cx="11094415" cy="4114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Like TypeSafe's Jev decision models: options declared in advance and scored together in one read. Teacher: the same Glimmer blob as our server (digest de878ce33ad8).</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One decision, one forward pass: a real held-out case</a:t>
            </a:r>
            <a:endParaRPr lang="en-US" sz="2800" dirty="0"/>
          </a:p>
        </p:txBody>
      </p:sp>
      <p:sp>
        <p:nvSpPr>
          <p:cNvPr id="3" name="Text 1"/>
          <p:cNvSpPr txBox="1"/>
          <p:nvPr/>
        </p:nvSpPr>
        <p:spPr>
          <a:xfrm>
            <a:off x="548640" y="1234440"/>
            <a:ext cx="11094415" cy="548640"/>
          </a:xfrm>
          <a:prstGeom prst="rect">
            <a:avLst/>
          </a:prstGeom>
          <a:noFill/>
          <a:ln/>
        </p:spPr>
        <p:txBody>
          <a:bodyPr wrap="square" lIns="0" tIns="0" rIns="0" bIns="0" rtlCol="0" anchor="t"/>
          <a:lstStyle/>
          <a:p>
            <a:pPr indent="0" marL="0">
              <a:spcAft>
                <a:spcPts val="600"/>
              </a:spcAft>
              <a:buNone/>
            </a:pPr>
            <a:r>
              <a:rPr lang="en-US" sz="1400" dirty="0">
                <a:solidFill>
                  <a:srgbClr val="55555C"/>
                </a:solidFill>
              </a:rPr>
              <a:t>Case s009, from the 196 hardest: the player asked for a time that ends after the member's “home by” limit on Tuesday. The student's own numbers, from the saved predictions:</a:t>
            </a:r>
            <a:endParaRPr lang="en-US" sz="1400" dirty="0"/>
          </a:p>
        </p:txBody>
      </p:sp>
      <p:sp>
        <p:nvSpPr>
          <p:cNvPr id="4" name="Text 2"/>
          <p:cNvSpPr txBox="1"/>
          <p:nvPr/>
        </p:nvSpPr>
        <p:spPr>
          <a:xfrm>
            <a:off x="548640" y="1920240"/>
            <a:ext cx="5120640" cy="365760"/>
          </a:xfrm>
          <a:prstGeom prst="rect">
            <a:avLst/>
          </a:prstGeom>
          <a:noFill/>
          <a:ln/>
        </p:spPr>
        <p:txBody>
          <a:bodyPr wrap="square" lIns="0" tIns="0" rIns="0" bIns="0" rtlCol="0" anchor="ctr"/>
          <a:lstStyle/>
          <a:p>
            <a:pPr indent="0" marL="0">
              <a:buNone/>
            </a:pPr>
            <a:r>
              <a:rPr lang="en-US" sz="1400" b="1" dirty="0">
                <a:solidFill>
                  <a:srgbClr val="0A0A0B"/>
                </a:solidFill>
              </a:rPr>
              <a:t>Its reading: does each time work? (P at the works? marker)</a:t>
            </a:r>
            <a:endParaRPr lang="en-US" sz="1400" dirty="0"/>
          </a:p>
        </p:txBody>
      </p:sp>
      <p:sp>
        <p:nvSpPr>
          <p:cNvPr id="5" name="Shape 3"/>
          <p:cNvSpPr/>
          <p:nvPr/>
        </p:nvSpPr>
        <p:spPr>
          <a:xfrm>
            <a:off x="548640" y="2377440"/>
            <a:ext cx="5120640" cy="457200"/>
          </a:xfrm>
          <a:prstGeom prst="roundRect">
            <a:avLst>
              <a:gd name="adj" fmla="val 16000"/>
            </a:avLst>
          </a:prstGeom>
          <a:solidFill>
            <a:srgbClr val="FBEAE9"/>
          </a:solidFill>
          <a:ln w="12700">
            <a:solidFill>
              <a:srgbClr val="FBEAE9"/>
            </a:solidFill>
            <a:prstDash val="solid"/>
          </a:ln>
        </p:spPr>
      </p:sp>
      <p:sp>
        <p:nvSpPr>
          <p:cNvPr id="6" name="Text 4"/>
          <p:cNvSpPr txBox="1"/>
          <p:nvPr/>
        </p:nvSpPr>
        <p:spPr>
          <a:xfrm>
            <a:off x="731520" y="2377440"/>
            <a:ext cx="3108960" cy="457200"/>
          </a:xfrm>
          <a:prstGeom prst="rect">
            <a:avLst/>
          </a:prstGeom>
          <a:noFill/>
          <a:ln/>
        </p:spPr>
        <p:txBody>
          <a:bodyPr wrap="square" lIns="0" tIns="0" rIns="0" bIns="0" rtlCol="0" anchor="ctr"/>
          <a:lstStyle/>
          <a:p>
            <a:pPr indent="0" marL="0">
              <a:buNone/>
            </a:pPr>
            <a:r>
              <a:rPr lang="en-US" sz="1300" dirty="0">
                <a:solidFill>
                  <a:srgbClr val="0A0A0B"/>
                </a:solidFill>
              </a:rPr>
              <a:t>t1, the asked time</a:t>
            </a:r>
            <a:endParaRPr lang="en-US" sz="1300" dirty="0"/>
          </a:p>
        </p:txBody>
      </p:sp>
      <p:sp>
        <p:nvSpPr>
          <p:cNvPr id="7" name="Text 5"/>
          <p:cNvSpPr txBox="1"/>
          <p:nvPr/>
        </p:nvSpPr>
        <p:spPr>
          <a:xfrm>
            <a:off x="3657600" y="2377440"/>
            <a:ext cx="1828800" cy="457200"/>
          </a:xfrm>
          <a:prstGeom prst="rect">
            <a:avLst/>
          </a:prstGeom>
          <a:noFill/>
          <a:ln/>
        </p:spPr>
        <p:txBody>
          <a:bodyPr wrap="square" lIns="0" tIns="0" rIns="0" bIns="0" rtlCol="0" anchor="ctr"/>
          <a:lstStyle/>
          <a:p>
            <a:pPr algn="r" indent="0" marL="0">
              <a:buNone/>
            </a:pPr>
            <a:r>
              <a:rPr lang="en-US" sz="1300" b="1" dirty="0">
                <a:solidFill>
                  <a:srgbClr val="D1352B"/>
                </a:solidFill>
              </a:rPr>
              <a:t>0.0  breaks a rule</a:t>
            </a:r>
            <a:endParaRPr lang="en-US" sz="1300" dirty="0"/>
          </a:p>
        </p:txBody>
      </p:sp>
      <p:sp>
        <p:nvSpPr>
          <p:cNvPr id="8" name="Shape 6"/>
          <p:cNvSpPr/>
          <p:nvPr/>
        </p:nvSpPr>
        <p:spPr>
          <a:xfrm>
            <a:off x="548640" y="2944368"/>
            <a:ext cx="5120640" cy="457200"/>
          </a:xfrm>
          <a:prstGeom prst="roundRect">
            <a:avLst>
              <a:gd name="adj" fmla="val 16000"/>
            </a:avLst>
          </a:prstGeom>
          <a:solidFill>
            <a:srgbClr val="E9F3EC"/>
          </a:solidFill>
          <a:ln w="12700">
            <a:solidFill>
              <a:srgbClr val="E9F3EC"/>
            </a:solidFill>
            <a:prstDash val="solid"/>
          </a:ln>
        </p:spPr>
      </p:sp>
      <p:sp>
        <p:nvSpPr>
          <p:cNvPr id="9" name="Text 7"/>
          <p:cNvSpPr txBox="1"/>
          <p:nvPr/>
        </p:nvSpPr>
        <p:spPr>
          <a:xfrm>
            <a:off x="731520" y="2944368"/>
            <a:ext cx="3108960" cy="457200"/>
          </a:xfrm>
          <a:prstGeom prst="rect">
            <a:avLst/>
          </a:prstGeom>
          <a:noFill/>
          <a:ln/>
        </p:spPr>
        <p:txBody>
          <a:bodyPr wrap="square" lIns="0" tIns="0" rIns="0" bIns="0" rtlCol="0" anchor="ctr"/>
          <a:lstStyle/>
          <a:p>
            <a:pPr indent="0" marL="0">
              <a:buNone/>
            </a:pPr>
            <a:r>
              <a:rPr lang="en-US" sz="1300" dirty="0">
                <a:solidFill>
                  <a:srgbClr val="0A0A0B"/>
                </a:solidFill>
              </a:rPr>
              <a:t>t2</a:t>
            </a:r>
            <a:endParaRPr lang="en-US" sz="1300" dirty="0"/>
          </a:p>
        </p:txBody>
      </p:sp>
      <p:sp>
        <p:nvSpPr>
          <p:cNvPr id="10" name="Text 8"/>
          <p:cNvSpPr txBox="1"/>
          <p:nvPr/>
        </p:nvSpPr>
        <p:spPr>
          <a:xfrm>
            <a:off x="3657600" y="2944368"/>
            <a:ext cx="1828800" cy="457200"/>
          </a:xfrm>
          <a:prstGeom prst="rect">
            <a:avLst/>
          </a:prstGeom>
          <a:noFill/>
          <a:ln/>
        </p:spPr>
        <p:txBody>
          <a:bodyPr wrap="square" lIns="0" tIns="0" rIns="0" bIns="0" rtlCol="0" anchor="ctr"/>
          <a:lstStyle/>
          <a:p>
            <a:pPr algn="r" indent="0" marL="0">
              <a:buNone/>
            </a:pPr>
            <a:r>
              <a:rPr lang="en-US" sz="1300" b="1" dirty="0">
                <a:solidFill>
                  <a:srgbClr val="0A7F44"/>
                </a:solidFill>
              </a:rPr>
              <a:t>1.0  works</a:t>
            </a:r>
            <a:endParaRPr lang="en-US" sz="1300" dirty="0"/>
          </a:p>
        </p:txBody>
      </p:sp>
      <p:sp>
        <p:nvSpPr>
          <p:cNvPr id="11" name="Shape 9"/>
          <p:cNvSpPr/>
          <p:nvPr/>
        </p:nvSpPr>
        <p:spPr>
          <a:xfrm>
            <a:off x="548640" y="3511296"/>
            <a:ext cx="5120640" cy="457200"/>
          </a:xfrm>
          <a:prstGeom prst="roundRect">
            <a:avLst>
              <a:gd name="adj" fmla="val 16000"/>
            </a:avLst>
          </a:prstGeom>
          <a:solidFill>
            <a:srgbClr val="E9F3EC"/>
          </a:solidFill>
          <a:ln w="12700">
            <a:solidFill>
              <a:srgbClr val="E9F3EC"/>
            </a:solidFill>
            <a:prstDash val="solid"/>
          </a:ln>
        </p:spPr>
      </p:sp>
      <p:sp>
        <p:nvSpPr>
          <p:cNvPr id="12" name="Text 10"/>
          <p:cNvSpPr txBox="1"/>
          <p:nvPr/>
        </p:nvSpPr>
        <p:spPr>
          <a:xfrm>
            <a:off x="731520" y="3511296"/>
            <a:ext cx="3108960" cy="457200"/>
          </a:xfrm>
          <a:prstGeom prst="rect">
            <a:avLst/>
          </a:prstGeom>
          <a:noFill/>
          <a:ln/>
        </p:spPr>
        <p:txBody>
          <a:bodyPr wrap="square" lIns="0" tIns="0" rIns="0" bIns="0" rtlCol="0" anchor="ctr"/>
          <a:lstStyle/>
          <a:p>
            <a:pPr indent="0" marL="0">
              <a:buNone/>
            </a:pPr>
            <a:r>
              <a:rPr lang="en-US" sz="1300" dirty="0">
                <a:solidFill>
                  <a:srgbClr val="0A0A0B"/>
                </a:solidFill>
              </a:rPr>
              <a:t>t3</a:t>
            </a:r>
            <a:endParaRPr lang="en-US" sz="1300" dirty="0"/>
          </a:p>
        </p:txBody>
      </p:sp>
      <p:sp>
        <p:nvSpPr>
          <p:cNvPr id="13" name="Text 11"/>
          <p:cNvSpPr txBox="1"/>
          <p:nvPr/>
        </p:nvSpPr>
        <p:spPr>
          <a:xfrm>
            <a:off x="3657600" y="3511296"/>
            <a:ext cx="1828800" cy="457200"/>
          </a:xfrm>
          <a:prstGeom prst="rect">
            <a:avLst/>
          </a:prstGeom>
          <a:noFill/>
          <a:ln/>
        </p:spPr>
        <p:txBody>
          <a:bodyPr wrap="square" lIns="0" tIns="0" rIns="0" bIns="0" rtlCol="0" anchor="ctr"/>
          <a:lstStyle/>
          <a:p>
            <a:pPr algn="r" indent="0" marL="0">
              <a:buNone/>
            </a:pPr>
            <a:r>
              <a:rPr lang="en-US" sz="1300" b="1" dirty="0">
                <a:solidFill>
                  <a:srgbClr val="0A7F44"/>
                </a:solidFill>
              </a:rPr>
              <a:t>1.0  works</a:t>
            </a:r>
            <a:endParaRPr lang="en-US" sz="1300" dirty="0"/>
          </a:p>
        </p:txBody>
      </p:sp>
      <p:sp>
        <p:nvSpPr>
          <p:cNvPr id="14" name="Shape 12"/>
          <p:cNvSpPr/>
          <p:nvPr/>
        </p:nvSpPr>
        <p:spPr>
          <a:xfrm>
            <a:off x="548640" y="4078224"/>
            <a:ext cx="5120640" cy="457200"/>
          </a:xfrm>
          <a:prstGeom prst="roundRect">
            <a:avLst>
              <a:gd name="adj" fmla="val 16000"/>
            </a:avLst>
          </a:prstGeom>
          <a:solidFill>
            <a:srgbClr val="E9F3EC"/>
          </a:solidFill>
          <a:ln w="12700">
            <a:solidFill>
              <a:srgbClr val="E9F3EC"/>
            </a:solidFill>
            <a:prstDash val="solid"/>
          </a:ln>
        </p:spPr>
      </p:sp>
      <p:sp>
        <p:nvSpPr>
          <p:cNvPr id="15" name="Text 13"/>
          <p:cNvSpPr txBox="1"/>
          <p:nvPr/>
        </p:nvSpPr>
        <p:spPr>
          <a:xfrm>
            <a:off x="731520" y="4078224"/>
            <a:ext cx="3108960" cy="457200"/>
          </a:xfrm>
          <a:prstGeom prst="rect">
            <a:avLst/>
          </a:prstGeom>
          <a:noFill/>
          <a:ln/>
        </p:spPr>
        <p:txBody>
          <a:bodyPr wrap="square" lIns="0" tIns="0" rIns="0" bIns="0" rtlCol="0" anchor="ctr"/>
          <a:lstStyle/>
          <a:p>
            <a:pPr indent="0" marL="0">
              <a:buNone/>
            </a:pPr>
            <a:r>
              <a:rPr lang="en-US" sz="1300" dirty="0">
                <a:solidFill>
                  <a:srgbClr val="0A0A0B"/>
                </a:solidFill>
              </a:rPr>
              <a:t>t4</a:t>
            </a:r>
            <a:endParaRPr lang="en-US" sz="1300" dirty="0"/>
          </a:p>
        </p:txBody>
      </p:sp>
      <p:sp>
        <p:nvSpPr>
          <p:cNvPr id="16" name="Text 14"/>
          <p:cNvSpPr txBox="1"/>
          <p:nvPr/>
        </p:nvSpPr>
        <p:spPr>
          <a:xfrm>
            <a:off x="3657600" y="4078224"/>
            <a:ext cx="1828800" cy="457200"/>
          </a:xfrm>
          <a:prstGeom prst="rect">
            <a:avLst/>
          </a:prstGeom>
          <a:noFill/>
          <a:ln/>
        </p:spPr>
        <p:txBody>
          <a:bodyPr wrap="square" lIns="0" tIns="0" rIns="0" bIns="0" rtlCol="0" anchor="ctr"/>
          <a:lstStyle/>
          <a:p>
            <a:pPr algn="r" indent="0" marL="0">
              <a:buNone/>
            </a:pPr>
            <a:r>
              <a:rPr lang="en-US" sz="1300" b="1" dirty="0">
                <a:solidFill>
                  <a:srgbClr val="0A7F44"/>
                </a:solidFill>
              </a:rPr>
              <a:t>1.0  works</a:t>
            </a:r>
            <a:endParaRPr lang="en-US" sz="1300" dirty="0"/>
          </a:p>
        </p:txBody>
      </p:sp>
      <p:sp>
        <p:nvSpPr>
          <p:cNvPr id="17" name="Shape 15"/>
          <p:cNvSpPr/>
          <p:nvPr/>
        </p:nvSpPr>
        <p:spPr>
          <a:xfrm>
            <a:off x="548640" y="4645152"/>
            <a:ext cx="5120640" cy="457200"/>
          </a:xfrm>
          <a:prstGeom prst="roundRect">
            <a:avLst>
              <a:gd name="adj" fmla="val 16000"/>
            </a:avLst>
          </a:prstGeom>
          <a:solidFill>
            <a:srgbClr val="E9F3EC"/>
          </a:solidFill>
          <a:ln w="12700">
            <a:solidFill>
              <a:srgbClr val="E9F3EC"/>
            </a:solidFill>
            <a:prstDash val="solid"/>
          </a:ln>
        </p:spPr>
      </p:sp>
      <p:sp>
        <p:nvSpPr>
          <p:cNvPr id="18" name="Text 16"/>
          <p:cNvSpPr txBox="1"/>
          <p:nvPr/>
        </p:nvSpPr>
        <p:spPr>
          <a:xfrm>
            <a:off x="731520" y="4645152"/>
            <a:ext cx="3108960" cy="457200"/>
          </a:xfrm>
          <a:prstGeom prst="rect">
            <a:avLst/>
          </a:prstGeom>
          <a:noFill/>
          <a:ln/>
        </p:spPr>
        <p:txBody>
          <a:bodyPr wrap="square" lIns="0" tIns="0" rIns="0" bIns="0" rtlCol="0" anchor="ctr"/>
          <a:lstStyle/>
          <a:p>
            <a:pPr indent="0" marL="0">
              <a:buNone/>
            </a:pPr>
            <a:r>
              <a:rPr lang="en-US" sz="1300" dirty="0">
                <a:solidFill>
                  <a:srgbClr val="0A0A0B"/>
                </a:solidFill>
              </a:rPr>
              <a:t>t5</a:t>
            </a:r>
            <a:endParaRPr lang="en-US" sz="1300" dirty="0"/>
          </a:p>
        </p:txBody>
      </p:sp>
      <p:sp>
        <p:nvSpPr>
          <p:cNvPr id="19" name="Text 17"/>
          <p:cNvSpPr txBox="1"/>
          <p:nvPr/>
        </p:nvSpPr>
        <p:spPr>
          <a:xfrm>
            <a:off x="3657600" y="4645152"/>
            <a:ext cx="1828800" cy="457200"/>
          </a:xfrm>
          <a:prstGeom prst="rect">
            <a:avLst/>
          </a:prstGeom>
          <a:noFill/>
          <a:ln/>
        </p:spPr>
        <p:txBody>
          <a:bodyPr wrap="square" lIns="0" tIns="0" rIns="0" bIns="0" rtlCol="0" anchor="ctr"/>
          <a:lstStyle/>
          <a:p>
            <a:pPr algn="r" indent="0" marL="0">
              <a:buNone/>
            </a:pPr>
            <a:r>
              <a:rPr lang="en-US" sz="1300" b="1" dirty="0">
                <a:solidFill>
                  <a:srgbClr val="0A7F44"/>
                </a:solidFill>
              </a:rPr>
              <a:t>1.0  works</a:t>
            </a:r>
            <a:endParaRPr lang="en-US" sz="1300" dirty="0"/>
          </a:p>
        </p:txBody>
      </p:sp>
      <p:sp>
        <p:nvSpPr>
          <p:cNvPr id="20" name="Text 18"/>
          <p:cNvSpPr txBox="1"/>
          <p:nvPr/>
        </p:nvSpPr>
        <p:spPr>
          <a:xfrm>
            <a:off x="548640" y="5257800"/>
            <a:ext cx="5120640" cy="365760"/>
          </a:xfrm>
          <a:prstGeom prst="rect">
            <a:avLst/>
          </a:prstGeom>
          <a:noFill/>
          <a:ln/>
        </p:spPr>
        <p:txBody>
          <a:bodyPr wrap="square" lIns="0" tIns="0" rIns="0" bIns="0" rtlCol="0" anchor="t"/>
          <a:lstStyle/>
          <a:p>
            <a:pPr indent="0" marL="0">
              <a:spcAft>
                <a:spcPts val="600"/>
              </a:spcAft>
              <a:buNone/>
            </a:pPr>
            <a:r>
              <a:rPr lang="en-US" sz="1300" b="1" dirty="0">
                <a:solidFill>
                  <a:srgbClr val="0A7F44"/>
                </a:solidFill>
              </a:rPr>
              <a:t>Matches code's truth (t2 to t5 work), so it may answer.</a:t>
            </a:r>
            <a:endParaRPr lang="en-US" sz="1300" dirty="0"/>
          </a:p>
        </p:txBody>
      </p:sp>
      <p:graphicFrame>
        <p:nvGraphicFramePr>
          <p:cNvPr id="21" name="Chart 0" descr=""/>
          <p:cNvGraphicFramePr/>
          <p:nvPr/>
        </p:nvGraphicFramePr>
        <p:xfrm>
          <a:off x="6126480" y="1874520"/>
          <a:ext cx="5516575" cy="32918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126480" y="5257800"/>
            <a:ext cx="5516575" cy="868680"/>
          </a:xfrm>
          <a:prstGeom prst="roundRect">
            <a:avLst>
              <a:gd name="adj" fmla="val 8421"/>
            </a:avLst>
          </a:prstGeom>
          <a:solidFill>
            <a:srgbClr val="E9F3EC"/>
          </a:solidFill>
          <a:ln w="12700">
            <a:solidFill>
              <a:srgbClr val="E9F3EC"/>
            </a:solidFill>
            <a:prstDash val="solid"/>
          </a:ln>
        </p:spPr>
      </p:sp>
      <p:sp>
        <p:nvSpPr>
          <p:cNvPr id="23" name="Text 20"/>
          <p:cNvSpPr txBox="1"/>
          <p:nvPr/>
        </p:nvSpPr>
        <p:spPr>
          <a:xfrm>
            <a:off x="6309360" y="5349240"/>
            <a:ext cx="5150815" cy="731520"/>
          </a:xfrm>
          <a:prstGeom prst="rect">
            <a:avLst/>
          </a:prstGeom>
          <a:noFill/>
          <a:ln/>
        </p:spPr>
        <p:txBody>
          <a:bodyPr wrap="square" lIns="0" tIns="0" rIns="0" bIns="0" rtlCol="0" anchor="t"/>
          <a:lstStyle/>
          <a:p>
            <a:pPr indent="0" marL="0">
              <a:spcAft>
                <a:spcPts val="600"/>
              </a:spcAft>
              <a:buNone/>
            </a:pPr>
            <a:r>
              <a:rPr lang="en-US" sz="1300" b="1" dirty="0">
                <a:solidFill>
                  <a:srgbClr val="0A0A0B"/>
                </a:solidFill>
              </a:rPr>
              <a:t>t2 at 0.673, above the 0.6 threshold: answered in one read. </a:t>
            </a:r>
            <a:pPr indent="0" marL="0">
              <a:spcAft>
                <a:spcPts val="600"/>
              </a:spcAft>
              <a:buNone/>
            </a:pPr>
            <a:r>
              <a:rPr lang="en-US" sz="1300" dirty="0">
                <a:solidFill>
                  <a:srgbClr val="0A0A0B"/>
                </a:solidFill>
              </a:rPr>
              <a:t>Glimmer's two full answers both chose t2.</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Three training rounds, then the threshold</a:t>
            </a:r>
            <a:endParaRPr lang="en-US" sz="2800" dirty="0"/>
          </a:p>
        </p:txBody>
      </p:sp>
      <p:graphicFrame>
        <p:nvGraphicFramePr>
          <p:cNvPr id="3" name="Chart 0" descr=""/>
          <p:cNvGraphicFramePr/>
          <p:nvPr/>
        </p:nvGraphicFramePr>
        <p:xfrm>
          <a:off x="548640" y="1280160"/>
          <a:ext cx="5120640" cy="39319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303520"/>
            <a:ext cx="5120640" cy="8686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Round 1 never saw an asked time. Round 2 read “the earliest start” as the earliest hour: the stated preference kept in 18 of 32. Round 3's letters in time order fixed it: 26 of 32 (Glimmer 27).</a:t>
            </a:r>
            <a:endParaRPr lang="en-US" sz="1200" dirty="0"/>
          </a:p>
        </p:txBody>
      </p:sp>
      <p:graphicFrame>
        <p:nvGraphicFramePr>
          <p:cNvPr id="5" name="Chart 1" descr=""/>
          <p:cNvGraphicFramePr/>
          <p:nvPr/>
        </p:nvGraphicFramePr>
        <p:xfrm>
          <a:off x="5943600" y="1280160"/>
          <a:ext cx="5699455" cy="393192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943600" y="5303520"/>
            <a:ext cx="5699455" cy="868680"/>
          </a:xfrm>
          <a:prstGeom prst="roundRect">
            <a:avLst>
              <a:gd name="adj" fmla="val 8421"/>
            </a:avLst>
          </a:prstGeom>
          <a:solidFill>
            <a:srgbClr val="E9F3EC"/>
          </a:solidFill>
          <a:ln w="12700">
            <a:solidFill>
              <a:srgbClr val="E9F3EC"/>
            </a:solidFill>
            <a:prstDash val="solid"/>
          </a:ln>
        </p:spPr>
      </p:sp>
      <p:sp>
        <p:nvSpPr>
          <p:cNvPr id="7" name="Text 3"/>
          <p:cNvSpPr txBox="1"/>
          <p:nvPr/>
        </p:nvSpPr>
        <p:spPr>
          <a:xfrm>
            <a:off x="6126480" y="5394960"/>
            <a:ext cx="5333695" cy="731520"/>
          </a:xfrm>
          <a:prstGeom prst="rect">
            <a:avLst/>
          </a:prstGeom>
          <a:noFill/>
          <a:ln/>
        </p:spPr>
        <p:txBody>
          <a:bodyPr wrap="square" lIns="0" tIns="0" rIns="0" bIns="0" rtlCol="0" anchor="t"/>
          <a:lstStyle/>
          <a:p>
            <a:pPr indent="0" marL="0">
              <a:spcAft>
                <a:spcPts val="600"/>
              </a:spcAft>
              <a:buNone/>
            </a:pPr>
            <a:r>
              <a:rPr lang="en-US" sz="1300" b="1" dirty="0">
                <a:solidFill>
                  <a:srgbClr val="0A0A0B"/>
                </a:solidFill>
              </a:rPr>
              <a:t>Served at 0.6: </a:t>
            </a:r>
            <a:pPr indent="0" marL="0">
              <a:spcAft>
                <a:spcPts val="600"/>
              </a:spcAft>
              <a:buNone/>
            </a:pPr>
            <a:r>
              <a:rPr lang="en-US" sz="1300" dirty="0">
                <a:solidFill>
                  <a:srgbClr val="0A0A0B"/>
                </a:solidFill>
              </a:rPr>
              <a:t>answers 96% of ordinary choices and 73% of the hardest; 0.5 answers more but agrees less (61.2%).</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Its confidence can be trusted: calibration on 500 held-out cases</a:t>
            </a:r>
            <a:endParaRPr lang="en-US" sz="2800" dirty="0"/>
          </a:p>
        </p:txBody>
      </p:sp>
      <p:graphicFrame>
        <p:nvGraphicFramePr>
          <p:cNvPr id="3" name="Chart 0" descr=""/>
          <p:cNvGraphicFramePr/>
          <p:nvPr/>
        </p:nvGraphicFramePr>
        <p:xfrm>
          <a:off x="548640" y="128016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863840" y="1325880"/>
            <a:ext cx="3779215" cy="1508760"/>
          </a:xfrm>
          <a:prstGeom prst="roundRect">
            <a:avLst>
              <a:gd name="adj" fmla="val 4848"/>
            </a:avLst>
          </a:prstGeom>
          <a:solidFill>
            <a:srgbClr val="F3F6F4"/>
          </a:solidFill>
          <a:ln w="12700">
            <a:solidFill>
              <a:srgbClr val="F3F6F4"/>
            </a:solidFill>
            <a:prstDash val="solid"/>
          </a:ln>
        </p:spPr>
      </p:sp>
      <p:sp>
        <p:nvSpPr>
          <p:cNvPr id="5" name="Text 2"/>
          <p:cNvSpPr txBox="1"/>
          <p:nvPr/>
        </p:nvSpPr>
        <p:spPr>
          <a:xfrm>
            <a:off x="8092440" y="1490472"/>
            <a:ext cx="332201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0.052</a:t>
            </a:r>
            <a:endParaRPr lang="en-US" sz="3600" dirty="0"/>
          </a:p>
        </p:txBody>
      </p:sp>
      <p:sp>
        <p:nvSpPr>
          <p:cNvPr id="6" name="Text 3"/>
          <p:cNvSpPr txBox="1"/>
          <p:nvPr/>
        </p:nvSpPr>
        <p:spPr>
          <a:xfrm>
            <a:off x="8092440" y="2167128"/>
            <a:ext cx="3322015" cy="594360"/>
          </a:xfrm>
          <a:prstGeom prst="rect">
            <a:avLst/>
          </a:prstGeom>
          <a:noFill/>
          <a:ln/>
        </p:spPr>
        <p:txBody>
          <a:bodyPr wrap="square" lIns="0" tIns="0" rIns="0" bIns="0" rtlCol="0" anchor="t"/>
          <a:lstStyle/>
          <a:p>
            <a:pPr indent="0" marL="0">
              <a:buNone/>
            </a:pPr>
            <a:r>
              <a:rPr lang="en-US" sz="1300" dirty="0">
                <a:solidFill>
                  <a:srgbClr val="55555C"/>
                </a:solidFill>
              </a:rPr>
              <a:t>expected calibration error (10 bins)</a:t>
            </a:r>
            <a:endParaRPr lang="en-US" sz="1300" dirty="0"/>
          </a:p>
        </p:txBody>
      </p:sp>
      <p:sp>
        <p:nvSpPr>
          <p:cNvPr id="7" name="Shape 4"/>
          <p:cNvSpPr/>
          <p:nvPr/>
        </p:nvSpPr>
        <p:spPr>
          <a:xfrm>
            <a:off x="7863840" y="3017520"/>
            <a:ext cx="3779215" cy="1508760"/>
          </a:xfrm>
          <a:prstGeom prst="roundRect">
            <a:avLst>
              <a:gd name="adj" fmla="val 4848"/>
            </a:avLst>
          </a:prstGeom>
          <a:solidFill>
            <a:srgbClr val="F3F6F4"/>
          </a:solidFill>
          <a:ln w="12700">
            <a:solidFill>
              <a:srgbClr val="F3F6F4"/>
            </a:solidFill>
            <a:prstDash val="solid"/>
          </a:ln>
        </p:spPr>
      </p:sp>
      <p:sp>
        <p:nvSpPr>
          <p:cNvPr id="8" name="Text 5"/>
          <p:cNvSpPr txBox="1"/>
          <p:nvPr/>
        </p:nvSpPr>
        <p:spPr>
          <a:xfrm>
            <a:off x="8092440" y="3182112"/>
            <a:ext cx="332201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89% / 7%</a:t>
            </a:r>
            <a:endParaRPr lang="en-US" sz="3600" dirty="0"/>
          </a:p>
        </p:txBody>
      </p:sp>
      <p:sp>
        <p:nvSpPr>
          <p:cNvPr id="9" name="Text 6"/>
          <p:cNvSpPr txBox="1"/>
          <p:nvPr/>
        </p:nvSpPr>
        <p:spPr>
          <a:xfrm>
            <a:off x="8092440" y="3858768"/>
            <a:ext cx="3322015" cy="594360"/>
          </a:xfrm>
          <a:prstGeom prst="rect">
            <a:avLst/>
          </a:prstGeom>
          <a:noFill/>
          <a:ln/>
        </p:spPr>
        <p:txBody>
          <a:bodyPr wrap="square" lIns="0" tIns="0" rIns="0" bIns="0" rtlCol="0" anchor="t"/>
          <a:lstStyle/>
          <a:p>
            <a:pPr indent="0" marL="0">
              <a:buNone/>
            </a:pPr>
            <a:r>
              <a:rPr lang="en-US" sz="1300" dirty="0">
                <a:solidFill>
                  <a:srgbClr val="55555C"/>
                </a:solidFill>
              </a:rPr>
              <a:t>at 0.8 sure: share it answers / disagreement with Glimmer</a:t>
            </a:r>
            <a:endParaRPr lang="en-US" sz="1300" dirty="0"/>
          </a:p>
        </p:txBody>
      </p:sp>
      <p:sp>
        <p:nvSpPr>
          <p:cNvPr id="10" name="Shape 7"/>
          <p:cNvSpPr/>
          <p:nvPr/>
        </p:nvSpPr>
        <p:spPr>
          <a:xfrm>
            <a:off x="7863840" y="4709160"/>
            <a:ext cx="3779215" cy="1371600"/>
          </a:xfrm>
          <a:prstGeom prst="roundRect">
            <a:avLst>
              <a:gd name="adj" fmla="val 5333"/>
            </a:avLst>
          </a:prstGeom>
          <a:solidFill>
            <a:srgbClr val="E9F3EC"/>
          </a:solidFill>
          <a:ln w="12700">
            <a:solidFill>
              <a:srgbClr val="E9F3EC"/>
            </a:solidFill>
            <a:prstDash val="solid"/>
          </a:ln>
        </p:spPr>
      </p:sp>
      <p:sp>
        <p:nvSpPr>
          <p:cNvPr id="11" name="Text 8"/>
          <p:cNvSpPr txBox="1"/>
          <p:nvPr/>
        </p:nvSpPr>
        <p:spPr>
          <a:xfrm>
            <a:off x="8046720" y="4800600"/>
            <a:ext cx="3413455" cy="1188720"/>
          </a:xfrm>
          <a:prstGeom prst="rect">
            <a:avLst/>
          </a:prstGeom>
          <a:noFill/>
          <a:ln/>
        </p:spPr>
        <p:txBody>
          <a:bodyPr wrap="square" lIns="0" tIns="0" rIns="0" bIns="0" rtlCol="0" anchor="t"/>
          <a:lstStyle/>
          <a:p>
            <a:pPr indent="0" marL="0">
              <a:spcAft>
                <a:spcPts val="600"/>
              </a:spcAft>
              <a:buNone/>
            </a:pPr>
            <a:r>
              <a:rPr lang="en-US" sz="1250" dirty="0">
                <a:solidFill>
                  <a:srgbClr val="0A0A0B"/>
                </a:solidFill>
              </a:rPr>
              <a:t>404 of 500 cases sit above 0.9, where it is close (98.5% against 94.4%); in the middle bins it is off by up to 10 points. The routing threshold uses conformal risk control.</a:t>
            </a:r>
            <a:endParaRPr lang="en-US" sz="12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Distillation techniques we tried, and what each did</a:t>
            </a:r>
            <a:endParaRPr lang="en-US" sz="2800" dirty="0"/>
          </a:p>
        </p:txBody>
      </p:sp>
      <p:sp>
        <p:nvSpPr>
          <p:cNvPr id="3" name="Text 1"/>
          <p:cNvSpPr txBox="1"/>
          <p:nvPr/>
        </p:nvSpPr>
        <p:spPr>
          <a:xfrm>
            <a:off x="548640" y="1188720"/>
            <a:ext cx="5486400" cy="365760"/>
          </a:xfrm>
          <a:prstGeom prst="rect">
            <a:avLst/>
          </a:prstGeom>
          <a:noFill/>
          <a:ln/>
        </p:spPr>
        <p:txBody>
          <a:bodyPr wrap="square" lIns="0" tIns="0" rIns="0" bIns="0" rtlCol="0" anchor="ctr"/>
          <a:lstStyle/>
          <a:p>
            <a:pPr indent="0" marL="0">
              <a:buNone/>
            </a:pPr>
            <a:r>
              <a:rPr lang="en-US" sz="1500" b="1" dirty="0">
                <a:solidFill>
                  <a:srgbClr val="0A0A0B"/>
                </a:solidFill>
              </a:rPr>
              <a:t>The decision 1B (choosing a time)</a:t>
            </a:r>
            <a:endParaRPr lang="en-US" sz="1500" dirty="0"/>
          </a:p>
        </p:txBody>
      </p:sp>
      <p:sp>
        <p:nvSpPr>
          <p:cNvPr id="4" name="Shape 2"/>
          <p:cNvSpPr/>
          <p:nvPr/>
        </p:nvSpPr>
        <p:spPr>
          <a:xfrm>
            <a:off x="548640" y="1600200"/>
            <a:ext cx="5486400" cy="402336"/>
          </a:xfrm>
          <a:prstGeom prst="roundRect">
            <a:avLst>
              <a:gd name="adj" fmla="val 11364"/>
            </a:avLst>
          </a:prstGeom>
          <a:solidFill>
            <a:srgbClr val="F3F6F4"/>
          </a:solidFill>
          <a:ln w="12700">
            <a:solidFill>
              <a:srgbClr val="F3F6F4"/>
            </a:solidFill>
            <a:prstDash val="solid"/>
          </a:ln>
        </p:spPr>
      </p:sp>
      <p:sp>
        <p:nvSpPr>
          <p:cNvPr id="5" name="Shape 3"/>
          <p:cNvSpPr/>
          <p:nvPr/>
        </p:nvSpPr>
        <p:spPr>
          <a:xfrm>
            <a:off x="621792" y="1682496"/>
            <a:ext cx="960120" cy="237744"/>
          </a:xfrm>
          <a:prstGeom prst="roundRect">
            <a:avLst>
              <a:gd name="adj" fmla="val 50000"/>
            </a:avLst>
          </a:prstGeom>
          <a:solidFill>
            <a:srgbClr val="0A7F44"/>
          </a:solidFill>
          <a:ln w="12700">
            <a:solidFill>
              <a:srgbClr val="0A7F44"/>
            </a:solidFill>
            <a:prstDash val="solid"/>
          </a:ln>
        </p:spPr>
      </p:sp>
      <p:sp>
        <p:nvSpPr>
          <p:cNvPr id="6" name="Text 4"/>
          <p:cNvSpPr txBox="1"/>
          <p:nvPr/>
        </p:nvSpPr>
        <p:spPr>
          <a:xfrm>
            <a:off x="621792" y="168249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7" name="Text 5"/>
          <p:cNvSpPr txBox="1"/>
          <p:nvPr/>
        </p:nvSpPr>
        <p:spPr>
          <a:xfrm>
            <a:off x="1664208" y="1600200"/>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LoRA SFT on Glimmer's choices </a:t>
            </a:r>
            <a:pPr indent="0" marL="0">
              <a:buNone/>
            </a:pPr>
            <a:r>
              <a:rPr lang="en-US" sz="950" dirty="0">
                <a:solidFill>
                  <a:srgbClr val="0064E0"/>
                </a:solidFill>
              </a:rPr>
              <a:t>[28] </a:t>
            </a:r>
            <a:pPr indent="0" marL="0">
              <a:buNone/>
            </a:pPr>
            <a:r>
              <a:rPr lang="en-US" sz="950" dirty="0">
                <a:solidFill>
                  <a:srgbClr val="55555C"/>
                </a:solidFill>
              </a:rPr>
              <a:t>rank 16, 4,868 cases, 20 min on one A100</a:t>
            </a:r>
            <a:endParaRPr lang="en-US" sz="950" dirty="0"/>
          </a:p>
        </p:txBody>
      </p:sp>
      <p:sp>
        <p:nvSpPr>
          <p:cNvPr id="8" name="Shape 6"/>
          <p:cNvSpPr/>
          <p:nvPr/>
        </p:nvSpPr>
        <p:spPr>
          <a:xfrm>
            <a:off x="548640" y="2039112"/>
            <a:ext cx="5486400" cy="402336"/>
          </a:xfrm>
          <a:prstGeom prst="roundRect">
            <a:avLst>
              <a:gd name="adj" fmla="val 11364"/>
            </a:avLst>
          </a:prstGeom>
          <a:solidFill>
            <a:srgbClr val="FFFFFF"/>
          </a:solidFill>
          <a:ln w="12700">
            <a:solidFill>
              <a:srgbClr val="FFFFFF"/>
            </a:solidFill>
            <a:prstDash val="solid"/>
          </a:ln>
        </p:spPr>
      </p:sp>
      <p:sp>
        <p:nvSpPr>
          <p:cNvPr id="9" name="Shape 7"/>
          <p:cNvSpPr/>
          <p:nvPr/>
        </p:nvSpPr>
        <p:spPr>
          <a:xfrm>
            <a:off x="621792" y="2121408"/>
            <a:ext cx="960120" cy="237744"/>
          </a:xfrm>
          <a:prstGeom prst="roundRect">
            <a:avLst>
              <a:gd name="adj" fmla="val 50000"/>
            </a:avLst>
          </a:prstGeom>
          <a:solidFill>
            <a:srgbClr val="0A7F44"/>
          </a:solidFill>
          <a:ln w="12700">
            <a:solidFill>
              <a:srgbClr val="0A7F44"/>
            </a:solidFill>
            <a:prstDash val="solid"/>
          </a:ln>
        </p:spPr>
      </p:sp>
      <p:sp>
        <p:nvSpPr>
          <p:cNvPr id="10" name="Text 8"/>
          <p:cNvSpPr txBox="1"/>
          <p:nvPr/>
        </p:nvSpPr>
        <p:spPr>
          <a:xfrm>
            <a:off x="621792" y="212140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11" name="Text 9"/>
          <p:cNvSpPr txBox="1"/>
          <p:nvPr/>
        </p:nvSpPr>
        <p:spPr>
          <a:xfrm>
            <a:off x="1664208" y="2039112"/>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One-pass scoring of declared options </a:t>
            </a:r>
            <a:pPr indent="0" marL="0">
              <a:buNone/>
            </a:pPr>
            <a:r>
              <a:rPr lang="en-US" sz="950" dirty="0">
                <a:solidFill>
                  <a:srgbClr val="0064E0"/>
                </a:solidFill>
              </a:rPr>
              <a:t>[20] </a:t>
            </a:r>
            <a:pPr indent="0" marL="0">
              <a:buNone/>
            </a:pPr>
            <a:r>
              <a:rPr lang="en-US" sz="950" dirty="0">
                <a:solidFill>
                  <a:srgbClr val="55555C"/>
                </a:solidFill>
              </a:rPr>
              <a:t>softmax over the valid letters; no text written</a:t>
            </a:r>
            <a:endParaRPr lang="en-US" sz="950" dirty="0"/>
          </a:p>
        </p:txBody>
      </p:sp>
      <p:sp>
        <p:nvSpPr>
          <p:cNvPr id="12" name="Shape 10"/>
          <p:cNvSpPr/>
          <p:nvPr/>
        </p:nvSpPr>
        <p:spPr>
          <a:xfrm>
            <a:off x="548640" y="2478024"/>
            <a:ext cx="5486400" cy="402336"/>
          </a:xfrm>
          <a:prstGeom prst="roundRect">
            <a:avLst>
              <a:gd name="adj" fmla="val 11364"/>
            </a:avLst>
          </a:prstGeom>
          <a:solidFill>
            <a:srgbClr val="F3F6F4"/>
          </a:solidFill>
          <a:ln w="12700">
            <a:solidFill>
              <a:srgbClr val="F3F6F4"/>
            </a:solidFill>
            <a:prstDash val="solid"/>
          </a:ln>
        </p:spPr>
      </p:sp>
      <p:sp>
        <p:nvSpPr>
          <p:cNvPr id="13" name="Shape 11"/>
          <p:cNvSpPr/>
          <p:nvPr/>
        </p:nvSpPr>
        <p:spPr>
          <a:xfrm>
            <a:off x="621792" y="2560320"/>
            <a:ext cx="960120" cy="237744"/>
          </a:xfrm>
          <a:prstGeom prst="roundRect">
            <a:avLst>
              <a:gd name="adj" fmla="val 50000"/>
            </a:avLst>
          </a:prstGeom>
          <a:solidFill>
            <a:srgbClr val="0A7F44"/>
          </a:solidFill>
          <a:ln w="12700">
            <a:solidFill>
              <a:srgbClr val="0A7F44"/>
            </a:solidFill>
            <a:prstDash val="solid"/>
          </a:ln>
        </p:spPr>
      </p:sp>
      <p:sp>
        <p:nvSpPr>
          <p:cNvPr id="14" name="Text 12"/>
          <p:cNvSpPr txBox="1"/>
          <p:nvPr/>
        </p:nvSpPr>
        <p:spPr>
          <a:xfrm>
            <a:off x="621792" y="256032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15" name="Text 13"/>
          <p:cNvSpPr txBox="1"/>
          <p:nvPr/>
        </p:nvSpPr>
        <p:spPr>
          <a:xfrm>
            <a:off x="1664208" y="2478024"/>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More teacher answers per case </a:t>
            </a:r>
            <a:pPr indent="0" marL="0">
              <a:buNone/>
            </a:pPr>
            <a:r>
              <a:rPr lang="en-US" sz="950" dirty="0">
                <a:solidFill>
                  <a:srgbClr val="0064E0"/>
                </a:solidFill>
              </a:rPr>
              <a:t>[27] </a:t>
            </a:r>
            <a:pPr indent="0" marL="0">
              <a:buNone/>
            </a:pPr>
            <a:r>
              <a:rPr lang="en-US" sz="950" dirty="0">
                <a:solidFill>
                  <a:srgbClr val="55555C"/>
                </a:solidFill>
              </a:rPr>
              <a:t>hardest vs Glimmer's majority 71.5% → 73.0% (near run-to-run noise)</a:t>
            </a:r>
            <a:endParaRPr lang="en-US" sz="950" dirty="0"/>
          </a:p>
        </p:txBody>
      </p:sp>
      <p:sp>
        <p:nvSpPr>
          <p:cNvPr id="16" name="Shape 14"/>
          <p:cNvSpPr/>
          <p:nvPr/>
        </p:nvSpPr>
        <p:spPr>
          <a:xfrm>
            <a:off x="548640" y="2916936"/>
            <a:ext cx="5486400" cy="402336"/>
          </a:xfrm>
          <a:prstGeom prst="roundRect">
            <a:avLst>
              <a:gd name="adj" fmla="val 11364"/>
            </a:avLst>
          </a:prstGeom>
          <a:solidFill>
            <a:srgbClr val="FFFFFF"/>
          </a:solidFill>
          <a:ln w="12700">
            <a:solidFill>
              <a:srgbClr val="FFFFFF"/>
            </a:solidFill>
            <a:prstDash val="solid"/>
          </a:ln>
        </p:spPr>
      </p:sp>
      <p:sp>
        <p:nvSpPr>
          <p:cNvPr id="17" name="Shape 15"/>
          <p:cNvSpPr/>
          <p:nvPr/>
        </p:nvSpPr>
        <p:spPr>
          <a:xfrm>
            <a:off x="621792" y="2999232"/>
            <a:ext cx="960120" cy="237744"/>
          </a:xfrm>
          <a:prstGeom prst="roundRect">
            <a:avLst>
              <a:gd name="adj" fmla="val 50000"/>
            </a:avLst>
          </a:prstGeom>
          <a:solidFill>
            <a:srgbClr val="0064E0"/>
          </a:solidFill>
          <a:ln w="12700">
            <a:solidFill>
              <a:srgbClr val="0064E0"/>
            </a:solidFill>
            <a:prstDash val="solid"/>
          </a:ln>
        </p:spPr>
      </p:sp>
      <p:sp>
        <p:nvSpPr>
          <p:cNvPr id="18" name="Text 16"/>
          <p:cNvSpPr txBox="1"/>
          <p:nvPr/>
        </p:nvSpPr>
        <p:spPr>
          <a:xfrm>
            <a:off x="621792" y="299923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19" name="Text 17"/>
          <p:cNvSpPr txBox="1"/>
          <p:nvPr/>
        </p:nvSpPr>
        <p:spPr>
          <a:xfrm>
            <a:off x="1664208" y="2916936"/>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Order augmentation </a:t>
            </a:r>
            <a:pPr indent="0" marL="0">
              <a:buNone/>
            </a:pPr>
            <a:r>
              <a:rPr lang="en-US" sz="950" dirty="0">
                <a:solidFill>
                  <a:srgbClr val="0064E0"/>
                </a:solidFill>
              </a:rPr>
              <a:t>[–] </a:t>
            </a:r>
            <a:pPr indent="0" marL="0">
              <a:buNone/>
            </a:pPr>
            <a:r>
              <a:rPr lang="en-US" sz="950" dirty="0">
                <a:solidFill>
                  <a:srgbClr val="55555C"/>
                </a:solidFill>
              </a:rPr>
              <a:t>flips when reversed 15.6% → 1.6%, for 1.5 points of agreement</a:t>
            </a:r>
            <a:endParaRPr lang="en-US" sz="950" dirty="0"/>
          </a:p>
        </p:txBody>
      </p:sp>
      <p:sp>
        <p:nvSpPr>
          <p:cNvPr id="20" name="Shape 18"/>
          <p:cNvSpPr/>
          <p:nvPr/>
        </p:nvSpPr>
        <p:spPr>
          <a:xfrm>
            <a:off x="548640" y="3355848"/>
            <a:ext cx="5486400" cy="402336"/>
          </a:xfrm>
          <a:prstGeom prst="roundRect">
            <a:avLst>
              <a:gd name="adj" fmla="val 11364"/>
            </a:avLst>
          </a:prstGeom>
          <a:solidFill>
            <a:srgbClr val="F3F6F4"/>
          </a:solidFill>
          <a:ln w="12700">
            <a:solidFill>
              <a:srgbClr val="F3F6F4"/>
            </a:solidFill>
            <a:prstDash val="solid"/>
          </a:ln>
        </p:spPr>
      </p:sp>
      <p:sp>
        <p:nvSpPr>
          <p:cNvPr id="21" name="Shape 19"/>
          <p:cNvSpPr/>
          <p:nvPr/>
        </p:nvSpPr>
        <p:spPr>
          <a:xfrm>
            <a:off x="621792" y="3438144"/>
            <a:ext cx="960120" cy="237744"/>
          </a:xfrm>
          <a:prstGeom prst="roundRect">
            <a:avLst>
              <a:gd name="adj" fmla="val 50000"/>
            </a:avLst>
          </a:prstGeom>
          <a:solidFill>
            <a:srgbClr val="B26A00"/>
          </a:solidFill>
          <a:ln w="12700">
            <a:solidFill>
              <a:srgbClr val="B26A00"/>
            </a:solidFill>
            <a:prstDash val="solid"/>
          </a:ln>
        </p:spPr>
      </p:sp>
      <p:sp>
        <p:nvSpPr>
          <p:cNvPr id="22" name="Text 20"/>
          <p:cNvSpPr txBox="1"/>
          <p:nvPr/>
        </p:nvSpPr>
        <p:spPr>
          <a:xfrm>
            <a:off x="621792" y="343814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23" name="Text 21"/>
          <p:cNvSpPr txBox="1"/>
          <p:nvPr/>
        </p:nvSpPr>
        <p:spPr>
          <a:xfrm>
            <a:off x="1664208" y="3355848"/>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Soft labels, KL at T = 2 </a:t>
            </a:r>
            <a:pPr indent="0" marL="0">
              <a:buNone/>
            </a:pPr>
            <a:r>
              <a:rPr lang="en-US" sz="950" dirty="0">
                <a:solidFill>
                  <a:srgbClr val="0064E0"/>
                </a:solidFill>
              </a:rPr>
              <a:t>[27] </a:t>
            </a:r>
            <a:pPr indent="0" marL="0">
              <a:buNone/>
            </a:pPr>
            <a:r>
              <a:rPr lang="en-US" sz="950" dirty="0">
                <a:solidFill>
                  <a:srgbClr val="55555C"/>
                </a:solidFill>
              </a:rPr>
              <a:t>agreement and calibration both worse</a:t>
            </a:r>
            <a:endParaRPr lang="en-US" sz="950" dirty="0"/>
          </a:p>
        </p:txBody>
      </p:sp>
      <p:sp>
        <p:nvSpPr>
          <p:cNvPr id="24" name="Shape 22"/>
          <p:cNvSpPr/>
          <p:nvPr/>
        </p:nvSpPr>
        <p:spPr>
          <a:xfrm>
            <a:off x="548640" y="3794760"/>
            <a:ext cx="5486400" cy="402336"/>
          </a:xfrm>
          <a:prstGeom prst="roundRect">
            <a:avLst>
              <a:gd name="adj" fmla="val 11364"/>
            </a:avLst>
          </a:prstGeom>
          <a:solidFill>
            <a:srgbClr val="FFFFFF"/>
          </a:solidFill>
          <a:ln w="12700">
            <a:solidFill>
              <a:srgbClr val="FFFFFF"/>
            </a:solidFill>
            <a:prstDash val="solid"/>
          </a:ln>
        </p:spPr>
      </p:sp>
      <p:sp>
        <p:nvSpPr>
          <p:cNvPr id="25" name="Shape 23"/>
          <p:cNvSpPr/>
          <p:nvPr/>
        </p:nvSpPr>
        <p:spPr>
          <a:xfrm>
            <a:off x="621792" y="3877056"/>
            <a:ext cx="960120" cy="237744"/>
          </a:xfrm>
          <a:prstGeom prst="roundRect">
            <a:avLst>
              <a:gd name="adj" fmla="val 50000"/>
            </a:avLst>
          </a:prstGeom>
          <a:solidFill>
            <a:srgbClr val="B26A00"/>
          </a:solidFill>
          <a:ln w="12700">
            <a:solidFill>
              <a:srgbClr val="B26A00"/>
            </a:solidFill>
            <a:prstDash val="solid"/>
          </a:ln>
        </p:spPr>
      </p:sp>
      <p:sp>
        <p:nvSpPr>
          <p:cNvPr id="26" name="Text 24"/>
          <p:cNvSpPr txBox="1"/>
          <p:nvPr/>
        </p:nvSpPr>
        <p:spPr>
          <a:xfrm>
            <a:off x="621792" y="387705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27" name="Text 25"/>
          <p:cNvSpPr txBox="1"/>
          <p:nvPr/>
        </p:nvSpPr>
        <p:spPr>
          <a:xfrm>
            <a:off x="1664208" y="3794760"/>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The decider's letters as soft labels </a:t>
            </a:r>
            <a:pPr indent="0" marL="0">
              <a:buNone/>
            </a:pPr>
            <a:r>
              <a:rPr lang="en-US" sz="950" dirty="0">
                <a:solidFill>
                  <a:srgbClr val="0064E0"/>
                </a:solidFill>
              </a:rPr>
              <a:t>[27] </a:t>
            </a:r>
            <a:pPr indent="0" marL="0">
              <a:buNone/>
            </a:pPr>
            <a:r>
              <a:rPr lang="en-US" sz="950" dirty="0">
                <a:solidFill>
                  <a:srgbClr val="55555C"/>
                </a:solidFill>
              </a:rPr>
              <a:t>99.5% of its picks were the first time listed</a:t>
            </a:r>
            <a:endParaRPr lang="en-US" sz="950" dirty="0"/>
          </a:p>
        </p:txBody>
      </p:sp>
      <p:sp>
        <p:nvSpPr>
          <p:cNvPr id="28" name="Shape 26"/>
          <p:cNvSpPr/>
          <p:nvPr/>
        </p:nvSpPr>
        <p:spPr>
          <a:xfrm>
            <a:off x="548640" y="4233672"/>
            <a:ext cx="5486400" cy="402336"/>
          </a:xfrm>
          <a:prstGeom prst="roundRect">
            <a:avLst>
              <a:gd name="adj" fmla="val 11364"/>
            </a:avLst>
          </a:prstGeom>
          <a:solidFill>
            <a:srgbClr val="F3F6F4"/>
          </a:solidFill>
          <a:ln w="12700">
            <a:solidFill>
              <a:srgbClr val="F3F6F4"/>
            </a:solidFill>
            <a:prstDash val="solid"/>
          </a:ln>
        </p:spPr>
      </p:sp>
      <p:sp>
        <p:nvSpPr>
          <p:cNvPr id="29" name="Shape 27"/>
          <p:cNvSpPr/>
          <p:nvPr/>
        </p:nvSpPr>
        <p:spPr>
          <a:xfrm>
            <a:off x="621792" y="4315968"/>
            <a:ext cx="960120" cy="237744"/>
          </a:xfrm>
          <a:prstGeom prst="roundRect">
            <a:avLst>
              <a:gd name="adj" fmla="val 50000"/>
            </a:avLst>
          </a:prstGeom>
          <a:solidFill>
            <a:srgbClr val="8A8A92"/>
          </a:solidFill>
          <a:ln w="12700">
            <a:solidFill>
              <a:srgbClr val="8A8A92"/>
            </a:solidFill>
            <a:prstDash val="solid"/>
          </a:ln>
        </p:spPr>
      </p:sp>
      <p:sp>
        <p:nvSpPr>
          <p:cNvPr id="30" name="Text 28"/>
          <p:cNvSpPr txBox="1"/>
          <p:nvPr/>
        </p:nvSpPr>
        <p:spPr>
          <a:xfrm>
            <a:off x="621792" y="431596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not run</a:t>
            </a:r>
            <a:endParaRPr lang="en-US" sz="800" dirty="0"/>
          </a:p>
        </p:txBody>
      </p:sp>
      <p:sp>
        <p:nvSpPr>
          <p:cNvPr id="31" name="Text 29"/>
          <p:cNvSpPr txBox="1"/>
          <p:nvPr/>
        </p:nvSpPr>
        <p:spPr>
          <a:xfrm>
            <a:off x="1664208" y="4233672"/>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Rationale as an auxiliary loss </a:t>
            </a:r>
            <a:pPr indent="0" marL="0">
              <a:buNone/>
            </a:pPr>
            <a:r>
              <a:rPr lang="en-US" sz="950" dirty="0">
                <a:solidFill>
                  <a:srgbClr val="0064E0"/>
                </a:solidFill>
              </a:rPr>
              <a:t>[30] </a:t>
            </a:r>
            <a:pPr indent="0" marL="0">
              <a:buNone/>
            </a:pPr>
            <a:r>
              <a:rPr lang="en-US" sz="950" dirty="0">
                <a:solidFill>
                  <a:srgbClr val="55555C"/>
                </a:solidFill>
              </a:rPr>
              <a:t>cut off when the VM was preempted</a:t>
            </a:r>
            <a:endParaRPr lang="en-US" sz="950" dirty="0"/>
          </a:p>
        </p:txBody>
      </p:sp>
      <p:sp>
        <p:nvSpPr>
          <p:cNvPr id="32" name="Shape 30"/>
          <p:cNvSpPr/>
          <p:nvPr/>
        </p:nvSpPr>
        <p:spPr>
          <a:xfrm>
            <a:off x="548640" y="4672584"/>
            <a:ext cx="5486400" cy="402336"/>
          </a:xfrm>
          <a:prstGeom prst="roundRect">
            <a:avLst>
              <a:gd name="adj" fmla="val 11364"/>
            </a:avLst>
          </a:prstGeom>
          <a:solidFill>
            <a:srgbClr val="FFFFFF"/>
          </a:solidFill>
          <a:ln w="12700">
            <a:solidFill>
              <a:srgbClr val="FFFFFF"/>
            </a:solidFill>
            <a:prstDash val="solid"/>
          </a:ln>
        </p:spPr>
      </p:sp>
      <p:sp>
        <p:nvSpPr>
          <p:cNvPr id="33" name="Shape 31"/>
          <p:cNvSpPr/>
          <p:nvPr/>
        </p:nvSpPr>
        <p:spPr>
          <a:xfrm>
            <a:off x="621792" y="4754880"/>
            <a:ext cx="960120" cy="237744"/>
          </a:xfrm>
          <a:prstGeom prst="roundRect">
            <a:avLst>
              <a:gd name="adj" fmla="val 50000"/>
            </a:avLst>
          </a:prstGeom>
          <a:solidFill>
            <a:srgbClr val="0064E0"/>
          </a:solidFill>
          <a:ln w="12700">
            <a:solidFill>
              <a:srgbClr val="0064E0"/>
            </a:solidFill>
            <a:prstDash val="solid"/>
          </a:ln>
        </p:spPr>
      </p:sp>
      <p:sp>
        <p:nvSpPr>
          <p:cNvPr id="34" name="Text 32"/>
          <p:cNvSpPr txBox="1"/>
          <p:nvPr/>
        </p:nvSpPr>
        <p:spPr>
          <a:xfrm>
            <a:off x="621792" y="475488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35" name="Text 33"/>
          <p:cNvSpPr txBox="1"/>
          <p:nvPr/>
        </p:nvSpPr>
        <p:spPr>
          <a:xfrm>
            <a:off x="1664208" y="4672584"/>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Temperature scaling </a:t>
            </a:r>
            <a:pPr indent="0" marL="0">
              <a:buNone/>
            </a:pPr>
            <a:r>
              <a:rPr lang="en-US" sz="950" dirty="0">
                <a:solidFill>
                  <a:srgbClr val="0064E0"/>
                </a:solidFill>
              </a:rPr>
              <a:t>[31] </a:t>
            </a:r>
            <a:pPr indent="0" marL="0">
              <a:buNone/>
            </a:pPr>
            <a:r>
              <a:rPr lang="en-US" sz="950" dirty="0">
                <a:solidFill>
                  <a:srgbClr val="55555C"/>
                </a:solidFill>
              </a:rPr>
              <a:t>T 1.35–1.5 on val; test ECE 0.044 → 0.017 (A2A_STUDENT_TEMP)</a:t>
            </a:r>
            <a:endParaRPr lang="en-US" sz="950" dirty="0"/>
          </a:p>
        </p:txBody>
      </p:sp>
      <p:sp>
        <p:nvSpPr>
          <p:cNvPr id="36" name="Shape 34"/>
          <p:cNvSpPr/>
          <p:nvPr/>
        </p:nvSpPr>
        <p:spPr>
          <a:xfrm>
            <a:off x="548640" y="5111496"/>
            <a:ext cx="5486400" cy="402336"/>
          </a:xfrm>
          <a:prstGeom prst="roundRect">
            <a:avLst>
              <a:gd name="adj" fmla="val 11364"/>
            </a:avLst>
          </a:prstGeom>
          <a:solidFill>
            <a:srgbClr val="F3F6F4"/>
          </a:solidFill>
          <a:ln w="12700">
            <a:solidFill>
              <a:srgbClr val="F3F6F4"/>
            </a:solidFill>
            <a:prstDash val="solid"/>
          </a:ln>
        </p:spPr>
      </p:sp>
      <p:sp>
        <p:nvSpPr>
          <p:cNvPr id="37" name="Shape 35"/>
          <p:cNvSpPr/>
          <p:nvPr/>
        </p:nvSpPr>
        <p:spPr>
          <a:xfrm>
            <a:off x="621792" y="5193792"/>
            <a:ext cx="960120" cy="237744"/>
          </a:xfrm>
          <a:prstGeom prst="roundRect">
            <a:avLst>
              <a:gd name="adj" fmla="val 50000"/>
            </a:avLst>
          </a:prstGeom>
          <a:solidFill>
            <a:srgbClr val="0064E0"/>
          </a:solidFill>
          <a:ln w="12700">
            <a:solidFill>
              <a:srgbClr val="0064E0"/>
            </a:solidFill>
            <a:prstDash val="solid"/>
          </a:ln>
        </p:spPr>
      </p:sp>
      <p:sp>
        <p:nvSpPr>
          <p:cNvPr id="38" name="Text 36"/>
          <p:cNvSpPr txBox="1"/>
          <p:nvPr/>
        </p:nvSpPr>
        <p:spPr>
          <a:xfrm>
            <a:off x="621792" y="519379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39" name="Text 37"/>
          <p:cNvSpPr txBox="1"/>
          <p:nvPr/>
        </p:nvSpPr>
        <p:spPr>
          <a:xfrm>
            <a:off x="1664208" y="5111496"/>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Conformal risk control </a:t>
            </a:r>
            <a:pPr indent="0" marL="0">
              <a:buNone/>
            </a:pPr>
            <a:r>
              <a:rPr lang="en-US" sz="950" dirty="0">
                <a:solidFill>
                  <a:srgbClr val="0064E0"/>
                </a:solidFill>
              </a:rPr>
              <a:t>[32] </a:t>
            </a:r>
            <a:pPr indent="0" marL="0">
              <a:buNone/>
            </a:pPr>
            <a:r>
              <a:rPr lang="en-US" sz="950" dirty="0">
                <a:solidFill>
                  <a:srgbClr val="55555C"/>
                </a:solidFill>
              </a:rPr>
              <a:t>0.79 at 5% risk; the served 0.6 is a trade for more answers</a:t>
            </a:r>
            <a:endParaRPr lang="en-US" sz="950" dirty="0"/>
          </a:p>
        </p:txBody>
      </p:sp>
      <p:sp>
        <p:nvSpPr>
          <p:cNvPr id="40" name="Shape 38"/>
          <p:cNvSpPr/>
          <p:nvPr/>
        </p:nvSpPr>
        <p:spPr>
          <a:xfrm>
            <a:off x="548640" y="5550408"/>
            <a:ext cx="5486400" cy="402336"/>
          </a:xfrm>
          <a:prstGeom prst="roundRect">
            <a:avLst>
              <a:gd name="adj" fmla="val 11364"/>
            </a:avLst>
          </a:prstGeom>
          <a:solidFill>
            <a:srgbClr val="FFFFFF"/>
          </a:solidFill>
          <a:ln w="12700">
            <a:solidFill>
              <a:srgbClr val="FFFFFF"/>
            </a:solidFill>
            <a:prstDash val="solid"/>
          </a:ln>
        </p:spPr>
      </p:sp>
      <p:sp>
        <p:nvSpPr>
          <p:cNvPr id="41" name="Shape 39"/>
          <p:cNvSpPr/>
          <p:nvPr/>
        </p:nvSpPr>
        <p:spPr>
          <a:xfrm>
            <a:off x="621792" y="5632704"/>
            <a:ext cx="960120" cy="237744"/>
          </a:xfrm>
          <a:prstGeom prst="roundRect">
            <a:avLst>
              <a:gd name="adj" fmla="val 50000"/>
            </a:avLst>
          </a:prstGeom>
          <a:solidFill>
            <a:srgbClr val="0064E0"/>
          </a:solidFill>
          <a:ln w="12700">
            <a:solidFill>
              <a:srgbClr val="0064E0"/>
            </a:solidFill>
            <a:prstDash val="solid"/>
          </a:ln>
        </p:spPr>
      </p:sp>
      <p:sp>
        <p:nvSpPr>
          <p:cNvPr id="42" name="Text 40"/>
          <p:cNvSpPr txBox="1"/>
          <p:nvPr/>
        </p:nvSpPr>
        <p:spPr>
          <a:xfrm>
            <a:off x="621792" y="563270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43" name="Text 41"/>
          <p:cNvSpPr txBox="1"/>
          <p:nvPr/>
        </p:nvSpPr>
        <p:spPr>
          <a:xfrm>
            <a:off x="1664208" y="5550408"/>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int4 with an importance matrix </a:t>
            </a:r>
            <a:pPr indent="0" marL="0">
              <a:buNone/>
            </a:pPr>
            <a:r>
              <a:rPr lang="en-US" sz="950" dirty="0">
                <a:solidFill>
                  <a:srgbClr val="0064E0"/>
                </a:solidFill>
              </a:rPr>
              <a:t>[34, 33] </a:t>
            </a:r>
            <a:pPr indent="0" marL="0">
              <a:buNone/>
            </a:pPr>
            <a:r>
              <a:rPr lang="en-US" sz="950" dirty="0">
                <a:solidFill>
                  <a:srgbClr val="55555C"/>
                </a:solidFill>
              </a:rPr>
              <a:t>no significant change against bf16 (McNemar p ≥ 0.34)</a:t>
            </a:r>
            <a:endParaRPr lang="en-US" sz="950" dirty="0"/>
          </a:p>
        </p:txBody>
      </p:sp>
      <p:sp>
        <p:nvSpPr>
          <p:cNvPr id="44" name="Text 42"/>
          <p:cNvSpPr txBox="1"/>
          <p:nvPr/>
        </p:nvSpPr>
        <p:spPr>
          <a:xfrm>
            <a:off x="6263640" y="1188720"/>
            <a:ext cx="5379415" cy="365760"/>
          </a:xfrm>
          <a:prstGeom prst="rect">
            <a:avLst/>
          </a:prstGeom>
          <a:noFill/>
          <a:ln/>
        </p:spPr>
        <p:txBody>
          <a:bodyPr wrap="square" lIns="0" tIns="0" rIns="0" bIns="0" rtlCol="0" anchor="ctr"/>
          <a:lstStyle/>
          <a:p>
            <a:pPr indent="0" marL="0">
              <a:buNone/>
            </a:pPr>
            <a:r>
              <a:rPr lang="en-US" sz="1500" b="1" dirty="0">
                <a:solidFill>
                  <a:srgbClr val="0A0A0B"/>
                </a:solidFill>
              </a:rPr>
              <a:t>The text 1B, and the tiny layer</a:t>
            </a:r>
            <a:endParaRPr lang="en-US" sz="1500" dirty="0"/>
          </a:p>
        </p:txBody>
      </p:sp>
      <p:sp>
        <p:nvSpPr>
          <p:cNvPr id="45" name="Shape 43"/>
          <p:cNvSpPr/>
          <p:nvPr/>
        </p:nvSpPr>
        <p:spPr>
          <a:xfrm>
            <a:off x="6263640" y="1600200"/>
            <a:ext cx="5379415" cy="402336"/>
          </a:xfrm>
          <a:prstGeom prst="roundRect">
            <a:avLst>
              <a:gd name="adj" fmla="val 11364"/>
            </a:avLst>
          </a:prstGeom>
          <a:solidFill>
            <a:srgbClr val="F3F6F4"/>
          </a:solidFill>
          <a:ln w="12700">
            <a:solidFill>
              <a:srgbClr val="F3F6F4"/>
            </a:solidFill>
            <a:prstDash val="solid"/>
          </a:ln>
        </p:spPr>
      </p:sp>
      <p:sp>
        <p:nvSpPr>
          <p:cNvPr id="46" name="Shape 44"/>
          <p:cNvSpPr/>
          <p:nvPr/>
        </p:nvSpPr>
        <p:spPr>
          <a:xfrm>
            <a:off x="6336792" y="1682496"/>
            <a:ext cx="960120" cy="237744"/>
          </a:xfrm>
          <a:prstGeom prst="roundRect">
            <a:avLst>
              <a:gd name="adj" fmla="val 50000"/>
            </a:avLst>
          </a:prstGeom>
          <a:solidFill>
            <a:srgbClr val="0A7F44"/>
          </a:solidFill>
          <a:ln w="12700">
            <a:solidFill>
              <a:srgbClr val="0A7F44"/>
            </a:solidFill>
            <a:prstDash val="solid"/>
          </a:ln>
        </p:spPr>
      </p:sp>
      <p:sp>
        <p:nvSpPr>
          <p:cNvPr id="47" name="Text 45"/>
          <p:cNvSpPr txBox="1"/>
          <p:nvPr/>
        </p:nvSpPr>
        <p:spPr>
          <a:xfrm>
            <a:off x="6336792" y="168249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48" name="Text 46"/>
          <p:cNvSpPr txBox="1"/>
          <p:nvPr/>
        </p:nvSpPr>
        <p:spPr>
          <a:xfrm>
            <a:off x="7379208" y="1600200"/>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SFT on Glimmer's answers + attacked copies </a:t>
            </a:r>
            <a:pPr indent="0" marL="0">
              <a:buNone/>
            </a:pPr>
            <a:r>
              <a:rPr lang="en-US" sz="950" dirty="0">
                <a:solidFill>
                  <a:srgbClr val="0064E0"/>
                </a:solidFill>
              </a:rPr>
              <a:t>[28] </a:t>
            </a:r>
            <a:pPr indent="0" marL="0">
              <a:buNone/>
            </a:pPr>
            <a:r>
              <a:rPr lang="en-US" sz="950" dirty="0">
                <a:solidFill>
                  <a:srgbClr val="55555C"/>
                </a:solidFill>
              </a:rPr>
              <a:t>hostile comments passed 65/71 → 8/71 (Glimmer 0)</a:t>
            </a:r>
            <a:endParaRPr lang="en-US" sz="950" dirty="0"/>
          </a:p>
        </p:txBody>
      </p:sp>
      <p:sp>
        <p:nvSpPr>
          <p:cNvPr id="49" name="Shape 47"/>
          <p:cNvSpPr/>
          <p:nvPr/>
        </p:nvSpPr>
        <p:spPr>
          <a:xfrm>
            <a:off x="6263640" y="2039112"/>
            <a:ext cx="5379415" cy="402336"/>
          </a:xfrm>
          <a:prstGeom prst="roundRect">
            <a:avLst>
              <a:gd name="adj" fmla="val 11364"/>
            </a:avLst>
          </a:prstGeom>
          <a:solidFill>
            <a:srgbClr val="FFFFFF"/>
          </a:solidFill>
          <a:ln w="12700">
            <a:solidFill>
              <a:srgbClr val="FFFFFF"/>
            </a:solidFill>
            <a:prstDash val="solid"/>
          </a:ln>
        </p:spPr>
      </p:sp>
      <p:sp>
        <p:nvSpPr>
          <p:cNvPr id="50" name="Shape 48"/>
          <p:cNvSpPr/>
          <p:nvPr/>
        </p:nvSpPr>
        <p:spPr>
          <a:xfrm>
            <a:off x="6336792" y="2121408"/>
            <a:ext cx="960120" cy="237744"/>
          </a:xfrm>
          <a:prstGeom prst="roundRect">
            <a:avLst>
              <a:gd name="adj" fmla="val 50000"/>
            </a:avLst>
          </a:prstGeom>
          <a:solidFill>
            <a:srgbClr val="0A7F44"/>
          </a:solidFill>
          <a:ln w="12700">
            <a:solidFill>
              <a:srgbClr val="0A7F44"/>
            </a:solidFill>
            <a:prstDash val="solid"/>
          </a:ln>
        </p:spPr>
      </p:sp>
      <p:sp>
        <p:nvSpPr>
          <p:cNvPr id="51" name="Text 49"/>
          <p:cNvSpPr txBox="1"/>
          <p:nvPr/>
        </p:nvSpPr>
        <p:spPr>
          <a:xfrm>
            <a:off x="6336792" y="212140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52" name="Text 50"/>
          <p:cNvSpPr txBox="1"/>
          <p:nvPr/>
        </p:nvSpPr>
        <p:spPr>
          <a:xfrm>
            <a:off x="7379208" y="2039112"/>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Outside text in its own input message </a:t>
            </a:r>
            <a:pPr indent="0" marL="0">
              <a:buNone/>
            </a:pPr>
            <a:r>
              <a:rPr lang="en-US" sz="950" dirty="0">
                <a:solidFill>
                  <a:srgbClr val="0064E0"/>
                </a:solidFill>
              </a:rPr>
              <a:t>[35] </a:t>
            </a:r>
            <a:pPr indent="0" marL="0">
              <a:buNone/>
            </a:pPr>
            <a:r>
              <a:rPr lang="en-US" sz="950" dirty="0">
                <a:solidFill>
                  <a:srgbClr val="55555C"/>
                </a:solidFill>
              </a:rPr>
              <a:t>on the 1B route only; Glimmer's prompts unchanged</a:t>
            </a:r>
            <a:endParaRPr lang="en-US" sz="950" dirty="0"/>
          </a:p>
        </p:txBody>
      </p:sp>
      <p:sp>
        <p:nvSpPr>
          <p:cNvPr id="53" name="Shape 51"/>
          <p:cNvSpPr/>
          <p:nvPr/>
        </p:nvSpPr>
        <p:spPr>
          <a:xfrm>
            <a:off x="6263640" y="2478024"/>
            <a:ext cx="5379415" cy="402336"/>
          </a:xfrm>
          <a:prstGeom prst="roundRect">
            <a:avLst>
              <a:gd name="adj" fmla="val 11364"/>
            </a:avLst>
          </a:prstGeom>
          <a:solidFill>
            <a:srgbClr val="F3F6F4"/>
          </a:solidFill>
          <a:ln w="12700">
            <a:solidFill>
              <a:srgbClr val="F3F6F4"/>
            </a:solidFill>
            <a:prstDash val="solid"/>
          </a:ln>
        </p:spPr>
      </p:sp>
      <p:sp>
        <p:nvSpPr>
          <p:cNvPr id="54" name="Shape 52"/>
          <p:cNvSpPr/>
          <p:nvPr/>
        </p:nvSpPr>
        <p:spPr>
          <a:xfrm>
            <a:off x="6336792" y="2560320"/>
            <a:ext cx="960120" cy="237744"/>
          </a:xfrm>
          <a:prstGeom prst="roundRect">
            <a:avLst>
              <a:gd name="adj" fmla="val 50000"/>
            </a:avLst>
          </a:prstGeom>
          <a:solidFill>
            <a:srgbClr val="0064E0"/>
          </a:solidFill>
          <a:ln w="12700">
            <a:solidFill>
              <a:srgbClr val="0064E0"/>
            </a:solidFill>
            <a:prstDash val="solid"/>
          </a:ln>
        </p:spPr>
      </p:sp>
      <p:sp>
        <p:nvSpPr>
          <p:cNvPr id="55" name="Text 53"/>
          <p:cNvSpPr txBox="1"/>
          <p:nvPr/>
        </p:nvSpPr>
        <p:spPr>
          <a:xfrm>
            <a:off x="6336792" y="256032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56" name="Text 54"/>
          <p:cNvSpPr txBox="1"/>
          <p:nvPr/>
        </p:nvSpPr>
        <p:spPr>
          <a:xfrm>
            <a:off x="7379208" y="2478024"/>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Soft labels on the verdict </a:t>
            </a:r>
            <a:pPr indent="0" marL="0">
              <a:buNone/>
            </a:pPr>
            <a:r>
              <a:rPr lang="en-US" sz="950" dirty="0">
                <a:solidFill>
                  <a:srgbClr val="0064E0"/>
                </a:solidFill>
              </a:rPr>
              <a:t>[27] </a:t>
            </a:r>
            <a:pPr indent="0" marL="0">
              <a:buNone/>
            </a:pPr>
            <a:r>
              <a:rPr lang="en-US" sz="950" dirty="0">
                <a:solidFill>
                  <a:srgbClr val="55555C"/>
                </a:solidFill>
              </a:rPr>
              <a:t>Glimmer is almost always certain: little to learn</a:t>
            </a:r>
            <a:endParaRPr lang="en-US" sz="950" dirty="0"/>
          </a:p>
        </p:txBody>
      </p:sp>
      <p:sp>
        <p:nvSpPr>
          <p:cNvPr id="57" name="Shape 55"/>
          <p:cNvSpPr/>
          <p:nvPr/>
        </p:nvSpPr>
        <p:spPr>
          <a:xfrm>
            <a:off x="6263640" y="2916936"/>
            <a:ext cx="5379415" cy="402336"/>
          </a:xfrm>
          <a:prstGeom prst="roundRect">
            <a:avLst>
              <a:gd name="adj" fmla="val 11364"/>
            </a:avLst>
          </a:prstGeom>
          <a:solidFill>
            <a:srgbClr val="FFFFFF"/>
          </a:solidFill>
          <a:ln w="12700">
            <a:solidFill>
              <a:srgbClr val="FFFFFF"/>
            </a:solidFill>
            <a:prstDash val="solid"/>
          </a:ln>
        </p:spPr>
      </p:sp>
      <p:sp>
        <p:nvSpPr>
          <p:cNvPr id="58" name="Shape 56"/>
          <p:cNvSpPr/>
          <p:nvPr/>
        </p:nvSpPr>
        <p:spPr>
          <a:xfrm>
            <a:off x="6336792" y="2999232"/>
            <a:ext cx="960120" cy="237744"/>
          </a:xfrm>
          <a:prstGeom prst="roundRect">
            <a:avLst>
              <a:gd name="adj" fmla="val 50000"/>
            </a:avLst>
          </a:prstGeom>
          <a:solidFill>
            <a:srgbClr val="B26A00"/>
          </a:solidFill>
          <a:ln w="12700">
            <a:solidFill>
              <a:srgbClr val="B26A00"/>
            </a:solidFill>
            <a:prstDash val="solid"/>
          </a:ln>
        </p:spPr>
      </p:sp>
      <p:sp>
        <p:nvSpPr>
          <p:cNvPr id="59" name="Text 57"/>
          <p:cNvSpPr txBox="1"/>
          <p:nvPr/>
        </p:nvSpPr>
        <p:spPr>
          <a:xfrm>
            <a:off x="6336792" y="299923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60" name="Text 58"/>
          <p:cNvSpPr txBox="1"/>
          <p:nvPr/>
        </p:nvSpPr>
        <p:spPr>
          <a:xfrm>
            <a:off x="7379208" y="2916936"/>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SecAlign++ preference training </a:t>
            </a:r>
            <a:pPr indent="0" marL="0">
              <a:buNone/>
            </a:pPr>
            <a:r>
              <a:rPr lang="en-US" sz="950" dirty="0">
                <a:solidFill>
                  <a:srgbClr val="0064E0"/>
                </a:solidFill>
              </a:rPr>
              <a:t>[36, 37] </a:t>
            </a:r>
            <a:pPr indent="0" marL="0">
              <a:buNone/>
            </a:pPr>
            <a:r>
              <a:rPr lang="en-US" sz="950" dirty="0">
                <a:solidFill>
                  <a:srgbClr val="55555C"/>
                </a:solidFill>
              </a:rPr>
              <a:t>injected passes 5 → 2 of 71, but 8 of 32 ordinary blocked</a:t>
            </a:r>
            <a:endParaRPr lang="en-US" sz="950" dirty="0"/>
          </a:p>
        </p:txBody>
      </p:sp>
      <p:sp>
        <p:nvSpPr>
          <p:cNvPr id="61" name="Shape 59"/>
          <p:cNvSpPr/>
          <p:nvPr/>
        </p:nvSpPr>
        <p:spPr>
          <a:xfrm>
            <a:off x="6263640" y="3355848"/>
            <a:ext cx="5379415" cy="402336"/>
          </a:xfrm>
          <a:prstGeom prst="roundRect">
            <a:avLst>
              <a:gd name="adj" fmla="val 11364"/>
            </a:avLst>
          </a:prstGeom>
          <a:solidFill>
            <a:srgbClr val="F3F6F4"/>
          </a:solidFill>
          <a:ln w="12700">
            <a:solidFill>
              <a:srgbClr val="F3F6F4"/>
            </a:solidFill>
            <a:prstDash val="solid"/>
          </a:ln>
        </p:spPr>
      </p:sp>
      <p:sp>
        <p:nvSpPr>
          <p:cNvPr id="62" name="Shape 60"/>
          <p:cNvSpPr/>
          <p:nvPr/>
        </p:nvSpPr>
        <p:spPr>
          <a:xfrm>
            <a:off x="6336792" y="3438144"/>
            <a:ext cx="960120" cy="237744"/>
          </a:xfrm>
          <a:prstGeom prst="roundRect">
            <a:avLst>
              <a:gd name="adj" fmla="val 50000"/>
            </a:avLst>
          </a:prstGeom>
          <a:solidFill>
            <a:srgbClr val="B26A00"/>
          </a:solidFill>
          <a:ln w="12700">
            <a:solidFill>
              <a:srgbClr val="B26A00"/>
            </a:solidFill>
            <a:prstDash val="solid"/>
          </a:ln>
        </p:spPr>
      </p:sp>
      <p:sp>
        <p:nvSpPr>
          <p:cNvPr id="63" name="Text 61"/>
          <p:cNvSpPr txBox="1"/>
          <p:nvPr/>
        </p:nvSpPr>
        <p:spPr>
          <a:xfrm>
            <a:off x="6336792" y="343814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64" name="Text 62"/>
          <p:cNvSpPr txBox="1"/>
          <p:nvPr/>
        </p:nvSpPr>
        <p:spPr>
          <a:xfrm>
            <a:off x="7379208" y="3355848"/>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int4 with an importance matrix </a:t>
            </a:r>
            <a:pPr indent="0" marL="0">
              <a:buNone/>
            </a:pPr>
            <a:r>
              <a:rPr lang="en-US" sz="950" dirty="0">
                <a:solidFill>
                  <a:srgbClr val="0064E0"/>
                </a:solidFill>
              </a:rPr>
              <a:t>[34] </a:t>
            </a:r>
            <a:pPr indent="0" marL="0">
              <a:buNone/>
            </a:pPr>
            <a:r>
              <a:rPr lang="en-US" sz="950" dirty="0">
                <a:solidFill>
                  <a:srgbClr val="55555C"/>
                </a:solidFill>
              </a:rPr>
              <a:t>no consistent gain over plain Q4_K_M</a:t>
            </a:r>
            <a:endParaRPr lang="en-US" sz="950" dirty="0"/>
          </a:p>
        </p:txBody>
      </p:sp>
      <p:sp>
        <p:nvSpPr>
          <p:cNvPr id="65" name="Shape 63"/>
          <p:cNvSpPr/>
          <p:nvPr/>
        </p:nvSpPr>
        <p:spPr>
          <a:xfrm>
            <a:off x="6263640" y="3794760"/>
            <a:ext cx="5379415" cy="402336"/>
          </a:xfrm>
          <a:prstGeom prst="roundRect">
            <a:avLst>
              <a:gd name="adj" fmla="val 11364"/>
            </a:avLst>
          </a:prstGeom>
          <a:solidFill>
            <a:srgbClr val="FFFFFF"/>
          </a:solidFill>
          <a:ln w="12700">
            <a:solidFill>
              <a:srgbClr val="FFFFFF"/>
            </a:solidFill>
            <a:prstDash val="solid"/>
          </a:ln>
        </p:spPr>
      </p:sp>
      <p:sp>
        <p:nvSpPr>
          <p:cNvPr id="66" name="Shape 64"/>
          <p:cNvSpPr/>
          <p:nvPr/>
        </p:nvSpPr>
        <p:spPr>
          <a:xfrm>
            <a:off x="6336792" y="3877056"/>
            <a:ext cx="960120" cy="237744"/>
          </a:xfrm>
          <a:prstGeom prst="roundRect">
            <a:avLst>
              <a:gd name="adj" fmla="val 50000"/>
            </a:avLst>
          </a:prstGeom>
          <a:solidFill>
            <a:srgbClr val="0A7F44"/>
          </a:solidFill>
          <a:ln w="12700">
            <a:solidFill>
              <a:srgbClr val="0A7F44"/>
            </a:solidFill>
            <a:prstDash val="solid"/>
          </a:ln>
        </p:spPr>
      </p:sp>
      <p:sp>
        <p:nvSpPr>
          <p:cNvPr id="67" name="Text 65"/>
          <p:cNvSpPr txBox="1"/>
          <p:nvPr/>
        </p:nvSpPr>
        <p:spPr>
          <a:xfrm>
            <a:off x="6336792" y="387705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68" name="Text 66"/>
          <p:cNvSpPr txBox="1"/>
          <p:nvPr/>
        </p:nvSpPr>
        <p:spPr>
          <a:xfrm>
            <a:off x="7379208" y="3794760"/>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Tiny MLPs on facts code holds </a:t>
            </a:r>
            <a:pPr indent="0" marL="0">
              <a:buNone/>
            </a:pPr>
            <a:r>
              <a:rPr lang="en-US" sz="950" dirty="0">
                <a:solidFill>
                  <a:srgbClr val="0064E0"/>
                </a:solidFill>
              </a:rPr>
              <a:t>[–] </a:t>
            </a:r>
            <a:pPr indent="0" marL="0">
              <a:buNone/>
            </a:pPr>
            <a:r>
              <a:rPr lang="en-US" sz="950" dirty="0">
                <a:solidFill>
                  <a:srgbClr val="55555C"/>
                </a:solidFill>
              </a:rPr>
              <a:t>27.6 KB; hardest 69.4% (the 1B 63.3%)</a:t>
            </a:r>
            <a:endParaRPr lang="en-US" sz="950" dirty="0"/>
          </a:p>
        </p:txBody>
      </p:sp>
      <p:sp>
        <p:nvSpPr>
          <p:cNvPr id="69" name="Shape 67"/>
          <p:cNvSpPr/>
          <p:nvPr/>
        </p:nvSpPr>
        <p:spPr>
          <a:xfrm>
            <a:off x="6263640" y="4233672"/>
            <a:ext cx="5379415" cy="402336"/>
          </a:xfrm>
          <a:prstGeom prst="roundRect">
            <a:avLst>
              <a:gd name="adj" fmla="val 11364"/>
            </a:avLst>
          </a:prstGeom>
          <a:solidFill>
            <a:srgbClr val="F3F6F4"/>
          </a:solidFill>
          <a:ln w="12700">
            <a:solidFill>
              <a:srgbClr val="F3F6F4"/>
            </a:solidFill>
            <a:prstDash val="solid"/>
          </a:ln>
        </p:spPr>
      </p:sp>
      <p:sp>
        <p:nvSpPr>
          <p:cNvPr id="70" name="Shape 68"/>
          <p:cNvSpPr/>
          <p:nvPr/>
        </p:nvSpPr>
        <p:spPr>
          <a:xfrm>
            <a:off x="6336792" y="4315968"/>
            <a:ext cx="960120" cy="237744"/>
          </a:xfrm>
          <a:prstGeom prst="roundRect">
            <a:avLst>
              <a:gd name="adj" fmla="val 50000"/>
            </a:avLst>
          </a:prstGeom>
          <a:solidFill>
            <a:srgbClr val="0A7F44"/>
          </a:solidFill>
          <a:ln w="12700">
            <a:solidFill>
              <a:srgbClr val="0A7F44"/>
            </a:solidFill>
            <a:prstDash val="solid"/>
          </a:ln>
        </p:spPr>
      </p:sp>
      <p:sp>
        <p:nvSpPr>
          <p:cNvPr id="71" name="Text 69"/>
          <p:cNvSpPr txBox="1"/>
          <p:nvPr/>
        </p:nvSpPr>
        <p:spPr>
          <a:xfrm>
            <a:off x="6336792" y="431596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72" name="Text 70"/>
          <p:cNvSpPr txBox="1"/>
          <p:nvPr/>
        </p:nvSpPr>
        <p:spPr>
          <a:xfrm>
            <a:off x="7379208" y="4233672"/>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A doubt model + conformal threshold </a:t>
            </a:r>
            <a:pPr indent="0" marL="0">
              <a:buNone/>
            </a:pPr>
            <a:r>
              <a:rPr lang="en-US" sz="950" dirty="0">
                <a:solidFill>
                  <a:srgbClr val="0064E0"/>
                </a:solidFill>
              </a:rPr>
              <a:t>[32] </a:t>
            </a:r>
            <a:pPr indent="0" marL="0">
              <a:buNone/>
            </a:pPr>
            <a:r>
              <a:rPr lang="en-US" sz="950" dirty="0">
                <a:solidFill>
                  <a:srgbClr val="55555C"/>
                </a:solidFill>
              </a:rPr>
              <a:t>answers 59.8% of ordinary choices at 4.3% disagreement</a:t>
            </a:r>
            <a:endParaRPr lang="en-US" sz="950" dirty="0"/>
          </a:p>
        </p:txBody>
      </p:sp>
      <p:sp>
        <p:nvSpPr>
          <p:cNvPr id="73" name="Shape 71"/>
          <p:cNvSpPr/>
          <p:nvPr/>
        </p:nvSpPr>
        <p:spPr>
          <a:xfrm>
            <a:off x="6263640" y="4672584"/>
            <a:ext cx="5379415" cy="402336"/>
          </a:xfrm>
          <a:prstGeom prst="roundRect">
            <a:avLst>
              <a:gd name="adj" fmla="val 11364"/>
            </a:avLst>
          </a:prstGeom>
          <a:solidFill>
            <a:srgbClr val="FFFFFF"/>
          </a:solidFill>
          <a:ln w="12700">
            <a:solidFill>
              <a:srgbClr val="FFFFFF"/>
            </a:solidFill>
            <a:prstDash val="solid"/>
          </a:ln>
        </p:spPr>
      </p:sp>
      <p:sp>
        <p:nvSpPr>
          <p:cNvPr id="74" name="Shape 72"/>
          <p:cNvSpPr/>
          <p:nvPr/>
        </p:nvSpPr>
        <p:spPr>
          <a:xfrm>
            <a:off x="6336792" y="4754880"/>
            <a:ext cx="960120" cy="237744"/>
          </a:xfrm>
          <a:prstGeom prst="roundRect">
            <a:avLst>
              <a:gd name="adj" fmla="val 50000"/>
            </a:avLst>
          </a:prstGeom>
          <a:solidFill>
            <a:srgbClr val="B26A00"/>
          </a:solidFill>
          <a:ln w="12700">
            <a:solidFill>
              <a:srgbClr val="B26A00"/>
            </a:solidFill>
            <a:prstDash val="solid"/>
          </a:ln>
        </p:spPr>
      </p:sp>
      <p:sp>
        <p:nvSpPr>
          <p:cNvPr id="75" name="Text 73"/>
          <p:cNvSpPr txBox="1"/>
          <p:nvPr/>
        </p:nvSpPr>
        <p:spPr>
          <a:xfrm>
            <a:off x="6336792" y="475488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76" name="Text 74"/>
          <p:cNvSpPr txBox="1"/>
          <p:nvPr/>
        </p:nvSpPr>
        <p:spPr>
          <a:xfrm>
            <a:off x="7379208" y="4672584"/>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Hashed n-grams, int8 logistic regression </a:t>
            </a:r>
            <a:pPr indent="0" marL="0">
              <a:buNone/>
            </a:pPr>
            <a:r>
              <a:rPr lang="en-US" sz="950" dirty="0">
                <a:solidFill>
                  <a:srgbClr val="0064E0"/>
                </a:solidFill>
              </a:rPr>
              <a:t>[38] </a:t>
            </a:r>
            <a:pPr indent="0" marL="0">
              <a:buNone/>
            </a:pPr>
            <a:r>
              <a:rPr lang="en-US" sz="950" dirty="0">
                <a:solidFill>
                  <a:srgbClr val="55555C"/>
                </a:solidFill>
              </a:rPr>
              <a:t>post prefilter 87 KB: safe, but passes only 11%</a:t>
            </a:r>
            <a:endParaRPr lang="en-US" sz="950" dirty="0"/>
          </a:p>
        </p:txBody>
      </p:sp>
      <p:sp>
        <p:nvSpPr>
          <p:cNvPr id="77" name="Text 75"/>
          <p:cNvSpPr txBox="1"/>
          <p:nvPr/>
        </p:nvSpPr>
        <p:spPr>
          <a:xfrm>
            <a:off x="548640" y="6035040"/>
            <a:ext cx="11094415" cy="274320"/>
          </a:xfrm>
          <a:prstGeom prst="rect">
            <a:avLst/>
          </a:prstGeom>
          <a:noFill/>
          <a:ln/>
        </p:spPr>
        <p:txBody>
          <a:bodyPr wrap="square" lIns="0" tIns="0" rIns="0" bIns="0" rtlCol="0" anchor="ctr"/>
          <a:lstStyle/>
          <a:p>
            <a:pPr indent="0" marL="0">
              <a:buNone/>
            </a:pPr>
            <a:r>
              <a:rPr lang="en-US" sz="1000" dirty="0">
                <a:solidFill>
                  <a:srgbClr val="55555C"/>
                </a:solidFill>
              </a:rPr>
              <a:t>[n] = references on the last slides. Text 1B and tiny layer: submission/results/text1b.json and tiny.json; the decision 1B: its round-4 run (bf16).</a:t>
            </a:r>
            <a:endParaRPr lang="en-US" sz="1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surprised us, running Meta's models in a product</a:t>
            </a:r>
            <a:endParaRPr lang="en-US" sz="2800" dirty="0"/>
          </a:p>
        </p:txBody>
      </p:sp>
      <p:sp>
        <p:nvSpPr>
          <p:cNvPr id="3" name="Shape 1"/>
          <p:cNvSpPr/>
          <p:nvPr/>
        </p:nvSpPr>
        <p:spPr>
          <a:xfrm>
            <a:off x="548640" y="1325880"/>
            <a:ext cx="5440680" cy="2194560"/>
          </a:xfrm>
          <a:prstGeom prst="roundRect">
            <a:avLst>
              <a:gd name="adj" fmla="val 3333"/>
            </a:avLst>
          </a:prstGeom>
          <a:solidFill>
            <a:srgbClr val="F3F6F4"/>
          </a:solidFill>
          <a:ln w="12700">
            <a:solidFill>
              <a:srgbClr val="F3F6F4"/>
            </a:solidFill>
            <a:prstDash val="solid"/>
          </a:ln>
        </p:spPr>
      </p:sp>
      <p:sp>
        <p:nvSpPr>
          <p:cNvPr id="4" name="Text 2"/>
          <p:cNvSpPr txBox="1"/>
          <p:nvPr/>
        </p:nvSpPr>
        <p:spPr>
          <a:xfrm>
            <a:off x="822960" y="1508760"/>
            <a:ext cx="3017520" cy="1874520"/>
          </a:xfrm>
          <a:prstGeom prst="rect">
            <a:avLst/>
          </a:prstGeom>
          <a:noFill/>
          <a:ln/>
        </p:spPr>
        <p:txBody>
          <a:bodyPr wrap="square" lIns="0" tIns="0" rIns="0" bIns="0" rtlCol="0" anchor="t"/>
          <a:lstStyle/>
          <a:p>
            <a:pPr indent="0" marL="0">
              <a:spcAft>
                <a:spcPts val="600"/>
              </a:spcAft>
              <a:buNone/>
            </a:pPr>
            <a:r>
              <a:rPr lang="en-US" sz="1600" b="1" dirty="0">
                <a:solidFill>
                  <a:srgbClr val="0A7F44"/>
                </a:solidFill>
              </a:rPr>
              <a:t>Glimmer reasons even when told not to</a:t>
            </a:r>
            <a:endParaRPr lang="en-US" sz="1600" dirty="0"/>
          </a:p>
          <a:p>
            <a:pPr indent="0" marL="0">
              <a:spcAft>
                <a:spcPts val="600"/>
              </a:spcAft>
              <a:buNone/>
            </a:pPr>
            <a:r>
              <a:rPr lang="en-US" sz="1200" dirty="0">
                <a:solidFill>
                  <a:srgbClr val="0A0A0B"/>
                </a:solidFill>
              </a:rPr>
              <a:t>84% of the tokens it wrote over 2,755 calls were reasoning; 9% of calls came back empty. Every call now asks for think "low" with 900 tokens of room.</a:t>
            </a:r>
            <a:endParaRPr lang="en-US" sz="1600" dirty="0"/>
          </a:p>
        </p:txBody>
      </p:sp>
      <p:graphicFrame>
        <p:nvGraphicFramePr>
          <p:cNvPr id="5" name="Chart 0" descr=""/>
          <p:cNvGraphicFramePr/>
          <p:nvPr/>
        </p:nvGraphicFramePr>
        <p:xfrm>
          <a:off x="3931920" y="146304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172200" y="1325880"/>
            <a:ext cx="5440680" cy="2194560"/>
          </a:xfrm>
          <a:prstGeom prst="roundRect">
            <a:avLst>
              <a:gd name="adj" fmla="val 3333"/>
            </a:avLst>
          </a:prstGeom>
          <a:solidFill>
            <a:srgbClr val="F3F6F4"/>
          </a:solidFill>
          <a:ln w="12700">
            <a:solidFill>
              <a:srgbClr val="F3F6F4"/>
            </a:solidFill>
            <a:prstDash val="solid"/>
          </a:ln>
        </p:spPr>
      </p:sp>
      <p:sp>
        <p:nvSpPr>
          <p:cNvPr id="7" name="Text 4"/>
          <p:cNvSpPr txBox="1"/>
          <p:nvPr/>
        </p:nvSpPr>
        <p:spPr>
          <a:xfrm>
            <a:off x="6446520" y="1508760"/>
            <a:ext cx="3017520" cy="1874520"/>
          </a:xfrm>
          <a:prstGeom prst="rect">
            <a:avLst/>
          </a:prstGeom>
          <a:noFill/>
          <a:ln/>
        </p:spPr>
        <p:txBody>
          <a:bodyPr wrap="square" lIns="0" tIns="0" rIns="0" bIns="0" rtlCol="0" anchor="t"/>
          <a:lstStyle/>
          <a:p>
            <a:pPr indent="0" marL="0">
              <a:spcAft>
                <a:spcPts val="600"/>
              </a:spcAft>
              <a:buNone/>
            </a:pPr>
            <a:r>
              <a:rPr lang="en-US" sz="1600" b="1" dirty="0">
                <a:solidFill>
                  <a:srgbClr val="0A7F44"/>
                </a:solidFill>
              </a:rPr>
              <a:t>A 1B agrees with Glimmer as often as Glimmer agrees with itself</a:t>
            </a:r>
            <a:endParaRPr lang="en-US" sz="1600" dirty="0"/>
          </a:p>
          <a:p>
            <a:pPr indent="0" marL="0">
              <a:spcAft>
                <a:spcPts val="600"/>
              </a:spcAft>
              <a:buNone/>
            </a:pPr>
            <a:r>
              <a:rPr lang="en-US" sz="1200" dirty="0">
                <a:solidFill>
                  <a:srgbClr val="0A0A0B"/>
                </a:solidFill>
              </a:rPr>
              <a:t>89.5% against 88.8% on 500 held-out cases, in 0.9 s instead of about 40 s.</a:t>
            </a:r>
            <a:endParaRPr lang="en-US" sz="1600" dirty="0"/>
          </a:p>
        </p:txBody>
      </p:sp>
      <p:graphicFrame>
        <p:nvGraphicFramePr>
          <p:cNvPr id="8" name="Chart 1" descr=""/>
          <p:cNvGraphicFramePr/>
          <p:nvPr/>
        </p:nvGraphicFramePr>
        <p:xfrm>
          <a:off x="9555480" y="1463040"/>
          <a:ext cx="1920240" cy="192024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3749040"/>
            <a:ext cx="5440680" cy="2194560"/>
          </a:xfrm>
          <a:prstGeom prst="roundRect">
            <a:avLst>
              <a:gd name="adj" fmla="val 3333"/>
            </a:avLst>
          </a:prstGeom>
          <a:solidFill>
            <a:srgbClr val="F3F6F4"/>
          </a:solidFill>
          <a:ln w="12700">
            <a:solidFill>
              <a:srgbClr val="F3F6F4"/>
            </a:solidFill>
            <a:prstDash val="solid"/>
          </a:ln>
        </p:spPr>
      </p:sp>
      <p:sp>
        <p:nvSpPr>
          <p:cNvPr id="10" name="Text 6"/>
          <p:cNvSpPr txBox="1"/>
          <p:nvPr/>
        </p:nvSpPr>
        <p:spPr>
          <a:xfrm>
            <a:off x="822960" y="3931920"/>
            <a:ext cx="3017520" cy="1874520"/>
          </a:xfrm>
          <a:prstGeom prst="rect">
            <a:avLst/>
          </a:prstGeom>
          <a:noFill/>
          <a:ln/>
        </p:spPr>
        <p:txBody>
          <a:bodyPr wrap="square" lIns="0" tIns="0" rIns="0" bIns="0" rtlCol="0" anchor="t"/>
          <a:lstStyle/>
          <a:p>
            <a:pPr indent="0" marL="0">
              <a:spcAft>
                <a:spcPts val="600"/>
              </a:spcAft>
              <a:buNone/>
            </a:pPr>
            <a:r>
              <a:rPr lang="en-US" sz="1600" b="1" dirty="0">
                <a:solidFill>
                  <a:srgbClr val="0A7F44"/>
                </a:solidFill>
              </a:rPr>
              <a:t>Glimmer can decide in one token</a:t>
            </a:r>
            <a:endParaRPr lang="en-US" sz="1600" dirty="0"/>
          </a:p>
          <a:p>
            <a:pPr indent="0" marL="0">
              <a:spcAft>
                <a:spcPts val="600"/>
              </a:spcAft>
              <a:buNone/>
            </a:pPr>
            <a:r>
              <a:rPr lang="en-US" sz="1200" dirty="0">
                <a:solidFill>
                  <a:srgbClr val="0A0A0B"/>
                </a:solidFill>
              </a:rPr>
              <a:t>Read with no chat template, its next token gives a probability for each option: 0.53 s, no reasoning. It mostly reads the order, though: 99.5% of picks were the first time listed.</a:t>
            </a:r>
            <a:endParaRPr lang="en-US" sz="1600" dirty="0"/>
          </a:p>
        </p:txBody>
      </p:sp>
      <p:graphicFrame>
        <p:nvGraphicFramePr>
          <p:cNvPr id="11" name="Chart 2" descr=""/>
          <p:cNvGraphicFramePr/>
          <p:nvPr/>
        </p:nvGraphicFramePr>
        <p:xfrm>
          <a:off x="3931920" y="3886200"/>
          <a:ext cx="1920240" cy="1920240"/>
        </p:xfrm>
        <a:graphic xmlns:a="http://schemas.openxmlformats.org/drawingml/2006/main">
          <a:graphicData uri="http://schemas.openxmlformats.org/drawingml/2006/chart">
            <c:chart xmlns:c="http://schemas.openxmlformats.org/drawingml/2006/chart" r:id="rId3"/>
          </a:graphicData>
        </a:graphic>
      </p:graphicFrame>
      <p:sp>
        <p:nvSpPr>
          <p:cNvPr id="12" name="Shape 7"/>
          <p:cNvSpPr/>
          <p:nvPr/>
        </p:nvSpPr>
        <p:spPr>
          <a:xfrm>
            <a:off x="6172200" y="3749040"/>
            <a:ext cx="5440680" cy="2194560"/>
          </a:xfrm>
          <a:prstGeom prst="roundRect">
            <a:avLst>
              <a:gd name="adj" fmla="val 3333"/>
            </a:avLst>
          </a:prstGeom>
          <a:solidFill>
            <a:srgbClr val="F3F6F4"/>
          </a:solidFill>
          <a:ln w="12700">
            <a:solidFill>
              <a:srgbClr val="F3F6F4"/>
            </a:solidFill>
            <a:prstDash val="solid"/>
          </a:ln>
        </p:spPr>
      </p:sp>
      <p:sp>
        <p:nvSpPr>
          <p:cNvPr id="13" name="Text 8"/>
          <p:cNvSpPr txBox="1"/>
          <p:nvPr/>
        </p:nvSpPr>
        <p:spPr>
          <a:xfrm>
            <a:off x="6446520" y="3931920"/>
            <a:ext cx="3017520" cy="1874520"/>
          </a:xfrm>
          <a:prstGeom prst="rect">
            <a:avLst/>
          </a:prstGeom>
          <a:noFill/>
          <a:ln/>
        </p:spPr>
        <p:txBody>
          <a:bodyPr wrap="square" lIns="0" tIns="0" rIns="0" bIns="0" rtlCol="0" anchor="t"/>
          <a:lstStyle/>
          <a:p>
            <a:pPr indent="0" marL="0">
              <a:spcAft>
                <a:spcPts val="600"/>
              </a:spcAft>
              <a:buNone/>
            </a:pPr>
            <a:r>
              <a:rPr lang="en-US" sz="1600" b="1" dirty="0">
                <a:solidFill>
                  <a:srgbClr val="0A7F44"/>
                </a:solidFill>
              </a:rPr>
              <a:t>Llama Guard 3 reads sports injuries as medical advice</a:t>
            </a:r>
            <a:endParaRPr lang="en-US" sz="1600" dirty="0"/>
          </a:p>
          <a:p>
            <a:pPr indent="0" marL="0">
              <a:spcAft>
                <a:spcPts val="600"/>
              </a:spcAft>
              <a:buNone/>
            </a:pPr>
            <a:r>
              <a:rPr lang="en-US" sz="1200" dirty="0">
                <a:solidFill>
                  <a:srgbClr val="0A0A0B"/>
                </a:solidFill>
              </a:rPr>
              <a:t>Its S6 category flagged 6 to 8 of 15 ordinary injury-care answers; S6 now blocks only when code also finds a dose, a medicine or a condition.</a:t>
            </a:r>
            <a:endParaRPr lang="en-US" sz="1600" dirty="0"/>
          </a:p>
        </p:txBody>
      </p:sp>
      <p:graphicFrame>
        <p:nvGraphicFramePr>
          <p:cNvPr id="14" name="Chart 3" descr=""/>
          <p:cNvGraphicFramePr/>
          <p:nvPr/>
        </p:nvGraphicFramePr>
        <p:xfrm>
          <a:off x="9555480" y="3886200"/>
          <a:ext cx="1920240" cy="1920240"/>
        </p:xfrm>
        <a:graphic xmlns:a="http://schemas.openxmlformats.org/drawingml/2006/main">
          <a:graphicData uri="http://schemas.openxmlformats.org/drawingml/2006/chart">
            <c:chart xmlns:c="http://schemas.openxmlformats.org/drawingml/2006/chart" r:id="rId4"/>
          </a:graphicData>
        </a:graphic>
      </p:graphicFrame>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Security, and a failure the agents found</a:t>
            </a:r>
            <a:endParaRPr lang="en-US" sz="2800" dirty="0"/>
          </a:p>
        </p:txBody>
      </p:sp>
      <p:sp>
        <p:nvSpPr>
          <p:cNvPr id="3" name="Shape 1"/>
          <p:cNvSpPr/>
          <p:nvPr/>
        </p:nvSpPr>
        <p:spPr>
          <a:xfrm>
            <a:off x="548640" y="1325880"/>
            <a:ext cx="2377440" cy="1508760"/>
          </a:xfrm>
          <a:prstGeom prst="roundRect">
            <a:avLst>
              <a:gd name="adj" fmla="val 4848"/>
            </a:avLst>
          </a:prstGeom>
          <a:solidFill>
            <a:srgbClr val="F3F6F4"/>
          </a:solidFill>
          <a:ln w="12700">
            <a:solidFill>
              <a:srgbClr val="F3F6F4"/>
            </a:solidFill>
            <a:prstDash val="solid"/>
          </a:ln>
        </p:spPr>
      </p:sp>
      <p:sp>
        <p:nvSpPr>
          <p:cNvPr id="4" name="Text 2"/>
          <p:cNvSpPr txBox="1"/>
          <p:nvPr/>
        </p:nvSpPr>
        <p:spPr>
          <a:xfrm>
            <a:off x="777240" y="1490472"/>
            <a:ext cx="192024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93 / 93</a:t>
            </a:r>
            <a:endParaRPr lang="en-US" sz="3600" dirty="0"/>
          </a:p>
        </p:txBody>
      </p:sp>
      <p:sp>
        <p:nvSpPr>
          <p:cNvPr id="5" name="Text 3"/>
          <p:cNvSpPr txBox="1"/>
          <p:nvPr/>
        </p:nvSpPr>
        <p:spPr>
          <a:xfrm>
            <a:off x="777240" y="2167128"/>
            <a:ext cx="1920240" cy="594360"/>
          </a:xfrm>
          <a:prstGeom prst="rect">
            <a:avLst/>
          </a:prstGeom>
          <a:noFill/>
          <a:ln/>
        </p:spPr>
        <p:txBody>
          <a:bodyPr wrap="square" lIns="0" tIns="0" rIns="0" bIns="0" rtlCol="0" anchor="t"/>
          <a:lstStyle/>
          <a:p>
            <a:pPr indent="0" marL="0">
              <a:buNone/>
            </a:pPr>
            <a:r>
              <a:rPr lang="en-US" sz="1300" dirty="0">
                <a:solidFill>
                  <a:srgbClr val="55555C"/>
                </a:solidFill>
              </a:rPr>
              <a:t>attack cases stopped, named by OWASP LLM Top 10 risk</a:t>
            </a:r>
            <a:endParaRPr lang="en-US" sz="1300" dirty="0"/>
          </a:p>
        </p:txBody>
      </p:sp>
      <p:sp>
        <p:nvSpPr>
          <p:cNvPr id="6" name="Text 4"/>
          <p:cNvSpPr txBox="1"/>
          <p:nvPr/>
        </p:nvSpPr>
        <p:spPr>
          <a:xfrm>
            <a:off x="3200400" y="1325880"/>
            <a:ext cx="8412480" cy="320040"/>
          </a:xfrm>
          <a:prstGeom prst="rect">
            <a:avLst/>
          </a:prstGeom>
          <a:noFill/>
          <a:ln/>
        </p:spPr>
        <p:txBody>
          <a:bodyPr wrap="square" lIns="0" tIns="0" rIns="0" bIns="0" rtlCol="0" anchor="ctr"/>
          <a:lstStyle/>
          <a:p>
            <a:pPr indent="0" marL="0">
              <a:buNone/>
            </a:pPr>
            <a:r>
              <a:rPr lang="en-US" sz="1300" b="1" dirty="0">
                <a:solidFill>
                  <a:srgbClr val="0A0A0B"/>
                </a:solidFill>
              </a:rPr>
              <a:t>Untrusted text (posts, comments, reviews, wishes), layer by layer</a:t>
            </a:r>
            <a:endParaRPr lang="en-US" sz="1300" dirty="0"/>
          </a:p>
        </p:txBody>
      </p:sp>
      <p:sp>
        <p:nvSpPr>
          <p:cNvPr id="7" name="Shape 5"/>
          <p:cNvSpPr/>
          <p:nvPr/>
        </p:nvSpPr>
        <p:spPr>
          <a:xfrm>
            <a:off x="3200400" y="1737360"/>
            <a:ext cx="1481328" cy="1051560"/>
          </a:xfrm>
          <a:prstGeom prst="roundRect">
            <a:avLst>
              <a:gd name="adj" fmla="val 6957"/>
            </a:avLst>
          </a:prstGeom>
          <a:solidFill>
            <a:srgbClr val="FBEAE9"/>
          </a:solidFill>
          <a:ln w="12700">
            <a:solidFill>
              <a:srgbClr val="FBEAE9"/>
            </a:solidFill>
            <a:prstDash val="solid"/>
          </a:ln>
        </p:spPr>
      </p:sp>
      <p:sp>
        <p:nvSpPr>
          <p:cNvPr id="8" name="Text 6"/>
          <p:cNvSpPr txBox="1"/>
          <p:nvPr/>
        </p:nvSpPr>
        <p:spPr>
          <a:xfrm>
            <a:off x="3337560"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Text in</a:t>
            </a:r>
            <a:endParaRPr lang="en-US" sz="1400" dirty="0"/>
          </a:p>
          <a:p>
            <a:pPr algn="ctr" indent="0" marL="0">
              <a:buNone/>
            </a:pPr>
            <a:r>
              <a:rPr lang="en-US" sz="1150" dirty="0">
                <a:solidFill>
                  <a:srgbClr val="55555C"/>
                </a:solidFill>
              </a:rPr>
              <a:t>a post, a review</a:t>
            </a:r>
            <a:endParaRPr lang="en-US" sz="1400" dirty="0"/>
          </a:p>
        </p:txBody>
      </p:sp>
      <p:sp>
        <p:nvSpPr>
          <p:cNvPr id="9" name="Shape 7"/>
          <p:cNvSpPr/>
          <p:nvPr/>
        </p:nvSpPr>
        <p:spPr>
          <a:xfrm>
            <a:off x="4690872" y="2258568"/>
            <a:ext cx="192024" cy="914"/>
          </a:xfrm>
          <a:prstGeom prst="line">
            <a:avLst/>
          </a:prstGeom>
          <a:noFill/>
          <a:ln w="25400">
            <a:solidFill>
              <a:srgbClr val="8A8A92"/>
            </a:solidFill>
            <a:prstDash val="solid"/>
            <a:tailEnd type="triangle"/>
          </a:ln>
        </p:spPr>
      </p:sp>
      <p:sp>
        <p:nvSpPr>
          <p:cNvPr id="10" name="Shape 8"/>
          <p:cNvSpPr/>
          <p:nvPr/>
        </p:nvSpPr>
        <p:spPr>
          <a:xfrm>
            <a:off x="4901184" y="1737360"/>
            <a:ext cx="1481328" cy="1051560"/>
          </a:xfrm>
          <a:prstGeom prst="roundRect">
            <a:avLst>
              <a:gd name="adj" fmla="val 6957"/>
            </a:avLst>
          </a:prstGeom>
          <a:solidFill>
            <a:srgbClr val="F3F6F4"/>
          </a:solidFill>
          <a:ln w="12700">
            <a:solidFill>
              <a:srgbClr val="F3F6F4"/>
            </a:solidFill>
            <a:prstDash val="solid"/>
          </a:ln>
        </p:spPr>
      </p:sp>
      <p:sp>
        <p:nvSpPr>
          <p:cNvPr id="11" name="Text 9"/>
          <p:cNvSpPr txBox="1"/>
          <p:nvPr/>
        </p:nvSpPr>
        <p:spPr>
          <a:xfrm>
            <a:off x="5038344"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Prompt Guard</a:t>
            </a:r>
            <a:endParaRPr lang="en-US" sz="1400" dirty="0"/>
          </a:p>
          <a:p>
            <a:pPr algn="ctr" indent="0" marL="0">
              <a:buNone/>
            </a:pPr>
            <a:r>
              <a:rPr lang="en-US" sz="1150" dirty="0">
                <a:solidFill>
                  <a:srgbClr val="55555C"/>
                </a:solidFill>
              </a:rPr>
              <a:t>2 (86M): injections</a:t>
            </a:r>
            <a:endParaRPr lang="en-US" sz="1400" dirty="0"/>
          </a:p>
        </p:txBody>
      </p:sp>
      <p:sp>
        <p:nvSpPr>
          <p:cNvPr id="12" name="Shape 10"/>
          <p:cNvSpPr/>
          <p:nvPr/>
        </p:nvSpPr>
        <p:spPr>
          <a:xfrm>
            <a:off x="6391656" y="2258568"/>
            <a:ext cx="192024" cy="914"/>
          </a:xfrm>
          <a:prstGeom prst="line">
            <a:avLst/>
          </a:prstGeom>
          <a:noFill/>
          <a:ln w="25400">
            <a:solidFill>
              <a:srgbClr val="8A8A92"/>
            </a:solidFill>
            <a:prstDash val="solid"/>
            <a:tailEnd type="triangle"/>
          </a:ln>
        </p:spPr>
      </p:sp>
      <p:sp>
        <p:nvSpPr>
          <p:cNvPr id="13" name="Shape 11"/>
          <p:cNvSpPr/>
          <p:nvPr/>
        </p:nvSpPr>
        <p:spPr>
          <a:xfrm>
            <a:off x="6601968" y="1737360"/>
            <a:ext cx="1481328" cy="1051560"/>
          </a:xfrm>
          <a:prstGeom prst="roundRect">
            <a:avLst>
              <a:gd name="adj" fmla="val 6957"/>
            </a:avLst>
          </a:prstGeom>
          <a:solidFill>
            <a:srgbClr val="F3F6F4"/>
          </a:solidFill>
          <a:ln w="12700">
            <a:solidFill>
              <a:srgbClr val="F3F6F4"/>
            </a:solidFill>
            <a:prstDash val="solid"/>
          </a:ln>
        </p:spPr>
      </p:sp>
      <p:sp>
        <p:nvSpPr>
          <p:cNvPr id="14" name="Text 12"/>
          <p:cNvSpPr txBox="1"/>
          <p:nvPr/>
        </p:nvSpPr>
        <p:spPr>
          <a:xfrm>
            <a:off x="6739128"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Llama Guard</a:t>
            </a:r>
            <a:endParaRPr lang="en-US" sz="1400" dirty="0"/>
          </a:p>
          <a:p>
            <a:pPr algn="ctr" indent="0" marL="0">
              <a:buNone/>
            </a:pPr>
            <a:r>
              <a:rPr lang="en-US" sz="1150" dirty="0">
                <a:solidFill>
                  <a:srgbClr val="55555C"/>
                </a:solidFill>
              </a:rPr>
              <a:t>3 (1B): harms</a:t>
            </a:r>
            <a:endParaRPr lang="en-US" sz="1400" dirty="0"/>
          </a:p>
        </p:txBody>
      </p:sp>
      <p:sp>
        <p:nvSpPr>
          <p:cNvPr id="15" name="Shape 13"/>
          <p:cNvSpPr/>
          <p:nvPr/>
        </p:nvSpPr>
        <p:spPr>
          <a:xfrm>
            <a:off x="8092440" y="2258568"/>
            <a:ext cx="192024" cy="914"/>
          </a:xfrm>
          <a:prstGeom prst="line">
            <a:avLst/>
          </a:prstGeom>
          <a:noFill/>
          <a:ln w="25400">
            <a:solidFill>
              <a:srgbClr val="8A8A92"/>
            </a:solidFill>
            <a:prstDash val="solid"/>
            <a:tailEnd type="triangle"/>
          </a:ln>
        </p:spPr>
      </p:sp>
      <p:sp>
        <p:nvSpPr>
          <p:cNvPr id="16" name="Shape 14"/>
          <p:cNvSpPr/>
          <p:nvPr/>
        </p:nvSpPr>
        <p:spPr>
          <a:xfrm>
            <a:off x="8302752" y="1737360"/>
            <a:ext cx="1481328" cy="1051560"/>
          </a:xfrm>
          <a:prstGeom prst="roundRect">
            <a:avLst>
              <a:gd name="adj" fmla="val 6957"/>
            </a:avLst>
          </a:prstGeom>
          <a:solidFill>
            <a:srgbClr val="F3F6F4"/>
          </a:solidFill>
          <a:ln w="12700">
            <a:solidFill>
              <a:srgbClr val="F3F6F4"/>
            </a:solidFill>
            <a:prstDash val="solid"/>
          </a:ln>
        </p:spPr>
      </p:sp>
      <p:sp>
        <p:nvSpPr>
          <p:cNvPr id="17" name="Text 15"/>
          <p:cNvSpPr txBox="1"/>
          <p:nvPr/>
        </p:nvSpPr>
        <p:spPr>
          <a:xfrm>
            <a:off x="8439912"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Code checks</a:t>
            </a:r>
            <a:endParaRPr lang="en-US" sz="1400" dirty="0"/>
          </a:p>
          <a:p>
            <a:pPr algn="ctr" indent="0" marL="0">
              <a:buNone/>
            </a:pPr>
            <a:r>
              <a:rPr lang="en-US" sz="1150" dirty="0">
                <a:solidFill>
                  <a:srgbClr val="55555C"/>
                </a:solidFill>
              </a:rPr>
              <a:t>numbers, names, links</a:t>
            </a:r>
            <a:endParaRPr lang="en-US" sz="1400" dirty="0"/>
          </a:p>
        </p:txBody>
      </p:sp>
      <p:sp>
        <p:nvSpPr>
          <p:cNvPr id="18" name="Shape 16"/>
          <p:cNvSpPr/>
          <p:nvPr/>
        </p:nvSpPr>
        <p:spPr>
          <a:xfrm>
            <a:off x="9793224" y="2258568"/>
            <a:ext cx="192024" cy="914"/>
          </a:xfrm>
          <a:prstGeom prst="line">
            <a:avLst/>
          </a:prstGeom>
          <a:noFill/>
          <a:ln w="25400">
            <a:solidFill>
              <a:srgbClr val="8A8A92"/>
            </a:solidFill>
            <a:prstDash val="solid"/>
            <a:tailEnd type="triangle"/>
          </a:ln>
        </p:spPr>
      </p:sp>
      <p:sp>
        <p:nvSpPr>
          <p:cNvPr id="19" name="Shape 17"/>
          <p:cNvSpPr/>
          <p:nvPr/>
        </p:nvSpPr>
        <p:spPr>
          <a:xfrm>
            <a:off x="10003536" y="1737360"/>
            <a:ext cx="1481328" cy="1051560"/>
          </a:xfrm>
          <a:prstGeom prst="roundRect">
            <a:avLst>
              <a:gd name="adj" fmla="val 6957"/>
            </a:avLst>
          </a:prstGeom>
          <a:solidFill>
            <a:srgbClr val="0A7F44"/>
          </a:solidFill>
          <a:ln w="12700">
            <a:solidFill>
              <a:srgbClr val="0A7F44"/>
            </a:solidFill>
            <a:prstDash val="solid"/>
          </a:ln>
        </p:spPr>
      </p:sp>
      <p:sp>
        <p:nvSpPr>
          <p:cNvPr id="20" name="Text 18"/>
          <p:cNvSpPr txBox="1"/>
          <p:nvPr/>
        </p:nvSpPr>
        <p:spPr>
          <a:xfrm>
            <a:off x="10140696" y="1737360"/>
            <a:ext cx="1207008" cy="1051560"/>
          </a:xfrm>
          <a:prstGeom prst="rect">
            <a:avLst/>
          </a:prstGeom>
          <a:noFill/>
          <a:ln/>
        </p:spPr>
        <p:txBody>
          <a:bodyPr wrap="square" lIns="0" tIns="0" rIns="0" bIns="0" rtlCol="0" anchor="ctr"/>
          <a:lstStyle/>
          <a:p>
            <a:pPr algn="ctr" indent="0" marL="0">
              <a:buNone/>
            </a:pPr>
            <a:r>
              <a:rPr lang="en-US" sz="1400" b="1" dirty="0">
                <a:solidFill>
                  <a:srgbClr val="FFFFFF"/>
                </a:solidFill>
              </a:rPr>
              <a:t>Then a model</a:t>
            </a:r>
            <a:endParaRPr lang="en-US" sz="1400" dirty="0"/>
          </a:p>
          <a:p>
            <a:pPr algn="ctr" indent="0" marL="0">
              <a:buNone/>
            </a:pPr>
            <a:r>
              <a:rPr lang="en-US" sz="1150" dirty="0">
                <a:solidFill>
                  <a:srgbClr val="D9EBDF"/>
                </a:solidFill>
              </a:rPr>
              <a:t>never the one that acts</a:t>
            </a:r>
            <a:endParaRPr lang="en-US" sz="1400" dirty="0"/>
          </a:p>
        </p:txBody>
      </p:sp>
      <p:sp>
        <p:nvSpPr>
          <p:cNvPr id="21" name="Text 19"/>
          <p:cNvSpPr txBox="1"/>
          <p:nvPr/>
        </p:nvSpPr>
        <p:spPr>
          <a:xfrm>
            <a:off x="548640" y="3108960"/>
            <a:ext cx="5486400" cy="320040"/>
          </a:xfrm>
          <a:prstGeom prst="rect">
            <a:avLst/>
          </a:prstGeom>
          <a:noFill/>
          <a:ln/>
        </p:spPr>
        <p:txBody>
          <a:bodyPr wrap="square" lIns="0" tIns="0" rIns="0" bIns="0" rtlCol="0" anchor="ctr"/>
          <a:lstStyle/>
          <a:p>
            <a:pPr indent="0" marL="0">
              <a:buNone/>
            </a:pPr>
            <a:r>
              <a:rPr lang="en-US" sz="1300" b="1" dirty="0">
                <a:solidFill>
                  <a:srgbClr val="0A0A0B"/>
                </a:solidFill>
              </a:rPr>
              <a:t>A signed record of every yes</a:t>
            </a:r>
            <a:endParaRPr lang="en-US" sz="1300" dirty="0"/>
          </a:p>
        </p:txBody>
      </p:sp>
      <p:sp>
        <p:nvSpPr>
          <p:cNvPr id="22" name="Shape 20"/>
          <p:cNvSpPr/>
          <p:nvPr/>
        </p:nvSpPr>
        <p:spPr>
          <a:xfrm>
            <a:off x="548640" y="3520440"/>
            <a:ext cx="1188720" cy="777240"/>
          </a:xfrm>
          <a:prstGeom prst="roundRect">
            <a:avLst>
              <a:gd name="adj" fmla="val 9412"/>
            </a:avLst>
          </a:prstGeom>
          <a:solidFill>
            <a:srgbClr val="E9F3EC"/>
          </a:solidFill>
          <a:ln w="12700">
            <a:solidFill>
              <a:srgbClr val="E9F3EC"/>
            </a:solidFill>
            <a:prstDash val="solid"/>
          </a:ln>
        </p:spPr>
      </p:sp>
      <p:sp>
        <p:nvSpPr>
          <p:cNvPr id="23" name="Text 21"/>
          <p:cNvSpPr txBox="1"/>
          <p:nvPr/>
        </p:nvSpPr>
        <p:spPr>
          <a:xfrm>
            <a:off x="68580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#1</a:t>
            </a:r>
            <a:endParaRPr lang="en-US" sz="1400" dirty="0"/>
          </a:p>
          <a:p>
            <a:pPr algn="ctr" indent="0" marL="0">
              <a:buNone/>
            </a:pPr>
            <a:r>
              <a:rPr lang="en-US" sz="1150" dirty="0">
                <a:solidFill>
                  <a:srgbClr val="55555C"/>
                </a:solidFill>
              </a:rPr>
              <a:t>signed · hash of the last</a:t>
            </a:r>
            <a:endParaRPr lang="en-US" sz="1400" dirty="0"/>
          </a:p>
        </p:txBody>
      </p:sp>
      <p:sp>
        <p:nvSpPr>
          <p:cNvPr id="24" name="Shape 22"/>
          <p:cNvSpPr/>
          <p:nvPr/>
        </p:nvSpPr>
        <p:spPr>
          <a:xfrm>
            <a:off x="1746504" y="3904488"/>
            <a:ext cx="201168" cy="914"/>
          </a:xfrm>
          <a:prstGeom prst="line">
            <a:avLst/>
          </a:prstGeom>
          <a:noFill/>
          <a:ln w="25400">
            <a:solidFill>
              <a:srgbClr val="0A7F44"/>
            </a:solidFill>
            <a:prstDash val="solid"/>
            <a:tailEnd type="triangle"/>
          </a:ln>
        </p:spPr>
      </p:sp>
      <p:sp>
        <p:nvSpPr>
          <p:cNvPr id="25" name="Shape 23"/>
          <p:cNvSpPr/>
          <p:nvPr/>
        </p:nvSpPr>
        <p:spPr>
          <a:xfrm>
            <a:off x="1965960" y="3520440"/>
            <a:ext cx="1188720" cy="777240"/>
          </a:xfrm>
          <a:prstGeom prst="roundRect">
            <a:avLst>
              <a:gd name="adj" fmla="val 9412"/>
            </a:avLst>
          </a:prstGeom>
          <a:solidFill>
            <a:srgbClr val="E9F3EC"/>
          </a:solidFill>
          <a:ln w="12700">
            <a:solidFill>
              <a:srgbClr val="E9F3EC"/>
            </a:solidFill>
            <a:prstDash val="solid"/>
          </a:ln>
        </p:spPr>
      </p:sp>
      <p:sp>
        <p:nvSpPr>
          <p:cNvPr id="26" name="Text 24"/>
          <p:cNvSpPr txBox="1"/>
          <p:nvPr/>
        </p:nvSpPr>
        <p:spPr>
          <a:xfrm>
            <a:off x="210312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#2</a:t>
            </a:r>
            <a:endParaRPr lang="en-US" sz="1400" dirty="0"/>
          </a:p>
          <a:p>
            <a:pPr algn="ctr" indent="0" marL="0">
              <a:buNone/>
            </a:pPr>
            <a:r>
              <a:rPr lang="en-US" sz="1150" dirty="0">
                <a:solidFill>
                  <a:srgbClr val="55555C"/>
                </a:solidFill>
              </a:rPr>
              <a:t>signed · hash of the last</a:t>
            </a:r>
            <a:endParaRPr lang="en-US" sz="1400" dirty="0"/>
          </a:p>
        </p:txBody>
      </p:sp>
      <p:sp>
        <p:nvSpPr>
          <p:cNvPr id="27" name="Shape 25"/>
          <p:cNvSpPr/>
          <p:nvPr/>
        </p:nvSpPr>
        <p:spPr>
          <a:xfrm>
            <a:off x="3163824" y="3904488"/>
            <a:ext cx="201168" cy="914"/>
          </a:xfrm>
          <a:prstGeom prst="line">
            <a:avLst/>
          </a:prstGeom>
          <a:noFill/>
          <a:ln w="25400">
            <a:solidFill>
              <a:srgbClr val="0A7F44"/>
            </a:solidFill>
            <a:prstDash val="solid"/>
            <a:tailEnd type="triangle"/>
          </a:ln>
        </p:spPr>
      </p:sp>
      <p:sp>
        <p:nvSpPr>
          <p:cNvPr id="28" name="Shape 26"/>
          <p:cNvSpPr/>
          <p:nvPr/>
        </p:nvSpPr>
        <p:spPr>
          <a:xfrm>
            <a:off x="3383280" y="3520440"/>
            <a:ext cx="1188720" cy="777240"/>
          </a:xfrm>
          <a:prstGeom prst="roundRect">
            <a:avLst>
              <a:gd name="adj" fmla="val 9412"/>
            </a:avLst>
          </a:prstGeom>
          <a:solidFill>
            <a:srgbClr val="E9F3EC"/>
          </a:solidFill>
          <a:ln w="12700">
            <a:solidFill>
              <a:srgbClr val="E9F3EC"/>
            </a:solidFill>
            <a:prstDash val="solid"/>
          </a:ln>
        </p:spPr>
      </p:sp>
      <p:sp>
        <p:nvSpPr>
          <p:cNvPr id="29" name="Text 27"/>
          <p:cNvSpPr txBox="1"/>
          <p:nvPr/>
        </p:nvSpPr>
        <p:spPr>
          <a:xfrm>
            <a:off x="352044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#3</a:t>
            </a:r>
            <a:endParaRPr lang="en-US" sz="1400" dirty="0"/>
          </a:p>
          <a:p>
            <a:pPr algn="ctr" indent="0" marL="0">
              <a:buNone/>
            </a:pPr>
            <a:r>
              <a:rPr lang="en-US" sz="1150" dirty="0">
                <a:solidFill>
                  <a:srgbClr val="55555C"/>
                </a:solidFill>
              </a:rPr>
              <a:t>signed · hash of the last</a:t>
            </a:r>
            <a:endParaRPr lang="en-US" sz="1400" dirty="0"/>
          </a:p>
        </p:txBody>
      </p:sp>
      <p:sp>
        <p:nvSpPr>
          <p:cNvPr id="30" name="Shape 28"/>
          <p:cNvSpPr/>
          <p:nvPr/>
        </p:nvSpPr>
        <p:spPr>
          <a:xfrm>
            <a:off x="4581144" y="3904488"/>
            <a:ext cx="201168" cy="914"/>
          </a:xfrm>
          <a:prstGeom prst="line">
            <a:avLst/>
          </a:prstGeom>
          <a:noFill/>
          <a:ln w="25400">
            <a:solidFill>
              <a:srgbClr val="0A7F44"/>
            </a:solidFill>
            <a:prstDash val="solid"/>
            <a:tailEnd type="triangle"/>
          </a:ln>
        </p:spPr>
      </p:sp>
      <p:sp>
        <p:nvSpPr>
          <p:cNvPr id="31" name="Shape 29"/>
          <p:cNvSpPr/>
          <p:nvPr/>
        </p:nvSpPr>
        <p:spPr>
          <a:xfrm>
            <a:off x="4800600" y="3520440"/>
            <a:ext cx="1188720" cy="777240"/>
          </a:xfrm>
          <a:prstGeom prst="roundRect">
            <a:avLst>
              <a:gd name="adj" fmla="val 9412"/>
            </a:avLst>
          </a:prstGeom>
          <a:solidFill>
            <a:srgbClr val="E9F3EC"/>
          </a:solidFill>
          <a:ln w="12700">
            <a:solidFill>
              <a:srgbClr val="E9F3EC"/>
            </a:solidFill>
            <a:prstDash val="solid"/>
          </a:ln>
        </p:spPr>
      </p:sp>
      <p:sp>
        <p:nvSpPr>
          <p:cNvPr id="32" name="Text 30"/>
          <p:cNvSpPr txBox="1"/>
          <p:nvPr/>
        </p:nvSpPr>
        <p:spPr>
          <a:xfrm>
            <a:off x="493776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#4</a:t>
            </a:r>
            <a:endParaRPr lang="en-US" sz="1400" dirty="0"/>
          </a:p>
          <a:p>
            <a:pPr algn="ctr" indent="0" marL="0">
              <a:buNone/>
            </a:pPr>
            <a:r>
              <a:rPr lang="en-US" sz="1150" dirty="0">
                <a:solidFill>
                  <a:srgbClr val="55555C"/>
                </a:solidFill>
              </a:rPr>
              <a:t>signed · hash of the last</a:t>
            </a:r>
            <a:endParaRPr lang="en-US" sz="1400" dirty="0"/>
          </a:p>
        </p:txBody>
      </p:sp>
      <p:sp>
        <p:nvSpPr>
          <p:cNvPr id="33" name="Text 31"/>
          <p:cNvSpPr txBox="1"/>
          <p:nvPr/>
        </p:nvSpPr>
        <p:spPr>
          <a:xfrm>
            <a:off x="6583680" y="3108960"/>
            <a:ext cx="5029200" cy="320040"/>
          </a:xfrm>
          <a:prstGeom prst="rect">
            <a:avLst/>
          </a:prstGeom>
          <a:noFill/>
          <a:ln/>
        </p:spPr>
        <p:txBody>
          <a:bodyPr wrap="square" lIns="0" tIns="0" rIns="0" bIns="0" rtlCol="0" anchor="ctr"/>
          <a:lstStyle/>
          <a:p>
            <a:pPr indent="0" marL="0">
              <a:buNone/>
            </a:pPr>
            <a:r>
              <a:rPr lang="en-US" sz="1300" b="1" dirty="0">
                <a:solidFill>
                  <a:srgbClr val="0A0A0B"/>
                </a:solidFill>
              </a:rPr>
              <a:t>No-shows, with no money</a:t>
            </a:r>
            <a:endParaRPr lang="en-US" sz="1300" dirty="0"/>
          </a:p>
        </p:txBody>
      </p:sp>
      <p:sp>
        <p:nvSpPr>
          <p:cNvPr id="34" name="Shape 32"/>
          <p:cNvSpPr/>
          <p:nvPr/>
        </p:nvSpPr>
        <p:spPr>
          <a:xfrm>
            <a:off x="6583680" y="3520440"/>
            <a:ext cx="1554480" cy="777240"/>
          </a:xfrm>
          <a:prstGeom prst="roundRect">
            <a:avLst>
              <a:gd name="adj" fmla="val 9412"/>
            </a:avLst>
          </a:prstGeom>
          <a:solidFill>
            <a:srgbClr val="F3F6F4"/>
          </a:solidFill>
          <a:ln w="12700">
            <a:solidFill>
              <a:srgbClr val="F3F6F4"/>
            </a:solidFill>
            <a:prstDash val="solid"/>
          </a:ln>
        </p:spPr>
      </p:sp>
      <p:sp>
        <p:nvSpPr>
          <p:cNvPr id="35" name="Text 33"/>
          <p:cNvSpPr txBox="1"/>
          <p:nvPr/>
        </p:nvSpPr>
        <p:spPr>
          <a:xfrm>
            <a:off x="669340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60 days</a:t>
            </a:r>
            <a:endParaRPr lang="en-US" sz="1600" dirty="0"/>
          </a:p>
          <a:p>
            <a:pPr indent="0" marL="0">
              <a:buNone/>
            </a:pPr>
            <a:r>
              <a:rPr lang="en-US" sz="950" dirty="0">
                <a:solidFill>
                  <a:srgbClr val="55555C"/>
                </a:solidFill>
              </a:rPr>
              <a:t>half-life of a show-up record, shown in words</a:t>
            </a:r>
            <a:endParaRPr lang="en-US" sz="1600" dirty="0"/>
          </a:p>
        </p:txBody>
      </p:sp>
      <p:sp>
        <p:nvSpPr>
          <p:cNvPr id="36" name="Shape 34"/>
          <p:cNvSpPr/>
          <p:nvPr/>
        </p:nvSpPr>
        <p:spPr>
          <a:xfrm>
            <a:off x="8275320" y="3520440"/>
            <a:ext cx="1554480" cy="777240"/>
          </a:xfrm>
          <a:prstGeom prst="roundRect">
            <a:avLst>
              <a:gd name="adj" fmla="val 9412"/>
            </a:avLst>
          </a:prstGeom>
          <a:solidFill>
            <a:srgbClr val="F3F6F4"/>
          </a:solidFill>
          <a:ln w="12700">
            <a:solidFill>
              <a:srgbClr val="F3F6F4"/>
            </a:solidFill>
            <a:prstDash val="solid"/>
          </a:ln>
        </p:spPr>
      </p:sp>
      <p:sp>
        <p:nvSpPr>
          <p:cNvPr id="37" name="Text 35"/>
          <p:cNvSpPr txBox="1"/>
          <p:nvPr/>
        </p:nvSpPr>
        <p:spPr>
          <a:xfrm>
            <a:off x="838504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3 h</a:t>
            </a:r>
            <a:endParaRPr lang="en-US" sz="1600" dirty="0"/>
          </a:p>
          <a:p>
            <a:pPr indent="0" marL="0">
              <a:buNone/>
            </a:pPr>
            <a:r>
              <a:rPr lang="en-US" sz="950" dirty="0">
                <a:solidFill>
                  <a:srgbClr val="55555C"/>
                </a:solidFill>
              </a:rPr>
              <a:t>before: a short game is called off</a:t>
            </a:r>
            <a:endParaRPr lang="en-US" sz="1600" dirty="0"/>
          </a:p>
        </p:txBody>
      </p:sp>
      <p:sp>
        <p:nvSpPr>
          <p:cNvPr id="38" name="Shape 36"/>
          <p:cNvSpPr/>
          <p:nvPr/>
        </p:nvSpPr>
        <p:spPr>
          <a:xfrm>
            <a:off x="9966960" y="3520440"/>
            <a:ext cx="1554480" cy="777240"/>
          </a:xfrm>
          <a:prstGeom prst="roundRect">
            <a:avLst>
              <a:gd name="adj" fmla="val 9412"/>
            </a:avLst>
          </a:prstGeom>
          <a:solidFill>
            <a:srgbClr val="F3F6F4"/>
          </a:solidFill>
          <a:ln w="12700">
            <a:solidFill>
              <a:srgbClr val="F3F6F4"/>
            </a:solidFill>
            <a:prstDash val="solid"/>
          </a:ln>
        </p:spPr>
      </p:sp>
      <p:sp>
        <p:nvSpPr>
          <p:cNvPr id="39" name="Text 37"/>
          <p:cNvSpPr txBox="1"/>
          <p:nvPr/>
        </p:nvSpPr>
        <p:spPr>
          <a:xfrm>
            <a:off x="1007668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12 h</a:t>
            </a:r>
            <a:endParaRPr lang="en-US" sz="1600" dirty="0"/>
          </a:p>
          <a:p>
            <a:pPr indent="0" marL="0">
              <a:buNone/>
            </a:pPr>
            <a:r>
              <a:rPr lang="en-US" sz="950" dirty="0">
                <a:solidFill>
                  <a:srgbClr val="55555C"/>
                </a:solidFill>
              </a:rPr>
              <a:t>to confirm a freed spot</a:t>
            </a:r>
            <a:endParaRPr lang="en-US" sz="1600" dirty="0"/>
          </a:p>
        </p:txBody>
      </p:sp>
      <p:sp>
        <p:nvSpPr>
          <p:cNvPr id="40" name="Shape 38"/>
          <p:cNvSpPr/>
          <p:nvPr/>
        </p:nvSpPr>
        <p:spPr>
          <a:xfrm>
            <a:off x="548640" y="4617720"/>
            <a:ext cx="11094415" cy="1143000"/>
          </a:xfrm>
          <a:prstGeom prst="roundRect">
            <a:avLst>
              <a:gd name="adj" fmla="val 6400"/>
            </a:avLst>
          </a:prstGeom>
          <a:solidFill>
            <a:srgbClr val="FBEAE9"/>
          </a:solidFill>
          <a:ln w="12700">
            <a:solidFill>
              <a:srgbClr val="FBEAE9"/>
            </a:solidFill>
            <a:prstDash val="solid"/>
          </a:ln>
        </p:spPr>
      </p:sp>
      <p:sp>
        <p:nvSpPr>
          <p:cNvPr id="41" name="Text 39"/>
          <p:cNvSpPr txBox="1"/>
          <p:nvPr/>
        </p:nvSpPr>
        <p:spPr>
          <a:xfrm>
            <a:off x="822960" y="4709160"/>
            <a:ext cx="10545775" cy="1005840"/>
          </a:xfrm>
          <a:prstGeom prst="rect">
            <a:avLst/>
          </a:prstGeom>
          <a:noFill/>
          <a:ln/>
        </p:spPr>
        <p:txBody>
          <a:bodyPr wrap="square" lIns="0" tIns="0" rIns="0" bIns="0" rtlCol="0" anchor="t"/>
          <a:lstStyle/>
          <a:p>
            <a:pPr indent="0" marL="0">
              <a:spcAft>
                <a:spcPts val="600"/>
              </a:spcAft>
              <a:buNone/>
            </a:pPr>
            <a:r>
              <a:rPr lang="en-US" sz="1300" b="1" dirty="0">
                <a:solidFill>
                  <a:srgbClr val="D1352B"/>
                </a:solidFill>
              </a:rPr>
              <a:t>A failure, and the fix. </a:t>
            </a:r>
            <a:pPr indent="0" marL="0">
              <a:spcAft>
                <a:spcPts val="600"/>
              </a:spcAft>
              <a:buNone/>
            </a:pPr>
            <a:r>
              <a:rPr lang="en-US" sz="1300" dirty="0">
                <a:solidFill>
                  <a:srgbClr val="0A0A0B"/>
                </a:solidFill>
              </a:rPr>
              <a:t>A tester working as a host could work out how many people nearby were open to being asked, first from a count, then from the talk. Now nearby people appear only once they can actually play, and everyone else sees only published badge words; later rounds re-checked it and found nothing. The Agents Rule of Two: no agent holds untrusted input, private data and the power to act at once.</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Meta models, and which one answers: by length</a:t>
            </a:r>
            <a:endParaRPr lang="en-US" sz="2800" dirty="0"/>
          </a:p>
        </p:txBody>
      </p:sp>
      <p:sp>
        <p:nvSpPr>
          <p:cNvPr id="3" name="Shape 1"/>
          <p:cNvSpPr/>
          <p:nvPr/>
        </p:nvSpPr>
        <p:spPr>
          <a:xfrm>
            <a:off x="548640" y="1234440"/>
            <a:ext cx="6400800" cy="3337560"/>
          </a:xfrm>
          <a:prstGeom prst="roundRect">
            <a:avLst>
              <a:gd name="adj" fmla="val 2192"/>
            </a:avLst>
          </a:prstGeom>
          <a:solidFill>
            <a:srgbClr val="F3F6F4"/>
          </a:solidFill>
          <a:ln w="12700">
            <a:solidFill>
              <a:srgbClr val="F3F6F4"/>
            </a:solidFill>
            <a:prstDash val="solid"/>
          </a:ln>
        </p:spPr>
      </p:sp>
      <p:sp>
        <p:nvSpPr>
          <p:cNvPr id="4" name="Text 2"/>
          <p:cNvSpPr txBox="1"/>
          <p:nvPr/>
        </p:nvSpPr>
        <p:spPr>
          <a:xfrm>
            <a:off x="731520" y="1298448"/>
            <a:ext cx="6035040" cy="548640"/>
          </a:xfrm>
          <a:prstGeom prst="rect">
            <a:avLst/>
          </a:prstGeom>
          <a:noFill/>
          <a:ln/>
        </p:spPr>
        <p:txBody>
          <a:bodyPr wrap="square" lIns="0" tIns="0" rIns="0" bIns="0" rtlCol="0" anchor="ctr"/>
          <a:lstStyle/>
          <a:p>
            <a:pPr indent="0" marL="0">
              <a:buNone/>
            </a:pPr>
            <a:r>
              <a:rPr lang="en-US" sz="1500" b="1" dirty="0">
                <a:solidFill>
                  <a:srgbClr val="0A0A0B"/>
                </a:solidFill>
              </a:rPr>
              <a:t>Our GPU server (two RTX 3090s and their CPU)</a:t>
            </a:r>
            <a:endParaRPr lang="en-US" sz="1500" dirty="0"/>
          </a:p>
          <a:p>
            <a:pPr indent="0" marL="0">
              <a:buNone/>
            </a:pPr>
            <a:r>
              <a:rPr lang="en-US" sz="1100" dirty="0">
                <a:solidFill>
                  <a:srgbClr val="55555C"/>
                </a:solidFill>
              </a:rPr>
              <a:t>players' data stays here</a:t>
            </a:r>
            <a:endParaRPr lang="en-US" sz="1500" dirty="0"/>
          </a:p>
        </p:txBody>
      </p:sp>
      <p:sp>
        <p:nvSpPr>
          <p:cNvPr id="5" name="Text 3"/>
          <p:cNvSpPr txBox="1"/>
          <p:nvPr/>
        </p:nvSpPr>
        <p:spPr>
          <a:xfrm>
            <a:off x="731520" y="192024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GPU 1</a:t>
            </a:r>
            <a:endParaRPr lang="en-US" sz="1100" dirty="0"/>
          </a:p>
        </p:txBody>
      </p:sp>
      <p:sp>
        <p:nvSpPr>
          <p:cNvPr id="6" name="Shape 4"/>
          <p:cNvSpPr/>
          <p:nvPr/>
        </p:nvSpPr>
        <p:spPr>
          <a:xfrm>
            <a:off x="1783080" y="1993392"/>
            <a:ext cx="4983480" cy="585216"/>
          </a:xfrm>
          <a:prstGeom prst="roundRect">
            <a:avLst>
              <a:gd name="adj" fmla="val 9375"/>
            </a:avLst>
          </a:prstGeom>
          <a:solidFill>
            <a:srgbClr val="0A7F44"/>
          </a:solidFill>
          <a:ln w="12700">
            <a:solidFill>
              <a:srgbClr val="0A7F44"/>
            </a:solidFill>
            <a:prstDash val="solid"/>
          </a:ln>
        </p:spPr>
      </p:sp>
      <p:sp>
        <p:nvSpPr>
          <p:cNvPr id="7" name="Text 5"/>
          <p:cNvSpPr txBox="1"/>
          <p:nvPr/>
        </p:nvSpPr>
        <p:spPr>
          <a:xfrm>
            <a:off x="1828800" y="1993392"/>
            <a:ext cx="4892040" cy="585216"/>
          </a:xfrm>
          <a:prstGeom prst="rect">
            <a:avLst/>
          </a:prstGeom>
          <a:noFill/>
          <a:ln/>
        </p:spPr>
        <p:txBody>
          <a:bodyPr wrap="square" lIns="0" tIns="0" rIns="0" bIns="0" rtlCol="0" anchor="ctr"/>
          <a:lstStyle/>
          <a:p>
            <a:pPr algn="ctr" indent="0" marL="0">
              <a:buNone/>
            </a:pPr>
            <a:r>
              <a:rPr lang="en-US" sz="1050" b="1" dirty="0">
                <a:solidFill>
                  <a:srgbClr val="FFFFFF"/>
                </a:solidFill>
              </a:rPr>
              <a:t>Muse Glimmer 30B: every agent's reasoning</a:t>
            </a:r>
            <a:endParaRPr lang="en-US" sz="1050" dirty="0"/>
          </a:p>
        </p:txBody>
      </p:sp>
      <p:sp>
        <p:nvSpPr>
          <p:cNvPr id="8" name="Text 6"/>
          <p:cNvSpPr txBox="1"/>
          <p:nvPr/>
        </p:nvSpPr>
        <p:spPr>
          <a:xfrm>
            <a:off x="731520" y="278892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CPU</a:t>
            </a:r>
            <a:endParaRPr lang="en-US" sz="1100" dirty="0"/>
          </a:p>
        </p:txBody>
      </p:sp>
      <p:sp>
        <p:nvSpPr>
          <p:cNvPr id="9" name="Shape 7"/>
          <p:cNvSpPr/>
          <p:nvPr/>
        </p:nvSpPr>
        <p:spPr>
          <a:xfrm>
            <a:off x="1783080" y="2862072"/>
            <a:ext cx="754380" cy="585216"/>
          </a:xfrm>
          <a:prstGeom prst="roundRect">
            <a:avLst>
              <a:gd name="adj" fmla="val 9375"/>
            </a:avLst>
          </a:prstGeom>
          <a:solidFill>
            <a:srgbClr val="E9F3EC"/>
          </a:solidFill>
          <a:ln w="12700">
            <a:solidFill>
              <a:srgbClr val="E9F3EC"/>
            </a:solidFill>
            <a:prstDash val="solid"/>
          </a:ln>
        </p:spPr>
      </p:sp>
      <p:sp>
        <p:nvSpPr>
          <p:cNvPr id="10" name="Text 8"/>
          <p:cNvSpPr txBox="1"/>
          <p:nvPr/>
        </p:nvSpPr>
        <p:spPr>
          <a:xfrm>
            <a:off x="182880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Our 1B</a:t>
            </a:r>
            <a:endParaRPr lang="en-US" sz="1050" dirty="0"/>
          </a:p>
        </p:txBody>
      </p:sp>
      <p:sp>
        <p:nvSpPr>
          <p:cNvPr id="11" name="Shape 9"/>
          <p:cNvSpPr/>
          <p:nvPr/>
        </p:nvSpPr>
        <p:spPr>
          <a:xfrm>
            <a:off x="2628900" y="2862072"/>
            <a:ext cx="754380" cy="585216"/>
          </a:xfrm>
          <a:prstGeom prst="roundRect">
            <a:avLst>
              <a:gd name="adj" fmla="val 9375"/>
            </a:avLst>
          </a:prstGeom>
          <a:solidFill>
            <a:srgbClr val="E9F3EC"/>
          </a:solidFill>
          <a:ln w="12700">
            <a:solidFill>
              <a:srgbClr val="E9F3EC"/>
            </a:solidFill>
            <a:prstDash val="solid"/>
          </a:ln>
        </p:spPr>
      </p:sp>
      <p:sp>
        <p:nvSpPr>
          <p:cNvPr id="12" name="Text 10"/>
          <p:cNvSpPr txBox="1"/>
          <p:nvPr/>
        </p:nvSpPr>
        <p:spPr>
          <a:xfrm>
            <a:off x="267462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Tiny layer</a:t>
            </a:r>
            <a:endParaRPr lang="en-US" sz="1050" dirty="0"/>
          </a:p>
        </p:txBody>
      </p:sp>
      <p:sp>
        <p:nvSpPr>
          <p:cNvPr id="13" name="Shape 11"/>
          <p:cNvSpPr/>
          <p:nvPr/>
        </p:nvSpPr>
        <p:spPr>
          <a:xfrm>
            <a:off x="3474720" y="2862072"/>
            <a:ext cx="754380" cy="585216"/>
          </a:xfrm>
          <a:prstGeom prst="roundRect">
            <a:avLst>
              <a:gd name="adj" fmla="val 9375"/>
            </a:avLst>
          </a:prstGeom>
          <a:solidFill>
            <a:srgbClr val="E9F3EC"/>
          </a:solidFill>
          <a:ln w="12700">
            <a:solidFill>
              <a:srgbClr val="E9F3EC"/>
            </a:solidFill>
            <a:prstDash val="solid"/>
          </a:ln>
        </p:spPr>
      </p:sp>
      <p:sp>
        <p:nvSpPr>
          <p:cNvPr id="14" name="Text 12"/>
          <p:cNvSpPr txBox="1"/>
          <p:nvPr/>
        </p:nvSpPr>
        <p:spPr>
          <a:xfrm>
            <a:off x="352044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Llama Guard 3</a:t>
            </a:r>
            <a:endParaRPr lang="en-US" sz="1050" dirty="0"/>
          </a:p>
        </p:txBody>
      </p:sp>
      <p:sp>
        <p:nvSpPr>
          <p:cNvPr id="15" name="Shape 13"/>
          <p:cNvSpPr/>
          <p:nvPr/>
        </p:nvSpPr>
        <p:spPr>
          <a:xfrm>
            <a:off x="4320540" y="2862072"/>
            <a:ext cx="754380" cy="585216"/>
          </a:xfrm>
          <a:prstGeom prst="roundRect">
            <a:avLst>
              <a:gd name="adj" fmla="val 9375"/>
            </a:avLst>
          </a:prstGeom>
          <a:solidFill>
            <a:srgbClr val="E9F3EC"/>
          </a:solidFill>
          <a:ln w="12700">
            <a:solidFill>
              <a:srgbClr val="E9F3EC"/>
            </a:solidFill>
            <a:prstDash val="solid"/>
          </a:ln>
        </p:spPr>
      </p:sp>
      <p:sp>
        <p:nvSpPr>
          <p:cNvPr id="16" name="Text 14"/>
          <p:cNvSpPr txBox="1"/>
          <p:nvPr/>
        </p:nvSpPr>
        <p:spPr>
          <a:xfrm>
            <a:off x="436626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Prompt Guard 2</a:t>
            </a:r>
            <a:endParaRPr lang="en-US" sz="1050" dirty="0"/>
          </a:p>
        </p:txBody>
      </p:sp>
      <p:sp>
        <p:nvSpPr>
          <p:cNvPr id="17" name="Shape 15"/>
          <p:cNvSpPr/>
          <p:nvPr/>
        </p:nvSpPr>
        <p:spPr>
          <a:xfrm>
            <a:off x="5166360" y="2862072"/>
            <a:ext cx="754380" cy="585216"/>
          </a:xfrm>
          <a:prstGeom prst="roundRect">
            <a:avLst>
              <a:gd name="adj" fmla="val 9375"/>
            </a:avLst>
          </a:prstGeom>
          <a:solidFill>
            <a:srgbClr val="E9F3EC"/>
          </a:solidFill>
          <a:ln w="12700">
            <a:solidFill>
              <a:srgbClr val="E9F3EC"/>
            </a:solidFill>
            <a:prstDash val="solid"/>
          </a:ln>
        </p:spPr>
      </p:sp>
      <p:sp>
        <p:nvSpPr>
          <p:cNvPr id="18" name="Text 16"/>
          <p:cNvSpPr txBox="1"/>
          <p:nvPr/>
        </p:nvSpPr>
        <p:spPr>
          <a:xfrm>
            <a:off x="521208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DRAMA</a:t>
            </a:r>
            <a:endParaRPr lang="en-US" sz="1050" dirty="0"/>
          </a:p>
        </p:txBody>
      </p:sp>
      <p:sp>
        <p:nvSpPr>
          <p:cNvPr id="19" name="Shape 17"/>
          <p:cNvSpPr/>
          <p:nvPr/>
        </p:nvSpPr>
        <p:spPr>
          <a:xfrm>
            <a:off x="6012180" y="2862072"/>
            <a:ext cx="754380" cy="585216"/>
          </a:xfrm>
          <a:prstGeom prst="roundRect">
            <a:avLst>
              <a:gd name="adj" fmla="val 9375"/>
            </a:avLst>
          </a:prstGeom>
          <a:solidFill>
            <a:srgbClr val="E9F3EC"/>
          </a:solidFill>
          <a:ln w="12700">
            <a:solidFill>
              <a:srgbClr val="E9F3EC"/>
            </a:solidFill>
            <a:prstDash val="solid"/>
          </a:ln>
        </p:spPr>
      </p:sp>
      <p:sp>
        <p:nvSpPr>
          <p:cNvPr id="20" name="Text 18"/>
          <p:cNvSpPr txBox="1"/>
          <p:nvPr/>
        </p:nvSpPr>
        <p:spPr>
          <a:xfrm>
            <a:off x="605790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Speech (ASR)</a:t>
            </a:r>
            <a:endParaRPr lang="en-US" sz="1050" dirty="0"/>
          </a:p>
        </p:txBody>
      </p:sp>
      <p:sp>
        <p:nvSpPr>
          <p:cNvPr id="21" name="Text 19"/>
          <p:cNvSpPr txBox="1"/>
          <p:nvPr/>
        </p:nvSpPr>
        <p:spPr>
          <a:xfrm>
            <a:off x="731520" y="365760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GPU 0</a:t>
            </a:r>
            <a:endParaRPr lang="en-US" sz="1100" dirty="0"/>
          </a:p>
        </p:txBody>
      </p:sp>
      <p:sp>
        <p:nvSpPr>
          <p:cNvPr id="22" name="Shape 20"/>
          <p:cNvSpPr/>
          <p:nvPr/>
        </p:nvSpPr>
        <p:spPr>
          <a:xfrm>
            <a:off x="1783080" y="3730752"/>
            <a:ext cx="1177290" cy="585216"/>
          </a:xfrm>
          <a:prstGeom prst="roundRect">
            <a:avLst>
              <a:gd name="adj" fmla="val 9375"/>
            </a:avLst>
          </a:prstGeom>
          <a:solidFill>
            <a:srgbClr val="E9F3EC"/>
          </a:solidFill>
          <a:ln w="12700">
            <a:solidFill>
              <a:srgbClr val="E9F3EC"/>
            </a:solidFill>
            <a:prstDash val="solid"/>
          </a:ln>
        </p:spPr>
      </p:sp>
      <p:sp>
        <p:nvSpPr>
          <p:cNvPr id="23" name="Text 21"/>
          <p:cNvSpPr txBox="1"/>
          <p:nvPr/>
        </p:nvSpPr>
        <p:spPr>
          <a:xfrm>
            <a:off x="182880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SAM 2.1</a:t>
            </a:r>
            <a:endParaRPr lang="en-US" sz="1050" dirty="0"/>
          </a:p>
        </p:txBody>
      </p:sp>
      <p:sp>
        <p:nvSpPr>
          <p:cNvPr id="24" name="Shape 22"/>
          <p:cNvSpPr/>
          <p:nvPr/>
        </p:nvSpPr>
        <p:spPr>
          <a:xfrm>
            <a:off x="3051810" y="3730752"/>
            <a:ext cx="1177290" cy="585216"/>
          </a:xfrm>
          <a:prstGeom prst="roundRect">
            <a:avLst>
              <a:gd name="adj" fmla="val 9375"/>
            </a:avLst>
          </a:prstGeom>
          <a:solidFill>
            <a:srgbClr val="E9F3EC"/>
          </a:solidFill>
          <a:ln w="12700">
            <a:solidFill>
              <a:srgbClr val="E9F3EC"/>
            </a:solidFill>
            <a:prstDash val="solid"/>
          </a:ln>
        </p:spPr>
      </p:sp>
      <p:sp>
        <p:nvSpPr>
          <p:cNvPr id="25" name="Text 23"/>
          <p:cNvSpPr txBox="1"/>
          <p:nvPr/>
        </p:nvSpPr>
        <p:spPr>
          <a:xfrm>
            <a:off x="309753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Sapiens2</a:t>
            </a:r>
            <a:endParaRPr lang="en-US" sz="1050" dirty="0"/>
          </a:p>
        </p:txBody>
      </p:sp>
      <p:sp>
        <p:nvSpPr>
          <p:cNvPr id="26" name="Shape 24"/>
          <p:cNvSpPr/>
          <p:nvPr/>
        </p:nvSpPr>
        <p:spPr>
          <a:xfrm>
            <a:off x="4320540" y="3730752"/>
            <a:ext cx="1177290" cy="585216"/>
          </a:xfrm>
          <a:prstGeom prst="roundRect">
            <a:avLst>
              <a:gd name="adj" fmla="val 9375"/>
            </a:avLst>
          </a:prstGeom>
          <a:solidFill>
            <a:srgbClr val="E9F3EC"/>
          </a:solidFill>
          <a:ln w="12700">
            <a:solidFill>
              <a:srgbClr val="E9F3EC"/>
            </a:solidFill>
            <a:prstDash val="solid"/>
          </a:ln>
        </p:spPr>
      </p:sp>
      <p:sp>
        <p:nvSpPr>
          <p:cNvPr id="27" name="Text 25"/>
          <p:cNvSpPr txBox="1"/>
          <p:nvPr/>
        </p:nvSpPr>
        <p:spPr>
          <a:xfrm>
            <a:off x="436626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MapAnything</a:t>
            </a:r>
            <a:endParaRPr lang="en-US" sz="1050" dirty="0"/>
          </a:p>
        </p:txBody>
      </p:sp>
      <p:sp>
        <p:nvSpPr>
          <p:cNvPr id="28" name="Shape 26"/>
          <p:cNvSpPr/>
          <p:nvPr/>
        </p:nvSpPr>
        <p:spPr>
          <a:xfrm>
            <a:off x="5589270" y="3730752"/>
            <a:ext cx="1177290" cy="585216"/>
          </a:xfrm>
          <a:prstGeom prst="roundRect">
            <a:avLst>
              <a:gd name="adj" fmla="val 9375"/>
            </a:avLst>
          </a:prstGeom>
          <a:solidFill>
            <a:srgbClr val="E9F3EC"/>
          </a:solidFill>
          <a:ln w="12700">
            <a:solidFill>
              <a:srgbClr val="E9F3EC"/>
            </a:solidFill>
            <a:prstDash val="solid"/>
          </a:ln>
        </p:spPr>
      </p:sp>
      <p:sp>
        <p:nvSpPr>
          <p:cNvPr id="29" name="Text 27"/>
          <p:cNvSpPr txBox="1"/>
          <p:nvPr/>
        </p:nvSpPr>
        <p:spPr>
          <a:xfrm>
            <a:off x="563499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DETR / RT-DETR</a:t>
            </a:r>
            <a:endParaRPr lang="en-US" sz="1050" dirty="0"/>
          </a:p>
        </p:txBody>
      </p:sp>
      <p:sp>
        <p:nvSpPr>
          <p:cNvPr id="30" name="Shape 28"/>
          <p:cNvSpPr/>
          <p:nvPr/>
        </p:nvSpPr>
        <p:spPr>
          <a:xfrm>
            <a:off x="7223760" y="1234440"/>
            <a:ext cx="4419295" cy="3337560"/>
          </a:xfrm>
          <a:prstGeom prst="roundRect">
            <a:avLst>
              <a:gd name="adj" fmla="val 2192"/>
            </a:avLst>
          </a:prstGeom>
          <a:solidFill>
            <a:srgbClr val="F3F6F4"/>
          </a:solidFill>
          <a:ln w="12700">
            <a:solidFill>
              <a:srgbClr val="F3F6F4"/>
            </a:solidFill>
            <a:prstDash val="solid"/>
          </a:ln>
        </p:spPr>
      </p:sp>
      <p:sp>
        <p:nvSpPr>
          <p:cNvPr id="31" name="Text 29"/>
          <p:cNvSpPr txBox="1"/>
          <p:nvPr/>
        </p:nvSpPr>
        <p:spPr>
          <a:xfrm>
            <a:off x="7406640" y="1298448"/>
            <a:ext cx="4053535" cy="548640"/>
          </a:xfrm>
          <a:prstGeom prst="rect">
            <a:avLst/>
          </a:prstGeom>
          <a:noFill/>
          <a:ln/>
        </p:spPr>
        <p:txBody>
          <a:bodyPr wrap="square" lIns="0" tIns="0" rIns="0" bIns="0" rtlCol="0" anchor="ctr"/>
          <a:lstStyle/>
          <a:p>
            <a:pPr indent="0" marL="0">
              <a:buNone/>
            </a:pPr>
            <a:r>
              <a:rPr lang="en-US" sz="1500" b="1" dirty="0">
                <a:solidFill>
                  <a:srgbClr val="0A0A0B"/>
                </a:solidFill>
              </a:rPr>
              <a:t>Meta Model API</a:t>
            </a:r>
            <a:endParaRPr lang="en-US" sz="1500" dirty="0"/>
          </a:p>
          <a:p>
            <a:pPr indent="0" marL="0">
              <a:buNone/>
            </a:pPr>
            <a:r>
              <a:rPr lang="en-US" sz="1100" dirty="0">
                <a:solidFill>
                  <a:srgbClr val="55555C"/>
                </a:solidFill>
              </a:rPr>
              <a:t>only what needs it</a:t>
            </a:r>
            <a:endParaRPr lang="en-US" sz="1500" dirty="0"/>
          </a:p>
        </p:txBody>
      </p:sp>
      <p:sp>
        <p:nvSpPr>
          <p:cNvPr id="32" name="Text 30"/>
          <p:cNvSpPr txBox="1"/>
          <p:nvPr/>
        </p:nvSpPr>
        <p:spPr>
          <a:xfrm>
            <a:off x="7406640" y="192024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Text</a:t>
            </a:r>
            <a:endParaRPr lang="en-US" sz="1100" dirty="0"/>
          </a:p>
        </p:txBody>
      </p:sp>
      <p:sp>
        <p:nvSpPr>
          <p:cNvPr id="33" name="Shape 31"/>
          <p:cNvSpPr/>
          <p:nvPr/>
        </p:nvSpPr>
        <p:spPr>
          <a:xfrm>
            <a:off x="8458200" y="1993392"/>
            <a:ext cx="3001975" cy="585216"/>
          </a:xfrm>
          <a:prstGeom prst="roundRect">
            <a:avLst>
              <a:gd name="adj" fmla="val 9375"/>
            </a:avLst>
          </a:prstGeom>
          <a:solidFill>
            <a:srgbClr val="DCE6F5"/>
          </a:solidFill>
          <a:ln w="12700">
            <a:solidFill>
              <a:srgbClr val="DCE6F5"/>
            </a:solidFill>
            <a:prstDash val="solid"/>
          </a:ln>
        </p:spPr>
      </p:sp>
      <p:sp>
        <p:nvSpPr>
          <p:cNvPr id="34" name="Text 32"/>
          <p:cNvSpPr txBox="1"/>
          <p:nvPr/>
        </p:nvSpPr>
        <p:spPr>
          <a:xfrm>
            <a:off x="8503920" y="1993392"/>
            <a:ext cx="2910535" cy="585216"/>
          </a:xfrm>
          <a:prstGeom prst="rect">
            <a:avLst/>
          </a:prstGeom>
          <a:noFill/>
          <a:ln/>
        </p:spPr>
        <p:txBody>
          <a:bodyPr wrap="square" lIns="0" tIns="0" rIns="0" bIns="0" rtlCol="0" anchor="ctr"/>
          <a:lstStyle/>
          <a:p>
            <a:pPr algn="ctr" indent="0" marL="0">
              <a:buNone/>
            </a:pPr>
            <a:r>
              <a:rPr lang="en-US" sz="1050" b="1" dirty="0">
                <a:solidFill>
                  <a:srgbClr val="0A0A0B"/>
                </a:solidFill>
              </a:rPr>
              <a:t>Muse Spark 1.3: long calls, fallback</a:t>
            </a:r>
            <a:endParaRPr lang="en-US" sz="1050" dirty="0"/>
          </a:p>
        </p:txBody>
      </p:sp>
      <p:sp>
        <p:nvSpPr>
          <p:cNvPr id="35" name="Text 33"/>
          <p:cNvSpPr txBox="1"/>
          <p:nvPr/>
        </p:nvSpPr>
        <p:spPr>
          <a:xfrm>
            <a:off x="7406640" y="278892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Voice</a:t>
            </a:r>
            <a:endParaRPr lang="en-US" sz="1100" dirty="0"/>
          </a:p>
        </p:txBody>
      </p:sp>
      <p:sp>
        <p:nvSpPr>
          <p:cNvPr id="36" name="Shape 34"/>
          <p:cNvSpPr/>
          <p:nvPr/>
        </p:nvSpPr>
        <p:spPr>
          <a:xfrm>
            <a:off x="8458200" y="2862072"/>
            <a:ext cx="3001975" cy="585216"/>
          </a:xfrm>
          <a:prstGeom prst="roundRect">
            <a:avLst>
              <a:gd name="adj" fmla="val 9375"/>
            </a:avLst>
          </a:prstGeom>
          <a:solidFill>
            <a:srgbClr val="DCE6F5"/>
          </a:solidFill>
          <a:ln w="12700">
            <a:solidFill>
              <a:srgbClr val="DCE6F5"/>
            </a:solidFill>
            <a:prstDash val="solid"/>
          </a:ln>
        </p:spPr>
      </p:sp>
      <p:sp>
        <p:nvSpPr>
          <p:cNvPr id="37" name="Text 35"/>
          <p:cNvSpPr txBox="1"/>
          <p:nvPr/>
        </p:nvSpPr>
        <p:spPr>
          <a:xfrm>
            <a:off x="8503920" y="2862072"/>
            <a:ext cx="2910535" cy="585216"/>
          </a:xfrm>
          <a:prstGeom prst="rect">
            <a:avLst/>
          </a:prstGeom>
          <a:noFill/>
          <a:ln/>
        </p:spPr>
        <p:txBody>
          <a:bodyPr wrap="square" lIns="0" tIns="0" rIns="0" bIns="0" rtlCol="0" anchor="ctr"/>
          <a:lstStyle/>
          <a:p>
            <a:pPr algn="ctr" indent="0" marL="0">
              <a:buNone/>
            </a:pPr>
            <a:r>
              <a:rPr lang="en-US" sz="1050" b="1" dirty="0">
                <a:solidFill>
                  <a:srgbClr val="0A0A0B"/>
                </a:solidFill>
              </a:rPr>
              <a:t>Muse Voice Transcribe</a:t>
            </a:r>
            <a:endParaRPr lang="en-US" sz="1050" dirty="0"/>
          </a:p>
        </p:txBody>
      </p:sp>
      <p:sp>
        <p:nvSpPr>
          <p:cNvPr id="38" name="Text 36"/>
          <p:cNvSpPr txBox="1"/>
          <p:nvPr/>
        </p:nvSpPr>
        <p:spPr>
          <a:xfrm>
            <a:off x="7406640" y="365760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Vision</a:t>
            </a:r>
            <a:endParaRPr lang="en-US" sz="1100" dirty="0"/>
          </a:p>
        </p:txBody>
      </p:sp>
      <p:sp>
        <p:nvSpPr>
          <p:cNvPr id="39" name="Shape 37"/>
          <p:cNvSpPr/>
          <p:nvPr/>
        </p:nvSpPr>
        <p:spPr>
          <a:xfrm>
            <a:off x="8458200" y="3730752"/>
            <a:ext cx="939698" cy="585216"/>
          </a:xfrm>
          <a:prstGeom prst="roundRect">
            <a:avLst>
              <a:gd name="adj" fmla="val 9375"/>
            </a:avLst>
          </a:prstGeom>
          <a:solidFill>
            <a:srgbClr val="DCE6F5"/>
          </a:solidFill>
          <a:ln w="12700">
            <a:solidFill>
              <a:srgbClr val="DCE6F5"/>
            </a:solidFill>
            <a:prstDash val="solid"/>
          </a:ln>
        </p:spPr>
      </p:sp>
      <p:sp>
        <p:nvSpPr>
          <p:cNvPr id="40" name="Text 38"/>
          <p:cNvSpPr txBox="1"/>
          <p:nvPr/>
        </p:nvSpPr>
        <p:spPr>
          <a:xfrm>
            <a:off x="8503920"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Muse Image</a:t>
            </a:r>
            <a:endParaRPr lang="en-US" sz="1050" dirty="0"/>
          </a:p>
        </p:txBody>
      </p:sp>
      <p:sp>
        <p:nvSpPr>
          <p:cNvPr id="41" name="Shape 39"/>
          <p:cNvSpPr/>
          <p:nvPr/>
        </p:nvSpPr>
        <p:spPr>
          <a:xfrm>
            <a:off x="9489338" y="3730752"/>
            <a:ext cx="939698" cy="585216"/>
          </a:xfrm>
          <a:prstGeom prst="roundRect">
            <a:avLst>
              <a:gd name="adj" fmla="val 9375"/>
            </a:avLst>
          </a:prstGeom>
          <a:solidFill>
            <a:srgbClr val="DCE6F5"/>
          </a:solidFill>
          <a:ln w="12700">
            <a:solidFill>
              <a:srgbClr val="DCE6F5"/>
            </a:solidFill>
            <a:prstDash val="solid"/>
          </a:ln>
        </p:spPr>
      </p:sp>
      <p:sp>
        <p:nvSpPr>
          <p:cNvPr id="42" name="Text 40"/>
          <p:cNvSpPr txBox="1"/>
          <p:nvPr/>
        </p:nvSpPr>
        <p:spPr>
          <a:xfrm>
            <a:off x="9535058"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Muse Wonder</a:t>
            </a:r>
            <a:endParaRPr lang="en-US" sz="1050" dirty="0"/>
          </a:p>
        </p:txBody>
      </p:sp>
      <p:sp>
        <p:nvSpPr>
          <p:cNvPr id="43" name="Shape 41"/>
          <p:cNvSpPr/>
          <p:nvPr/>
        </p:nvSpPr>
        <p:spPr>
          <a:xfrm>
            <a:off x="10520477" y="3730752"/>
            <a:ext cx="939698" cy="585216"/>
          </a:xfrm>
          <a:prstGeom prst="roundRect">
            <a:avLst>
              <a:gd name="adj" fmla="val 9375"/>
            </a:avLst>
          </a:prstGeom>
          <a:solidFill>
            <a:srgbClr val="DCE6F5"/>
          </a:solidFill>
          <a:ln w="12700">
            <a:solidFill>
              <a:srgbClr val="DCE6F5"/>
            </a:solidFill>
            <a:prstDash val="solid"/>
          </a:ln>
        </p:spPr>
      </p:sp>
      <p:sp>
        <p:nvSpPr>
          <p:cNvPr id="44" name="Text 42"/>
          <p:cNvSpPr txBox="1"/>
          <p:nvPr/>
        </p:nvSpPr>
        <p:spPr>
          <a:xfrm>
            <a:off x="10566197"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SAM 3.1</a:t>
            </a:r>
            <a:endParaRPr lang="en-US" sz="1050" dirty="0"/>
          </a:p>
        </p:txBody>
      </p:sp>
      <p:sp>
        <p:nvSpPr>
          <p:cNvPr id="45" name="Text 43"/>
          <p:cNvSpPr txBox="1"/>
          <p:nvPr/>
        </p:nvSpPr>
        <p:spPr>
          <a:xfrm>
            <a:off x="548640" y="4754880"/>
            <a:ext cx="7315200" cy="320040"/>
          </a:xfrm>
          <a:prstGeom prst="rect">
            <a:avLst/>
          </a:prstGeom>
          <a:noFill/>
          <a:ln/>
        </p:spPr>
        <p:txBody>
          <a:bodyPr wrap="square" lIns="0" tIns="0" rIns="0" bIns="0" rtlCol="0" anchor="ctr"/>
          <a:lstStyle/>
          <a:p>
            <a:pPr indent="0" marL="0">
              <a:buNone/>
            </a:pPr>
            <a:r>
              <a:rPr lang="en-US" sz="1300" b="1" dirty="0">
                <a:solidFill>
                  <a:srgbClr val="0A0A0B"/>
                </a:solidFill>
              </a:rPr>
              <a:t>Which model answers a text call, by its length in tokens</a:t>
            </a:r>
            <a:endParaRPr lang="en-US" sz="1300" dirty="0"/>
          </a:p>
        </p:txBody>
      </p:sp>
      <p:sp>
        <p:nvSpPr>
          <p:cNvPr id="46" name="Shape 44"/>
          <p:cNvSpPr/>
          <p:nvPr/>
        </p:nvSpPr>
        <p:spPr>
          <a:xfrm>
            <a:off x="548640" y="5166360"/>
            <a:ext cx="1463040" cy="502920"/>
          </a:xfrm>
          <a:prstGeom prst="rect">
            <a:avLst/>
          </a:prstGeom>
          <a:solidFill>
            <a:srgbClr val="0A7F44"/>
          </a:solidFill>
          <a:ln w="12700">
            <a:solidFill>
              <a:srgbClr val="FFFFFF"/>
            </a:solidFill>
            <a:prstDash val="solid"/>
          </a:ln>
        </p:spPr>
      </p:sp>
      <p:sp>
        <p:nvSpPr>
          <p:cNvPr id="47" name="Text 45"/>
          <p:cNvSpPr txBox="1"/>
          <p:nvPr/>
        </p:nvSpPr>
        <p:spPr>
          <a:xfrm>
            <a:off x="640080" y="5166360"/>
            <a:ext cx="1280160" cy="502920"/>
          </a:xfrm>
          <a:prstGeom prst="rect">
            <a:avLst/>
          </a:prstGeom>
          <a:noFill/>
          <a:ln/>
        </p:spPr>
        <p:txBody>
          <a:bodyPr wrap="square" lIns="0" tIns="0" rIns="0" bIns="0" rtlCol="0" anchor="ctr"/>
          <a:lstStyle/>
          <a:p>
            <a:pPr indent="0" marL="0">
              <a:buNone/>
            </a:pPr>
            <a:r>
              <a:rPr lang="en-US" sz="1100" b="1" dirty="0">
                <a:solidFill>
                  <a:srgbClr val="FFFFFF"/>
                </a:solidFill>
              </a:rPr>
              <a:t>≤ 700, checked site: our 1B</a:t>
            </a:r>
            <a:endParaRPr lang="en-US" sz="1100" dirty="0"/>
          </a:p>
        </p:txBody>
      </p:sp>
      <p:sp>
        <p:nvSpPr>
          <p:cNvPr id="48" name="Shape 46"/>
          <p:cNvSpPr/>
          <p:nvPr/>
        </p:nvSpPr>
        <p:spPr>
          <a:xfrm>
            <a:off x="2011680" y="5166360"/>
            <a:ext cx="6949440" cy="502920"/>
          </a:xfrm>
          <a:prstGeom prst="rect">
            <a:avLst/>
          </a:prstGeom>
          <a:solidFill>
            <a:srgbClr val="E9F3EC"/>
          </a:solidFill>
          <a:ln w="12700">
            <a:solidFill>
              <a:srgbClr val="FFFFFF"/>
            </a:solidFill>
            <a:prstDash val="solid"/>
          </a:ln>
        </p:spPr>
      </p:sp>
      <p:sp>
        <p:nvSpPr>
          <p:cNvPr id="49" name="Text 47"/>
          <p:cNvSpPr txBox="1"/>
          <p:nvPr/>
        </p:nvSpPr>
        <p:spPr>
          <a:xfrm>
            <a:off x="2103120" y="5166360"/>
            <a:ext cx="6766560" cy="502920"/>
          </a:xfrm>
          <a:prstGeom prst="rect">
            <a:avLst/>
          </a:prstGeom>
          <a:noFill/>
          <a:ln/>
        </p:spPr>
        <p:txBody>
          <a:bodyPr wrap="square" lIns="0" tIns="0" rIns="0" bIns="0" rtlCol="0" anchor="ctr"/>
          <a:lstStyle/>
          <a:p>
            <a:pPr indent="0" marL="0">
              <a:buNone/>
            </a:pPr>
            <a:r>
              <a:rPr lang="en-US" sz="1100" b="1" dirty="0">
                <a:solidFill>
                  <a:srgbClr val="0A0A0B"/>
                </a:solidFill>
              </a:rPr>
              <a:t>longer, or any other site: Muse Glimmer (16,384-token context)</a:t>
            </a:r>
            <a:endParaRPr lang="en-US" sz="1100" dirty="0"/>
          </a:p>
        </p:txBody>
      </p:sp>
      <p:sp>
        <p:nvSpPr>
          <p:cNvPr id="50" name="Shape 48"/>
          <p:cNvSpPr/>
          <p:nvPr/>
        </p:nvSpPr>
        <p:spPr>
          <a:xfrm>
            <a:off x="8961120" y="5166360"/>
            <a:ext cx="2681935" cy="502920"/>
          </a:xfrm>
          <a:prstGeom prst="rect">
            <a:avLst/>
          </a:prstGeom>
          <a:solidFill>
            <a:srgbClr val="DCE6F5"/>
          </a:solidFill>
          <a:ln w="12700">
            <a:solidFill>
              <a:srgbClr val="FFFFFF"/>
            </a:solidFill>
            <a:prstDash val="solid"/>
          </a:ln>
        </p:spPr>
      </p:sp>
      <p:sp>
        <p:nvSpPr>
          <p:cNvPr id="51" name="Text 49"/>
          <p:cNvSpPr txBox="1"/>
          <p:nvPr/>
        </p:nvSpPr>
        <p:spPr>
          <a:xfrm>
            <a:off x="9052560" y="5166360"/>
            <a:ext cx="2499055" cy="502920"/>
          </a:xfrm>
          <a:prstGeom prst="rect">
            <a:avLst/>
          </a:prstGeom>
          <a:noFill/>
          <a:ln/>
        </p:spPr>
        <p:txBody>
          <a:bodyPr wrap="square" lIns="0" tIns="0" rIns="0" bIns="0" rtlCol="0" anchor="ctr"/>
          <a:lstStyle/>
          <a:p>
            <a:pPr indent="0" marL="0">
              <a:buNone/>
            </a:pPr>
            <a:r>
              <a:rPr lang="en-US" sz="1100" b="1" dirty="0">
                <a:solidFill>
                  <a:srgbClr val="0A0A0B"/>
                </a:solidFill>
              </a:rPr>
              <a:t>12,000+: Muse Spark</a:t>
            </a:r>
            <a:endParaRPr lang="en-US" sz="1100" dirty="0"/>
          </a:p>
        </p:txBody>
      </p:sp>
      <p:sp>
        <p:nvSpPr>
          <p:cNvPr id="52" name="Text 50"/>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150" dirty="0">
                <a:solidFill>
                  <a:srgbClr val="55555C"/>
                </a:solidFill>
              </a:rPr>
              <a:t>Every short site was tried on the 1B first: 9 end-to-end checks failed, 2 of 6 hostile comments got through and 4 of 10 injected reviews were obeyed, so only five checked sites go to it.</a:t>
            </a:r>
            <a:endParaRPr lang="en-US" sz="11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Measured since the report: seven more agent upgrades</a:t>
            </a:r>
            <a:endParaRPr lang="en-US" sz="2800" dirty="0"/>
          </a:p>
        </p:txBody>
      </p:sp>
      <p:sp>
        <p:nvSpPr>
          <p:cNvPr id="3" name="Shape 1"/>
          <p:cNvSpPr/>
          <p:nvPr/>
        </p:nvSpPr>
        <p:spPr>
          <a:xfrm>
            <a:off x="548640" y="1325880"/>
            <a:ext cx="5440680" cy="1024128"/>
          </a:xfrm>
          <a:prstGeom prst="roundRect">
            <a:avLst>
              <a:gd name="adj" fmla="val 7143"/>
            </a:avLst>
          </a:prstGeom>
          <a:solidFill>
            <a:srgbClr val="F3F6F4"/>
          </a:solidFill>
          <a:ln w="12700">
            <a:solidFill>
              <a:srgbClr val="F3F6F4"/>
            </a:solidFill>
            <a:prstDash val="solid"/>
          </a:ln>
        </p:spPr>
      </p:sp>
      <p:sp>
        <p:nvSpPr>
          <p:cNvPr id="4" name="Text 2"/>
          <p:cNvSpPr txBox="1"/>
          <p:nvPr/>
        </p:nvSpPr>
        <p:spPr>
          <a:xfrm>
            <a:off x="777240" y="139903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Send gate</a:t>
            </a:r>
            <a:endParaRPr lang="en-US" sz="1500" dirty="0"/>
          </a:p>
          <a:p>
            <a:pPr indent="0" marL="0">
              <a:buNone/>
            </a:pPr>
            <a:r>
              <a:rPr lang="en-US" sz="1100" dirty="0">
                <a:solidFill>
                  <a:srgbClr val="0A0A0B"/>
                </a:solidFill>
              </a:rPr>
              <a:t>When not to ask: opt-outs 37.7% → 26.2%, games from asks 3.97 → 4.39 (simulated)</a:t>
            </a:r>
            <a:endParaRPr lang="en-US" sz="1500" dirty="0"/>
          </a:p>
        </p:txBody>
      </p:sp>
      <p:sp>
        <p:nvSpPr>
          <p:cNvPr id="5" name="Shape 3"/>
          <p:cNvSpPr/>
          <p:nvPr/>
        </p:nvSpPr>
        <p:spPr>
          <a:xfrm>
            <a:off x="4069080" y="1508760"/>
            <a:ext cx="777240" cy="237744"/>
          </a:xfrm>
          <a:prstGeom prst="rect">
            <a:avLst/>
          </a:prstGeom>
          <a:solidFill>
            <a:srgbClr val="8A8A92"/>
          </a:solidFill>
          <a:ln w="12700">
            <a:solidFill>
              <a:srgbClr val="8A8A92"/>
            </a:solidFill>
            <a:prstDash val="solid"/>
          </a:ln>
        </p:spPr>
      </p:sp>
      <p:sp>
        <p:nvSpPr>
          <p:cNvPr id="6" name="Text 4"/>
          <p:cNvSpPr txBox="1"/>
          <p:nvPr/>
        </p:nvSpPr>
        <p:spPr>
          <a:xfrm>
            <a:off x="4892040" y="1472184"/>
            <a:ext cx="1097280" cy="310896"/>
          </a:xfrm>
          <a:prstGeom prst="rect">
            <a:avLst/>
          </a:prstGeom>
          <a:noFill/>
          <a:ln/>
        </p:spPr>
        <p:txBody>
          <a:bodyPr wrap="square" lIns="0" tIns="0" rIns="0" bIns="0" rtlCol="0" anchor="ctr"/>
          <a:lstStyle/>
          <a:p>
            <a:pPr indent="0" marL="0">
              <a:buNone/>
            </a:pPr>
            <a:r>
              <a:rPr lang="en-US" sz="1000" dirty="0">
                <a:solidFill>
                  <a:srgbClr val="55555C"/>
                </a:solidFill>
              </a:rPr>
              <a:t>37.7% before</a:t>
            </a:r>
            <a:endParaRPr lang="en-US" sz="1000" dirty="0"/>
          </a:p>
        </p:txBody>
      </p:sp>
      <p:sp>
        <p:nvSpPr>
          <p:cNvPr id="7" name="Shape 5"/>
          <p:cNvSpPr/>
          <p:nvPr/>
        </p:nvSpPr>
        <p:spPr>
          <a:xfrm>
            <a:off x="4069080" y="1892808"/>
            <a:ext cx="540151" cy="237744"/>
          </a:xfrm>
          <a:prstGeom prst="rect">
            <a:avLst/>
          </a:prstGeom>
          <a:solidFill>
            <a:srgbClr val="0A7F44"/>
          </a:solidFill>
          <a:ln w="12700">
            <a:solidFill>
              <a:srgbClr val="0A7F44"/>
            </a:solidFill>
            <a:prstDash val="solid"/>
          </a:ln>
        </p:spPr>
      </p:sp>
      <p:sp>
        <p:nvSpPr>
          <p:cNvPr id="8" name="Text 6"/>
          <p:cNvSpPr txBox="1"/>
          <p:nvPr/>
        </p:nvSpPr>
        <p:spPr>
          <a:xfrm>
            <a:off x="4654951" y="1856232"/>
            <a:ext cx="1097280" cy="310896"/>
          </a:xfrm>
          <a:prstGeom prst="rect">
            <a:avLst/>
          </a:prstGeom>
          <a:noFill/>
          <a:ln/>
        </p:spPr>
        <p:txBody>
          <a:bodyPr wrap="square" lIns="0" tIns="0" rIns="0" bIns="0" rtlCol="0" anchor="ctr"/>
          <a:lstStyle/>
          <a:p>
            <a:pPr indent="0" marL="0">
              <a:buNone/>
            </a:pPr>
            <a:r>
              <a:rPr lang="en-US" sz="1000" dirty="0">
                <a:solidFill>
                  <a:srgbClr val="55555C"/>
                </a:solidFill>
              </a:rPr>
              <a:t>26.2% after</a:t>
            </a:r>
            <a:endParaRPr lang="en-US" sz="1000" dirty="0"/>
          </a:p>
        </p:txBody>
      </p:sp>
      <p:sp>
        <p:nvSpPr>
          <p:cNvPr id="9" name="Shape 7"/>
          <p:cNvSpPr/>
          <p:nvPr/>
        </p:nvSpPr>
        <p:spPr>
          <a:xfrm>
            <a:off x="548640" y="2514600"/>
            <a:ext cx="5440680" cy="1024128"/>
          </a:xfrm>
          <a:prstGeom prst="roundRect">
            <a:avLst>
              <a:gd name="adj" fmla="val 7143"/>
            </a:avLst>
          </a:prstGeom>
          <a:solidFill>
            <a:srgbClr val="F3F6F4"/>
          </a:solidFill>
          <a:ln w="12700">
            <a:solidFill>
              <a:srgbClr val="F3F6F4"/>
            </a:solidFill>
            <a:prstDash val="solid"/>
          </a:ln>
        </p:spPr>
      </p:sp>
      <p:sp>
        <p:nvSpPr>
          <p:cNvPr id="10" name="Text 8"/>
          <p:cNvSpPr txBox="1"/>
          <p:nvPr/>
        </p:nvSpPr>
        <p:spPr>
          <a:xfrm>
            <a:off x="777240" y="258775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Preference records</a:t>
            </a:r>
            <a:endParaRPr lang="en-US" sz="1500" dirty="0"/>
          </a:p>
          <a:p>
            <a:pPr indent="0" marL="0">
              <a:buNone/>
            </a:pPr>
            <a:r>
              <a:rPr lang="en-US" sz="1100" dirty="0">
                <a:solidFill>
                  <a:srgbClr val="0A0A0B"/>
                </a:solidFill>
              </a:rPr>
              <a:t>Newest word wins: stale-preference decisions 95% → 17% once the player says it (simulated)</a:t>
            </a:r>
            <a:endParaRPr lang="en-US" sz="1500" dirty="0"/>
          </a:p>
        </p:txBody>
      </p:sp>
      <p:sp>
        <p:nvSpPr>
          <p:cNvPr id="11" name="Shape 9"/>
          <p:cNvSpPr/>
          <p:nvPr/>
        </p:nvSpPr>
        <p:spPr>
          <a:xfrm>
            <a:off x="4069080" y="2697480"/>
            <a:ext cx="777240" cy="237744"/>
          </a:xfrm>
          <a:prstGeom prst="rect">
            <a:avLst/>
          </a:prstGeom>
          <a:solidFill>
            <a:srgbClr val="8A8A92"/>
          </a:solidFill>
          <a:ln w="12700">
            <a:solidFill>
              <a:srgbClr val="8A8A92"/>
            </a:solidFill>
            <a:prstDash val="solid"/>
          </a:ln>
        </p:spPr>
      </p:sp>
      <p:sp>
        <p:nvSpPr>
          <p:cNvPr id="12" name="Text 10"/>
          <p:cNvSpPr txBox="1"/>
          <p:nvPr/>
        </p:nvSpPr>
        <p:spPr>
          <a:xfrm>
            <a:off x="4892040" y="2660904"/>
            <a:ext cx="1097280" cy="310896"/>
          </a:xfrm>
          <a:prstGeom prst="rect">
            <a:avLst/>
          </a:prstGeom>
          <a:noFill/>
          <a:ln/>
        </p:spPr>
        <p:txBody>
          <a:bodyPr wrap="square" lIns="0" tIns="0" rIns="0" bIns="0" rtlCol="0" anchor="ctr"/>
          <a:lstStyle/>
          <a:p>
            <a:pPr indent="0" marL="0">
              <a:buNone/>
            </a:pPr>
            <a:r>
              <a:rPr lang="en-US" sz="1000" dirty="0">
                <a:solidFill>
                  <a:srgbClr val="55555C"/>
                </a:solidFill>
              </a:rPr>
              <a:t>95% before</a:t>
            </a:r>
            <a:endParaRPr lang="en-US" sz="1000" dirty="0"/>
          </a:p>
        </p:txBody>
      </p:sp>
      <p:sp>
        <p:nvSpPr>
          <p:cNvPr id="13" name="Shape 11"/>
          <p:cNvSpPr/>
          <p:nvPr/>
        </p:nvSpPr>
        <p:spPr>
          <a:xfrm>
            <a:off x="4069080" y="3081528"/>
            <a:ext cx="139085" cy="237744"/>
          </a:xfrm>
          <a:prstGeom prst="rect">
            <a:avLst/>
          </a:prstGeom>
          <a:solidFill>
            <a:srgbClr val="0A7F44"/>
          </a:solidFill>
          <a:ln w="12700">
            <a:solidFill>
              <a:srgbClr val="0A7F44"/>
            </a:solidFill>
            <a:prstDash val="solid"/>
          </a:ln>
        </p:spPr>
      </p:sp>
      <p:sp>
        <p:nvSpPr>
          <p:cNvPr id="14" name="Text 12"/>
          <p:cNvSpPr txBox="1"/>
          <p:nvPr/>
        </p:nvSpPr>
        <p:spPr>
          <a:xfrm>
            <a:off x="4253885" y="3044952"/>
            <a:ext cx="1097280" cy="310896"/>
          </a:xfrm>
          <a:prstGeom prst="rect">
            <a:avLst/>
          </a:prstGeom>
          <a:noFill/>
          <a:ln/>
        </p:spPr>
        <p:txBody>
          <a:bodyPr wrap="square" lIns="0" tIns="0" rIns="0" bIns="0" rtlCol="0" anchor="ctr"/>
          <a:lstStyle/>
          <a:p>
            <a:pPr indent="0" marL="0">
              <a:buNone/>
            </a:pPr>
            <a:r>
              <a:rPr lang="en-US" sz="1000" dirty="0">
                <a:solidFill>
                  <a:srgbClr val="55555C"/>
                </a:solidFill>
              </a:rPr>
              <a:t>17% after</a:t>
            </a:r>
            <a:endParaRPr lang="en-US" sz="1000" dirty="0"/>
          </a:p>
        </p:txBody>
      </p:sp>
      <p:sp>
        <p:nvSpPr>
          <p:cNvPr id="15" name="Shape 13"/>
          <p:cNvSpPr/>
          <p:nvPr/>
        </p:nvSpPr>
        <p:spPr>
          <a:xfrm>
            <a:off x="548640" y="3703320"/>
            <a:ext cx="5440680" cy="1024128"/>
          </a:xfrm>
          <a:prstGeom prst="roundRect">
            <a:avLst>
              <a:gd name="adj" fmla="val 7143"/>
            </a:avLst>
          </a:prstGeom>
          <a:solidFill>
            <a:srgbClr val="F3F6F4"/>
          </a:solidFill>
          <a:ln w="12700">
            <a:solidFill>
              <a:srgbClr val="F3F6F4"/>
            </a:solidFill>
            <a:prstDash val="solid"/>
          </a:ln>
        </p:spPr>
      </p:sp>
      <p:sp>
        <p:nvSpPr>
          <p:cNvPr id="16" name="Text 14"/>
          <p:cNvSpPr txBox="1"/>
          <p:nvPr/>
        </p:nvSpPr>
        <p:spPr>
          <a:xfrm>
            <a:off x="777240" y="377647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Tool-call checks</a:t>
            </a:r>
            <a:endParaRPr lang="en-US" sz="1500" dirty="0"/>
          </a:p>
          <a:p>
            <a:pPr indent="0" marL="0">
              <a:buNone/>
            </a:pPr>
            <a:r>
              <a:rPr lang="en-US" sz="1100" dirty="0">
                <a:solidFill>
                  <a:srgbClr val="0A0A0B"/>
                </a:solidFill>
              </a:rPr>
              <a:t>Silent failures passed as success 53 of 53 → 0 of 56 (fault injection)</a:t>
            </a:r>
            <a:endParaRPr lang="en-US" sz="1500" dirty="0"/>
          </a:p>
        </p:txBody>
      </p:sp>
      <p:sp>
        <p:nvSpPr>
          <p:cNvPr id="17" name="Shape 15"/>
          <p:cNvSpPr/>
          <p:nvPr/>
        </p:nvSpPr>
        <p:spPr>
          <a:xfrm>
            <a:off x="4069080" y="3886200"/>
            <a:ext cx="777240" cy="237744"/>
          </a:xfrm>
          <a:prstGeom prst="rect">
            <a:avLst/>
          </a:prstGeom>
          <a:solidFill>
            <a:srgbClr val="8A8A92"/>
          </a:solidFill>
          <a:ln w="12700">
            <a:solidFill>
              <a:srgbClr val="8A8A92"/>
            </a:solidFill>
            <a:prstDash val="solid"/>
          </a:ln>
        </p:spPr>
      </p:sp>
      <p:sp>
        <p:nvSpPr>
          <p:cNvPr id="18" name="Text 16"/>
          <p:cNvSpPr txBox="1"/>
          <p:nvPr/>
        </p:nvSpPr>
        <p:spPr>
          <a:xfrm>
            <a:off x="4892040" y="3849624"/>
            <a:ext cx="1097280" cy="310896"/>
          </a:xfrm>
          <a:prstGeom prst="rect">
            <a:avLst/>
          </a:prstGeom>
          <a:noFill/>
          <a:ln/>
        </p:spPr>
        <p:txBody>
          <a:bodyPr wrap="square" lIns="0" tIns="0" rIns="0" bIns="0" rtlCol="0" anchor="ctr"/>
          <a:lstStyle/>
          <a:p>
            <a:pPr indent="0" marL="0">
              <a:buNone/>
            </a:pPr>
            <a:r>
              <a:rPr lang="en-US" sz="1000" dirty="0">
                <a:solidFill>
                  <a:srgbClr val="55555C"/>
                </a:solidFill>
              </a:rPr>
              <a:t>100% before</a:t>
            </a:r>
            <a:endParaRPr lang="en-US" sz="1000" dirty="0"/>
          </a:p>
        </p:txBody>
      </p:sp>
      <p:sp>
        <p:nvSpPr>
          <p:cNvPr id="19" name="Shape 17"/>
          <p:cNvSpPr/>
          <p:nvPr/>
        </p:nvSpPr>
        <p:spPr>
          <a:xfrm>
            <a:off x="4069080" y="4270248"/>
            <a:ext cx="27432" cy="237744"/>
          </a:xfrm>
          <a:prstGeom prst="rect">
            <a:avLst/>
          </a:prstGeom>
          <a:solidFill>
            <a:srgbClr val="0A7F44"/>
          </a:solidFill>
          <a:ln w="12700">
            <a:solidFill>
              <a:srgbClr val="0A7F44"/>
            </a:solidFill>
            <a:prstDash val="solid"/>
          </a:ln>
        </p:spPr>
      </p:sp>
      <p:sp>
        <p:nvSpPr>
          <p:cNvPr id="20" name="Text 18"/>
          <p:cNvSpPr txBox="1"/>
          <p:nvPr/>
        </p:nvSpPr>
        <p:spPr>
          <a:xfrm>
            <a:off x="4142232" y="4233672"/>
            <a:ext cx="1097280" cy="310896"/>
          </a:xfrm>
          <a:prstGeom prst="rect">
            <a:avLst/>
          </a:prstGeom>
          <a:noFill/>
          <a:ln/>
        </p:spPr>
        <p:txBody>
          <a:bodyPr wrap="square" lIns="0" tIns="0" rIns="0" bIns="0" rtlCol="0" anchor="ctr"/>
          <a:lstStyle/>
          <a:p>
            <a:pPr indent="0" marL="0">
              <a:buNone/>
            </a:pPr>
            <a:r>
              <a:rPr lang="en-US" sz="1000" dirty="0">
                <a:solidFill>
                  <a:srgbClr val="55555C"/>
                </a:solidFill>
              </a:rPr>
              <a:t>0% after</a:t>
            </a:r>
            <a:endParaRPr lang="en-US" sz="1000" dirty="0"/>
          </a:p>
        </p:txBody>
      </p:sp>
      <p:sp>
        <p:nvSpPr>
          <p:cNvPr id="21" name="Shape 19"/>
          <p:cNvSpPr/>
          <p:nvPr/>
        </p:nvSpPr>
        <p:spPr>
          <a:xfrm>
            <a:off x="548640" y="4892040"/>
            <a:ext cx="5440680" cy="1024128"/>
          </a:xfrm>
          <a:prstGeom prst="roundRect">
            <a:avLst>
              <a:gd name="adj" fmla="val 7143"/>
            </a:avLst>
          </a:prstGeom>
          <a:solidFill>
            <a:srgbClr val="F3F6F4"/>
          </a:solidFill>
          <a:ln w="12700">
            <a:solidFill>
              <a:srgbClr val="F3F6F4"/>
            </a:solidFill>
            <a:prstDash val="solid"/>
          </a:ln>
        </p:spPr>
      </p:sp>
      <p:sp>
        <p:nvSpPr>
          <p:cNvPr id="22" name="Text 20"/>
          <p:cNvSpPr txBox="1"/>
          <p:nvPr/>
        </p:nvSpPr>
        <p:spPr>
          <a:xfrm>
            <a:off x="777240" y="496519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Courts judged ahead</a:t>
            </a:r>
            <a:endParaRPr lang="en-US" sz="1500" dirty="0"/>
          </a:p>
          <a:p>
            <a:pPr indent="0" marL="0">
              <a:buNone/>
            </a:pPr>
            <a:r>
              <a:rPr lang="en-US" sz="1100" dirty="0">
                <a:solidFill>
                  <a:srgbClr val="0A0A0B"/>
                </a:solidFill>
              </a:rPr>
              <a:t>Wait after moving the time 49.0 s → 25.7 s, at twice the judgings (RTX 3090)</a:t>
            </a:r>
            <a:endParaRPr lang="en-US" sz="1500" dirty="0"/>
          </a:p>
        </p:txBody>
      </p:sp>
      <p:sp>
        <p:nvSpPr>
          <p:cNvPr id="23" name="Shape 21"/>
          <p:cNvSpPr/>
          <p:nvPr/>
        </p:nvSpPr>
        <p:spPr>
          <a:xfrm>
            <a:off x="4069080" y="5074920"/>
            <a:ext cx="777240" cy="237744"/>
          </a:xfrm>
          <a:prstGeom prst="rect">
            <a:avLst/>
          </a:prstGeom>
          <a:solidFill>
            <a:srgbClr val="8A8A92"/>
          </a:solidFill>
          <a:ln w="12700">
            <a:solidFill>
              <a:srgbClr val="8A8A92"/>
            </a:solidFill>
            <a:prstDash val="solid"/>
          </a:ln>
        </p:spPr>
      </p:sp>
      <p:sp>
        <p:nvSpPr>
          <p:cNvPr id="24" name="Text 22"/>
          <p:cNvSpPr txBox="1"/>
          <p:nvPr/>
        </p:nvSpPr>
        <p:spPr>
          <a:xfrm>
            <a:off x="4892040" y="5038344"/>
            <a:ext cx="1097280" cy="310896"/>
          </a:xfrm>
          <a:prstGeom prst="rect">
            <a:avLst/>
          </a:prstGeom>
          <a:noFill/>
          <a:ln/>
        </p:spPr>
        <p:txBody>
          <a:bodyPr wrap="square" lIns="0" tIns="0" rIns="0" bIns="0" rtlCol="0" anchor="ctr"/>
          <a:lstStyle/>
          <a:p>
            <a:pPr indent="0" marL="0">
              <a:buNone/>
            </a:pPr>
            <a:r>
              <a:rPr lang="en-US" sz="1000" dirty="0">
                <a:solidFill>
                  <a:srgbClr val="55555C"/>
                </a:solidFill>
              </a:rPr>
              <a:t>49.0 s before</a:t>
            </a:r>
            <a:endParaRPr lang="en-US" sz="1000" dirty="0"/>
          </a:p>
        </p:txBody>
      </p:sp>
      <p:sp>
        <p:nvSpPr>
          <p:cNvPr id="25" name="Shape 23"/>
          <p:cNvSpPr/>
          <p:nvPr/>
        </p:nvSpPr>
        <p:spPr>
          <a:xfrm>
            <a:off x="4069080" y="5458968"/>
            <a:ext cx="407654" cy="237744"/>
          </a:xfrm>
          <a:prstGeom prst="rect">
            <a:avLst/>
          </a:prstGeom>
          <a:solidFill>
            <a:srgbClr val="0A7F44"/>
          </a:solidFill>
          <a:ln w="12700">
            <a:solidFill>
              <a:srgbClr val="0A7F44"/>
            </a:solidFill>
            <a:prstDash val="solid"/>
          </a:ln>
        </p:spPr>
      </p:sp>
      <p:sp>
        <p:nvSpPr>
          <p:cNvPr id="26" name="Text 24"/>
          <p:cNvSpPr txBox="1"/>
          <p:nvPr/>
        </p:nvSpPr>
        <p:spPr>
          <a:xfrm>
            <a:off x="4522454" y="5422392"/>
            <a:ext cx="1097280" cy="310896"/>
          </a:xfrm>
          <a:prstGeom prst="rect">
            <a:avLst/>
          </a:prstGeom>
          <a:noFill/>
          <a:ln/>
        </p:spPr>
        <p:txBody>
          <a:bodyPr wrap="square" lIns="0" tIns="0" rIns="0" bIns="0" rtlCol="0" anchor="ctr"/>
          <a:lstStyle/>
          <a:p>
            <a:pPr indent="0" marL="0">
              <a:buNone/>
            </a:pPr>
            <a:r>
              <a:rPr lang="en-US" sz="1000" dirty="0">
                <a:solidFill>
                  <a:srgbClr val="55555C"/>
                </a:solidFill>
              </a:rPr>
              <a:t>25.7 s after</a:t>
            </a:r>
            <a:endParaRPr lang="en-US" sz="1000" dirty="0"/>
          </a:p>
        </p:txBody>
      </p:sp>
      <p:sp>
        <p:nvSpPr>
          <p:cNvPr id="27" name="Shape 25"/>
          <p:cNvSpPr/>
          <p:nvPr/>
        </p:nvSpPr>
        <p:spPr>
          <a:xfrm>
            <a:off x="6172200" y="1325880"/>
            <a:ext cx="5440680" cy="1024128"/>
          </a:xfrm>
          <a:prstGeom prst="roundRect">
            <a:avLst>
              <a:gd name="adj" fmla="val 7143"/>
            </a:avLst>
          </a:prstGeom>
          <a:solidFill>
            <a:srgbClr val="F3F6F4"/>
          </a:solidFill>
          <a:ln w="12700">
            <a:solidFill>
              <a:srgbClr val="F3F6F4"/>
            </a:solidFill>
            <a:prstDash val="solid"/>
          </a:ln>
        </p:spPr>
      </p:sp>
      <p:sp>
        <p:nvSpPr>
          <p:cNvPr id="28" name="Text 26"/>
          <p:cNvSpPr txBox="1"/>
          <p:nvPr/>
        </p:nvSpPr>
        <p:spPr>
          <a:xfrm>
            <a:off x="6400800" y="139903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Harder simulated users</a:t>
            </a:r>
            <a:endParaRPr lang="en-US" sz="1500" dirty="0"/>
          </a:p>
          <a:p>
            <a:pPr indent="0" marL="0">
              <a:buNone/>
            </a:pPr>
            <a:r>
              <a:rPr lang="en-US" sz="1100" dirty="0">
                <a:solidFill>
                  <a:srgbClr val="0A0A0B"/>
                </a:solidFill>
              </a:rPr>
              <a:t>With 25% difficult people pass^1 0.69 → 0.38; six flow bugs found, then fixed</a:t>
            </a:r>
            <a:endParaRPr lang="en-US" sz="1500" dirty="0"/>
          </a:p>
        </p:txBody>
      </p:sp>
      <p:sp>
        <p:nvSpPr>
          <p:cNvPr id="29" name="Shape 27"/>
          <p:cNvSpPr/>
          <p:nvPr/>
        </p:nvSpPr>
        <p:spPr>
          <a:xfrm>
            <a:off x="9692640" y="1508760"/>
            <a:ext cx="777240" cy="237744"/>
          </a:xfrm>
          <a:prstGeom prst="rect">
            <a:avLst/>
          </a:prstGeom>
          <a:solidFill>
            <a:srgbClr val="8A8A92"/>
          </a:solidFill>
          <a:ln w="12700">
            <a:solidFill>
              <a:srgbClr val="8A8A92"/>
            </a:solidFill>
            <a:prstDash val="solid"/>
          </a:ln>
        </p:spPr>
      </p:sp>
      <p:sp>
        <p:nvSpPr>
          <p:cNvPr id="30" name="Text 28"/>
          <p:cNvSpPr txBox="1"/>
          <p:nvPr/>
        </p:nvSpPr>
        <p:spPr>
          <a:xfrm>
            <a:off x="10515600" y="1472184"/>
            <a:ext cx="1097280" cy="310896"/>
          </a:xfrm>
          <a:prstGeom prst="rect">
            <a:avLst/>
          </a:prstGeom>
          <a:noFill/>
          <a:ln/>
        </p:spPr>
        <p:txBody>
          <a:bodyPr wrap="square" lIns="0" tIns="0" rIns="0" bIns="0" rtlCol="0" anchor="ctr"/>
          <a:lstStyle/>
          <a:p>
            <a:pPr indent="0" marL="0">
              <a:buNone/>
            </a:pPr>
            <a:r>
              <a:rPr lang="en-US" sz="1000" dirty="0">
                <a:solidFill>
                  <a:srgbClr val="55555C"/>
                </a:solidFill>
              </a:rPr>
              <a:t>0.69 cooperative</a:t>
            </a:r>
            <a:endParaRPr lang="en-US" sz="1000" dirty="0"/>
          </a:p>
        </p:txBody>
      </p:sp>
      <p:sp>
        <p:nvSpPr>
          <p:cNvPr id="31" name="Shape 29"/>
          <p:cNvSpPr/>
          <p:nvPr/>
        </p:nvSpPr>
        <p:spPr>
          <a:xfrm>
            <a:off x="9692640" y="1892808"/>
            <a:ext cx="428045" cy="237744"/>
          </a:xfrm>
          <a:prstGeom prst="rect">
            <a:avLst/>
          </a:prstGeom>
          <a:solidFill>
            <a:srgbClr val="D1352B"/>
          </a:solidFill>
          <a:ln w="12700">
            <a:solidFill>
              <a:srgbClr val="D1352B"/>
            </a:solidFill>
            <a:prstDash val="solid"/>
          </a:ln>
        </p:spPr>
      </p:sp>
      <p:sp>
        <p:nvSpPr>
          <p:cNvPr id="32" name="Text 30"/>
          <p:cNvSpPr txBox="1"/>
          <p:nvPr/>
        </p:nvSpPr>
        <p:spPr>
          <a:xfrm>
            <a:off x="10166405" y="1856232"/>
            <a:ext cx="1097280" cy="310896"/>
          </a:xfrm>
          <a:prstGeom prst="rect">
            <a:avLst/>
          </a:prstGeom>
          <a:noFill/>
          <a:ln/>
        </p:spPr>
        <p:txBody>
          <a:bodyPr wrap="square" lIns="0" tIns="0" rIns="0" bIns="0" rtlCol="0" anchor="ctr"/>
          <a:lstStyle/>
          <a:p>
            <a:pPr indent="0" marL="0">
              <a:buNone/>
            </a:pPr>
            <a:r>
              <a:rPr lang="en-US" sz="1000" dirty="0">
                <a:solidFill>
                  <a:srgbClr val="55555C"/>
                </a:solidFill>
              </a:rPr>
              <a:t>0.38 difficult</a:t>
            </a:r>
            <a:endParaRPr lang="en-US" sz="1000" dirty="0"/>
          </a:p>
        </p:txBody>
      </p:sp>
      <p:sp>
        <p:nvSpPr>
          <p:cNvPr id="33" name="Shape 31"/>
          <p:cNvSpPr/>
          <p:nvPr/>
        </p:nvSpPr>
        <p:spPr>
          <a:xfrm>
            <a:off x="6172200" y="2514600"/>
            <a:ext cx="5440680" cy="1024128"/>
          </a:xfrm>
          <a:prstGeom prst="roundRect">
            <a:avLst>
              <a:gd name="adj" fmla="val 7143"/>
            </a:avLst>
          </a:prstGeom>
          <a:solidFill>
            <a:srgbClr val="F3F6F4"/>
          </a:solidFill>
          <a:ln w="12700">
            <a:solidFill>
              <a:srgbClr val="F3F6F4"/>
            </a:solidFill>
            <a:prstDash val="solid"/>
          </a:ln>
        </p:spPr>
      </p:sp>
      <p:sp>
        <p:nvSpPr>
          <p:cNvPr id="34" name="Text 32"/>
          <p:cNvSpPr txBox="1"/>
          <p:nvPr/>
        </p:nvSpPr>
        <p:spPr>
          <a:xfrm>
            <a:off x="6400800" y="258775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Order of the options</a:t>
            </a:r>
            <a:endParaRPr lang="en-US" sz="1500" dirty="0"/>
          </a:p>
          <a:p>
            <a:pPr indent="0" marL="0">
              <a:buNone/>
            </a:pPr>
            <a:r>
              <a:rPr lang="en-US" sz="1100" dirty="0">
                <a:solidFill>
                  <a:srgbClr val="0A0A0B"/>
                </a:solidFill>
              </a:rPr>
              <a:t>Glimmer changed 40% of answers in a new order, against 26.5% asked again in the same order; kept as is</a:t>
            </a:r>
            <a:endParaRPr lang="en-US" sz="1500" dirty="0"/>
          </a:p>
        </p:txBody>
      </p:sp>
      <p:sp>
        <p:nvSpPr>
          <p:cNvPr id="35" name="Shape 33"/>
          <p:cNvSpPr/>
          <p:nvPr/>
        </p:nvSpPr>
        <p:spPr>
          <a:xfrm>
            <a:off x="9692640" y="2697480"/>
            <a:ext cx="514922" cy="237744"/>
          </a:xfrm>
          <a:prstGeom prst="rect">
            <a:avLst/>
          </a:prstGeom>
          <a:solidFill>
            <a:srgbClr val="8A8A92"/>
          </a:solidFill>
          <a:ln w="12700">
            <a:solidFill>
              <a:srgbClr val="8A8A92"/>
            </a:solidFill>
            <a:prstDash val="solid"/>
          </a:ln>
        </p:spPr>
      </p:sp>
      <p:sp>
        <p:nvSpPr>
          <p:cNvPr id="36" name="Text 34"/>
          <p:cNvSpPr txBox="1"/>
          <p:nvPr/>
        </p:nvSpPr>
        <p:spPr>
          <a:xfrm>
            <a:off x="10253282" y="2660904"/>
            <a:ext cx="1097280" cy="310896"/>
          </a:xfrm>
          <a:prstGeom prst="rect">
            <a:avLst/>
          </a:prstGeom>
          <a:noFill/>
          <a:ln/>
        </p:spPr>
        <p:txBody>
          <a:bodyPr wrap="square" lIns="0" tIns="0" rIns="0" bIns="0" rtlCol="0" anchor="ctr"/>
          <a:lstStyle/>
          <a:p>
            <a:pPr indent="0" marL="0">
              <a:buNone/>
            </a:pPr>
            <a:r>
              <a:rPr lang="en-US" sz="1000" dirty="0">
                <a:solidFill>
                  <a:srgbClr val="55555C"/>
                </a:solidFill>
              </a:rPr>
              <a:t>26.5% same order</a:t>
            </a:r>
            <a:endParaRPr lang="en-US" sz="1000" dirty="0"/>
          </a:p>
        </p:txBody>
      </p:sp>
      <p:sp>
        <p:nvSpPr>
          <p:cNvPr id="37" name="Shape 35"/>
          <p:cNvSpPr/>
          <p:nvPr/>
        </p:nvSpPr>
        <p:spPr>
          <a:xfrm>
            <a:off x="9692640" y="3081528"/>
            <a:ext cx="777240" cy="237744"/>
          </a:xfrm>
          <a:prstGeom prst="rect">
            <a:avLst/>
          </a:prstGeom>
          <a:solidFill>
            <a:srgbClr val="0A7F44"/>
          </a:solidFill>
          <a:ln w="12700">
            <a:solidFill>
              <a:srgbClr val="0A7F44"/>
            </a:solidFill>
            <a:prstDash val="solid"/>
          </a:ln>
        </p:spPr>
      </p:sp>
      <p:sp>
        <p:nvSpPr>
          <p:cNvPr id="38" name="Text 36"/>
          <p:cNvSpPr txBox="1"/>
          <p:nvPr/>
        </p:nvSpPr>
        <p:spPr>
          <a:xfrm>
            <a:off x="10515600" y="3044952"/>
            <a:ext cx="1097280" cy="310896"/>
          </a:xfrm>
          <a:prstGeom prst="rect">
            <a:avLst/>
          </a:prstGeom>
          <a:noFill/>
          <a:ln/>
        </p:spPr>
        <p:txBody>
          <a:bodyPr wrap="square" lIns="0" tIns="0" rIns="0" bIns="0" rtlCol="0" anchor="ctr"/>
          <a:lstStyle/>
          <a:p>
            <a:pPr indent="0" marL="0">
              <a:buNone/>
            </a:pPr>
            <a:r>
              <a:rPr lang="en-US" sz="1000" dirty="0">
                <a:solidFill>
                  <a:srgbClr val="55555C"/>
                </a:solidFill>
              </a:rPr>
              <a:t>40% new order</a:t>
            </a:r>
            <a:endParaRPr lang="en-US" sz="1000" dirty="0"/>
          </a:p>
        </p:txBody>
      </p:sp>
      <p:sp>
        <p:nvSpPr>
          <p:cNvPr id="39" name="Shape 37"/>
          <p:cNvSpPr/>
          <p:nvPr/>
        </p:nvSpPr>
        <p:spPr>
          <a:xfrm>
            <a:off x="6172200" y="3703320"/>
            <a:ext cx="5440680" cy="1024128"/>
          </a:xfrm>
          <a:prstGeom prst="roundRect">
            <a:avLst>
              <a:gd name="adj" fmla="val 7143"/>
            </a:avLst>
          </a:prstGeom>
          <a:solidFill>
            <a:srgbClr val="F3F6F4"/>
          </a:solidFill>
          <a:ln w="12700">
            <a:solidFill>
              <a:srgbClr val="F3F6F4"/>
            </a:solidFill>
            <a:prstDash val="solid"/>
          </a:ln>
        </p:spPr>
      </p:sp>
      <p:sp>
        <p:nvSpPr>
          <p:cNvPr id="40" name="Text 38"/>
          <p:cNvSpPr txBox="1"/>
          <p:nvPr/>
        </p:nvSpPr>
        <p:spPr>
          <a:xfrm>
            <a:off x="6400800" y="377647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Stretch round</a:t>
            </a:r>
            <a:endParaRPr lang="en-US" sz="1500" dirty="0"/>
          </a:p>
          <a:p>
            <a:pPr indent="0" marL="0">
              <a:buNone/>
            </a:pPr>
            <a:r>
              <a:rPr lang="en-US" sz="1100" dirty="0">
                <a:solidFill>
                  <a:srgbClr val="0A0A0B"/>
                </a:solidFill>
              </a:rPr>
              <a:t>Games found +0.3 (singles) and +1.3 points (doubles): small, reported as such</a:t>
            </a:r>
            <a:endParaRPr lang="en-US" sz="1500" dirty="0"/>
          </a:p>
        </p:txBody>
      </p:sp>
      <p:sp>
        <p:nvSpPr>
          <p:cNvPr id="41" name="Shape 39"/>
          <p:cNvSpPr/>
          <p:nvPr/>
        </p:nvSpPr>
        <p:spPr>
          <a:xfrm>
            <a:off x="9692640" y="3886200"/>
            <a:ext cx="765408" cy="237744"/>
          </a:xfrm>
          <a:prstGeom prst="rect">
            <a:avLst/>
          </a:prstGeom>
          <a:solidFill>
            <a:srgbClr val="8A8A92"/>
          </a:solidFill>
          <a:ln w="12700">
            <a:solidFill>
              <a:srgbClr val="8A8A92"/>
            </a:solidFill>
            <a:prstDash val="solid"/>
          </a:ln>
        </p:spPr>
      </p:sp>
      <p:sp>
        <p:nvSpPr>
          <p:cNvPr id="42" name="Text 40"/>
          <p:cNvSpPr txBox="1"/>
          <p:nvPr/>
        </p:nvSpPr>
        <p:spPr>
          <a:xfrm>
            <a:off x="10503768" y="3849624"/>
            <a:ext cx="1097280" cy="310896"/>
          </a:xfrm>
          <a:prstGeom prst="rect">
            <a:avLst/>
          </a:prstGeom>
          <a:noFill/>
          <a:ln/>
        </p:spPr>
        <p:txBody>
          <a:bodyPr wrap="square" lIns="0" tIns="0" rIns="0" bIns="0" rtlCol="0" anchor="ctr"/>
          <a:lstStyle/>
          <a:p>
            <a:pPr indent="0" marL="0">
              <a:buNone/>
            </a:pPr>
            <a:r>
              <a:rPr lang="en-US" sz="1000" dirty="0">
                <a:solidFill>
                  <a:srgbClr val="55555C"/>
                </a:solidFill>
              </a:rPr>
              <a:t>84.1% before</a:t>
            </a:r>
            <a:endParaRPr lang="en-US" sz="1000" dirty="0"/>
          </a:p>
        </p:txBody>
      </p:sp>
      <p:sp>
        <p:nvSpPr>
          <p:cNvPr id="43" name="Shape 41"/>
          <p:cNvSpPr/>
          <p:nvPr/>
        </p:nvSpPr>
        <p:spPr>
          <a:xfrm>
            <a:off x="9692640" y="4270248"/>
            <a:ext cx="777240" cy="237744"/>
          </a:xfrm>
          <a:prstGeom prst="rect">
            <a:avLst/>
          </a:prstGeom>
          <a:solidFill>
            <a:srgbClr val="0A7F44"/>
          </a:solidFill>
          <a:ln w="12700">
            <a:solidFill>
              <a:srgbClr val="0A7F44"/>
            </a:solidFill>
            <a:prstDash val="solid"/>
          </a:ln>
        </p:spPr>
      </p:sp>
      <p:sp>
        <p:nvSpPr>
          <p:cNvPr id="44" name="Text 42"/>
          <p:cNvSpPr txBox="1"/>
          <p:nvPr/>
        </p:nvSpPr>
        <p:spPr>
          <a:xfrm>
            <a:off x="10515600" y="4233672"/>
            <a:ext cx="1097280" cy="310896"/>
          </a:xfrm>
          <a:prstGeom prst="rect">
            <a:avLst/>
          </a:prstGeom>
          <a:noFill/>
          <a:ln/>
        </p:spPr>
        <p:txBody>
          <a:bodyPr wrap="square" lIns="0" tIns="0" rIns="0" bIns="0" rtlCol="0" anchor="ctr"/>
          <a:lstStyle/>
          <a:p>
            <a:pPr indent="0" marL="0">
              <a:buNone/>
            </a:pPr>
            <a:r>
              <a:rPr lang="en-US" sz="1000" dirty="0">
                <a:solidFill>
                  <a:srgbClr val="55555C"/>
                </a:solidFill>
              </a:rPr>
              <a:t>85.4% after</a:t>
            </a:r>
            <a:endParaRPr lang="en-US" sz="1000" dirty="0"/>
          </a:p>
        </p:txBody>
      </p:sp>
      <p:sp>
        <p:nvSpPr>
          <p:cNvPr id="45" name="Text 43"/>
          <p:cNvSpPr txBox="1"/>
          <p:nvPr/>
        </p:nvSpPr>
        <p:spPr>
          <a:xfrm>
            <a:off x="6172200" y="4937760"/>
            <a:ext cx="5440680" cy="914400"/>
          </a:xfrm>
          <a:prstGeom prst="rect">
            <a:avLst/>
          </a:prstGeom>
          <a:noFill/>
          <a:ln/>
        </p:spPr>
        <p:txBody>
          <a:bodyPr wrap="square" lIns="0" tIns="0" rIns="0" bIns="0" rtlCol="0" anchor="t"/>
          <a:lstStyle/>
          <a:p>
            <a:pPr indent="0" marL="0">
              <a:spcAft>
                <a:spcPts val="600"/>
              </a:spcAft>
              <a:buNone/>
            </a:pPr>
            <a:r>
              <a:rPr lang="en-US" sz="1300" dirty="0">
                <a:solidFill>
                  <a:srgbClr val="55555C"/>
                </a:solidFill>
              </a:rPr>
              <a:t>Each from a 2024–2026 paper, built and measured against what ran before; most numbers are simulated and say so (README, submission/results/).</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27.6 KB classifier in front of the 1B, on by default</a:t>
            </a:r>
            <a:endParaRPr lang="en-US" sz="2800" dirty="0"/>
          </a:p>
        </p:txBody>
      </p:sp>
      <p:graphicFrame>
        <p:nvGraphicFramePr>
          <p:cNvPr id="3" name="Chart 0" descr=""/>
          <p:cNvGraphicFramePr/>
          <p:nvPr/>
        </p:nvGraphicFramePr>
        <p:xfrm>
          <a:off x="548640" y="1280160"/>
          <a:ext cx="69494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863840" y="1280160"/>
            <a:ext cx="3779215" cy="1508760"/>
          </a:xfrm>
          <a:prstGeom prst="roundRect">
            <a:avLst>
              <a:gd name="adj" fmla="val 4848"/>
            </a:avLst>
          </a:prstGeom>
          <a:solidFill>
            <a:srgbClr val="F3F6F4"/>
          </a:solidFill>
          <a:ln w="12700">
            <a:solidFill>
              <a:srgbClr val="F3F6F4"/>
            </a:solidFill>
            <a:prstDash val="solid"/>
          </a:ln>
        </p:spPr>
      </p:sp>
      <p:sp>
        <p:nvSpPr>
          <p:cNvPr id="5" name="Text 2"/>
          <p:cNvSpPr txBox="1"/>
          <p:nvPr/>
        </p:nvSpPr>
        <p:spPr>
          <a:xfrm>
            <a:off x="8092440" y="1444752"/>
            <a:ext cx="332201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0.06 ms</a:t>
            </a:r>
            <a:endParaRPr lang="en-US" sz="3600" dirty="0"/>
          </a:p>
        </p:txBody>
      </p:sp>
      <p:sp>
        <p:nvSpPr>
          <p:cNvPr id="6" name="Text 3"/>
          <p:cNvSpPr txBox="1"/>
          <p:nvPr/>
        </p:nvSpPr>
        <p:spPr>
          <a:xfrm>
            <a:off x="8092440" y="2121408"/>
            <a:ext cx="3322015" cy="594360"/>
          </a:xfrm>
          <a:prstGeom prst="rect">
            <a:avLst/>
          </a:prstGeom>
          <a:noFill/>
          <a:ln/>
        </p:spPr>
        <p:txBody>
          <a:bodyPr wrap="square" lIns="0" tIns="0" rIns="0" bIns="0" rtlCol="0" anchor="t"/>
          <a:lstStyle/>
          <a:p>
            <a:pPr indent="0" marL="0">
              <a:buNone/>
            </a:pPr>
            <a:r>
              <a:rPr lang="en-US" sz="1300" dirty="0">
                <a:solidFill>
                  <a:srgbClr val="55555C"/>
                </a:solidFill>
              </a:rPr>
              <a:t>a choice on one CPU thread, in plain JS (the 1B: about 0.9 s)</a:t>
            </a:r>
            <a:endParaRPr lang="en-US" sz="1300" dirty="0"/>
          </a:p>
        </p:txBody>
      </p:sp>
      <p:sp>
        <p:nvSpPr>
          <p:cNvPr id="7" name="Shape 4"/>
          <p:cNvSpPr/>
          <p:nvPr/>
        </p:nvSpPr>
        <p:spPr>
          <a:xfrm>
            <a:off x="7863840" y="2926080"/>
            <a:ext cx="3779215" cy="1508760"/>
          </a:xfrm>
          <a:prstGeom prst="roundRect">
            <a:avLst>
              <a:gd name="adj" fmla="val 4848"/>
            </a:avLst>
          </a:prstGeom>
          <a:solidFill>
            <a:srgbClr val="F3F6F4"/>
          </a:solidFill>
          <a:ln w="12700">
            <a:solidFill>
              <a:srgbClr val="F3F6F4"/>
            </a:solidFill>
            <a:prstDash val="solid"/>
          </a:ln>
        </p:spPr>
      </p:sp>
      <p:sp>
        <p:nvSpPr>
          <p:cNvPr id="8" name="Text 5"/>
          <p:cNvSpPr txBox="1"/>
          <p:nvPr/>
        </p:nvSpPr>
        <p:spPr>
          <a:xfrm>
            <a:off x="8092440" y="3090672"/>
            <a:ext cx="332201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59.8% / 4.3%</a:t>
            </a:r>
            <a:endParaRPr lang="en-US" sz="3600" dirty="0"/>
          </a:p>
        </p:txBody>
      </p:sp>
      <p:sp>
        <p:nvSpPr>
          <p:cNvPr id="9" name="Text 6"/>
          <p:cNvSpPr txBox="1"/>
          <p:nvPr/>
        </p:nvSpPr>
        <p:spPr>
          <a:xfrm>
            <a:off x="8092440" y="3767328"/>
            <a:ext cx="3322015" cy="594360"/>
          </a:xfrm>
          <a:prstGeom prst="rect">
            <a:avLst/>
          </a:prstGeom>
          <a:noFill/>
          <a:ln/>
        </p:spPr>
        <p:txBody>
          <a:bodyPr wrap="square" lIns="0" tIns="0" rIns="0" bIns="0" rtlCol="0" anchor="t"/>
          <a:lstStyle/>
          <a:p>
            <a:pPr indent="0" marL="0">
              <a:buNone/>
            </a:pPr>
            <a:r>
              <a:rPr lang="en-US" sz="1300" dirty="0">
                <a:solidFill>
                  <a:srgbClr val="55555C"/>
                </a:solidFill>
              </a:rPr>
              <a:t>of ordinary choices it answers itself / disagreement among them</a:t>
            </a:r>
            <a:endParaRPr lang="en-US" sz="1300" dirty="0"/>
          </a:p>
        </p:txBody>
      </p:sp>
      <p:sp>
        <p:nvSpPr>
          <p:cNvPr id="10" name="Shape 7"/>
          <p:cNvSpPr/>
          <p:nvPr/>
        </p:nvSpPr>
        <p:spPr>
          <a:xfrm>
            <a:off x="7863840" y="4572000"/>
            <a:ext cx="3779215" cy="1554480"/>
          </a:xfrm>
          <a:prstGeom prst="roundRect">
            <a:avLst>
              <a:gd name="adj" fmla="val 4706"/>
            </a:avLst>
          </a:prstGeom>
          <a:solidFill>
            <a:srgbClr val="E9F3EC"/>
          </a:solidFill>
          <a:ln w="12700">
            <a:solidFill>
              <a:srgbClr val="E9F3EC"/>
            </a:solidFill>
            <a:prstDash val="solid"/>
          </a:ln>
        </p:spPr>
      </p:sp>
      <p:sp>
        <p:nvSpPr>
          <p:cNvPr id="11" name="Text 8"/>
          <p:cNvSpPr txBox="1"/>
          <p:nvPr/>
        </p:nvSpPr>
        <p:spPr>
          <a:xfrm>
            <a:off x="8046720" y="4663440"/>
            <a:ext cx="3413455" cy="1417320"/>
          </a:xfrm>
          <a:prstGeom prst="rect">
            <a:avLst/>
          </a:prstGeom>
          <a:noFill/>
          <a:ln/>
        </p:spPr>
        <p:txBody>
          <a:bodyPr wrap="square" lIns="0" tIns="0" rIns="0" bIns="0" rtlCol="0" anchor="t"/>
          <a:lstStyle/>
          <a:p>
            <a:pPr indent="0" marL="0">
              <a:spcAft>
                <a:spcPts val="600"/>
              </a:spcAft>
              <a:buNone/>
            </a:pPr>
            <a:r>
              <a:rPr lang="en-US" sz="1100" dirty="0">
                <a:solidFill>
                  <a:srgbClr val="0A0A0B"/>
                </a:solidFill>
              </a:rPr>
              <a:t>Four small MLPs over facts code holds per option (weekday, hour, trip, distance from the asked time, the member's habits and rules), and a doubt model that sends anything it doubts to the 1B and Glimmer. Measured offline; the post prefilter (87 KB) stays off: it passed 0 of 762 hostile comments but only 11% of ordinary ones.</a:t>
            </a:r>
            <a:endParaRPr lang="en-US" sz="1100" dirty="0"/>
          </a:p>
        </p:txBody>
      </p:sp>
      <p:sp>
        <p:nvSpPr>
          <p:cNvPr id="12" name="Text 9"/>
          <p:cNvSpPr txBox="1"/>
          <p:nvPr/>
        </p:nvSpPr>
        <p:spPr>
          <a:xfrm>
            <a:off x="548640" y="5623560"/>
            <a:ext cx="6949440" cy="50292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Trained on the student's 4,868 Glimmer choices; on the hardest choices it agrees with Glimmer more often than our 1B.</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Six flow bugs found by difficult simulated people, fixed</a:t>
            </a:r>
            <a:endParaRPr lang="en-US" sz="2800" dirty="0"/>
          </a:p>
        </p:txBody>
      </p:sp>
      <p:graphicFrame>
        <p:nvGraphicFramePr>
          <p:cNvPr id="3" name="Chart 0" descr=""/>
          <p:cNvGraphicFramePr/>
          <p:nvPr/>
        </p:nvGraphicFramePr>
        <p:xfrm>
          <a:off x="548640" y="1280160"/>
          <a:ext cx="676656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7589520" y="1280160"/>
          <a:ext cx="4053535" cy="384048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5257800"/>
            <a:ext cx="11094415" cy="914400"/>
          </a:xfrm>
          <a:prstGeom prst="rect">
            <a:avLst/>
          </a:prstGeom>
          <a:noFill/>
          <a:ln/>
        </p:spPr>
        <p:txBody>
          <a:bodyPr wrap="square" lIns="0" tIns="0" rIns="0" bIns="0" rtlCol="0" anchor="t"/>
          <a:lstStyle/>
          <a:p>
            <a:pPr indent="0" marL="0">
              <a:spcAft>
                <a:spcPts val="600"/>
              </a:spcAft>
              <a:buNone/>
            </a:pPr>
            <a:r>
              <a:rPr lang="en-US" sz="1200" b="1" dirty="0">
                <a:solidFill>
                  <a:srgbClr val="0A0A0B"/>
                </a:solidFill>
              </a:rPr>
              <a:t>25% difficult people </a:t>
            </a:r>
            <a:pPr indent="0" marL="0">
              <a:spcAft>
                <a:spcPts val="600"/>
              </a:spcAft>
              <a:buNone/>
            </a:pPr>
            <a:r>
              <a:rPr lang="en-US" sz="1200" dirty="0">
                <a:solidFill>
                  <a:srgbClr val="0A0A0B"/>
                </a:solidFill>
              </a:rPr>
              <a:t>(the flipper, the ghost, the budget person, the drifter, the vague one); pass^k counts a request only if every one of k runs succeeds (τ-bench). Now: a back-out by message is confirmed and acted on, an ask lapses with its hold, a vague reply is asked once more with buttons, a stated day off is kept, the search leaves out everyone who said no, and everyone asked is told. The pass^k gains are small and their intervals still include no change.</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is not done yet</a:t>
            </a:r>
            <a:endParaRPr lang="en-US" sz="2800" dirty="0"/>
          </a:p>
        </p:txBody>
      </p:sp>
      <p:sp>
        <p:nvSpPr>
          <p:cNvPr id="3" name="Shape 1"/>
          <p:cNvSpPr/>
          <p:nvPr/>
        </p:nvSpPr>
        <p:spPr>
          <a:xfrm>
            <a:off x="548640" y="1435608"/>
            <a:ext cx="384048" cy="384048"/>
          </a:xfrm>
          <a:prstGeom prst="ellipse">
            <a:avLst/>
          </a:prstGeom>
          <a:solidFill>
            <a:srgbClr val="B26A00"/>
          </a:solidFill>
          <a:ln w="12700">
            <a:solidFill>
              <a:srgbClr val="B26A00"/>
            </a:solidFill>
            <a:prstDash val="solid"/>
          </a:ln>
        </p:spPr>
      </p:sp>
      <p:sp>
        <p:nvSpPr>
          <p:cNvPr id="4" name="Text 2"/>
          <p:cNvSpPr txBox="1"/>
          <p:nvPr/>
        </p:nvSpPr>
        <p:spPr>
          <a:xfrm>
            <a:off x="548640" y="1435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188720" y="1325880"/>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Most validation is simulated</a:t>
            </a:r>
            <a:endParaRPr lang="en-US" sz="1600" dirty="0"/>
          </a:p>
          <a:p>
            <a:pPr indent="0" marL="0">
              <a:buNone/>
            </a:pPr>
            <a:r>
              <a:rPr lang="en-US" sz="1400" dirty="0">
                <a:solidFill>
                  <a:srgbClr val="55555C"/>
                </a:solidFill>
              </a:rPr>
              <a:t>Beyond one real club and two games, the evidence comes from AI agents, simulated members and local copies.</a:t>
            </a:r>
            <a:endParaRPr lang="en-US" sz="1600" dirty="0"/>
          </a:p>
        </p:txBody>
      </p:sp>
      <p:sp>
        <p:nvSpPr>
          <p:cNvPr id="6" name="Shape 4"/>
          <p:cNvSpPr/>
          <p:nvPr/>
        </p:nvSpPr>
        <p:spPr>
          <a:xfrm>
            <a:off x="548640" y="2368296"/>
            <a:ext cx="384048" cy="384048"/>
          </a:xfrm>
          <a:prstGeom prst="ellipse">
            <a:avLst/>
          </a:prstGeom>
          <a:solidFill>
            <a:srgbClr val="B26A00"/>
          </a:solidFill>
          <a:ln w="12700">
            <a:solidFill>
              <a:srgbClr val="B26A00"/>
            </a:solidFill>
            <a:prstDash val="solid"/>
          </a:ln>
        </p:spPr>
      </p:sp>
      <p:sp>
        <p:nvSpPr>
          <p:cNvPr id="7" name="Text 5"/>
          <p:cNvSpPr txBox="1"/>
          <p:nvPr/>
        </p:nvSpPr>
        <p:spPr>
          <a:xfrm>
            <a:off x="548640" y="23682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188720" y="2258568"/>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The slow path still exists</a:t>
            </a:r>
            <a:endParaRPr lang="en-US" sz="1600" dirty="0"/>
          </a:p>
          <a:p>
            <a:pPr indent="0" marL="0">
              <a:buNone/>
            </a:pPr>
            <a:r>
              <a:rPr lang="en-US" sz="1400" dirty="0">
                <a:solidFill>
                  <a:srgbClr val="55555C"/>
                </a:solidFill>
              </a:rPr>
              <a:t>When the small models are unsure, Glimmer takes about 20 to 40 s; the steps stream in, but it is still a wait.</a:t>
            </a:r>
            <a:endParaRPr lang="en-US" sz="1600" dirty="0"/>
          </a:p>
        </p:txBody>
      </p:sp>
      <p:sp>
        <p:nvSpPr>
          <p:cNvPr id="9" name="Shape 7"/>
          <p:cNvSpPr/>
          <p:nvPr/>
        </p:nvSpPr>
        <p:spPr>
          <a:xfrm>
            <a:off x="548640" y="3300984"/>
            <a:ext cx="384048" cy="384048"/>
          </a:xfrm>
          <a:prstGeom prst="ellipse">
            <a:avLst/>
          </a:prstGeom>
          <a:solidFill>
            <a:srgbClr val="B26A00"/>
          </a:solidFill>
          <a:ln w="12700">
            <a:solidFill>
              <a:srgbClr val="B26A00"/>
            </a:solidFill>
            <a:prstDash val="solid"/>
          </a:ln>
        </p:spPr>
      </p:sp>
      <p:sp>
        <p:nvSpPr>
          <p:cNvPr id="10" name="Text 8"/>
          <p:cNvSpPr txBox="1"/>
          <p:nvPr/>
        </p:nvSpPr>
        <p:spPr>
          <a:xfrm>
            <a:off x="548640" y="33009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188720" y="3191256"/>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Venues are samples</a:t>
            </a:r>
            <a:endParaRPr lang="en-US" sz="1600" dirty="0"/>
          </a:p>
          <a:p>
            <a:pPr indent="0" marL="0">
              <a:buNone/>
            </a:pPr>
            <a:r>
              <a:rPr lang="en-US" sz="1400" dirty="0">
                <a:solidFill>
                  <a:srgbClr val="55555C"/>
                </a:solidFill>
              </a:rPr>
              <a:t>No venue has joined yet, so quiet-hour prices are sample prices.</a:t>
            </a:r>
            <a:endParaRPr lang="en-US" sz="1600" dirty="0"/>
          </a:p>
        </p:txBody>
      </p:sp>
      <p:sp>
        <p:nvSpPr>
          <p:cNvPr id="12" name="Shape 10"/>
          <p:cNvSpPr/>
          <p:nvPr/>
        </p:nvSpPr>
        <p:spPr>
          <a:xfrm>
            <a:off x="548640" y="4233672"/>
            <a:ext cx="384048" cy="384048"/>
          </a:xfrm>
          <a:prstGeom prst="ellipse">
            <a:avLst/>
          </a:prstGeom>
          <a:solidFill>
            <a:srgbClr val="B26A00"/>
          </a:solidFill>
          <a:ln w="12700">
            <a:solidFill>
              <a:srgbClr val="B26A00"/>
            </a:solidFill>
            <a:prstDash val="solid"/>
          </a:ln>
        </p:spPr>
      </p:sp>
      <p:sp>
        <p:nvSpPr>
          <p:cNvPr id="13" name="Text 11"/>
          <p:cNvSpPr txBox="1"/>
          <p:nvPr/>
        </p:nvSpPr>
        <p:spPr>
          <a:xfrm>
            <a:off x="548640" y="42336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2"/>
          <p:cNvSpPr txBox="1"/>
          <p:nvPr/>
        </p:nvSpPr>
        <p:spPr>
          <a:xfrm>
            <a:off x="1188720" y="4123944"/>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The community loop has not run on real members</a:t>
            </a:r>
            <a:endParaRPr lang="en-US" sz="1600" dirty="0"/>
          </a:p>
          <a:p>
            <a:pPr indent="0" marL="0">
              <a:buNone/>
            </a:pPr>
            <a:r>
              <a:rPr lang="en-US" sz="1400" dirty="0">
                <a:solidFill>
                  <a:srgbClr val="55555C"/>
                </a:solidFill>
              </a:rPr>
              <a:t>An idea shows only once 5 different members ask for it.</a:t>
            </a:r>
            <a:endParaRPr lang="en-US" sz="1600" dirty="0"/>
          </a:p>
        </p:txBody>
      </p:sp>
      <p:sp>
        <p:nvSpPr>
          <p:cNvPr id="15" name="Shape 13"/>
          <p:cNvSpPr/>
          <p:nvPr/>
        </p:nvSpPr>
        <p:spPr>
          <a:xfrm>
            <a:off x="548640" y="5166360"/>
            <a:ext cx="384048" cy="384048"/>
          </a:xfrm>
          <a:prstGeom prst="ellipse">
            <a:avLst/>
          </a:prstGeom>
          <a:solidFill>
            <a:srgbClr val="B26A00"/>
          </a:solidFill>
          <a:ln w="12700">
            <a:solidFill>
              <a:srgbClr val="B26A00"/>
            </a:solidFill>
            <a:prstDash val="solid"/>
          </a:ln>
        </p:spPr>
      </p:sp>
      <p:sp>
        <p:nvSpPr>
          <p:cNvPr id="16" name="Text 14"/>
          <p:cNvSpPr txBox="1"/>
          <p:nvPr/>
        </p:nvSpPr>
        <p:spPr>
          <a:xfrm>
            <a:off x="548640" y="5166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7" name="Text 15"/>
          <p:cNvSpPr txBox="1"/>
          <p:nvPr/>
        </p:nvSpPr>
        <p:spPr>
          <a:xfrm>
            <a:off x="1188720" y="5056632"/>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Orbit replays are short</a:t>
            </a:r>
            <a:endParaRPr lang="en-US" sz="1600" dirty="0"/>
          </a:p>
          <a:p>
            <a:pPr indent="0" marL="0">
              <a:buNone/>
            </a:pPr>
            <a:r>
              <a:rPr lang="en-US" sz="1400" dirty="0">
                <a:solidFill>
                  <a:srgbClr val="55555C"/>
                </a:solidFill>
              </a:rPr>
              <a:t>Only arcs of about ±6 to 12° look right; otherwise a zoom.</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References 1 to 26, and where every number comes from</a:t>
            </a:r>
            <a:endParaRPr lang="en-US" sz="2800" dirty="0"/>
          </a:p>
        </p:txBody>
      </p:sp>
      <p:sp>
        <p:nvSpPr>
          <p:cNvPr id="3" name="Text 1"/>
          <p:cNvSpPr txBox="1"/>
          <p:nvPr/>
        </p:nvSpPr>
        <p:spPr>
          <a:xfrm>
            <a:off x="548640" y="1234440"/>
            <a:ext cx="3703320" cy="4937760"/>
          </a:xfrm>
          <a:prstGeom prst="rect">
            <a:avLst/>
          </a:prstGeom>
          <a:noFill/>
          <a:ln/>
        </p:spPr>
        <p:txBody>
          <a:bodyPr wrap="square" lIns="0" tIns="0" rIns="0" bIns="0" rtlCol="0" anchor="t"/>
          <a:lstStyle/>
          <a:p>
            <a:pPr indent="0" marL="0">
              <a:spcAft>
                <a:spcPts val="300"/>
              </a:spcAft>
              <a:buNone/>
            </a:pPr>
            <a:r>
              <a:rPr lang="en-US" sz="1050" dirty="0">
                <a:solidFill>
                  <a:srgbClr val="0A0A0B"/>
                </a:solidFill>
              </a:rPr>
              <a:t>1. NPR, RWJF and Harvard Chan: Sports and Health in America, 2015</a:t>
            </a:r>
            <a:endParaRPr lang="en-US" sz="1050" dirty="0"/>
          </a:p>
          <a:p>
            <a:pPr indent="0" marL="0">
              <a:spcAft>
                <a:spcPts val="300"/>
              </a:spcAft>
              <a:buNone/>
            </a:pPr>
            <a:r>
              <a:rPr lang="en-US" sz="1050" dirty="0">
                <a:solidFill>
                  <a:srgbClr val="0A0A0B"/>
                </a:solidFill>
              </a:rPr>
              <a:t>2. Sport New Zealand: Active NZ survey, 2023</a:t>
            </a:r>
            <a:endParaRPr lang="en-US" sz="1050" dirty="0"/>
          </a:p>
          <a:p>
            <a:pPr indent="0" marL="0">
              <a:spcAft>
                <a:spcPts val="300"/>
              </a:spcAft>
              <a:buNone/>
            </a:pPr>
            <a:r>
              <a:rPr lang="en-US" sz="1050" dirty="0">
                <a:solidFill>
                  <a:srgbClr val="0A0A0B"/>
                </a:solidFill>
              </a:rPr>
              <a:t>3. Agent2Agent (A2A) Protocol v1.0, Linux Foundation</a:t>
            </a:r>
            <a:endParaRPr lang="en-US" sz="1050" dirty="0"/>
          </a:p>
          <a:p>
            <a:pPr indent="0" marL="0">
              <a:spcAft>
                <a:spcPts val="300"/>
              </a:spcAft>
              <a:buNone/>
            </a:pPr>
            <a:r>
              <a:rPr lang="en-US" sz="1050" dirty="0">
                <a:solidFill>
                  <a:srgbClr val="0A0A0B"/>
                </a:solidFill>
              </a:rPr>
              <a:t>4. Smith: The Contract Net Protocol, 1980</a:t>
            </a:r>
            <a:endParaRPr lang="en-US" sz="1050" dirty="0"/>
          </a:p>
          <a:p>
            <a:pPr indent="0" marL="0">
              <a:spcAft>
                <a:spcPts val="300"/>
              </a:spcAft>
              <a:buNone/>
            </a:pPr>
            <a:r>
              <a:rPr lang="en-US" sz="1050" dirty="0">
                <a:solidFill>
                  <a:srgbClr val="0A0A0B"/>
                </a:solidFill>
              </a:rPr>
              <a:t>5. Yokoo et al.: Distributed Constraint Satisfaction, 1998</a:t>
            </a:r>
            <a:endParaRPr lang="en-US" sz="1050" dirty="0"/>
          </a:p>
          <a:p>
            <a:pPr indent="0" marL="0">
              <a:spcAft>
                <a:spcPts val="300"/>
              </a:spcAft>
              <a:buNone/>
            </a:pPr>
            <a:r>
              <a:rPr lang="en-US" sz="1050" dirty="0">
                <a:solidFill>
                  <a:srgbClr val="0A0A0B"/>
                </a:solidFill>
              </a:rPr>
              <a:t>6. Gray and Cheriton: Leases, SOSP 1989</a:t>
            </a:r>
            <a:endParaRPr lang="en-US" sz="1050" dirty="0"/>
          </a:p>
          <a:p>
            <a:pPr indent="0" marL="0">
              <a:spcAft>
                <a:spcPts val="300"/>
              </a:spcAft>
              <a:buNone/>
            </a:pPr>
            <a:r>
              <a:rPr lang="en-US" sz="1050" dirty="0">
                <a:solidFill>
                  <a:srgbClr val="0A0A0B"/>
                </a:solidFill>
              </a:rPr>
              <a:t>7. Havender: Avoiding Deadlock, 1968</a:t>
            </a:r>
            <a:endParaRPr lang="en-US" sz="1050" dirty="0"/>
          </a:p>
          <a:p>
            <a:pPr indent="0" marL="0">
              <a:spcAft>
                <a:spcPts val="300"/>
              </a:spcAft>
              <a:buNone/>
            </a:pPr>
            <a:r>
              <a:rPr lang="en-US" sz="1050" dirty="0">
                <a:solidFill>
                  <a:srgbClr val="0A0A0B"/>
                </a:solidFill>
              </a:rPr>
              <a:t>8. RFC 7515, JSON Web Signature</a:t>
            </a:r>
            <a:endParaRPr lang="en-US" sz="1050" dirty="0"/>
          </a:p>
          <a:p>
            <a:pPr indent="0" marL="0">
              <a:spcAft>
                <a:spcPts val="300"/>
              </a:spcAft>
              <a:buNone/>
            </a:pPr>
            <a:r>
              <a:rPr lang="en-US" sz="1050" dirty="0">
                <a:solidFill>
                  <a:srgbClr val="0A0A0B"/>
                </a:solidFill>
              </a:rPr>
              <a:t>9. RFC 8785, JSON Canonicalization Scheme</a:t>
            </a:r>
            <a:endParaRPr lang="en-US" sz="1050" dirty="0"/>
          </a:p>
          <a:p>
            <a:pPr indent="0" marL="0">
              <a:spcAft>
                <a:spcPts val="300"/>
              </a:spcAft>
              <a:buNone/>
            </a:pPr>
            <a:r>
              <a:rPr lang="en-US" sz="1050" dirty="0">
                <a:solidFill>
                  <a:srgbClr val="0A0A0B"/>
                </a:solidFill>
              </a:rPr>
              <a:t>10. Lalley and Weyl: Quadratic Voting, 2018</a:t>
            </a:r>
            <a:endParaRPr lang="en-US" sz="1050" dirty="0"/>
          </a:p>
          <a:p>
            <a:pPr indent="0" marL="0">
              <a:spcAft>
                <a:spcPts val="300"/>
              </a:spcAft>
              <a:buNone/>
            </a:pPr>
            <a:r>
              <a:rPr lang="en-US" sz="1050" dirty="0">
                <a:solidFill>
                  <a:srgbClr val="0A0A0B"/>
                </a:solidFill>
              </a:rPr>
              <a:t>11. LlamaFirewall, arXiv 2505.03574</a:t>
            </a:r>
            <a:endParaRPr lang="en-US" sz="1050" dirty="0"/>
          </a:p>
          <a:p>
            <a:pPr indent="0" marL="0">
              <a:spcAft>
                <a:spcPts val="300"/>
              </a:spcAft>
              <a:buNone/>
            </a:pPr>
            <a:r>
              <a:rPr lang="en-US" sz="1050" dirty="0">
                <a:solidFill>
                  <a:srgbClr val="0A0A0B"/>
                </a:solidFill>
              </a:rPr>
              <a:t>12. Darwin Gödel Machine, arXiv 2505.22954</a:t>
            </a:r>
            <a:endParaRPr lang="en-US" sz="1050" dirty="0"/>
          </a:p>
          <a:p>
            <a:pPr indent="0" marL="0">
              <a:spcAft>
                <a:spcPts val="300"/>
              </a:spcAft>
              <a:buNone/>
            </a:pPr>
            <a:r>
              <a:rPr lang="en-US" sz="1050" dirty="0">
                <a:solidFill>
                  <a:srgbClr val="0A0A0B"/>
                </a:solidFill>
              </a:rPr>
              <a:t>13. AlphaEvolve, arXiv 2506.13131</a:t>
            </a:r>
            <a:endParaRPr lang="en-US" sz="1050" dirty="0"/>
          </a:p>
        </p:txBody>
      </p:sp>
      <p:sp>
        <p:nvSpPr>
          <p:cNvPr id="4" name="Text 2"/>
          <p:cNvSpPr txBox="1"/>
          <p:nvPr/>
        </p:nvSpPr>
        <p:spPr>
          <a:xfrm>
            <a:off x="4434840" y="1234440"/>
            <a:ext cx="3703320" cy="4937760"/>
          </a:xfrm>
          <a:prstGeom prst="rect">
            <a:avLst/>
          </a:prstGeom>
          <a:noFill/>
          <a:ln/>
        </p:spPr>
        <p:txBody>
          <a:bodyPr wrap="square" lIns="0" tIns="0" rIns="0" bIns="0" rtlCol="0" anchor="t"/>
          <a:lstStyle/>
          <a:p>
            <a:pPr indent="0" marL="0">
              <a:spcAft>
                <a:spcPts val="300"/>
              </a:spcAft>
              <a:buNone/>
            </a:pPr>
            <a:r>
              <a:rPr lang="en-US" sz="1050" dirty="0">
                <a:solidFill>
                  <a:srgbClr val="0A0A0B"/>
                </a:solidFill>
              </a:rPr>
              <a:t>14. Clio, arXiv 2412.13678</a:t>
            </a:r>
            <a:endParaRPr lang="en-US" sz="1050" dirty="0"/>
          </a:p>
          <a:p>
            <a:pPr indent="0" marL="0">
              <a:spcAft>
                <a:spcPts val="300"/>
              </a:spcAft>
              <a:buNone/>
            </a:pPr>
            <a:r>
              <a:rPr lang="en-US" sz="1050" dirty="0">
                <a:solidFill>
                  <a:srgbClr val="0A0A0B"/>
                </a:solidFill>
              </a:rPr>
              <a:t>15. CaMeL, arXiv 2503.18813</a:t>
            </a:r>
            <a:endParaRPr lang="en-US" sz="1050" dirty="0"/>
          </a:p>
          <a:p>
            <a:pPr indent="0" marL="0">
              <a:spcAft>
                <a:spcPts val="300"/>
              </a:spcAft>
              <a:buNone/>
            </a:pPr>
            <a:r>
              <a:rPr lang="en-US" sz="1050" dirty="0">
                <a:solidFill>
                  <a:srgbClr val="0A0A0B"/>
                </a:solidFill>
              </a:rPr>
              <a:t>16. MapAnything, 3DV 2026</a:t>
            </a:r>
            <a:endParaRPr lang="en-US" sz="1050" dirty="0"/>
          </a:p>
          <a:p>
            <a:pPr indent="0" marL="0">
              <a:spcAft>
                <a:spcPts val="300"/>
              </a:spcAft>
              <a:buNone/>
            </a:pPr>
            <a:r>
              <a:rPr lang="en-US" sz="1050" dirty="0">
                <a:solidFill>
                  <a:srgbClr val="0A0A0B"/>
                </a:solidFill>
              </a:rPr>
              <a:t>17. SAM 2, 2024</a:t>
            </a:r>
            <a:endParaRPr lang="en-US" sz="1050" dirty="0"/>
          </a:p>
          <a:p>
            <a:pPr indent="0" marL="0">
              <a:spcAft>
                <a:spcPts val="300"/>
              </a:spcAft>
              <a:buNone/>
            </a:pPr>
            <a:r>
              <a:rPr lang="en-US" sz="1050" dirty="0">
                <a:solidFill>
                  <a:srgbClr val="0A0A0B"/>
                </a:solidFill>
              </a:rPr>
              <a:t>18. RT-DETR, CVPR 2024</a:t>
            </a:r>
            <a:endParaRPr lang="en-US" sz="1050" dirty="0"/>
          </a:p>
          <a:p>
            <a:pPr indent="0" marL="0">
              <a:spcAft>
                <a:spcPts val="300"/>
              </a:spcAft>
              <a:buNone/>
            </a:pPr>
            <a:r>
              <a:rPr lang="en-US" sz="1050" dirty="0">
                <a:solidFill>
                  <a:srgbClr val="0A0A0B"/>
                </a:solidFill>
              </a:rPr>
              <a:t>19. FrugalGPT, arXiv 2305.05176</a:t>
            </a:r>
            <a:endParaRPr lang="en-US" sz="1050" dirty="0"/>
          </a:p>
          <a:p>
            <a:pPr indent="0" marL="0">
              <a:spcAft>
                <a:spcPts val="300"/>
              </a:spcAft>
              <a:buNone/>
            </a:pPr>
            <a:r>
              <a:rPr lang="en-US" sz="1050" dirty="0">
                <a:solidFill>
                  <a:srgbClr val="0A0A0B"/>
                </a:solidFill>
              </a:rPr>
              <a:t>20. TypeSafe: Jev decision models, 2026</a:t>
            </a:r>
            <a:endParaRPr lang="en-US" sz="1050" dirty="0"/>
          </a:p>
          <a:p>
            <a:pPr indent="0" marL="0">
              <a:spcAft>
                <a:spcPts val="300"/>
              </a:spcAft>
              <a:buNone/>
            </a:pPr>
            <a:r>
              <a:rPr lang="en-US" sz="1050" dirty="0">
                <a:solidFill>
                  <a:srgbClr val="0A0A0B"/>
                </a:solidFill>
              </a:rPr>
              <a:t>21. Meta: Agents Rule of Two, 2025</a:t>
            </a:r>
            <a:endParaRPr lang="en-US" sz="1050" dirty="0"/>
          </a:p>
          <a:p>
            <a:pPr indent="0" marL="0">
              <a:spcAft>
                <a:spcPts val="300"/>
              </a:spcAft>
              <a:buNone/>
            </a:pPr>
            <a:r>
              <a:rPr lang="en-US" sz="1050" dirty="0">
                <a:solidFill>
                  <a:srgbClr val="0A0A0B"/>
                </a:solidFill>
              </a:rPr>
              <a:t>22. Ramdas et al.: Safe Anytime-Valid Inference, 2023</a:t>
            </a:r>
            <a:endParaRPr lang="en-US" sz="1050" dirty="0"/>
          </a:p>
          <a:p>
            <a:pPr indent="0" marL="0">
              <a:spcAft>
                <a:spcPts val="300"/>
              </a:spcAft>
              <a:buNone/>
            </a:pPr>
            <a:r>
              <a:rPr lang="en-US" sz="1050" dirty="0">
                <a:solidFill>
                  <a:srgbClr val="0A0A0B"/>
                </a:solidFill>
              </a:rPr>
              <a:t>23. DEER: Dynamic Early Exit, arXiv 2504.15895</a:t>
            </a:r>
            <a:endParaRPr lang="en-US" sz="1050" dirty="0"/>
          </a:p>
          <a:p>
            <a:pPr indent="0" marL="0">
              <a:spcAft>
                <a:spcPts val="300"/>
              </a:spcAft>
              <a:buNone/>
            </a:pPr>
            <a:r>
              <a:rPr lang="en-US" sz="1050" dirty="0">
                <a:solidFill>
                  <a:srgbClr val="0A0A0B"/>
                </a:solidFill>
              </a:rPr>
              <a:t>24. Pep, arXiv 2602.15012</a:t>
            </a:r>
            <a:endParaRPr lang="en-US" sz="1050" dirty="0"/>
          </a:p>
          <a:p>
            <a:pPr indent="0" marL="0">
              <a:spcAft>
                <a:spcPts val="300"/>
              </a:spcAft>
              <a:buNone/>
            </a:pPr>
            <a:r>
              <a:rPr lang="en-US" sz="1050" dirty="0">
                <a:solidFill>
                  <a:srgbClr val="0A0A0B"/>
                </a:solidFill>
              </a:rPr>
              <a:t>25. VPL, NeurIPS 2024</a:t>
            </a:r>
            <a:endParaRPr lang="en-US" sz="1050" dirty="0"/>
          </a:p>
          <a:p>
            <a:pPr indent="0" marL="0">
              <a:spcAft>
                <a:spcPts val="300"/>
              </a:spcAft>
              <a:buNone/>
            </a:pPr>
            <a:r>
              <a:rPr lang="en-US" sz="1050" dirty="0">
                <a:solidFill>
                  <a:srgbClr val="0A0A0B"/>
                </a:solidFill>
              </a:rPr>
              <a:t>26. Consensus vs. Dissent, RecSys 2026</a:t>
            </a:r>
            <a:endParaRPr lang="en-US" sz="1050" dirty="0"/>
          </a:p>
        </p:txBody>
      </p:sp>
      <p:sp>
        <p:nvSpPr>
          <p:cNvPr id="5" name="Shape 3"/>
          <p:cNvSpPr/>
          <p:nvPr/>
        </p:nvSpPr>
        <p:spPr>
          <a:xfrm>
            <a:off x="8412480" y="1234440"/>
            <a:ext cx="3230575" cy="4892040"/>
          </a:xfrm>
          <a:prstGeom prst="roundRect">
            <a:avLst>
              <a:gd name="adj" fmla="val 2264"/>
            </a:avLst>
          </a:prstGeom>
          <a:solidFill>
            <a:srgbClr val="E9F3EC"/>
          </a:solidFill>
          <a:ln w="12700">
            <a:solidFill>
              <a:srgbClr val="E9F3EC"/>
            </a:solidFill>
            <a:prstDash val="solid"/>
          </a:ln>
        </p:spPr>
      </p:sp>
      <p:sp>
        <p:nvSpPr>
          <p:cNvPr id="6" name="Text 4"/>
          <p:cNvSpPr txBox="1"/>
          <p:nvPr/>
        </p:nvSpPr>
        <p:spPr>
          <a:xfrm>
            <a:off x="8595360" y="1371600"/>
            <a:ext cx="2864815" cy="4663440"/>
          </a:xfrm>
          <a:prstGeom prst="rect">
            <a:avLst/>
          </a:prstGeom>
          <a:noFill/>
          <a:ln/>
        </p:spPr>
        <p:txBody>
          <a:bodyPr wrap="square" lIns="0" tIns="0" rIns="0" bIns="0" rtlCol="0" anchor="t"/>
          <a:lstStyle/>
          <a:p>
            <a:pPr indent="0" marL="0">
              <a:spcAft>
                <a:spcPts val="800"/>
              </a:spcAft>
              <a:buNone/>
            </a:pPr>
            <a:r>
              <a:rPr lang="en-US" sz="1400" b="1" dirty="0">
                <a:solidFill>
                  <a:srgbClr val="0A7F44"/>
                </a:solidFill>
              </a:rPr>
              <a:t>Where the numbers come from</a:t>
            </a:r>
            <a:endParaRPr lang="en-US" sz="1150" dirty="0"/>
          </a:p>
          <a:p>
            <a:pPr indent="0" marL="0">
              <a:spcAft>
                <a:spcPts val="800"/>
              </a:spcAft>
              <a:buNone/>
            </a:pPr>
            <a:r>
              <a:rPr lang="en-US" sz="1150" dirty="0">
                <a:solidFill>
                  <a:srgbClr val="0A0A0B"/>
                </a:solidFill>
              </a:rPr>
              <a:t>Each number is from a result file in submission/results/ or from docs/ in the repository: the student in docs/decision_model.md, the agent testing in submission/agent_testing.md.</a:t>
            </a:r>
            <a:endParaRPr lang="en-US" sz="1150" dirty="0"/>
          </a:p>
          <a:p>
            <a:pPr indent="0" marL="0">
              <a:spcAft>
                <a:spcPts val="800"/>
              </a:spcAft>
              <a:buNone/>
            </a:pPr>
            <a:r>
              <a:rPr lang="en-US" sz="1150" dirty="0">
                <a:solidFill>
                  <a:srgbClr val="0A0A0B"/>
                </a:solidFill>
              </a:rPr>
              <a:t>Real and simulated: the badminton club is real people; the demo club, the evaluation clubs and the testers' members are simulated, and the testers were AI models.</a:t>
            </a:r>
            <a:endParaRPr lang="en-US" sz="1150" dirty="0"/>
          </a:p>
          <a:p>
            <a:pPr indent="0" marL="0">
              <a:spcAft>
                <a:spcPts val="800"/>
              </a:spcAft>
              <a:buNone/>
            </a:pPr>
            <a:r>
              <a:rPr lang="en-US" sz="1150" dirty="0">
                <a:solidFill>
                  <a:srgbClr val="0A0A0B"/>
                </a:solidFill>
              </a:rPr>
              <a:t>Built during the hackathon, from October 27; an AI coding agent wrote code to our instructions, credited in the commits.</a:t>
            </a:r>
            <a:endParaRPr lang="en-US" sz="11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algorithm behind each part, with its reference</a:t>
            </a:r>
            <a:endParaRPr lang="en-US" sz="2800" dirty="0"/>
          </a:p>
        </p:txBody>
      </p:sp>
      <p:sp>
        <p:nvSpPr>
          <p:cNvPr id="3" name="Shape 1"/>
          <p:cNvSpPr/>
          <p:nvPr/>
        </p:nvSpPr>
        <p:spPr>
          <a:xfrm>
            <a:off x="548640" y="1234440"/>
            <a:ext cx="5440680" cy="512064"/>
          </a:xfrm>
          <a:prstGeom prst="roundRect">
            <a:avLst>
              <a:gd name="adj" fmla="val 8929"/>
            </a:avLst>
          </a:prstGeom>
          <a:solidFill>
            <a:srgbClr val="F3F6F4"/>
          </a:solidFill>
          <a:ln w="12700">
            <a:solidFill>
              <a:srgbClr val="F3F6F4"/>
            </a:solidFill>
            <a:prstDash val="solid"/>
          </a:ln>
        </p:spPr>
      </p:sp>
      <p:sp>
        <p:nvSpPr>
          <p:cNvPr id="4" name="Text 2"/>
          <p:cNvSpPr txBox="1"/>
          <p:nvPr/>
        </p:nvSpPr>
        <p:spPr>
          <a:xfrm>
            <a:off x="685800" y="123444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Negotiation</a:t>
            </a:r>
            <a:endParaRPr lang="en-US" sz="1200" dirty="0"/>
          </a:p>
        </p:txBody>
      </p:sp>
      <p:sp>
        <p:nvSpPr>
          <p:cNvPr id="5" name="Text 3"/>
          <p:cNvSpPr txBox="1"/>
          <p:nvPr/>
        </p:nvSpPr>
        <p:spPr>
          <a:xfrm>
            <a:off x="2468880" y="1234440"/>
            <a:ext cx="3429000" cy="512064"/>
          </a:xfrm>
          <a:prstGeom prst="rect">
            <a:avLst/>
          </a:prstGeom>
          <a:noFill/>
          <a:ln/>
        </p:spPr>
        <p:txBody>
          <a:bodyPr wrap="square" lIns="0" tIns="0" rIns="0" bIns="0" rtlCol="0" anchor="ctr"/>
          <a:lstStyle/>
          <a:p>
            <a:pPr indent="0" marL="0">
              <a:buNone/>
            </a:pPr>
            <a:r>
              <a:rPr lang="en-US" sz="1100" dirty="0">
                <a:solidFill>
                  <a:srgbClr val="0A0A0B"/>
                </a:solidFill>
              </a:rPr>
              <a:t>Contract Net with a one-shot intersection; distributed constraint satisfaction </a:t>
            </a:r>
            <a:pPr indent="0" marL="0">
              <a:buNone/>
            </a:pPr>
            <a:r>
              <a:rPr lang="en-US" sz="1100" b="1" dirty="0">
                <a:solidFill>
                  <a:srgbClr val="0064E0"/>
                </a:solidFill>
              </a:rPr>
              <a:t>[4, 5]</a:t>
            </a:r>
            <a:endParaRPr lang="en-US" sz="1100" dirty="0"/>
          </a:p>
        </p:txBody>
      </p:sp>
      <p:sp>
        <p:nvSpPr>
          <p:cNvPr id="6" name="Shape 4"/>
          <p:cNvSpPr/>
          <p:nvPr/>
        </p:nvSpPr>
        <p:spPr>
          <a:xfrm>
            <a:off x="548640" y="1837944"/>
            <a:ext cx="5440680" cy="512064"/>
          </a:xfrm>
          <a:prstGeom prst="roundRect">
            <a:avLst>
              <a:gd name="adj" fmla="val 8929"/>
            </a:avLst>
          </a:prstGeom>
          <a:solidFill>
            <a:srgbClr val="FFFFFF"/>
          </a:solidFill>
          <a:ln w="12700">
            <a:solidFill>
              <a:srgbClr val="FFFFFF"/>
            </a:solidFill>
            <a:prstDash val="solid"/>
          </a:ln>
        </p:spPr>
      </p:sp>
      <p:sp>
        <p:nvSpPr>
          <p:cNvPr id="7" name="Text 5"/>
          <p:cNvSpPr txBox="1"/>
          <p:nvPr/>
        </p:nvSpPr>
        <p:spPr>
          <a:xfrm>
            <a:off x="685800" y="183794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Holds</a:t>
            </a:r>
            <a:endParaRPr lang="en-US" sz="1200" dirty="0"/>
          </a:p>
        </p:txBody>
      </p:sp>
      <p:sp>
        <p:nvSpPr>
          <p:cNvPr id="8" name="Text 6"/>
          <p:cNvSpPr txBox="1"/>
          <p:nvPr/>
        </p:nvSpPr>
        <p:spPr>
          <a:xfrm>
            <a:off x="2468880" y="1837944"/>
            <a:ext cx="3429000" cy="512064"/>
          </a:xfrm>
          <a:prstGeom prst="rect">
            <a:avLst/>
          </a:prstGeom>
          <a:noFill/>
          <a:ln/>
        </p:spPr>
        <p:txBody>
          <a:bodyPr wrap="square" lIns="0" tIns="0" rIns="0" bIns="0" rtlCol="0" anchor="ctr"/>
          <a:lstStyle/>
          <a:p>
            <a:pPr indent="0" marL="0">
              <a:buNone/>
            </a:pPr>
            <a:r>
              <a:rPr lang="en-US" sz="1100" dirty="0">
                <a:solidFill>
                  <a:srgbClr val="0A0A0B"/>
                </a:solidFill>
              </a:rPr>
              <a:t>leases with resource ordering (no deadlock) </a:t>
            </a:r>
            <a:pPr indent="0" marL="0">
              <a:buNone/>
            </a:pPr>
            <a:r>
              <a:rPr lang="en-US" sz="1100" b="1" dirty="0">
                <a:solidFill>
                  <a:srgbClr val="0064E0"/>
                </a:solidFill>
              </a:rPr>
              <a:t>[6, 7]</a:t>
            </a:r>
            <a:endParaRPr lang="en-US" sz="1100" dirty="0"/>
          </a:p>
        </p:txBody>
      </p:sp>
      <p:sp>
        <p:nvSpPr>
          <p:cNvPr id="9" name="Shape 7"/>
          <p:cNvSpPr/>
          <p:nvPr/>
        </p:nvSpPr>
        <p:spPr>
          <a:xfrm>
            <a:off x="548640" y="2441448"/>
            <a:ext cx="5440680" cy="512064"/>
          </a:xfrm>
          <a:prstGeom prst="roundRect">
            <a:avLst>
              <a:gd name="adj" fmla="val 8929"/>
            </a:avLst>
          </a:prstGeom>
          <a:solidFill>
            <a:srgbClr val="F3F6F4"/>
          </a:solidFill>
          <a:ln w="12700">
            <a:solidFill>
              <a:srgbClr val="F3F6F4"/>
            </a:solidFill>
            <a:prstDash val="solid"/>
          </a:ln>
        </p:spPr>
      </p:sp>
      <p:sp>
        <p:nvSpPr>
          <p:cNvPr id="10" name="Text 8"/>
          <p:cNvSpPr txBox="1"/>
          <p:nvPr/>
        </p:nvSpPr>
        <p:spPr>
          <a:xfrm>
            <a:off x="685800" y="244144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Signed cards and consent</a:t>
            </a:r>
            <a:endParaRPr lang="en-US" sz="1200" dirty="0"/>
          </a:p>
        </p:txBody>
      </p:sp>
      <p:sp>
        <p:nvSpPr>
          <p:cNvPr id="11" name="Text 9"/>
          <p:cNvSpPr txBox="1"/>
          <p:nvPr/>
        </p:nvSpPr>
        <p:spPr>
          <a:xfrm>
            <a:off x="2468880" y="2441448"/>
            <a:ext cx="3429000" cy="512064"/>
          </a:xfrm>
          <a:prstGeom prst="rect">
            <a:avLst/>
          </a:prstGeom>
          <a:noFill/>
          <a:ln/>
        </p:spPr>
        <p:txBody>
          <a:bodyPr wrap="square" lIns="0" tIns="0" rIns="0" bIns="0" rtlCol="0" anchor="ctr"/>
          <a:lstStyle/>
          <a:p>
            <a:pPr indent="0" marL="0">
              <a:buNone/>
            </a:pPr>
            <a:r>
              <a:rPr lang="en-US" sz="1100" dirty="0">
                <a:solidFill>
                  <a:srgbClr val="0A0A0B"/>
                </a:solidFill>
              </a:rPr>
              <a:t>JWS over canonical JSON, Ed25519; a hash chain </a:t>
            </a:r>
            <a:pPr indent="0" marL="0">
              <a:buNone/>
            </a:pPr>
            <a:r>
              <a:rPr lang="en-US" sz="1100" b="1" dirty="0">
                <a:solidFill>
                  <a:srgbClr val="0064E0"/>
                </a:solidFill>
              </a:rPr>
              <a:t>[8, 9]</a:t>
            </a:r>
            <a:endParaRPr lang="en-US" sz="1100" dirty="0"/>
          </a:p>
        </p:txBody>
      </p:sp>
      <p:sp>
        <p:nvSpPr>
          <p:cNvPr id="12" name="Shape 10"/>
          <p:cNvSpPr/>
          <p:nvPr/>
        </p:nvSpPr>
        <p:spPr>
          <a:xfrm>
            <a:off x="548640" y="3044952"/>
            <a:ext cx="5440680" cy="512064"/>
          </a:xfrm>
          <a:prstGeom prst="roundRect">
            <a:avLst>
              <a:gd name="adj" fmla="val 8929"/>
            </a:avLst>
          </a:prstGeom>
          <a:solidFill>
            <a:srgbClr val="FFFFFF"/>
          </a:solidFill>
          <a:ln w="12700">
            <a:solidFill>
              <a:srgbClr val="FFFFFF"/>
            </a:solidFill>
            <a:prstDash val="solid"/>
          </a:ln>
        </p:spPr>
      </p:sp>
      <p:sp>
        <p:nvSpPr>
          <p:cNvPr id="13" name="Text 11"/>
          <p:cNvSpPr txBox="1"/>
          <p:nvPr/>
        </p:nvSpPr>
        <p:spPr>
          <a:xfrm>
            <a:off x="685800" y="3044952"/>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Asking one question</a:t>
            </a:r>
            <a:endParaRPr lang="en-US" sz="1200" dirty="0"/>
          </a:p>
        </p:txBody>
      </p:sp>
      <p:sp>
        <p:nvSpPr>
          <p:cNvPr id="14" name="Text 12"/>
          <p:cNvSpPr txBox="1"/>
          <p:nvPr/>
        </p:nvSpPr>
        <p:spPr>
          <a:xfrm>
            <a:off x="2468880" y="3044952"/>
            <a:ext cx="3429000" cy="512064"/>
          </a:xfrm>
          <a:prstGeom prst="rect">
            <a:avLst/>
          </a:prstGeom>
          <a:noFill/>
          <a:ln/>
        </p:spPr>
        <p:txBody>
          <a:bodyPr wrap="square" lIns="0" tIns="0" rIns="0" bIns="0" rtlCol="0" anchor="ctr"/>
          <a:lstStyle/>
          <a:p>
            <a:pPr indent="0" marL="0">
              <a:buNone/>
            </a:pPr>
            <a:r>
              <a:rPr lang="en-US" sz="1100" dirty="0">
                <a:solidFill>
                  <a:srgbClr val="0A0A0B"/>
                </a:solidFill>
              </a:rPr>
              <a:t>value of information over Beta posteriors; shared structure across people </a:t>
            </a:r>
            <a:pPr indent="0" marL="0">
              <a:buNone/>
            </a:pPr>
            <a:r>
              <a:rPr lang="en-US" sz="1100" b="1" dirty="0">
                <a:solidFill>
                  <a:srgbClr val="0064E0"/>
                </a:solidFill>
              </a:rPr>
              <a:t>[24, 25]</a:t>
            </a:r>
            <a:endParaRPr lang="en-US" sz="1100" dirty="0"/>
          </a:p>
        </p:txBody>
      </p:sp>
      <p:sp>
        <p:nvSpPr>
          <p:cNvPr id="15" name="Shape 13"/>
          <p:cNvSpPr/>
          <p:nvPr/>
        </p:nvSpPr>
        <p:spPr>
          <a:xfrm>
            <a:off x="548640" y="3648456"/>
            <a:ext cx="5440680" cy="512064"/>
          </a:xfrm>
          <a:prstGeom prst="roundRect">
            <a:avLst>
              <a:gd name="adj" fmla="val 8929"/>
            </a:avLst>
          </a:prstGeom>
          <a:solidFill>
            <a:srgbClr val="F3F6F4"/>
          </a:solidFill>
          <a:ln w="12700">
            <a:solidFill>
              <a:srgbClr val="F3F6F4"/>
            </a:solidFill>
            <a:prstDash val="solid"/>
          </a:ln>
        </p:spPr>
      </p:sp>
      <p:sp>
        <p:nvSpPr>
          <p:cNvPr id="16" name="Text 14"/>
          <p:cNvSpPr txBox="1"/>
          <p:nvPr/>
        </p:nvSpPr>
        <p:spPr>
          <a:xfrm>
            <a:off x="685800" y="3648456"/>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Ranking times</a:t>
            </a:r>
            <a:endParaRPr lang="en-US" sz="1200" dirty="0"/>
          </a:p>
        </p:txBody>
      </p:sp>
      <p:sp>
        <p:nvSpPr>
          <p:cNvPr id="17" name="Text 15"/>
          <p:cNvSpPr txBox="1"/>
          <p:nvPr/>
        </p:nvSpPr>
        <p:spPr>
          <a:xfrm>
            <a:off x="2468880" y="3648456"/>
            <a:ext cx="3429000" cy="512064"/>
          </a:xfrm>
          <a:prstGeom prst="rect">
            <a:avLst/>
          </a:prstGeom>
          <a:noFill/>
          <a:ln/>
        </p:spPr>
        <p:txBody>
          <a:bodyPr wrap="square" lIns="0" tIns="0" rIns="0" bIns="0" rtlCol="0" anchor="ctr"/>
          <a:lstStyle/>
          <a:p>
            <a:pPr indent="0" marL="0">
              <a:buNone/>
            </a:pPr>
            <a:r>
              <a:rPr lang="en-US" sz="1100" dirty="0">
                <a:solidFill>
                  <a:srgbClr val="0A0A0B"/>
                </a:solidFill>
              </a:rPr>
              <a:t>product of chances with a least-misery floor </a:t>
            </a:r>
            <a:pPr indent="0" marL="0">
              <a:buNone/>
            </a:pPr>
            <a:r>
              <a:rPr lang="en-US" sz="1100" b="1" dirty="0">
                <a:solidFill>
                  <a:srgbClr val="0064E0"/>
                </a:solidFill>
              </a:rPr>
              <a:t>[26]</a:t>
            </a:r>
            <a:endParaRPr lang="en-US" sz="1100" dirty="0"/>
          </a:p>
        </p:txBody>
      </p:sp>
      <p:sp>
        <p:nvSpPr>
          <p:cNvPr id="18" name="Shape 16"/>
          <p:cNvSpPr/>
          <p:nvPr/>
        </p:nvSpPr>
        <p:spPr>
          <a:xfrm>
            <a:off x="548640" y="4251960"/>
            <a:ext cx="5440680" cy="512064"/>
          </a:xfrm>
          <a:prstGeom prst="roundRect">
            <a:avLst>
              <a:gd name="adj" fmla="val 8929"/>
            </a:avLst>
          </a:prstGeom>
          <a:solidFill>
            <a:srgbClr val="FFFFFF"/>
          </a:solidFill>
          <a:ln w="12700">
            <a:solidFill>
              <a:srgbClr val="FFFFFF"/>
            </a:solidFill>
            <a:prstDash val="solid"/>
          </a:ln>
        </p:spPr>
      </p:sp>
      <p:sp>
        <p:nvSpPr>
          <p:cNvPr id="19" name="Text 17"/>
          <p:cNvSpPr txBox="1"/>
          <p:nvPr/>
        </p:nvSpPr>
        <p:spPr>
          <a:xfrm>
            <a:off x="685800" y="425196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Decision tiers</a:t>
            </a:r>
            <a:endParaRPr lang="en-US" sz="1200" dirty="0"/>
          </a:p>
        </p:txBody>
      </p:sp>
      <p:sp>
        <p:nvSpPr>
          <p:cNvPr id="20" name="Text 18"/>
          <p:cNvSpPr txBox="1"/>
          <p:nvPr/>
        </p:nvSpPr>
        <p:spPr>
          <a:xfrm>
            <a:off x="2468880" y="4251960"/>
            <a:ext cx="3429000" cy="512064"/>
          </a:xfrm>
          <a:prstGeom prst="rect">
            <a:avLst/>
          </a:prstGeom>
          <a:noFill/>
          <a:ln/>
        </p:spPr>
        <p:txBody>
          <a:bodyPr wrap="square" lIns="0" tIns="0" rIns="0" bIns="0" rtlCol="0" anchor="ctr"/>
          <a:lstStyle/>
          <a:p>
            <a:pPr indent="0" marL="0">
              <a:buNone/>
            </a:pPr>
            <a:r>
              <a:rPr lang="en-US" sz="1100" dirty="0">
                <a:solidFill>
                  <a:srgbClr val="0A0A0B"/>
                </a:solidFill>
              </a:rPr>
              <a:t>a cascade of models, cheapest first </a:t>
            </a:r>
            <a:pPr indent="0" marL="0">
              <a:buNone/>
            </a:pPr>
            <a:r>
              <a:rPr lang="en-US" sz="1100" b="1" dirty="0">
                <a:solidFill>
                  <a:srgbClr val="0064E0"/>
                </a:solidFill>
              </a:rPr>
              <a:t>[19]</a:t>
            </a:r>
            <a:endParaRPr lang="en-US" sz="1100" dirty="0"/>
          </a:p>
        </p:txBody>
      </p:sp>
      <p:sp>
        <p:nvSpPr>
          <p:cNvPr id="21" name="Shape 19"/>
          <p:cNvSpPr/>
          <p:nvPr/>
        </p:nvSpPr>
        <p:spPr>
          <a:xfrm>
            <a:off x="548640" y="4855464"/>
            <a:ext cx="5440680" cy="512064"/>
          </a:xfrm>
          <a:prstGeom prst="roundRect">
            <a:avLst>
              <a:gd name="adj" fmla="val 8929"/>
            </a:avLst>
          </a:prstGeom>
          <a:solidFill>
            <a:srgbClr val="F3F6F4"/>
          </a:solidFill>
          <a:ln w="12700">
            <a:solidFill>
              <a:srgbClr val="F3F6F4"/>
            </a:solidFill>
            <a:prstDash val="solid"/>
          </a:ln>
        </p:spPr>
      </p:sp>
      <p:sp>
        <p:nvSpPr>
          <p:cNvPr id="22" name="Text 20"/>
          <p:cNvSpPr txBox="1"/>
          <p:nvPr/>
        </p:nvSpPr>
        <p:spPr>
          <a:xfrm>
            <a:off x="685800" y="485546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Early exit</a:t>
            </a:r>
            <a:endParaRPr lang="en-US" sz="1200" dirty="0"/>
          </a:p>
        </p:txBody>
      </p:sp>
      <p:sp>
        <p:nvSpPr>
          <p:cNvPr id="23" name="Text 21"/>
          <p:cNvSpPr txBox="1"/>
          <p:nvPr/>
        </p:nvSpPr>
        <p:spPr>
          <a:xfrm>
            <a:off x="2468880" y="4855464"/>
            <a:ext cx="3429000" cy="512064"/>
          </a:xfrm>
          <a:prstGeom prst="rect">
            <a:avLst/>
          </a:prstGeom>
          <a:noFill/>
          <a:ln/>
        </p:spPr>
        <p:txBody>
          <a:bodyPr wrap="square" lIns="0" tIns="0" rIns="0" bIns="0" rtlCol="0" anchor="ctr"/>
          <a:lstStyle/>
          <a:p>
            <a:pPr indent="0" marL="0">
              <a:buNone/>
            </a:pPr>
            <a:r>
              <a:rPr lang="en-US" sz="1100" dirty="0">
                <a:solidFill>
                  <a:srgbClr val="0A0A0B"/>
                </a:solidFill>
              </a:rPr>
              <a:t>dynamic early exit from reasoning </a:t>
            </a:r>
            <a:pPr indent="0" marL="0">
              <a:buNone/>
            </a:pPr>
            <a:r>
              <a:rPr lang="en-US" sz="1100" b="1" dirty="0">
                <a:solidFill>
                  <a:srgbClr val="0064E0"/>
                </a:solidFill>
              </a:rPr>
              <a:t>[23]</a:t>
            </a:r>
            <a:endParaRPr lang="en-US" sz="1100" dirty="0"/>
          </a:p>
        </p:txBody>
      </p:sp>
      <p:sp>
        <p:nvSpPr>
          <p:cNvPr id="24" name="Shape 22"/>
          <p:cNvSpPr/>
          <p:nvPr/>
        </p:nvSpPr>
        <p:spPr>
          <a:xfrm>
            <a:off x="548640" y="5458968"/>
            <a:ext cx="5440680" cy="512064"/>
          </a:xfrm>
          <a:prstGeom prst="roundRect">
            <a:avLst>
              <a:gd name="adj" fmla="val 8929"/>
            </a:avLst>
          </a:prstGeom>
          <a:solidFill>
            <a:srgbClr val="FFFFFF"/>
          </a:solidFill>
          <a:ln w="12700">
            <a:solidFill>
              <a:srgbClr val="FFFFFF"/>
            </a:solidFill>
            <a:prstDash val="solid"/>
          </a:ln>
        </p:spPr>
      </p:sp>
      <p:sp>
        <p:nvSpPr>
          <p:cNvPr id="25" name="Text 23"/>
          <p:cNvSpPr txBox="1"/>
          <p:nvPr/>
        </p:nvSpPr>
        <p:spPr>
          <a:xfrm>
            <a:off x="685800" y="545896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Rollback</a:t>
            </a:r>
            <a:endParaRPr lang="en-US" sz="1200" dirty="0"/>
          </a:p>
        </p:txBody>
      </p:sp>
      <p:sp>
        <p:nvSpPr>
          <p:cNvPr id="26" name="Text 24"/>
          <p:cNvSpPr txBox="1"/>
          <p:nvPr/>
        </p:nvSpPr>
        <p:spPr>
          <a:xfrm>
            <a:off x="2468880" y="5458968"/>
            <a:ext cx="3429000" cy="512064"/>
          </a:xfrm>
          <a:prstGeom prst="rect">
            <a:avLst/>
          </a:prstGeom>
          <a:noFill/>
          <a:ln/>
        </p:spPr>
        <p:txBody>
          <a:bodyPr wrap="square" lIns="0" tIns="0" rIns="0" bIns="0" rtlCol="0" anchor="ctr"/>
          <a:lstStyle/>
          <a:p>
            <a:pPr indent="0" marL="0">
              <a:buNone/>
            </a:pPr>
            <a:r>
              <a:rPr lang="en-US" sz="1100" dirty="0">
                <a:solidFill>
                  <a:srgbClr val="0A0A0B"/>
                </a:solidFill>
              </a:rPr>
              <a:t>an anytime-valid e-process test </a:t>
            </a:r>
            <a:pPr indent="0" marL="0">
              <a:buNone/>
            </a:pPr>
            <a:r>
              <a:rPr lang="en-US" sz="1100" b="1" dirty="0">
                <a:solidFill>
                  <a:srgbClr val="0064E0"/>
                </a:solidFill>
              </a:rPr>
              <a:t>[22]</a:t>
            </a:r>
            <a:endParaRPr lang="en-US" sz="1100" dirty="0"/>
          </a:p>
        </p:txBody>
      </p:sp>
      <p:sp>
        <p:nvSpPr>
          <p:cNvPr id="27" name="Shape 25"/>
          <p:cNvSpPr/>
          <p:nvPr/>
        </p:nvSpPr>
        <p:spPr>
          <a:xfrm>
            <a:off x="6172200" y="1234440"/>
            <a:ext cx="5440680" cy="512064"/>
          </a:xfrm>
          <a:prstGeom prst="roundRect">
            <a:avLst>
              <a:gd name="adj" fmla="val 8929"/>
            </a:avLst>
          </a:prstGeom>
          <a:solidFill>
            <a:srgbClr val="F3F6F4"/>
          </a:solidFill>
          <a:ln w="12700">
            <a:solidFill>
              <a:srgbClr val="F3F6F4"/>
            </a:solidFill>
            <a:prstDash val="solid"/>
          </a:ln>
        </p:spPr>
      </p:sp>
      <p:sp>
        <p:nvSpPr>
          <p:cNvPr id="28" name="Text 26"/>
          <p:cNvSpPr txBox="1"/>
          <p:nvPr/>
        </p:nvSpPr>
        <p:spPr>
          <a:xfrm>
            <a:off x="6309360" y="123444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Votes</a:t>
            </a:r>
            <a:endParaRPr lang="en-US" sz="1200" dirty="0"/>
          </a:p>
        </p:txBody>
      </p:sp>
      <p:sp>
        <p:nvSpPr>
          <p:cNvPr id="29" name="Text 27"/>
          <p:cNvSpPr txBox="1"/>
          <p:nvPr/>
        </p:nvSpPr>
        <p:spPr>
          <a:xfrm>
            <a:off x="8092440" y="1234440"/>
            <a:ext cx="3429000" cy="512064"/>
          </a:xfrm>
          <a:prstGeom prst="rect">
            <a:avLst/>
          </a:prstGeom>
          <a:noFill/>
          <a:ln/>
        </p:spPr>
        <p:txBody>
          <a:bodyPr wrap="square" lIns="0" tIns="0" rIns="0" bIns="0" rtlCol="0" anchor="ctr"/>
          <a:lstStyle/>
          <a:p>
            <a:pPr indent="0" marL="0">
              <a:buNone/>
            </a:pPr>
            <a:r>
              <a:rPr lang="en-US" sz="1100" dirty="0">
                <a:solidFill>
                  <a:srgbClr val="0A0A0B"/>
                </a:solidFill>
              </a:rPr>
              <a:t>quadratic voting </a:t>
            </a:r>
            <a:pPr indent="0" marL="0">
              <a:buNone/>
            </a:pPr>
            <a:r>
              <a:rPr lang="en-US" sz="1100" b="1" dirty="0">
                <a:solidFill>
                  <a:srgbClr val="0064E0"/>
                </a:solidFill>
              </a:rPr>
              <a:t>[10]</a:t>
            </a:r>
            <a:endParaRPr lang="en-US" sz="1100" dirty="0"/>
          </a:p>
        </p:txBody>
      </p:sp>
      <p:sp>
        <p:nvSpPr>
          <p:cNvPr id="30" name="Shape 28"/>
          <p:cNvSpPr/>
          <p:nvPr/>
        </p:nvSpPr>
        <p:spPr>
          <a:xfrm>
            <a:off x="6172200" y="1837944"/>
            <a:ext cx="5440680" cy="512064"/>
          </a:xfrm>
          <a:prstGeom prst="roundRect">
            <a:avLst>
              <a:gd name="adj" fmla="val 8929"/>
            </a:avLst>
          </a:prstGeom>
          <a:solidFill>
            <a:srgbClr val="FFFFFF"/>
          </a:solidFill>
          <a:ln w="12700">
            <a:solidFill>
              <a:srgbClr val="FFFFFF"/>
            </a:solidFill>
            <a:prstDash val="solid"/>
          </a:ln>
        </p:spPr>
      </p:sp>
      <p:sp>
        <p:nvSpPr>
          <p:cNvPr id="31" name="Text 29"/>
          <p:cNvSpPr txBox="1"/>
          <p:nvPr/>
        </p:nvSpPr>
        <p:spPr>
          <a:xfrm>
            <a:off x="6309360" y="183794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When to send</a:t>
            </a:r>
            <a:endParaRPr lang="en-US" sz="1200" dirty="0"/>
          </a:p>
        </p:txBody>
      </p:sp>
      <p:sp>
        <p:nvSpPr>
          <p:cNvPr id="32" name="Text 30"/>
          <p:cNvSpPr txBox="1"/>
          <p:nvPr/>
        </p:nvSpPr>
        <p:spPr>
          <a:xfrm>
            <a:off x="8092440" y="1837944"/>
            <a:ext cx="3429000" cy="512064"/>
          </a:xfrm>
          <a:prstGeom prst="rect">
            <a:avLst/>
          </a:prstGeom>
          <a:noFill/>
          <a:ln/>
        </p:spPr>
        <p:txBody>
          <a:bodyPr wrap="square" lIns="0" tIns="0" rIns="0" bIns="0" rtlCol="0" anchor="ctr"/>
          <a:lstStyle/>
          <a:p>
            <a:pPr indent="0" marL="0">
              <a:buNone/>
            </a:pPr>
            <a:r>
              <a:rPr lang="en-US" sz="1100" dirty="0">
                <a:solidFill>
                  <a:srgbClr val="0A0A0B"/>
                </a:solidFill>
              </a:rPr>
              <a:t>Thompson sampling with a burden cost </a:t>
            </a:r>
            <a:pPr indent="0" marL="0">
              <a:buNone/>
            </a:pPr>
            <a:r>
              <a:rPr lang="en-US" sz="1100" b="1" dirty="0">
                <a:solidFill>
                  <a:srgbClr val="0064E0"/>
                </a:solidFill>
              </a:rPr>
              <a:t>[39, 40]</a:t>
            </a:r>
            <a:endParaRPr lang="en-US" sz="1100" dirty="0"/>
          </a:p>
        </p:txBody>
      </p:sp>
      <p:sp>
        <p:nvSpPr>
          <p:cNvPr id="33" name="Shape 31"/>
          <p:cNvSpPr/>
          <p:nvPr/>
        </p:nvSpPr>
        <p:spPr>
          <a:xfrm>
            <a:off x="6172200" y="2441448"/>
            <a:ext cx="5440680" cy="512064"/>
          </a:xfrm>
          <a:prstGeom prst="roundRect">
            <a:avLst>
              <a:gd name="adj" fmla="val 8929"/>
            </a:avLst>
          </a:prstGeom>
          <a:solidFill>
            <a:srgbClr val="F3F6F4"/>
          </a:solidFill>
          <a:ln w="12700">
            <a:solidFill>
              <a:srgbClr val="F3F6F4"/>
            </a:solidFill>
            <a:prstDash val="solid"/>
          </a:ln>
        </p:spPr>
      </p:sp>
      <p:sp>
        <p:nvSpPr>
          <p:cNvPr id="34" name="Text 32"/>
          <p:cNvSpPr txBox="1"/>
          <p:nvPr/>
        </p:nvSpPr>
        <p:spPr>
          <a:xfrm>
            <a:off x="6309360" y="244144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Preference memory</a:t>
            </a:r>
            <a:endParaRPr lang="en-US" sz="1200" dirty="0"/>
          </a:p>
        </p:txBody>
      </p:sp>
      <p:sp>
        <p:nvSpPr>
          <p:cNvPr id="35" name="Text 33"/>
          <p:cNvSpPr txBox="1"/>
          <p:nvPr/>
        </p:nvSpPr>
        <p:spPr>
          <a:xfrm>
            <a:off x="8092440" y="2441448"/>
            <a:ext cx="3429000" cy="512064"/>
          </a:xfrm>
          <a:prstGeom prst="rect">
            <a:avLst/>
          </a:prstGeom>
          <a:noFill/>
          <a:ln/>
        </p:spPr>
        <p:txBody>
          <a:bodyPr wrap="square" lIns="0" tIns="0" rIns="0" bIns="0" rtlCol="0" anchor="ctr"/>
          <a:lstStyle/>
          <a:p>
            <a:pPr indent="0" marL="0">
              <a:buNone/>
            </a:pPr>
            <a:r>
              <a:rPr lang="en-US" sz="1100" dirty="0">
                <a:solidFill>
                  <a:srgbClr val="0A0A0B"/>
                </a:solidFill>
              </a:rPr>
              <a:t>typed records, the newest wins </a:t>
            </a:r>
            <a:pPr indent="0" marL="0">
              <a:buNone/>
            </a:pPr>
            <a:r>
              <a:rPr lang="en-US" sz="1100" b="1" dirty="0">
                <a:solidFill>
                  <a:srgbClr val="0064E0"/>
                </a:solidFill>
              </a:rPr>
              <a:t>[41, 42]</a:t>
            </a:r>
            <a:endParaRPr lang="en-US" sz="1100" dirty="0"/>
          </a:p>
        </p:txBody>
      </p:sp>
      <p:sp>
        <p:nvSpPr>
          <p:cNvPr id="36" name="Shape 34"/>
          <p:cNvSpPr/>
          <p:nvPr/>
        </p:nvSpPr>
        <p:spPr>
          <a:xfrm>
            <a:off x="6172200" y="3044952"/>
            <a:ext cx="5440680" cy="512064"/>
          </a:xfrm>
          <a:prstGeom prst="roundRect">
            <a:avLst>
              <a:gd name="adj" fmla="val 8929"/>
            </a:avLst>
          </a:prstGeom>
          <a:solidFill>
            <a:srgbClr val="FFFFFF"/>
          </a:solidFill>
          <a:ln w="12700">
            <a:solidFill>
              <a:srgbClr val="FFFFFF"/>
            </a:solidFill>
            <a:prstDash val="solid"/>
          </a:ln>
        </p:spPr>
      </p:sp>
      <p:sp>
        <p:nvSpPr>
          <p:cNvPr id="37" name="Text 35"/>
          <p:cNvSpPr txBox="1"/>
          <p:nvPr/>
        </p:nvSpPr>
        <p:spPr>
          <a:xfrm>
            <a:off x="6309360" y="3044952"/>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Tool calls</a:t>
            </a:r>
            <a:endParaRPr lang="en-US" sz="1200" dirty="0"/>
          </a:p>
        </p:txBody>
      </p:sp>
      <p:sp>
        <p:nvSpPr>
          <p:cNvPr id="38" name="Text 36"/>
          <p:cNvSpPr txBox="1"/>
          <p:nvPr/>
        </p:nvSpPr>
        <p:spPr>
          <a:xfrm>
            <a:off x="8092440" y="3044952"/>
            <a:ext cx="3429000" cy="512064"/>
          </a:xfrm>
          <a:prstGeom prst="rect">
            <a:avLst/>
          </a:prstGeom>
          <a:noFill/>
          <a:ln/>
        </p:spPr>
        <p:txBody>
          <a:bodyPr wrap="square" lIns="0" tIns="0" rIns="0" bIns="0" rtlCol="0" anchor="ctr"/>
          <a:lstStyle/>
          <a:p>
            <a:pPr indent="0" marL="0">
              <a:buNone/>
            </a:pPr>
            <a:r>
              <a:rPr lang="en-US" sz="1100" dirty="0">
                <a:solidFill>
                  <a:srgbClr val="0A0A0B"/>
                </a:solidFill>
              </a:rPr>
              <a:t>schema, then typed semantic checks and bounded repair </a:t>
            </a:r>
            <a:pPr indent="0" marL="0">
              <a:buNone/>
            </a:pPr>
            <a:r>
              <a:rPr lang="en-US" sz="1100" b="1" dirty="0">
                <a:solidFill>
                  <a:srgbClr val="0064E0"/>
                </a:solidFill>
              </a:rPr>
              <a:t>[43, 44]</a:t>
            </a:r>
            <a:endParaRPr lang="en-US" sz="1100" dirty="0"/>
          </a:p>
        </p:txBody>
      </p:sp>
      <p:sp>
        <p:nvSpPr>
          <p:cNvPr id="39" name="Shape 37"/>
          <p:cNvSpPr/>
          <p:nvPr/>
        </p:nvSpPr>
        <p:spPr>
          <a:xfrm>
            <a:off x="6172200" y="3648456"/>
            <a:ext cx="5440680" cy="512064"/>
          </a:xfrm>
          <a:prstGeom prst="roundRect">
            <a:avLst>
              <a:gd name="adj" fmla="val 8929"/>
            </a:avLst>
          </a:prstGeom>
          <a:solidFill>
            <a:srgbClr val="F3F6F4"/>
          </a:solidFill>
          <a:ln w="12700">
            <a:solidFill>
              <a:srgbClr val="F3F6F4"/>
            </a:solidFill>
            <a:prstDash val="solid"/>
          </a:ln>
        </p:spPr>
      </p:sp>
      <p:sp>
        <p:nvSpPr>
          <p:cNvPr id="40" name="Text 38"/>
          <p:cNvSpPr txBox="1"/>
          <p:nvPr/>
        </p:nvSpPr>
        <p:spPr>
          <a:xfrm>
            <a:off x="6309360" y="3648456"/>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Courts judged ahead</a:t>
            </a:r>
            <a:endParaRPr lang="en-US" sz="1200" dirty="0"/>
          </a:p>
        </p:txBody>
      </p:sp>
      <p:sp>
        <p:nvSpPr>
          <p:cNvPr id="41" name="Text 39"/>
          <p:cNvSpPr txBox="1"/>
          <p:nvPr/>
        </p:nvSpPr>
        <p:spPr>
          <a:xfrm>
            <a:off x="8092440" y="3648456"/>
            <a:ext cx="3429000" cy="512064"/>
          </a:xfrm>
          <a:prstGeom prst="rect">
            <a:avLst/>
          </a:prstGeom>
          <a:noFill/>
          <a:ln/>
        </p:spPr>
        <p:txBody>
          <a:bodyPr wrap="square" lIns="0" tIns="0" rIns="0" bIns="0" rtlCol="0" anchor="ctr"/>
          <a:lstStyle/>
          <a:p>
            <a:pPr indent="0" marL="0">
              <a:buNone/>
            </a:pPr>
            <a:r>
              <a:rPr lang="en-US" sz="1100" dirty="0">
                <a:solidFill>
                  <a:srgbClr val="0A0A0B"/>
                </a:solidFill>
              </a:rPr>
              <a:t>speculative actions </a:t>
            </a:r>
            <a:pPr indent="0" marL="0">
              <a:buNone/>
            </a:pPr>
            <a:r>
              <a:rPr lang="en-US" sz="1100" b="1" dirty="0">
                <a:solidFill>
                  <a:srgbClr val="0064E0"/>
                </a:solidFill>
              </a:rPr>
              <a:t>[45]</a:t>
            </a:r>
            <a:endParaRPr lang="en-US" sz="1100" dirty="0"/>
          </a:p>
        </p:txBody>
      </p:sp>
      <p:sp>
        <p:nvSpPr>
          <p:cNvPr id="42" name="Shape 40"/>
          <p:cNvSpPr/>
          <p:nvPr/>
        </p:nvSpPr>
        <p:spPr>
          <a:xfrm>
            <a:off x="6172200" y="4251960"/>
            <a:ext cx="5440680" cy="512064"/>
          </a:xfrm>
          <a:prstGeom prst="roundRect">
            <a:avLst>
              <a:gd name="adj" fmla="val 8929"/>
            </a:avLst>
          </a:prstGeom>
          <a:solidFill>
            <a:srgbClr val="FFFFFF"/>
          </a:solidFill>
          <a:ln w="12700">
            <a:solidFill>
              <a:srgbClr val="FFFFFF"/>
            </a:solidFill>
            <a:prstDash val="solid"/>
          </a:ln>
        </p:spPr>
      </p:sp>
      <p:sp>
        <p:nvSpPr>
          <p:cNvPr id="43" name="Text 41"/>
          <p:cNvSpPr txBox="1"/>
          <p:nvPr/>
        </p:nvSpPr>
        <p:spPr>
          <a:xfrm>
            <a:off x="6309360" y="425196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Harder testing</a:t>
            </a:r>
            <a:endParaRPr lang="en-US" sz="1200" dirty="0"/>
          </a:p>
        </p:txBody>
      </p:sp>
      <p:sp>
        <p:nvSpPr>
          <p:cNvPr id="44" name="Text 42"/>
          <p:cNvSpPr txBox="1"/>
          <p:nvPr/>
        </p:nvSpPr>
        <p:spPr>
          <a:xfrm>
            <a:off x="8092440" y="4251960"/>
            <a:ext cx="3429000" cy="512064"/>
          </a:xfrm>
          <a:prstGeom prst="rect">
            <a:avLst/>
          </a:prstGeom>
          <a:noFill/>
          <a:ln/>
        </p:spPr>
        <p:txBody>
          <a:bodyPr wrap="square" lIns="0" tIns="0" rIns="0" bIns="0" rtlCol="0" anchor="ctr"/>
          <a:lstStyle/>
          <a:p>
            <a:pPr indent="0" marL="0">
              <a:buNone/>
            </a:pPr>
            <a:r>
              <a:rPr lang="en-US" sz="1100" dirty="0">
                <a:solidFill>
                  <a:srgbClr val="0A0A0B"/>
                </a:solidFill>
              </a:rPr>
              <a:t>pass^k with difficult simulated people </a:t>
            </a:r>
            <a:pPr indent="0" marL="0">
              <a:buNone/>
            </a:pPr>
            <a:r>
              <a:rPr lang="en-US" sz="1100" b="1" dirty="0">
                <a:solidFill>
                  <a:srgbClr val="0064E0"/>
                </a:solidFill>
              </a:rPr>
              <a:t>[46, 47]</a:t>
            </a:r>
            <a:endParaRPr lang="en-US" sz="1100" dirty="0"/>
          </a:p>
        </p:txBody>
      </p:sp>
      <p:sp>
        <p:nvSpPr>
          <p:cNvPr id="45" name="Shape 43"/>
          <p:cNvSpPr/>
          <p:nvPr/>
        </p:nvSpPr>
        <p:spPr>
          <a:xfrm>
            <a:off x="6172200" y="4855464"/>
            <a:ext cx="5440680" cy="512064"/>
          </a:xfrm>
          <a:prstGeom prst="roundRect">
            <a:avLst>
              <a:gd name="adj" fmla="val 8929"/>
            </a:avLst>
          </a:prstGeom>
          <a:solidFill>
            <a:srgbClr val="F3F6F4"/>
          </a:solidFill>
          <a:ln w="12700">
            <a:solidFill>
              <a:srgbClr val="F3F6F4"/>
            </a:solidFill>
            <a:prstDash val="solid"/>
          </a:ln>
        </p:spPr>
      </p:sp>
      <p:sp>
        <p:nvSpPr>
          <p:cNvPr id="46" name="Text 44"/>
          <p:cNvSpPr txBox="1"/>
          <p:nvPr/>
        </p:nvSpPr>
        <p:spPr>
          <a:xfrm>
            <a:off x="6309360" y="485546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Order of options</a:t>
            </a:r>
            <a:endParaRPr lang="en-US" sz="1200" dirty="0"/>
          </a:p>
        </p:txBody>
      </p:sp>
      <p:sp>
        <p:nvSpPr>
          <p:cNvPr id="47" name="Text 45"/>
          <p:cNvSpPr txBox="1"/>
          <p:nvPr/>
        </p:nvSpPr>
        <p:spPr>
          <a:xfrm>
            <a:off x="8092440" y="4855464"/>
            <a:ext cx="3429000" cy="512064"/>
          </a:xfrm>
          <a:prstGeom prst="rect">
            <a:avLst/>
          </a:prstGeom>
          <a:noFill/>
          <a:ln/>
        </p:spPr>
        <p:txBody>
          <a:bodyPr wrap="square" lIns="0" tIns="0" rIns="0" bIns="0" rtlCol="0" anchor="ctr"/>
          <a:lstStyle/>
          <a:p>
            <a:pPr indent="0" marL="0">
              <a:buNone/>
            </a:pPr>
            <a:r>
              <a:rPr lang="en-US" sz="1100" dirty="0">
                <a:solidFill>
                  <a:srgbClr val="0A0A0B"/>
                </a:solidFill>
              </a:rPr>
              <a:t>the first-proposal bias, measured </a:t>
            </a:r>
            <a:pPr indent="0" marL="0">
              <a:buNone/>
            </a:pPr>
            <a:r>
              <a:rPr lang="en-US" sz="1100" b="1" dirty="0">
                <a:solidFill>
                  <a:srgbClr val="0064E0"/>
                </a:solidFill>
              </a:rPr>
              <a:t>[48]</a:t>
            </a:r>
            <a:endParaRPr lang="en-US" sz="1100" dirty="0"/>
          </a:p>
        </p:txBody>
      </p:sp>
      <p:sp>
        <p:nvSpPr>
          <p:cNvPr id="48" name="Shape 46"/>
          <p:cNvSpPr/>
          <p:nvPr/>
        </p:nvSpPr>
        <p:spPr>
          <a:xfrm>
            <a:off x="6172200" y="5458968"/>
            <a:ext cx="5440680" cy="512064"/>
          </a:xfrm>
          <a:prstGeom prst="roundRect">
            <a:avLst>
              <a:gd name="adj" fmla="val 8929"/>
            </a:avLst>
          </a:prstGeom>
          <a:solidFill>
            <a:srgbClr val="FFFFFF"/>
          </a:solidFill>
          <a:ln w="12700">
            <a:solidFill>
              <a:srgbClr val="FFFFFF"/>
            </a:solidFill>
            <a:prstDash val="solid"/>
          </a:ln>
        </p:spPr>
      </p:sp>
      <p:sp>
        <p:nvSpPr>
          <p:cNvPr id="49" name="Text 47"/>
          <p:cNvSpPr txBox="1"/>
          <p:nvPr/>
        </p:nvSpPr>
        <p:spPr>
          <a:xfrm>
            <a:off x="6309360" y="545896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Second round</a:t>
            </a:r>
            <a:endParaRPr lang="en-US" sz="1200" dirty="0"/>
          </a:p>
        </p:txBody>
      </p:sp>
      <p:sp>
        <p:nvSpPr>
          <p:cNvPr id="50" name="Text 48"/>
          <p:cNvSpPr txBox="1"/>
          <p:nvPr/>
        </p:nvSpPr>
        <p:spPr>
          <a:xfrm>
            <a:off x="8092440" y="5458968"/>
            <a:ext cx="3429000" cy="512064"/>
          </a:xfrm>
          <a:prstGeom prst="rect">
            <a:avLst/>
          </a:prstGeom>
          <a:noFill/>
          <a:ln/>
        </p:spPr>
        <p:txBody>
          <a:bodyPr wrap="square" lIns="0" tIns="0" rIns="0" bIns="0" rtlCol="0" anchor="ctr"/>
          <a:lstStyle/>
          <a:p>
            <a:pPr indent="0" marL="0">
              <a:buNone/>
            </a:pPr>
            <a:r>
              <a:rPr lang="en-US" sz="1100" dirty="0">
                <a:solidFill>
                  <a:srgbClr val="0A0A0B"/>
                </a:solidFill>
              </a:rPr>
              <a:t>graded costs instead of yes or no </a:t>
            </a:r>
            <a:pPr indent="0" marL="0">
              <a:buNone/>
            </a:pPr>
            <a:r>
              <a:rPr lang="en-US" sz="1100" b="1" dirty="0">
                <a:solidFill>
                  <a:srgbClr val="0064E0"/>
                </a:solidFill>
              </a:rPr>
              <a:t>[49]</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References 27 to 49: the algorithms we used</a:t>
            </a:r>
            <a:endParaRPr lang="en-US" sz="2800" dirty="0"/>
          </a:p>
        </p:txBody>
      </p:sp>
      <p:sp>
        <p:nvSpPr>
          <p:cNvPr id="3" name="Text 1"/>
          <p:cNvSpPr txBox="1"/>
          <p:nvPr/>
        </p:nvSpPr>
        <p:spPr>
          <a:xfrm>
            <a:off x="548640" y="1234440"/>
            <a:ext cx="5440680" cy="4937760"/>
          </a:xfrm>
          <a:prstGeom prst="rect">
            <a:avLst/>
          </a:prstGeom>
          <a:noFill/>
          <a:ln/>
        </p:spPr>
        <p:txBody>
          <a:bodyPr wrap="square" lIns="0" tIns="0" rIns="0" bIns="0" rtlCol="0" anchor="t"/>
          <a:lstStyle/>
          <a:p>
            <a:pPr indent="0" marL="0">
              <a:spcAft>
                <a:spcPts val="500"/>
              </a:spcAft>
              <a:buNone/>
            </a:pPr>
            <a:r>
              <a:rPr lang="en-US" sz="1100" dirty="0">
                <a:solidFill>
                  <a:srgbClr val="0A0A0B"/>
                </a:solidFill>
              </a:rPr>
              <a:t>27. Hinton, Vinyals and Dean: Distilling the Knowledge in a Neural Network, arXiv 1503.02531, 2015</a:t>
            </a:r>
            <a:endParaRPr lang="en-US" sz="1100" dirty="0"/>
          </a:p>
          <a:p>
            <a:pPr indent="0" marL="0">
              <a:spcAft>
                <a:spcPts val="500"/>
              </a:spcAft>
              <a:buNone/>
            </a:pPr>
            <a:r>
              <a:rPr lang="en-US" sz="1100" dirty="0">
                <a:solidFill>
                  <a:srgbClr val="0A0A0B"/>
                </a:solidFill>
              </a:rPr>
              <a:t>28. Hu et al.: LoRA: Low-Rank Adaptation of Large Language Models, ICLR 2022</a:t>
            </a:r>
            <a:endParaRPr lang="en-US" sz="1100" dirty="0"/>
          </a:p>
          <a:p>
            <a:pPr indent="0" marL="0">
              <a:spcAft>
                <a:spcPts val="500"/>
              </a:spcAft>
              <a:buNone/>
            </a:pPr>
            <a:r>
              <a:rPr lang="en-US" sz="1100" dirty="0">
                <a:solidFill>
                  <a:srgbClr val="0A0A0B"/>
                </a:solidFill>
              </a:rPr>
              <a:t>29. Agarwal et al.: On-Policy Distillation of Language Models (GKD), ICLR 2024</a:t>
            </a:r>
            <a:endParaRPr lang="en-US" sz="1100" dirty="0"/>
          </a:p>
          <a:p>
            <a:pPr indent="0" marL="0">
              <a:spcAft>
                <a:spcPts val="500"/>
              </a:spcAft>
              <a:buNone/>
            </a:pPr>
            <a:r>
              <a:rPr lang="en-US" sz="1100" dirty="0">
                <a:solidFill>
                  <a:srgbClr val="0A0A0B"/>
                </a:solidFill>
              </a:rPr>
              <a:t>30. Hsieh et al.: Distilling Step-by-Step, Findings of ACL 2023</a:t>
            </a:r>
            <a:endParaRPr lang="en-US" sz="1100" dirty="0"/>
          </a:p>
          <a:p>
            <a:pPr indent="0" marL="0">
              <a:spcAft>
                <a:spcPts val="500"/>
              </a:spcAft>
              <a:buNone/>
            </a:pPr>
            <a:r>
              <a:rPr lang="en-US" sz="1100" dirty="0">
                <a:solidFill>
                  <a:srgbClr val="0A0A0B"/>
                </a:solidFill>
              </a:rPr>
              <a:t>31. Guo et al.: On Calibration of Modern Neural Networks, ICML 2017</a:t>
            </a:r>
            <a:endParaRPr lang="en-US" sz="1100" dirty="0"/>
          </a:p>
          <a:p>
            <a:pPr indent="0" marL="0">
              <a:spcAft>
                <a:spcPts val="500"/>
              </a:spcAft>
              <a:buNone/>
            </a:pPr>
            <a:r>
              <a:rPr lang="en-US" sz="1100" dirty="0">
                <a:solidFill>
                  <a:srgbClr val="0A0A0B"/>
                </a:solidFill>
              </a:rPr>
              <a:t>32. Angelopoulos et al.: Conformal Risk Control, arXiv 2208.02814</a:t>
            </a:r>
            <a:endParaRPr lang="en-US" sz="1100" dirty="0"/>
          </a:p>
          <a:p>
            <a:pPr indent="0" marL="0">
              <a:spcAft>
                <a:spcPts val="500"/>
              </a:spcAft>
              <a:buNone/>
            </a:pPr>
            <a:r>
              <a:rPr lang="en-US" sz="1100" dirty="0">
                <a:solidFill>
                  <a:srgbClr val="0A0A0B"/>
                </a:solidFill>
              </a:rPr>
              <a:t>33. McNemar: the sampling error of the difference between correlated proportions, Psychometrika 1947</a:t>
            </a:r>
            <a:endParaRPr lang="en-US" sz="1100" dirty="0"/>
          </a:p>
          <a:p>
            <a:pPr indent="0" marL="0">
              <a:spcAft>
                <a:spcPts val="500"/>
              </a:spcAft>
              <a:buNone/>
            </a:pPr>
            <a:r>
              <a:rPr lang="en-US" sz="1100" dirty="0">
                <a:solidFill>
                  <a:srgbClr val="0A0A0B"/>
                </a:solidFill>
              </a:rPr>
              <a:t>34. llama.cpp: quantization with an importance matrix (imatrix), ggml-org</a:t>
            </a:r>
            <a:endParaRPr lang="en-US" sz="1100" dirty="0"/>
          </a:p>
          <a:p>
            <a:pPr indent="0" marL="0">
              <a:spcAft>
                <a:spcPts val="500"/>
              </a:spcAft>
              <a:buNone/>
            </a:pPr>
            <a:r>
              <a:rPr lang="en-US" sz="1100" dirty="0">
                <a:solidFill>
                  <a:srgbClr val="0A0A0B"/>
                </a:solidFill>
              </a:rPr>
              <a:t>35. Chen et al.: StruQ: Defending Against Prompt Injection with Structured Queries, arXiv 2402.06363</a:t>
            </a:r>
            <a:endParaRPr lang="en-US" sz="1100" dirty="0"/>
          </a:p>
          <a:p>
            <a:pPr indent="0" marL="0">
              <a:spcAft>
                <a:spcPts val="500"/>
              </a:spcAft>
              <a:buNone/>
            </a:pPr>
            <a:r>
              <a:rPr lang="en-US" sz="1100" dirty="0">
                <a:solidFill>
                  <a:srgbClr val="0A0A0B"/>
                </a:solidFill>
              </a:rPr>
              <a:t>36. Chen et al.: SecAlign: Defending Against Prompt Injection with Preference Optimization, arXiv 2410.05451</a:t>
            </a:r>
            <a:endParaRPr lang="en-US" sz="1100" dirty="0"/>
          </a:p>
          <a:p>
            <a:pPr indent="0" marL="0">
              <a:spcAft>
                <a:spcPts val="500"/>
              </a:spcAft>
              <a:buNone/>
            </a:pPr>
            <a:r>
              <a:rPr lang="en-US" sz="1100" dirty="0">
                <a:solidFill>
                  <a:srgbClr val="0A0A0B"/>
                </a:solidFill>
              </a:rPr>
              <a:t>37. Rafailov et al.: Direct Preference Optimization, NeurIPS 2023</a:t>
            </a:r>
            <a:endParaRPr lang="en-US" sz="1100" dirty="0"/>
          </a:p>
          <a:p>
            <a:pPr indent="0" marL="0">
              <a:spcAft>
                <a:spcPts val="500"/>
              </a:spcAft>
              <a:buNone/>
            </a:pPr>
            <a:r>
              <a:rPr lang="en-US" sz="1100" dirty="0">
                <a:solidFill>
                  <a:srgbClr val="0A0A0B"/>
                </a:solidFill>
              </a:rPr>
              <a:t>38. Weinberger et al.: Feature Hashing for Large Scale Multitask Learning, ICML 2009</a:t>
            </a:r>
            <a:endParaRPr lang="en-US" sz="1100" dirty="0"/>
          </a:p>
        </p:txBody>
      </p:sp>
      <p:sp>
        <p:nvSpPr>
          <p:cNvPr id="4" name="Text 2"/>
          <p:cNvSpPr txBox="1"/>
          <p:nvPr/>
        </p:nvSpPr>
        <p:spPr>
          <a:xfrm>
            <a:off x="6172200" y="1234440"/>
            <a:ext cx="5440680" cy="4937760"/>
          </a:xfrm>
          <a:prstGeom prst="rect">
            <a:avLst/>
          </a:prstGeom>
          <a:noFill/>
          <a:ln/>
        </p:spPr>
        <p:txBody>
          <a:bodyPr wrap="square" lIns="0" tIns="0" rIns="0" bIns="0" rtlCol="0" anchor="t"/>
          <a:lstStyle/>
          <a:p>
            <a:pPr indent="0" marL="0">
              <a:spcAft>
                <a:spcPts val="500"/>
              </a:spcAft>
              <a:buNone/>
            </a:pPr>
            <a:r>
              <a:rPr lang="en-US" sz="1100" dirty="0">
                <a:solidFill>
                  <a:srgbClr val="0A0A0B"/>
                </a:solidFill>
              </a:rPr>
              <a:t>39. Thompson: On the likelihood that one unknown probability exceeds another, Biometrika 1933</a:t>
            </a:r>
            <a:endParaRPr lang="en-US" sz="1100" dirty="0"/>
          </a:p>
          <a:p>
            <a:pPr indent="0" marL="0">
              <a:spcAft>
                <a:spcPts val="500"/>
              </a:spcAft>
              <a:buNone/>
            </a:pPr>
            <a:r>
              <a:rPr lang="en-US" sz="1100" dirty="0">
                <a:solidFill>
                  <a:srgbClr val="0A0A0B"/>
                </a:solidFill>
              </a:rPr>
              <a:t>40. Kim et al.: ProPerSim, proactive and personalized assistants, arXiv 2509.21730</a:t>
            </a:r>
            <a:endParaRPr lang="en-US" sz="1100" dirty="0"/>
          </a:p>
          <a:p>
            <a:pPr indent="0" marL="0">
              <a:spcAft>
                <a:spcPts val="500"/>
              </a:spcAft>
              <a:buNone/>
            </a:pPr>
            <a:r>
              <a:rPr lang="en-US" sz="1100" dirty="0">
                <a:solidFill>
                  <a:srgbClr val="0A0A0B"/>
                </a:solidFill>
              </a:rPr>
              <a:t>41. Mem0: scalable long-term memory for agents, arXiv 2504.19413</a:t>
            </a:r>
            <a:endParaRPr lang="en-US" sz="1100" dirty="0"/>
          </a:p>
          <a:p>
            <a:pPr indent="0" marL="0">
              <a:spcAft>
                <a:spcPts val="500"/>
              </a:spcAft>
              <a:buNone/>
            </a:pPr>
            <a:r>
              <a:rPr lang="en-US" sz="1100" dirty="0">
                <a:solidFill>
                  <a:srgbClr val="0A0A0B"/>
                </a:solidFill>
              </a:rPr>
              <a:t>42. PersonaMem: dynamic user preferences, arXiv 2504.14225</a:t>
            </a:r>
            <a:endParaRPr lang="en-US" sz="1100" dirty="0"/>
          </a:p>
          <a:p>
            <a:pPr indent="0" marL="0">
              <a:spcAft>
                <a:spcPts val="500"/>
              </a:spcAft>
              <a:buNone/>
            </a:pPr>
            <a:r>
              <a:rPr lang="en-US" sz="1100" dirty="0">
                <a:solidFill>
                  <a:srgbClr val="0A0A0B"/>
                </a:solidFill>
              </a:rPr>
              <a:t>43. JSONSchemaBench, arXiv 2501.10868</a:t>
            </a:r>
            <a:endParaRPr lang="en-US" sz="1100" dirty="0"/>
          </a:p>
          <a:p>
            <a:pPr indent="0" marL="0">
              <a:spcAft>
                <a:spcPts val="500"/>
              </a:spcAft>
              <a:buNone/>
            </a:pPr>
            <a:r>
              <a:rPr lang="en-US" sz="1100" dirty="0">
                <a:solidFill>
                  <a:srgbClr val="0A0A0B"/>
                </a:solidFill>
              </a:rPr>
              <a:t>44. ReliabilityBench, arXiv 2601.06112</a:t>
            </a:r>
            <a:endParaRPr lang="en-US" sz="1100" dirty="0"/>
          </a:p>
          <a:p>
            <a:pPr indent="0" marL="0">
              <a:spcAft>
                <a:spcPts val="500"/>
              </a:spcAft>
              <a:buNone/>
            </a:pPr>
            <a:r>
              <a:rPr lang="en-US" sz="1100" dirty="0">
                <a:solidFill>
                  <a:srgbClr val="0A0A0B"/>
                </a:solidFill>
              </a:rPr>
              <a:t>45. Speculative Actions, arXiv 2510.04371</a:t>
            </a:r>
            <a:endParaRPr lang="en-US" sz="1100" dirty="0"/>
          </a:p>
          <a:p>
            <a:pPr indent="0" marL="0">
              <a:spcAft>
                <a:spcPts val="500"/>
              </a:spcAft>
              <a:buNone/>
            </a:pPr>
            <a:r>
              <a:rPr lang="en-US" sz="1100" dirty="0">
                <a:solidFill>
                  <a:srgbClr val="0A0A0B"/>
                </a:solidFill>
              </a:rPr>
              <a:t>46. τ-bench: pass^k for tool agents, arXiv 2406.12045</a:t>
            </a:r>
            <a:endParaRPr lang="en-US" sz="1100" dirty="0"/>
          </a:p>
          <a:p>
            <a:pPr indent="0" marL="0">
              <a:spcAft>
                <a:spcPts val="500"/>
              </a:spcAft>
              <a:buNone/>
            </a:pPr>
            <a:r>
              <a:rPr lang="en-US" sz="1100" dirty="0">
                <a:solidFill>
                  <a:srgbClr val="0A0A0B"/>
                </a:solidFill>
              </a:rPr>
              <a:t>47. Sim2Real gap of simulated users, arXiv 2603.11245</a:t>
            </a:r>
            <a:endParaRPr lang="en-US" sz="1100" dirty="0"/>
          </a:p>
          <a:p>
            <a:pPr indent="0" marL="0">
              <a:spcAft>
                <a:spcPts val="500"/>
              </a:spcAft>
              <a:buNone/>
            </a:pPr>
            <a:r>
              <a:rPr lang="en-US" sz="1100" dirty="0">
                <a:solidFill>
                  <a:srgbClr val="0A0A0B"/>
                </a:solidFill>
              </a:rPr>
              <a:t>48. Magentic Marketplace, arXiv 2510.25779</a:t>
            </a:r>
            <a:endParaRPr lang="en-US" sz="1100" dirty="0"/>
          </a:p>
          <a:p>
            <a:pPr indent="0" marL="0">
              <a:spcAft>
                <a:spcPts val="500"/>
              </a:spcAft>
              <a:buNone/>
            </a:pPr>
            <a:r>
              <a:rPr lang="en-US" sz="1100" dirty="0">
                <a:solidFill>
                  <a:srgbClr val="0A0A0B"/>
                </a:solidFill>
              </a:rPr>
              <a:t>49. CalBench, arXiv 2605.09823</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863840" cy="1463040"/>
          </a:xfrm>
          <a:prstGeom prst="rect">
            <a:avLst/>
          </a:prstGeom>
          <a:noFill/>
          <a:ln/>
        </p:spPr>
        <p:txBody>
          <a:bodyPr wrap="square" lIns="0" tIns="0" rIns="0" bIns="0" rtlCol="0" anchor="b"/>
          <a:lstStyle/>
          <a:p>
            <a:pPr algn="l" indent="0" marL="0">
              <a:buNone/>
            </a:pPr>
            <a:r>
              <a:rPr lang="en-US" sz="4800" b="1" dirty="0">
                <a:solidFill>
                  <a:schemeClr val="bg1"/>
                </a:solidFill>
              </a:rPr>
              <a:t>One yes from each person</a:t>
            </a:r>
            <a:endParaRPr lang="en-US" sz="4800" dirty="0"/>
          </a:p>
        </p:txBody>
      </p:sp>
      <p:sp>
        <p:nvSpPr>
          <p:cNvPr id="3" name="Text 0"/>
          <p:cNvSpPr/>
          <p:nvPr>
            <p:ph idx="101" type="body" hasCustomPrompt="1"/>
          </p:nvPr>
        </p:nvSpPr>
        <p:spPr>
          <a:xfrm>
            <a:off x="548640" y="3703320"/>
            <a:ext cx="7863840" cy="1097280"/>
          </a:xfrm>
          <a:prstGeom prst="rect">
            <a:avLst/>
          </a:prstGeom>
          <a:noFill/>
          <a:ln/>
        </p:spPr>
        <p:txBody>
          <a:bodyPr wrap="square" lIns="0" tIns="0" rIns="0" bIns="0" rtlCol="0" anchor="t"/>
          <a:lstStyle/>
          <a:p>
            <a:pPr algn="l" indent="0" marL="0">
              <a:buNone/>
            </a:pPr>
            <a:r>
              <a:rPr lang="en-US" sz="2000" dirty="0">
                <a:solidFill>
                  <a:srgbClr val="C9D6CE"/>
                </a:solidFill>
              </a:rPr>
              <a:t>Live: play.theminimallab.com · Code: github.com/gino6178/serve-meta-hackathon · Every number from submission/results/</a:t>
            </a:r>
            <a:endParaRPr lang="en-US" sz="2000" dirty="0"/>
          </a:p>
        </p:txBody>
      </p:sp>
    </p:spTree>
  </p:cSld>
  <p:clrMapOvr>
    <a:masterClrMapping/>
  </p:clrMapOvr>
</p:sld>
</file>

<file path=ppt/theme/theme1.xml><?xml version="1.0" encoding="utf-8"?>
<a:theme xmlns:a="http://schemas.openxmlformats.org/drawingml/2006/main" name="Serve">
  <a:themeElements>
    <a:clrScheme name="Serve">
      <a:dk1>
        <a:srgbClr val="0A0A0B"/>
      </a:dk1>
      <a:lt1>
        <a:srgbClr val="FFFFFF"/>
      </a:lt1>
      <a:dk2>
        <a:srgbClr val="14241B"/>
      </a:dk2>
      <a:lt2>
        <a:srgbClr val="F3F6F4"/>
      </a:lt2>
      <a:accent1>
        <a:srgbClr val="0A7F44"/>
      </a:accent1>
      <a:accent2>
        <a:srgbClr val="0064E0"/>
      </a:accent2>
      <a:accent3>
        <a:srgbClr val="D1352B"/>
      </a:accent3>
      <a:accent4>
        <a:srgbClr val="B26A00"/>
      </a:accent4>
      <a:accent5>
        <a:srgbClr val="55555C"/>
      </a:accent5>
      <a:accent6>
        <a:srgbClr val="8A8A92"/>
      </a:accent6>
      <a:hlink>
        <a:srgbClr val="0064E0"/>
      </a:hlink>
      <a:folHlink>
        <a:srgbClr val="55555C"/>
      </a:folHlink>
    </a:clrScheme>
    <a:fontScheme name="Serv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technical report</dc:title>
  <dc:subject>PptxGenJS Presentation</dc:subject>
  <dc:creator>Serve</dc:creator>
  <cp:lastModifiedBy>Serve</cp:lastModifiedBy>
  <cp:revision>1</cp:revision>
  <dcterms:created xsi:type="dcterms:W3CDTF">2026-10-31T09:51:54Z</dcterms:created>
  <dcterms:modified xsi:type="dcterms:W3CDTF">2026-10-31T09:51:54Z</dcterms:modified>
</cp:coreProperties>
</file>