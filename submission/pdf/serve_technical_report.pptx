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6" r:id="rId12"/>
    <p:sldId id="257" r:id="rId3"/>
    <p:sldId id="258" r:id="rId4"/>
    <p:sldId id="292" r:id="rId38"/>
    <p:sldId id="290" r:id="rId36"/>
    <p:sldId id="259" r:id="rId5"/>
    <p:sldId id="260" r:id="rId6"/>
    <p:sldId id="261" r:id="rId7"/>
    <p:sldId id="262" r:id="rId8"/>
    <p:sldId id="280" r:id="rId26"/>
    <p:sldId id="263" r:id="rId9"/>
    <p:sldId id="291" r:id="rId37"/>
    <p:sldId id="279" r:id="rId25"/>
    <p:sldId id="264" r:id="rId10"/>
    <p:sldId id="265" r:id="rId11"/>
    <p:sldId id="267" r:id="rId13"/>
    <p:sldId id="268" r:id="rId14"/>
    <p:sldId id="269" r:id="rId15"/>
    <p:sldId id="270" r:id="rId16"/>
    <p:sldId id="271" r:id="rId17"/>
    <p:sldId id="272" r:id="rId18"/>
    <p:sldId id="273" r:id="rId19"/>
    <p:sldId id="274" r:id="rId20"/>
    <p:sldId id="275" r:id="rId21"/>
    <p:sldId id="276" r:id="rId22"/>
    <p:sldId id="277" r:id="rId23"/>
    <p:sldId id="278" r:id="rId24"/>
    <p:sldId id="281" r:id="rId27"/>
    <p:sldId id="282" r:id="rId28"/>
    <p:sldId id="283" r:id="rId29"/>
    <p:sldId id="284" r:id="rId30"/>
    <p:sldId id="285" r:id="rId31"/>
    <p:sldId id="286" r:id="rId32"/>
    <p:sldId id="287" r:id="rId33"/>
    <p:sldId id="288" r:id="rId34"/>
    <p:sldId id="289" r:id="rId35"/>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is a sports social platform where people and their agents make games together. This deck: the pain, the product, a real club, Meta's models, the technical depth, the testing, and the roadmap. Detail is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Settled when: in the group chat, when everyone has voted and the organiser posts; in Serve, when the spots fill. Pace plans around exercise load and fatigue only: no diagnosis, no treatment, no injury advice. Any town with courts on OpenStreetMap, any ball sport, in a browser and in Messenger.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than 10 people of a real badminton club used Serve during the hackathon; of the 3 game invites sent through it, 2 became games that were played within three days. The Messenger panel shows the agent's real replies from the Messenger end-to-end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of them, Match works ahead of time, so the agents have often agreed a game before anyone waits at all. Every wait shows a moving bar within 250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the same Glimmer blob as our server. Round 4 with more teacher answers per case was served. The decider mostly reads the order of the list, so its letters are not used as soft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Holds are leases asked in a fixed order, all or nothing. 22 of 22 recovery checks across two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shared calendars the first time proposed decides whether each agent can say yes by code or must ask a model; model choices per doubles request fell from 0.261 to 0.109.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October 29 and 31. Round 27 ran on the live site with test accounts in a private club, removed afterwards; round 28 on a local copy that calls the server's own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turns hours of back-and-forth into one yes from each person. The roadmap is what production needs next; the appendix holds every benchmark and ablation.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after this slide is the detail behind the main slides: every figure, the techniques tried, the testing rounds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who stop playing have not lost interest; they are worn down by organising: the organiser chases a group chat, the calendar fills with crosses, one friend works late, one is worn out after a heavy week, one has a baby, and the court stays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who stop playing have not lost interest; they are worn down by organising. Serve turns hours of back-and-forth into one yes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town sits on Taipei, with prices in NT$, but nothing in Serve is tied to one place or one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October 29 and 31, 28 rounds. After every round we fixed what they found, ran the unit tests, checked the pages in a browser, deployed, and started the next round with new testers. Round 27 ran on the live site with test accounts in a private club; round 28 on a local copy that calls the server's own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Rounds 1 to 5 used free-form reports before the verdict line; a few reported bugs were the test setup, not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each round's requests.jsonl; the same sessions are replayed side by side in the demo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by kind from the 25 rounds' reports (submission/agent_testing.md).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reports in submission/agent_trial25, agent_trial26_live and agent_trial28 (submission/agent_testing.md). The testers were AI models, not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rule throughout: code computes the facts and keeps the hard rules; the models choose only among the real preferences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proposal carries each time as id, date, start, venue, court and trip, nothing else; an answer carries intent, date, start and the times that work. No agent can inject instructions into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Holds are leases asked in a fixed order (resource ordering), all 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shared calendars the first time proposed decides whether each agent can say yes by code or must ask a model. With private calendars it found no more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answer now also teaches about similar hours: the first talk lands 68.9% to 73.7%. Every question is charged to the disclosure budget; at most 3 asks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draws on the Darwin Godel Machine (tests read-only), AlphaEvolve (keep a change only when evaluators pass it), Clio (minimum cluster sizes) and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reel is for sharing, never for coaching or scoring: it answers the habit barrier (21.3%), giving friends a reason to book the next game. Arcs of about 6 to 12 degrees look like a real camera move; a learned threshold on the share of invented pixels picks the widest arc that still looks right, or falls back to a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as measured: the card on a local copy; the hop between two machines; the student on the server CPU; the decider and Glimmer on the RTX 3090.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distil when the decider takes 0.53 s? The decider is still Glimmer and needs the GPU; the student runs on the CPU and leaves the GPU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training prompts list every offered time and half only the ones Glimmer is shown. The 3B was trained the same way (44 minutes) and is kept as an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submission/results/decision_model/preds_1b_v3_decider.jsonl (bf16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3's letters in time order fixed the stated preference (26 of 32, Glimmer 27). In round 4, more teacher answers per case gave the best agreement; order augmentation nearly removed the order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answers more of the hardest (96.9%) but agrees less (61.2%), so the served threshold stays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submission/results/student_calibration.json, bf16; the served int4 picks the same option on 492 of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decider's letters are not used as soft labels, and per-member shuffling stays off: no order kept preferences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1B's round 4 was measured in bf16 before the VM was preempted; the chosen variant is the one with more teacher answers per case. Rationale and active selection were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findings, each measured. The club-name refusal came from the live site in round 27. The order finding was measured after the report: on 196 hard cases the one-token decider picked the first listed time 99.5%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 attack cases all stopped; crash and recovery checks are on the A2A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weights run on our own GPU server so players' data stays there; the Meta Model API handles live voice, long calls, images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gate (Thompson sampling with a burden cost), preference records (newest wins), tool checks (typed repair, postconditions), judging ahead (speculative actions), stretch round (graded costs), tiny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submission/results/tiny.json. The 87 KB post prefilter stays off: it passed 0 of 762 hostile comments but only 11% of ordinary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answer.learn joins the 1B's sites; the post standard stays with Glimmer (8 of 71 hostile comments passed, against 0). SecAlign++ was tried and not kept: it blocked 8 of 32 ordinary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runs are on main, which also has the other upgrades merged since the before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github.com/gino6178/serve-meta-hackathon, with the full evaluation in README.md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part of Serve and the published algorithm it follows; the numbers in brackets are the references on the last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1 to 26 are on the previous references slide (the report's own list); 27 on are the algorithms behind the distillation, the tiny layer and the agent upgrades.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4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rtlCol="0"/>
          <a:lstStyle>
            <a:lvl1pPr algn="l" indent="0" marL="0">
              <a:buNone/>
              <a:defRPr lang="en-US" sz="2000" dirty="0">
                <a:solidFill>
                  <a:srgbClr val="C9D6CE"/>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8A92"/>
                </a:solidFill>
              </a:rPr>
              <a:t>Serve · technical report</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85800"/>
            <a:ext cx="292608" cy="292608"/>
          </a:xfrm>
          <a:prstGeom prst="ellipse">
            <a:avLst/>
          </a:prstGeom>
          <a:solidFill>
            <a:srgbClr val="2FBF71"/>
          </a:solidFill>
          <a:ln w="12700">
            <a:solidFill>
              <a:srgbClr val="2FBF71"/>
            </a:solidFill>
            <a:prstDash val="solid"/>
          </a:ln>
        </p:spPr>
      </p:sp>
      <p:sp>
        <p:nvSpPr>
          <p:cNvPr id="3" name="Text 1"/>
          <p:cNvSpPr txBox="1"/>
          <p:nvPr/>
        </p:nvSpPr>
        <p:spPr>
          <a:xfrm>
            <a:off x="960120" y="548640"/>
            <a:ext cx="2743200" cy="548640"/>
          </a:xfrm>
          <a:prstGeom prst="rect">
            <a:avLst/>
          </a:prstGeom>
          <a:noFill/>
          <a:ln/>
        </p:spPr>
        <p:txBody>
          <a:bodyPr wrap="square" lIns="0" tIns="0" rIns="0" bIns="0" rtlCol="0" anchor="ctr"/>
          <a:lstStyle/>
          <a:p>
            <a:pPr indent="0" marL="0">
              <a:buNone/>
            </a:pPr>
            <a:r>
              <a:rPr lang="en-US" sz="3000" b="1" dirty="0">
                <a:solidFill>
                  <a:srgbClr val="FFFFFF"/>
                </a:solidFill>
              </a:rPr>
              <a:t>serve</a:t>
            </a:r>
            <a:endParaRPr lang="en-US" sz="3000" dirty="0"/>
          </a:p>
        </p:txBody>
      </p:sp>
      <p:sp>
        <p:nvSpPr>
          <p:cNvPr id="4"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Play more.</a:t>
            </a:r>
            <a:endParaRPr lang="en-US" sz="4800" dirty="0"/>
          </a:p>
          <a:p>
            <a:pPr algn="l" indent="0" marL="0">
              <a:buNone/>
            </a:pPr>
            <a:r>
              <a:rPr lang="en-US" sz="4800" b="1" dirty="0">
                <a:solidFill>
                  <a:schemeClr val="bg1"/>
                </a:solidFill>
              </a:rPr>
              <a:t>Manage less.</a:t>
            </a:r>
            <a:endParaRPr lang="en-US" sz="4800" dirty="0"/>
          </a:p>
        </p:txBody>
      </p:sp>
      <p:sp>
        <p:nvSpPr>
          <p:cNvPr id="5"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Your agent agrees the game with your friends' agents, so each person only says yes once.</a:t>
            </a:r>
            <a:endParaRPr lang="en-US" sz="2000" dirty="0"/>
          </a:p>
        </p:txBody>
      </p:sp>
      <p:sp>
        <p:nvSpPr>
          <p:cNvPr id="6" name="Text 4"/>
          <p:cNvSpPr txBox="1"/>
          <p:nvPr/>
        </p:nvSpPr>
        <p:spPr>
          <a:xfrm>
            <a:off x="548640" y="4983480"/>
            <a:ext cx="7863840" cy="365760"/>
          </a:xfrm>
          <a:prstGeom prst="rect">
            <a:avLst/>
          </a:prstGeom>
          <a:noFill/>
          <a:ln/>
        </p:spPr>
        <p:txBody>
          <a:bodyPr wrap="square" lIns="0" tIns="0" rIns="0" bIns="0" rtlCol="0" anchor="ctr"/>
          <a:lstStyle/>
          <a:p>
            <a:pPr indent="0" marL="0">
              <a:buNone/>
            </a:pPr>
            <a:r>
              <a:rPr lang="en-US" sz="1500" b="1" dirty="0">
                <a:solidFill>
                  <a:srgbClr val="2FBF71"/>
                </a:solidFill>
              </a:rPr>
              <a:t>Track: Indie Developer  |  Build for Your World  |  Built Oct 27 – Nov 4, 2026</a:t>
            </a:r>
            <a:endParaRPr lang="en-US" sz="1500" dirty="0"/>
          </a:p>
        </p:txBody>
      </p:sp>
      <p:sp>
        <p:nvSpPr>
          <p:cNvPr id="7" name="Text 5"/>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9FB3A7"/>
                </a:solidFill>
              </a:rPr>
              <a:t>Technical report · Meta Global AI Developer Hackathon 2026 · play.theminimallab.com · github.com/gino6178/serve-meta-hackathon</a:t>
            </a:r>
            <a:endParaRPr lang="en-US" sz="1200" dirty="0"/>
          </a:p>
        </p:txBody>
      </p:sp>
      <p:sp>
        <p:nvSpPr>
          <p:cNvPr id="8" name="Text 6"/>
          <p:cNvSpPr txBox="1"/>
          <p:nvPr/>
        </p:nvSpPr>
        <p:spPr>
          <a:xfrm>
            <a:off x="8869680" y="1463040"/>
            <a:ext cx="2743200" cy="640080"/>
          </a:xfrm>
          <a:prstGeom prst="rect">
            <a:avLst/>
          </a:prstGeom>
          <a:noFill/>
          <a:ln/>
        </p:spPr>
        <p:txBody>
          <a:bodyPr wrap="square" lIns="0" tIns="0" rIns="0" bIns="0" rtlCol="0" anchor="ctr"/>
          <a:lstStyle/>
          <a:p>
            <a:pPr indent="0" marL="0">
              <a:buNone/>
            </a:pPr>
            <a:r>
              <a:rPr lang="en-US" sz="4400" b="1" dirty="0">
                <a:solidFill>
                  <a:srgbClr val="2FBF71"/>
                </a:solidFill>
                <a:latin typeface="Segoe UI Semibold" pitchFamily="34" charset="0"/>
                <a:ea typeface="Segoe UI Semibold" pitchFamily="34" charset="-122"/>
                <a:cs typeface="Segoe UI Semibold" pitchFamily="34" charset="-120"/>
              </a:rPr>
              <a:t>10+</a:t>
            </a:r>
            <a:endParaRPr lang="en-US" sz="4400" dirty="0"/>
          </a:p>
        </p:txBody>
      </p:sp>
      <p:sp>
        <p:nvSpPr>
          <p:cNvPr id="9" name="Text 7"/>
          <p:cNvSpPr txBox="1"/>
          <p:nvPr/>
        </p:nvSpPr>
        <p:spPr>
          <a:xfrm>
            <a:off x="8869680" y="2103120"/>
            <a:ext cx="2743200" cy="365760"/>
          </a:xfrm>
          <a:prstGeom prst="rect">
            <a:avLst/>
          </a:prstGeom>
          <a:noFill/>
          <a:ln/>
        </p:spPr>
        <p:txBody>
          <a:bodyPr wrap="square" lIns="0" tIns="0" rIns="0" bIns="0" rtlCol="0" anchor="ctr"/>
          <a:lstStyle/>
          <a:p>
            <a:pPr indent="0" marL="0">
              <a:buNone/>
            </a:pPr>
            <a:r>
              <a:rPr lang="en-US" sz="1300" dirty="0">
                <a:solidFill>
                  <a:srgbClr val="C9D6CE"/>
                </a:solidFill>
              </a:rPr>
              <a:t>people in a real badminton club</a:t>
            </a:r>
            <a:endParaRPr lang="en-US" sz="1300" dirty="0"/>
          </a:p>
        </p:txBody>
      </p:sp>
      <p:sp>
        <p:nvSpPr>
          <p:cNvPr id="10" name="Text 8"/>
          <p:cNvSpPr txBox="1"/>
          <p:nvPr/>
        </p:nvSpPr>
        <p:spPr>
          <a:xfrm>
            <a:off x="8869680" y="2651760"/>
            <a:ext cx="2743200" cy="640080"/>
          </a:xfrm>
          <a:prstGeom prst="rect">
            <a:avLst/>
          </a:prstGeom>
          <a:noFill/>
          <a:ln/>
        </p:spPr>
        <p:txBody>
          <a:bodyPr wrap="square" lIns="0" tIns="0" rIns="0" bIns="0" rtlCol="0" anchor="ctr"/>
          <a:lstStyle/>
          <a:p>
            <a:pPr indent="0" marL="0">
              <a:buNone/>
            </a:pPr>
            <a:r>
              <a:rPr lang="en-US" sz="4400" b="1" dirty="0">
                <a:solidFill>
                  <a:srgbClr val="2FBF71"/>
                </a:solidFill>
                <a:latin typeface="Segoe UI Semibold" pitchFamily="34" charset="0"/>
                <a:ea typeface="Segoe UI Semibold" pitchFamily="34" charset="-122"/>
                <a:cs typeface="Segoe UI Semibold" pitchFamily="34" charset="-120"/>
              </a:rPr>
              <a:t>0.9 s</a:t>
            </a:r>
            <a:endParaRPr lang="en-US" sz="4400" dirty="0"/>
          </a:p>
        </p:txBody>
      </p:sp>
      <p:sp>
        <p:nvSpPr>
          <p:cNvPr id="11" name="Text 9"/>
          <p:cNvSpPr txBox="1"/>
          <p:nvPr/>
        </p:nvSpPr>
        <p:spPr>
          <a:xfrm>
            <a:off x="8869680" y="3291840"/>
            <a:ext cx="2743200" cy="365760"/>
          </a:xfrm>
          <a:prstGeom prst="rect">
            <a:avLst/>
          </a:prstGeom>
          <a:noFill/>
          <a:ln/>
        </p:spPr>
        <p:txBody>
          <a:bodyPr wrap="square" lIns="0" tIns="0" rIns="0" bIns="0" rtlCol="0" anchor="ctr"/>
          <a:lstStyle/>
          <a:p>
            <a:pPr indent="0" marL="0">
              <a:buNone/>
            </a:pPr>
            <a:r>
              <a:rPr lang="en-US" sz="1300" dirty="0">
                <a:solidFill>
                  <a:srgbClr val="C9D6CE"/>
                </a:solidFill>
              </a:rPr>
              <a:t>our own distilled Llama 3.2 1B, on CPU</a:t>
            </a:r>
            <a:endParaRPr lang="en-US" sz="1300" dirty="0"/>
          </a:p>
        </p:txBody>
      </p:sp>
      <p:sp>
        <p:nvSpPr>
          <p:cNvPr id="12" name="Text 10"/>
          <p:cNvSpPr txBox="1"/>
          <p:nvPr/>
        </p:nvSpPr>
        <p:spPr>
          <a:xfrm>
            <a:off x="8869680" y="3840480"/>
            <a:ext cx="2743200" cy="640080"/>
          </a:xfrm>
          <a:prstGeom prst="rect">
            <a:avLst/>
          </a:prstGeom>
          <a:noFill/>
          <a:ln/>
        </p:spPr>
        <p:txBody>
          <a:bodyPr wrap="square" lIns="0" tIns="0" rIns="0" bIns="0" rtlCol="0" anchor="ctr"/>
          <a:lstStyle/>
          <a:p>
            <a:pPr indent="0" marL="0">
              <a:buNone/>
            </a:pPr>
            <a:r>
              <a:rPr lang="en-US" sz="4400" b="1" dirty="0">
                <a:solidFill>
                  <a:srgbClr val="2FBF71"/>
                </a:solidFill>
                <a:latin typeface="Segoe UI Semibold" pitchFamily="34" charset="0"/>
                <a:ea typeface="Segoe UI Semibold" pitchFamily="34" charset="-122"/>
                <a:cs typeface="Segoe UI Semibold" pitchFamily="34" charset="-120"/>
              </a:rPr>
              <a:t>177</a:t>
            </a:r>
            <a:endParaRPr lang="en-US" sz="4400" dirty="0"/>
          </a:p>
        </p:txBody>
      </p:sp>
      <p:sp>
        <p:nvSpPr>
          <p:cNvPr id="13" name="Text 11"/>
          <p:cNvSpPr txBox="1"/>
          <p:nvPr/>
        </p:nvSpPr>
        <p:spPr>
          <a:xfrm>
            <a:off x="8869680" y="4480560"/>
            <a:ext cx="2743200" cy="365760"/>
          </a:xfrm>
          <a:prstGeom prst="rect">
            <a:avLst/>
          </a:prstGeom>
          <a:noFill/>
          <a:ln/>
        </p:spPr>
        <p:txBody>
          <a:bodyPr wrap="square" lIns="0" tIns="0" rIns="0" bIns="0" rtlCol="0" anchor="ctr"/>
          <a:lstStyle/>
          <a:p>
            <a:pPr indent="0" marL="0">
              <a:buNone/>
            </a:pPr>
            <a:r>
              <a:rPr lang="en-US" sz="1300" dirty="0">
                <a:solidFill>
                  <a:srgbClr val="C9D6CE"/>
                </a:solidFill>
              </a:rPr>
              <a:t>AI testers in 28 rounds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Serve replaces the organiser's group-chat poll with one yes from each person</a:t>
            </a:r>
            <a:endParaRPr lang="en-US" sz="2400" dirty="0"/>
          </a:p>
        </p:txBody>
      </p:sp>
      <p:sp>
        <p:nvSpPr>
          <p:cNvPr id="3" name="Text 1"/>
          <p:cNvSpPr txBox="1"/>
          <p:nvPr/>
        </p:nvSpPr>
        <p:spPr>
          <a:xfrm>
            <a:off x="548640" y="1188720"/>
            <a:ext cx="5303520" cy="365760"/>
          </a:xfrm>
          <a:prstGeom prst="rect">
            <a:avLst/>
          </a:prstGeom>
          <a:noFill/>
          <a:ln/>
        </p:spPr>
        <p:txBody>
          <a:bodyPr wrap="square" lIns="0" tIns="0" rIns="0" bIns="0" rtlCol="0" anchor="ctr"/>
          <a:lstStyle/>
          <a:p>
            <a:pPr indent="0" marL="0">
              <a:buNone/>
            </a:pPr>
            <a:r>
              <a:rPr lang="en-US" sz="1600" b="1" dirty="0">
                <a:solidFill>
                  <a:srgbClr val="55555C"/>
                </a:solidFill>
              </a:rPr>
              <a:t>Group chat: the organiser does everything</a:t>
            </a:r>
            <a:endParaRPr lang="en-US" sz="1600" dirty="0"/>
          </a:p>
        </p:txBody>
      </p:sp>
      <p:sp>
        <p:nvSpPr>
          <p:cNvPr id="4" name="Shape 2"/>
          <p:cNvSpPr/>
          <p:nvPr/>
        </p:nvSpPr>
        <p:spPr>
          <a:xfrm>
            <a:off x="1280160" y="1627632"/>
            <a:ext cx="4572000" cy="402336"/>
          </a:xfrm>
          <a:prstGeom prst="roundRect">
            <a:avLst>
              <a:gd name="adj" fmla="val 22727"/>
            </a:avLst>
          </a:prstGeom>
          <a:solidFill>
            <a:srgbClr val="E4E6E5"/>
          </a:solidFill>
          <a:ln w="12700">
            <a:solidFill>
              <a:srgbClr val="E4E6E5"/>
            </a:solidFill>
            <a:prstDash val="solid"/>
          </a:ln>
        </p:spPr>
      </p:sp>
      <p:sp>
        <p:nvSpPr>
          <p:cNvPr id="5" name="Text 3"/>
          <p:cNvSpPr txBox="1"/>
          <p:nvPr/>
        </p:nvSpPr>
        <p:spPr>
          <a:xfrm>
            <a:off x="1444752" y="1627632"/>
            <a:ext cx="4251960" cy="402336"/>
          </a:xfrm>
          <a:prstGeom prst="rect">
            <a:avLst/>
          </a:prstGeom>
          <a:noFill/>
          <a:ln/>
        </p:spPr>
        <p:txBody>
          <a:bodyPr wrap="square" lIns="0" tIns="0" rIns="0" bIns="0" rtlCol="0" anchor="ctr"/>
          <a:lstStyle/>
          <a:p>
            <a:pPr indent="0" marL="0">
              <a:buNone/>
            </a:pPr>
            <a:r>
              <a:rPr lang="en-US" sz="1200" dirty="0">
                <a:solidFill>
                  <a:srgbClr val="0A0A0B"/>
                </a:solidFill>
              </a:rPr>
              <a:t>Anyone up for badminton this week?</a:t>
            </a:r>
            <a:endParaRPr lang="en-US" sz="1200" dirty="0"/>
          </a:p>
        </p:txBody>
      </p:sp>
      <p:sp>
        <p:nvSpPr>
          <p:cNvPr id="6" name="Shape 4"/>
          <p:cNvSpPr/>
          <p:nvPr/>
        </p:nvSpPr>
        <p:spPr>
          <a:xfrm>
            <a:off x="548640" y="2103120"/>
            <a:ext cx="4572000" cy="402336"/>
          </a:xfrm>
          <a:prstGeom prst="roundRect">
            <a:avLst>
              <a:gd name="adj" fmla="val 22727"/>
            </a:avLst>
          </a:prstGeom>
          <a:solidFill>
            <a:srgbClr val="F3F6F4"/>
          </a:solidFill>
          <a:ln w="12700">
            <a:solidFill>
              <a:srgbClr val="F3F6F4"/>
            </a:solidFill>
            <a:prstDash val="solid"/>
          </a:ln>
        </p:spPr>
      </p:sp>
      <p:sp>
        <p:nvSpPr>
          <p:cNvPr id="7" name="Text 5"/>
          <p:cNvSpPr txBox="1"/>
          <p:nvPr/>
        </p:nvSpPr>
        <p:spPr>
          <a:xfrm>
            <a:off x="713232" y="2103120"/>
            <a:ext cx="4251960" cy="402336"/>
          </a:xfrm>
          <a:prstGeom prst="rect">
            <a:avLst/>
          </a:prstGeom>
          <a:noFill/>
          <a:ln/>
        </p:spPr>
        <p:txBody>
          <a:bodyPr wrap="square" lIns="0" tIns="0" rIns="0" bIns="0" rtlCol="0" anchor="ctr"/>
          <a:lstStyle/>
          <a:p>
            <a:pPr indent="0" marL="0">
              <a:buNone/>
            </a:pPr>
            <a:r>
              <a:rPr lang="en-US" sz="1200" dirty="0">
                <a:solidFill>
                  <a:srgbClr val="0A0A0B"/>
                </a:solidFill>
              </a:rPr>
              <a:t>Maybe Thu? / Sat works / not Fri</a:t>
            </a:r>
            <a:endParaRPr lang="en-US" sz="1200" dirty="0"/>
          </a:p>
        </p:txBody>
      </p:sp>
      <p:sp>
        <p:nvSpPr>
          <p:cNvPr id="8" name="Shape 6"/>
          <p:cNvSpPr/>
          <p:nvPr/>
        </p:nvSpPr>
        <p:spPr>
          <a:xfrm>
            <a:off x="1280160" y="2578608"/>
            <a:ext cx="4572000" cy="402336"/>
          </a:xfrm>
          <a:prstGeom prst="roundRect">
            <a:avLst>
              <a:gd name="adj" fmla="val 22727"/>
            </a:avLst>
          </a:prstGeom>
          <a:solidFill>
            <a:srgbClr val="E4E6E5"/>
          </a:solidFill>
          <a:ln w="12700">
            <a:solidFill>
              <a:srgbClr val="E4E6E5"/>
            </a:solidFill>
            <a:prstDash val="solid"/>
          </a:ln>
        </p:spPr>
      </p:sp>
      <p:sp>
        <p:nvSpPr>
          <p:cNvPr id="9" name="Text 7"/>
          <p:cNvSpPr txBox="1"/>
          <p:nvPr/>
        </p:nvSpPr>
        <p:spPr>
          <a:xfrm>
            <a:off x="1444752" y="2578608"/>
            <a:ext cx="4251960" cy="402336"/>
          </a:xfrm>
          <a:prstGeom prst="rect">
            <a:avLst/>
          </a:prstGeom>
          <a:noFill/>
          <a:ln/>
        </p:spPr>
        <p:txBody>
          <a:bodyPr wrap="square" lIns="0" tIns="0" rIns="0" bIns="0" rtlCol="0" anchor="ctr"/>
          <a:lstStyle/>
          <a:p>
            <a:pPr indent="0" marL="0">
              <a:buNone/>
            </a:pPr>
            <a:r>
              <a:rPr lang="en-US" sz="1200" dirty="0">
                <a:solidFill>
                  <a:srgbClr val="0A0A0B"/>
                </a:solidFill>
              </a:rPr>
              <a:t>Poll: Tue 19 · Thu 20 · Sat 10</a:t>
            </a:r>
            <a:endParaRPr lang="en-US" sz="1200" dirty="0"/>
          </a:p>
        </p:txBody>
      </p:sp>
      <p:sp>
        <p:nvSpPr>
          <p:cNvPr id="10" name="Shape 8"/>
          <p:cNvSpPr/>
          <p:nvPr/>
        </p:nvSpPr>
        <p:spPr>
          <a:xfrm>
            <a:off x="548640" y="3054096"/>
            <a:ext cx="4572000" cy="402336"/>
          </a:xfrm>
          <a:prstGeom prst="roundRect">
            <a:avLst>
              <a:gd name="adj" fmla="val 22727"/>
            </a:avLst>
          </a:prstGeom>
          <a:solidFill>
            <a:srgbClr val="F3F6F4"/>
          </a:solidFill>
          <a:ln w="12700">
            <a:solidFill>
              <a:srgbClr val="F3F6F4"/>
            </a:solidFill>
            <a:prstDash val="solid"/>
          </a:ln>
        </p:spPr>
      </p:sp>
      <p:sp>
        <p:nvSpPr>
          <p:cNvPr id="11" name="Text 9"/>
          <p:cNvSpPr txBox="1"/>
          <p:nvPr/>
        </p:nvSpPr>
        <p:spPr>
          <a:xfrm>
            <a:off x="713232" y="3054096"/>
            <a:ext cx="4251960" cy="402336"/>
          </a:xfrm>
          <a:prstGeom prst="rect">
            <a:avLst/>
          </a:prstGeom>
          <a:noFill/>
          <a:ln/>
        </p:spPr>
        <p:txBody>
          <a:bodyPr wrap="square" lIns="0" tIns="0" rIns="0" bIns="0" rtlCol="0" anchor="ctr"/>
          <a:lstStyle/>
          <a:p>
            <a:pPr indent="0" marL="0">
              <a:buNone/>
            </a:pPr>
            <a:r>
              <a:rPr lang="en-US" sz="1200" dirty="0">
                <a:solidFill>
                  <a:srgbClr val="0A0A0B"/>
                </a:solidFill>
              </a:rPr>
              <a:t>Votes trickle in over a day</a:t>
            </a:r>
            <a:endParaRPr lang="en-US" sz="1200" dirty="0"/>
          </a:p>
        </p:txBody>
      </p:sp>
      <p:sp>
        <p:nvSpPr>
          <p:cNvPr id="12" name="Shape 10"/>
          <p:cNvSpPr/>
          <p:nvPr/>
        </p:nvSpPr>
        <p:spPr>
          <a:xfrm>
            <a:off x="1280160" y="3529584"/>
            <a:ext cx="4572000" cy="402336"/>
          </a:xfrm>
          <a:prstGeom prst="roundRect">
            <a:avLst>
              <a:gd name="adj" fmla="val 22727"/>
            </a:avLst>
          </a:prstGeom>
          <a:solidFill>
            <a:srgbClr val="E4E6E5"/>
          </a:solidFill>
          <a:ln w="12700">
            <a:solidFill>
              <a:srgbClr val="E4E6E5"/>
            </a:solidFill>
            <a:prstDash val="solid"/>
          </a:ln>
        </p:spPr>
      </p:sp>
      <p:sp>
        <p:nvSpPr>
          <p:cNvPr id="13" name="Text 11"/>
          <p:cNvSpPr txBox="1"/>
          <p:nvPr/>
        </p:nvSpPr>
        <p:spPr>
          <a:xfrm>
            <a:off x="1444752" y="3529584"/>
            <a:ext cx="4251960" cy="402336"/>
          </a:xfrm>
          <a:prstGeom prst="rect">
            <a:avLst/>
          </a:prstGeom>
          <a:noFill/>
          <a:ln/>
        </p:spPr>
        <p:txBody>
          <a:bodyPr wrap="square" lIns="0" tIns="0" rIns="0" bIns="0" rtlCol="0" anchor="ctr"/>
          <a:lstStyle/>
          <a:p>
            <a:pPr indent="0" marL="0">
              <a:buNone/>
            </a:pPr>
            <a:r>
              <a:rPr lang="en-US" sz="1200" dirty="0">
                <a:solidFill>
                  <a:srgbClr val="0A0A0B"/>
                </a:solidFill>
              </a:rPr>
              <a:t>Books the court, posts the result</a:t>
            </a:r>
            <a:endParaRPr lang="en-US" sz="1200" dirty="0"/>
          </a:p>
        </p:txBody>
      </p:sp>
      <p:sp>
        <p:nvSpPr>
          <p:cNvPr id="14" name="Shape 12"/>
          <p:cNvSpPr/>
          <p:nvPr/>
        </p:nvSpPr>
        <p:spPr>
          <a:xfrm>
            <a:off x="1280160" y="4005072"/>
            <a:ext cx="4572000" cy="402336"/>
          </a:xfrm>
          <a:prstGeom prst="roundRect">
            <a:avLst>
              <a:gd name="adj" fmla="val 22727"/>
            </a:avLst>
          </a:prstGeom>
          <a:solidFill>
            <a:srgbClr val="E4E6E5"/>
          </a:solidFill>
          <a:ln w="12700">
            <a:solidFill>
              <a:srgbClr val="E4E6E5"/>
            </a:solidFill>
            <a:prstDash val="solid"/>
          </a:ln>
        </p:spPr>
      </p:sp>
      <p:sp>
        <p:nvSpPr>
          <p:cNvPr id="15" name="Text 13"/>
          <p:cNvSpPr txBox="1"/>
          <p:nvPr/>
        </p:nvSpPr>
        <p:spPr>
          <a:xfrm>
            <a:off x="1444752" y="4005072"/>
            <a:ext cx="4251960" cy="402336"/>
          </a:xfrm>
          <a:prstGeom prst="rect">
            <a:avLst/>
          </a:prstGeom>
          <a:noFill/>
          <a:ln/>
        </p:spPr>
        <p:txBody>
          <a:bodyPr wrap="square" lIns="0" tIns="0" rIns="0" bIns="0" rtlCol="0" anchor="ctr"/>
          <a:lstStyle/>
          <a:p>
            <a:pPr indent="0" marL="0">
              <a:buNone/>
            </a:pPr>
            <a:r>
              <a:rPr lang="en-US" sz="1200" dirty="0">
                <a:solidFill>
                  <a:srgbClr val="0A0A0B"/>
                </a:solidFill>
              </a:rPr>
              <a:t>Someone new? Add them to the chat first</a:t>
            </a:r>
            <a:endParaRPr lang="en-US" sz="1200" dirty="0"/>
          </a:p>
        </p:txBody>
      </p:sp>
      <p:sp>
        <p:nvSpPr>
          <p:cNvPr id="16" name="Text 14"/>
          <p:cNvSpPr txBox="1"/>
          <p:nvPr/>
        </p:nvSpPr>
        <p:spPr>
          <a:xfrm>
            <a:off x="6309360" y="1188720"/>
            <a:ext cx="5333695" cy="365760"/>
          </a:xfrm>
          <a:prstGeom prst="rect">
            <a:avLst/>
          </a:prstGeom>
          <a:noFill/>
          <a:ln/>
        </p:spPr>
        <p:txBody>
          <a:bodyPr wrap="square" lIns="0" tIns="0" rIns="0" bIns="0" rtlCol="0" anchor="ctr"/>
          <a:lstStyle/>
          <a:p>
            <a:pPr indent="0" marL="0">
              <a:buNone/>
            </a:pPr>
            <a:r>
              <a:rPr lang="en-US" sz="1600" b="1" dirty="0">
                <a:solidFill>
                  <a:srgbClr val="0A7F44"/>
                </a:solidFill>
              </a:rPr>
              <a:t>Serve: one sentence, one tap each</a:t>
            </a:r>
            <a:endParaRPr lang="en-US" sz="1600" dirty="0"/>
          </a:p>
        </p:txBody>
      </p:sp>
      <p:sp>
        <p:nvSpPr>
          <p:cNvPr id="17" name="Shape 15"/>
          <p:cNvSpPr/>
          <p:nvPr/>
        </p:nvSpPr>
        <p:spPr>
          <a:xfrm>
            <a:off x="7040880" y="1627632"/>
            <a:ext cx="4602175" cy="402336"/>
          </a:xfrm>
          <a:prstGeom prst="roundRect">
            <a:avLst>
              <a:gd name="adj" fmla="val 22727"/>
            </a:avLst>
          </a:prstGeom>
          <a:solidFill>
            <a:srgbClr val="0A7F44"/>
          </a:solidFill>
          <a:ln w="12700">
            <a:solidFill>
              <a:srgbClr val="0A7F44"/>
            </a:solidFill>
            <a:prstDash val="solid"/>
          </a:ln>
        </p:spPr>
      </p:sp>
      <p:sp>
        <p:nvSpPr>
          <p:cNvPr id="18" name="Text 16"/>
          <p:cNvSpPr txBox="1"/>
          <p:nvPr/>
        </p:nvSpPr>
        <p:spPr>
          <a:xfrm>
            <a:off x="7205472" y="1627632"/>
            <a:ext cx="4282135" cy="402336"/>
          </a:xfrm>
          <a:prstGeom prst="rect">
            <a:avLst/>
          </a:prstGeom>
          <a:noFill/>
          <a:ln/>
        </p:spPr>
        <p:txBody>
          <a:bodyPr wrap="square" lIns="0" tIns="0" rIns="0" bIns="0" rtlCol="0" anchor="ctr"/>
          <a:lstStyle/>
          <a:p>
            <a:pPr indent="0" marL="0">
              <a:buNone/>
            </a:pPr>
            <a:r>
              <a:rPr lang="en-US" sz="1200" dirty="0">
                <a:solidFill>
                  <a:srgbClr val="FFFFFF"/>
                </a:solidFill>
              </a:rPr>
              <a:t>“Doubles on Saturday”</a:t>
            </a:r>
            <a:endParaRPr lang="en-US" sz="1200" dirty="0"/>
          </a:p>
        </p:txBody>
      </p:sp>
      <p:sp>
        <p:nvSpPr>
          <p:cNvPr id="19" name="Shape 17"/>
          <p:cNvSpPr/>
          <p:nvPr/>
        </p:nvSpPr>
        <p:spPr>
          <a:xfrm>
            <a:off x="6309360" y="2103120"/>
            <a:ext cx="4602175" cy="402336"/>
          </a:xfrm>
          <a:prstGeom prst="roundRect">
            <a:avLst>
              <a:gd name="adj" fmla="val 22727"/>
            </a:avLst>
          </a:prstGeom>
          <a:solidFill>
            <a:srgbClr val="F3F6F4"/>
          </a:solidFill>
          <a:ln w="12700">
            <a:solidFill>
              <a:srgbClr val="F3F6F4"/>
            </a:solidFill>
            <a:prstDash val="solid"/>
          </a:ln>
        </p:spPr>
      </p:sp>
      <p:sp>
        <p:nvSpPr>
          <p:cNvPr id="20" name="Text 18"/>
          <p:cNvSpPr txBox="1"/>
          <p:nvPr/>
        </p:nvSpPr>
        <p:spPr>
          <a:xfrm>
            <a:off x="6473952" y="2103120"/>
            <a:ext cx="4282135" cy="402336"/>
          </a:xfrm>
          <a:prstGeom prst="rect">
            <a:avLst/>
          </a:prstGeom>
          <a:noFill/>
          <a:ln/>
        </p:spPr>
        <p:txBody>
          <a:bodyPr wrap="square" lIns="0" tIns="0" rIns="0" bIns="0" rtlCol="0" anchor="ctr"/>
          <a:lstStyle/>
          <a:p>
            <a:pPr indent="0" marL="0">
              <a:buNone/>
            </a:pPr>
            <a:r>
              <a:rPr lang="en-US" sz="1200" dirty="0">
                <a:solidFill>
                  <a:srgbClr val="0A0A0B"/>
                </a:solidFill>
              </a:rPr>
              <a:t>The card: the day, the nearest court, in 7 ms</a:t>
            </a:r>
            <a:endParaRPr lang="en-US" sz="1200" dirty="0"/>
          </a:p>
        </p:txBody>
      </p:sp>
      <p:sp>
        <p:nvSpPr>
          <p:cNvPr id="21" name="Shape 19"/>
          <p:cNvSpPr/>
          <p:nvPr/>
        </p:nvSpPr>
        <p:spPr>
          <a:xfrm>
            <a:off x="6309360" y="2578608"/>
            <a:ext cx="4602175" cy="402336"/>
          </a:xfrm>
          <a:prstGeom prst="roundRect">
            <a:avLst>
              <a:gd name="adj" fmla="val 22727"/>
            </a:avLst>
          </a:prstGeom>
          <a:solidFill>
            <a:srgbClr val="F3F6F4"/>
          </a:solidFill>
          <a:ln w="12700">
            <a:solidFill>
              <a:srgbClr val="F3F6F4"/>
            </a:solidFill>
            <a:prstDash val="solid"/>
          </a:ln>
        </p:spPr>
      </p:sp>
      <p:sp>
        <p:nvSpPr>
          <p:cNvPr id="22" name="Text 20"/>
          <p:cNvSpPr txBox="1"/>
          <p:nvPr/>
        </p:nvSpPr>
        <p:spPr>
          <a:xfrm>
            <a:off x="6473952" y="2578608"/>
            <a:ext cx="4282135" cy="402336"/>
          </a:xfrm>
          <a:prstGeom prst="rect">
            <a:avLst/>
          </a:prstGeom>
          <a:noFill/>
          <a:ln/>
        </p:spPr>
        <p:txBody>
          <a:bodyPr wrap="square" lIns="0" tIns="0" rIns="0" bIns="0" rtlCol="0" anchor="ctr"/>
          <a:lstStyle/>
          <a:p>
            <a:pPr indent="0" marL="0">
              <a:buNone/>
            </a:pPr>
            <a:r>
              <a:rPr lang="en-US" sz="1200" dirty="0">
                <a:solidFill>
                  <a:srgbClr val="0A0A0B"/>
                </a:solidFill>
              </a:rPr>
              <a:t>The players' agents agree the time in the background</a:t>
            </a:r>
            <a:endParaRPr lang="en-US" sz="1200" dirty="0"/>
          </a:p>
        </p:txBody>
      </p:sp>
      <p:sp>
        <p:nvSpPr>
          <p:cNvPr id="23" name="Shape 21"/>
          <p:cNvSpPr/>
          <p:nvPr/>
        </p:nvSpPr>
        <p:spPr>
          <a:xfrm>
            <a:off x="7040880" y="3054096"/>
            <a:ext cx="4602175" cy="402336"/>
          </a:xfrm>
          <a:prstGeom prst="roundRect">
            <a:avLst>
              <a:gd name="adj" fmla="val 22727"/>
            </a:avLst>
          </a:prstGeom>
          <a:solidFill>
            <a:srgbClr val="0A7F44"/>
          </a:solidFill>
          <a:ln w="12700">
            <a:solidFill>
              <a:srgbClr val="0A7F44"/>
            </a:solidFill>
            <a:prstDash val="solid"/>
          </a:ln>
        </p:spPr>
      </p:sp>
      <p:sp>
        <p:nvSpPr>
          <p:cNvPr id="24" name="Text 22"/>
          <p:cNvSpPr txBox="1"/>
          <p:nvPr/>
        </p:nvSpPr>
        <p:spPr>
          <a:xfrm>
            <a:off x="7205472" y="3054096"/>
            <a:ext cx="4282135" cy="402336"/>
          </a:xfrm>
          <a:prstGeom prst="rect">
            <a:avLst/>
          </a:prstGeom>
          <a:noFill/>
          <a:ln/>
        </p:spPr>
        <p:txBody>
          <a:bodyPr wrap="square" lIns="0" tIns="0" rIns="0" bIns="0" rtlCol="0" anchor="ctr"/>
          <a:lstStyle/>
          <a:p>
            <a:pPr indent="0" marL="0">
              <a:buNone/>
            </a:pPr>
            <a:r>
              <a:rPr lang="en-US" sz="1200" dirty="0">
                <a:solidFill>
                  <a:srgbClr val="FFFFFF"/>
                </a:solidFill>
              </a:rPr>
              <a:t>Each person taps once: one yes</a:t>
            </a:r>
            <a:endParaRPr lang="en-US" sz="1200" dirty="0"/>
          </a:p>
        </p:txBody>
      </p:sp>
      <p:sp>
        <p:nvSpPr>
          <p:cNvPr id="25" name="Shape 23"/>
          <p:cNvSpPr/>
          <p:nvPr/>
        </p:nvSpPr>
        <p:spPr>
          <a:xfrm>
            <a:off x="6309360" y="3529584"/>
            <a:ext cx="4602175" cy="402336"/>
          </a:xfrm>
          <a:prstGeom prst="roundRect">
            <a:avLst>
              <a:gd name="adj" fmla="val 22727"/>
            </a:avLst>
          </a:prstGeom>
          <a:solidFill>
            <a:srgbClr val="F3F6F4"/>
          </a:solidFill>
          <a:ln w="12700">
            <a:solidFill>
              <a:srgbClr val="F3F6F4"/>
            </a:solidFill>
            <a:prstDash val="solid"/>
          </a:ln>
        </p:spPr>
      </p:sp>
      <p:sp>
        <p:nvSpPr>
          <p:cNvPr id="26" name="Text 24"/>
          <p:cNvSpPr txBox="1"/>
          <p:nvPr/>
        </p:nvSpPr>
        <p:spPr>
          <a:xfrm>
            <a:off x="6473952" y="3529584"/>
            <a:ext cx="4282135" cy="402336"/>
          </a:xfrm>
          <a:prstGeom prst="rect">
            <a:avLst/>
          </a:prstGeom>
          <a:noFill/>
          <a:ln/>
        </p:spPr>
        <p:txBody>
          <a:bodyPr wrap="square" lIns="0" tIns="0" rIns="0" bIns="0" rtlCol="0" anchor="ctr"/>
          <a:lstStyle/>
          <a:p>
            <a:pPr indent="0" marL="0">
              <a:buNone/>
            </a:pPr>
            <a:r>
              <a:rPr lang="en-US" sz="1200" dirty="0">
                <a:solidFill>
                  <a:srgbClr val="0A0A0B"/>
                </a:solidFill>
              </a:rPr>
              <a:t>Booked; the agent posts each join in the thread</a:t>
            </a:r>
            <a:endParaRPr lang="en-US" sz="1200" dirty="0"/>
          </a:p>
        </p:txBody>
      </p:sp>
      <p:sp>
        <p:nvSpPr>
          <p:cNvPr id="27" name="Shape 25"/>
          <p:cNvSpPr/>
          <p:nvPr/>
        </p:nvSpPr>
        <p:spPr>
          <a:xfrm>
            <a:off x="548640" y="4572000"/>
            <a:ext cx="3520440" cy="1463040"/>
          </a:xfrm>
          <a:prstGeom prst="roundRect">
            <a:avLst>
              <a:gd name="adj" fmla="val 5000"/>
            </a:avLst>
          </a:prstGeom>
          <a:solidFill>
            <a:srgbClr val="F3F6F4"/>
          </a:solidFill>
          <a:ln w="12700">
            <a:solidFill>
              <a:srgbClr val="F3F6F4"/>
            </a:solidFill>
            <a:prstDash val="solid"/>
          </a:ln>
        </p:spPr>
      </p:sp>
      <p:sp>
        <p:nvSpPr>
          <p:cNvPr id="28" name="Shape 26"/>
          <p:cNvSpPr/>
          <p:nvPr/>
        </p:nvSpPr>
        <p:spPr>
          <a:xfrm>
            <a:off x="731520" y="4754880"/>
            <a:ext cx="457200" cy="457200"/>
          </a:xfrm>
          <a:prstGeom prst="ellipse">
            <a:avLst/>
          </a:prstGeom>
          <a:solidFill>
            <a:srgbClr val="0A7F44"/>
          </a:solidFill>
          <a:ln w="12700">
            <a:solidFill>
              <a:srgbClr val="0A7F44"/>
            </a:solidFill>
            <a:prstDash val="solid"/>
          </a:ln>
        </p:spPr>
      </p:sp>
      <p:sp>
        <p:nvSpPr>
          <p:cNvPr id="29" name="Text 27"/>
          <p:cNvSpPr txBox="1"/>
          <p:nvPr/>
        </p:nvSpPr>
        <p:spPr>
          <a:xfrm>
            <a:off x="1325880" y="4754880"/>
            <a:ext cx="2606040" cy="457200"/>
          </a:xfrm>
          <a:prstGeom prst="rect">
            <a:avLst/>
          </a:prstGeom>
          <a:noFill/>
          <a:ln/>
        </p:spPr>
        <p:txBody>
          <a:bodyPr wrap="square" lIns="0" tIns="0" rIns="0" bIns="0" rtlCol="0" anchor="ctr"/>
          <a:lstStyle/>
          <a:p>
            <a:pPr indent="0" marL="0">
              <a:buNone/>
            </a:pPr>
            <a:r>
              <a:rPr lang="en-US" sz="1700" b="1" dirty="0">
                <a:solidFill>
                  <a:srgbClr val="0A0A0B"/>
                </a:solidFill>
              </a:rPr>
              <a:t>Match  </a:t>
            </a:r>
            <a:pPr indent="0" marL="0">
              <a:buNone/>
            </a:pPr>
            <a:r>
              <a:rPr lang="en-US" sz="1150" dirty="0">
                <a:solidFill>
                  <a:srgbClr val="55555C"/>
                </a:solidFill>
              </a:rPr>
              <a:t>asks first</a:t>
            </a:r>
            <a:endParaRPr lang="en-US" sz="1700" dirty="0"/>
          </a:p>
        </p:txBody>
      </p:sp>
      <p:sp>
        <p:nvSpPr>
          <p:cNvPr id="30" name="Text 28"/>
          <p:cNvSpPr txBox="1"/>
          <p:nvPr/>
        </p:nvSpPr>
        <p:spPr>
          <a:xfrm>
            <a:off x="731520" y="5303520"/>
            <a:ext cx="3154680" cy="685800"/>
          </a:xfrm>
          <a:prstGeom prst="rect">
            <a:avLst/>
          </a:prstGeom>
          <a:noFill/>
          <a:ln/>
        </p:spPr>
        <p:txBody>
          <a:bodyPr wrap="square" lIns="0" tIns="0" rIns="0" bIns="0" rtlCol="0" anchor="t"/>
          <a:lstStyle/>
          <a:p>
            <a:pPr indent="0" marL="0">
              <a:buNone/>
            </a:pPr>
            <a:r>
              <a:rPr lang="en-US" sz="1150" dirty="0">
                <a:solidFill>
                  <a:srgbClr val="0A0A0B"/>
                </a:solidFill>
              </a:rPr>
              <a:t>“Thursday 19:00: Leo is free. Want a game?” It learns your usual times and the people you play best with.</a:t>
            </a:r>
            <a:endParaRPr lang="en-US" sz="1150" dirty="0"/>
          </a:p>
        </p:txBody>
      </p:sp>
      <p:sp>
        <p:nvSpPr>
          <p:cNvPr id="31" name="Shape 29"/>
          <p:cNvSpPr/>
          <p:nvPr/>
        </p:nvSpPr>
        <p:spPr>
          <a:xfrm>
            <a:off x="4297680" y="4572000"/>
            <a:ext cx="3520440" cy="1463040"/>
          </a:xfrm>
          <a:prstGeom prst="roundRect">
            <a:avLst>
              <a:gd name="adj" fmla="val 5000"/>
            </a:avLst>
          </a:prstGeom>
          <a:solidFill>
            <a:srgbClr val="F3F6F4"/>
          </a:solidFill>
          <a:ln w="12700">
            <a:solidFill>
              <a:srgbClr val="F3F6F4"/>
            </a:solidFill>
            <a:prstDash val="solid"/>
          </a:ln>
        </p:spPr>
      </p:sp>
      <p:sp>
        <p:nvSpPr>
          <p:cNvPr id="32" name="Shape 30"/>
          <p:cNvSpPr/>
          <p:nvPr/>
        </p:nvSpPr>
        <p:spPr>
          <a:xfrm>
            <a:off x="4480560" y="4754880"/>
            <a:ext cx="457200" cy="457200"/>
          </a:xfrm>
          <a:prstGeom prst="ellipse">
            <a:avLst/>
          </a:prstGeom>
          <a:solidFill>
            <a:srgbClr val="0064E0"/>
          </a:solidFill>
          <a:ln w="12700">
            <a:solidFill>
              <a:srgbClr val="0064E0"/>
            </a:solidFill>
            <a:prstDash val="solid"/>
          </a:ln>
        </p:spPr>
      </p:sp>
      <p:sp>
        <p:nvSpPr>
          <p:cNvPr id="33" name="Text 31"/>
          <p:cNvSpPr txBox="1"/>
          <p:nvPr/>
        </p:nvSpPr>
        <p:spPr>
          <a:xfrm>
            <a:off x="5074920" y="4754880"/>
            <a:ext cx="2606040" cy="457200"/>
          </a:xfrm>
          <a:prstGeom prst="rect">
            <a:avLst/>
          </a:prstGeom>
          <a:noFill/>
          <a:ln/>
        </p:spPr>
        <p:txBody>
          <a:bodyPr wrap="square" lIns="0" tIns="0" rIns="0" bIns="0" rtlCol="0" anchor="ctr"/>
          <a:lstStyle/>
          <a:p>
            <a:pPr indent="0" marL="0">
              <a:buNone/>
            </a:pPr>
            <a:r>
              <a:rPr lang="en-US" sz="1700" b="1" dirty="0">
                <a:solidFill>
                  <a:srgbClr val="0A0A0B"/>
                </a:solidFill>
              </a:rPr>
              <a:t>Talk  </a:t>
            </a:r>
            <a:pPr indent="0" marL="0">
              <a:buNone/>
            </a:pPr>
            <a:r>
              <a:rPr lang="en-US" sz="1150" dirty="0">
                <a:solidFill>
                  <a:srgbClr val="55555C"/>
                </a:solidFill>
              </a:rPr>
              <a:t>agents agree on their own</a:t>
            </a:r>
            <a:endParaRPr lang="en-US" sz="1700" dirty="0"/>
          </a:p>
        </p:txBody>
      </p:sp>
      <p:sp>
        <p:nvSpPr>
          <p:cNvPr id="34" name="Text 32"/>
          <p:cNvSpPr txBox="1"/>
          <p:nvPr/>
        </p:nvSpPr>
        <p:spPr>
          <a:xfrm>
            <a:off x="4480560" y="5303520"/>
            <a:ext cx="3154680" cy="685800"/>
          </a:xfrm>
          <a:prstGeom prst="rect">
            <a:avLst/>
          </a:prstGeom>
          <a:noFill/>
          <a:ln/>
        </p:spPr>
        <p:txBody>
          <a:bodyPr wrap="square" lIns="0" tIns="0" rIns="0" bIns="0" rtlCol="0" anchor="t"/>
          <a:lstStyle/>
          <a:p>
            <a:pPr indent="0" marL="0">
              <a:buNone/>
            </a:pPr>
            <a:r>
              <a:rPr lang="en-US" sz="1150" dirty="0">
                <a:solidFill>
                  <a:srgbClr val="0A0A0B"/>
                </a:solidFill>
              </a:rPr>
              <a:t>You only say you want to play. Your agent agrees the time, the people and the court with theirs.</a:t>
            </a:r>
            <a:endParaRPr lang="en-US" sz="1150" dirty="0"/>
          </a:p>
        </p:txBody>
      </p:sp>
      <p:sp>
        <p:nvSpPr>
          <p:cNvPr id="35" name="Shape 33"/>
          <p:cNvSpPr/>
          <p:nvPr/>
        </p:nvSpPr>
        <p:spPr>
          <a:xfrm>
            <a:off x="8046720" y="4572000"/>
            <a:ext cx="3520440" cy="1463040"/>
          </a:xfrm>
          <a:prstGeom prst="roundRect">
            <a:avLst>
              <a:gd name="adj" fmla="val 5000"/>
            </a:avLst>
          </a:prstGeom>
          <a:solidFill>
            <a:srgbClr val="F3F6F4"/>
          </a:solidFill>
          <a:ln w="12700">
            <a:solidFill>
              <a:srgbClr val="F3F6F4"/>
            </a:solidFill>
            <a:prstDash val="solid"/>
          </a:ln>
        </p:spPr>
      </p:sp>
      <p:sp>
        <p:nvSpPr>
          <p:cNvPr id="36" name="Shape 34"/>
          <p:cNvSpPr/>
          <p:nvPr/>
        </p:nvSpPr>
        <p:spPr>
          <a:xfrm>
            <a:off x="8229600" y="4754880"/>
            <a:ext cx="457200" cy="457200"/>
          </a:xfrm>
          <a:prstGeom prst="ellipse">
            <a:avLst/>
          </a:prstGeom>
          <a:solidFill>
            <a:srgbClr val="B26A00"/>
          </a:solidFill>
          <a:ln w="12700">
            <a:solidFill>
              <a:srgbClr val="B26A00"/>
            </a:solidFill>
            <a:prstDash val="solid"/>
          </a:ln>
        </p:spPr>
      </p:sp>
      <p:sp>
        <p:nvSpPr>
          <p:cNvPr id="37" name="Text 35"/>
          <p:cNvSpPr txBox="1"/>
          <p:nvPr/>
        </p:nvSpPr>
        <p:spPr>
          <a:xfrm>
            <a:off x="8823960" y="4754880"/>
            <a:ext cx="2606040" cy="457200"/>
          </a:xfrm>
          <a:prstGeom prst="rect">
            <a:avLst/>
          </a:prstGeom>
          <a:noFill/>
          <a:ln/>
        </p:spPr>
        <p:txBody>
          <a:bodyPr wrap="square" lIns="0" tIns="0" rIns="0" bIns="0" rtlCol="0" anchor="ctr"/>
          <a:lstStyle/>
          <a:p>
            <a:pPr indent="0" marL="0">
              <a:buNone/>
            </a:pPr>
            <a:r>
              <a:rPr lang="en-US" sz="1700" b="1" dirty="0">
                <a:solidFill>
                  <a:srgbClr val="0A0A0B"/>
                </a:solidFill>
              </a:rPr>
              <a:t>Pace  </a:t>
            </a:r>
            <a:pPr indent="0" marL="0">
              <a:buNone/>
            </a:pPr>
            <a:r>
              <a:rPr lang="en-US" sz="1150" dirty="0">
                <a:solidFill>
                  <a:srgbClr val="55555C"/>
                </a:solidFill>
              </a:rPr>
              <a:t>schedules around your load</a:t>
            </a:r>
            <a:endParaRPr lang="en-US" sz="1700" dirty="0"/>
          </a:p>
        </p:txBody>
      </p:sp>
      <p:sp>
        <p:nvSpPr>
          <p:cNvPr id="38" name="Text 36"/>
          <p:cNvSpPr txBox="1"/>
          <p:nvPr/>
        </p:nvSpPr>
        <p:spPr>
          <a:xfrm>
            <a:off x="8229600" y="5303520"/>
            <a:ext cx="3154680" cy="685800"/>
          </a:xfrm>
          <a:prstGeom prst="rect">
            <a:avLst/>
          </a:prstGeom>
          <a:noFill/>
          <a:ln/>
        </p:spPr>
        <p:txBody>
          <a:bodyPr wrap="square" lIns="0" tIns="0" rIns="0" bIns="0" rtlCol="0" anchor="t"/>
          <a:lstStyle/>
          <a:p>
            <a:pPr indent="0" marL="0">
              <a:buNone/>
            </a:pPr>
            <a:r>
              <a:rPr lang="en-US" sz="1150" dirty="0">
                <a:solidFill>
                  <a:srgbClr val="0A0A0B"/>
                </a:solidFill>
              </a:rPr>
              <a:t>Exercise load from a health-app export becomes a scheduling limit: one game fewer in a heavy week.</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A real badminton club used it: 2 of 3 invites became games within 3 days</a:t>
            </a:r>
            <a:endParaRPr lang="en-US" sz="2400" dirty="0"/>
          </a:p>
        </p:txBody>
      </p:sp>
      <p:sp>
        <p:nvSpPr>
          <p:cNvPr id="3" name="Shape 1"/>
          <p:cNvSpPr/>
          <p:nvPr/>
        </p:nvSpPr>
        <p:spPr>
          <a:xfrm>
            <a:off x="548640" y="1280160"/>
            <a:ext cx="5212080" cy="2514600"/>
          </a:xfrm>
          <a:prstGeom prst="roundRect">
            <a:avLst>
              <a:gd name="adj" fmla="val 2909"/>
            </a:avLst>
          </a:prstGeom>
          <a:solidFill>
            <a:srgbClr val="E9F3EC"/>
          </a:solidFill>
          <a:ln w="12700">
            <a:solidFill>
              <a:srgbClr val="E9F3EC"/>
            </a:solidFill>
            <a:prstDash val="solid"/>
          </a:ln>
        </p:spPr>
      </p:sp>
      <p:sp>
        <p:nvSpPr>
          <p:cNvPr id="4" name="Text 2"/>
          <p:cNvSpPr txBox="1"/>
          <p:nvPr/>
        </p:nvSpPr>
        <p:spPr>
          <a:xfrm>
            <a:off x="822960" y="1463040"/>
            <a:ext cx="4663440" cy="2240280"/>
          </a:xfrm>
          <a:prstGeom prst="rect">
            <a:avLst/>
          </a:prstGeom>
          <a:noFill/>
          <a:ln/>
        </p:spPr>
        <p:txBody>
          <a:bodyPr wrap="square" lIns="0" tIns="0" rIns="0" bIns="0" rtlCol="0" anchor="t"/>
          <a:lstStyle/>
          <a:p>
            <a:pPr indent="0" marL="0">
              <a:spcAft>
                <a:spcPts val="400"/>
              </a:spcAft>
              <a:buNone/>
            </a:pPr>
            <a:r>
              <a:rPr lang="en-US" sz="1700" i="1" dirty="0">
                <a:solidFill>
                  <a:srgbClr val="0A0A0B"/>
                </a:solidFill>
              </a:rPr>
              <a:t>“It's actually really handy. You just talk to the agent.”</a:t>
            </a:r>
            <a:endParaRPr lang="en-US" sz="1500" dirty="0"/>
          </a:p>
          <a:p>
            <a:pPr indent="0" marL="0">
              <a:spcAft>
                <a:spcPts val="400"/>
              </a:spcAft>
              <a:buNone/>
            </a:pPr>
            <a:r>
              <a:rPr lang="en-US" sz="1100" dirty="0">
                <a:solidFill>
                  <a:srgbClr val="55555C"/>
                </a:solidFill>
              </a:rPr>
              <a:t>Player A</a:t>
            </a:r>
            <a:endParaRPr lang="en-US" sz="1500" dirty="0"/>
          </a:p>
          <a:p>
            <a:pPr indent="0" marL="0">
              <a:spcAft>
                <a:spcPts val="400"/>
              </a:spcAft>
              <a:buNone/>
            </a:pPr>
            <a:r>
              <a:rPr lang="en-US" sz="1700" i="1" dirty="0">
                <a:solidFill>
                  <a:srgbClr val="0A0A0B"/>
                </a:solidFill>
              </a:rPr>
              <a:t>“The way it suggests games first can make people more motivated to play.”</a:t>
            </a:r>
            <a:endParaRPr lang="en-US" sz="1500" dirty="0"/>
          </a:p>
          <a:p>
            <a:pPr indent="0" marL="0">
              <a:spcAft>
                <a:spcPts val="400"/>
              </a:spcAft>
              <a:buNone/>
            </a:pPr>
            <a:r>
              <a:rPr lang="en-US" sz="1100" dirty="0">
                <a:solidFill>
                  <a:srgbClr val="55555C"/>
                </a:solidFill>
              </a:rPr>
              <a:t>Player B (both translated from Chinese)</a:t>
            </a:r>
            <a:endParaRPr lang="en-US" sz="1500" dirty="0"/>
          </a:p>
        </p:txBody>
      </p:sp>
      <p:sp>
        <p:nvSpPr>
          <p:cNvPr id="5" name="Shape 3"/>
          <p:cNvSpPr/>
          <p:nvPr/>
        </p:nvSpPr>
        <p:spPr>
          <a:xfrm>
            <a:off x="548640" y="4023360"/>
            <a:ext cx="1645920" cy="1508760"/>
          </a:xfrm>
          <a:prstGeom prst="roundRect">
            <a:avLst>
              <a:gd name="adj" fmla="val 4848"/>
            </a:avLst>
          </a:prstGeom>
          <a:solidFill>
            <a:srgbClr val="F3F6F4"/>
          </a:solidFill>
          <a:ln w="12700">
            <a:solidFill>
              <a:srgbClr val="F3F6F4"/>
            </a:solidFill>
            <a:prstDash val="solid"/>
          </a:ln>
        </p:spPr>
      </p:sp>
      <p:sp>
        <p:nvSpPr>
          <p:cNvPr id="6" name="Text 4"/>
          <p:cNvSpPr txBox="1"/>
          <p:nvPr/>
        </p:nvSpPr>
        <p:spPr>
          <a:xfrm>
            <a:off x="777240" y="4160520"/>
            <a:ext cx="1188720" cy="731520"/>
          </a:xfrm>
          <a:prstGeom prst="rect">
            <a:avLst/>
          </a:prstGeom>
          <a:noFill/>
          <a:ln/>
        </p:spPr>
        <p:txBody>
          <a:bodyPr wrap="square" lIns="0" tIns="0" rIns="0" bIns="0" rtlCol="0" anchor="ctr"/>
          <a:lstStyle/>
          <a:p>
            <a:pPr indent="0" marL="0">
              <a:buNone/>
            </a:pPr>
            <a:r>
              <a:rPr lang="en-US" sz="3000" b="1" dirty="0">
                <a:solidFill>
                  <a:srgbClr val="0A7F44"/>
                </a:solidFill>
                <a:latin typeface="Segoe UI Semibold" pitchFamily="34" charset="0"/>
                <a:ea typeface="Segoe UI Semibold" pitchFamily="34" charset="-122"/>
                <a:cs typeface="Segoe UI Semibold" pitchFamily="34" charset="-120"/>
              </a:rPr>
              <a:t>10+</a:t>
            </a:r>
            <a:endParaRPr lang="en-US" sz="3000" dirty="0"/>
          </a:p>
        </p:txBody>
      </p:sp>
      <p:sp>
        <p:nvSpPr>
          <p:cNvPr id="7" name="Text 5"/>
          <p:cNvSpPr txBox="1"/>
          <p:nvPr/>
        </p:nvSpPr>
        <p:spPr>
          <a:xfrm>
            <a:off x="777240" y="4892040"/>
            <a:ext cx="1188720" cy="594360"/>
          </a:xfrm>
          <a:prstGeom prst="rect">
            <a:avLst/>
          </a:prstGeom>
          <a:noFill/>
          <a:ln/>
        </p:spPr>
        <p:txBody>
          <a:bodyPr wrap="square" lIns="0" tIns="0" rIns="0" bIns="0" rtlCol="0" anchor="t"/>
          <a:lstStyle/>
          <a:p>
            <a:pPr indent="0" marL="0">
              <a:buNone/>
            </a:pPr>
            <a:r>
              <a:rPr lang="en-US" sz="1250" dirty="0">
                <a:solidFill>
                  <a:srgbClr val="55555C"/>
                </a:solidFill>
              </a:rPr>
              <a:t>people of the club used Serve</a:t>
            </a:r>
            <a:endParaRPr lang="en-US" sz="1250" dirty="0"/>
          </a:p>
        </p:txBody>
      </p:sp>
      <p:sp>
        <p:nvSpPr>
          <p:cNvPr id="8" name="Shape 6"/>
          <p:cNvSpPr/>
          <p:nvPr/>
        </p:nvSpPr>
        <p:spPr>
          <a:xfrm>
            <a:off x="2331720" y="4023360"/>
            <a:ext cx="1645920" cy="1508760"/>
          </a:xfrm>
          <a:prstGeom prst="roundRect">
            <a:avLst>
              <a:gd name="adj" fmla="val 4848"/>
            </a:avLst>
          </a:prstGeom>
          <a:solidFill>
            <a:srgbClr val="F3F6F4"/>
          </a:solidFill>
          <a:ln w="12700">
            <a:solidFill>
              <a:srgbClr val="F3F6F4"/>
            </a:solidFill>
            <a:prstDash val="solid"/>
          </a:ln>
        </p:spPr>
      </p:sp>
      <p:sp>
        <p:nvSpPr>
          <p:cNvPr id="9" name="Text 7"/>
          <p:cNvSpPr txBox="1"/>
          <p:nvPr/>
        </p:nvSpPr>
        <p:spPr>
          <a:xfrm>
            <a:off x="2560320" y="4160520"/>
            <a:ext cx="1188720" cy="731520"/>
          </a:xfrm>
          <a:prstGeom prst="rect">
            <a:avLst/>
          </a:prstGeom>
          <a:noFill/>
          <a:ln/>
        </p:spPr>
        <p:txBody>
          <a:bodyPr wrap="square" lIns="0" tIns="0" rIns="0" bIns="0" rtlCol="0" anchor="ctr"/>
          <a:lstStyle/>
          <a:p>
            <a:pPr indent="0" marL="0">
              <a:buNone/>
            </a:pPr>
            <a:r>
              <a:rPr lang="en-US" sz="3000" b="1" dirty="0">
                <a:solidFill>
                  <a:srgbClr val="0A7F44"/>
                </a:solidFill>
                <a:latin typeface="Segoe UI Semibold" pitchFamily="34" charset="0"/>
                <a:ea typeface="Segoe UI Semibold" pitchFamily="34" charset="-122"/>
                <a:cs typeface="Segoe UI Semibold" pitchFamily="34" charset="-120"/>
              </a:rPr>
              <a:t>2 of 3</a:t>
            </a:r>
            <a:endParaRPr lang="en-US" sz="3000" dirty="0"/>
          </a:p>
        </p:txBody>
      </p:sp>
      <p:sp>
        <p:nvSpPr>
          <p:cNvPr id="10" name="Text 8"/>
          <p:cNvSpPr txBox="1"/>
          <p:nvPr/>
        </p:nvSpPr>
        <p:spPr>
          <a:xfrm>
            <a:off x="2560320" y="4892040"/>
            <a:ext cx="1188720" cy="594360"/>
          </a:xfrm>
          <a:prstGeom prst="rect">
            <a:avLst/>
          </a:prstGeom>
          <a:noFill/>
          <a:ln/>
        </p:spPr>
        <p:txBody>
          <a:bodyPr wrap="square" lIns="0" tIns="0" rIns="0" bIns="0" rtlCol="0" anchor="t"/>
          <a:lstStyle/>
          <a:p>
            <a:pPr indent="0" marL="0">
              <a:buNone/>
            </a:pPr>
            <a:r>
              <a:rPr lang="en-US" sz="1250" dirty="0">
                <a:solidFill>
                  <a:srgbClr val="55555C"/>
                </a:solidFill>
              </a:rPr>
              <a:t>invites became games played</a:t>
            </a:r>
            <a:endParaRPr lang="en-US" sz="1250" dirty="0"/>
          </a:p>
        </p:txBody>
      </p:sp>
      <p:sp>
        <p:nvSpPr>
          <p:cNvPr id="11" name="Shape 9"/>
          <p:cNvSpPr/>
          <p:nvPr/>
        </p:nvSpPr>
        <p:spPr>
          <a:xfrm>
            <a:off x="4114800" y="4023360"/>
            <a:ext cx="1645920" cy="1508760"/>
          </a:xfrm>
          <a:prstGeom prst="roundRect">
            <a:avLst>
              <a:gd name="adj" fmla="val 4848"/>
            </a:avLst>
          </a:prstGeom>
          <a:solidFill>
            <a:srgbClr val="F3F6F4"/>
          </a:solidFill>
          <a:ln w="12700">
            <a:solidFill>
              <a:srgbClr val="F3F6F4"/>
            </a:solidFill>
            <a:prstDash val="solid"/>
          </a:ln>
        </p:spPr>
      </p:sp>
      <p:sp>
        <p:nvSpPr>
          <p:cNvPr id="12" name="Text 10"/>
          <p:cNvSpPr txBox="1"/>
          <p:nvPr/>
        </p:nvSpPr>
        <p:spPr>
          <a:xfrm>
            <a:off x="4343400" y="4160520"/>
            <a:ext cx="1188720" cy="731520"/>
          </a:xfrm>
          <a:prstGeom prst="rect">
            <a:avLst/>
          </a:prstGeom>
          <a:noFill/>
          <a:ln/>
        </p:spPr>
        <p:txBody>
          <a:bodyPr wrap="square" lIns="0" tIns="0" rIns="0" bIns="0" rtlCol="0" anchor="ctr"/>
          <a:lstStyle/>
          <a:p>
            <a:pPr indent="0" marL="0">
              <a:buNone/>
            </a:pPr>
            <a:r>
              <a:rPr lang="en-US" sz="3000" b="1" dirty="0">
                <a:solidFill>
                  <a:srgbClr val="0A7F44"/>
                </a:solidFill>
                <a:latin typeface="Segoe UI Semibold" pitchFamily="34" charset="0"/>
                <a:ea typeface="Segoe UI Semibold" pitchFamily="34" charset="-122"/>
                <a:cs typeface="Segoe UI Semibold" pitchFamily="34" charset="-120"/>
              </a:rPr>
              <a:t>3 days</a:t>
            </a:r>
            <a:endParaRPr lang="en-US" sz="3000" dirty="0"/>
          </a:p>
        </p:txBody>
      </p:sp>
      <p:sp>
        <p:nvSpPr>
          <p:cNvPr id="13" name="Text 11"/>
          <p:cNvSpPr txBox="1"/>
          <p:nvPr/>
        </p:nvSpPr>
        <p:spPr>
          <a:xfrm>
            <a:off x="4343400" y="4892040"/>
            <a:ext cx="1188720" cy="594360"/>
          </a:xfrm>
          <a:prstGeom prst="rect">
            <a:avLst/>
          </a:prstGeom>
          <a:noFill/>
          <a:ln/>
        </p:spPr>
        <p:txBody>
          <a:bodyPr wrap="square" lIns="0" tIns="0" rIns="0" bIns="0" rtlCol="0" anchor="t"/>
          <a:lstStyle/>
          <a:p>
            <a:pPr indent="0" marL="0">
              <a:buNone/>
            </a:pPr>
            <a:r>
              <a:rPr lang="en-US" sz="1250" dirty="0">
                <a:solidFill>
                  <a:srgbClr val="55555C"/>
                </a:solidFill>
              </a:rPr>
              <a:t>from invite to the games</a:t>
            </a:r>
            <a:endParaRPr lang="en-US" sz="1250" dirty="0"/>
          </a:p>
        </p:txBody>
      </p:sp>
      <p:pic>
        <p:nvPicPr>
          <p:cNvPr id="14" name="Image 0" descr="preencoded.png">    </p:cNvPr>
          <p:cNvPicPr>
            <a:picLocks noChangeAspect="1"/>
          </p:cNvPicPr>
          <p:nvPr/>
        </p:nvPicPr>
        <p:blipFill>
          <a:blip r:embed="rId1"/>
          <a:stretch>
            <a:fillRect/>
          </a:stretch>
        </p:blipFill>
        <p:spPr>
          <a:xfrm>
            <a:off x="6126480" y="1280160"/>
            <a:ext cx="2011680" cy="3017520"/>
          </a:xfrm>
          <a:prstGeom prst="rect">
            <a:avLst/>
          </a:prstGeom>
        </p:spPr>
      </p:pic>
      <p:sp>
        <p:nvSpPr>
          <p:cNvPr id="15" name="Shape 12"/>
          <p:cNvSpPr/>
          <p:nvPr/>
        </p:nvSpPr>
        <p:spPr>
          <a:xfrm>
            <a:off x="6126480" y="1280160"/>
            <a:ext cx="2011680" cy="3017520"/>
          </a:xfrm>
          <a:prstGeom prst="rect">
            <a:avLst/>
          </a:prstGeom>
          <a:ln w="9525">
            <a:solidFill>
              <a:srgbClr val="DCDCE0"/>
            </a:solidFill>
            <a:prstDash val="solid"/>
          </a:ln>
        </p:spPr>
      </p:sp>
      <p:sp>
        <p:nvSpPr>
          <p:cNvPr id="16" name="Text 13"/>
          <p:cNvSpPr txBox="1"/>
          <p:nvPr/>
        </p:nvSpPr>
        <p:spPr>
          <a:xfrm>
            <a:off x="6126480" y="4370832"/>
            <a:ext cx="2011680" cy="274320"/>
          </a:xfrm>
          <a:prstGeom prst="rect">
            <a:avLst/>
          </a:prstGeom>
          <a:noFill/>
          <a:ln/>
        </p:spPr>
        <p:txBody>
          <a:bodyPr wrap="square" lIns="0" tIns="0" rIns="0" bIns="0" rtlCol="0" anchor="ctr"/>
          <a:lstStyle/>
          <a:p>
            <a:pPr indent="0" marL="0">
              <a:buNone/>
            </a:pPr>
            <a:r>
              <a:rPr lang="en-US" sz="1100" b="1" dirty="0">
                <a:solidFill>
                  <a:srgbClr val="0A7F44"/>
                </a:solidFill>
              </a:rPr>
              <a:t>1  Say it: an invite</a:t>
            </a:r>
            <a:endParaRPr lang="en-US" sz="1100" dirty="0"/>
          </a:p>
        </p:txBody>
      </p:sp>
      <p:pic>
        <p:nvPicPr>
          <p:cNvPr id="17" name="Image 1" descr="preencoded.png">    </p:cNvPr>
          <p:cNvPicPr>
            <a:picLocks noChangeAspect="1"/>
          </p:cNvPicPr>
          <p:nvPr/>
        </p:nvPicPr>
        <p:blipFill>
          <a:blip r:embed="rId2"/>
          <a:stretch>
            <a:fillRect/>
          </a:stretch>
        </p:blipFill>
        <p:spPr>
          <a:xfrm>
            <a:off x="8229600" y="1280160"/>
            <a:ext cx="2011680" cy="3017520"/>
          </a:xfrm>
          <a:prstGeom prst="rect">
            <a:avLst/>
          </a:prstGeom>
        </p:spPr>
      </p:pic>
      <p:sp>
        <p:nvSpPr>
          <p:cNvPr id="18" name="Shape 14"/>
          <p:cNvSpPr/>
          <p:nvPr/>
        </p:nvSpPr>
        <p:spPr>
          <a:xfrm>
            <a:off x="8229600" y="1280160"/>
            <a:ext cx="2011680" cy="3017520"/>
          </a:xfrm>
          <a:prstGeom prst="rect">
            <a:avLst/>
          </a:prstGeom>
          <a:ln w="9525">
            <a:solidFill>
              <a:srgbClr val="DCDCE0"/>
            </a:solidFill>
            <a:prstDash val="solid"/>
          </a:ln>
        </p:spPr>
      </p:sp>
      <p:sp>
        <p:nvSpPr>
          <p:cNvPr id="19" name="Text 15"/>
          <p:cNvSpPr txBox="1"/>
          <p:nvPr/>
        </p:nvSpPr>
        <p:spPr>
          <a:xfrm>
            <a:off x="8229600" y="4370832"/>
            <a:ext cx="2011680" cy="274320"/>
          </a:xfrm>
          <a:prstGeom prst="rect">
            <a:avLst/>
          </a:prstGeom>
          <a:noFill/>
          <a:ln/>
        </p:spPr>
        <p:txBody>
          <a:bodyPr wrap="square" lIns="0" tIns="0" rIns="0" bIns="0" rtlCol="0" anchor="ctr"/>
          <a:lstStyle/>
          <a:p>
            <a:pPr indent="0" marL="0">
              <a:buNone/>
            </a:pPr>
            <a:r>
              <a:rPr lang="en-US" sz="1100" b="1" dirty="0">
                <a:solidFill>
                  <a:srgbClr val="0A7F44"/>
                </a:solidFill>
              </a:rPr>
              <a:t>2  The agents agree</a:t>
            </a:r>
            <a:endParaRPr lang="en-US" sz="1100" dirty="0"/>
          </a:p>
        </p:txBody>
      </p:sp>
      <p:pic>
        <p:nvPicPr>
          <p:cNvPr id="20" name="Image 2" descr="preencoded.png">    </p:cNvPr>
          <p:cNvPicPr>
            <a:picLocks noChangeAspect="1"/>
          </p:cNvPicPr>
          <p:nvPr/>
        </p:nvPicPr>
        <p:blipFill>
          <a:blip r:embed="rId3"/>
          <a:stretch>
            <a:fillRect/>
          </a:stretch>
        </p:blipFill>
        <p:spPr>
          <a:xfrm>
            <a:off x="10332720" y="1280160"/>
            <a:ext cx="1486597" cy="3017520"/>
          </a:xfrm>
          <a:prstGeom prst="rect">
            <a:avLst/>
          </a:prstGeom>
        </p:spPr>
      </p:pic>
      <p:sp>
        <p:nvSpPr>
          <p:cNvPr id="21" name="Shape 16"/>
          <p:cNvSpPr/>
          <p:nvPr/>
        </p:nvSpPr>
        <p:spPr>
          <a:xfrm>
            <a:off x="10332720" y="1280160"/>
            <a:ext cx="1486597" cy="3017520"/>
          </a:xfrm>
          <a:prstGeom prst="rect">
            <a:avLst/>
          </a:prstGeom>
          <a:ln w="9525">
            <a:solidFill>
              <a:srgbClr val="DCDCE0"/>
            </a:solidFill>
            <a:prstDash val="solid"/>
          </a:ln>
        </p:spPr>
      </p:sp>
      <p:sp>
        <p:nvSpPr>
          <p:cNvPr id="22" name="Text 17"/>
          <p:cNvSpPr txBox="1"/>
          <p:nvPr/>
        </p:nvSpPr>
        <p:spPr>
          <a:xfrm>
            <a:off x="10332720" y="4370832"/>
            <a:ext cx="1486597" cy="274320"/>
          </a:xfrm>
          <a:prstGeom prst="rect">
            <a:avLst/>
          </a:prstGeom>
          <a:noFill/>
          <a:ln/>
        </p:spPr>
        <p:txBody>
          <a:bodyPr wrap="square" lIns="0" tIns="0" rIns="0" bIns="0" rtlCol="0" anchor="ctr"/>
          <a:lstStyle/>
          <a:p>
            <a:pPr indent="0" marL="0">
              <a:buNone/>
            </a:pPr>
            <a:r>
              <a:rPr lang="en-US" sz="1100" b="1" dirty="0">
                <a:solidFill>
                  <a:srgbClr val="0A7F44"/>
                </a:solidFill>
              </a:rPr>
              <a:t>3  One tap, in Messenger</a:t>
            </a:r>
            <a:endParaRPr lang="en-US" sz="1100" dirty="0"/>
          </a:p>
        </p:txBody>
      </p:sp>
      <p:sp>
        <p:nvSpPr>
          <p:cNvPr id="23" name="Text 18"/>
          <p:cNvSpPr txBox="1"/>
          <p:nvPr/>
        </p:nvSpPr>
        <p:spPr>
          <a:xfrm>
            <a:off x="6126480" y="4800600"/>
            <a:ext cx="5516575" cy="914400"/>
          </a:xfrm>
          <a:prstGeom prst="rect">
            <a:avLst/>
          </a:prstGeom>
          <a:noFill/>
          <a:ln/>
        </p:spPr>
        <p:txBody>
          <a:bodyPr wrap="square" lIns="0" tIns="0" rIns="0" bIns="0" rtlCol="0" anchor="t"/>
          <a:lstStyle/>
          <a:p>
            <a:pPr indent="0" marL="0">
              <a:spcAft>
                <a:spcPts val="600"/>
              </a:spcAft>
              <a:buNone/>
            </a:pPr>
            <a:r>
              <a:rPr lang="en-US" sz="1250" dirty="0">
                <a:solidFill>
                  <a:srgbClr val="55555C"/>
                </a:solidFill>
              </a:rPr>
              <a:t>The same agent works in the web app and in Messenger. Anyone's own agent can come in through /llms.txt with its own Ed25519 key, and over an agent key a person's limits only get tighter.</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Most decisions never reach the big model: code, a 27.6 KB classifier, then our 1B</a:t>
            </a:r>
            <a:endParaRPr lang="en-US" sz="2400" dirty="0"/>
          </a:p>
        </p:txBody>
      </p:sp>
      <p:sp>
        <p:nvSpPr>
          <p:cNvPr id="3" name="Shape 1"/>
          <p:cNvSpPr/>
          <p:nvPr/>
        </p:nvSpPr>
        <p:spPr>
          <a:xfrm>
            <a:off x="548640" y="1280160"/>
            <a:ext cx="2578608" cy="2971800"/>
          </a:xfrm>
          <a:prstGeom prst="roundRect">
            <a:avLst>
              <a:gd name="adj" fmla="val 2837"/>
            </a:avLst>
          </a:prstGeom>
          <a:solidFill>
            <a:srgbClr val="F3F6F4"/>
          </a:solidFill>
          <a:ln w="6350">
            <a:solidFill>
              <a:srgbClr val="F3F6F4"/>
            </a:solidFill>
            <a:prstDash val="solid"/>
          </a:ln>
        </p:spPr>
      </p:sp>
      <p:sp>
        <p:nvSpPr>
          <p:cNvPr id="4" name="Text 2"/>
          <p:cNvSpPr txBox="1"/>
          <p:nvPr/>
        </p:nvSpPr>
        <p:spPr>
          <a:xfrm>
            <a:off x="731520" y="1417320"/>
            <a:ext cx="2212848" cy="1325880"/>
          </a:xfrm>
          <a:prstGeom prst="rect">
            <a:avLst/>
          </a:prstGeom>
          <a:noFill/>
          <a:ln/>
        </p:spPr>
        <p:txBody>
          <a:bodyPr wrap="square" lIns="0" tIns="0" rIns="0" bIns="0" rtlCol="0" anchor="t"/>
          <a:lstStyle/>
          <a:p>
            <a:pPr indent="0" marL="0">
              <a:buNone/>
            </a:pPr>
            <a:r>
              <a:rPr lang="en-US" sz="1050" b="1" dirty="0">
                <a:solidFill>
                  <a:srgbClr val="55555C"/>
                </a:solidFill>
              </a:rPr>
              <a:t>LAYER 0</a:t>
            </a:r>
            <a:endParaRPr lang="en-US" sz="1050" dirty="0"/>
          </a:p>
          <a:p>
            <a:pPr indent="0" marL="0">
              <a:buNone/>
            </a:pPr>
            <a:r>
              <a:rPr lang="en-US" sz="1700" b="1" dirty="0">
                <a:solidFill>
                  <a:srgbClr val="0A0A0B"/>
                </a:solidFill>
              </a:rPr>
              <a:t>Code</a:t>
            </a:r>
            <a:endParaRPr lang="en-US" sz="1050" dirty="0"/>
          </a:p>
          <a:p>
            <a:pPr indent="0" marL="0">
              <a:buNone/>
            </a:pPr>
            <a:r>
              <a:rPr lang="en-US" sz="1150" dirty="0">
                <a:solidFill>
                  <a:srgbClr val="55555C"/>
                </a:solidFill>
              </a:rPr>
              <a:t>every hard rule: free times, clashes, trips</a:t>
            </a:r>
            <a:endParaRPr lang="en-US" sz="1050" dirty="0"/>
          </a:p>
        </p:txBody>
      </p:sp>
      <p:sp>
        <p:nvSpPr>
          <p:cNvPr id="5" name="Text 3"/>
          <p:cNvSpPr txBox="1"/>
          <p:nvPr/>
        </p:nvSpPr>
        <p:spPr>
          <a:xfrm>
            <a:off x="731520" y="2788920"/>
            <a:ext cx="2212848"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7 ms</a:t>
            </a:r>
            <a:endParaRPr lang="en-US" sz="4000" dirty="0"/>
          </a:p>
        </p:txBody>
      </p:sp>
      <p:sp>
        <p:nvSpPr>
          <p:cNvPr id="6" name="Text 4"/>
          <p:cNvSpPr txBox="1"/>
          <p:nvPr/>
        </p:nvSpPr>
        <p:spPr>
          <a:xfrm>
            <a:off x="731520" y="3520440"/>
            <a:ext cx="2212848" cy="594360"/>
          </a:xfrm>
          <a:prstGeom prst="rect">
            <a:avLst/>
          </a:prstGeom>
          <a:noFill/>
          <a:ln/>
        </p:spPr>
        <p:txBody>
          <a:bodyPr wrap="square" lIns="0" tIns="0" rIns="0" bIns="0" rtlCol="0" anchor="t"/>
          <a:lstStyle/>
          <a:p>
            <a:pPr indent="0" marL="0">
              <a:buNone/>
            </a:pPr>
            <a:r>
              <a:rPr lang="en-US" sz="1150" dirty="0">
                <a:solidFill>
                  <a:srgbClr val="55555C"/>
                </a:solidFill>
              </a:rPr>
              <a:t>the game's card (median)</a:t>
            </a:r>
            <a:endParaRPr lang="en-US" sz="1150" dirty="0"/>
          </a:p>
        </p:txBody>
      </p:sp>
      <p:sp>
        <p:nvSpPr>
          <p:cNvPr id="7" name="Shape 5"/>
          <p:cNvSpPr/>
          <p:nvPr/>
        </p:nvSpPr>
        <p:spPr>
          <a:xfrm>
            <a:off x="3145536" y="2743200"/>
            <a:ext cx="192024" cy="914"/>
          </a:xfrm>
          <a:prstGeom prst="line">
            <a:avLst/>
          </a:prstGeom>
          <a:noFill/>
          <a:ln w="25400">
            <a:solidFill>
              <a:srgbClr val="8A8A92"/>
            </a:solidFill>
            <a:prstDash val="solid"/>
            <a:tailEnd type="triangle"/>
          </a:ln>
        </p:spPr>
      </p:sp>
      <p:sp>
        <p:nvSpPr>
          <p:cNvPr id="8" name="Shape 6"/>
          <p:cNvSpPr/>
          <p:nvPr/>
        </p:nvSpPr>
        <p:spPr>
          <a:xfrm>
            <a:off x="3355848" y="1280160"/>
            <a:ext cx="2578608" cy="2971800"/>
          </a:xfrm>
          <a:prstGeom prst="roundRect">
            <a:avLst>
              <a:gd name="adj" fmla="val 2837"/>
            </a:avLst>
          </a:prstGeom>
          <a:solidFill>
            <a:srgbClr val="F3F6F4"/>
          </a:solidFill>
          <a:ln w="6350">
            <a:solidFill>
              <a:srgbClr val="F3F6F4"/>
            </a:solidFill>
            <a:prstDash val="solid"/>
          </a:ln>
        </p:spPr>
      </p:sp>
      <p:sp>
        <p:nvSpPr>
          <p:cNvPr id="9" name="Text 7"/>
          <p:cNvSpPr txBox="1"/>
          <p:nvPr/>
        </p:nvSpPr>
        <p:spPr>
          <a:xfrm>
            <a:off x="3538728" y="1417320"/>
            <a:ext cx="2212848" cy="1325880"/>
          </a:xfrm>
          <a:prstGeom prst="rect">
            <a:avLst/>
          </a:prstGeom>
          <a:noFill/>
          <a:ln/>
        </p:spPr>
        <p:txBody>
          <a:bodyPr wrap="square" lIns="0" tIns="0" rIns="0" bIns="0" rtlCol="0" anchor="t"/>
          <a:lstStyle/>
          <a:p>
            <a:pPr indent="0" marL="0">
              <a:buNone/>
            </a:pPr>
            <a:r>
              <a:rPr lang="en-US" sz="1050" b="1" dirty="0">
                <a:solidFill>
                  <a:srgbClr val="55555C"/>
                </a:solidFill>
              </a:rPr>
              <a:t>TINY LAYER</a:t>
            </a:r>
            <a:endParaRPr lang="en-US" sz="1050" dirty="0"/>
          </a:p>
          <a:p>
            <a:pPr indent="0" marL="0">
              <a:buNone/>
            </a:pPr>
            <a:r>
              <a:rPr lang="en-US" sz="1700" b="1" dirty="0">
                <a:solidFill>
                  <a:srgbClr val="0A0A0B"/>
                </a:solidFill>
              </a:rPr>
              <a:t>27.6 KB classifier</a:t>
            </a:r>
            <a:endParaRPr lang="en-US" sz="1050" dirty="0"/>
          </a:p>
          <a:p>
            <a:pPr indent="0" marL="0">
              <a:buNone/>
            </a:pPr>
            <a:r>
              <a:rPr lang="en-US" sz="1150" dirty="0">
                <a:solidFill>
                  <a:srgbClr val="55555C"/>
                </a:solidFill>
              </a:rPr>
              <a:t>small MLPs on facts code holds, with a doubt model</a:t>
            </a:r>
            <a:endParaRPr lang="en-US" sz="1050" dirty="0"/>
          </a:p>
        </p:txBody>
      </p:sp>
      <p:sp>
        <p:nvSpPr>
          <p:cNvPr id="10" name="Text 8"/>
          <p:cNvSpPr txBox="1"/>
          <p:nvPr/>
        </p:nvSpPr>
        <p:spPr>
          <a:xfrm>
            <a:off x="3538728" y="2788920"/>
            <a:ext cx="2212848"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0.06 ms</a:t>
            </a:r>
            <a:endParaRPr lang="en-US" sz="4000" dirty="0"/>
          </a:p>
        </p:txBody>
      </p:sp>
      <p:sp>
        <p:nvSpPr>
          <p:cNvPr id="11" name="Text 9"/>
          <p:cNvSpPr txBox="1"/>
          <p:nvPr/>
        </p:nvSpPr>
        <p:spPr>
          <a:xfrm>
            <a:off x="3538728" y="3520440"/>
            <a:ext cx="2212848" cy="594360"/>
          </a:xfrm>
          <a:prstGeom prst="rect">
            <a:avLst/>
          </a:prstGeom>
          <a:noFill/>
          <a:ln/>
        </p:spPr>
        <p:txBody>
          <a:bodyPr wrap="square" lIns="0" tIns="0" rIns="0" bIns="0" rtlCol="0" anchor="t"/>
          <a:lstStyle/>
          <a:p>
            <a:pPr indent="0" marL="0">
              <a:buNone/>
            </a:pPr>
            <a:r>
              <a:rPr lang="en-US" sz="1150" dirty="0">
                <a:solidFill>
                  <a:srgbClr val="55555C"/>
                </a:solidFill>
              </a:rPr>
              <a:t>answers 59.8% of ordinary choices</a:t>
            </a:r>
            <a:endParaRPr lang="en-US" sz="1150" dirty="0"/>
          </a:p>
        </p:txBody>
      </p:sp>
      <p:sp>
        <p:nvSpPr>
          <p:cNvPr id="12" name="Shape 10"/>
          <p:cNvSpPr/>
          <p:nvPr/>
        </p:nvSpPr>
        <p:spPr>
          <a:xfrm>
            <a:off x="5952744" y="2743200"/>
            <a:ext cx="192024" cy="914"/>
          </a:xfrm>
          <a:prstGeom prst="line">
            <a:avLst/>
          </a:prstGeom>
          <a:noFill/>
          <a:ln w="25400">
            <a:solidFill>
              <a:srgbClr val="8A8A92"/>
            </a:solidFill>
            <a:prstDash val="solid"/>
            <a:tailEnd type="triangle"/>
          </a:ln>
        </p:spPr>
      </p:sp>
      <p:sp>
        <p:nvSpPr>
          <p:cNvPr id="13" name="Shape 11"/>
          <p:cNvSpPr/>
          <p:nvPr/>
        </p:nvSpPr>
        <p:spPr>
          <a:xfrm>
            <a:off x="6163056" y="1280160"/>
            <a:ext cx="2578608" cy="2971800"/>
          </a:xfrm>
          <a:prstGeom prst="roundRect">
            <a:avLst>
              <a:gd name="adj" fmla="val 2837"/>
            </a:avLst>
          </a:prstGeom>
          <a:solidFill>
            <a:srgbClr val="E9F3EC"/>
          </a:solidFill>
          <a:ln w="25400">
            <a:solidFill>
              <a:srgbClr val="0A7F44"/>
            </a:solidFill>
            <a:prstDash val="solid"/>
          </a:ln>
        </p:spPr>
      </p:sp>
      <p:sp>
        <p:nvSpPr>
          <p:cNvPr id="14" name="Text 12"/>
          <p:cNvSpPr txBox="1"/>
          <p:nvPr/>
        </p:nvSpPr>
        <p:spPr>
          <a:xfrm>
            <a:off x="6345936" y="1417320"/>
            <a:ext cx="2212848" cy="1325880"/>
          </a:xfrm>
          <a:prstGeom prst="rect">
            <a:avLst/>
          </a:prstGeom>
          <a:noFill/>
          <a:ln/>
        </p:spPr>
        <p:txBody>
          <a:bodyPr wrap="square" lIns="0" tIns="0" rIns="0" bIns="0" rtlCol="0" anchor="t"/>
          <a:lstStyle/>
          <a:p>
            <a:pPr indent="0" marL="0">
              <a:buNone/>
            </a:pPr>
            <a:r>
              <a:rPr lang="en-US" sz="1050" b="1" dirty="0">
                <a:solidFill>
                  <a:srgbClr val="55555C"/>
                </a:solidFill>
              </a:rPr>
              <a:t>OUR MODEL</a:t>
            </a:r>
            <a:endParaRPr lang="en-US" sz="1050" dirty="0"/>
          </a:p>
          <a:p>
            <a:pPr indent="0" marL="0">
              <a:buNone/>
            </a:pPr>
            <a:r>
              <a:rPr lang="en-US" sz="1700" b="1" dirty="0">
                <a:solidFill>
                  <a:srgbClr val="0A0A0B"/>
                </a:solidFill>
              </a:rPr>
              <a:t>Llama 3.2 1B, distilled</a:t>
            </a:r>
            <a:endParaRPr lang="en-US" sz="1050" dirty="0"/>
          </a:p>
          <a:p>
            <a:pPr indent="0" marL="0">
              <a:buNone/>
            </a:pPr>
            <a:r>
              <a:rPr lang="en-US" sz="1150" dirty="0">
                <a:solidFill>
                  <a:srgbClr val="55555C"/>
                </a:solidFill>
              </a:rPr>
              <a:t>int4 on the CPU; answers when at least 0.6 sure</a:t>
            </a:r>
            <a:endParaRPr lang="en-US" sz="1050" dirty="0"/>
          </a:p>
        </p:txBody>
      </p:sp>
      <p:sp>
        <p:nvSpPr>
          <p:cNvPr id="15" name="Text 13"/>
          <p:cNvSpPr txBox="1"/>
          <p:nvPr/>
        </p:nvSpPr>
        <p:spPr>
          <a:xfrm>
            <a:off x="6345936" y="2788920"/>
            <a:ext cx="2212848"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0.9 s</a:t>
            </a:r>
            <a:endParaRPr lang="en-US" sz="4000" dirty="0"/>
          </a:p>
        </p:txBody>
      </p:sp>
      <p:sp>
        <p:nvSpPr>
          <p:cNvPr id="16" name="Text 14"/>
          <p:cNvSpPr txBox="1"/>
          <p:nvPr/>
        </p:nvSpPr>
        <p:spPr>
          <a:xfrm>
            <a:off x="6345936" y="3520440"/>
            <a:ext cx="2212848" cy="594360"/>
          </a:xfrm>
          <a:prstGeom prst="rect">
            <a:avLst/>
          </a:prstGeom>
          <a:noFill/>
          <a:ln/>
        </p:spPr>
        <p:txBody>
          <a:bodyPr wrap="square" lIns="0" tIns="0" rIns="0" bIns="0" rtlCol="0" anchor="t"/>
          <a:lstStyle/>
          <a:p>
            <a:pPr indent="0" marL="0">
              <a:buNone/>
            </a:pPr>
            <a:r>
              <a:rPr lang="en-US" sz="1150" dirty="0">
                <a:solidFill>
                  <a:srgbClr val="55555C"/>
                </a:solidFill>
              </a:rPr>
              <a:t>96.0% of ordinary, 73.0% of the hardest</a:t>
            </a:r>
            <a:endParaRPr lang="en-US" sz="1150" dirty="0"/>
          </a:p>
        </p:txBody>
      </p:sp>
      <p:sp>
        <p:nvSpPr>
          <p:cNvPr id="17" name="Shape 15"/>
          <p:cNvSpPr/>
          <p:nvPr/>
        </p:nvSpPr>
        <p:spPr>
          <a:xfrm>
            <a:off x="8759952" y="2743200"/>
            <a:ext cx="192024" cy="914"/>
          </a:xfrm>
          <a:prstGeom prst="line">
            <a:avLst/>
          </a:prstGeom>
          <a:noFill/>
          <a:ln w="25400">
            <a:solidFill>
              <a:srgbClr val="8A8A92"/>
            </a:solidFill>
            <a:prstDash val="solid"/>
            <a:tailEnd type="triangle"/>
          </a:ln>
        </p:spPr>
      </p:sp>
      <p:sp>
        <p:nvSpPr>
          <p:cNvPr id="18" name="Shape 16"/>
          <p:cNvSpPr/>
          <p:nvPr/>
        </p:nvSpPr>
        <p:spPr>
          <a:xfrm>
            <a:off x="8970264" y="1280160"/>
            <a:ext cx="2578608" cy="2971800"/>
          </a:xfrm>
          <a:prstGeom prst="roundRect">
            <a:avLst>
              <a:gd name="adj" fmla="val 2837"/>
            </a:avLst>
          </a:prstGeom>
          <a:solidFill>
            <a:srgbClr val="F3F6F4"/>
          </a:solidFill>
          <a:ln w="6350">
            <a:solidFill>
              <a:srgbClr val="F3F6F4"/>
            </a:solidFill>
            <a:prstDash val="solid"/>
          </a:ln>
        </p:spPr>
      </p:sp>
      <p:sp>
        <p:nvSpPr>
          <p:cNvPr id="19" name="Text 17"/>
          <p:cNvSpPr txBox="1"/>
          <p:nvPr/>
        </p:nvSpPr>
        <p:spPr>
          <a:xfrm>
            <a:off x="9153144" y="1417320"/>
            <a:ext cx="2212848" cy="1325880"/>
          </a:xfrm>
          <a:prstGeom prst="rect">
            <a:avLst/>
          </a:prstGeom>
          <a:noFill/>
          <a:ln/>
        </p:spPr>
        <p:txBody>
          <a:bodyPr wrap="square" lIns="0" tIns="0" rIns="0" bIns="0" rtlCol="0" anchor="t"/>
          <a:lstStyle/>
          <a:p>
            <a:pPr indent="0" marL="0">
              <a:buNone/>
            </a:pPr>
            <a:r>
              <a:rPr lang="en-US" sz="1050" b="1" dirty="0">
                <a:solidFill>
                  <a:srgbClr val="55555C"/>
                </a:solidFill>
              </a:rPr>
              <a:t>WHAT IS LEFT</a:t>
            </a:r>
            <a:endParaRPr lang="en-US" sz="1050" dirty="0"/>
          </a:p>
          <a:p>
            <a:pPr indent="0" marL="0">
              <a:buNone/>
            </a:pPr>
            <a:r>
              <a:rPr lang="en-US" sz="1700" b="1" dirty="0">
                <a:solidFill>
                  <a:srgbClr val="0A0A0B"/>
                </a:solidFill>
              </a:rPr>
              <a:t>Muse Glimmer 30B</a:t>
            </a:r>
            <a:endParaRPr lang="en-US" sz="1050" dirty="0"/>
          </a:p>
          <a:p>
            <a:pPr indent="0" marL="0">
              <a:buNone/>
            </a:pPr>
            <a:r>
              <a:rPr lang="en-US" sz="1150" dirty="0">
                <a:solidFill>
                  <a:srgbClr val="55555C"/>
                </a:solidFill>
              </a:rPr>
              <a:t>on the RTX 3090, stopped early when sure (DEER)</a:t>
            </a:r>
            <a:endParaRPr lang="en-US" sz="1050" dirty="0"/>
          </a:p>
        </p:txBody>
      </p:sp>
      <p:sp>
        <p:nvSpPr>
          <p:cNvPr id="20" name="Text 18"/>
          <p:cNvSpPr txBox="1"/>
          <p:nvPr/>
        </p:nvSpPr>
        <p:spPr>
          <a:xfrm>
            <a:off x="9153144" y="2788920"/>
            <a:ext cx="2212848" cy="731520"/>
          </a:xfrm>
          <a:prstGeom prst="rect">
            <a:avLst/>
          </a:prstGeom>
          <a:noFill/>
          <a:ln/>
        </p:spPr>
        <p:txBody>
          <a:bodyPr wrap="square" lIns="0" tIns="0" rIns="0" bIns="0" rtlCol="0" anchor="ctr"/>
          <a:lstStyle/>
          <a:p>
            <a:pPr indent="0" marL="0">
              <a:buNone/>
            </a:pPr>
            <a:r>
              <a:rPr lang="en-US" sz="4000" b="1" dirty="0">
                <a:solidFill>
                  <a:srgbClr val="0A0A0B"/>
                </a:solidFill>
                <a:latin typeface="Segoe UI Semibold" pitchFamily="34" charset="0"/>
                <a:ea typeface="Segoe UI Semibold" pitchFamily="34" charset="-122"/>
                <a:cs typeface="Segoe UI Semibold" pitchFamily="34" charset="-120"/>
              </a:rPr>
              <a:t>21.3 s</a:t>
            </a:r>
            <a:endParaRPr lang="en-US" sz="4000" dirty="0"/>
          </a:p>
        </p:txBody>
      </p:sp>
      <p:sp>
        <p:nvSpPr>
          <p:cNvPr id="21" name="Text 19"/>
          <p:cNvSpPr txBox="1"/>
          <p:nvPr/>
        </p:nvSpPr>
        <p:spPr>
          <a:xfrm>
            <a:off x="9153144" y="3520440"/>
            <a:ext cx="2212848" cy="594360"/>
          </a:xfrm>
          <a:prstGeom prst="rect">
            <a:avLst/>
          </a:prstGeom>
          <a:noFill/>
          <a:ln/>
        </p:spPr>
        <p:txBody>
          <a:bodyPr wrap="square" lIns="0" tIns="0" rIns="0" bIns="0" rtlCol="0" anchor="t"/>
          <a:lstStyle/>
          <a:p>
            <a:pPr indent="0" marL="0">
              <a:buNone/>
            </a:pPr>
            <a:r>
              <a:rPr lang="en-US" sz="1150" dirty="0">
                <a:solidFill>
                  <a:srgbClr val="55555C"/>
                </a:solidFill>
              </a:rPr>
              <a:t>596 → 420 tokens an answer</a:t>
            </a:r>
            <a:endParaRPr lang="en-US" sz="1150" dirty="0"/>
          </a:p>
        </p:txBody>
      </p:sp>
      <p:sp>
        <p:nvSpPr>
          <p:cNvPr id="22" name="Text 20"/>
          <p:cNvSpPr txBox="1"/>
          <p:nvPr/>
        </p:nvSpPr>
        <p:spPr>
          <a:xfrm>
            <a:off x="548640" y="4526280"/>
            <a:ext cx="7315200" cy="320040"/>
          </a:xfrm>
          <a:prstGeom prst="rect">
            <a:avLst/>
          </a:prstGeom>
          <a:noFill/>
          <a:ln/>
        </p:spPr>
        <p:txBody>
          <a:bodyPr wrap="square" lIns="0" tIns="0" rIns="0" bIns="0" rtlCol="0" anchor="ctr"/>
          <a:lstStyle/>
          <a:p>
            <a:pPr indent="0" marL="0">
              <a:buNone/>
            </a:pPr>
            <a:r>
              <a:rPr lang="en-US" sz="1300" b="1" dirty="0">
                <a:solidFill>
                  <a:srgbClr val="0A0A0B"/>
                </a:solidFill>
              </a:rPr>
              <a:t>Agreement with Glimmer's full answer, 500 held-out cases</a:t>
            </a:r>
            <a:endParaRPr lang="en-US" sz="1300" dirty="0"/>
          </a:p>
        </p:txBody>
      </p:sp>
      <p:sp>
        <p:nvSpPr>
          <p:cNvPr id="23" name="Text 21"/>
          <p:cNvSpPr txBox="1"/>
          <p:nvPr/>
        </p:nvSpPr>
        <p:spPr>
          <a:xfrm>
            <a:off x="548640" y="4937760"/>
            <a:ext cx="2103120" cy="365760"/>
          </a:xfrm>
          <a:prstGeom prst="rect">
            <a:avLst/>
          </a:prstGeom>
          <a:noFill/>
          <a:ln/>
        </p:spPr>
        <p:txBody>
          <a:bodyPr wrap="square" lIns="0" tIns="0" rIns="0" bIns="0" rtlCol="0" anchor="ctr"/>
          <a:lstStyle/>
          <a:p>
            <a:pPr indent="0" marL="0">
              <a:buNone/>
            </a:pPr>
            <a:r>
              <a:rPr lang="en-US" sz="1300" b="1" dirty="0">
                <a:solidFill>
                  <a:srgbClr val="0A0A0B"/>
                </a:solidFill>
              </a:rPr>
              <a:t>Our 1B</a:t>
            </a:r>
            <a:endParaRPr lang="en-US" sz="1300" dirty="0"/>
          </a:p>
        </p:txBody>
      </p:sp>
      <p:sp>
        <p:nvSpPr>
          <p:cNvPr id="24" name="Shape 22"/>
          <p:cNvSpPr/>
          <p:nvPr/>
        </p:nvSpPr>
        <p:spPr>
          <a:xfrm>
            <a:off x="2743200" y="4983480"/>
            <a:ext cx="6874459" cy="274320"/>
          </a:xfrm>
          <a:prstGeom prst="rect">
            <a:avLst/>
          </a:prstGeom>
          <a:solidFill>
            <a:srgbClr val="0A7F44"/>
          </a:solidFill>
          <a:ln w="12700">
            <a:solidFill>
              <a:srgbClr val="0A7F44"/>
            </a:solidFill>
            <a:prstDash val="solid"/>
          </a:ln>
        </p:spPr>
      </p:sp>
      <p:sp>
        <p:nvSpPr>
          <p:cNvPr id="25" name="Text 23"/>
          <p:cNvSpPr txBox="1"/>
          <p:nvPr/>
        </p:nvSpPr>
        <p:spPr>
          <a:xfrm>
            <a:off x="9709099" y="4937760"/>
            <a:ext cx="1097280" cy="365760"/>
          </a:xfrm>
          <a:prstGeom prst="rect">
            <a:avLst/>
          </a:prstGeom>
          <a:noFill/>
          <a:ln/>
        </p:spPr>
        <p:txBody>
          <a:bodyPr wrap="square" lIns="0" tIns="0" rIns="0" bIns="0" rtlCol="0" anchor="ctr"/>
          <a:lstStyle/>
          <a:p>
            <a:pPr indent="0" marL="0">
              <a:buNone/>
            </a:pPr>
            <a:r>
              <a:rPr lang="en-US" sz="1600" b="1" dirty="0">
                <a:solidFill>
                  <a:srgbClr val="0A7F44"/>
                </a:solidFill>
              </a:rPr>
              <a:t>89.5%</a:t>
            </a:r>
            <a:endParaRPr lang="en-US" sz="1600" dirty="0"/>
          </a:p>
        </p:txBody>
      </p:sp>
      <p:sp>
        <p:nvSpPr>
          <p:cNvPr id="26" name="Text 24"/>
          <p:cNvSpPr txBox="1"/>
          <p:nvPr/>
        </p:nvSpPr>
        <p:spPr>
          <a:xfrm>
            <a:off x="548640" y="5394960"/>
            <a:ext cx="2103120" cy="365760"/>
          </a:xfrm>
          <a:prstGeom prst="rect">
            <a:avLst/>
          </a:prstGeom>
          <a:noFill/>
          <a:ln/>
        </p:spPr>
        <p:txBody>
          <a:bodyPr wrap="square" lIns="0" tIns="0" rIns="0" bIns="0" rtlCol="0" anchor="ctr"/>
          <a:lstStyle/>
          <a:p>
            <a:pPr indent="0" marL="0">
              <a:buNone/>
            </a:pPr>
            <a:r>
              <a:rPr lang="en-US" sz="1300" b="1" dirty="0">
                <a:solidFill>
                  <a:srgbClr val="0A0A0B"/>
                </a:solidFill>
              </a:rPr>
              <a:t>Glimmer, with itself</a:t>
            </a:r>
            <a:endParaRPr lang="en-US" sz="1300" dirty="0"/>
          </a:p>
        </p:txBody>
      </p:sp>
      <p:sp>
        <p:nvSpPr>
          <p:cNvPr id="27" name="Shape 25"/>
          <p:cNvSpPr/>
          <p:nvPr/>
        </p:nvSpPr>
        <p:spPr>
          <a:xfrm>
            <a:off x="2743200" y="5440680"/>
            <a:ext cx="6820692" cy="274320"/>
          </a:xfrm>
          <a:prstGeom prst="rect">
            <a:avLst/>
          </a:prstGeom>
          <a:solidFill>
            <a:srgbClr val="8A8A92"/>
          </a:solidFill>
          <a:ln w="12700">
            <a:solidFill>
              <a:srgbClr val="8A8A92"/>
            </a:solidFill>
            <a:prstDash val="solid"/>
          </a:ln>
        </p:spPr>
      </p:sp>
      <p:sp>
        <p:nvSpPr>
          <p:cNvPr id="28" name="Text 26"/>
          <p:cNvSpPr txBox="1"/>
          <p:nvPr/>
        </p:nvSpPr>
        <p:spPr>
          <a:xfrm>
            <a:off x="9655332" y="5394960"/>
            <a:ext cx="1097280" cy="365760"/>
          </a:xfrm>
          <a:prstGeom prst="rect">
            <a:avLst/>
          </a:prstGeom>
          <a:noFill/>
          <a:ln/>
        </p:spPr>
        <p:txBody>
          <a:bodyPr wrap="square" lIns="0" tIns="0" rIns="0" bIns="0" rtlCol="0" anchor="ctr"/>
          <a:lstStyle/>
          <a:p>
            <a:pPr indent="0" marL="0">
              <a:buNone/>
            </a:pPr>
            <a:r>
              <a:rPr lang="en-US" sz="1600" b="1" dirty="0">
                <a:solidFill>
                  <a:srgbClr val="0A0A0B"/>
                </a:solidFill>
              </a:rPr>
              <a:t>88.8%</a:t>
            </a:r>
            <a:endParaRPr lang="en-US" sz="1600" dirty="0"/>
          </a:p>
        </p:txBody>
      </p:sp>
      <p:sp>
        <p:nvSpPr>
          <p:cNvPr id="29" name="Text 27"/>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A cascade cheapest first, following FrugalGPT [19]; early exit after DEER [23]. Times: the card on a local copy, the 1B on the server CPU, Glimmer on the RTX 3090. Detail in the appendix.</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Distilled from 4,868 Glimmer choices: a 0.8 GB 1B on CPU agrees 89.5% of the time</a:t>
            </a:r>
            <a:endParaRPr lang="en-US" sz="2400" dirty="0"/>
          </a:p>
        </p:txBody>
      </p:sp>
      <p:sp>
        <p:nvSpPr>
          <p:cNvPr id="3" name="Shape 1"/>
          <p:cNvSpPr/>
          <p:nvPr/>
        </p:nvSpPr>
        <p:spPr>
          <a:xfrm>
            <a:off x="548640" y="1234440"/>
            <a:ext cx="1691640" cy="960120"/>
          </a:xfrm>
          <a:prstGeom prst="roundRect">
            <a:avLst>
              <a:gd name="adj" fmla="val 7619"/>
            </a:avLst>
          </a:prstGeom>
          <a:solidFill>
            <a:srgbClr val="F3F6F4"/>
          </a:solidFill>
          <a:ln w="12700">
            <a:solidFill>
              <a:srgbClr val="F3F6F4"/>
            </a:solidFill>
            <a:prstDash val="solid"/>
          </a:ln>
        </p:spPr>
      </p:sp>
      <p:sp>
        <p:nvSpPr>
          <p:cNvPr id="4" name="Text 2"/>
          <p:cNvSpPr txBox="1"/>
          <p:nvPr/>
        </p:nvSpPr>
        <p:spPr>
          <a:xfrm>
            <a:off x="685800" y="1234440"/>
            <a:ext cx="1417320" cy="960120"/>
          </a:xfrm>
          <a:prstGeom prst="rect">
            <a:avLst/>
          </a:prstGeom>
          <a:noFill/>
          <a:ln/>
        </p:spPr>
        <p:txBody>
          <a:bodyPr wrap="square" lIns="0" tIns="0" rIns="0" bIns="0" rtlCol="0" anchor="ctr"/>
          <a:lstStyle/>
          <a:p>
            <a:pPr algn="ctr" indent="0" marL="0">
              <a:buNone/>
            </a:pPr>
            <a:r>
              <a:rPr lang="en-US" sz="1400" b="1" dirty="0">
                <a:solidFill>
                  <a:srgbClr val="0A0A0B"/>
                </a:solidFill>
              </a:rPr>
              <a:t>Real agent calls</a:t>
            </a:r>
            <a:endParaRPr lang="en-US" sz="1400" dirty="0"/>
          </a:p>
          <a:p>
            <a:pPr algn="ctr" indent="0" marL="0">
              <a:buNone/>
            </a:pPr>
            <a:r>
              <a:rPr lang="en-US" sz="1150" dirty="0">
                <a:solidFill>
                  <a:srgbClr val="55555C"/>
                </a:solidFill>
              </a:rPr>
              <a:t>the talks' own code builds each case</a:t>
            </a:r>
            <a:endParaRPr lang="en-US" sz="1400" dirty="0"/>
          </a:p>
        </p:txBody>
      </p:sp>
      <p:sp>
        <p:nvSpPr>
          <p:cNvPr id="5" name="Shape 3"/>
          <p:cNvSpPr/>
          <p:nvPr/>
        </p:nvSpPr>
        <p:spPr>
          <a:xfrm>
            <a:off x="2249424" y="1709928"/>
            <a:ext cx="164592" cy="914"/>
          </a:xfrm>
          <a:prstGeom prst="line">
            <a:avLst/>
          </a:prstGeom>
          <a:noFill/>
          <a:ln w="25400">
            <a:solidFill>
              <a:srgbClr val="8A8A92"/>
            </a:solidFill>
            <a:prstDash val="solid"/>
            <a:tailEnd type="triangle"/>
          </a:ln>
        </p:spPr>
      </p:sp>
      <p:sp>
        <p:nvSpPr>
          <p:cNvPr id="6" name="Shape 4"/>
          <p:cNvSpPr/>
          <p:nvPr/>
        </p:nvSpPr>
        <p:spPr>
          <a:xfrm>
            <a:off x="2423160" y="1234440"/>
            <a:ext cx="1691640" cy="960120"/>
          </a:xfrm>
          <a:prstGeom prst="roundRect">
            <a:avLst>
              <a:gd name="adj" fmla="val 7619"/>
            </a:avLst>
          </a:prstGeom>
          <a:solidFill>
            <a:srgbClr val="F3F6F4"/>
          </a:solidFill>
          <a:ln w="12700">
            <a:solidFill>
              <a:srgbClr val="F3F6F4"/>
            </a:solidFill>
            <a:prstDash val="solid"/>
          </a:ln>
        </p:spPr>
      </p:sp>
      <p:sp>
        <p:nvSpPr>
          <p:cNvPr id="7" name="Text 5"/>
          <p:cNvSpPr txBox="1"/>
          <p:nvPr/>
        </p:nvSpPr>
        <p:spPr>
          <a:xfrm>
            <a:off x="2560320" y="1234440"/>
            <a:ext cx="1417320" cy="960120"/>
          </a:xfrm>
          <a:prstGeom prst="rect">
            <a:avLst/>
          </a:prstGeom>
          <a:noFill/>
          <a:ln/>
        </p:spPr>
        <p:txBody>
          <a:bodyPr wrap="square" lIns="0" tIns="0" rIns="0" bIns="0" rtlCol="0" anchor="ctr"/>
          <a:lstStyle/>
          <a:p>
            <a:pPr algn="ctr" indent="0" marL="0">
              <a:buNone/>
            </a:pPr>
            <a:r>
              <a:rPr lang="en-US" sz="1400" b="1" dirty="0">
                <a:solidFill>
                  <a:srgbClr val="0A0A0B"/>
                </a:solidFill>
              </a:rPr>
              <a:t>Glimmer labels</a:t>
            </a:r>
            <a:endParaRPr lang="en-US" sz="1400" dirty="0"/>
          </a:p>
          <a:p>
            <a:pPr algn="ctr" indent="0" marL="0">
              <a:buNone/>
            </a:pPr>
            <a:r>
              <a:rPr lang="en-US" sz="1150" dirty="0">
                <a:solidFill>
                  <a:srgbClr val="55555C"/>
                </a:solidFill>
              </a:rPr>
              <a:t>4,868 training choices</a:t>
            </a:r>
            <a:endParaRPr lang="en-US" sz="1400" dirty="0"/>
          </a:p>
        </p:txBody>
      </p:sp>
      <p:sp>
        <p:nvSpPr>
          <p:cNvPr id="8" name="Shape 6"/>
          <p:cNvSpPr/>
          <p:nvPr/>
        </p:nvSpPr>
        <p:spPr>
          <a:xfrm>
            <a:off x="4123944" y="1709928"/>
            <a:ext cx="164592" cy="914"/>
          </a:xfrm>
          <a:prstGeom prst="line">
            <a:avLst/>
          </a:prstGeom>
          <a:noFill/>
          <a:ln w="25400">
            <a:solidFill>
              <a:srgbClr val="8A8A92"/>
            </a:solidFill>
            <a:prstDash val="solid"/>
            <a:tailEnd type="triangle"/>
          </a:ln>
        </p:spPr>
      </p:sp>
      <p:sp>
        <p:nvSpPr>
          <p:cNvPr id="9" name="Shape 7"/>
          <p:cNvSpPr/>
          <p:nvPr/>
        </p:nvSpPr>
        <p:spPr>
          <a:xfrm>
            <a:off x="4297680" y="1234440"/>
            <a:ext cx="1691640" cy="960120"/>
          </a:xfrm>
          <a:prstGeom prst="roundRect">
            <a:avLst>
              <a:gd name="adj" fmla="val 7619"/>
            </a:avLst>
          </a:prstGeom>
          <a:solidFill>
            <a:srgbClr val="F3F6F4"/>
          </a:solidFill>
          <a:ln w="12700">
            <a:solidFill>
              <a:srgbClr val="F3F6F4"/>
            </a:solidFill>
            <a:prstDash val="solid"/>
          </a:ln>
        </p:spPr>
      </p:sp>
      <p:sp>
        <p:nvSpPr>
          <p:cNvPr id="10" name="Text 8"/>
          <p:cNvSpPr txBox="1"/>
          <p:nvPr/>
        </p:nvSpPr>
        <p:spPr>
          <a:xfrm>
            <a:off x="4434840" y="1234440"/>
            <a:ext cx="1417320" cy="960120"/>
          </a:xfrm>
          <a:prstGeom prst="rect">
            <a:avLst/>
          </a:prstGeom>
          <a:noFill/>
          <a:ln/>
        </p:spPr>
        <p:txBody>
          <a:bodyPr wrap="square" lIns="0" tIns="0" rIns="0" bIns="0" rtlCol="0" anchor="ctr"/>
          <a:lstStyle/>
          <a:p>
            <a:pPr algn="ctr" indent="0" marL="0">
              <a:buNone/>
            </a:pPr>
            <a:r>
              <a:rPr lang="en-US" sz="1400" b="1" dirty="0">
                <a:solidFill>
                  <a:srgbClr val="0A0A0B"/>
                </a:solidFill>
              </a:rPr>
              <a:t>One prompt</a:t>
            </a:r>
            <a:endParaRPr lang="en-US" sz="1400" dirty="0"/>
          </a:p>
          <a:p>
            <a:pPr algn="ctr" indent="0" marL="0">
              <a:buNone/>
            </a:pPr>
            <a:r>
              <a:rPr lang="en-US" sz="1150" dirty="0">
                <a:solidFill>
                  <a:srgbClr val="55555C"/>
                </a:solidFill>
              </a:rPr>
              <a:t>~240 tokens, letters in time order</a:t>
            </a:r>
            <a:endParaRPr lang="en-US" sz="1400" dirty="0"/>
          </a:p>
        </p:txBody>
      </p:sp>
      <p:sp>
        <p:nvSpPr>
          <p:cNvPr id="11" name="Shape 9"/>
          <p:cNvSpPr/>
          <p:nvPr/>
        </p:nvSpPr>
        <p:spPr>
          <a:xfrm>
            <a:off x="5998464" y="1709928"/>
            <a:ext cx="164592" cy="914"/>
          </a:xfrm>
          <a:prstGeom prst="line">
            <a:avLst/>
          </a:prstGeom>
          <a:noFill/>
          <a:ln w="25400">
            <a:solidFill>
              <a:srgbClr val="8A8A92"/>
            </a:solidFill>
            <a:prstDash val="solid"/>
            <a:tailEnd type="triangle"/>
          </a:ln>
        </p:spPr>
      </p:sp>
      <p:sp>
        <p:nvSpPr>
          <p:cNvPr id="12" name="Shape 10"/>
          <p:cNvSpPr/>
          <p:nvPr/>
        </p:nvSpPr>
        <p:spPr>
          <a:xfrm>
            <a:off x="6172200" y="1234440"/>
            <a:ext cx="1691640" cy="960120"/>
          </a:xfrm>
          <a:prstGeom prst="roundRect">
            <a:avLst>
              <a:gd name="adj" fmla="val 7619"/>
            </a:avLst>
          </a:prstGeom>
          <a:solidFill>
            <a:srgbClr val="0A7F44"/>
          </a:solidFill>
          <a:ln w="12700">
            <a:solidFill>
              <a:srgbClr val="0A7F44"/>
            </a:solidFill>
            <a:prstDash val="solid"/>
          </a:ln>
        </p:spPr>
      </p:sp>
      <p:sp>
        <p:nvSpPr>
          <p:cNvPr id="13" name="Text 11"/>
          <p:cNvSpPr txBox="1"/>
          <p:nvPr/>
        </p:nvSpPr>
        <p:spPr>
          <a:xfrm>
            <a:off x="6309360" y="1234440"/>
            <a:ext cx="1417320" cy="960120"/>
          </a:xfrm>
          <a:prstGeom prst="rect">
            <a:avLst/>
          </a:prstGeom>
          <a:noFill/>
          <a:ln/>
        </p:spPr>
        <p:txBody>
          <a:bodyPr wrap="square" lIns="0" tIns="0" rIns="0" bIns="0" rtlCol="0" anchor="ctr"/>
          <a:lstStyle/>
          <a:p>
            <a:pPr algn="ctr" indent="0" marL="0">
              <a:buNone/>
            </a:pPr>
            <a:r>
              <a:rPr lang="en-US" sz="1400" b="1" dirty="0">
                <a:solidFill>
                  <a:srgbClr val="FFFFFF"/>
                </a:solidFill>
              </a:rPr>
              <a:t>LoRA, Llama 3.2 1B</a:t>
            </a:r>
            <a:endParaRPr lang="en-US" sz="1400" dirty="0"/>
          </a:p>
          <a:p>
            <a:pPr algn="ctr" indent="0" marL="0">
              <a:buNone/>
            </a:pPr>
            <a:r>
              <a:rPr lang="en-US" sz="1150" dirty="0">
                <a:solidFill>
                  <a:srgbClr val="D9EBDF"/>
                </a:solidFill>
              </a:rPr>
              <a:t>rank 16, 20 min on one A100</a:t>
            </a:r>
            <a:endParaRPr lang="en-US" sz="1400" dirty="0"/>
          </a:p>
        </p:txBody>
      </p:sp>
      <p:sp>
        <p:nvSpPr>
          <p:cNvPr id="14" name="Shape 12"/>
          <p:cNvSpPr/>
          <p:nvPr/>
        </p:nvSpPr>
        <p:spPr>
          <a:xfrm>
            <a:off x="7872984" y="1709928"/>
            <a:ext cx="164592" cy="914"/>
          </a:xfrm>
          <a:prstGeom prst="line">
            <a:avLst/>
          </a:prstGeom>
          <a:noFill/>
          <a:ln w="25400">
            <a:solidFill>
              <a:srgbClr val="8A8A92"/>
            </a:solidFill>
            <a:prstDash val="solid"/>
            <a:tailEnd type="triangle"/>
          </a:ln>
        </p:spPr>
      </p:sp>
      <p:sp>
        <p:nvSpPr>
          <p:cNvPr id="15" name="Shape 13"/>
          <p:cNvSpPr/>
          <p:nvPr/>
        </p:nvSpPr>
        <p:spPr>
          <a:xfrm>
            <a:off x="8046720" y="1234440"/>
            <a:ext cx="1691640" cy="960120"/>
          </a:xfrm>
          <a:prstGeom prst="roundRect">
            <a:avLst>
              <a:gd name="adj" fmla="val 7619"/>
            </a:avLst>
          </a:prstGeom>
          <a:solidFill>
            <a:srgbClr val="F3F6F4"/>
          </a:solidFill>
          <a:ln w="12700">
            <a:solidFill>
              <a:srgbClr val="F3F6F4"/>
            </a:solidFill>
            <a:prstDash val="solid"/>
          </a:ln>
        </p:spPr>
      </p:sp>
      <p:sp>
        <p:nvSpPr>
          <p:cNvPr id="16" name="Text 14"/>
          <p:cNvSpPr txBox="1"/>
          <p:nvPr/>
        </p:nvSpPr>
        <p:spPr>
          <a:xfrm>
            <a:off x="8183880" y="1234440"/>
            <a:ext cx="1417320" cy="960120"/>
          </a:xfrm>
          <a:prstGeom prst="rect">
            <a:avLst/>
          </a:prstGeom>
          <a:noFill/>
          <a:ln/>
        </p:spPr>
        <p:txBody>
          <a:bodyPr wrap="square" lIns="0" tIns="0" rIns="0" bIns="0" rtlCol="0" anchor="ctr"/>
          <a:lstStyle/>
          <a:p>
            <a:pPr algn="ctr" indent="0" marL="0">
              <a:buNone/>
            </a:pPr>
            <a:r>
              <a:rPr lang="en-US" sz="1400" b="1" dirty="0">
                <a:solidFill>
                  <a:srgbClr val="0A0A0B"/>
                </a:solidFill>
              </a:rPr>
              <a:t>int4 GGUF</a:t>
            </a:r>
            <a:endParaRPr lang="en-US" sz="1400" dirty="0"/>
          </a:p>
          <a:p>
            <a:pPr algn="ctr" indent="0" marL="0">
              <a:buNone/>
            </a:pPr>
            <a:r>
              <a:rPr lang="en-US" sz="1150" dirty="0">
                <a:solidFill>
                  <a:srgbClr val="55555C"/>
                </a:solidFill>
              </a:rPr>
              <a:t>Q4_K_M, 0.8 GB</a:t>
            </a:r>
            <a:endParaRPr lang="en-US" sz="1400" dirty="0"/>
          </a:p>
        </p:txBody>
      </p:sp>
      <p:sp>
        <p:nvSpPr>
          <p:cNvPr id="17" name="Shape 15"/>
          <p:cNvSpPr/>
          <p:nvPr/>
        </p:nvSpPr>
        <p:spPr>
          <a:xfrm>
            <a:off x="9747504" y="1709928"/>
            <a:ext cx="164592" cy="914"/>
          </a:xfrm>
          <a:prstGeom prst="line">
            <a:avLst/>
          </a:prstGeom>
          <a:noFill/>
          <a:ln w="25400">
            <a:solidFill>
              <a:srgbClr val="8A8A92"/>
            </a:solidFill>
            <a:prstDash val="solid"/>
            <a:tailEnd type="triangle"/>
          </a:ln>
        </p:spPr>
      </p:sp>
      <p:sp>
        <p:nvSpPr>
          <p:cNvPr id="18" name="Shape 16"/>
          <p:cNvSpPr/>
          <p:nvPr/>
        </p:nvSpPr>
        <p:spPr>
          <a:xfrm>
            <a:off x="9921240" y="1234440"/>
            <a:ext cx="1691640" cy="960120"/>
          </a:xfrm>
          <a:prstGeom prst="roundRect">
            <a:avLst>
              <a:gd name="adj" fmla="val 7619"/>
            </a:avLst>
          </a:prstGeom>
          <a:solidFill>
            <a:srgbClr val="F3F6F4"/>
          </a:solidFill>
          <a:ln w="12700">
            <a:solidFill>
              <a:srgbClr val="F3F6F4"/>
            </a:solidFill>
            <a:prstDash val="solid"/>
          </a:ln>
        </p:spPr>
      </p:sp>
      <p:sp>
        <p:nvSpPr>
          <p:cNvPr id="19" name="Text 17"/>
          <p:cNvSpPr txBox="1"/>
          <p:nvPr/>
        </p:nvSpPr>
        <p:spPr>
          <a:xfrm>
            <a:off x="10058400" y="1234440"/>
            <a:ext cx="1417320" cy="960120"/>
          </a:xfrm>
          <a:prstGeom prst="rect">
            <a:avLst/>
          </a:prstGeom>
          <a:noFill/>
          <a:ln/>
        </p:spPr>
        <p:txBody>
          <a:bodyPr wrap="square" lIns="0" tIns="0" rIns="0" bIns="0" rtlCol="0" anchor="ctr"/>
          <a:lstStyle/>
          <a:p>
            <a:pPr algn="ctr" indent="0" marL="0">
              <a:buNone/>
            </a:pPr>
            <a:r>
              <a:rPr lang="en-US" sz="1400" b="1" dirty="0">
                <a:solidFill>
                  <a:srgbClr val="0A0A0B"/>
                </a:solidFill>
              </a:rPr>
              <a:t>CPU worker</a:t>
            </a:r>
            <a:endParaRPr lang="en-US" sz="1400" dirty="0"/>
          </a:p>
          <a:p>
            <a:pPr algn="ctr" indent="0" marL="0">
              <a:buNone/>
            </a:pPr>
            <a:r>
              <a:rPr lang="en-US" sz="1150" dirty="0">
                <a:solidFill>
                  <a:srgbClr val="55555C"/>
                </a:solidFill>
              </a:rPr>
              <a:t>8 threads, prefix cache</a:t>
            </a:r>
            <a:endParaRPr lang="en-US" sz="1400" dirty="0"/>
          </a:p>
        </p:txBody>
      </p:sp>
      <p:pic>
        <p:nvPicPr>
          <p:cNvPr id="20" name="Image 0" descr="preencoded.png">    </p:cNvPr>
          <p:cNvPicPr>
            <a:picLocks noChangeAspect="1"/>
          </p:cNvPicPr>
          <p:nvPr/>
        </p:nvPicPr>
        <p:blipFill>
          <a:blip r:embed="rId1"/>
          <a:stretch>
            <a:fillRect/>
          </a:stretch>
        </p:blipFill>
        <p:spPr>
          <a:xfrm>
            <a:off x="548640" y="2377440"/>
            <a:ext cx="6035040" cy="2755918"/>
          </a:xfrm>
          <a:prstGeom prst="rect">
            <a:avLst/>
          </a:prstGeom>
        </p:spPr>
      </p:pic>
      <p:sp>
        <p:nvSpPr>
          <p:cNvPr id="21" name="Text 18"/>
          <p:cNvSpPr txBox="1"/>
          <p:nvPr/>
        </p:nvSpPr>
        <p:spPr>
          <a:xfrm>
            <a:off x="548640" y="5243086"/>
            <a:ext cx="6035040" cy="685800"/>
          </a:xfrm>
          <a:prstGeom prst="rect">
            <a:avLst/>
          </a:prstGeom>
          <a:noFill/>
          <a:ln/>
        </p:spPr>
        <p:txBody>
          <a:bodyPr wrap="square" lIns="0" tIns="0" rIns="0" bIns="0" rtlCol="0" anchor="t"/>
          <a:lstStyle/>
          <a:p>
            <a:pPr indent="0" marL="0">
              <a:buNone/>
            </a:pPr>
            <a:r>
              <a:rPr lang="en-US" sz="1100" dirty="0">
                <a:solidFill>
                  <a:srgbClr val="55555C"/>
                </a:solidFill>
              </a:rPr>
              <a:t>A real held-out hard case (s009): the 1B reads which times work, checked against code, then scores the valid options in one forward pass; t2 at 0.673 clears 0.6, as both Glimmer answers did.</a:t>
            </a:r>
            <a:endParaRPr lang="en-US" sz="1100" dirty="0"/>
          </a:p>
        </p:txBody>
      </p:sp>
      <p:sp>
        <p:nvSpPr>
          <p:cNvPr id="22" name="Shape 19"/>
          <p:cNvSpPr/>
          <p:nvPr/>
        </p:nvSpPr>
        <p:spPr>
          <a:xfrm>
            <a:off x="6858000" y="2377440"/>
            <a:ext cx="2286000" cy="1554480"/>
          </a:xfrm>
          <a:prstGeom prst="roundRect">
            <a:avLst>
              <a:gd name="adj" fmla="val 4706"/>
            </a:avLst>
          </a:prstGeom>
          <a:solidFill>
            <a:srgbClr val="F3F6F4"/>
          </a:solidFill>
          <a:ln w="12700">
            <a:solidFill>
              <a:srgbClr val="F3F6F4"/>
            </a:solidFill>
            <a:prstDash val="solid"/>
          </a:ln>
        </p:spPr>
      </p:sp>
      <p:sp>
        <p:nvSpPr>
          <p:cNvPr id="23" name="Text 20"/>
          <p:cNvSpPr txBox="1"/>
          <p:nvPr/>
        </p:nvSpPr>
        <p:spPr>
          <a:xfrm>
            <a:off x="7086600" y="2514600"/>
            <a:ext cx="1828800" cy="73152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89.5%</a:t>
            </a:r>
            <a:endParaRPr lang="en-US" sz="3200" dirty="0"/>
          </a:p>
        </p:txBody>
      </p:sp>
      <p:sp>
        <p:nvSpPr>
          <p:cNvPr id="24" name="Text 21"/>
          <p:cNvSpPr txBox="1"/>
          <p:nvPr/>
        </p:nvSpPr>
        <p:spPr>
          <a:xfrm>
            <a:off x="7086600" y="3246120"/>
            <a:ext cx="1828800" cy="640080"/>
          </a:xfrm>
          <a:prstGeom prst="rect">
            <a:avLst/>
          </a:prstGeom>
          <a:noFill/>
          <a:ln/>
        </p:spPr>
        <p:txBody>
          <a:bodyPr wrap="square" lIns="0" tIns="0" rIns="0" bIns="0" rtlCol="0" anchor="t"/>
          <a:lstStyle/>
          <a:p>
            <a:pPr indent="0" marL="0">
              <a:buNone/>
            </a:pPr>
            <a:r>
              <a:rPr lang="en-US" sz="1250" dirty="0">
                <a:solidFill>
                  <a:srgbClr val="55555C"/>
                </a:solidFill>
              </a:rPr>
              <a:t>agreement with Glimmer (Glimmer with itself: 88.8%)</a:t>
            </a:r>
            <a:endParaRPr lang="en-US" sz="1250" dirty="0"/>
          </a:p>
        </p:txBody>
      </p:sp>
      <p:sp>
        <p:nvSpPr>
          <p:cNvPr id="25" name="Shape 22"/>
          <p:cNvSpPr/>
          <p:nvPr/>
        </p:nvSpPr>
        <p:spPr>
          <a:xfrm>
            <a:off x="9299448" y="2377440"/>
            <a:ext cx="2286000" cy="1554480"/>
          </a:xfrm>
          <a:prstGeom prst="roundRect">
            <a:avLst>
              <a:gd name="adj" fmla="val 4706"/>
            </a:avLst>
          </a:prstGeom>
          <a:solidFill>
            <a:srgbClr val="F3F6F4"/>
          </a:solidFill>
          <a:ln w="12700">
            <a:solidFill>
              <a:srgbClr val="F3F6F4"/>
            </a:solidFill>
            <a:prstDash val="solid"/>
          </a:ln>
        </p:spPr>
      </p:sp>
      <p:sp>
        <p:nvSpPr>
          <p:cNvPr id="26" name="Text 23"/>
          <p:cNvSpPr txBox="1"/>
          <p:nvPr/>
        </p:nvSpPr>
        <p:spPr>
          <a:xfrm>
            <a:off x="9528048" y="2514600"/>
            <a:ext cx="1828800" cy="73152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0.052</a:t>
            </a:r>
            <a:endParaRPr lang="en-US" sz="3200" dirty="0"/>
          </a:p>
        </p:txBody>
      </p:sp>
      <p:sp>
        <p:nvSpPr>
          <p:cNvPr id="27" name="Text 24"/>
          <p:cNvSpPr txBox="1"/>
          <p:nvPr/>
        </p:nvSpPr>
        <p:spPr>
          <a:xfrm>
            <a:off x="9528048" y="3246120"/>
            <a:ext cx="1828800" cy="640080"/>
          </a:xfrm>
          <a:prstGeom prst="rect">
            <a:avLst/>
          </a:prstGeom>
          <a:noFill/>
          <a:ln/>
        </p:spPr>
        <p:txBody>
          <a:bodyPr wrap="square" lIns="0" tIns="0" rIns="0" bIns="0" rtlCol="0" anchor="t"/>
          <a:lstStyle/>
          <a:p>
            <a:pPr indent="0" marL="0">
              <a:buNone/>
            </a:pPr>
            <a:r>
              <a:rPr lang="en-US" sz="1250" dirty="0">
                <a:solidFill>
                  <a:srgbClr val="55555C"/>
                </a:solidFill>
              </a:rPr>
              <a:t>calibration error: its confidence can be trusted</a:t>
            </a:r>
            <a:endParaRPr lang="en-US" sz="1250" dirty="0"/>
          </a:p>
        </p:txBody>
      </p:sp>
      <p:sp>
        <p:nvSpPr>
          <p:cNvPr id="28" name="Shape 25"/>
          <p:cNvSpPr/>
          <p:nvPr/>
        </p:nvSpPr>
        <p:spPr>
          <a:xfrm>
            <a:off x="6858000" y="4069080"/>
            <a:ext cx="2286000" cy="1554480"/>
          </a:xfrm>
          <a:prstGeom prst="roundRect">
            <a:avLst>
              <a:gd name="adj" fmla="val 4706"/>
            </a:avLst>
          </a:prstGeom>
          <a:solidFill>
            <a:srgbClr val="F3F6F4"/>
          </a:solidFill>
          <a:ln w="12700">
            <a:solidFill>
              <a:srgbClr val="F3F6F4"/>
            </a:solidFill>
            <a:prstDash val="solid"/>
          </a:ln>
        </p:spPr>
      </p:sp>
      <p:sp>
        <p:nvSpPr>
          <p:cNvPr id="29" name="Text 26"/>
          <p:cNvSpPr txBox="1"/>
          <p:nvPr/>
        </p:nvSpPr>
        <p:spPr>
          <a:xfrm>
            <a:off x="7086600" y="4206240"/>
            <a:ext cx="1828800" cy="73152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20.2%</a:t>
            </a:r>
            <a:endParaRPr lang="en-US" sz="3200" dirty="0"/>
          </a:p>
        </p:txBody>
      </p:sp>
      <p:sp>
        <p:nvSpPr>
          <p:cNvPr id="30" name="Text 27"/>
          <p:cNvSpPr txBox="1"/>
          <p:nvPr/>
        </p:nvSpPr>
        <p:spPr>
          <a:xfrm>
            <a:off x="7086600" y="4937760"/>
            <a:ext cx="1828800" cy="640080"/>
          </a:xfrm>
          <a:prstGeom prst="rect">
            <a:avLst/>
          </a:prstGeom>
          <a:noFill/>
          <a:ln/>
        </p:spPr>
        <p:txBody>
          <a:bodyPr wrap="square" lIns="0" tIns="0" rIns="0" bIns="0" rtlCol="0" anchor="t"/>
          <a:lstStyle/>
          <a:p>
            <a:pPr indent="0" marL="0">
              <a:buNone/>
            </a:pPr>
            <a:r>
              <a:rPr lang="en-US" sz="1250" dirty="0">
                <a:solidFill>
                  <a:srgbClr val="55555C"/>
                </a:solidFill>
              </a:rPr>
              <a:t>picks changed when the list was reversed (one-token decider: 90.8%)</a:t>
            </a:r>
            <a:endParaRPr lang="en-US" sz="1250" dirty="0"/>
          </a:p>
        </p:txBody>
      </p:sp>
      <p:sp>
        <p:nvSpPr>
          <p:cNvPr id="31" name="Shape 28"/>
          <p:cNvSpPr/>
          <p:nvPr/>
        </p:nvSpPr>
        <p:spPr>
          <a:xfrm>
            <a:off x="9299448" y="4069080"/>
            <a:ext cx="2286000" cy="1554480"/>
          </a:xfrm>
          <a:prstGeom prst="roundRect">
            <a:avLst>
              <a:gd name="adj" fmla="val 4706"/>
            </a:avLst>
          </a:prstGeom>
          <a:solidFill>
            <a:srgbClr val="F3F6F4"/>
          </a:solidFill>
          <a:ln w="12700">
            <a:solidFill>
              <a:srgbClr val="F3F6F4"/>
            </a:solidFill>
            <a:prstDash val="solid"/>
          </a:ln>
        </p:spPr>
      </p:sp>
      <p:sp>
        <p:nvSpPr>
          <p:cNvPr id="32" name="Text 29"/>
          <p:cNvSpPr txBox="1"/>
          <p:nvPr/>
        </p:nvSpPr>
        <p:spPr>
          <a:xfrm>
            <a:off x="9528048" y="4206240"/>
            <a:ext cx="1828800" cy="73152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2 losses</a:t>
            </a:r>
            <a:endParaRPr lang="en-US" sz="3200" dirty="0"/>
          </a:p>
        </p:txBody>
      </p:sp>
      <p:sp>
        <p:nvSpPr>
          <p:cNvPr id="33" name="Text 30"/>
          <p:cNvSpPr txBox="1"/>
          <p:nvPr/>
        </p:nvSpPr>
        <p:spPr>
          <a:xfrm>
            <a:off x="9528048" y="4937760"/>
            <a:ext cx="1828800" cy="640080"/>
          </a:xfrm>
          <a:prstGeom prst="rect">
            <a:avLst/>
          </a:prstGeom>
          <a:noFill/>
          <a:ln/>
        </p:spPr>
        <p:txBody>
          <a:bodyPr wrap="square" lIns="0" tIns="0" rIns="0" bIns="0" rtlCol="0" anchor="t"/>
          <a:lstStyle/>
          <a:p>
            <a:pPr indent="0" marL="0">
              <a:buNone/>
            </a:pPr>
            <a:r>
              <a:rPr lang="en-US" sz="1250" dirty="0">
                <a:solidFill>
                  <a:srgbClr val="55555C"/>
                </a:solidFill>
              </a:rPr>
              <a:t>choice over valid letters only, and yes/no per time against code's truth</a:t>
            </a:r>
            <a:endParaRPr lang="en-US" sz="1250" dirty="0"/>
          </a:p>
        </p:txBody>
      </p:sp>
      <p:sp>
        <p:nvSpPr>
          <p:cNvPr id="34" name="Text 31"/>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LoRA SFT on hard labels [28, 29]; soft labels at T = 2 and the decider's letters were tried and not kept [27]. Every technique and its result is in the appendix.</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A2A with facts only and 30-minute holds: double bookings fell from 11 of 12 to 0</a:t>
            </a:r>
            <a:endParaRPr lang="en-US" sz="2400" dirty="0"/>
          </a:p>
        </p:txBody>
      </p:sp>
      <p:sp>
        <p:nvSpPr>
          <p:cNvPr id="3" name="Shape 1"/>
          <p:cNvSpPr/>
          <p:nvPr/>
        </p:nvSpPr>
        <p:spPr>
          <a:xfrm>
            <a:off x="548640" y="1280160"/>
            <a:ext cx="512064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17320"/>
            <a:ext cx="4663440"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11/12 → 0/12</a:t>
            </a:r>
            <a:endParaRPr lang="en-US" sz="4000" dirty="0"/>
          </a:p>
        </p:txBody>
      </p:sp>
      <p:sp>
        <p:nvSpPr>
          <p:cNvPr id="5" name="Text 3"/>
          <p:cNvSpPr txBox="1"/>
          <p:nvPr/>
        </p:nvSpPr>
        <p:spPr>
          <a:xfrm>
            <a:off x="777240" y="2148840"/>
            <a:ext cx="4663440" cy="594360"/>
          </a:xfrm>
          <a:prstGeom prst="rect">
            <a:avLst/>
          </a:prstGeom>
          <a:noFill/>
          <a:ln/>
        </p:spPr>
        <p:txBody>
          <a:bodyPr wrap="square" lIns="0" tIns="0" rIns="0" bIns="0" rtlCol="0" anchor="t"/>
          <a:lstStyle/>
          <a:p>
            <a:pPr indent="0" marL="0">
              <a:buNone/>
            </a:pPr>
            <a:r>
              <a:rPr lang="en-US" sz="1250" dirty="0">
                <a:solidFill>
                  <a:srgbClr val="55555C"/>
                </a:solidFill>
              </a:rPr>
              <a:t>pairs of simultaneous talks that booked one member twice, without and with holds</a:t>
            </a:r>
            <a:endParaRPr lang="en-US" sz="1250" dirty="0"/>
          </a:p>
        </p:txBody>
      </p:sp>
      <p:sp>
        <p:nvSpPr>
          <p:cNvPr id="6" name="Shape 4"/>
          <p:cNvSpPr/>
          <p:nvPr/>
        </p:nvSpPr>
        <p:spPr>
          <a:xfrm>
            <a:off x="548640" y="2926080"/>
            <a:ext cx="2468880" cy="1508760"/>
          </a:xfrm>
          <a:prstGeom prst="roundRect">
            <a:avLst>
              <a:gd name="adj" fmla="val 4848"/>
            </a:avLst>
          </a:prstGeom>
          <a:solidFill>
            <a:srgbClr val="F3F6F4"/>
          </a:solidFill>
          <a:ln w="12700">
            <a:solidFill>
              <a:srgbClr val="F3F6F4"/>
            </a:solidFill>
            <a:prstDash val="solid"/>
          </a:ln>
        </p:spPr>
      </p:sp>
      <p:sp>
        <p:nvSpPr>
          <p:cNvPr id="7" name="Text 5"/>
          <p:cNvSpPr txBox="1"/>
          <p:nvPr/>
        </p:nvSpPr>
        <p:spPr>
          <a:xfrm>
            <a:off x="777240" y="3063240"/>
            <a:ext cx="2011680" cy="731520"/>
          </a:xfrm>
          <a:prstGeom prst="rect">
            <a:avLst/>
          </a:prstGeom>
          <a:noFill/>
          <a:ln/>
        </p:spPr>
        <p:txBody>
          <a:bodyPr wrap="square" lIns="0" tIns="0" rIns="0" bIns="0" rtlCol="0" anchor="ctr"/>
          <a:lstStyle/>
          <a:p>
            <a:pPr indent="0" marL="0">
              <a:buNone/>
            </a:pPr>
            <a:r>
              <a:rPr lang="en-US" sz="3400" b="1" dirty="0">
                <a:solidFill>
                  <a:srgbClr val="0A7F44"/>
                </a:solidFill>
                <a:latin typeface="Segoe UI Semibold" pitchFamily="34" charset="0"/>
                <a:ea typeface="Segoe UI Semibold" pitchFamily="34" charset="-122"/>
                <a:cs typeface="Segoe UI Semibold" pitchFamily="34" charset="-120"/>
              </a:rPr>
              <a:t>0.73</a:t>
            </a:r>
            <a:endParaRPr lang="en-US" sz="3400" dirty="0"/>
          </a:p>
        </p:txBody>
      </p:sp>
      <p:sp>
        <p:nvSpPr>
          <p:cNvPr id="8" name="Text 6"/>
          <p:cNvSpPr txBox="1"/>
          <p:nvPr/>
        </p:nvSpPr>
        <p:spPr>
          <a:xfrm>
            <a:off x="777240" y="3794760"/>
            <a:ext cx="2011680" cy="594360"/>
          </a:xfrm>
          <a:prstGeom prst="rect">
            <a:avLst/>
          </a:prstGeom>
          <a:noFill/>
          <a:ln/>
        </p:spPr>
        <p:txBody>
          <a:bodyPr wrap="square" lIns="0" tIns="0" rIns="0" bIns="0" rtlCol="0" anchor="t"/>
          <a:lstStyle/>
          <a:p>
            <a:pPr indent="0" marL="0">
              <a:buNone/>
            </a:pPr>
            <a:r>
              <a:rPr lang="en-US" sz="1250" dirty="0">
                <a:solidFill>
                  <a:srgbClr val="55555C"/>
                </a:solidFill>
              </a:rPr>
              <a:t>fairness of venues (shortest trip: 0.59), 2.3 min more travel a game</a:t>
            </a:r>
            <a:endParaRPr lang="en-US" sz="1250" dirty="0"/>
          </a:p>
        </p:txBody>
      </p:sp>
      <p:sp>
        <p:nvSpPr>
          <p:cNvPr id="9" name="Shape 7"/>
          <p:cNvSpPr/>
          <p:nvPr/>
        </p:nvSpPr>
        <p:spPr>
          <a:xfrm>
            <a:off x="3200400" y="2926080"/>
            <a:ext cx="2468880" cy="1508760"/>
          </a:xfrm>
          <a:prstGeom prst="roundRect">
            <a:avLst>
              <a:gd name="adj" fmla="val 4848"/>
            </a:avLst>
          </a:prstGeom>
          <a:solidFill>
            <a:srgbClr val="F3F6F4"/>
          </a:solidFill>
          <a:ln w="12700">
            <a:solidFill>
              <a:srgbClr val="F3F6F4"/>
            </a:solidFill>
            <a:prstDash val="solid"/>
          </a:ln>
        </p:spPr>
      </p:sp>
      <p:sp>
        <p:nvSpPr>
          <p:cNvPr id="10" name="Text 8"/>
          <p:cNvSpPr txBox="1"/>
          <p:nvPr/>
        </p:nvSpPr>
        <p:spPr>
          <a:xfrm>
            <a:off x="3429000" y="3063240"/>
            <a:ext cx="2011680" cy="731520"/>
          </a:xfrm>
          <a:prstGeom prst="rect">
            <a:avLst/>
          </a:prstGeom>
          <a:noFill/>
          <a:ln/>
        </p:spPr>
        <p:txBody>
          <a:bodyPr wrap="square" lIns="0" tIns="0" rIns="0" bIns="0" rtlCol="0" anchor="ctr"/>
          <a:lstStyle/>
          <a:p>
            <a:pPr indent="0" marL="0">
              <a:buNone/>
            </a:pPr>
            <a:r>
              <a:rPr lang="en-US" sz="3400" b="1" dirty="0">
                <a:solidFill>
                  <a:srgbClr val="0A7F44"/>
                </a:solidFill>
                <a:latin typeface="Segoe UI Semibold" pitchFamily="34" charset="0"/>
                <a:ea typeface="Segoe UI Semibold" pitchFamily="34" charset="-122"/>
                <a:cs typeface="Segoe UI Semibold" pitchFamily="34" charset="-120"/>
              </a:rPr>
              <a:t>20 / 20</a:t>
            </a:r>
            <a:endParaRPr lang="en-US" sz="3400" dirty="0"/>
          </a:p>
        </p:txBody>
      </p:sp>
      <p:sp>
        <p:nvSpPr>
          <p:cNvPr id="11" name="Text 9"/>
          <p:cNvSpPr txBox="1"/>
          <p:nvPr/>
        </p:nvSpPr>
        <p:spPr>
          <a:xfrm>
            <a:off x="3429000" y="3794760"/>
            <a:ext cx="2011680" cy="594360"/>
          </a:xfrm>
          <a:prstGeom prst="rect">
            <a:avLst/>
          </a:prstGeom>
          <a:noFill/>
          <a:ln/>
        </p:spPr>
        <p:txBody>
          <a:bodyPr wrap="square" lIns="0" tIns="0" rIns="0" bIns="0" rtlCol="0" anchor="t"/>
          <a:lstStyle/>
          <a:p>
            <a:pPr indent="0" marL="0">
              <a:buNone/>
            </a:pPr>
            <a:r>
              <a:rPr lang="en-US" sz="1250" dirty="0">
                <a:solidFill>
                  <a:srgbClr val="55555C"/>
                </a:solidFill>
              </a:rPr>
              <a:t>recovery checks with the gateway killed at 5 points</a:t>
            </a:r>
            <a:endParaRPr lang="en-US" sz="1250" dirty="0"/>
          </a:p>
        </p:txBody>
      </p:sp>
      <p:sp>
        <p:nvSpPr>
          <p:cNvPr id="12" name="Text 10"/>
          <p:cNvSpPr txBox="1"/>
          <p:nvPr/>
        </p:nvSpPr>
        <p:spPr>
          <a:xfrm>
            <a:off x="548640" y="4617720"/>
            <a:ext cx="5120640" cy="1188720"/>
          </a:xfrm>
          <a:prstGeom prst="rect">
            <a:avLst/>
          </a:prstGeom>
          <a:noFill/>
          <a:ln/>
        </p:spPr>
        <p:txBody>
          <a:bodyPr wrap="square" lIns="0" tIns="0" rIns="0" bIns="0" rtlCol="0" anchor="t"/>
          <a:lstStyle/>
          <a:p>
            <a:pPr indent="0" marL="0">
              <a:spcAft>
                <a:spcPts val="600"/>
              </a:spcAft>
              <a:buNone/>
            </a:pPr>
            <a:r>
              <a:rPr lang="en-US" sz="1250" b="1" dirty="0">
                <a:solidFill>
                  <a:srgbClr val="0A0A0B"/>
                </a:solidFill>
              </a:rPr>
              <a:t>Facts only: </a:t>
            </a:r>
            <a:pPr indent="0" marL="0">
              <a:spcAft>
                <a:spcPts val="600"/>
              </a:spcAft>
              <a:buNone/>
            </a:pPr>
            <a:r>
              <a:rPr lang="en-US" sz="1250" dirty="0">
                <a:solidFill>
                  <a:srgbClr val="0A0A0B"/>
                </a:solidFill>
              </a:rPr>
              <a:t>a proposal carries { id, date, start, venue, court, trip }, signed with Ed25519. No model reads another side's words; sentences between agents are templates code fills. Settled in one round by intersection.</a:t>
            </a:r>
            <a:endParaRPr lang="en-US" sz="1250" dirty="0"/>
          </a:p>
        </p:txBody>
      </p:sp>
      <p:pic>
        <p:nvPicPr>
          <p:cNvPr id="13" name="Image 0" descr="preencoded.png">    </p:cNvPr>
          <p:cNvPicPr>
            <a:picLocks noChangeAspect="1"/>
          </p:cNvPicPr>
          <p:nvPr/>
        </p:nvPicPr>
        <p:blipFill>
          <a:blip r:embed="rId1"/>
          <a:stretch>
            <a:fillRect/>
          </a:stretch>
        </p:blipFill>
        <p:spPr>
          <a:xfrm>
            <a:off x="6035040" y="1280160"/>
            <a:ext cx="5608015" cy="2796087"/>
          </a:xfrm>
          <a:prstGeom prst="rect">
            <a:avLst/>
          </a:prstGeom>
        </p:spPr>
      </p:pic>
      <p:sp>
        <p:nvSpPr>
          <p:cNvPr id="14" name="Text 11"/>
          <p:cNvSpPr txBox="1"/>
          <p:nvPr/>
        </p:nvSpPr>
        <p:spPr>
          <a:xfrm>
            <a:off x="6035040" y="4185975"/>
            <a:ext cx="5608015" cy="685800"/>
          </a:xfrm>
          <a:prstGeom prst="rect">
            <a:avLst/>
          </a:prstGeom>
          <a:noFill/>
          <a:ln/>
        </p:spPr>
        <p:txBody>
          <a:bodyPr wrap="square" lIns="0" tIns="0" rIns="0" bIns="0" rtlCol="0" anchor="t"/>
          <a:lstStyle/>
          <a:p>
            <a:pPr indent="0" marL="0">
              <a:buNone/>
            </a:pPr>
            <a:r>
              <a:rPr lang="en-US" sz="1100" dirty="0">
                <a:solidFill>
                  <a:srgbClr val="55555C"/>
                </a:solidFill>
              </a:rPr>
              <a:t>(a) Double bookings without and with holds (n = 12 each, 95% Wilson intervals). (b) Fairness of booked games under three venue rules.</a:t>
            </a:r>
            <a:endParaRPr lang="en-US" sz="1100" dirty="0"/>
          </a:p>
        </p:txBody>
      </p:sp>
      <p:sp>
        <p:nvSpPr>
          <p:cNvPr id="15" name="Text 12"/>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A2A v1.0 [3]; Contract Net [4] with a one-shot intersection [5]; leases [6] with resource ordering [7]; JWS over canonical JSON [8, 9].</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Rank by everyone's chance of a yes, then ask the one question worth most</a:t>
            </a:r>
            <a:endParaRPr lang="en-US" sz="2400" dirty="0"/>
          </a:p>
        </p:txBody>
      </p:sp>
      <p:sp>
        <p:nvSpPr>
          <p:cNvPr id="3" name="Shape 1"/>
          <p:cNvSpPr/>
          <p:nvPr/>
        </p:nvSpPr>
        <p:spPr>
          <a:xfrm>
            <a:off x="548640" y="1280160"/>
            <a:ext cx="5440680" cy="1325880"/>
          </a:xfrm>
          <a:prstGeom prst="roundRect">
            <a:avLst>
              <a:gd name="adj" fmla="val 5517"/>
            </a:avLst>
          </a:prstGeom>
          <a:solidFill>
            <a:srgbClr val="F3F6F4"/>
          </a:solidFill>
          <a:ln w="12700">
            <a:solidFill>
              <a:srgbClr val="F3F6F4"/>
            </a:solidFill>
            <a:prstDash val="solid"/>
          </a:ln>
        </p:spPr>
      </p:sp>
      <p:sp>
        <p:nvSpPr>
          <p:cNvPr id="4" name="Text 2"/>
          <p:cNvSpPr txBox="1"/>
          <p:nvPr/>
        </p:nvSpPr>
        <p:spPr>
          <a:xfrm>
            <a:off x="777240" y="1417320"/>
            <a:ext cx="4983480" cy="73152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73.9% → 89.1%</a:t>
            </a:r>
            <a:endParaRPr lang="en-US" sz="3600" dirty="0"/>
          </a:p>
        </p:txBody>
      </p:sp>
      <p:sp>
        <p:nvSpPr>
          <p:cNvPr id="5" name="Text 3"/>
          <p:cNvSpPr txBox="1"/>
          <p:nvPr/>
        </p:nvSpPr>
        <p:spPr>
          <a:xfrm>
            <a:off x="777240" y="2148840"/>
            <a:ext cx="4983480" cy="411480"/>
          </a:xfrm>
          <a:prstGeom prst="rect">
            <a:avLst/>
          </a:prstGeom>
          <a:noFill/>
          <a:ln/>
        </p:spPr>
        <p:txBody>
          <a:bodyPr wrap="square" lIns="0" tIns="0" rIns="0" bIns="0" rtlCol="0" anchor="t"/>
          <a:lstStyle/>
          <a:p>
            <a:pPr indent="0" marL="0">
              <a:buNone/>
            </a:pPr>
            <a:r>
              <a:rPr lang="en-US" sz="1250" dirty="0">
                <a:solidFill>
                  <a:srgbClr val="55555C"/>
                </a:solidFill>
              </a:rPr>
              <a:t>doubles requests whose first proposed time keeps every player's rules</a:t>
            </a:r>
            <a:endParaRPr lang="en-US" sz="1250" dirty="0"/>
          </a:p>
        </p:txBody>
      </p:sp>
      <p:sp>
        <p:nvSpPr>
          <p:cNvPr id="6" name="Shape 4"/>
          <p:cNvSpPr/>
          <p:nvPr/>
        </p:nvSpPr>
        <p:spPr>
          <a:xfrm>
            <a:off x="6172200" y="1280160"/>
            <a:ext cx="5440680" cy="1325880"/>
          </a:xfrm>
          <a:prstGeom prst="roundRect">
            <a:avLst>
              <a:gd name="adj" fmla="val 5517"/>
            </a:avLst>
          </a:prstGeom>
          <a:solidFill>
            <a:srgbClr val="F3F6F4"/>
          </a:solidFill>
          <a:ln w="12700">
            <a:solidFill>
              <a:srgbClr val="F3F6F4"/>
            </a:solidFill>
            <a:prstDash val="solid"/>
          </a:ln>
        </p:spPr>
      </p:sp>
      <p:sp>
        <p:nvSpPr>
          <p:cNvPr id="7" name="Text 5"/>
          <p:cNvSpPr txBox="1"/>
          <p:nvPr/>
        </p:nvSpPr>
        <p:spPr>
          <a:xfrm>
            <a:off x="6400800" y="1417320"/>
            <a:ext cx="4983480" cy="73152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40.7% → 51.9%</a:t>
            </a:r>
            <a:endParaRPr lang="en-US" sz="3600" dirty="0"/>
          </a:p>
        </p:txBody>
      </p:sp>
      <p:sp>
        <p:nvSpPr>
          <p:cNvPr id="8" name="Text 6"/>
          <p:cNvSpPr txBox="1"/>
          <p:nvPr/>
        </p:nvSpPr>
        <p:spPr>
          <a:xfrm>
            <a:off x="6400800" y="2148840"/>
            <a:ext cx="4983480" cy="411480"/>
          </a:xfrm>
          <a:prstGeom prst="rect">
            <a:avLst/>
          </a:prstGeom>
          <a:noFill/>
          <a:ln/>
        </p:spPr>
        <p:txBody>
          <a:bodyPr wrap="square" lIns="0" tIns="0" rIns="0" bIns="0" rtlCol="0" anchor="t"/>
          <a:lstStyle/>
          <a:p>
            <a:pPr indent="0" marL="0">
              <a:buNone/>
            </a:pPr>
            <a:r>
              <a:rPr lang="en-US" sz="1250" dirty="0">
                <a:solidFill>
                  <a:srgbClr val="55555C"/>
                </a:solidFill>
              </a:rPr>
              <a:t>games found after one yes-or-no question, by the value of information</a:t>
            </a:r>
            <a:endParaRPr lang="en-US" sz="1250" dirty="0"/>
          </a:p>
        </p:txBody>
      </p:sp>
      <p:pic>
        <p:nvPicPr>
          <p:cNvPr id="9" name="Image 0" descr="preencoded.png">    </p:cNvPr>
          <p:cNvPicPr>
            <a:picLocks noChangeAspect="1"/>
          </p:cNvPicPr>
          <p:nvPr/>
        </p:nvPicPr>
        <p:blipFill>
          <a:blip r:embed="rId1"/>
          <a:stretch>
            <a:fillRect/>
          </a:stretch>
        </p:blipFill>
        <p:spPr>
          <a:xfrm>
            <a:off x="688574" y="2788920"/>
            <a:ext cx="5160812" cy="2743200"/>
          </a:xfrm>
          <a:prstGeom prst="rect">
            <a:avLst/>
          </a:prstGeom>
        </p:spPr>
      </p:pic>
      <p:sp>
        <p:nvSpPr>
          <p:cNvPr id="10" name="Text 7"/>
          <p:cNvSpPr txBox="1"/>
          <p:nvPr/>
        </p:nvSpPr>
        <p:spPr>
          <a:xfrm>
            <a:off x="548640" y="5641848"/>
            <a:ext cx="5440680" cy="685800"/>
          </a:xfrm>
          <a:prstGeom prst="rect">
            <a:avLst/>
          </a:prstGeom>
          <a:noFill/>
          <a:ln/>
        </p:spPr>
        <p:txBody>
          <a:bodyPr wrap="square" lIns="0" tIns="0" rIns="0" bIns="0" rtlCol="0" anchor="t"/>
          <a:lstStyle/>
          <a:p>
            <a:pPr indent="0" marL="0">
              <a:buNone/>
            </a:pPr>
            <a:r>
              <a:rPr lang="en-US" sz="1100" dirty="0">
                <a:solidFill>
                  <a:srgbClr val="55555C"/>
                </a:solidFill>
              </a:rPr>
              <a:t>3,000 simulated requests each; product of chances with a least-misery floor of 0.15.</a:t>
            </a:r>
            <a:endParaRPr lang="en-US" sz="1100" dirty="0"/>
          </a:p>
        </p:txBody>
      </p:sp>
      <p:pic>
        <p:nvPicPr>
          <p:cNvPr id="11" name="Image 1" descr="preencoded.png">    </p:cNvPr>
          <p:cNvPicPr>
            <a:picLocks noChangeAspect="1"/>
          </p:cNvPicPr>
          <p:nvPr/>
        </p:nvPicPr>
        <p:blipFill>
          <a:blip r:embed="rId2"/>
          <a:stretch>
            <a:fillRect/>
          </a:stretch>
        </p:blipFill>
        <p:spPr>
          <a:xfrm>
            <a:off x="6279642" y="2788920"/>
            <a:ext cx="5225796" cy="2743200"/>
          </a:xfrm>
          <a:prstGeom prst="rect">
            <a:avLst/>
          </a:prstGeom>
        </p:spPr>
      </p:pic>
      <p:sp>
        <p:nvSpPr>
          <p:cNvPr id="12" name="Text 8"/>
          <p:cNvSpPr txBox="1"/>
          <p:nvPr/>
        </p:nvSpPr>
        <p:spPr>
          <a:xfrm>
            <a:off x="6172200" y="5641848"/>
            <a:ext cx="5440680" cy="685800"/>
          </a:xfrm>
          <a:prstGeom prst="rect">
            <a:avLst/>
          </a:prstGeom>
          <a:noFill/>
          <a:ln/>
        </p:spPr>
        <p:txBody>
          <a:bodyPr wrap="square" lIns="0" tIns="0" rIns="0" bIns="0" rtlCol="0" anchor="t"/>
          <a:lstStyle/>
          <a:p>
            <a:pPr indent="0" marL="0">
              <a:buNone/>
            </a:pPr>
            <a:r>
              <a:rPr lang="en-US" sz="1100" dirty="0">
                <a:solidFill>
                  <a:srgbClr val="55555C"/>
                </a:solidFill>
              </a:rPr>
              <a:t>20,000 simulated requests each; Beta beliefs over what agents accepted, never a calendar.</a:t>
            </a:r>
            <a:endParaRPr lang="en-US" sz="1100" dirty="0"/>
          </a:p>
        </p:txBody>
      </p:sp>
      <p:sp>
        <p:nvSpPr>
          <p:cNvPr id="13" name="Text 9"/>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Least misery after group recommenders [26]; value of information over Beta posteriors [24, 25]. Every question is charged to a disclosure budget: at most 3 asks a week.</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177 AI testers in 28 rounds sent 17,432 requests; core-flow bugs reached zero by round 25</a:t>
            </a:r>
            <a:endParaRPr lang="en-US" sz="2400" dirty="0"/>
          </a:p>
        </p:txBody>
      </p:sp>
      <p:sp>
        <p:nvSpPr>
          <p:cNvPr id="3" name="Shape 1"/>
          <p:cNvSpPr/>
          <p:nvPr/>
        </p:nvSpPr>
        <p:spPr>
          <a:xfrm>
            <a:off x="548640" y="1280160"/>
            <a:ext cx="260604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17320"/>
            <a:ext cx="2148840"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177</a:t>
            </a:r>
            <a:endParaRPr lang="en-US" sz="4000" dirty="0"/>
          </a:p>
        </p:txBody>
      </p:sp>
      <p:sp>
        <p:nvSpPr>
          <p:cNvPr id="5" name="Text 3"/>
          <p:cNvSpPr txBox="1"/>
          <p:nvPr/>
        </p:nvSpPr>
        <p:spPr>
          <a:xfrm>
            <a:off x="777240" y="2148840"/>
            <a:ext cx="2148840" cy="594360"/>
          </a:xfrm>
          <a:prstGeom prst="rect">
            <a:avLst/>
          </a:prstGeom>
          <a:noFill/>
          <a:ln/>
        </p:spPr>
        <p:txBody>
          <a:bodyPr wrap="square" lIns="0" tIns="0" rIns="0" bIns="0" rtlCol="0" anchor="t"/>
          <a:lstStyle/>
          <a:p>
            <a:pPr indent="0" marL="0">
              <a:buNone/>
            </a:pPr>
            <a:r>
              <a:rPr lang="en-US" sz="1250" dirty="0">
                <a:solidFill>
                  <a:srgbClr val="55555C"/>
                </a:solidFill>
              </a:rPr>
              <a:t>fresh AI testers, six a round</a:t>
            </a:r>
            <a:endParaRPr lang="en-US" sz="1250" dirty="0"/>
          </a:p>
        </p:txBody>
      </p:sp>
      <p:sp>
        <p:nvSpPr>
          <p:cNvPr id="6" name="Shape 4"/>
          <p:cNvSpPr/>
          <p:nvPr/>
        </p:nvSpPr>
        <p:spPr>
          <a:xfrm>
            <a:off x="3355848" y="1280160"/>
            <a:ext cx="2606040" cy="1508760"/>
          </a:xfrm>
          <a:prstGeom prst="roundRect">
            <a:avLst>
              <a:gd name="adj" fmla="val 4848"/>
            </a:avLst>
          </a:prstGeom>
          <a:solidFill>
            <a:srgbClr val="F3F6F4"/>
          </a:solidFill>
          <a:ln w="12700">
            <a:solidFill>
              <a:srgbClr val="F3F6F4"/>
            </a:solidFill>
            <a:prstDash val="solid"/>
          </a:ln>
        </p:spPr>
      </p:sp>
      <p:sp>
        <p:nvSpPr>
          <p:cNvPr id="7" name="Text 5"/>
          <p:cNvSpPr txBox="1"/>
          <p:nvPr/>
        </p:nvSpPr>
        <p:spPr>
          <a:xfrm>
            <a:off x="3584448" y="1417320"/>
            <a:ext cx="2148840"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28</a:t>
            </a:r>
            <a:endParaRPr lang="en-US" sz="4000" dirty="0"/>
          </a:p>
        </p:txBody>
      </p:sp>
      <p:sp>
        <p:nvSpPr>
          <p:cNvPr id="8" name="Text 6"/>
          <p:cNvSpPr txBox="1"/>
          <p:nvPr/>
        </p:nvSpPr>
        <p:spPr>
          <a:xfrm>
            <a:off x="3584448" y="2148840"/>
            <a:ext cx="2148840" cy="594360"/>
          </a:xfrm>
          <a:prstGeom prst="rect">
            <a:avLst/>
          </a:prstGeom>
          <a:noFill/>
          <a:ln/>
        </p:spPr>
        <p:txBody>
          <a:bodyPr wrap="square" lIns="0" tIns="0" rIns="0" bIns="0" rtlCol="0" anchor="t"/>
          <a:lstStyle/>
          <a:p>
            <a:pPr indent="0" marL="0">
              <a:buNone/>
            </a:pPr>
            <a:r>
              <a:rPr lang="en-US" sz="1250" dirty="0">
                <a:solidFill>
                  <a:srgbClr val="55555C"/>
                </a:solidFill>
              </a:rPr>
              <a:t>rounds, a fix and a deploy after each</a:t>
            </a:r>
            <a:endParaRPr lang="en-US" sz="1250" dirty="0"/>
          </a:p>
        </p:txBody>
      </p:sp>
      <p:sp>
        <p:nvSpPr>
          <p:cNvPr id="9" name="Shape 7"/>
          <p:cNvSpPr/>
          <p:nvPr/>
        </p:nvSpPr>
        <p:spPr>
          <a:xfrm>
            <a:off x="6163056" y="1280160"/>
            <a:ext cx="2606040" cy="1508760"/>
          </a:xfrm>
          <a:prstGeom prst="roundRect">
            <a:avLst>
              <a:gd name="adj" fmla="val 4848"/>
            </a:avLst>
          </a:prstGeom>
          <a:solidFill>
            <a:srgbClr val="F3F6F4"/>
          </a:solidFill>
          <a:ln w="12700">
            <a:solidFill>
              <a:srgbClr val="F3F6F4"/>
            </a:solidFill>
            <a:prstDash val="solid"/>
          </a:ln>
        </p:spPr>
      </p:sp>
      <p:sp>
        <p:nvSpPr>
          <p:cNvPr id="10" name="Text 8"/>
          <p:cNvSpPr txBox="1"/>
          <p:nvPr/>
        </p:nvSpPr>
        <p:spPr>
          <a:xfrm>
            <a:off x="6391656" y="1417320"/>
            <a:ext cx="2148840"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17,432</a:t>
            </a:r>
            <a:endParaRPr lang="en-US" sz="4000" dirty="0"/>
          </a:p>
        </p:txBody>
      </p:sp>
      <p:sp>
        <p:nvSpPr>
          <p:cNvPr id="11" name="Text 9"/>
          <p:cNvSpPr txBox="1"/>
          <p:nvPr/>
        </p:nvSpPr>
        <p:spPr>
          <a:xfrm>
            <a:off x="6391656" y="2148840"/>
            <a:ext cx="2148840" cy="594360"/>
          </a:xfrm>
          <a:prstGeom prst="rect">
            <a:avLst/>
          </a:prstGeom>
          <a:noFill/>
          <a:ln/>
        </p:spPr>
        <p:txBody>
          <a:bodyPr wrap="square" lIns="0" tIns="0" rIns="0" bIns="0" rtlCol="0" anchor="t"/>
          <a:lstStyle/>
          <a:p>
            <a:pPr indent="0" marL="0">
              <a:buNone/>
            </a:pPr>
            <a:r>
              <a:rPr lang="en-US" sz="1250" dirty="0">
                <a:solidFill>
                  <a:srgbClr val="55555C"/>
                </a:solidFill>
              </a:rPr>
              <a:t>requests logged</a:t>
            </a:r>
            <a:endParaRPr lang="en-US" sz="1250" dirty="0"/>
          </a:p>
        </p:txBody>
      </p:sp>
      <p:sp>
        <p:nvSpPr>
          <p:cNvPr id="12" name="Shape 10"/>
          <p:cNvSpPr/>
          <p:nvPr/>
        </p:nvSpPr>
        <p:spPr>
          <a:xfrm>
            <a:off x="8970264" y="1280160"/>
            <a:ext cx="2606040" cy="1508760"/>
          </a:xfrm>
          <a:prstGeom prst="roundRect">
            <a:avLst>
              <a:gd name="adj" fmla="val 4848"/>
            </a:avLst>
          </a:prstGeom>
          <a:solidFill>
            <a:srgbClr val="F3F6F4"/>
          </a:solidFill>
          <a:ln w="12700">
            <a:solidFill>
              <a:srgbClr val="F3F6F4"/>
            </a:solidFill>
            <a:prstDash val="solid"/>
          </a:ln>
        </p:spPr>
      </p:sp>
      <p:sp>
        <p:nvSpPr>
          <p:cNvPr id="13" name="Text 11"/>
          <p:cNvSpPr txBox="1"/>
          <p:nvPr/>
        </p:nvSpPr>
        <p:spPr>
          <a:xfrm>
            <a:off x="9198864" y="1417320"/>
            <a:ext cx="2148840"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0</a:t>
            </a:r>
            <a:endParaRPr lang="en-US" sz="4000" dirty="0"/>
          </a:p>
        </p:txBody>
      </p:sp>
      <p:sp>
        <p:nvSpPr>
          <p:cNvPr id="14" name="Text 12"/>
          <p:cNvSpPr txBox="1"/>
          <p:nvPr/>
        </p:nvSpPr>
        <p:spPr>
          <a:xfrm>
            <a:off x="9198864" y="2148840"/>
            <a:ext cx="2148840" cy="594360"/>
          </a:xfrm>
          <a:prstGeom prst="rect">
            <a:avLst/>
          </a:prstGeom>
          <a:noFill/>
          <a:ln/>
        </p:spPr>
        <p:txBody>
          <a:bodyPr wrap="square" lIns="0" tIns="0" rIns="0" bIns="0" rtlCol="0" anchor="t"/>
          <a:lstStyle/>
          <a:p>
            <a:pPr indent="0" marL="0">
              <a:buNone/>
            </a:pPr>
            <a:r>
              <a:rPr lang="en-US" sz="1250" dirty="0">
                <a:solidFill>
                  <a:srgbClr val="55555C"/>
                </a:solidFill>
              </a:rPr>
              <a:t>server errors in 146 replayed sessions</a:t>
            </a:r>
            <a:endParaRPr lang="en-US" sz="1250" dirty="0"/>
          </a:p>
        </p:txBody>
      </p:sp>
      <p:pic>
        <p:nvPicPr>
          <p:cNvPr id="15" name="Image 0" descr="preencoded.png">    </p:cNvPr>
          <p:cNvPicPr>
            <a:picLocks noChangeAspect="1"/>
          </p:cNvPicPr>
          <p:nvPr/>
        </p:nvPicPr>
        <p:blipFill>
          <a:blip r:embed="rId1"/>
          <a:stretch>
            <a:fillRect/>
          </a:stretch>
        </p:blipFill>
        <p:spPr>
          <a:xfrm>
            <a:off x="3660771" y="2971800"/>
            <a:ext cx="4870153" cy="2606040"/>
          </a:xfrm>
          <a:prstGeom prst="rect">
            <a:avLst/>
          </a:prstGeom>
        </p:spPr>
      </p:pic>
      <p:sp>
        <p:nvSpPr>
          <p:cNvPr id="16" name="Text 13"/>
          <p:cNvSpPr txBox="1"/>
          <p:nvPr/>
        </p:nvSpPr>
        <p:spPr>
          <a:xfrm>
            <a:off x="548640" y="568756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Bugs per round; from round 21 only core-flow bugs count. Rounds 26–28 were harder: a new copy, the live site, a copy with the server's own models. (b) Share of clean reports.</a:t>
            </a:r>
            <a:endParaRPr lang="en-US" sz="1100" dirty="0"/>
          </a:p>
        </p:txBody>
      </p:sp>
      <p:sp>
        <p:nvSpPr>
          <p:cNvPr id="17" name="Text 14"/>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The testers were AI models, not people: new agents arriving cold, member agents and web users at phone and laptop size. Round 28's flows also run as one script: 12 of 12 checks pass.</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9 days of real-world traction, and the road to production</a:t>
            </a:r>
            <a:endParaRPr lang="en-US" sz="2400" dirty="0"/>
          </a:p>
        </p:txBody>
      </p:sp>
      <p:sp>
        <p:nvSpPr>
          <p:cNvPr id="3" name="Shape 1"/>
          <p:cNvSpPr/>
          <p:nvPr/>
        </p:nvSpPr>
        <p:spPr>
          <a:xfrm>
            <a:off x="548640" y="1234440"/>
            <a:ext cx="4206240" cy="2926080"/>
          </a:xfrm>
          <a:prstGeom prst="roundRect">
            <a:avLst>
              <a:gd name="adj" fmla="val 2500"/>
            </a:avLst>
          </a:prstGeom>
          <a:solidFill>
            <a:srgbClr val="E9F3EC"/>
          </a:solidFill>
          <a:ln w="12700">
            <a:solidFill>
              <a:srgbClr val="E9F3EC"/>
            </a:solidFill>
            <a:prstDash val="solid"/>
          </a:ln>
        </p:spPr>
      </p:sp>
      <p:sp>
        <p:nvSpPr>
          <p:cNvPr id="4" name="Text 2"/>
          <p:cNvSpPr txBox="1"/>
          <p:nvPr/>
        </p:nvSpPr>
        <p:spPr>
          <a:xfrm>
            <a:off x="777240" y="1325880"/>
            <a:ext cx="3749040" cy="365760"/>
          </a:xfrm>
          <a:prstGeom prst="rect">
            <a:avLst/>
          </a:prstGeom>
          <a:noFill/>
          <a:ln/>
        </p:spPr>
        <p:txBody>
          <a:bodyPr wrap="square" lIns="0" tIns="0" rIns="0" bIns="0" rtlCol="0" anchor="ctr"/>
          <a:lstStyle/>
          <a:p>
            <a:pPr indent="0" marL="0">
              <a:buNone/>
            </a:pPr>
            <a:r>
              <a:rPr lang="en-US" sz="1400" b="1" dirty="0">
                <a:solidFill>
                  <a:srgbClr val="0A7F44"/>
                </a:solidFill>
              </a:rPr>
              <a:t>Built Oct 27 – Nov 4, 2026</a:t>
            </a:r>
            <a:endParaRPr lang="en-US" sz="1400" dirty="0"/>
          </a:p>
        </p:txBody>
      </p:sp>
      <p:sp>
        <p:nvSpPr>
          <p:cNvPr id="5" name="Text 3"/>
          <p:cNvSpPr txBox="1"/>
          <p:nvPr/>
        </p:nvSpPr>
        <p:spPr>
          <a:xfrm>
            <a:off x="777240" y="1783080"/>
            <a:ext cx="1828800" cy="59436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10+</a:t>
            </a:r>
            <a:endParaRPr lang="en-US" sz="3200" dirty="0"/>
          </a:p>
        </p:txBody>
      </p:sp>
      <p:sp>
        <p:nvSpPr>
          <p:cNvPr id="6" name="Text 4"/>
          <p:cNvSpPr txBox="1"/>
          <p:nvPr/>
        </p:nvSpPr>
        <p:spPr>
          <a:xfrm>
            <a:off x="777240" y="2350008"/>
            <a:ext cx="1828800" cy="365760"/>
          </a:xfrm>
          <a:prstGeom prst="rect">
            <a:avLst/>
          </a:prstGeom>
          <a:noFill/>
          <a:ln/>
        </p:spPr>
        <p:txBody>
          <a:bodyPr wrap="square" lIns="0" tIns="0" rIns="0" bIns="0" rtlCol="0" anchor="ctr"/>
          <a:lstStyle/>
          <a:p>
            <a:pPr indent="0" marL="0">
              <a:buNone/>
            </a:pPr>
            <a:r>
              <a:rPr lang="en-US" sz="1150" dirty="0">
                <a:solidFill>
                  <a:srgbClr val="0A0A0B"/>
                </a:solidFill>
              </a:rPr>
              <a:t>people in a real club</a:t>
            </a:r>
            <a:endParaRPr lang="en-US" sz="1150" dirty="0"/>
          </a:p>
        </p:txBody>
      </p:sp>
      <p:sp>
        <p:nvSpPr>
          <p:cNvPr id="7" name="Text 5"/>
          <p:cNvSpPr txBox="1"/>
          <p:nvPr/>
        </p:nvSpPr>
        <p:spPr>
          <a:xfrm>
            <a:off x="2743200" y="1783080"/>
            <a:ext cx="1828800" cy="59436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2 of 3</a:t>
            </a:r>
            <a:endParaRPr lang="en-US" sz="3200" dirty="0"/>
          </a:p>
        </p:txBody>
      </p:sp>
      <p:sp>
        <p:nvSpPr>
          <p:cNvPr id="8" name="Text 6"/>
          <p:cNvSpPr txBox="1"/>
          <p:nvPr/>
        </p:nvSpPr>
        <p:spPr>
          <a:xfrm>
            <a:off x="2743200" y="2350008"/>
            <a:ext cx="1828800" cy="365760"/>
          </a:xfrm>
          <a:prstGeom prst="rect">
            <a:avLst/>
          </a:prstGeom>
          <a:noFill/>
          <a:ln/>
        </p:spPr>
        <p:txBody>
          <a:bodyPr wrap="square" lIns="0" tIns="0" rIns="0" bIns="0" rtlCol="0" anchor="ctr"/>
          <a:lstStyle/>
          <a:p>
            <a:pPr indent="0" marL="0">
              <a:buNone/>
            </a:pPr>
            <a:r>
              <a:rPr lang="en-US" sz="1150" dirty="0">
                <a:solidFill>
                  <a:srgbClr val="0A0A0B"/>
                </a:solidFill>
              </a:rPr>
              <a:t>invites played</a:t>
            </a:r>
            <a:endParaRPr lang="en-US" sz="1150" dirty="0"/>
          </a:p>
        </p:txBody>
      </p:sp>
      <p:sp>
        <p:nvSpPr>
          <p:cNvPr id="9" name="Text 7"/>
          <p:cNvSpPr txBox="1"/>
          <p:nvPr/>
        </p:nvSpPr>
        <p:spPr>
          <a:xfrm>
            <a:off x="777240" y="2926080"/>
            <a:ext cx="1828800" cy="59436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177</a:t>
            </a:r>
            <a:endParaRPr lang="en-US" sz="3200" dirty="0"/>
          </a:p>
        </p:txBody>
      </p:sp>
      <p:sp>
        <p:nvSpPr>
          <p:cNvPr id="10" name="Text 8"/>
          <p:cNvSpPr txBox="1"/>
          <p:nvPr/>
        </p:nvSpPr>
        <p:spPr>
          <a:xfrm>
            <a:off x="777240" y="3493008"/>
            <a:ext cx="1828800" cy="365760"/>
          </a:xfrm>
          <a:prstGeom prst="rect">
            <a:avLst/>
          </a:prstGeom>
          <a:noFill/>
          <a:ln/>
        </p:spPr>
        <p:txBody>
          <a:bodyPr wrap="square" lIns="0" tIns="0" rIns="0" bIns="0" rtlCol="0" anchor="ctr"/>
          <a:lstStyle/>
          <a:p>
            <a:pPr indent="0" marL="0">
              <a:buNone/>
            </a:pPr>
            <a:r>
              <a:rPr lang="en-US" sz="1150" dirty="0">
                <a:solidFill>
                  <a:srgbClr val="0A0A0B"/>
                </a:solidFill>
              </a:rPr>
              <a:t>AI testers, 28 rounds</a:t>
            </a:r>
            <a:endParaRPr lang="en-US" sz="1150" dirty="0"/>
          </a:p>
        </p:txBody>
      </p:sp>
      <p:sp>
        <p:nvSpPr>
          <p:cNvPr id="11" name="Text 9"/>
          <p:cNvSpPr txBox="1"/>
          <p:nvPr/>
        </p:nvSpPr>
        <p:spPr>
          <a:xfrm>
            <a:off x="2743200" y="2926080"/>
            <a:ext cx="1828800" cy="594360"/>
          </a:xfrm>
          <a:prstGeom prst="rect">
            <a:avLst/>
          </a:prstGeom>
          <a:noFill/>
          <a:ln/>
        </p:spPr>
        <p:txBody>
          <a:bodyPr wrap="square" lIns="0" tIns="0" rIns="0" bIns="0" rtlCol="0" anchor="ctr"/>
          <a:lstStyle/>
          <a:p>
            <a:pPr indent="0" marL="0">
              <a:buNone/>
            </a:pPr>
            <a:r>
              <a:rPr lang="en-US" sz="3200" b="1" dirty="0">
                <a:solidFill>
                  <a:srgbClr val="0A7F44"/>
                </a:solidFill>
                <a:latin typeface="Segoe UI Semibold" pitchFamily="34" charset="0"/>
                <a:ea typeface="Segoe UI Semibold" pitchFamily="34" charset="-122"/>
                <a:cs typeface="Segoe UI Semibold" pitchFamily="34" charset="-120"/>
              </a:rPr>
              <a:t>Live</a:t>
            </a:r>
            <a:endParaRPr lang="en-US" sz="3200" dirty="0"/>
          </a:p>
        </p:txBody>
      </p:sp>
      <p:sp>
        <p:nvSpPr>
          <p:cNvPr id="12" name="Text 10"/>
          <p:cNvSpPr txBox="1"/>
          <p:nvPr/>
        </p:nvSpPr>
        <p:spPr>
          <a:xfrm>
            <a:off x="2743200" y="3493008"/>
            <a:ext cx="1828800" cy="365760"/>
          </a:xfrm>
          <a:prstGeom prst="rect">
            <a:avLst/>
          </a:prstGeom>
          <a:noFill/>
          <a:ln/>
        </p:spPr>
        <p:txBody>
          <a:bodyPr wrap="square" lIns="0" tIns="0" rIns="0" bIns="0" rtlCol="0" anchor="ctr"/>
          <a:lstStyle/>
          <a:p>
            <a:pPr indent="0" marL="0">
              <a:buNone/>
            </a:pPr>
            <a:r>
              <a:rPr lang="en-US" sz="1150" dirty="0">
                <a:solidFill>
                  <a:srgbClr val="0A0A0B"/>
                </a:solidFill>
              </a:rPr>
              <a:t>play.theminimallab.com</a:t>
            </a:r>
            <a:endParaRPr lang="en-US" sz="1150" dirty="0"/>
          </a:p>
        </p:txBody>
      </p:sp>
      <p:sp>
        <p:nvSpPr>
          <p:cNvPr id="13" name="Text 11"/>
          <p:cNvSpPr txBox="1"/>
          <p:nvPr/>
        </p:nvSpPr>
        <p:spPr>
          <a:xfrm>
            <a:off x="5029200" y="1234440"/>
            <a:ext cx="6400800" cy="365760"/>
          </a:xfrm>
          <a:prstGeom prst="rect">
            <a:avLst/>
          </a:prstGeom>
          <a:noFill/>
          <a:ln/>
        </p:spPr>
        <p:txBody>
          <a:bodyPr wrap="square" lIns="0" tIns="0" rIns="0" bIns="0" rtlCol="0" anchor="ctr"/>
          <a:lstStyle/>
          <a:p>
            <a:pPr indent="0" marL="0">
              <a:buNone/>
            </a:pPr>
            <a:r>
              <a:rPr lang="en-US" sz="1500" b="1" dirty="0">
                <a:solidFill>
                  <a:srgbClr val="0A0A0B"/>
                </a:solidFill>
              </a:rPr>
              <a:t>Next, toward production</a:t>
            </a:r>
            <a:endParaRPr lang="en-US" sz="1500" dirty="0"/>
          </a:p>
        </p:txBody>
      </p:sp>
      <p:sp>
        <p:nvSpPr>
          <p:cNvPr id="14" name="Shape 12"/>
          <p:cNvSpPr/>
          <p:nvPr/>
        </p:nvSpPr>
        <p:spPr>
          <a:xfrm>
            <a:off x="5029200" y="1746504"/>
            <a:ext cx="310896" cy="310896"/>
          </a:xfrm>
          <a:prstGeom prst="ellipse">
            <a:avLst/>
          </a:prstGeom>
          <a:solidFill>
            <a:srgbClr val="0A7F44"/>
          </a:solidFill>
          <a:ln w="12700">
            <a:solidFill>
              <a:srgbClr val="0A7F44"/>
            </a:solidFill>
            <a:prstDash val="solid"/>
          </a:ln>
        </p:spPr>
      </p:sp>
      <p:sp>
        <p:nvSpPr>
          <p:cNvPr id="15" name="Text 13"/>
          <p:cNvSpPr txBox="1"/>
          <p:nvPr/>
        </p:nvSpPr>
        <p:spPr>
          <a:xfrm>
            <a:off x="5029200" y="17465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5486400" y="1691640"/>
            <a:ext cx="6156655" cy="420624"/>
          </a:xfrm>
          <a:prstGeom prst="rect">
            <a:avLst/>
          </a:prstGeom>
          <a:noFill/>
          <a:ln/>
        </p:spPr>
        <p:txBody>
          <a:bodyPr wrap="square" lIns="0" tIns="0" rIns="0" bIns="0" rtlCol="0" anchor="ctr"/>
          <a:lstStyle/>
          <a:p>
            <a:pPr indent="0" marL="0">
              <a:buNone/>
            </a:pPr>
            <a:r>
              <a:rPr lang="en-US" sz="1250" b="1" dirty="0">
                <a:solidFill>
                  <a:srgbClr val="0A0A0B"/>
                </a:solidFill>
              </a:rPr>
              <a:t>Venues join: </a:t>
            </a:r>
            <a:pPr indent="0" marL="0">
              <a:buNone/>
            </a:pPr>
            <a:r>
              <a:rPr lang="en-US" sz="1250" dirty="0">
                <a:solidFill>
                  <a:srgbClr val="55555C"/>
                </a:solidFill>
              </a:rPr>
              <a:t>real quiet-hour prices replace the sample prices</a:t>
            </a:r>
            <a:endParaRPr lang="en-US" sz="1250" dirty="0"/>
          </a:p>
        </p:txBody>
      </p:sp>
      <p:sp>
        <p:nvSpPr>
          <p:cNvPr id="17" name="Shape 15"/>
          <p:cNvSpPr/>
          <p:nvPr/>
        </p:nvSpPr>
        <p:spPr>
          <a:xfrm>
            <a:off x="5029200" y="2240280"/>
            <a:ext cx="310896" cy="310896"/>
          </a:xfrm>
          <a:prstGeom prst="ellipse">
            <a:avLst/>
          </a:prstGeom>
          <a:solidFill>
            <a:srgbClr val="0A7F44"/>
          </a:solidFill>
          <a:ln w="12700">
            <a:solidFill>
              <a:srgbClr val="0A7F44"/>
            </a:solidFill>
            <a:prstDash val="solid"/>
          </a:ln>
        </p:spPr>
      </p:sp>
      <p:sp>
        <p:nvSpPr>
          <p:cNvPr id="18" name="Text 16"/>
          <p:cNvSpPr txBox="1"/>
          <p:nvPr/>
        </p:nvSpPr>
        <p:spPr>
          <a:xfrm>
            <a:off x="5029200" y="22402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9" name="Text 17"/>
          <p:cNvSpPr txBox="1"/>
          <p:nvPr/>
        </p:nvSpPr>
        <p:spPr>
          <a:xfrm>
            <a:off x="5486400" y="2185416"/>
            <a:ext cx="6156655" cy="420624"/>
          </a:xfrm>
          <a:prstGeom prst="rect">
            <a:avLst/>
          </a:prstGeom>
          <a:noFill/>
          <a:ln/>
        </p:spPr>
        <p:txBody>
          <a:bodyPr wrap="square" lIns="0" tIns="0" rIns="0" bIns="0" rtlCol="0" anchor="ctr"/>
          <a:lstStyle/>
          <a:p>
            <a:pPr indent="0" marL="0">
              <a:buNone/>
            </a:pPr>
            <a:r>
              <a:rPr lang="en-US" sz="1250" b="1" dirty="0">
                <a:solidFill>
                  <a:srgbClr val="0A0A0B"/>
                </a:solidFill>
              </a:rPr>
              <a:t>More real clubs: </a:t>
            </a:r>
            <a:pPr indent="0" marL="0">
              <a:buNone/>
            </a:pPr>
            <a:r>
              <a:rPr lang="en-US" sz="1250" dirty="0">
                <a:solidFill>
                  <a:srgbClr val="55555C"/>
                </a:solidFill>
              </a:rPr>
              <a:t>beyond one club, most evidence is still agents and simulation</a:t>
            </a:r>
            <a:endParaRPr lang="en-US" sz="1250" dirty="0"/>
          </a:p>
        </p:txBody>
      </p:sp>
      <p:sp>
        <p:nvSpPr>
          <p:cNvPr id="20" name="Shape 18"/>
          <p:cNvSpPr/>
          <p:nvPr/>
        </p:nvSpPr>
        <p:spPr>
          <a:xfrm>
            <a:off x="5029200" y="2734056"/>
            <a:ext cx="310896" cy="310896"/>
          </a:xfrm>
          <a:prstGeom prst="ellipse">
            <a:avLst/>
          </a:prstGeom>
          <a:solidFill>
            <a:srgbClr val="0A7F44"/>
          </a:solidFill>
          <a:ln w="12700">
            <a:solidFill>
              <a:srgbClr val="0A7F44"/>
            </a:solidFill>
            <a:prstDash val="solid"/>
          </a:ln>
        </p:spPr>
      </p:sp>
      <p:sp>
        <p:nvSpPr>
          <p:cNvPr id="21" name="Text 19"/>
          <p:cNvSpPr txBox="1"/>
          <p:nvPr/>
        </p:nvSpPr>
        <p:spPr>
          <a:xfrm>
            <a:off x="5029200" y="27340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22" name="Text 20"/>
          <p:cNvSpPr txBox="1"/>
          <p:nvPr/>
        </p:nvSpPr>
        <p:spPr>
          <a:xfrm>
            <a:off x="5486400" y="2679192"/>
            <a:ext cx="6156655" cy="420624"/>
          </a:xfrm>
          <a:prstGeom prst="rect">
            <a:avLst/>
          </a:prstGeom>
          <a:noFill/>
          <a:ln/>
        </p:spPr>
        <p:txBody>
          <a:bodyPr wrap="square" lIns="0" tIns="0" rIns="0" bIns="0" rtlCol="0" anchor="ctr"/>
          <a:lstStyle/>
          <a:p>
            <a:pPr indent="0" marL="0">
              <a:buNone/>
            </a:pPr>
            <a:r>
              <a:rPr lang="en-US" sz="1250" b="1" dirty="0">
                <a:solidFill>
                  <a:srgbClr val="0A0A0B"/>
                </a:solidFill>
              </a:rPr>
              <a:t>The community loop on members: </a:t>
            </a:r>
            <a:pPr indent="0" marL="0">
              <a:buNone/>
            </a:pPr>
            <a:r>
              <a:rPr lang="en-US" sz="1250" dirty="0">
                <a:solidFill>
                  <a:srgbClr val="55555C"/>
                </a:solidFill>
              </a:rPr>
              <a:t>an idea surfaces once 5 different members ask for it</a:t>
            </a:r>
            <a:endParaRPr lang="en-US" sz="1250" dirty="0"/>
          </a:p>
        </p:txBody>
      </p:sp>
      <p:sp>
        <p:nvSpPr>
          <p:cNvPr id="23" name="Shape 21"/>
          <p:cNvSpPr/>
          <p:nvPr/>
        </p:nvSpPr>
        <p:spPr>
          <a:xfrm>
            <a:off x="5029200" y="3227832"/>
            <a:ext cx="310896" cy="310896"/>
          </a:xfrm>
          <a:prstGeom prst="ellipse">
            <a:avLst/>
          </a:prstGeom>
          <a:solidFill>
            <a:srgbClr val="0A7F44"/>
          </a:solidFill>
          <a:ln w="12700">
            <a:solidFill>
              <a:srgbClr val="0A7F44"/>
            </a:solidFill>
            <a:prstDash val="solid"/>
          </a:ln>
        </p:spPr>
      </p:sp>
      <p:sp>
        <p:nvSpPr>
          <p:cNvPr id="24" name="Text 22"/>
          <p:cNvSpPr txBox="1"/>
          <p:nvPr/>
        </p:nvSpPr>
        <p:spPr>
          <a:xfrm>
            <a:off x="5029200" y="322783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25" name="Text 23"/>
          <p:cNvSpPr txBox="1"/>
          <p:nvPr/>
        </p:nvSpPr>
        <p:spPr>
          <a:xfrm>
            <a:off x="5486400" y="3172968"/>
            <a:ext cx="6156655" cy="420624"/>
          </a:xfrm>
          <a:prstGeom prst="rect">
            <a:avLst/>
          </a:prstGeom>
          <a:noFill/>
          <a:ln/>
        </p:spPr>
        <p:txBody>
          <a:bodyPr wrap="square" lIns="0" tIns="0" rIns="0" bIns="0" rtlCol="0" anchor="ctr"/>
          <a:lstStyle/>
          <a:p>
            <a:pPr indent="0" marL="0">
              <a:buNone/>
            </a:pPr>
            <a:r>
              <a:rPr lang="en-US" sz="1250" b="1" dirty="0">
                <a:solidFill>
                  <a:srgbClr val="0A0A0B"/>
                </a:solidFill>
              </a:rPr>
              <a:t>Less waiting: </a:t>
            </a:r>
            <a:pPr indent="0" marL="0">
              <a:buNone/>
            </a:pPr>
            <a:r>
              <a:rPr lang="en-US" sz="1250" dirty="0">
                <a:solidFill>
                  <a:srgbClr val="55555C"/>
                </a:solidFill>
              </a:rPr>
              <a:t>move more of Glimmer's 20–40 s path to the small models</a:t>
            </a:r>
            <a:endParaRPr lang="en-US" sz="1250" dirty="0"/>
          </a:p>
        </p:txBody>
      </p:sp>
      <p:sp>
        <p:nvSpPr>
          <p:cNvPr id="26" name="Shape 24"/>
          <p:cNvSpPr/>
          <p:nvPr/>
        </p:nvSpPr>
        <p:spPr>
          <a:xfrm>
            <a:off x="5029200" y="3721608"/>
            <a:ext cx="310896" cy="310896"/>
          </a:xfrm>
          <a:prstGeom prst="ellipse">
            <a:avLst/>
          </a:prstGeom>
          <a:solidFill>
            <a:srgbClr val="0A7F44"/>
          </a:solidFill>
          <a:ln w="12700">
            <a:solidFill>
              <a:srgbClr val="0A7F44"/>
            </a:solidFill>
            <a:prstDash val="solid"/>
          </a:ln>
        </p:spPr>
      </p:sp>
      <p:sp>
        <p:nvSpPr>
          <p:cNvPr id="27" name="Text 25"/>
          <p:cNvSpPr txBox="1"/>
          <p:nvPr/>
        </p:nvSpPr>
        <p:spPr>
          <a:xfrm>
            <a:off x="5029200" y="37216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8" name="Text 26"/>
          <p:cNvSpPr txBox="1"/>
          <p:nvPr/>
        </p:nvSpPr>
        <p:spPr>
          <a:xfrm>
            <a:off x="5486400" y="3666744"/>
            <a:ext cx="6156655" cy="420624"/>
          </a:xfrm>
          <a:prstGeom prst="rect">
            <a:avLst/>
          </a:prstGeom>
          <a:noFill/>
          <a:ln/>
        </p:spPr>
        <p:txBody>
          <a:bodyPr wrap="square" lIns="0" tIns="0" rIns="0" bIns="0" rtlCol="0" anchor="ctr"/>
          <a:lstStyle/>
          <a:p>
            <a:pPr indent="0" marL="0">
              <a:buNone/>
            </a:pPr>
            <a:r>
              <a:rPr lang="en-US" sz="1250" b="1" dirty="0">
                <a:solidFill>
                  <a:srgbClr val="0A0A0B"/>
                </a:solidFill>
              </a:rPr>
              <a:t>Longer reels: </a:t>
            </a:r>
            <a:pPr indent="0" marL="0">
              <a:buNone/>
            </a:pPr>
            <a:r>
              <a:rPr lang="en-US" sz="1250" dirty="0">
                <a:solidFill>
                  <a:srgbClr val="55555C"/>
                </a:solidFill>
              </a:rPr>
              <a:t>orbit replays beyond today's ±6–12°</a:t>
            </a:r>
            <a:endParaRPr lang="en-US" sz="1250" dirty="0"/>
          </a:p>
        </p:txBody>
      </p:sp>
      <p:sp>
        <p:nvSpPr>
          <p:cNvPr id="29" name="Shape 27"/>
          <p:cNvSpPr/>
          <p:nvPr/>
        </p:nvSpPr>
        <p:spPr>
          <a:xfrm>
            <a:off x="548640" y="4389120"/>
            <a:ext cx="3520440" cy="1417320"/>
          </a:xfrm>
          <a:prstGeom prst="roundRect">
            <a:avLst>
              <a:gd name="adj" fmla="val 5161"/>
            </a:avLst>
          </a:prstGeom>
          <a:solidFill>
            <a:srgbClr val="F3F6F4"/>
          </a:solidFill>
          <a:ln w="12700">
            <a:solidFill>
              <a:srgbClr val="F3F6F4"/>
            </a:solidFill>
            <a:prstDash val="solid"/>
          </a:ln>
        </p:spPr>
      </p:sp>
      <p:sp>
        <p:nvSpPr>
          <p:cNvPr id="30" name="Text 28"/>
          <p:cNvSpPr txBox="1"/>
          <p:nvPr/>
        </p:nvSpPr>
        <p:spPr>
          <a:xfrm>
            <a:off x="731520" y="4480560"/>
            <a:ext cx="3154680" cy="1261872"/>
          </a:xfrm>
          <a:prstGeom prst="rect">
            <a:avLst/>
          </a:prstGeom>
          <a:noFill/>
          <a:ln/>
        </p:spPr>
        <p:txBody>
          <a:bodyPr wrap="square" lIns="0" tIns="0" rIns="0" bIns="0" rtlCol="0" anchor="t"/>
          <a:lstStyle/>
          <a:p>
            <a:pPr indent="0" marL="0">
              <a:spcAft>
                <a:spcPts val="400"/>
              </a:spcAft>
              <a:buNone/>
            </a:pPr>
            <a:r>
              <a:rPr lang="en-US" sz="1300" b="1" dirty="0">
                <a:solidFill>
                  <a:srgbClr val="0A7F44"/>
                </a:solidFill>
              </a:rPr>
              <a:t>Best Build on Meta Open Weight Models</a:t>
            </a:r>
            <a:endParaRPr lang="en-US" sz="1300" dirty="0"/>
          </a:p>
          <a:p>
            <a:pPr indent="0" marL="0">
              <a:spcAft>
                <a:spcPts val="400"/>
              </a:spcAft>
              <a:buNone/>
            </a:pPr>
            <a:r>
              <a:rPr lang="en-US" sz="1150" dirty="0">
                <a:solidFill>
                  <a:srgbClr val="0A0A0B"/>
                </a:solidFill>
              </a:rPr>
              <a:t>Muse Glimmer, our two distilled Llama 3.2 1Bs, Llama Guard 3, Prompt Guard 2, SAM 2.1, Sapiens2 and MapAnything, on our own GPUs</a:t>
            </a:r>
            <a:endParaRPr lang="en-US" sz="1300" dirty="0"/>
          </a:p>
        </p:txBody>
      </p:sp>
      <p:sp>
        <p:nvSpPr>
          <p:cNvPr id="31" name="Shape 29"/>
          <p:cNvSpPr/>
          <p:nvPr/>
        </p:nvSpPr>
        <p:spPr>
          <a:xfrm>
            <a:off x="4297680" y="4389120"/>
            <a:ext cx="3520440" cy="1417320"/>
          </a:xfrm>
          <a:prstGeom prst="roundRect">
            <a:avLst>
              <a:gd name="adj" fmla="val 5161"/>
            </a:avLst>
          </a:prstGeom>
          <a:solidFill>
            <a:srgbClr val="F3F6F4"/>
          </a:solidFill>
          <a:ln w="12700">
            <a:solidFill>
              <a:srgbClr val="F3F6F4"/>
            </a:solidFill>
            <a:prstDash val="solid"/>
          </a:ln>
        </p:spPr>
      </p:sp>
      <p:sp>
        <p:nvSpPr>
          <p:cNvPr id="32" name="Text 30"/>
          <p:cNvSpPr txBox="1"/>
          <p:nvPr/>
        </p:nvSpPr>
        <p:spPr>
          <a:xfrm>
            <a:off x="4480560" y="4480560"/>
            <a:ext cx="3154680" cy="1261872"/>
          </a:xfrm>
          <a:prstGeom prst="rect">
            <a:avLst/>
          </a:prstGeom>
          <a:noFill/>
          <a:ln/>
        </p:spPr>
        <p:txBody>
          <a:bodyPr wrap="square" lIns="0" tIns="0" rIns="0" bIns="0" rtlCol="0" anchor="t"/>
          <a:lstStyle/>
          <a:p>
            <a:pPr indent="0" marL="0">
              <a:spcAft>
                <a:spcPts val="400"/>
              </a:spcAft>
              <a:buNone/>
            </a:pPr>
            <a:r>
              <a:rPr lang="en-US" sz="1300" b="1" dirty="0">
                <a:solidFill>
                  <a:srgbClr val="0A7F44"/>
                </a:solidFill>
              </a:rPr>
              <a:t>Best Agentic Use-Case</a:t>
            </a:r>
            <a:endParaRPr lang="en-US" sz="1300" dirty="0"/>
          </a:p>
          <a:p>
            <a:pPr indent="0" marL="0">
              <a:spcAft>
                <a:spcPts val="400"/>
              </a:spcAft>
              <a:buNone/>
            </a:pPr>
            <a:r>
              <a:rPr lang="en-US" sz="1150" dirty="0">
                <a:solidFill>
                  <a:srgbClr val="0A0A0B"/>
                </a:solidFill>
              </a:rPr>
              <a:t>every person's agent negotiates over A2A v1.0 with signed facts, holds and one well-chosen question</a:t>
            </a:r>
            <a:endParaRPr lang="en-US" sz="1300" dirty="0"/>
          </a:p>
        </p:txBody>
      </p:sp>
      <p:sp>
        <p:nvSpPr>
          <p:cNvPr id="33" name="Shape 31"/>
          <p:cNvSpPr/>
          <p:nvPr/>
        </p:nvSpPr>
        <p:spPr>
          <a:xfrm>
            <a:off x="8046720" y="4389120"/>
            <a:ext cx="3520440" cy="1417320"/>
          </a:xfrm>
          <a:prstGeom prst="roundRect">
            <a:avLst>
              <a:gd name="adj" fmla="val 5161"/>
            </a:avLst>
          </a:prstGeom>
          <a:solidFill>
            <a:srgbClr val="F3F6F4"/>
          </a:solidFill>
          <a:ln w="12700">
            <a:solidFill>
              <a:srgbClr val="F3F6F4"/>
            </a:solidFill>
            <a:prstDash val="solid"/>
          </a:ln>
        </p:spPr>
      </p:sp>
      <p:sp>
        <p:nvSpPr>
          <p:cNvPr id="34" name="Text 32"/>
          <p:cNvSpPr txBox="1"/>
          <p:nvPr/>
        </p:nvSpPr>
        <p:spPr>
          <a:xfrm>
            <a:off x="8229600" y="4480560"/>
            <a:ext cx="3154680" cy="1261872"/>
          </a:xfrm>
          <a:prstGeom prst="rect">
            <a:avLst/>
          </a:prstGeom>
          <a:noFill/>
          <a:ln/>
        </p:spPr>
        <p:txBody>
          <a:bodyPr wrap="square" lIns="0" tIns="0" rIns="0" bIns="0" rtlCol="0" anchor="t"/>
          <a:lstStyle/>
          <a:p>
            <a:pPr indent="0" marL="0">
              <a:spcAft>
                <a:spcPts val="400"/>
              </a:spcAft>
              <a:buNone/>
            </a:pPr>
            <a:r>
              <a:rPr lang="en-US" sz="1300" b="1" dirty="0">
                <a:solidFill>
                  <a:srgbClr val="0A7F44"/>
                </a:solidFill>
              </a:rPr>
              <a:t>Best Creative Build</a:t>
            </a:r>
            <a:endParaRPr lang="en-US" sz="1300" dirty="0"/>
          </a:p>
          <a:p>
            <a:pPr indent="0" marL="0">
              <a:spcAft>
                <a:spcPts val="400"/>
              </a:spcAft>
              <a:buNone/>
            </a:pPr>
            <a:r>
              <a:rPr lang="en-US" sz="1150" dirty="0">
                <a:solidFill>
                  <a:srgbClr val="0A0A0B"/>
                </a:solidFill>
              </a:rPr>
              <a:t>social reels from one phone video: 3D orbit replays and automatic highlights friends share</a:t>
            </a:r>
            <a:endParaRPr lang="en-US" sz="1300" dirty="0"/>
          </a:p>
        </p:txBody>
      </p:sp>
      <p:sp>
        <p:nvSpPr>
          <p:cNvPr id="35" name="Text 33"/>
          <p:cNvSpPr txBox="1"/>
          <p:nvPr/>
        </p:nvSpPr>
        <p:spPr>
          <a:xfrm>
            <a:off x="548640" y="6144768"/>
            <a:ext cx="10545775" cy="274320"/>
          </a:xfrm>
          <a:prstGeom prst="rect">
            <a:avLst/>
          </a:prstGeom>
          <a:noFill/>
          <a:ln/>
        </p:spPr>
        <p:txBody>
          <a:bodyPr wrap="square" lIns="0" tIns="0" rIns="0" bIns="0" rtlCol="0" anchor="b"/>
          <a:lstStyle/>
          <a:p>
            <a:pPr indent="0" marL="0">
              <a:buNone/>
            </a:pPr>
            <a:r>
              <a:rPr lang="en-US" sz="900" dirty="0">
                <a:solidFill>
                  <a:srgbClr val="8A8A92"/>
                </a:solidFill>
              </a:rPr>
              <a:t>Live: play.theminimallab.com · Code: github.com/gino6178/serve-meta-hackathon · Every number from submission/results/ · Everything built in the hackathon except the TrackNetV5 library.</a:t>
            </a:r>
            <a:endParaRPr lang="en-US" sz="9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Appendix</a:t>
            </a: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Full Benchmark &amp; Ablation Data</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People stop playing because organising is hard: 64.2% cannot fit the times</a:t>
            </a:r>
            <a:endParaRPr lang="en-US" sz="2400" dirty="0"/>
          </a:p>
        </p:txBody>
      </p:sp>
      <p:pic>
        <p:nvPicPr>
          <p:cNvPr id="3" name="Image 0" descr="preencoded.png">    </p:cNvPr>
          <p:cNvPicPr>
            <a:picLocks noChangeAspect="1"/>
          </p:cNvPicPr>
          <p:nvPr/>
        </p:nvPicPr>
        <p:blipFill>
          <a:blip r:embed="rId1"/>
          <a:stretch>
            <a:fillRect/>
          </a:stretch>
        </p:blipFill>
        <p:spPr>
          <a:xfrm>
            <a:off x="548640" y="1280160"/>
            <a:ext cx="6858000" cy="4572000"/>
          </a:xfrm>
          <a:prstGeom prst="rect">
            <a:avLst/>
          </a:prstGeom>
        </p:spPr>
      </p:pic>
      <p:sp>
        <p:nvSpPr>
          <p:cNvPr id="4" name="Text 1"/>
          <p:cNvSpPr txBox="1"/>
          <p:nvPr/>
        </p:nvSpPr>
        <p:spPr>
          <a:xfrm>
            <a:off x="548640" y="5897880"/>
            <a:ext cx="6858000" cy="274320"/>
          </a:xfrm>
          <a:prstGeom prst="rect">
            <a:avLst/>
          </a:prstGeom>
          <a:noFill/>
          <a:ln/>
        </p:spPr>
        <p:txBody>
          <a:bodyPr wrap="square" lIns="0" tIns="0" rIns="0" bIns="0" rtlCol="0" anchor="ctr"/>
          <a:lstStyle/>
          <a:p>
            <a:pPr indent="0" marL="0">
              <a:buNone/>
            </a:pPr>
            <a:r>
              <a:rPr lang="en-US" sz="1000" i="1" dirty="0">
                <a:solidFill>
                  <a:srgbClr val="8A8A92"/>
                </a:solidFill>
              </a:rPr>
              <a:t>Illustration made with Muse Image (Meta Model API)</a:t>
            </a:r>
            <a:endParaRPr lang="en-US" sz="1000" dirty="0"/>
          </a:p>
        </p:txBody>
      </p:sp>
      <p:sp>
        <p:nvSpPr>
          <p:cNvPr id="5" name="Text 2"/>
          <p:cNvSpPr txBox="1"/>
          <p:nvPr/>
        </p:nvSpPr>
        <p:spPr>
          <a:xfrm>
            <a:off x="7818120" y="1371600"/>
            <a:ext cx="3840480" cy="365760"/>
          </a:xfrm>
          <a:prstGeom prst="rect">
            <a:avLst/>
          </a:prstGeom>
          <a:noFill/>
          <a:ln/>
        </p:spPr>
        <p:txBody>
          <a:bodyPr wrap="square" lIns="0" tIns="0" rIns="0" bIns="0" rtlCol="0" anchor="ctr"/>
          <a:lstStyle/>
          <a:p>
            <a:pPr indent="0" marL="0">
              <a:buNone/>
            </a:pPr>
            <a:r>
              <a:rPr lang="en-US" sz="1500" b="1" dirty="0">
                <a:solidFill>
                  <a:srgbClr val="0A0A0B"/>
                </a:solidFill>
              </a:rPr>
              <a:t>What stops adults playing regularly</a:t>
            </a:r>
            <a:endParaRPr lang="en-US" sz="1500" dirty="0"/>
          </a:p>
        </p:txBody>
      </p:sp>
      <p:sp>
        <p:nvSpPr>
          <p:cNvPr id="6" name="Text 3"/>
          <p:cNvSpPr txBox="1"/>
          <p:nvPr/>
        </p:nvSpPr>
        <p:spPr>
          <a:xfrm>
            <a:off x="7818120" y="1874520"/>
            <a:ext cx="1737360" cy="685800"/>
          </a:xfrm>
          <a:prstGeom prst="rect">
            <a:avLst/>
          </a:prstGeom>
          <a:noFill/>
          <a:ln/>
        </p:spPr>
        <p:txBody>
          <a:bodyPr wrap="square" lIns="0" tIns="0" rIns="0" bIns="0" rtlCol="0" anchor="ctr"/>
          <a:lstStyle/>
          <a:p>
            <a:pPr indent="0" marL="0">
              <a:buNone/>
            </a:pPr>
            <a:r>
              <a:rPr lang="en-US" sz="3400" b="1" dirty="0">
                <a:solidFill>
                  <a:srgbClr val="D1352B"/>
                </a:solidFill>
              </a:rPr>
              <a:t>64.2%</a:t>
            </a:r>
            <a:endParaRPr lang="en-US" sz="3400" dirty="0"/>
          </a:p>
        </p:txBody>
      </p:sp>
      <p:sp>
        <p:nvSpPr>
          <p:cNvPr id="7" name="Text 4"/>
          <p:cNvSpPr txBox="1"/>
          <p:nvPr/>
        </p:nvSpPr>
        <p:spPr>
          <a:xfrm>
            <a:off x="9601200" y="1874520"/>
            <a:ext cx="2057400" cy="685800"/>
          </a:xfrm>
          <a:prstGeom prst="rect">
            <a:avLst/>
          </a:prstGeom>
          <a:noFill/>
          <a:ln/>
        </p:spPr>
        <p:txBody>
          <a:bodyPr wrap="square" lIns="0" tIns="0" rIns="0" bIns="0" rtlCol="0" anchor="ctr"/>
          <a:lstStyle/>
          <a:p>
            <a:pPr indent="0" marL="0">
              <a:buNone/>
            </a:pPr>
            <a:r>
              <a:rPr lang="en-US" sz="1250" dirty="0">
                <a:solidFill>
                  <a:srgbClr val="0A0A0B"/>
                </a:solidFill>
              </a:rPr>
              <a:t>times that are hard to fit around other commitments</a:t>
            </a:r>
            <a:endParaRPr lang="en-US" sz="1250" dirty="0"/>
          </a:p>
        </p:txBody>
      </p:sp>
      <p:sp>
        <p:nvSpPr>
          <p:cNvPr id="8" name="Text 5"/>
          <p:cNvSpPr txBox="1"/>
          <p:nvPr/>
        </p:nvSpPr>
        <p:spPr>
          <a:xfrm>
            <a:off x="7818120" y="2587752"/>
            <a:ext cx="3840480" cy="320040"/>
          </a:xfrm>
          <a:prstGeom prst="rect">
            <a:avLst/>
          </a:prstGeom>
          <a:noFill/>
          <a:ln/>
        </p:spPr>
        <p:txBody>
          <a:bodyPr wrap="square" lIns="0" tIns="0" rIns="0" bIns="0" rtlCol="0" anchor="ctr"/>
          <a:lstStyle/>
          <a:p>
            <a:pPr indent="0" marL="0">
              <a:buNone/>
            </a:pPr>
            <a:r>
              <a:rPr lang="en-US" sz="1150" b="1" dirty="0">
                <a:solidFill>
                  <a:srgbClr val="0A7F44"/>
                </a:solidFill>
              </a:rPr>
              <a:t>answered by Talk</a:t>
            </a:r>
            <a:endParaRPr lang="en-US" sz="1150" dirty="0"/>
          </a:p>
        </p:txBody>
      </p:sp>
      <p:sp>
        <p:nvSpPr>
          <p:cNvPr id="9" name="Text 6"/>
          <p:cNvSpPr txBox="1"/>
          <p:nvPr/>
        </p:nvSpPr>
        <p:spPr>
          <a:xfrm>
            <a:off x="7818120" y="3200400"/>
            <a:ext cx="1737360" cy="685800"/>
          </a:xfrm>
          <a:prstGeom prst="rect">
            <a:avLst/>
          </a:prstGeom>
          <a:noFill/>
          <a:ln/>
        </p:spPr>
        <p:txBody>
          <a:bodyPr wrap="square" lIns="0" tIns="0" rIns="0" bIns="0" rtlCol="0" anchor="ctr"/>
          <a:lstStyle/>
          <a:p>
            <a:pPr indent="0" marL="0">
              <a:buNone/>
            </a:pPr>
            <a:r>
              <a:rPr lang="en-US" sz="3400" b="1" dirty="0">
                <a:solidFill>
                  <a:srgbClr val="0A0A0B"/>
                </a:solidFill>
              </a:rPr>
              <a:t>21.3%</a:t>
            </a:r>
            <a:endParaRPr lang="en-US" sz="3400" dirty="0"/>
          </a:p>
        </p:txBody>
      </p:sp>
      <p:sp>
        <p:nvSpPr>
          <p:cNvPr id="10" name="Text 7"/>
          <p:cNvSpPr txBox="1"/>
          <p:nvPr/>
        </p:nvSpPr>
        <p:spPr>
          <a:xfrm>
            <a:off x="9601200" y="3200400"/>
            <a:ext cx="2057400" cy="685800"/>
          </a:xfrm>
          <a:prstGeom prst="rect">
            <a:avLst/>
          </a:prstGeom>
          <a:noFill/>
          <a:ln/>
        </p:spPr>
        <p:txBody>
          <a:bodyPr wrap="square" lIns="0" tIns="0" rIns="0" bIns="0" rtlCol="0" anchor="ctr"/>
          <a:lstStyle/>
          <a:p>
            <a:pPr indent="0" marL="0">
              <a:buNone/>
            </a:pPr>
            <a:r>
              <a:rPr lang="en-US" sz="1250" dirty="0">
                <a:solidFill>
                  <a:srgbClr val="0A0A0B"/>
                </a:solidFill>
              </a:rPr>
              <a:t>no way to keep the habit going</a:t>
            </a:r>
            <a:endParaRPr lang="en-US" sz="1250" dirty="0"/>
          </a:p>
        </p:txBody>
      </p:sp>
      <p:sp>
        <p:nvSpPr>
          <p:cNvPr id="11" name="Text 8"/>
          <p:cNvSpPr txBox="1"/>
          <p:nvPr/>
        </p:nvSpPr>
        <p:spPr>
          <a:xfrm>
            <a:off x="7818120" y="3913632"/>
            <a:ext cx="3840480" cy="320040"/>
          </a:xfrm>
          <a:prstGeom prst="rect">
            <a:avLst/>
          </a:prstGeom>
          <a:noFill/>
          <a:ln/>
        </p:spPr>
        <p:txBody>
          <a:bodyPr wrap="square" lIns="0" tIns="0" rIns="0" bIns="0" rtlCol="0" anchor="ctr"/>
          <a:lstStyle/>
          <a:p>
            <a:pPr indent="0" marL="0">
              <a:buNone/>
            </a:pPr>
            <a:r>
              <a:rPr lang="en-US" sz="1150" b="1" dirty="0">
                <a:solidFill>
                  <a:srgbClr val="0A7F44"/>
                </a:solidFill>
              </a:rPr>
              <a:t>answered by Match</a:t>
            </a:r>
            <a:endParaRPr lang="en-US" sz="1150" dirty="0"/>
          </a:p>
        </p:txBody>
      </p:sp>
      <p:sp>
        <p:nvSpPr>
          <p:cNvPr id="12" name="Text 9"/>
          <p:cNvSpPr txBox="1"/>
          <p:nvPr/>
        </p:nvSpPr>
        <p:spPr>
          <a:xfrm>
            <a:off x="7818120" y="4526280"/>
            <a:ext cx="1737360" cy="685800"/>
          </a:xfrm>
          <a:prstGeom prst="rect">
            <a:avLst/>
          </a:prstGeom>
          <a:noFill/>
          <a:ln/>
        </p:spPr>
        <p:txBody>
          <a:bodyPr wrap="square" lIns="0" tIns="0" rIns="0" bIns="0" rtlCol="0" anchor="ctr"/>
          <a:lstStyle/>
          <a:p>
            <a:pPr indent="0" marL="0">
              <a:buNone/>
            </a:pPr>
            <a:r>
              <a:rPr lang="en-US" sz="3400" b="1" dirty="0">
                <a:solidFill>
                  <a:srgbClr val="0A0A0B"/>
                </a:solidFill>
              </a:rPr>
              <a:t>26%</a:t>
            </a:r>
            <a:endParaRPr lang="en-US" sz="3400" dirty="0"/>
          </a:p>
        </p:txBody>
      </p:sp>
      <p:sp>
        <p:nvSpPr>
          <p:cNvPr id="13" name="Text 10"/>
          <p:cNvSpPr txBox="1"/>
          <p:nvPr/>
        </p:nvSpPr>
        <p:spPr>
          <a:xfrm>
            <a:off x="9601200" y="4526280"/>
            <a:ext cx="2057400" cy="685800"/>
          </a:xfrm>
          <a:prstGeom prst="rect">
            <a:avLst/>
          </a:prstGeom>
          <a:noFill/>
          <a:ln/>
        </p:spPr>
        <p:txBody>
          <a:bodyPr wrap="square" lIns="0" tIns="0" rIns="0" bIns="0" rtlCol="0" anchor="ctr"/>
          <a:lstStyle/>
          <a:p>
            <a:pPr indent="0" marL="0">
              <a:buNone/>
            </a:pPr>
            <a:r>
              <a:rPr lang="en-US" sz="1250" dirty="0">
                <a:solidFill>
                  <a:srgbClr val="0A0A0B"/>
                </a:solidFill>
              </a:rPr>
              <a:t>of 26 to 49 year olds play a sport, against 40% at 18 to 21</a:t>
            </a:r>
            <a:endParaRPr lang="en-US" sz="1250" dirty="0"/>
          </a:p>
        </p:txBody>
      </p:sp>
      <p:sp>
        <p:nvSpPr>
          <p:cNvPr id="14" name="Text 11"/>
          <p:cNvSpPr txBox="1"/>
          <p:nvPr/>
        </p:nvSpPr>
        <p:spPr>
          <a:xfrm>
            <a:off x="7818120" y="5239512"/>
            <a:ext cx="3840480" cy="320040"/>
          </a:xfrm>
          <a:prstGeom prst="rect">
            <a:avLst/>
          </a:prstGeom>
          <a:noFill/>
          <a:ln/>
        </p:spPr>
        <p:txBody>
          <a:bodyPr wrap="square" lIns="0" tIns="0" rIns="0" bIns="0" rtlCol="0" anchor="ctr"/>
          <a:lstStyle/>
          <a:p>
            <a:pPr indent="0" marL="0">
              <a:buNone/>
            </a:pPr>
            <a:r>
              <a:rPr lang="en-US" sz="1150" b="1" dirty="0">
                <a:solidFill>
                  <a:srgbClr val="0A7F44"/>
                </a:solidFill>
              </a:rPr>
              <a:t>answered by all three</a:t>
            </a:r>
            <a:endParaRPr lang="en-US" sz="1150" dirty="0"/>
          </a:p>
        </p:txBody>
      </p:sp>
      <p:sp>
        <p:nvSpPr>
          <p:cNvPr id="15" name="Text 12"/>
          <p:cNvSpPr txBox="1"/>
          <p:nvPr/>
        </p:nvSpPr>
        <p:spPr>
          <a:xfrm>
            <a:off x="7818120" y="5897880"/>
            <a:ext cx="3840480" cy="274320"/>
          </a:xfrm>
          <a:prstGeom prst="rect">
            <a:avLst/>
          </a:prstGeom>
          <a:noFill/>
          <a:ln/>
        </p:spPr>
        <p:txBody>
          <a:bodyPr wrap="square" lIns="0" tIns="0" rIns="0" bIns="0" rtlCol="0" anchor="ctr"/>
          <a:lstStyle/>
          <a:p>
            <a:pPr indent="0" marL="0">
              <a:buNone/>
            </a:pPr>
            <a:r>
              <a:rPr lang="en-US" sz="1000" dirty="0">
                <a:solidFill>
                  <a:srgbClr val="8A8A92"/>
                </a:solidFill>
              </a:rPr>
              <a:t>[1] NPR, RWJF and Harvard Chan, 2015; [2] Sport New Zealand, Active NZ, 2023</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The pain, in numbers</a:t>
            </a:r>
            <a:endParaRPr lang="en-US" sz="2400" dirty="0"/>
          </a:p>
        </p:txBody>
      </p:sp>
      <p:pic>
        <p:nvPicPr>
          <p:cNvPr id="3" name="Image 0" descr="preencoded.png">    </p:cNvPr>
          <p:cNvPicPr>
            <a:picLocks noChangeAspect="1"/>
          </p:cNvPicPr>
          <p:nvPr/>
        </p:nvPicPr>
        <p:blipFill>
          <a:blip r:embed="rId1"/>
          <a:stretch>
            <a:fillRect/>
          </a:stretch>
        </p:blipFill>
        <p:spPr>
          <a:xfrm>
            <a:off x="1751044" y="1188720"/>
            <a:ext cx="868960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Share of people who play a sport, by age (NPR, RWJF and Harvard Chan poll, 2015). (b) Barriers adults name for not playing regularly (Sport New Zealand, Active NZ, 2023). Talk answers the first barrier, Match the second, the agents the third.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Three helpers take the friction out, for anyone, anywhere</a:t>
            </a:r>
            <a:endParaRPr lang="en-US" sz="2400" dirty="0"/>
          </a:p>
        </p:txBody>
      </p:sp>
      <p:sp>
        <p:nvSpPr>
          <p:cNvPr id="3" name="Shape 1"/>
          <p:cNvSpPr/>
          <p:nvPr/>
        </p:nvSpPr>
        <p:spPr>
          <a:xfrm>
            <a:off x="548640" y="1280160"/>
            <a:ext cx="3520440" cy="2514600"/>
          </a:xfrm>
          <a:prstGeom prst="roundRect">
            <a:avLst>
              <a:gd name="adj" fmla="val 2909"/>
            </a:avLst>
          </a:prstGeom>
          <a:solidFill>
            <a:srgbClr val="F3F6F4"/>
          </a:solidFill>
          <a:ln w="12700">
            <a:solidFill>
              <a:srgbClr val="F3F6F4"/>
            </a:solidFill>
            <a:prstDash val="solid"/>
          </a:ln>
        </p:spPr>
      </p:sp>
      <p:sp>
        <p:nvSpPr>
          <p:cNvPr id="4" name="Shape 2"/>
          <p:cNvSpPr/>
          <p:nvPr/>
        </p:nvSpPr>
        <p:spPr>
          <a:xfrm>
            <a:off x="777240" y="1463040"/>
            <a:ext cx="548640" cy="548640"/>
          </a:xfrm>
          <a:prstGeom prst="ellipse">
            <a:avLst/>
          </a:prstGeom>
          <a:solidFill>
            <a:srgbClr val="0A7F44"/>
          </a:solidFill>
          <a:ln w="12700">
            <a:solidFill>
              <a:srgbClr val="0A7F44"/>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46304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Match</a:t>
            </a:r>
            <a:endParaRPr lang="en-US" sz="1800" dirty="0"/>
          </a:p>
          <a:p>
            <a:pPr indent="0" marL="0">
              <a:buNone/>
            </a:pPr>
            <a:r>
              <a:rPr lang="en-US" sz="1200" dirty="0">
                <a:solidFill>
                  <a:srgbClr val="55555C"/>
                </a:solidFill>
              </a:rPr>
              <a:t>asks first</a:t>
            </a:r>
            <a:endParaRPr lang="en-US" sz="1800" dirty="0"/>
          </a:p>
        </p:txBody>
      </p:sp>
      <p:sp>
        <p:nvSpPr>
          <p:cNvPr id="7" name="Text 5"/>
          <p:cNvSpPr txBox="1"/>
          <p:nvPr/>
        </p:nvSpPr>
        <p:spPr>
          <a:xfrm>
            <a:off x="77724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“Thursday 19:00: Leo is free. Want a game?” It learns the player's usual times and asks when one is open and the people they play best with are free.</a:t>
            </a:r>
            <a:endParaRPr lang="en-US" sz="1250" dirty="0"/>
          </a:p>
        </p:txBody>
      </p:sp>
      <p:sp>
        <p:nvSpPr>
          <p:cNvPr id="8" name="Shape 6"/>
          <p:cNvSpPr/>
          <p:nvPr/>
        </p:nvSpPr>
        <p:spPr>
          <a:xfrm>
            <a:off x="4297680" y="1280160"/>
            <a:ext cx="3520440" cy="2514600"/>
          </a:xfrm>
          <a:prstGeom prst="roundRect">
            <a:avLst>
              <a:gd name="adj" fmla="val 2909"/>
            </a:avLst>
          </a:prstGeom>
          <a:solidFill>
            <a:srgbClr val="F3F6F4"/>
          </a:solidFill>
          <a:ln w="12700">
            <a:solidFill>
              <a:srgbClr val="F3F6F4"/>
            </a:solidFill>
            <a:prstDash val="solid"/>
          </a:ln>
        </p:spPr>
      </p:sp>
      <p:sp>
        <p:nvSpPr>
          <p:cNvPr id="9" name="Shape 7"/>
          <p:cNvSpPr/>
          <p:nvPr/>
        </p:nvSpPr>
        <p:spPr>
          <a:xfrm>
            <a:off x="4526280" y="1463040"/>
            <a:ext cx="548640" cy="548640"/>
          </a:xfrm>
          <a:prstGeom prst="ellipse">
            <a:avLst/>
          </a:prstGeom>
          <a:solidFill>
            <a:srgbClr val="0064E0"/>
          </a:solidFill>
          <a:ln w="12700">
            <a:solidFill>
              <a:srgbClr val="0064E0"/>
            </a:solidFill>
            <a:prstDash val="solid"/>
          </a:ln>
        </p:spPr>
      </p:sp>
      <p:sp>
        <p:nvSpPr>
          <p:cNvPr id="10" name="Text 8"/>
          <p:cNvSpPr txBox="1"/>
          <p:nvPr/>
        </p:nvSpPr>
        <p:spPr>
          <a:xfrm>
            <a:off x="452628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521208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Talk</a:t>
            </a:r>
            <a:endParaRPr lang="en-US" sz="1800" dirty="0"/>
          </a:p>
          <a:p>
            <a:pPr indent="0" marL="0">
              <a:buNone/>
            </a:pPr>
            <a:r>
              <a:rPr lang="en-US" sz="1200" dirty="0">
                <a:solidFill>
                  <a:srgbClr val="55555C"/>
                </a:solidFill>
              </a:rPr>
              <a:t>agents agree on their own</a:t>
            </a:r>
            <a:endParaRPr lang="en-US" sz="1800" dirty="0"/>
          </a:p>
        </p:txBody>
      </p:sp>
      <p:sp>
        <p:nvSpPr>
          <p:cNvPr id="12" name="Text 10"/>
          <p:cNvSpPr txBox="1"/>
          <p:nvPr/>
        </p:nvSpPr>
        <p:spPr>
          <a:xfrm>
            <a:off x="452628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The person only says they want to play. Each player's agent agrees the time, the people and the court with the others' agents in the background.</a:t>
            </a:r>
            <a:endParaRPr lang="en-US" sz="1250" dirty="0"/>
          </a:p>
        </p:txBody>
      </p:sp>
      <p:sp>
        <p:nvSpPr>
          <p:cNvPr id="13" name="Shape 11"/>
          <p:cNvSpPr/>
          <p:nvPr/>
        </p:nvSpPr>
        <p:spPr>
          <a:xfrm>
            <a:off x="8046720" y="1280160"/>
            <a:ext cx="3520440" cy="2514600"/>
          </a:xfrm>
          <a:prstGeom prst="roundRect">
            <a:avLst>
              <a:gd name="adj" fmla="val 2909"/>
            </a:avLst>
          </a:prstGeom>
          <a:solidFill>
            <a:srgbClr val="F3F6F4"/>
          </a:solidFill>
          <a:ln w="12700">
            <a:solidFill>
              <a:srgbClr val="F3F6F4"/>
            </a:solidFill>
            <a:prstDash val="solid"/>
          </a:ln>
        </p:spPr>
      </p:sp>
      <p:sp>
        <p:nvSpPr>
          <p:cNvPr id="14" name="Shape 12"/>
          <p:cNvSpPr/>
          <p:nvPr/>
        </p:nvSpPr>
        <p:spPr>
          <a:xfrm>
            <a:off x="8275320" y="1463040"/>
            <a:ext cx="548640" cy="548640"/>
          </a:xfrm>
          <a:prstGeom prst="ellipse">
            <a:avLst/>
          </a:prstGeom>
          <a:solidFill>
            <a:srgbClr val="B26A00"/>
          </a:solidFill>
          <a:ln w="12700">
            <a:solidFill>
              <a:srgbClr val="B26A00"/>
            </a:solidFill>
            <a:prstDash val="solid"/>
          </a:ln>
        </p:spPr>
      </p:sp>
      <p:sp>
        <p:nvSpPr>
          <p:cNvPr id="15" name="Text 13"/>
          <p:cNvSpPr txBox="1"/>
          <p:nvPr/>
        </p:nvSpPr>
        <p:spPr>
          <a:xfrm>
            <a:off x="827532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Text 14"/>
          <p:cNvSpPr txBox="1"/>
          <p:nvPr/>
        </p:nvSpPr>
        <p:spPr>
          <a:xfrm>
            <a:off x="896112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Pace</a:t>
            </a:r>
            <a:endParaRPr lang="en-US" sz="1800" dirty="0"/>
          </a:p>
          <a:p>
            <a:pPr indent="0" marL="0">
              <a:buNone/>
            </a:pPr>
            <a:r>
              <a:rPr lang="en-US" sz="1200" dirty="0">
                <a:solidFill>
                  <a:srgbClr val="55555C"/>
                </a:solidFill>
              </a:rPr>
              <a:t>schedules around your load</a:t>
            </a:r>
            <a:endParaRPr lang="en-US" sz="1800" dirty="0"/>
          </a:p>
        </p:txBody>
      </p:sp>
      <p:sp>
        <p:nvSpPr>
          <p:cNvPr id="17" name="Text 15"/>
          <p:cNvSpPr txBox="1"/>
          <p:nvPr/>
        </p:nvSpPr>
        <p:spPr>
          <a:xfrm>
            <a:off x="827532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Training load from a health-app export becomes a scheduling limit: one game fewer in a heavy week, doubles instead of singles. No diagnosis, no treatment, no dose.</a:t>
            </a:r>
            <a:endParaRPr lang="en-US" sz="1250" dirty="0"/>
          </a:p>
        </p:txBody>
      </p:sp>
      <p:sp>
        <p:nvSpPr>
          <p:cNvPr id="18" name="Text 16"/>
          <p:cNvSpPr txBox="1"/>
          <p:nvPr/>
        </p:nvSpPr>
        <p:spPr>
          <a:xfrm>
            <a:off x="548640" y="4023360"/>
            <a:ext cx="11094415" cy="365760"/>
          </a:xfrm>
          <a:prstGeom prst="rect">
            <a:avLst/>
          </a:prstGeom>
          <a:noFill/>
          <a:ln/>
        </p:spPr>
        <p:txBody>
          <a:bodyPr wrap="square" lIns="0" tIns="0" rIns="0" bIns="0" rtlCol="0" anchor="ctr"/>
          <a:lstStyle/>
          <a:p>
            <a:pPr indent="0" marL="0">
              <a:buNone/>
            </a:pPr>
            <a:r>
              <a:rPr lang="en-US" sz="1400" b="1" dirty="0">
                <a:solidFill>
                  <a:srgbClr val="0A7F44"/>
                </a:solidFill>
              </a:rPr>
              <a:t>Build for Your World: any town with courts on OpenStreetMap, any ball sport, in a phone's browser and in Messenger</a:t>
            </a:r>
            <a:endParaRPr lang="en-US" sz="1400" dirty="0"/>
          </a:p>
        </p:txBody>
      </p:sp>
      <p:sp>
        <p:nvSpPr>
          <p:cNvPr id="19" name="Shape 17"/>
          <p:cNvSpPr/>
          <p:nvPr/>
        </p:nvSpPr>
        <p:spPr>
          <a:xfrm>
            <a:off x="548640" y="4526280"/>
            <a:ext cx="1444752" cy="457200"/>
          </a:xfrm>
          <a:prstGeom prst="roundRect">
            <a:avLst>
              <a:gd name="adj" fmla="val 50000"/>
            </a:avLst>
          </a:prstGeom>
          <a:solidFill>
            <a:srgbClr val="E9F3EC"/>
          </a:solidFill>
          <a:ln w="12700">
            <a:solidFill>
              <a:srgbClr val="E9F3EC"/>
            </a:solidFill>
            <a:prstDash val="solid"/>
          </a:ln>
        </p:spPr>
      </p:sp>
      <p:sp>
        <p:nvSpPr>
          <p:cNvPr id="20" name="Text 18"/>
          <p:cNvSpPr txBox="1"/>
          <p:nvPr/>
        </p:nvSpPr>
        <p:spPr>
          <a:xfrm>
            <a:off x="54864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badminton</a:t>
            </a:r>
            <a:endParaRPr lang="en-US" sz="1200" dirty="0"/>
          </a:p>
        </p:txBody>
      </p:sp>
      <p:sp>
        <p:nvSpPr>
          <p:cNvPr id="21" name="Shape 19"/>
          <p:cNvSpPr/>
          <p:nvPr/>
        </p:nvSpPr>
        <p:spPr>
          <a:xfrm>
            <a:off x="2130552" y="4526280"/>
            <a:ext cx="1444752" cy="457200"/>
          </a:xfrm>
          <a:prstGeom prst="roundRect">
            <a:avLst>
              <a:gd name="adj" fmla="val 50000"/>
            </a:avLst>
          </a:prstGeom>
          <a:solidFill>
            <a:srgbClr val="E9F3EC"/>
          </a:solidFill>
          <a:ln w="12700">
            <a:solidFill>
              <a:srgbClr val="E9F3EC"/>
            </a:solidFill>
            <a:prstDash val="solid"/>
          </a:ln>
        </p:spPr>
      </p:sp>
      <p:sp>
        <p:nvSpPr>
          <p:cNvPr id="22" name="Text 20"/>
          <p:cNvSpPr txBox="1"/>
          <p:nvPr/>
        </p:nvSpPr>
        <p:spPr>
          <a:xfrm>
            <a:off x="213055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tennis</a:t>
            </a:r>
            <a:endParaRPr lang="en-US" sz="1200" dirty="0"/>
          </a:p>
        </p:txBody>
      </p:sp>
      <p:sp>
        <p:nvSpPr>
          <p:cNvPr id="23" name="Shape 21"/>
          <p:cNvSpPr/>
          <p:nvPr/>
        </p:nvSpPr>
        <p:spPr>
          <a:xfrm>
            <a:off x="3712464" y="4526280"/>
            <a:ext cx="1444752" cy="457200"/>
          </a:xfrm>
          <a:prstGeom prst="roundRect">
            <a:avLst>
              <a:gd name="adj" fmla="val 50000"/>
            </a:avLst>
          </a:prstGeom>
          <a:solidFill>
            <a:srgbClr val="E9F3EC"/>
          </a:solidFill>
          <a:ln w="12700">
            <a:solidFill>
              <a:srgbClr val="E9F3EC"/>
            </a:solidFill>
            <a:prstDash val="solid"/>
          </a:ln>
        </p:spPr>
      </p:sp>
      <p:sp>
        <p:nvSpPr>
          <p:cNvPr id="24" name="Text 22"/>
          <p:cNvSpPr txBox="1"/>
          <p:nvPr/>
        </p:nvSpPr>
        <p:spPr>
          <a:xfrm>
            <a:off x="3712464"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pickleball</a:t>
            </a:r>
            <a:endParaRPr lang="en-US" sz="1200" dirty="0"/>
          </a:p>
        </p:txBody>
      </p:sp>
      <p:sp>
        <p:nvSpPr>
          <p:cNvPr id="25" name="Shape 23"/>
          <p:cNvSpPr/>
          <p:nvPr/>
        </p:nvSpPr>
        <p:spPr>
          <a:xfrm>
            <a:off x="5294376" y="4526280"/>
            <a:ext cx="1444752" cy="457200"/>
          </a:xfrm>
          <a:prstGeom prst="roundRect">
            <a:avLst>
              <a:gd name="adj" fmla="val 50000"/>
            </a:avLst>
          </a:prstGeom>
          <a:solidFill>
            <a:srgbClr val="E9F3EC"/>
          </a:solidFill>
          <a:ln w="12700">
            <a:solidFill>
              <a:srgbClr val="E9F3EC"/>
            </a:solidFill>
            <a:prstDash val="solid"/>
          </a:ln>
        </p:spPr>
      </p:sp>
      <p:sp>
        <p:nvSpPr>
          <p:cNvPr id="26" name="Text 24"/>
          <p:cNvSpPr txBox="1"/>
          <p:nvPr/>
        </p:nvSpPr>
        <p:spPr>
          <a:xfrm>
            <a:off x="5294376"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table tennis</a:t>
            </a:r>
            <a:endParaRPr lang="en-US" sz="1200" dirty="0"/>
          </a:p>
        </p:txBody>
      </p:sp>
      <p:sp>
        <p:nvSpPr>
          <p:cNvPr id="27" name="Shape 25"/>
          <p:cNvSpPr/>
          <p:nvPr/>
        </p:nvSpPr>
        <p:spPr>
          <a:xfrm>
            <a:off x="6876288" y="4526280"/>
            <a:ext cx="1444752" cy="457200"/>
          </a:xfrm>
          <a:prstGeom prst="roundRect">
            <a:avLst>
              <a:gd name="adj" fmla="val 50000"/>
            </a:avLst>
          </a:prstGeom>
          <a:solidFill>
            <a:srgbClr val="E9F3EC"/>
          </a:solidFill>
          <a:ln w="12700">
            <a:solidFill>
              <a:srgbClr val="E9F3EC"/>
            </a:solidFill>
            <a:prstDash val="solid"/>
          </a:ln>
        </p:spPr>
      </p:sp>
      <p:sp>
        <p:nvSpPr>
          <p:cNvPr id="28" name="Text 26"/>
          <p:cNvSpPr txBox="1"/>
          <p:nvPr/>
        </p:nvSpPr>
        <p:spPr>
          <a:xfrm>
            <a:off x="6876288"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basketball</a:t>
            </a:r>
            <a:endParaRPr lang="en-US" sz="1200" dirty="0"/>
          </a:p>
        </p:txBody>
      </p:sp>
      <p:sp>
        <p:nvSpPr>
          <p:cNvPr id="29" name="Shape 27"/>
          <p:cNvSpPr/>
          <p:nvPr/>
        </p:nvSpPr>
        <p:spPr>
          <a:xfrm>
            <a:off x="8458200" y="4526280"/>
            <a:ext cx="1444752" cy="457200"/>
          </a:xfrm>
          <a:prstGeom prst="roundRect">
            <a:avLst>
              <a:gd name="adj" fmla="val 50000"/>
            </a:avLst>
          </a:prstGeom>
          <a:solidFill>
            <a:srgbClr val="E9F3EC"/>
          </a:solidFill>
          <a:ln w="12700">
            <a:solidFill>
              <a:srgbClr val="E9F3EC"/>
            </a:solidFill>
            <a:prstDash val="solid"/>
          </a:ln>
        </p:spPr>
      </p:sp>
      <p:sp>
        <p:nvSpPr>
          <p:cNvPr id="30" name="Text 28"/>
          <p:cNvSpPr txBox="1"/>
          <p:nvPr/>
        </p:nvSpPr>
        <p:spPr>
          <a:xfrm>
            <a:off x="845820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volleyball</a:t>
            </a:r>
            <a:endParaRPr lang="en-US" sz="1200" dirty="0"/>
          </a:p>
        </p:txBody>
      </p:sp>
      <p:sp>
        <p:nvSpPr>
          <p:cNvPr id="31" name="Shape 29"/>
          <p:cNvSpPr/>
          <p:nvPr/>
        </p:nvSpPr>
        <p:spPr>
          <a:xfrm>
            <a:off x="10040112" y="4526280"/>
            <a:ext cx="1444752" cy="457200"/>
          </a:xfrm>
          <a:prstGeom prst="roundRect">
            <a:avLst>
              <a:gd name="adj" fmla="val 50000"/>
            </a:avLst>
          </a:prstGeom>
          <a:solidFill>
            <a:srgbClr val="E9F3EC"/>
          </a:solidFill>
          <a:ln w="12700">
            <a:solidFill>
              <a:srgbClr val="E9F3EC"/>
            </a:solidFill>
            <a:prstDash val="solid"/>
          </a:ln>
        </p:spPr>
      </p:sp>
      <p:sp>
        <p:nvSpPr>
          <p:cNvPr id="32" name="Text 30"/>
          <p:cNvSpPr txBox="1"/>
          <p:nvPr/>
        </p:nvSpPr>
        <p:spPr>
          <a:xfrm>
            <a:off x="1004011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soccer</a:t>
            </a:r>
            <a:endParaRPr lang="en-US" sz="1200" dirty="0"/>
          </a:p>
        </p:txBody>
      </p:sp>
      <p:sp>
        <p:nvSpPr>
          <p:cNvPr id="33" name="Text 31"/>
          <p:cNvSpPr txBox="1"/>
          <p:nvPr/>
        </p:nvSpPr>
        <p:spPr>
          <a:xfrm>
            <a:off x="54864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Groups nobody organises: </a:t>
            </a:r>
            <a:pPr indent="0" marL="0">
              <a:buNone/>
            </a:pPr>
            <a:r>
              <a:rPr lang="en-US" sz="1250" dirty="0">
                <a:solidFill>
                  <a:srgbClr val="0A0A0B"/>
                </a:solidFill>
              </a:rPr>
              <a:t>children's sessions with fair turns and no child accounts, gentle daytime doubles for older adults, charity round-robins that record pledges but handle no money</a:t>
            </a:r>
            <a:endParaRPr lang="en-US" sz="1250" dirty="0"/>
          </a:p>
        </p:txBody>
      </p:sp>
      <p:sp>
        <p:nvSpPr>
          <p:cNvPr id="34" name="Text 32"/>
          <p:cNvSpPr txBox="1"/>
          <p:nvPr/>
        </p:nvSpPr>
        <p:spPr>
          <a:xfrm>
            <a:off x="617220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Quiet courts: </a:t>
            </a:r>
            <a:pPr indent="0" marL="0">
              <a:buNone/>
            </a:pPr>
            <a:r>
              <a:rPr lang="en-US" sz="1250" dirty="0">
                <a:solidFill>
                  <a:srgbClr val="0A0A0B"/>
                </a:solidFill>
              </a:rPr>
              <a:t>a group's agent asks a venue's agent for a quiet-hour price, so venues fill empty hours</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Validated by 177 AI agents in 28 rounds: how a round worked</a:t>
            </a:r>
            <a:endParaRPr lang="en-US" sz="2400" dirty="0"/>
          </a:p>
        </p:txBody>
      </p:sp>
      <p:sp>
        <p:nvSpPr>
          <p:cNvPr id="3" name="Shape 1"/>
          <p:cNvSpPr/>
          <p:nvPr/>
        </p:nvSpPr>
        <p:spPr>
          <a:xfrm>
            <a:off x="548640" y="1325880"/>
            <a:ext cx="2468880" cy="1234440"/>
          </a:xfrm>
          <a:prstGeom prst="roundRect">
            <a:avLst>
              <a:gd name="adj" fmla="val 5926"/>
            </a:avLst>
          </a:prstGeom>
          <a:solidFill>
            <a:srgbClr val="F3F6F4"/>
          </a:solidFill>
          <a:ln w="12700">
            <a:solidFill>
              <a:srgbClr val="F3F6F4"/>
            </a:solidFill>
            <a:prstDash val="solid"/>
          </a:ln>
        </p:spPr>
      </p:sp>
      <p:sp>
        <p:nvSpPr>
          <p:cNvPr id="4" name="Text 2"/>
          <p:cNvSpPr txBox="1"/>
          <p:nvPr/>
        </p:nvSpPr>
        <p:spPr>
          <a:xfrm>
            <a:off x="685800"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Fresh local copy</a:t>
            </a:r>
            <a:endParaRPr lang="en-US" sz="1400" dirty="0"/>
          </a:p>
          <a:p>
            <a:pPr algn="ctr" indent="0" marL="0">
              <a:buNone/>
            </a:pPr>
            <a:r>
              <a:rPr lang="en-US" sz="1150" dirty="0">
                <a:solidFill>
                  <a:srgbClr val="55555C"/>
                </a:solidFill>
              </a:rPr>
              <a:t>same code as the live site; 12 neighbours, 3 clubs, 3 open games</a:t>
            </a:r>
            <a:endParaRPr lang="en-US" sz="1400" dirty="0"/>
          </a:p>
        </p:txBody>
      </p:sp>
      <p:sp>
        <p:nvSpPr>
          <p:cNvPr id="5" name="Shape 3"/>
          <p:cNvSpPr/>
          <p:nvPr/>
        </p:nvSpPr>
        <p:spPr>
          <a:xfrm>
            <a:off x="3035808" y="1938528"/>
            <a:ext cx="310896" cy="914"/>
          </a:xfrm>
          <a:prstGeom prst="line">
            <a:avLst/>
          </a:prstGeom>
          <a:noFill/>
          <a:ln w="25400">
            <a:solidFill>
              <a:srgbClr val="8A8A92"/>
            </a:solidFill>
            <a:prstDash val="solid"/>
            <a:tailEnd type="triangle"/>
          </a:ln>
        </p:spPr>
      </p:sp>
      <p:sp>
        <p:nvSpPr>
          <p:cNvPr id="6" name="Shape 4"/>
          <p:cNvSpPr/>
          <p:nvPr/>
        </p:nvSpPr>
        <p:spPr>
          <a:xfrm>
            <a:off x="3364992" y="1325880"/>
            <a:ext cx="2468880" cy="1234440"/>
          </a:xfrm>
          <a:prstGeom prst="roundRect">
            <a:avLst>
              <a:gd name="adj" fmla="val 5926"/>
            </a:avLst>
          </a:prstGeom>
          <a:solidFill>
            <a:srgbClr val="F3F6F4"/>
          </a:solidFill>
          <a:ln w="12700">
            <a:solidFill>
              <a:srgbClr val="F3F6F4"/>
            </a:solidFill>
            <a:prstDash val="solid"/>
          </a:ln>
        </p:spPr>
      </p:sp>
      <p:sp>
        <p:nvSpPr>
          <p:cNvPr id="7" name="Text 5"/>
          <p:cNvSpPr txBox="1"/>
          <p:nvPr/>
        </p:nvSpPr>
        <p:spPr>
          <a:xfrm>
            <a:off x="3502152"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Six new testers</a:t>
            </a:r>
            <a:endParaRPr lang="en-US" sz="1400" dirty="0"/>
          </a:p>
          <a:p>
            <a:pPr algn="ctr" indent="0" marL="0">
              <a:buNone/>
            </a:pPr>
            <a:r>
              <a:rPr lang="en-US" sz="1150" dirty="0">
                <a:solidFill>
                  <a:srgbClr val="55555C"/>
                </a:solidFill>
              </a:rPr>
              <a:t>each a fresh model with only a persona and the address</a:t>
            </a:r>
            <a:endParaRPr lang="en-US" sz="1400" dirty="0"/>
          </a:p>
        </p:txBody>
      </p:sp>
      <p:sp>
        <p:nvSpPr>
          <p:cNvPr id="8" name="Shape 6"/>
          <p:cNvSpPr/>
          <p:nvPr/>
        </p:nvSpPr>
        <p:spPr>
          <a:xfrm>
            <a:off x="5852160" y="1938528"/>
            <a:ext cx="310896" cy="914"/>
          </a:xfrm>
          <a:prstGeom prst="line">
            <a:avLst/>
          </a:prstGeom>
          <a:noFill/>
          <a:ln w="25400">
            <a:solidFill>
              <a:srgbClr val="8A8A92"/>
            </a:solidFill>
            <a:prstDash val="solid"/>
            <a:tailEnd type="triangle"/>
          </a:ln>
        </p:spPr>
      </p:sp>
      <p:sp>
        <p:nvSpPr>
          <p:cNvPr id="9" name="Shape 7"/>
          <p:cNvSpPr/>
          <p:nvPr/>
        </p:nvSpPr>
        <p:spPr>
          <a:xfrm>
            <a:off x="6181344" y="1325880"/>
            <a:ext cx="2468880" cy="1234440"/>
          </a:xfrm>
          <a:prstGeom prst="roundRect">
            <a:avLst>
              <a:gd name="adj" fmla="val 5926"/>
            </a:avLst>
          </a:prstGeom>
          <a:solidFill>
            <a:srgbClr val="F3F6F4"/>
          </a:solidFill>
          <a:ln w="12700">
            <a:solidFill>
              <a:srgbClr val="F3F6F4"/>
            </a:solidFill>
            <a:prstDash val="solid"/>
          </a:ln>
        </p:spPr>
      </p:sp>
      <p:sp>
        <p:nvSpPr>
          <p:cNvPr id="10" name="Text 8"/>
          <p:cNvSpPr txBox="1"/>
          <p:nvPr/>
        </p:nvSpPr>
        <p:spPr>
          <a:xfrm>
            <a:off x="6318504"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One verdict line</a:t>
            </a:r>
            <a:endParaRPr lang="en-US" sz="1400" dirty="0"/>
          </a:p>
          <a:p>
            <a:pPr algn="ctr" indent="0" marL="0">
              <a:buNone/>
            </a:pPr>
            <a:r>
              <a:rPr lang="en-US" sz="1150" dirty="0">
                <a:solidFill>
                  <a:srgbClr val="55555C"/>
                </a:solidFill>
              </a:rPr>
              <a:t>CLEAN, or n BLOCKER, m BUG; every request logged</a:t>
            </a:r>
            <a:endParaRPr lang="en-US" sz="1400" dirty="0"/>
          </a:p>
        </p:txBody>
      </p:sp>
      <p:sp>
        <p:nvSpPr>
          <p:cNvPr id="11" name="Shape 9"/>
          <p:cNvSpPr/>
          <p:nvPr/>
        </p:nvSpPr>
        <p:spPr>
          <a:xfrm>
            <a:off x="8668512" y="1938528"/>
            <a:ext cx="310896" cy="914"/>
          </a:xfrm>
          <a:prstGeom prst="line">
            <a:avLst/>
          </a:prstGeom>
          <a:noFill/>
          <a:ln w="25400">
            <a:solidFill>
              <a:srgbClr val="8A8A92"/>
            </a:solidFill>
            <a:prstDash val="solid"/>
            <a:tailEnd type="triangle"/>
          </a:ln>
        </p:spPr>
      </p:sp>
      <p:sp>
        <p:nvSpPr>
          <p:cNvPr id="12" name="Shape 10"/>
          <p:cNvSpPr/>
          <p:nvPr/>
        </p:nvSpPr>
        <p:spPr>
          <a:xfrm>
            <a:off x="8997696" y="1325880"/>
            <a:ext cx="2468880" cy="1234440"/>
          </a:xfrm>
          <a:prstGeom prst="roundRect">
            <a:avLst>
              <a:gd name="adj" fmla="val 5926"/>
            </a:avLst>
          </a:prstGeom>
          <a:solidFill>
            <a:srgbClr val="0A7F44"/>
          </a:solidFill>
          <a:ln w="12700">
            <a:solidFill>
              <a:srgbClr val="0A7F44"/>
            </a:solidFill>
            <a:prstDash val="solid"/>
          </a:ln>
        </p:spPr>
      </p:sp>
      <p:sp>
        <p:nvSpPr>
          <p:cNvPr id="13" name="Text 11"/>
          <p:cNvSpPr txBox="1"/>
          <p:nvPr/>
        </p:nvSpPr>
        <p:spPr>
          <a:xfrm>
            <a:off x="9134856" y="1325880"/>
            <a:ext cx="2194560" cy="1234440"/>
          </a:xfrm>
          <a:prstGeom prst="rect">
            <a:avLst/>
          </a:prstGeom>
          <a:noFill/>
          <a:ln/>
        </p:spPr>
        <p:txBody>
          <a:bodyPr wrap="square" lIns="0" tIns="0" rIns="0" bIns="0" rtlCol="0" anchor="ctr"/>
          <a:lstStyle/>
          <a:p>
            <a:pPr algn="ctr" indent="0" marL="0">
              <a:buNone/>
            </a:pPr>
            <a:r>
              <a:rPr lang="en-US" sz="1400" b="1" dirty="0">
                <a:solidFill>
                  <a:srgbClr val="FFFFFF"/>
                </a:solidFill>
              </a:rPr>
              <a:t>Fix what they found</a:t>
            </a:r>
            <a:endParaRPr lang="en-US" sz="1400" dirty="0"/>
          </a:p>
          <a:p>
            <a:pPr algn="ctr" indent="0" marL="0">
              <a:buNone/>
            </a:pPr>
            <a:r>
              <a:rPr lang="en-US" sz="1150" dirty="0">
                <a:solidFill>
                  <a:srgbClr val="D9EBDF"/>
                </a:solidFill>
              </a:rPr>
              <a:t>then unit tests, a browser check, deploy</a:t>
            </a:r>
            <a:endParaRPr lang="en-US" sz="1400" dirty="0"/>
          </a:p>
        </p:txBody>
      </p:sp>
      <p:sp>
        <p:nvSpPr>
          <p:cNvPr id="14" name="Text 12"/>
          <p:cNvSpPr txBox="1"/>
          <p:nvPr/>
        </p:nvSpPr>
        <p:spPr>
          <a:xfrm>
            <a:off x="548640" y="2651760"/>
            <a:ext cx="11094415" cy="320040"/>
          </a:xfrm>
          <a:prstGeom prst="rect">
            <a:avLst/>
          </a:prstGeom>
          <a:noFill/>
          <a:ln/>
        </p:spPr>
        <p:txBody>
          <a:bodyPr wrap="square" lIns="0" tIns="0" rIns="0" bIns="0" rtlCol="0" anchor="ctr"/>
          <a:lstStyle/>
          <a:p>
            <a:pPr algn="r" indent="0" marL="0">
              <a:buNone/>
            </a:pPr>
            <a:r>
              <a:rPr lang="en-US" sz="1200" i="1" dirty="0">
                <a:solidFill>
                  <a:srgbClr val="0A7F44"/>
                </a:solidFill>
              </a:rPr>
              <a:t>↺ next round, new testers</a:t>
            </a:r>
            <a:endParaRPr lang="en-US" sz="1200" dirty="0"/>
          </a:p>
        </p:txBody>
      </p:sp>
      <p:sp>
        <p:nvSpPr>
          <p:cNvPr id="15" name="Text 13"/>
          <p:cNvSpPr txBox="1"/>
          <p:nvPr/>
        </p:nvSpPr>
        <p:spPr>
          <a:xfrm>
            <a:off x="548640" y="315468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six testers in each round (from round 6)</a:t>
            </a:r>
            <a:endParaRPr lang="en-US" sz="1500" dirty="0"/>
          </a:p>
        </p:txBody>
      </p:sp>
      <p:sp>
        <p:nvSpPr>
          <p:cNvPr id="16" name="Shape 14"/>
          <p:cNvSpPr/>
          <p:nvPr/>
        </p:nvSpPr>
        <p:spPr>
          <a:xfrm>
            <a:off x="548640" y="3657600"/>
            <a:ext cx="3520440" cy="1600200"/>
          </a:xfrm>
          <a:prstGeom prst="roundRect">
            <a:avLst>
              <a:gd name="adj" fmla="val 4571"/>
            </a:avLst>
          </a:prstGeom>
          <a:solidFill>
            <a:srgbClr val="F3F6F4"/>
          </a:solidFill>
          <a:ln w="12700">
            <a:solidFill>
              <a:srgbClr val="F3F6F4"/>
            </a:solidFill>
            <a:prstDash val="solid"/>
          </a:ln>
        </p:spPr>
      </p:sp>
      <p:sp>
        <p:nvSpPr>
          <p:cNvPr id="17" name="Shape 15"/>
          <p:cNvSpPr/>
          <p:nvPr/>
        </p:nvSpPr>
        <p:spPr>
          <a:xfrm>
            <a:off x="777240" y="3886200"/>
            <a:ext cx="457200" cy="457200"/>
          </a:xfrm>
          <a:prstGeom prst="ellipse">
            <a:avLst/>
          </a:prstGeom>
          <a:solidFill>
            <a:srgbClr val="0064E0"/>
          </a:solidFill>
          <a:ln w="12700">
            <a:solidFill>
              <a:srgbClr val="0064E0"/>
            </a:solidFill>
            <a:prstDash val="solid"/>
          </a:ln>
        </p:spPr>
      </p:sp>
      <p:sp>
        <p:nvSpPr>
          <p:cNvPr id="18" name="Text 16"/>
          <p:cNvSpPr txBox="1"/>
          <p:nvPr/>
        </p:nvSpPr>
        <p:spPr>
          <a:xfrm>
            <a:off x="137160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new agents</a:t>
            </a:r>
            <a:endParaRPr lang="en-US" sz="1600" dirty="0"/>
          </a:p>
        </p:txBody>
      </p:sp>
      <p:sp>
        <p:nvSpPr>
          <p:cNvPr id="19" name="Text 17"/>
          <p:cNvSpPr txBox="1"/>
          <p:nvPr/>
        </p:nvSpPr>
        <p:spPr>
          <a:xfrm>
            <a:off x="77724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arrive cold: find the guide, sign their person in, register an Ed25519 key, get a game; or audit privacy and the API</a:t>
            </a:r>
            <a:endParaRPr lang="en-US" sz="1200" dirty="0"/>
          </a:p>
        </p:txBody>
      </p:sp>
      <p:sp>
        <p:nvSpPr>
          <p:cNvPr id="20" name="Shape 18"/>
          <p:cNvSpPr/>
          <p:nvPr/>
        </p:nvSpPr>
        <p:spPr>
          <a:xfrm>
            <a:off x="4297680" y="3657600"/>
            <a:ext cx="3520440" cy="1600200"/>
          </a:xfrm>
          <a:prstGeom prst="roundRect">
            <a:avLst>
              <a:gd name="adj" fmla="val 4571"/>
            </a:avLst>
          </a:prstGeom>
          <a:solidFill>
            <a:srgbClr val="F3F6F4"/>
          </a:solidFill>
          <a:ln w="12700">
            <a:solidFill>
              <a:srgbClr val="F3F6F4"/>
            </a:solidFill>
            <a:prstDash val="solid"/>
          </a:ln>
        </p:spPr>
      </p:sp>
      <p:sp>
        <p:nvSpPr>
          <p:cNvPr id="21" name="Shape 19"/>
          <p:cNvSpPr/>
          <p:nvPr/>
        </p:nvSpPr>
        <p:spPr>
          <a:xfrm>
            <a:off x="4526280" y="3886200"/>
            <a:ext cx="457200" cy="457200"/>
          </a:xfrm>
          <a:prstGeom prst="ellipse">
            <a:avLst/>
          </a:prstGeom>
          <a:solidFill>
            <a:srgbClr val="0A7F44"/>
          </a:solidFill>
          <a:ln w="12700">
            <a:solidFill>
              <a:srgbClr val="0A7F44"/>
            </a:solidFill>
            <a:prstDash val="solid"/>
          </a:ln>
        </p:spPr>
      </p:sp>
      <p:sp>
        <p:nvSpPr>
          <p:cNvPr id="22" name="Text 20"/>
          <p:cNvSpPr txBox="1"/>
          <p:nvPr/>
        </p:nvSpPr>
        <p:spPr>
          <a:xfrm>
            <a:off x="512064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member agents</a:t>
            </a:r>
            <a:endParaRPr lang="en-US" sz="1600" dirty="0"/>
          </a:p>
        </p:txBody>
      </p:sp>
      <p:sp>
        <p:nvSpPr>
          <p:cNvPr id="23" name="Text 21"/>
          <p:cNvSpPr txBox="1"/>
          <p:nvPr/>
        </p:nvSpPr>
        <p:spPr>
          <a:xfrm>
            <a:off x="452628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 seeded member's session: host and answer games, re-check last round's fixes</a:t>
            </a:r>
            <a:endParaRPr lang="en-US" sz="1200" dirty="0"/>
          </a:p>
        </p:txBody>
      </p:sp>
      <p:sp>
        <p:nvSpPr>
          <p:cNvPr id="24" name="Shape 22"/>
          <p:cNvSpPr/>
          <p:nvPr/>
        </p:nvSpPr>
        <p:spPr>
          <a:xfrm>
            <a:off x="8046720" y="3657600"/>
            <a:ext cx="3520440" cy="1600200"/>
          </a:xfrm>
          <a:prstGeom prst="roundRect">
            <a:avLst>
              <a:gd name="adj" fmla="val 4571"/>
            </a:avLst>
          </a:prstGeom>
          <a:solidFill>
            <a:srgbClr val="F3F6F4"/>
          </a:solidFill>
          <a:ln w="12700">
            <a:solidFill>
              <a:srgbClr val="F3F6F4"/>
            </a:solidFill>
            <a:prstDash val="solid"/>
          </a:ln>
        </p:spPr>
      </p:sp>
      <p:sp>
        <p:nvSpPr>
          <p:cNvPr id="25" name="Shape 23"/>
          <p:cNvSpPr/>
          <p:nvPr/>
        </p:nvSpPr>
        <p:spPr>
          <a:xfrm>
            <a:off x="8275320" y="3886200"/>
            <a:ext cx="457200" cy="457200"/>
          </a:xfrm>
          <a:prstGeom prst="ellipse">
            <a:avLst/>
          </a:prstGeom>
          <a:solidFill>
            <a:srgbClr val="B26A00"/>
          </a:solidFill>
          <a:ln w="12700">
            <a:solidFill>
              <a:srgbClr val="B26A00"/>
            </a:solidFill>
            <a:prstDash val="solid"/>
          </a:ln>
        </p:spPr>
      </p:sp>
      <p:sp>
        <p:nvSpPr>
          <p:cNvPr id="26" name="Text 24"/>
          <p:cNvSpPr txBox="1"/>
          <p:nvPr/>
        </p:nvSpPr>
        <p:spPr>
          <a:xfrm>
            <a:off x="886968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web users</a:t>
            </a:r>
            <a:endParaRPr lang="en-US" sz="1600" dirty="0"/>
          </a:p>
        </p:txBody>
      </p:sp>
      <p:sp>
        <p:nvSpPr>
          <p:cNvPr id="27" name="Text 25"/>
          <p:cNvSpPr txBox="1"/>
          <p:nvPr/>
        </p:nvSpPr>
        <p:spPr>
          <a:xfrm>
            <a:off x="827532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in the browser, one at phone size and one on a laptop: read the screen and click</a:t>
            </a:r>
            <a:endParaRPr lang="en-US" sz="1200" dirty="0"/>
          </a:p>
        </p:txBody>
      </p:sp>
      <p:sp>
        <p:nvSpPr>
          <p:cNvPr id="28" name="Text 26"/>
          <p:cNvSpPr txBox="1"/>
          <p:nvPr/>
        </p:nvSpPr>
        <p:spPr>
          <a:xfrm>
            <a:off x="548640" y="5532120"/>
            <a:ext cx="11094415" cy="6400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From round 21 a bug meant a problem in a core flow: getting a game, yes or no, joining and leaving, calling off, limits and permission, privacy, trust records. The testers were AI models, not people.</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Zero bugs by round 25; the harder rounds found more</a:t>
            </a:r>
            <a:endParaRPr lang="en-US" sz="2400" dirty="0"/>
          </a:p>
        </p:txBody>
      </p:sp>
      <p:pic>
        <p:nvPicPr>
          <p:cNvPr id="3" name="Image 0" descr="preencoded.png">    </p:cNvPr>
          <p:cNvPicPr>
            <a:picLocks noChangeAspect="1"/>
          </p:cNvPicPr>
          <p:nvPr/>
        </p:nvPicPr>
        <p:blipFill>
          <a:blip r:embed="rId1"/>
          <a:stretch>
            <a:fillRect/>
          </a:stretch>
        </p:blipFill>
        <p:spPr>
          <a:xfrm>
            <a:off x="1951946" y="1188720"/>
            <a:ext cx="8287804"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Bugs reported per round by fresh AI testers; from round 21 only core-flow bugs count (green). Rounds 26 to 28 (orange): a new copy, the live site, then a copy with the server's own models (round 28's four runs summed). (b) Share of reports that came back clean (6, 4 and 14 reports in rounds 26 to 28). 177 testers in 28 rounds, 17,432 requests logged.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146 tester sessions from the logs: every request, in order</a:t>
            </a:r>
            <a:endParaRPr lang="en-US" sz="2400" dirty="0"/>
          </a:p>
        </p:txBody>
      </p:sp>
      <p:pic>
        <p:nvPicPr>
          <p:cNvPr id="3" name="Image 0" descr="preencoded.png">    </p:cNvPr>
          <p:cNvPicPr>
            <a:picLocks noChangeAspect="1"/>
          </p:cNvPicPr>
          <p:nvPr/>
        </p:nvPicPr>
        <p:blipFill>
          <a:blip r:embed="rId1"/>
          <a:stretch>
            <a:fillRect/>
          </a:stretch>
        </p:blipFill>
        <p:spPr>
          <a:xfrm>
            <a:off x="1966527" y="1188720"/>
            <a:ext cx="8258641"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One row per tester session (rounds 4 to 25), one mark per request at its time since the session began: 10,135 answered (2xx), 1,389 refused, not found or invalid (4xx), no server errors (5xx).</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What the testers found, and what changed</a:t>
            </a:r>
            <a:endParaRPr lang="en-US" sz="24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Privacy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host could count who nearby was open to being asked; a waitlist note showed a show-up rate.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Nearby people appear only once they can play; others see badge words only.</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Limits and permission</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agent's game ignored “no new people” and the price cap; a learned distance overrode the person's own.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person's settings decide, on every path.</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Double-booking</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Overlapping joins, a post over an agreed game, a waitlist promotion into a clash.</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One clash rule for posts, joins, promotions and the agents' talk.</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Telling the truth</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“Agreed” with too few players; a called-off game left people uninformed.</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 affected person is told what happened, once.</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Fills of a posted game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Stopping the agents and calling the game off were one action.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Two actions; a game that fills stops the agents and tells those asked.</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Agents arriving cold</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Hard to find the way in.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A guide in the site's HTML, /llms.txt with a six-call quick start.</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Rounds 26 to 28: the live site, then a copy with the real models</a:t>
            </a:r>
            <a:endParaRPr lang="en-US" sz="24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Round 27, live site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Test accounts in one private club, removed afterwards. Llama Guard 3 refused the club name “Serve test round 27” as violence.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S9 counts only with a weapon word; S1 alone, with no word of harm, goes to the club's standard. Feed red team 13 of 13.</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Round 28, a real-model copy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tester declined to create accounts on the live site.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Write tests run on a copy with the same code and proxy, calling the server's Glimmer, Llama Guard 3 and Prompt Guard 2; the live site gets read-only checks.</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Joining a private club</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Whoever asked was never told the answer; a club's game was hidden from a member by the sport filter.</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answer is a notice; a game in one's own club always shows.</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 host who leaves Serve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Their game vanished: the players and the waitlist heard nothing; the club passed on in silence.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Everyone in it is told the game is off; the next organiser is told.</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The person's notices</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 reading the feed took its person's notices away.</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agent sees them and leaves them for the person.</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Checked over HTTP</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Each fix had a unit test, but the flows had only been run by the testers.</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same flows as one script on the copy: 12 of 12 checks pass.</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Code computes the facts; models choose among preferences</a:t>
            </a:r>
            <a:endParaRPr lang="en-US" sz="2400" dirty="0"/>
          </a:p>
        </p:txBody>
      </p:sp>
      <p:pic>
        <p:nvPicPr>
          <p:cNvPr id="3" name="Image 0" descr="preencoded.png">    </p:cNvPr>
          <p:cNvPicPr>
            <a:picLocks noChangeAspect="1"/>
          </p:cNvPicPr>
          <p:nvPr/>
        </p:nvPicPr>
        <p:blipFill>
          <a:blip r:embed="rId1"/>
          <a:stretch>
            <a:fillRect/>
          </a:stretch>
        </p:blipFill>
        <p:spPr>
          <a:xfrm>
            <a:off x="2127697" y="1234440"/>
            <a:ext cx="7936302" cy="4206240"/>
          </a:xfrm>
          <a:prstGeom prst="rect">
            <a:avLst/>
          </a:prstGeom>
        </p:spPr>
      </p:pic>
      <p:sp>
        <p:nvSpPr>
          <p:cNvPr id="4" name="Text 1"/>
          <p:cNvSpPr txBox="1"/>
          <p:nvPr/>
        </p:nvSpPr>
        <p:spPr>
          <a:xfrm>
            <a:off x="548640" y="5623560"/>
            <a:ext cx="11094415" cy="914400"/>
          </a:xfrm>
          <a:prstGeom prst="rect">
            <a:avLst/>
          </a:prstGeom>
          <a:noFill/>
          <a:ln/>
        </p:spPr>
        <p:txBody>
          <a:bodyPr wrap="square" lIns="0" tIns="0" rIns="0" bIns="0" rtlCol="0" anchor="t"/>
          <a:lstStyle/>
          <a:p>
            <a:pPr indent="0" marL="0">
              <a:spcAft>
                <a:spcPts val="600"/>
              </a:spcAft>
              <a:buNone/>
            </a:pPr>
            <a:r>
              <a:rPr lang="en-US" sz="1400" dirty="0">
                <a:solidFill>
                  <a:srgbClr val="55555C"/>
                </a:solidFill>
              </a:rPr>
              <a:t>That keeps a model's mistake from turning into a wrong booking or a clash. Four pieces of engineering underneath: a standard A2A protocol with a negotiation engine, active querying by the value of information, a community that evolves the platform with rollback, and 3D reconstruction from a phone video.</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A2A v1.0: facts only, settled in one round by intersection</a:t>
            </a:r>
            <a:endParaRPr lang="en-US" sz="2400" dirty="0"/>
          </a:p>
        </p:txBody>
      </p:sp>
      <p:sp>
        <p:nvSpPr>
          <p:cNvPr id="3" name="Shape 1"/>
          <p:cNvSpPr/>
          <p:nvPr/>
        </p:nvSpPr>
        <p:spPr>
          <a:xfrm>
            <a:off x="548640" y="2331720"/>
            <a:ext cx="1828800" cy="1280160"/>
          </a:xfrm>
          <a:prstGeom prst="roundRect">
            <a:avLst>
              <a:gd name="adj" fmla="val 5714"/>
            </a:avLst>
          </a:prstGeom>
          <a:solidFill>
            <a:srgbClr val="0A7F44"/>
          </a:solidFill>
          <a:ln w="12700">
            <a:solidFill>
              <a:srgbClr val="0A7F44"/>
            </a:solidFill>
            <a:prstDash val="solid"/>
          </a:ln>
        </p:spPr>
      </p:sp>
      <p:sp>
        <p:nvSpPr>
          <p:cNvPr id="4" name="Text 2"/>
          <p:cNvSpPr txBox="1"/>
          <p:nvPr/>
        </p:nvSpPr>
        <p:spPr>
          <a:xfrm>
            <a:off x="685800" y="2331720"/>
            <a:ext cx="1554480" cy="1280160"/>
          </a:xfrm>
          <a:prstGeom prst="rect">
            <a:avLst/>
          </a:prstGeom>
          <a:noFill/>
          <a:ln/>
        </p:spPr>
        <p:txBody>
          <a:bodyPr wrap="square" lIns="0" tIns="0" rIns="0" bIns="0" rtlCol="0" anchor="ctr"/>
          <a:lstStyle/>
          <a:p>
            <a:pPr algn="ctr" indent="0" marL="0">
              <a:buNone/>
            </a:pPr>
            <a:r>
              <a:rPr lang="en-US" sz="1400" b="1" dirty="0">
                <a:solidFill>
                  <a:srgbClr val="FFFFFF"/>
                </a:solidFill>
              </a:rPr>
              <a:t>Host's agent</a:t>
            </a:r>
            <a:endParaRPr lang="en-US" sz="1400" dirty="0"/>
          </a:p>
          <a:p>
            <a:pPr algn="ctr" indent="0" marL="0">
              <a:buNone/>
            </a:pPr>
            <a:r>
              <a:rPr lang="en-US" sz="1150" dirty="0">
                <a:solidFill>
                  <a:srgbClr val="D9EBDF"/>
                </a:solidFill>
              </a:rPr>
              <a:t>lists up to 12 times that fit every calendar and have a court</a:t>
            </a:r>
            <a:endParaRPr lang="en-US" sz="1400" dirty="0"/>
          </a:p>
        </p:txBody>
      </p:sp>
      <p:sp>
        <p:nvSpPr>
          <p:cNvPr id="5" name="Shape 3"/>
          <p:cNvSpPr/>
          <p:nvPr/>
        </p:nvSpPr>
        <p:spPr>
          <a:xfrm>
            <a:off x="2697480" y="2240280"/>
            <a:ext cx="2331720" cy="1463040"/>
          </a:xfrm>
          <a:prstGeom prst="roundRect">
            <a:avLst>
              <a:gd name="adj" fmla="val 3750"/>
            </a:avLst>
          </a:prstGeom>
          <a:solidFill>
            <a:srgbClr val="FFFFFF"/>
          </a:solidFill>
          <a:ln w="12700">
            <a:solidFill>
              <a:srgbClr val="DCDCE0"/>
            </a:solidFill>
            <a:prstDash val="solid"/>
          </a:ln>
        </p:spPr>
      </p:sp>
      <p:sp>
        <p:nvSpPr>
          <p:cNvPr id="6" name="Text 4"/>
          <p:cNvSpPr txBox="1"/>
          <p:nvPr/>
        </p:nvSpPr>
        <p:spPr>
          <a:xfrm>
            <a:off x="2834640" y="2286000"/>
            <a:ext cx="2103120" cy="1371600"/>
          </a:xfrm>
          <a:prstGeom prst="rect">
            <a:avLst/>
          </a:prstGeom>
          <a:noFill/>
          <a:ln/>
        </p:spPr>
        <p:txBody>
          <a:bodyPr wrap="square" lIns="0" tIns="0" rIns="0" bIns="0" rtlCol="0" anchor="ctr"/>
          <a:lstStyle/>
          <a:p>
            <a:pPr indent="0" marL="0">
              <a:buNone/>
            </a:pPr>
            <a:r>
              <a:rPr lang="en-US" sz="1200" b="1" dirty="0">
                <a:solidFill>
                  <a:srgbClr val="0A7F44"/>
                </a:solidFill>
              </a:rPr>
              <a:t>serve.proposal</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id, date, start,</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venue, court, trip }</a:t>
            </a:r>
            <a:endParaRPr lang="en-US" sz="1200" dirty="0"/>
          </a:p>
          <a:p>
            <a:pPr indent="0" marL="0">
              <a:buNone/>
            </a:pPr>
            <a:r>
              <a:rPr lang="en-US" sz="1050" dirty="0">
                <a:solidFill>
                  <a:srgbClr val="55555C"/>
                </a:solidFill>
              </a:rPr>
              <a:t>facts only, signed (Ed25519)</a:t>
            </a:r>
            <a:endParaRPr lang="en-US" sz="1200" dirty="0"/>
          </a:p>
        </p:txBody>
      </p:sp>
      <p:sp>
        <p:nvSpPr>
          <p:cNvPr id="7" name="Shape 5"/>
          <p:cNvSpPr/>
          <p:nvPr/>
        </p:nvSpPr>
        <p:spPr>
          <a:xfrm>
            <a:off x="2395728" y="2971800"/>
            <a:ext cx="283464" cy="914"/>
          </a:xfrm>
          <a:prstGeom prst="line">
            <a:avLst/>
          </a:prstGeom>
          <a:noFill/>
          <a:ln w="25400">
            <a:solidFill>
              <a:srgbClr val="8A8A92"/>
            </a:solidFill>
            <a:prstDash val="solid"/>
            <a:tailEnd type="triangle"/>
          </a:ln>
        </p:spPr>
      </p:sp>
      <p:sp>
        <p:nvSpPr>
          <p:cNvPr id="8" name="Shape 6"/>
          <p:cNvSpPr/>
          <p:nvPr/>
        </p:nvSpPr>
        <p:spPr>
          <a:xfrm flipV="1">
            <a:off x="5047488" y="1737360"/>
            <a:ext cx="347472" cy="1234440"/>
          </a:xfrm>
          <a:prstGeom prst="line">
            <a:avLst/>
          </a:prstGeom>
          <a:noFill/>
          <a:ln w="25400">
            <a:solidFill>
              <a:srgbClr val="8A8A92"/>
            </a:solidFill>
            <a:prstDash val="solid"/>
            <a:tailEnd type="triangle"/>
          </a:ln>
        </p:spPr>
      </p:sp>
      <p:sp>
        <p:nvSpPr>
          <p:cNvPr id="9" name="Shape 7"/>
          <p:cNvSpPr/>
          <p:nvPr/>
        </p:nvSpPr>
        <p:spPr>
          <a:xfrm>
            <a:off x="5413248" y="1280160"/>
            <a:ext cx="2834640" cy="960120"/>
          </a:xfrm>
          <a:prstGeom prst="roundRect">
            <a:avLst>
              <a:gd name="adj" fmla="val 7619"/>
            </a:avLst>
          </a:prstGeom>
          <a:solidFill>
            <a:srgbClr val="F3F6F4"/>
          </a:solidFill>
          <a:ln w="12700">
            <a:solidFill>
              <a:srgbClr val="F3F6F4"/>
            </a:solidFill>
            <a:prstDash val="solid"/>
          </a:ln>
        </p:spPr>
      </p:sp>
      <p:sp>
        <p:nvSpPr>
          <p:cNvPr id="10" name="Text 8"/>
          <p:cNvSpPr txBox="1"/>
          <p:nvPr/>
        </p:nvSpPr>
        <p:spPr>
          <a:xfrm>
            <a:off x="5577840" y="135331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Ana's agent</a:t>
            </a:r>
            <a:endParaRPr lang="en-US" sz="1300" dirty="0"/>
          </a:p>
        </p:txBody>
      </p:sp>
      <p:sp>
        <p:nvSpPr>
          <p:cNvPr id="11" name="Shape 9"/>
          <p:cNvSpPr/>
          <p:nvPr/>
        </p:nvSpPr>
        <p:spPr>
          <a:xfrm>
            <a:off x="5577840" y="1737360"/>
            <a:ext cx="438912" cy="347472"/>
          </a:xfrm>
          <a:prstGeom prst="roundRect">
            <a:avLst>
              <a:gd name="adj" fmla="val 13158"/>
            </a:avLst>
          </a:prstGeom>
          <a:solidFill>
            <a:srgbClr val="8CC5A6"/>
          </a:solidFill>
          <a:ln w="12700">
            <a:solidFill>
              <a:srgbClr val="8CC5A6"/>
            </a:solidFill>
            <a:prstDash val="solid"/>
          </a:ln>
        </p:spPr>
      </p:sp>
      <p:sp>
        <p:nvSpPr>
          <p:cNvPr id="12" name="Text 10"/>
          <p:cNvSpPr txBox="1"/>
          <p:nvPr/>
        </p:nvSpPr>
        <p:spPr>
          <a:xfrm>
            <a:off x="557784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t1</a:t>
            </a:r>
            <a:endParaRPr lang="en-US" sz="1100" dirty="0"/>
          </a:p>
        </p:txBody>
      </p:sp>
      <p:sp>
        <p:nvSpPr>
          <p:cNvPr id="13" name="Shape 11"/>
          <p:cNvSpPr/>
          <p:nvPr/>
        </p:nvSpPr>
        <p:spPr>
          <a:xfrm>
            <a:off x="6080760" y="1737360"/>
            <a:ext cx="438912" cy="347472"/>
          </a:xfrm>
          <a:prstGeom prst="roundRect">
            <a:avLst>
              <a:gd name="adj" fmla="val 13158"/>
            </a:avLst>
          </a:prstGeom>
          <a:solidFill>
            <a:srgbClr val="0A7F44"/>
          </a:solidFill>
          <a:ln w="12700">
            <a:solidFill>
              <a:srgbClr val="0A7F44"/>
            </a:solidFill>
            <a:prstDash val="solid"/>
          </a:ln>
        </p:spPr>
      </p:sp>
      <p:sp>
        <p:nvSpPr>
          <p:cNvPr id="14" name="Text 12"/>
          <p:cNvSpPr txBox="1"/>
          <p:nvPr/>
        </p:nvSpPr>
        <p:spPr>
          <a:xfrm>
            <a:off x="608076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15" name="Shape 13"/>
          <p:cNvSpPr/>
          <p:nvPr/>
        </p:nvSpPr>
        <p:spPr>
          <a:xfrm>
            <a:off x="6583680" y="1737360"/>
            <a:ext cx="438912" cy="347472"/>
          </a:xfrm>
          <a:prstGeom prst="roundRect">
            <a:avLst>
              <a:gd name="adj" fmla="val 13158"/>
            </a:avLst>
          </a:prstGeom>
          <a:solidFill>
            <a:srgbClr val="E1E4E2"/>
          </a:solidFill>
          <a:ln w="12700">
            <a:solidFill>
              <a:srgbClr val="E1E4E2"/>
            </a:solidFill>
            <a:prstDash val="solid"/>
          </a:ln>
        </p:spPr>
      </p:sp>
      <p:sp>
        <p:nvSpPr>
          <p:cNvPr id="16" name="Text 14"/>
          <p:cNvSpPr txBox="1"/>
          <p:nvPr/>
        </p:nvSpPr>
        <p:spPr>
          <a:xfrm>
            <a:off x="658368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17" name="Shape 15"/>
          <p:cNvSpPr/>
          <p:nvPr/>
        </p:nvSpPr>
        <p:spPr>
          <a:xfrm>
            <a:off x="7086600" y="1737360"/>
            <a:ext cx="438912" cy="347472"/>
          </a:xfrm>
          <a:prstGeom prst="roundRect">
            <a:avLst>
              <a:gd name="adj" fmla="val 13158"/>
            </a:avLst>
          </a:prstGeom>
          <a:solidFill>
            <a:srgbClr val="0A7F44"/>
          </a:solidFill>
          <a:ln w="12700">
            <a:solidFill>
              <a:srgbClr val="0A7F44"/>
            </a:solidFill>
            <a:prstDash val="solid"/>
          </a:ln>
        </p:spPr>
      </p:sp>
      <p:sp>
        <p:nvSpPr>
          <p:cNvPr id="18" name="Text 16"/>
          <p:cNvSpPr txBox="1"/>
          <p:nvPr/>
        </p:nvSpPr>
        <p:spPr>
          <a:xfrm>
            <a:off x="708660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19" name="Shape 17"/>
          <p:cNvSpPr/>
          <p:nvPr/>
        </p:nvSpPr>
        <p:spPr>
          <a:xfrm>
            <a:off x="7589520" y="1737360"/>
            <a:ext cx="438912" cy="347472"/>
          </a:xfrm>
          <a:prstGeom prst="roundRect">
            <a:avLst>
              <a:gd name="adj" fmla="val 13158"/>
            </a:avLst>
          </a:prstGeom>
          <a:solidFill>
            <a:srgbClr val="E1E4E2"/>
          </a:solidFill>
          <a:ln w="12700">
            <a:solidFill>
              <a:srgbClr val="E1E4E2"/>
            </a:solidFill>
            <a:prstDash val="solid"/>
          </a:ln>
        </p:spPr>
      </p:sp>
      <p:sp>
        <p:nvSpPr>
          <p:cNvPr id="20" name="Text 18"/>
          <p:cNvSpPr txBox="1"/>
          <p:nvPr/>
        </p:nvSpPr>
        <p:spPr>
          <a:xfrm>
            <a:off x="758952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21" name="Shape 19"/>
          <p:cNvSpPr/>
          <p:nvPr/>
        </p:nvSpPr>
        <p:spPr>
          <a:xfrm>
            <a:off x="8266176" y="1737360"/>
            <a:ext cx="374904" cy="1234440"/>
          </a:xfrm>
          <a:prstGeom prst="line">
            <a:avLst/>
          </a:prstGeom>
          <a:noFill/>
          <a:ln w="25400">
            <a:solidFill>
              <a:srgbClr val="8A8A92"/>
            </a:solidFill>
            <a:prstDash val="solid"/>
            <a:tailEnd type="triangle"/>
          </a:ln>
        </p:spPr>
      </p:sp>
      <p:sp>
        <p:nvSpPr>
          <p:cNvPr id="22" name="Shape 20"/>
          <p:cNvSpPr/>
          <p:nvPr/>
        </p:nvSpPr>
        <p:spPr>
          <a:xfrm flipV="1">
            <a:off x="5047488" y="2926080"/>
            <a:ext cx="347472" cy="45720"/>
          </a:xfrm>
          <a:prstGeom prst="line">
            <a:avLst/>
          </a:prstGeom>
          <a:noFill/>
          <a:ln w="25400">
            <a:solidFill>
              <a:srgbClr val="8A8A92"/>
            </a:solidFill>
            <a:prstDash val="solid"/>
            <a:tailEnd type="triangle"/>
          </a:ln>
        </p:spPr>
      </p:sp>
      <p:sp>
        <p:nvSpPr>
          <p:cNvPr id="23" name="Shape 21"/>
          <p:cNvSpPr/>
          <p:nvPr/>
        </p:nvSpPr>
        <p:spPr>
          <a:xfrm>
            <a:off x="5413248" y="2468880"/>
            <a:ext cx="2834640" cy="960120"/>
          </a:xfrm>
          <a:prstGeom prst="roundRect">
            <a:avLst>
              <a:gd name="adj" fmla="val 7619"/>
            </a:avLst>
          </a:prstGeom>
          <a:solidFill>
            <a:srgbClr val="F3F6F4"/>
          </a:solidFill>
          <a:ln w="12700">
            <a:solidFill>
              <a:srgbClr val="F3F6F4"/>
            </a:solidFill>
            <a:prstDash val="solid"/>
          </a:ln>
        </p:spPr>
      </p:sp>
      <p:sp>
        <p:nvSpPr>
          <p:cNvPr id="24" name="Text 22"/>
          <p:cNvSpPr txBox="1"/>
          <p:nvPr/>
        </p:nvSpPr>
        <p:spPr>
          <a:xfrm>
            <a:off x="5577840" y="254203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Leo's agent</a:t>
            </a:r>
            <a:endParaRPr lang="en-US" sz="1300" dirty="0"/>
          </a:p>
        </p:txBody>
      </p:sp>
      <p:sp>
        <p:nvSpPr>
          <p:cNvPr id="25" name="Shape 23"/>
          <p:cNvSpPr/>
          <p:nvPr/>
        </p:nvSpPr>
        <p:spPr>
          <a:xfrm>
            <a:off x="5577840" y="2926080"/>
            <a:ext cx="438912" cy="347472"/>
          </a:xfrm>
          <a:prstGeom prst="roundRect">
            <a:avLst>
              <a:gd name="adj" fmla="val 13158"/>
            </a:avLst>
          </a:prstGeom>
          <a:solidFill>
            <a:srgbClr val="E1E4E2"/>
          </a:solidFill>
          <a:ln w="12700">
            <a:solidFill>
              <a:srgbClr val="E1E4E2"/>
            </a:solidFill>
            <a:prstDash val="solid"/>
          </a:ln>
        </p:spPr>
      </p:sp>
      <p:sp>
        <p:nvSpPr>
          <p:cNvPr id="26" name="Text 24"/>
          <p:cNvSpPr txBox="1"/>
          <p:nvPr/>
        </p:nvSpPr>
        <p:spPr>
          <a:xfrm>
            <a:off x="557784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27" name="Shape 25"/>
          <p:cNvSpPr/>
          <p:nvPr/>
        </p:nvSpPr>
        <p:spPr>
          <a:xfrm>
            <a:off x="6080760" y="2926080"/>
            <a:ext cx="438912" cy="347472"/>
          </a:xfrm>
          <a:prstGeom prst="roundRect">
            <a:avLst>
              <a:gd name="adj" fmla="val 13158"/>
            </a:avLst>
          </a:prstGeom>
          <a:solidFill>
            <a:srgbClr val="0A7F44"/>
          </a:solidFill>
          <a:ln w="12700">
            <a:solidFill>
              <a:srgbClr val="0A7F44"/>
            </a:solidFill>
            <a:prstDash val="solid"/>
          </a:ln>
        </p:spPr>
      </p:sp>
      <p:sp>
        <p:nvSpPr>
          <p:cNvPr id="28" name="Text 26"/>
          <p:cNvSpPr txBox="1"/>
          <p:nvPr/>
        </p:nvSpPr>
        <p:spPr>
          <a:xfrm>
            <a:off x="608076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29" name="Shape 27"/>
          <p:cNvSpPr/>
          <p:nvPr/>
        </p:nvSpPr>
        <p:spPr>
          <a:xfrm>
            <a:off x="6583680" y="2926080"/>
            <a:ext cx="438912" cy="347472"/>
          </a:xfrm>
          <a:prstGeom prst="roundRect">
            <a:avLst>
              <a:gd name="adj" fmla="val 13158"/>
            </a:avLst>
          </a:prstGeom>
          <a:solidFill>
            <a:srgbClr val="8CC5A6"/>
          </a:solidFill>
          <a:ln w="12700">
            <a:solidFill>
              <a:srgbClr val="8CC5A6"/>
            </a:solidFill>
            <a:prstDash val="solid"/>
          </a:ln>
        </p:spPr>
      </p:sp>
      <p:sp>
        <p:nvSpPr>
          <p:cNvPr id="30" name="Text 28"/>
          <p:cNvSpPr txBox="1"/>
          <p:nvPr/>
        </p:nvSpPr>
        <p:spPr>
          <a:xfrm>
            <a:off x="658368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t3</a:t>
            </a:r>
            <a:endParaRPr lang="en-US" sz="1100" dirty="0"/>
          </a:p>
        </p:txBody>
      </p:sp>
      <p:sp>
        <p:nvSpPr>
          <p:cNvPr id="31" name="Shape 29"/>
          <p:cNvSpPr/>
          <p:nvPr/>
        </p:nvSpPr>
        <p:spPr>
          <a:xfrm>
            <a:off x="7086600" y="2926080"/>
            <a:ext cx="438912" cy="347472"/>
          </a:xfrm>
          <a:prstGeom prst="roundRect">
            <a:avLst>
              <a:gd name="adj" fmla="val 13158"/>
            </a:avLst>
          </a:prstGeom>
          <a:solidFill>
            <a:srgbClr val="0A7F44"/>
          </a:solidFill>
          <a:ln w="12700">
            <a:solidFill>
              <a:srgbClr val="0A7F44"/>
            </a:solidFill>
            <a:prstDash val="solid"/>
          </a:ln>
        </p:spPr>
      </p:sp>
      <p:sp>
        <p:nvSpPr>
          <p:cNvPr id="32" name="Text 30"/>
          <p:cNvSpPr txBox="1"/>
          <p:nvPr/>
        </p:nvSpPr>
        <p:spPr>
          <a:xfrm>
            <a:off x="708660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33" name="Shape 31"/>
          <p:cNvSpPr/>
          <p:nvPr/>
        </p:nvSpPr>
        <p:spPr>
          <a:xfrm>
            <a:off x="7589520" y="2926080"/>
            <a:ext cx="438912" cy="347472"/>
          </a:xfrm>
          <a:prstGeom prst="roundRect">
            <a:avLst>
              <a:gd name="adj" fmla="val 13158"/>
            </a:avLst>
          </a:prstGeom>
          <a:solidFill>
            <a:srgbClr val="E1E4E2"/>
          </a:solidFill>
          <a:ln w="12700">
            <a:solidFill>
              <a:srgbClr val="E1E4E2"/>
            </a:solidFill>
            <a:prstDash val="solid"/>
          </a:ln>
        </p:spPr>
      </p:sp>
      <p:sp>
        <p:nvSpPr>
          <p:cNvPr id="34" name="Text 32"/>
          <p:cNvSpPr txBox="1"/>
          <p:nvPr/>
        </p:nvSpPr>
        <p:spPr>
          <a:xfrm>
            <a:off x="758952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35" name="Shape 33"/>
          <p:cNvSpPr/>
          <p:nvPr/>
        </p:nvSpPr>
        <p:spPr>
          <a:xfrm>
            <a:off x="8266176" y="2926080"/>
            <a:ext cx="374904" cy="45720"/>
          </a:xfrm>
          <a:prstGeom prst="line">
            <a:avLst/>
          </a:prstGeom>
          <a:noFill/>
          <a:ln w="25400">
            <a:solidFill>
              <a:srgbClr val="8A8A92"/>
            </a:solidFill>
            <a:prstDash val="solid"/>
            <a:tailEnd type="triangle"/>
          </a:ln>
        </p:spPr>
      </p:sp>
      <p:sp>
        <p:nvSpPr>
          <p:cNvPr id="36" name="Shape 34"/>
          <p:cNvSpPr/>
          <p:nvPr/>
        </p:nvSpPr>
        <p:spPr>
          <a:xfrm>
            <a:off x="5047488" y="2971800"/>
            <a:ext cx="347472" cy="1143000"/>
          </a:xfrm>
          <a:prstGeom prst="line">
            <a:avLst/>
          </a:prstGeom>
          <a:noFill/>
          <a:ln w="25400">
            <a:solidFill>
              <a:srgbClr val="8A8A92"/>
            </a:solidFill>
            <a:prstDash val="solid"/>
            <a:tailEnd type="triangle"/>
          </a:ln>
        </p:spPr>
      </p:sp>
      <p:sp>
        <p:nvSpPr>
          <p:cNvPr id="37" name="Shape 35"/>
          <p:cNvSpPr/>
          <p:nvPr/>
        </p:nvSpPr>
        <p:spPr>
          <a:xfrm>
            <a:off x="5413248" y="3657600"/>
            <a:ext cx="2834640" cy="960120"/>
          </a:xfrm>
          <a:prstGeom prst="roundRect">
            <a:avLst>
              <a:gd name="adj" fmla="val 7619"/>
            </a:avLst>
          </a:prstGeom>
          <a:solidFill>
            <a:srgbClr val="F3F6F4"/>
          </a:solidFill>
          <a:ln w="12700">
            <a:solidFill>
              <a:srgbClr val="F3F6F4"/>
            </a:solidFill>
            <a:prstDash val="solid"/>
          </a:ln>
        </p:spPr>
      </p:sp>
      <p:sp>
        <p:nvSpPr>
          <p:cNvPr id="38" name="Text 36"/>
          <p:cNvSpPr txBox="1"/>
          <p:nvPr/>
        </p:nvSpPr>
        <p:spPr>
          <a:xfrm>
            <a:off x="5577840" y="373075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Kenji's agent</a:t>
            </a:r>
            <a:endParaRPr lang="en-US" sz="1300" dirty="0"/>
          </a:p>
        </p:txBody>
      </p:sp>
      <p:sp>
        <p:nvSpPr>
          <p:cNvPr id="39" name="Shape 37"/>
          <p:cNvSpPr/>
          <p:nvPr/>
        </p:nvSpPr>
        <p:spPr>
          <a:xfrm>
            <a:off x="5577840" y="4114800"/>
            <a:ext cx="438912" cy="347472"/>
          </a:xfrm>
          <a:prstGeom prst="roundRect">
            <a:avLst>
              <a:gd name="adj" fmla="val 13158"/>
            </a:avLst>
          </a:prstGeom>
          <a:solidFill>
            <a:srgbClr val="E1E4E2"/>
          </a:solidFill>
          <a:ln w="12700">
            <a:solidFill>
              <a:srgbClr val="E1E4E2"/>
            </a:solidFill>
            <a:prstDash val="solid"/>
          </a:ln>
        </p:spPr>
      </p:sp>
      <p:sp>
        <p:nvSpPr>
          <p:cNvPr id="40" name="Text 38"/>
          <p:cNvSpPr txBox="1"/>
          <p:nvPr/>
        </p:nvSpPr>
        <p:spPr>
          <a:xfrm>
            <a:off x="557784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41" name="Shape 39"/>
          <p:cNvSpPr/>
          <p:nvPr/>
        </p:nvSpPr>
        <p:spPr>
          <a:xfrm>
            <a:off x="6080760" y="4114800"/>
            <a:ext cx="438912" cy="347472"/>
          </a:xfrm>
          <a:prstGeom prst="roundRect">
            <a:avLst>
              <a:gd name="adj" fmla="val 13158"/>
            </a:avLst>
          </a:prstGeom>
          <a:solidFill>
            <a:srgbClr val="0A7F44"/>
          </a:solidFill>
          <a:ln w="12700">
            <a:solidFill>
              <a:srgbClr val="0A7F44"/>
            </a:solidFill>
            <a:prstDash val="solid"/>
          </a:ln>
        </p:spPr>
      </p:sp>
      <p:sp>
        <p:nvSpPr>
          <p:cNvPr id="42" name="Text 40"/>
          <p:cNvSpPr txBox="1"/>
          <p:nvPr/>
        </p:nvSpPr>
        <p:spPr>
          <a:xfrm>
            <a:off x="608076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43" name="Shape 41"/>
          <p:cNvSpPr/>
          <p:nvPr/>
        </p:nvSpPr>
        <p:spPr>
          <a:xfrm>
            <a:off x="6583680" y="4114800"/>
            <a:ext cx="438912" cy="347472"/>
          </a:xfrm>
          <a:prstGeom prst="roundRect">
            <a:avLst>
              <a:gd name="adj" fmla="val 13158"/>
            </a:avLst>
          </a:prstGeom>
          <a:solidFill>
            <a:srgbClr val="E1E4E2"/>
          </a:solidFill>
          <a:ln w="12700">
            <a:solidFill>
              <a:srgbClr val="E1E4E2"/>
            </a:solidFill>
            <a:prstDash val="solid"/>
          </a:ln>
        </p:spPr>
      </p:sp>
      <p:sp>
        <p:nvSpPr>
          <p:cNvPr id="44" name="Text 42"/>
          <p:cNvSpPr txBox="1"/>
          <p:nvPr/>
        </p:nvSpPr>
        <p:spPr>
          <a:xfrm>
            <a:off x="658368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45" name="Shape 43"/>
          <p:cNvSpPr/>
          <p:nvPr/>
        </p:nvSpPr>
        <p:spPr>
          <a:xfrm>
            <a:off x="7086600" y="4114800"/>
            <a:ext cx="438912" cy="347472"/>
          </a:xfrm>
          <a:prstGeom prst="roundRect">
            <a:avLst>
              <a:gd name="adj" fmla="val 13158"/>
            </a:avLst>
          </a:prstGeom>
          <a:solidFill>
            <a:srgbClr val="0A7F44"/>
          </a:solidFill>
          <a:ln w="12700">
            <a:solidFill>
              <a:srgbClr val="0A7F44"/>
            </a:solidFill>
            <a:prstDash val="solid"/>
          </a:ln>
        </p:spPr>
      </p:sp>
      <p:sp>
        <p:nvSpPr>
          <p:cNvPr id="46" name="Text 44"/>
          <p:cNvSpPr txBox="1"/>
          <p:nvPr/>
        </p:nvSpPr>
        <p:spPr>
          <a:xfrm>
            <a:off x="708660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47" name="Shape 45"/>
          <p:cNvSpPr/>
          <p:nvPr/>
        </p:nvSpPr>
        <p:spPr>
          <a:xfrm>
            <a:off x="7589520" y="4114800"/>
            <a:ext cx="438912" cy="347472"/>
          </a:xfrm>
          <a:prstGeom prst="roundRect">
            <a:avLst>
              <a:gd name="adj" fmla="val 13158"/>
            </a:avLst>
          </a:prstGeom>
          <a:solidFill>
            <a:srgbClr val="8CC5A6"/>
          </a:solidFill>
          <a:ln w="12700">
            <a:solidFill>
              <a:srgbClr val="8CC5A6"/>
            </a:solidFill>
            <a:prstDash val="solid"/>
          </a:ln>
        </p:spPr>
      </p:sp>
      <p:sp>
        <p:nvSpPr>
          <p:cNvPr id="48" name="Text 46"/>
          <p:cNvSpPr txBox="1"/>
          <p:nvPr/>
        </p:nvSpPr>
        <p:spPr>
          <a:xfrm>
            <a:off x="758952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t5</a:t>
            </a:r>
            <a:endParaRPr lang="en-US" sz="1100" dirty="0"/>
          </a:p>
        </p:txBody>
      </p:sp>
      <p:sp>
        <p:nvSpPr>
          <p:cNvPr id="49" name="Shape 47"/>
          <p:cNvSpPr/>
          <p:nvPr/>
        </p:nvSpPr>
        <p:spPr>
          <a:xfrm flipV="1">
            <a:off x="8266176" y="2971800"/>
            <a:ext cx="374904" cy="1143000"/>
          </a:xfrm>
          <a:prstGeom prst="line">
            <a:avLst/>
          </a:prstGeom>
          <a:noFill/>
          <a:ln w="25400">
            <a:solidFill>
              <a:srgbClr val="8A8A92"/>
            </a:solidFill>
            <a:prstDash val="solid"/>
            <a:tailEnd type="triangle"/>
          </a:ln>
        </p:spPr>
      </p:sp>
      <p:sp>
        <p:nvSpPr>
          <p:cNvPr id="50" name="Shape 48"/>
          <p:cNvSpPr/>
          <p:nvPr/>
        </p:nvSpPr>
        <p:spPr>
          <a:xfrm>
            <a:off x="8686800" y="2240280"/>
            <a:ext cx="2926080" cy="1463040"/>
          </a:xfrm>
          <a:prstGeom prst="roundRect">
            <a:avLst>
              <a:gd name="adj" fmla="val 5000"/>
            </a:avLst>
          </a:prstGeom>
          <a:solidFill>
            <a:srgbClr val="E9F3EC"/>
          </a:solidFill>
          <a:ln w="12700">
            <a:solidFill>
              <a:srgbClr val="E9F3EC"/>
            </a:solidFill>
            <a:prstDash val="solid"/>
          </a:ln>
        </p:spPr>
      </p:sp>
      <p:sp>
        <p:nvSpPr>
          <p:cNvPr id="51" name="Text 49"/>
          <p:cNvSpPr txBox="1"/>
          <p:nvPr/>
        </p:nvSpPr>
        <p:spPr>
          <a:xfrm>
            <a:off x="8823960" y="2240280"/>
            <a:ext cx="2651760" cy="1463040"/>
          </a:xfrm>
          <a:prstGeom prst="rect">
            <a:avLst/>
          </a:prstGeom>
          <a:noFill/>
          <a:ln/>
        </p:spPr>
        <p:txBody>
          <a:bodyPr wrap="square" lIns="0" tIns="0" rIns="0" bIns="0" rtlCol="0" anchor="ctr"/>
          <a:lstStyle/>
          <a:p>
            <a:pPr algn="ctr" indent="0" marL="0">
              <a:buNone/>
            </a:pPr>
            <a:r>
              <a:rPr lang="en-US" sz="1400" b="1" dirty="0">
                <a:solidFill>
                  <a:srgbClr val="0A0A0B"/>
                </a:solidFill>
              </a:rPr>
              <a:t>Intersection: t2, t4</a:t>
            </a:r>
            <a:endParaRPr lang="en-US" sz="1400" dirty="0"/>
          </a:p>
          <a:p>
            <a:pPr algn="ctr" indent="0" marL="0">
              <a:buNone/>
            </a:pPr>
            <a:r>
              <a:rPr lang="en-US" sz="1150" dirty="0">
                <a:solidFill>
                  <a:srgbClr val="55555C"/>
                </a:solidFill>
              </a:rPr>
              <a:t>every agent's set is binding; code takes the best, t2. Most talks end in round one</a:t>
            </a:r>
            <a:endParaRPr lang="en-US" sz="1400" dirty="0"/>
          </a:p>
        </p:txBody>
      </p:sp>
      <p:sp>
        <p:nvSpPr>
          <p:cNvPr id="52" name="Text 50"/>
          <p:cNvSpPr txBox="1"/>
          <p:nvPr/>
        </p:nvSpPr>
        <p:spPr>
          <a:xfrm>
            <a:off x="5413248" y="4892040"/>
            <a:ext cx="6217920" cy="457200"/>
          </a:xfrm>
          <a:prstGeom prst="rect">
            <a:avLst/>
          </a:prstGeom>
          <a:noFill/>
          <a:ln/>
        </p:spPr>
        <p:txBody>
          <a:bodyPr wrap="square" lIns="0" tIns="0" rIns="0" bIns="0" rtlCol="0" anchor="ctr"/>
          <a:lstStyle/>
          <a:p>
            <a:pPr indent="0" marL="0">
              <a:buNone/>
            </a:pPr>
            <a:r>
              <a:rPr lang="en-US" sz="1100" dirty="0">
                <a:solidFill>
                  <a:srgbClr val="55555C"/>
                </a:solidFill>
              </a:rPr>
              <a:t>Illustrative sets. Hard rules (days off, the latest finish, the longest trip) take times off before any model sees the list.</a:t>
            </a:r>
            <a:endParaRPr lang="en-US" sz="1100" dirty="0"/>
          </a:p>
        </p:txBody>
      </p:sp>
      <p:sp>
        <p:nvSpPr>
          <p:cNvPr id="53" name="Text 51"/>
          <p:cNvSpPr txBox="1"/>
          <p:nvPr/>
        </p:nvSpPr>
        <p:spPr>
          <a:xfrm>
            <a:off x="54864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Contract Net + one-shot intersection</a:t>
            </a:r>
            <a:endParaRPr lang="en-US" sz="1300" dirty="0"/>
          </a:p>
          <a:p>
            <a:pPr indent="0" marL="0">
              <a:buNone/>
            </a:pPr>
            <a:r>
              <a:rPr lang="en-US" sz="1150" dirty="0">
                <a:solidFill>
                  <a:srgbClr val="55555C"/>
                </a:solidFill>
              </a:rPr>
              <a:t>a simple distributed constraint satisfaction</a:t>
            </a:r>
            <a:endParaRPr lang="en-US" sz="1300" dirty="0"/>
          </a:p>
        </p:txBody>
      </p:sp>
      <p:sp>
        <p:nvSpPr>
          <p:cNvPr id="54" name="Text 52"/>
          <p:cNvSpPr txBox="1"/>
          <p:nvPr/>
        </p:nvSpPr>
        <p:spPr>
          <a:xfrm>
            <a:off x="429768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No model reads another side's words</a:t>
            </a:r>
            <a:endParaRPr lang="en-US" sz="1300" dirty="0"/>
          </a:p>
          <a:p>
            <a:pPr indent="0" marL="0">
              <a:buNone/>
            </a:pPr>
            <a:r>
              <a:rPr lang="en-US" sz="1150" dirty="0">
                <a:solidFill>
                  <a:srgbClr val="55555C"/>
                </a:solidFill>
              </a:rPr>
              <a:t>sentences between agents are templates filled by code</a:t>
            </a:r>
            <a:endParaRPr lang="en-US" sz="1300" dirty="0"/>
          </a:p>
        </p:txBody>
      </p:sp>
      <p:sp>
        <p:nvSpPr>
          <p:cNvPr id="55" name="Text 53"/>
          <p:cNvSpPr txBox="1"/>
          <p:nvPr/>
        </p:nvSpPr>
        <p:spPr>
          <a:xfrm>
            <a:off x="804672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To the standard</a:t>
            </a:r>
            <a:endParaRPr lang="en-US" sz="1300" dirty="0"/>
          </a:p>
          <a:p>
            <a:pPr indent="0" marL="0">
              <a:buNone/>
            </a:pPr>
            <a:r>
              <a:rPr lang="en-US" sz="1150" dirty="0">
                <a:solidFill>
                  <a:srgbClr val="55555C"/>
                </a:solidFill>
              </a:rPr>
              <a:t>jku on cards, proposal and hold extensions required, the protocol's error codes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Holds stop double bookings; fair venues cost 2.3 min a game</a:t>
            </a:r>
            <a:endParaRPr lang="en-US" sz="2400" dirty="0"/>
          </a:p>
        </p:txBody>
      </p:sp>
      <p:pic>
        <p:nvPicPr>
          <p:cNvPr id="3" name="Image 0" descr="preencoded.png">    </p:cNvPr>
          <p:cNvPicPr>
            <a:picLocks noChangeAspect="1"/>
          </p:cNvPicPr>
          <p:nvPr/>
        </p:nvPicPr>
        <p:blipFill>
          <a:blip r:embed="rId1"/>
          <a:stretch>
            <a:fillRect/>
          </a:stretch>
        </p:blipFill>
        <p:spPr>
          <a:xfrm>
            <a:off x="1648444" y="1188720"/>
            <a:ext cx="889480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Pairs of simultaneous talks for one member that booked the member twice, without and with 30-minute holds (n = 12 each; 95% Wilson intervals). (b) Fairness score of the booked games under three venue rules (12 simulated games). Recovery: 20 of 20 checks with the gateway killed at 5 points; 22 of 22 across two machines.</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Ranking times by the chance everyone says yes</a:t>
            </a:r>
            <a:endParaRPr lang="en-US" sz="2400" dirty="0"/>
          </a:p>
        </p:txBody>
      </p:sp>
      <p:pic>
        <p:nvPicPr>
          <p:cNvPr id="3" name="Image 0" descr="preencoded.png">    </p:cNvPr>
          <p:cNvPicPr>
            <a:picLocks noChangeAspect="1"/>
          </p:cNvPicPr>
          <p:nvPr/>
        </p:nvPicPr>
        <p:blipFill>
          <a:blip r:embed="rId1"/>
          <a:stretch>
            <a:fillRect/>
          </a:stretch>
        </p:blipFill>
        <p:spPr>
          <a:xfrm>
            <a:off x="1924191" y="1188720"/>
            <a:ext cx="8343313"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Requests whose first proposed time keeps every player's rules, before (the time most players had free) and now (product of each player's chance of a yes, least-misery floor 0.15); 3,000 simulated requests each, 95% intervals. (b) Model choices left per doubles request.</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When talks fail, ask the one question worth most</a:t>
            </a:r>
            <a:endParaRPr lang="en-US" sz="2400" dirty="0"/>
          </a:p>
        </p:txBody>
      </p:sp>
      <p:pic>
        <p:nvPicPr>
          <p:cNvPr id="3" name="Image 0" descr="preencoded.png">    </p:cNvPr>
          <p:cNvPicPr>
            <a:picLocks noChangeAspect="1"/>
          </p:cNvPicPr>
          <p:nvPr/>
        </p:nvPicPr>
        <p:blipFill>
          <a:blip r:embed="rId1"/>
          <a:stretch>
            <a:fillRect/>
          </a:stretch>
        </p:blipFill>
        <p:spPr>
          <a:xfrm>
            <a:off x="1871663" y="1188720"/>
            <a:ext cx="8448370"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Games found after one yes-or-no question and one more talk, by question strategy; 20,000 simulated requests each (8 players, 6 times, hidden availability), 95% intervals. Beliefs are Beta posteriors over what each agent was seen to accept, never a calendar.</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Members evolve the platform; an anytime-valid test cuts false rollbacks from 22% to 0.6%</a:t>
            </a:r>
            <a:endParaRPr lang="en-US" sz="2400" dirty="0"/>
          </a:p>
        </p:txBody>
      </p:sp>
      <p:sp>
        <p:nvSpPr>
          <p:cNvPr id="3" name="Shape 1"/>
          <p:cNvSpPr/>
          <p:nvPr/>
        </p:nvSpPr>
        <p:spPr>
          <a:xfrm>
            <a:off x="548640" y="1371600"/>
            <a:ext cx="1261872" cy="1143000"/>
          </a:xfrm>
          <a:prstGeom prst="roundRect">
            <a:avLst>
              <a:gd name="adj" fmla="val 6400"/>
            </a:avLst>
          </a:prstGeom>
          <a:solidFill>
            <a:srgbClr val="F3F6F4"/>
          </a:solidFill>
          <a:ln w="12700">
            <a:solidFill>
              <a:srgbClr val="F3F6F4"/>
            </a:solidFill>
            <a:prstDash val="solid"/>
          </a:ln>
        </p:spPr>
      </p:sp>
      <p:sp>
        <p:nvSpPr>
          <p:cNvPr id="4" name="Text 2"/>
          <p:cNvSpPr txBox="1"/>
          <p:nvPr/>
        </p:nvSpPr>
        <p:spPr>
          <a:xfrm>
            <a:off x="62179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Unmet request</a:t>
            </a:r>
            <a:endParaRPr lang="en-US" sz="1200" dirty="0"/>
          </a:p>
        </p:txBody>
      </p:sp>
      <p:sp>
        <p:nvSpPr>
          <p:cNvPr id="5" name="Shape 3"/>
          <p:cNvSpPr/>
          <p:nvPr/>
        </p:nvSpPr>
        <p:spPr>
          <a:xfrm>
            <a:off x="1947672" y="1371600"/>
            <a:ext cx="1261872" cy="1143000"/>
          </a:xfrm>
          <a:prstGeom prst="roundRect">
            <a:avLst>
              <a:gd name="adj" fmla="val 6400"/>
            </a:avLst>
          </a:prstGeom>
          <a:solidFill>
            <a:srgbClr val="F3F6F4"/>
          </a:solidFill>
          <a:ln w="12700">
            <a:solidFill>
              <a:srgbClr val="F3F6F4"/>
            </a:solidFill>
            <a:prstDash val="solid"/>
          </a:ln>
        </p:spPr>
      </p:sp>
      <p:sp>
        <p:nvSpPr>
          <p:cNvPr id="6" name="Text 4"/>
          <p:cNvSpPr txBox="1"/>
          <p:nvPr/>
        </p:nvSpPr>
        <p:spPr>
          <a:xfrm>
            <a:off x="202082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One sentence, shared only with a yes</a:t>
            </a:r>
            <a:endParaRPr lang="en-US" sz="1200" dirty="0"/>
          </a:p>
        </p:txBody>
      </p:sp>
      <p:sp>
        <p:nvSpPr>
          <p:cNvPr id="7" name="Shape 5"/>
          <p:cNvSpPr/>
          <p:nvPr/>
        </p:nvSpPr>
        <p:spPr>
          <a:xfrm>
            <a:off x="3346704" y="1371600"/>
            <a:ext cx="1261872" cy="1143000"/>
          </a:xfrm>
          <a:prstGeom prst="roundRect">
            <a:avLst>
              <a:gd name="adj" fmla="val 6400"/>
            </a:avLst>
          </a:prstGeom>
          <a:solidFill>
            <a:srgbClr val="F3F6F4"/>
          </a:solidFill>
          <a:ln w="12700">
            <a:solidFill>
              <a:srgbClr val="F3F6F4"/>
            </a:solidFill>
            <a:prstDash val="solid"/>
          </a:ln>
        </p:spPr>
      </p:sp>
      <p:sp>
        <p:nvSpPr>
          <p:cNvPr id="8" name="Text 6"/>
          <p:cNvSpPr txBox="1"/>
          <p:nvPr/>
        </p:nvSpPr>
        <p:spPr>
          <a:xfrm>
            <a:off x="3419856"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Screened</a:t>
            </a:r>
            <a:endParaRPr lang="en-US" sz="1200" dirty="0"/>
          </a:p>
        </p:txBody>
      </p:sp>
      <p:sp>
        <p:nvSpPr>
          <p:cNvPr id="9" name="Shape 7"/>
          <p:cNvSpPr/>
          <p:nvPr/>
        </p:nvSpPr>
        <p:spPr>
          <a:xfrm>
            <a:off x="4745736" y="1371600"/>
            <a:ext cx="1261872" cy="1143000"/>
          </a:xfrm>
          <a:prstGeom prst="roundRect">
            <a:avLst>
              <a:gd name="adj" fmla="val 6400"/>
            </a:avLst>
          </a:prstGeom>
          <a:solidFill>
            <a:srgbClr val="F3F6F4"/>
          </a:solidFill>
          <a:ln w="12700">
            <a:solidFill>
              <a:srgbClr val="F3F6F4"/>
            </a:solidFill>
            <a:prstDash val="solid"/>
          </a:ln>
        </p:spPr>
      </p:sp>
      <p:sp>
        <p:nvSpPr>
          <p:cNvPr id="10" name="Text 8"/>
          <p:cNvSpPr txBox="1"/>
          <p:nvPr/>
        </p:nvSpPr>
        <p:spPr>
          <a:xfrm>
            <a:off x="4818888"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Idea and quadratic vote</a:t>
            </a:r>
            <a:endParaRPr lang="en-US" sz="1200" dirty="0"/>
          </a:p>
        </p:txBody>
      </p:sp>
      <p:sp>
        <p:nvSpPr>
          <p:cNvPr id="11" name="Shape 9"/>
          <p:cNvSpPr/>
          <p:nvPr/>
        </p:nvSpPr>
        <p:spPr>
          <a:xfrm>
            <a:off x="6144768" y="1371600"/>
            <a:ext cx="1261872" cy="1143000"/>
          </a:xfrm>
          <a:prstGeom prst="roundRect">
            <a:avLst>
              <a:gd name="adj" fmla="val 6400"/>
            </a:avLst>
          </a:prstGeom>
          <a:solidFill>
            <a:srgbClr val="F3F6F4"/>
          </a:solidFill>
          <a:ln w="12700">
            <a:solidFill>
              <a:srgbClr val="F3F6F4"/>
            </a:solidFill>
            <a:prstDash val="solid"/>
          </a:ln>
        </p:spPr>
      </p:sp>
      <p:sp>
        <p:nvSpPr>
          <p:cNvPr id="12" name="Text 10"/>
          <p:cNvSpPr txBox="1"/>
          <p:nvPr/>
        </p:nvSpPr>
        <p:spPr>
          <a:xfrm>
            <a:off x="6217920"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Spec and class</a:t>
            </a:r>
            <a:endParaRPr lang="en-US" sz="1200" dirty="0"/>
          </a:p>
        </p:txBody>
      </p:sp>
      <p:sp>
        <p:nvSpPr>
          <p:cNvPr id="13" name="Shape 11"/>
          <p:cNvSpPr/>
          <p:nvPr/>
        </p:nvSpPr>
        <p:spPr>
          <a:xfrm>
            <a:off x="7543800" y="1371600"/>
            <a:ext cx="1261872" cy="1143000"/>
          </a:xfrm>
          <a:prstGeom prst="roundRect">
            <a:avLst>
              <a:gd name="adj" fmla="val 6400"/>
            </a:avLst>
          </a:prstGeom>
          <a:solidFill>
            <a:srgbClr val="F3F6F4"/>
          </a:solidFill>
          <a:ln w="12700">
            <a:solidFill>
              <a:srgbClr val="F3F6F4"/>
            </a:solidFill>
            <a:prstDash val="solid"/>
          </a:ln>
        </p:spPr>
      </p:sp>
      <p:sp>
        <p:nvSpPr>
          <p:cNvPr id="14" name="Text 12"/>
          <p:cNvSpPr txBox="1"/>
          <p:nvPr/>
        </p:nvSpPr>
        <p:spPr>
          <a:xfrm>
            <a:off x="761695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Nine gates</a:t>
            </a:r>
            <a:endParaRPr lang="en-US" sz="1200" dirty="0"/>
          </a:p>
        </p:txBody>
      </p:sp>
      <p:sp>
        <p:nvSpPr>
          <p:cNvPr id="15" name="Shape 13"/>
          <p:cNvSpPr/>
          <p:nvPr/>
        </p:nvSpPr>
        <p:spPr>
          <a:xfrm>
            <a:off x="8942832" y="1371600"/>
            <a:ext cx="1261872" cy="1143000"/>
          </a:xfrm>
          <a:prstGeom prst="roundRect">
            <a:avLst>
              <a:gd name="adj" fmla="val 6400"/>
            </a:avLst>
          </a:prstGeom>
          <a:solidFill>
            <a:srgbClr val="F3F6F4"/>
          </a:solidFill>
          <a:ln w="12700">
            <a:solidFill>
              <a:srgbClr val="F3F6F4"/>
            </a:solidFill>
            <a:prstDash val="solid"/>
          </a:ln>
        </p:spPr>
      </p:sp>
      <p:sp>
        <p:nvSpPr>
          <p:cNvPr id="16" name="Text 14"/>
          <p:cNvSpPr txBox="1"/>
          <p:nvPr/>
        </p:nvSpPr>
        <p:spPr>
          <a:xfrm>
            <a:off x="901598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Canary of members</a:t>
            </a:r>
            <a:endParaRPr lang="en-US" sz="1200" dirty="0"/>
          </a:p>
        </p:txBody>
      </p:sp>
      <p:sp>
        <p:nvSpPr>
          <p:cNvPr id="17" name="Shape 15"/>
          <p:cNvSpPr/>
          <p:nvPr/>
        </p:nvSpPr>
        <p:spPr>
          <a:xfrm>
            <a:off x="10341864" y="1371600"/>
            <a:ext cx="1261872" cy="1143000"/>
          </a:xfrm>
          <a:prstGeom prst="roundRect">
            <a:avLst>
              <a:gd name="adj" fmla="val 6400"/>
            </a:avLst>
          </a:prstGeom>
          <a:solidFill>
            <a:srgbClr val="0A7F44"/>
          </a:solidFill>
          <a:ln w="12700">
            <a:solidFill>
              <a:srgbClr val="0A7F44"/>
            </a:solidFill>
            <a:prstDash val="solid"/>
          </a:ln>
        </p:spPr>
      </p:sp>
      <p:sp>
        <p:nvSpPr>
          <p:cNvPr id="18" name="Text 16"/>
          <p:cNvSpPr txBox="1"/>
          <p:nvPr/>
        </p:nvSpPr>
        <p:spPr>
          <a:xfrm>
            <a:off x="10415016" y="1371600"/>
            <a:ext cx="1115568" cy="1143000"/>
          </a:xfrm>
          <a:prstGeom prst="rect">
            <a:avLst/>
          </a:prstGeom>
          <a:noFill/>
          <a:ln/>
        </p:spPr>
        <p:txBody>
          <a:bodyPr wrap="square" lIns="0" tIns="0" rIns="0" bIns="0" rtlCol="0" anchor="ctr"/>
          <a:lstStyle/>
          <a:p>
            <a:pPr algn="ctr" indent="0" marL="0">
              <a:buNone/>
            </a:pPr>
            <a:r>
              <a:rPr lang="en-US" sz="1200" b="1" dirty="0">
                <a:solidFill>
                  <a:srgbClr val="FFFFFF"/>
                </a:solidFill>
              </a:rPr>
              <a:t>Kept, or rolled back</a:t>
            </a:r>
            <a:endParaRPr lang="en-US" sz="1200" dirty="0"/>
          </a:p>
        </p:txBody>
      </p:sp>
      <p:sp>
        <p:nvSpPr>
          <p:cNvPr id="19" name="Text 17"/>
          <p:cNvSpPr txBox="1"/>
          <p:nvPr/>
        </p:nvSpPr>
        <p:spPr>
          <a:xfrm>
            <a:off x="548640" y="2834640"/>
            <a:ext cx="6035040" cy="329184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A0A0B"/>
                </a:solidFill>
              </a:rPr>
              <a:t>Code makes every decision; </a:t>
            </a:r>
            <a:pPr indent="0" marL="0">
              <a:spcAft>
                <a:spcPts val="1000"/>
              </a:spcAft>
              <a:buNone/>
            </a:pPr>
            <a:r>
              <a:rPr lang="en-US" sz="1400" dirty="0">
                <a:solidFill>
                  <a:srgbClr val="0A0A0B"/>
                </a:solidFill>
              </a:rPr>
              <a:t>models only write short sentences that code checks. The class comes from what a change does, never from the draft.</a:t>
            </a:r>
            <a:endParaRPr lang="en-US" sz="1400" dirty="0"/>
          </a:p>
          <a:p>
            <a:pPr marL="342900" indent="-342900">
              <a:spcAft>
                <a:spcPts val="1000"/>
              </a:spcAft>
              <a:buSzPct val="100000"/>
              <a:buChar char="•"/>
            </a:pPr>
            <a:r>
              <a:rPr lang="en-US" sz="1400" b="1" dirty="0">
                <a:solidFill>
                  <a:srgbClr val="0A0A0B"/>
                </a:solidFill>
              </a:rPr>
              <a:t>Nine gates: </a:t>
            </a:r>
            <a:pPr indent="0" marL="0">
              <a:spcAft>
                <a:spcPts val="1000"/>
              </a:spcAft>
              <a:buNone/>
            </a:pPr>
            <a:r>
              <a:rPr lang="en-US" sz="1400" dirty="0">
                <a:solidFill>
                  <a:srgbClr val="0A0A0B"/>
                </a:solidFill>
              </a:rPr>
              <a:t>policy, a code scan, unit tests, the crash matrix, the red team, Messenger end to end, the planner test, the spec's oracle and a privacy canary.</a:t>
            </a:r>
            <a:endParaRPr lang="en-US" sz="1400" dirty="0"/>
          </a:p>
          <a:p>
            <a:pPr marL="342900" indent="-342900">
              <a:spcAft>
                <a:spcPts val="1000"/>
              </a:spcAft>
              <a:buSzPct val="100000"/>
              <a:buChar char="•"/>
            </a:pPr>
            <a:r>
              <a:rPr lang="en-US" sz="1400" b="1" dirty="0">
                <a:solidFill>
                  <a:srgbClr val="0A0A0B"/>
                </a:solidFill>
              </a:rPr>
              <a:t>Anything bigger goes to a person: </a:t>
            </a:r>
            <a:pPr indent="0" marL="0">
              <a:spcAft>
                <a:spcPts val="1000"/>
              </a:spcAft>
              <a:buNone/>
            </a:pPr>
            <a:r>
              <a:rPr lang="en-US" sz="1400" dirty="0">
                <a:solidFill>
                  <a:srgbClr val="0A0A0B"/>
                </a:solidFill>
              </a:rPr>
              <a:t>the builder agent writes it on a branch with read-only tests and no network.</a:t>
            </a:r>
            <a:endParaRPr lang="en-US" sz="1400" dirty="0"/>
          </a:p>
        </p:txBody>
      </p:sp>
      <p:pic>
        <p:nvPicPr>
          <p:cNvPr id="20" name="Image 0" descr="preencoded.png">    </p:cNvPr>
          <p:cNvPicPr>
            <a:picLocks noChangeAspect="1"/>
          </p:cNvPicPr>
          <p:nvPr/>
        </p:nvPicPr>
        <p:blipFill>
          <a:blip r:embed="rId1"/>
          <a:stretch>
            <a:fillRect/>
          </a:stretch>
        </p:blipFill>
        <p:spPr>
          <a:xfrm>
            <a:off x="6858000" y="2743200"/>
            <a:ext cx="4785055" cy="2440515"/>
          </a:xfrm>
          <a:prstGeom prst="rect">
            <a:avLst/>
          </a:prstGeom>
        </p:spPr>
      </p:pic>
      <p:sp>
        <p:nvSpPr>
          <p:cNvPr id="21" name="Text 18"/>
          <p:cNvSpPr txBox="1"/>
          <p:nvPr/>
        </p:nvSpPr>
        <p:spPr>
          <a:xfrm>
            <a:off x="6858000" y="5293443"/>
            <a:ext cx="4785055" cy="685800"/>
          </a:xfrm>
          <a:prstGeom prst="rect">
            <a:avLst/>
          </a:prstGeom>
          <a:noFill/>
          <a:ln/>
        </p:spPr>
        <p:txBody>
          <a:bodyPr wrap="square" lIns="0" tIns="0" rIns="0" bIns="0" rtlCol="0" anchor="t"/>
          <a:lstStyle/>
          <a:p>
            <a:pPr indent="0" marL="0">
              <a:buNone/>
            </a:pPr>
            <a:r>
              <a:rPr lang="en-US" sz="1100" dirty="0">
                <a:solidFill>
                  <a:srgbClr val="55555C"/>
                </a:solidFill>
              </a:rPr>
              <a:t>Harmless changes rolled back in 20,000 simulated 7-day canaries of 5 members, looked at every 5 minutes (95% Wilson intervals). The price is caution: a bad change (thumbs down 25% to 60%) was caught in 61%.</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Social reels from one phone video give friends a reason to book the next game</a:t>
            </a:r>
            <a:endParaRPr lang="en-US" sz="2400" dirty="0"/>
          </a:p>
        </p:txBody>
      </p:sp>
      <p:pic>
        <p:nvPicPr>
          <p:cNvPr id="3" name="Image 0" descr="preencoded.png">    </p:cNvPr>
          <p:cNvPicPr>
            <a:picLocks noChangeAspect="1"/>
          </p:cNvPicPr>
          <p:nvPr/>
        </p:nvPicPr>
        <p:blipFill>
          <a:blip r:embed="rId1"/>
          <a:stretch>
            <a:fillRect/>
          </a:stretch>
        </p:blipFill>
        <p:spPr>
          <a:xfrm>
            <a:off x="548640" y="1280160"/>
            <a:ext cx="11094415" cy="2046101"/>
          </a:xfrm>
          <a:prstGeom prst="rect">
            <a:avLst/>
          </a:prstGeom>
        </p:spPr>
      </p:pic>
      <p:sp>
        <p:nvSpPr>
          <p:cNvPr id="4" name="Text 1"/>
          <p:cNvSpPr txBox="1"/>
          <p:nvPr/>
        </p:nvSpPr>
        <p:spPr>
          <a:xfrm>
            <a:off x="548640" y="3429000"/>
            <a:ext cx="11094415"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An automatic highlight as the pipeline cut it (clip: Badminton klub Ljubljana, CC BY 3.0)</a:t>
            </a:r>
            <a:endParaRPr lang="en-US" sz="1100" dirty="0"/>
          </a:p>
        </p:txBody>
      </p:sp>
      <p:sp>
        <p:nvSpPr>
          <p:cNvPr id="5" name="Shape 2"/>
          <p:cNvSpPr/>
          <p:nvPr/>
        </p:nvSpPr>
        <p:spPr>
          <a:xfrm>
            <a:off x="548640" y="3931920"/>
            <a:ext cx="2743200" cy="1508760"/>
          </a:xfrm>
          <a:prstGeom prst="roundRect">
            <a:avLst>
              <a:gd name="adj" fmla="val 4848"/>
            </a:avLst>
          </a:prstGeom>
          <a:solidFill>
            <a:srgbClr val="F3F6F4"/>
          </a:solidFill>
          <a:ln w="12700">
            <a:solidFill>
              <a:srgbClr val="F3F6F4"/>
            </a:solidFill>
            <a:prstDash val="solid"/>
          </a:ln>
        </p:spPr>
      </p:sp>
      <p:sp>
        <p:nvSpPr>
          <p:cNvPr id="6" name="Text 3"/>
          <p:cNvSpPr txBox="1"/>
          <p:nvPr/>
        </p:nvSpPr>
        <p:spPr>
          <a:xfrm>
            <a:off x="777240" y="4069080"/>
            <a:ext cx="2286000" cy="731520"/>
          </a:xfrm>
          <a:prstGeom prst="rect">
            <a:avLst/>
          </a:prstGeom>
          <a:noFill/>
          <a:ln/>
        </p:spPr>
        <p:txBody>
          <a:bodyPr wrap="square" lIns="0" tIns="0" rIns="0" bIns="0" rtlCol="0" anchor="ctr"/>
          <a:lstStyle/>
          <a:p>
            <a:pPr indent="0" marL="0">
              <a:buNone/>
            </a:pPr>
            <a:r>
              <a:rPr lang="en-US" sz="3000" b="1" dirty="0">
                <a:solidFill>
                  <a:srgbClr val="0A7F44"/>
                </a:solidFill>
                <a:latin typeface="Segoe UI Semibold" pitchFamily="34" charset="0"/>
                <a:ea typeface="Segoe UI Semibold" pitchFamily="34" charset="-122"/>
                <a:cs typeface="Segoe UI Semibold" pitchFamily="34" charset="-120"/>
              </a:rPr>
              <a:t>1.00 / 0.79</a:t>
            </a:r>
            <a:endParaRPr lang="en-US" sz="3000" dirty="0"/>
          </a:p>
        </p:txBody>
      </p:sp>
      <p:sp>
        <p:nvSpPr>
          <p:cNvPr id="7" name="Text 4"/>
          <p:cNvSpPr txBox="1"/>
          <p:nvPr/>
        </p:nvSpPr>
        <p:spPr>
          <a:xfrm>
            <a:off x="777240" y="4800600"/>
            <a:ext cx="2286000" cy="594360"/>
          </a:xfrm>
          <a:prstGeom prst="rect">
            <a:avLst/>
          </a:prstGeom>
          <a:noFill/>
          <a:ln/>
        </p:spPr>
        <p:txBody>
          <a:bodyPr wrap="square" lIns="0" tIns="0" rIns="0" bIns="0" rtlCol="0" anchor="t"/>
          <a:lstStyle/>
          <a:p>
            <a:pPr indent="0" marL="0">
              <a:buNone/>
            </a:pPr>
            <a:r>
              <a:rPr lang="en-US" sz="1250" dirty="0">
                <a:solidFill>
                  <a:srgbClr val="55555C"/>
                </a:solidFill>
              </a:rPr>
              <a:t>precision / recall of the learned arc threshold (first rule: 0.45 / 0.64)</a:t>
            </a:r>
            <a:endParaRPr lang="en-US" sz="1250" dirty="0"/>
          </a:p>
        </p:txBody>
      </p:sp>
      <p:sp>
        <p:nvSpPr>
          <p:cNvPr id="8" name="Shape 5"/>
          <p:cNvSpPr/>
          <p:nvPr/>
        </p:nvSpPr>
        <p:spPr>
          <a:xfrm>
            <a:off x="3474720" y="3931920"/>
            <a:ext cx="2468880" cy="1508760"/>
          </a:xfrm>
          <a:prstGeom prst="roundRect">
            <a:avLst>
              <a:gd name="adj" fmla="val 4848"/>
            </a:avLst>
          </a:prstGeom>
          <a:solidFill>
            <a:srgbClr val="F3F6F4"/>
          </a:solidFill>
          <a:ln w="12700">
            <a:solidFill>
              <a:srgbClr val="F3F6F4"/>
            </a:solidFill>
            <a:prstDash val="solid"/>
          </a:ln>
        </p:spPr>
      </p:sp>
      <p:sp>
        <p:nvSpPr>
          <p:cNvPr id="9" name="Text 6"/>
          <p:cNvSpPr txBox="1"/>
          <p:nvPr/>
        </p:nvSpPr>
        <p:spPr>
          <a:xfrm>
            <a:off x="3703320" y="4069080"/>
            <a:ext cx="2011680" cy="731520"/>
          </a:xfrm>
          <a:prstGeom prst="rect">
            <a:avLst/>
          </a:prstGeom>
          <a:noFill/>
          <a:ln/>
        </p:spPr>
        <p:txBody>
          <a:bodyPr wrap="square" lIns="0" tIns="0" rIns="0" bIns="0" rtlCol="0" anchor="ctr"/>
          <a:lstStyle/>
          <a:p>
            <a:pPr indent="0" marL="0">
              <a:buNone/>
            </a:pPr>
            <a:r>
              <a:rPr lang="en-US" sz="3000" b="1" dirty="0">
                <a:solidFill>
                  <a:srgbClr val="0A7F44"/>
                </a:solidFill>
                <a:latin typeface="Segoe UI Semibold" pitchFamily="34" charset="0"/>
                <a:ea typeface="Segoe UI Semibold" pitchFamily="34" charset="-122"/>
                <a:cs typeface="Segoe UI Semibold" pitchFamily="34" charset="-120"/>
              </a:rPr>
              <a:t>87%</a:t>
            </a:r>
            <a:endParaRPr lang="en-US" sz="3000" dirty="0"/>
          </a:p>
        </p:txBody>
      </p:sp>
      <p:sp>
        <p:nvSpPr>
          <p:cNvPr id="10" name="Text 7"/>
          <p:cNvSpPr txBox="1"/>
          <p:nvPr/>
        </p:nvSpPr>
        <p:spPr>
          <a:xfrm>
            <a:off x="3703320" y="4800600"/>
            <a:ext cx="2011680" cy="594360"/>
          </a:xfrm>
          <a:prstGeom prst="rect">
            <a:avLst/>
          </a:prstGeom>
          <a:noFill/>
          <a:ln/>
        </p:spPr>
        <p:txBody>
          <a:bodyPr wrap="square" lIns="0" tIns="0" rIns="0" bIns="0" rtlCol="0" anchor="t"/>
          <a:lstStyle/>
          <a:p>
            <a:pPr indent="0" marL="0">
              <a:buNone/>
            </a:pPr>
            <a:r>
              <a:rPr lang="en-US" sz="1250" dirty="0">
                <a:solidFill>
                  <a:srgbClr val="55555C"/>
                </a:solidFill>
              </a:rPr>
              <a:t>Muse Wonder agreed with the labels, and says why</a:t>
            </a:r>
            <a:endParaRPr lang="en-US" sz="1250" dirty="0"/>
          </a:p>
        </p:txBody>
      </p:sp>
      <p:sp>
        <p:nvSpPr>
          <p:cNvPr id="11" name="Shape 8"/>
          <p:cNvSpPr/>
          <p:nvPr/>
        </p:nvSpPr>
        <p:spPr>
          <a:xfrm>
            <a:off x="6126480" y="3931920"/>
            <a:ext cx="2468880" cy="1508760"/>
          </a:xfrm>
          <a:prstGeom prst="roundRect">
            <a:avLst>
              <a:gd name="adj" fmla="val 4848"/>
            </a:avLst>
          </a:prstGeom>
          <a:solidFill>
            <a:srgbClr val="F3F6F4"/>
          </a:solidFill>
          <a:ln w="12700">
            <a:solidFill>
              <a:srgbClr val="F3F6F4"/>
            </a:solidFill>
            <a:prstDash val="solid"/>
          </a:ln>
        </p:spPr>
      </p:sp>
      <p:sp>
        <p:nvSpPr>
          <p:cNvPr id="12" name="Text 9"/>
          <p:cNvSpPr txBox="1"/>
          <p:nvPr/>
        </p:nvSpPr>
        <p:spPr>
          <a:xfrm>
            <a:off x="6355080" y="4069080"/>
            <a:ext cx="2011680" cy="731520"/>
          </a:xfrm>
          <a:prstGeom prst="rect">
            <a:avLst/>
          </a:prstGeom>
          <a:noFill/>
          <a:ln/>
        </p:spPr>
        <p:txBody>
          <a:bodyPr wrap="square" lIns="0" tIns="0" rIns="0" bIns="0" rtlCol="0" anchor="ctr"/>
          <a:lstStyle/>
          <a:p>
            <a:pPr indent="0" marL="0">
              <a:buNone/>
            </a:pPr>
            <a:r>
              <a:rPr lang="en-US" sz="3000" b="1" dirty="0">
                <a:solidFill>
                  <a:srgbClr val="0A7F44"/>
                </a:solidFill>
                <a:latin typeface="Segoe UI Semibold" pitchFamily="34" charset="0"/>
                <a:ea typeface="Segoe UI Semibold" pitchFamily="34" charset="-122"/>
                <a:cs typeface="Segoe UI Semibold" pitchFamily="34" charset="-120"/>
              </a:rPr>
              <a:t>19.9 s</a:t>
            </a:r>
            <a:endParaRPr lang="en-US" sz="3000" dirty="0"/>
          </a:p>
        </p:txBody>
      </p:sp>
      <p:sp>
        <p:nvSpPr>
          <p:cNvPr id="13" name="Text 10"/>
          <p:cNvSpPr txBox="1"/>
          <p:nvPr/>
        </p:nvSpPr>
        <p:spPr>
          <a:xfrm>
            <a:off x="6355080" y="4800600"/>
            <a:ext cx="2011680" cy="594360"/>
          </a:xfrm>
          <a:prstGeom prst="rect">
            <a:avLst/>
          </a:prstGeom>
          <a:noFill/>
          <a:ln/>
        </p:spPr>
        <p:txBody>
          <a:bodyPr wrap="square" lIns="0" tIns="0" rIns="0" bIns="0" rtlCol="0" anchor="t"/>
          <a:lstStyle/>
          <a:p>
            <a:pPr indent="0" marL="0">
              <a:buNone/>
            </a:pPr>
            <a:r>
              <a:rPr lang="en-US" sz="1250" dirty="0">
                <a:solidFill>
                  <a:srgbClr val="55555C"/>
                </a:solidFill>
              </a:rPr>
              <a:t>a moment on the RTX 3090, models loaded</a:t>
            </a:r>
            <a:endParaRPr lang="en-US" sz="1250" dirty="0"/>
          </a:p>
        </p:txBody>
      </p:sp>
      <p:sp>
        <p:nvSpPr>
          <p:cNvPr id="14" name="Text 11"/>
          <p:cNvSpPr txBox="1"/>
          <p:nvPr/>
        </p:nvSpPr>
        <p:spPr>
          <a:xfrm>
            <a:off x="8869680" y="3977640"/>
            <a:ext cx="2773375" cy="2011680"/>
          </a:xfrm>
          <a:prstGeom prst="rect">
            <a:avLst/>
          </a:prstGeom>
          <a:noFill/>
          <a:ln/>
        </p:spPr>
        <p:txBody>
          <a:bodyPr wrap="square" lIns="0" tIns="0" rIns="0" bIns="0" rtlCol="0" anchor="t"/>
          <a:lstStyle/>
          <a:p>
            <a:pPr marL="342900" indent="-342900">
              <a:spcAft>
                <a:spcPts val="800"/>
              </a:spcAft>
              <a:buSzPct val="100000"/>
              <a:buChar char="•"/>
            </a:pPr>
            <a:r>
              <a:rPr lang="en-US" sz="1300" b="1" dirty="0">
                <a:solidFill>
                  <a:srgbClr val="0A0A0B"/>
                </a:solidFill>
              </a:rPr>
              <a:t>MapAnything </a:t>
            </a:r>
            <a:pPr indent="0" marL="0">
              <a:spcAft>
                <a:spcPts val="800"/>
              </a:spcAft>
              <a:buNone/>
            </a:pPr>
            <a:r>
              <a:rPr lang="en-US" sz="1300" dirty="0">
                <a:solidFill>
                  <a:srgbClr val="0A0A0B"/>
                </a:solidFill>
              </a:rPr>
              <a:t>reads depth and the camera; SAM 2.1 cuts the player out.</a:t>
            </a:r>
            <a:endParaRPr lang="en-US" sz="1300" dirty="0"/>
          </a:p>
          <a:p>
            <a:pPr marL="342900" indent="-342900">
              <a:spcAft>
                <a:spcPts val="800"/>
              </a:spcAft>
              <a:buSzPct val="100000"/>
              <a:buChar char="•"/>
            </a:pPr>
            <a:r>
              <a:rPr lang="en-US" sz="1300" b="1" dirty="0">
                <a:solidFill>
                  <a:srgbClr val="0A0A0B"/>
                </a:solidFill>
              </a:rPr>
              <a:t>RT-DETR </a:t>
            </a:r>
            <a:pPr indent="0" marL="0">
              <a:spcAft>
                <a:spcPts val="800"/>
              </a:spcAft>
              <a:buNone/>
            </a:pPr>
            <a:r>
              <a:rPr lang="en-US" sz="1300" dirty="0">
                <a:solidFill>
                  <a:srgbClr val="0A0A0B"/>
                </a:solidFill>
              </a:rPr>
              <a:t>follows the right player on all three test clips, about 2× faster than DETR.</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A booking, step by step, with its measured times</a:t>
            </a:r>
            <a:endParaRPr lang="en-US" sz="2400" dirty="0"/>
          </a:p>
        </p:txBody>
      </p:sp>
      <p:pic>
        <p:nvPicPr>
          <p:cNvPr id="3" name="Image 0" descr="preencoded.png">    </p:cNvPr>
          <p:cNvPicPr>
            <a:picLocks noChangeAspect="1"/>
          </p:cNvPicPr>
          <p:nvPr/>
        </p:nvPicPr>
        <p:blipFill>
          <a:blip r:embed="rId1"/>
          <a:stretch>
            <a:fillRect/>
          </a:stretch>
        </p:blipFill>
        <p:spPr>
          <a:xfrm>
            <a:off x="1783808" y="1234440"/>
            <a:ext cx="8624079" cy="502920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Our own 1B makes Glimmer's choice in 0.9 s instead of 40 s</a:t>
            </a:r>
            <a:endParaRPr lang="en-US" sz="2400" dirty="0"/>
          </a:p>
        </p:txBody>
      </p:sp>
      <p:pic>
        <p:nvPicPr>
          <p:cNvPr id="3" name="Image 0" descr="preencoded.png">    </p:cNvPr>
          <p:cNvPicPr>
            <a:picLocks noChangeAspect="1"/>
          </p:cNvPicPr>
          <p:nvPr/>
        </p:nvPicPr>
        <p:blipFill>
          <a:blip r:embed="rId1"/>
          <a:stretch>
            <a:fillRect/>
          </a:stretch>
        </p:blipFill>
        <p:spPr>
          <a:xfrm>
            <a:off x="1410504" y="1188720"/>
            <a:ext cx="937068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Time for one choice between listed times (log scale). The 1B (Llama 3.2 1B distilled from 4,868 of Glimmer's choices, int4) runs on the CPU and agrees with Glimmer on 89.5% of 500 held-out cases, against Glimmer's 88.8% with itself.</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How we distilled it: from Glimmer's calls to the CPU</a:t>
            </a:r>
            <a:endParaRPr lang="en-US" sz="2400" dirty="0"/>
          </a:p>
        </p:txBody>
      </p:sp>
      <p:sp>
        <p:nvSpPr>
          <p:cNvPr id="3" name="Shape 1"/>
          <p:cNvSpPr/>
          <p:nvPr/>
        </p:nvSpPr>
        <p:spPr>
          <a:xfrm>
            <a:off x="548640" y="1325880"/>
            <a:ext cx="1691640" cy="1600200"/>
          </a:xfrm>
          <a:prstGeom prst="roundRect">
            <a:avLst>
              <a:gd name="adj" fmla="val 4571"/>
            </a:avLst>
          </a:prstGeom>
          <a:solidFill>
            <a:srgbClr val="F3F6F4"/>
          </a:solidFill>
          <a:ln w="12700">
            <a:solidFill>
              <a:srgbClr val="F3F6F4"/>
            </a:solidFill>
            <a:prstDash val="solid"/>
          </a:ln>
        </p:spPr>
      </p:sp>
      <p:sp>
        <p:nvSpPr>
          <p:cNvPr id="4" name="Text 2"/>
          <p:cNvSpPr txBox="1"/>
          <p:nvPr/>
        </p:nvSpPr>
        <p:spPr>
          <a:xfrm>
            <a:off x="6858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Real agent calls</a:t>
            </a:r>
            <a:endParaRPr lang="en-US" sz="1400" dirty="0"/>
          </a:p>
          <a:p>
            <a:pPr algn="ctr" indent="0" marL="0">
              <a:buNone/>
            </a:pPr>
            <a:r>
              <a:rPr lang="en-US" sz="1150" dirty="0">
                <a:solidFill>
                  <a:srgbClr val="55555C"/>
                </a:solidFill>
              </a:rPr>
              <a:t>the talks' own code builds each case from the simulated club</a:t>
            </a:r>
            <a:endParaRPr lang="en-US" sz="1400" dirty="0"/>
          </a:p>
        </p:txBody>
      </p:sp>
      <p:sp>
        <p:nvSpPr>
          <p:cNvPr id="5" name="Shape 3"/>
          <p:cNvSpPr/>
          <p:nvPr/>
        </p:nvSpPr>
        <p:spPr>
          <a:xfrm>
            <a:off x="2249424" y="2121408"/>
            <a:ext cx="164592" cy="914"/>
          </a:xfrm>
          <a:prstGeom prst="line">
            <a:avLst/>
          </a:prstGeom>
          <a:noFill/>
          <a:ln w="25400">
            <a:solidFill>
              <a:srgbClr val="8A8A92"/>
            </a:solidFill>
            <a:prstDash val="solid"/>
            <a:tailEnd type="triangle"/>
          </a:ln>
        </p:spPr>
      </p:sp>
      <p:sp>
        <p:nvSpPr>
          <p:cNvPr id="6" name="Shape 4"/>
          <p:cNvSpPr/>
          <p:nvPr/>
        </p:nvSpPr>
        <p:spPr>
          <a:xfrm>
            <a:off x="2423160" y="1325880"/>
            <a:ext cx="1691640" cy="1600200"/>
          </a:xfrm>
          <a:prstGeom prst="roundRect">
            <a:avLst>
              <a:gd name="adj" fmla="val 4571"/>
            </a:avLst>
          </a:prstGeom>
          <a:solidFill>
            <a:srgbClr val="F3F6F4"/>
          </a:solidFill>
          <a:ln w="12700">
            <a:solidFill>
              <a:srgbClr val="F3F6F4"/>
            </a:solidFill>
            <a:prstDash val="solid"/>
          </a:ln>
        </p:spPr>
      </p:sp>
      <p:sp>
        <p:nvSpPr>
          <p:cNvPr id="7" name="Text 5"/>
          <p:cNvSpPr txBox="1"/>
          <p:nvPr/>
        </p:nvSpPr>
        <p:spPr>
          <a:xfrm>
            <a:off x="256032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Glimmer labels</a:t>
            </a:r>
            <a:endParaRPr lang="en-US" sz="1400" dirty="0"/>
          </a:p>
          <a:p>
            <a:pPr algn="ctr" indent="0" marL="0">
              <a:buNone/>
            </a:pPr>
            <a:r>
              <a:rPr lang="en-US" sz="1150" dirty="0">
                <a:solidFill>
                  <a:srgbClr val="55555C"/>
                </a:solidFill>
              </a:rPr>
              <a:t>muse-glimmer:30b through fullAnswer: 4,868 training choices</a:t>
            </a:r>
            <a:endParaRPr lang="en-US" sz="1400" dirty="0"/>
          </a:p>
        </p:txBody>
      </p:sp>
      <p:sp>
        <p:nvSpPr>
          <p:cNvPr id="8" name="Shape 6"/>
          <p:cNvSpPr/>
          <p:nvPr/>
        </p:nvSpPr>
        <p:spPr>
          <a:xfrm>
            <a:off x="4123944" y="2121408"/>
            <a:ext cx="164592" cy="914"/>
          </a:xfrm>
          <a:prstGeom prst="line">
            <a:avLst/>
          </a:prstGeom>
          <a:noFill/>
          <a:ln w="25400">
            <a:solidFill>
              <a:srgbClr val="8A8A92"/>
            </a:solidFill>
            <a:prstDash val="solid"/>
            <a:tailEnd type="triangle"/>
          </a:ln>
        </p:spPr>
      </p:sp>
      <p:sp>
        <p:nvSpPr>
          <p:cNvPr id="9" name="Shape 7"/>
          <p:cNvSpPr/>
          <p:nvPr/>
        </p:nvSpPr>
        <p:spPr>
          <a:xfrm>
            <a:off x="4297680" y="1325880"/>
            <a:ext cx="1691640" cy="1600200"/>
          </a:xfrm>
          <a:prstGeom prst="roundRect">
            <a:avLst>
              <a:gd name="adj" fmla="val 4571"/>
            </a:avLst>
          </a:prstGeom>
          <a:solidFill>
            <a:srgbClr val="F3F6F4"/>
          </a:solidFill>
          <a:ln w="12700">
            <a:solidFill>
              <a:srgbClr val="F3F6F4"/>
            </a:solidFill>
            <a:prstDash val="solid"/>
          </a:ln>
        </p:spPr>
      </p:sp>
      <p:sp>
        <p:nvSpPr>
          <p:cNvPr id="10" name="Text 8"/>
          <p:cNvSpPr txBox="1"/>
          <p:nvPr/>
        </p:nvSpPr>
        <p:spPr>
          <a:xfrm>
            <a:off x="443484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One prompt, ~240 tokens</a:t>
            </a:r>
            <a:endParaRPr lang="en-US" sz="1400" dirty="0"/>
          </a:p>
          <a:p>
            <a:pPr algn="ctr" indent="0" marL="0">
              <a:buNone/>
            </a:pPr>
            <a:r>
              <a:rPr lang="en-US" sz="1150" dirty="0">
                <a:solidFill>
                  <a:srgbClr val="55555C"/>
                </a:solidFill>
              </a:rPr>
              <a:t>profile, the game, the times; letters in time order</a:t>
            </a:r>
            <a:endParaRPr lang="en-US" sz="1400" dirty="0"/>
          </a:p>
        </p:txBody>
      </p:sp>
      <p:sp>
        <p:nvSpPr>
          <p:cNvPr id="11" name="Shape 9"/>
          <p:cNvSpPr/>
          <p:nvPr/>
        </p:nvSpPr>
        <p:spPr>
          <a:xfrm>
            <a:off x="5998464" y="2121408"/>
            <a:ext cx="164592" cy="914"/>
          </a:xfrm>
          <a:prstGeom prst="line">
            <a:avLst/>
          </a:prstGeom>
          <a:noFill/>
          <a:ln w="25400">
            <a:solidFill>
              <a:srgbClr val="8A8A92"/>
            </a:solidFill>
            <a:prstDash val="solid"/>
            <a:tailEnd type="triangle"/>
          </a:ln>
        </p:spPr>
      </p:sp>
      <p:sp>
        <p:nvSpPr>
          <p:cNvPr id="12" name="Shape 10"/>
          <p:cNvSpPr/>
          <p:nvPr/>
        </p:nvSpPr>
        <p:spPr>
          <a:xfrm>
            <a:off x="6172200" y="1325880"/>
            <a:ext cx="1691640" cy="1600200"/>
          </a:xfrm>
          <a:prstGeom prst="roundRect">
            <a:avLst>
              <a:gd name="adj" fmla="val 4571"/>
            </a:avLst>
          </a:prstGeom>
          <a:solidFill>
            <a:srgbClr val="0A7F44"/>
          </a:solidFill>
          <a:ln w="12700">
            <a:solidFill>
              <a:srgbClr val="0A7F44"/>
            </a:solidFill>
            <a:prstDash val="solid"/>
          </a:ln>
        </p:spPr>
      </p:sp>
      <p:sp>
        <p:nvSpPr>
          <p:cNvPr id="13" name="Text 11"/>
          <p:cNvSpPr txBox="1"/>
          <p:nvPr/>
        </p:nvSpPr>
        <p:spPr>
          <a:xfrm>
            <a:off x="6309360" y="1325880"/>
            <a:ext cx="1417320" cy="1600200"/>
          </a:xfrm>
          <a:prstGeom prst="rect">
            <a:avLst/>
          </a:prstGeom>
          <a:noFill/>
          <a:ln/>
        </p:spPr>
        <p:txBody>
          <a:bodyPr wrap="square" lIns="0" tIns="0" rIns="0" bIns="0" rtlCol="0" anchor="ctr"/>
          <a:lstStyle/>
          <a:p>
            <a:pPr algn="ctr" indent="0" marL="0">
              <a:buNone/>
            </a:pPr>
            <a:r>
              <a:rPr lang="en-US" sz="1400" b="1" dirty="0">
                <a:solidFill>
                  <a:srgbClr val="FFFFFF"/>
                </a:solidFill>
              </a:rPr>
              <a:t>LoRA on Llama 3.2 1B</a:t>
            </a:r>
            <a:endParaRPr lang="en-US" sz="1400" dirty="0"/>
          </a:p>
          <a:p>
            <a:pPr algn="ctr" indent="0" marL="0">
              <a:buNone/>
            </a:pPr>
            <a:r>
              <a:rPr lang="en-US" sz="1150" dirty="0">
                <a:solidFill>
                  <a:srgbClr val="D9EBDF"/>
                </a:solidFill>
              </a:rPr>
              <a:t>rank 16, alpha 32, 3 epochs, 20 min on one A100</a:t>
            </a:r>
            <a:endParaRPr lang="en-US" sz="1400" dirty="0"/>
          </a:p>
        </p:txBody>
      </p:sp>
      <p:sp>
        <p:nvSpPr>
          <p:cNvPr id="14" name="Shape 12"/>
          <p:cNvSpPr/>
          <p:nvPr/>
        </p:nvSpPr>
        <p:spPr>
          <a:xfrm>
            <a:off x="7872984" y="2121408"/>
            <a:ext cx="164592" cy="914"/>
          </a:xfrm>
          <a:prstGeom prst="line">
            <a:avLst/>
          </a:prstGeom>
          <a:noFill/>
          <a:ln w="25400">
            <a:solidFill>
              <a:srgbClr val="8A8A92"/>
            </a:solidFill>
            <a:prstDash val="solid"/>
            <a:tailEnd type="triangle"/>
          </a:ln>
        </p:spPr>
      </p:sp>
      <p:sp>
        <p:nvSpPr>
          <p:cNvPr id="15" name="Shape 13"/>
          <p:cNvSpPr/>
          <p:nvPr/>
        </p:nvSpPr>
        <p:spPr>
          <a:xfrm>
            <a:off x="8046720" y="1325880"/>
            <a:ext cx="1691640" cy="1600200"/>
          </a:xfrm>
          <a:prstGeom prst="roundRect">
            <a:avLst>
              <a:gd name="adj" fmla="val 4571"/>
            </a:avLst>
          </a:prstGeom>
          <a:solidFill>
            <a:srgbClr val="F3F6F4"/>
          </a:solidFill>
          <a:ln w="12700">
            <a:solidFill>
              <a:srgbClr val="F3F6F4"/>
            </a:solidFill>
            <a:prstDash val="solid"/>
          </a:ln>
        </p:spPr>
      </p:sp>
      <p:sp>
        <p:nvSpPr>
          <p:cNvPr id="16" name="Text 14"/>
          <p:cNvSpPr txBox="1"/>
          <p:nvPr/>
        </p:nvSpPr>
        <p:spPr>
          <a:xfrm>
            <a:off x="818388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int4 GGUF</a:t>
            </a:r>
            <a:endParaRPr lang="en-US" sz="1400" dirty="0"/>
          </a:p>
          <a:p>
            <a:pPr algn="ctr" indent="0" marL="0">
              <a:buNone/>
            </a:pPr>
            <a:r>
              <a:rPr lang="en-US" sz="1150" dirty="0">
                <a:solidFill>
                  <a:srgbClr val="55555C"/>
                </a:solidFill>
              </a:rPr>
              <a:t>merged, llama.cpp Q4_K_M, 0.8 GB</a:t>
            </a:r>
            <a:endParaRPr lang="en-US" sz="1400" dirty="0"/>
          </a:p>
        </p:txBody>
      </p:sp>
      <p:sp>
        <p:nvSpPr>
          <p:cNvPr id="17" name="Shape 15"/>
          <p:cNvSpPr/>
          <p:nvPr/>
        </p:nvSpPr>
        <p:spPr>
          <a:xfrm>
            <a:off x="9747504" y="2121408"/>
            <a:ext cx="164592" cy="914"/>
          </a:xfrm>
          <a:prstGeom prst="line">
            <a:avLst/>
          </a:prstGeom>
          <a:noFill/>
          <a:ln w="25400">
            <a:solidFill>
              <a:srgbClr val="8A8A92"/>
            </a:solidFill>
            <a:prstDash val="solid"/>
            <a:tailEnd type="triangle"/>
          </a:ln>
        </p:spPr>
      </p:sp>
      <p:sp>
        <p:nvSpPr>
          <p:cNvPr id="18" name="Shape 16"/>
          <p:cNvSpPr/>
          <p:nvPr/>
        </p:nvSpPr>
        <p:spPr>
          <a:xfrm>
            <a:off x="9921240" y="1325880"/>
            <a:ext cx="1691640" cy="1600200"/>
          </a:xfrm>
          <a:prstGeom prst="roundRect">
            <a:avLst>
              <a:gd name="adj" fmla="val 4571"/>
            </a:avLst>
          </a:prstGeom>
          <a:solidFill>
            <a:srgbClr val="F3F6F4"/>
          </a:solidFill>
          <a:ln w="12700">
            <a:solidFill>
              <a:srgbClr val="F3F6F4"/>
            </a:solidFill>
            <a:prstDash val="solid"/>
          </a:ln>
        </p:spPr>
      </p:sp>
      <p:sp>
        <p:nvSpPr>
          <p:cNvPr id="19" name="Text 17"/>
          <p:cNvSpPr txBox="1"/>
          <p:nvPr/>
        </p:nvSpPr>
        <p:spPr>
          <a:xfrm>
            <a:off x="100584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CPU worker</a:t>
            </a:r>
            <a:endParaRPr lang="en-US" sz="1400" dirty="0"/>
          </a:p>
          <a:p>
            <a:pPr algn="ctr" indent="0" marL="0">
              <a:buNone/>
            </a:pPr>
            <a:r>
              <a:rPr lang="en-US" sz="1150" dirty="0">
                <a:solidFill>
                  <a:srgbClr val="55555C"/>
                </a:solidFill>
              </a:rPr>
              <a:t>8 threads, nice 19, prefix cache, one at a time</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5669280" cy="914400"/>
        </p:xfrm>
        <a:graphic>
          <a:graphicData uri="http://schemas.openxmlformats.org/drawingml/2006/table">
            <a:tbl>
              <a:tblPr/>
              <a:tblGrid>
                <a:gridCol w="1554480"/>
                <a:gridCol w="822960"/>
                <a:gridCol w="3291840"/>
              </a:tblGrid>
              <a:tr h="384048">
                <a:tc>
                  <a:txBody>
                    <a:bodyPr/>
                    <a:lstStyle/>
                    <a:p>
                      <a:pPr indent="0" marL="0">
                        <a:buNone/>
                      </a:pPr>
                      <a:r>
                        <a:rPr lang="en-US" sz="1200" b="1" dirty="0">
                          <a:solidFill>
                            <a:srgbClr val="FFFFFF"/>
                          </a:solidFill>
                        </a:rPr>
                        <a:t>Set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algn="r" indent="0" marL="0">
                        <a:buNone/>
                      </a:pPr>
                      <a:r>
                        <a:rPr lang="en-US" sz="1200" b="1" dirty="0">
                          <a:solidFill>
                            <a:srgbClr val="FFFFFF"/>
                          </a:solidFill>
                        </a:rPr>
                        <a:t>Cases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indent="0" marL="0">
                        <a:buNone/>
                      </a:pPr>
                      <a:r>
                        <a:rPr lang="en-US" sz="1200" b="1" dirty="0">
                          <a:solidFill>
                            <a:srgbClr val="FFFFFF"/>
                          </a:solidFill>
                        </a:rPr>
                        <a:t>What it is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r>
              <a:tr h="384048">
                <a:tc>
                  <a:txBody>
                    <a:bodyPr/>
                    <a:lstStyle/>
                    <a:p>
                      <a:pPr algn="l" indent="0" marL="0">
                        <a:buNone/>
                      </a:pPr>
                      <a:r>
                        <a:rPr lang="en-US" sz="1200" dirty="0">
                          <a:solidFill>
                            <a:srgbClr val="0A0A0B"/>
                          </a:solidFill>
                        </a:rPr>
                        <a:t>train</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3,000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private calendars, habits reworded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trainshared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shared calendars (Serve's default)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asked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1,378</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asked time breaks a hard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test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3 Glimmer answers each</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decider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hardest: asked time breaks a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bl>
          </a:graphicData>
        </a:graphic>
      </p:graphicFrame>
      <p:sp>
        <p:nvSpPr>
          <p:cNvPr id="21" name="Shape 18"/>
          <p:cNvSpPr/>
          <p:nvPr/>
        </p:nvSpPr>
        <p:spPr>
          <a:xfrm>
            <a:off x="6583680" y="3246120"/>
            <a:ext cx="5059375" cy="2331720"/>
          </a:xfrm>
          <a:prstGeom prst="roundRect">
            <a:avLst>
              <a:gd name="adj" fmla="val 3137"/>
            </a:avLst>
          </a:prstGeom>
          <a:solidFill>
            <a:srgbClr val="E9F3EC"/>
          </a:solidFill>
          <a:ln w="12700">
            <a:solidFill>
              <a:srgbClr val="E9F3EC"/>
            </a:solidFill>
            <a:prstDash val="solid"/>
          </a:ln>
        </p:spPr>
      </p:sp>
      <p:sp>
        <p:nvSpPr>
          <p:cNvPr id="22" name="Text 19"/>
          <p:cNvSpPr txBox="1"/>
          <p:nvPr/>
        </p:nvSpPr>
        <p:spPr>
          <a:xfrm>
            <a:off x="6812280" y="3383280"/>
            <a:ext cx="4602175" cy="2103120"/>
          </a:xfrm>
          <a:prstGeom prst="rect">
            <a:avLst/>
          </a:prstGeom>
          <a:noFill/>
          <a:ln/>
        </p:spPr>
        <p:txBody>
          <a:bodyPr wrap="square" lIns="0" tIns="0" rIns="0" bIns="0" rtlCol="0" anchor="t"/>
          <a:lstStyle/>
          <a:p>
            <a:pPr indent="0" marL="0">
              <a:spcAft>
                <a:spcPts val="600"/>
              </a:spcAft>
              <a:buNone/>
            </a:pPr>
            <a:r>
              <a:rPr lang="en-US" sz="1500" b="1" dirty="0">
                <a:solidFill>
                  <a:srgbClr val="0A7F44"/>
                </a:solidFill>
              </a:rPr>
              <a:t>Two losses, at positions code knows; no text generated</a:t>
            </a:r>
            <a:endParaRPr lang="en-US" sz="1300" dirty="0"/>
          </a:p>
          <a:p>
            <a:pPr marL="342900" indent="-342900">
              <a:spcAft>
                <a:spcPts val="600"/>
              </a:spcAft>
              <a:buSzPct val="100000"/>
              <a:buChar char="•"/>
            </a:pPr>
            <a:r>
              <a:rPr lang="en-US" sz="1300" b="1" dirty="0">
                <a:solidFill>
                  <a:srgbClr val="0A0A0B"/>
                </a:solidFill>
              </a:rPr>
              <a:t>Choice: </a:t>
            </a:r>
            <a:pPr indent="0" marL="0">
              <a:spcAft>
                <a:spcPts val="600"/>
              </a:spcAft>
              <a:buNone/>
            </a:pPr>
            <a:r>
              <a:rPr lang="en-US" sz="1300" dirty="0">
                <a:solidFill>
                  <a:srgbClr val="0A0A0B"/>
                </a:solidFill>
              </a:rPr>
              <a:t>cross-entropy at the answer position over the valid letters only, against Glimmer's answer</a:t>
            </a:r>
            <a:endParaRPr lang="en-US" sz="1300" dirty="0"/>
          </a:p>
          <a:p>
            <a:pPr marL="342900" indent="-342900">
              <a:spcAft>
                <a:spcPts val="600"/>
              </a:spcAft>
              <a:buSzPct val="100000"/>
              <a:buChar char="•"/>
            </a:pPr>
            <a:r>
              <a:rPr lang="en-US" sz="1300" b="1" dirty="0">
                <a:solidFill>
                  <a:srgbClr val="0A0A0B"/>
                </a:solidFill>
              </a:rPr>
              <a:t>Works: </a:t>
            </a:r>
            <a:pPr indent="0" marL="0">
              <a:spcAft>
                <a:spcPts val="600"/>
              </a:spcAft>
              <a:buNone/>
            </a:pPr>
            <a:r>
              <a:rPr lang="en-US" sz="1300" dirty="0">
                <a:solidFill>
                  <a:srgbClr val="0A0A0B"/>
                </a:solidFill>
              </a:rPr>
              <a:t>yes or no at a marker after every time, against code's truth: its own reading of the calendar and rules, checked against code's before it may answer</a:t>
            </a:r>
            <a:endParaRPr lang="en-US" sz="1300" dirty="0"/>
          </a:p>
        </p:txBody>
      </p:sp>
      <p:sp>
        <p:nvSpPr>
          <p:cNvPr id="23" name="Text 20"/>
          <p:cNvSpPr txBox="1"/>
          <p:nvPr/>
        </p:nvSpPr>
        <p:spPr>
          <a:xfrm>
            <a:off x="548640" y="5760720"/>
            <a:ext cx="11094415" cy="4114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Like TypeSafe's Jev decision models: options declared in advance and scored together in one read. Teacher: the same Glimmer blob as our server (digest de878ce33ad8).</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One decision, one forward pass: a real held-out case</a:t>
            </a:r>
            <a:endParaRPr lang="en-US" sz="2400" dirty="0"/>
          </a:p>
        </p:txBody>
      </p:sp>
      <p:pic>
        <p:nvPicPr>
          <p:cNvPr id="3" name="Image 0" descr="preencoded.png">    </p:cNvPr>
          <p:cNvPicPr>
            <a:picLocks noChangeAspect="1"/>
          </p:cNvPicPr>
          <p:nvPr/>
        </p:nvPicPr>
        <p:blipFill>
          <a:blip r:embed="rId1"/>
          <a:stretch>
            <a:fillRect/>
          </a:stretch>
        </p:blipFill>
        <p:spPr>
          <a:xfrm>
            <a:off x="1240035" y="1188720"/>
            <a:ext cx="9711624"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Case s009 from the 196 hardest (the asked time ends after the member's home-by limit). (a) The 1B's own reading of whether each time works, checked against code's before it may answer. (b) Its probabilities over the valid options: t2 at 0.673 clears the 0.6 threshold, and both of Glimmer's answers chose t2.</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Four training rounds: more teacher answers won the hardest cases</a:t>
            </a:r>
            <a:endParaRPr lang="en-US" sz="2400" dirty="0"/>
          </a:p>
        </p:txBody>
      </p:sp>
      <p:pic>
        <p:nvPicPr>
          <p:cNvPr id="3" name="Image 0" descr="preencoded.png">    </p:cNvPr>
          <p:cNvPicPr>
            <a:picLocks noChangeAspect="1"/>
          </p:cNvPicPr>
          <p:nvPr/>
        </p:nvPicPr>
        <p:blipFill>
          <a:blip r:embed="rId1"/>
          <a:stretch>
            <a:fillRect/>
          </a:stretch>
        </p:blipFill>
        <p:spPr>
          <a:xfrm>
            <a:off x="1795016" y="1188720"/>
            <a:ext cx="8601663"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Agreement with Glimmer on the 196 hardest cases over three rounds (3B student; 95% intervals; dashed: Glimmer with itself). (b) Round 4 variants of the 1B (bf16): agreement with the majority of Glimmer's other answers against how often the pick changes when the list is reversed.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The threshold decides what the 1B answers itself</a:t>
            </a:r>
            <a:endParaRPr lang="en-US" sz="2400" dirty="0"/>
          </a:p>
        </p:txBody>
      </p:sp>
      <p:pic>
        <p:nvPicPr>
          <p:cNvPr id="3" name="Image 0" descr="preencoded.png">    </p:cNvPr>
          <p:cNvPicPr>
            <a:picLocks noChangeAspect="1"/>
          </p:cNvPicPr>
          <p:nvPr/>
        </p:nvPicPr>
        <p:blipFill>
          <a:blip r:embed="rId1"/>
          <a:stretch>
            <a:fillRect/>
          </a:stretch>
        </p:blipFill>
        <p:spPr>
          <a:xfrm>
            <a:off x="1751044" y="1188720"/>
            <a:ext cx="868960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Share of choices the served int4 1B answers itself, and its agreement with Glimmer (the rest answered by Glimmer), by confidence threshold. (a) 500 ordinary held-out cases. (b) The 196 hardest. Dashed: Glimmer with itself. Served at 0.6.</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Its confidence can be trusted</a:t>
            </a:r>
            <a:endParaRPr lang="en-US" sz="2400" dirty="0"/>
          </a:p>
        </p:txBody>
      </p:sp>
      <p:pic>
        <p:nvPicPr>
          <p:cNvPr id="3" name="Image 0" descr="preencoded.png">    </p:cNvPr>
          <p:cNvPicPr>
            <a:picLocks noChangeAspect="1"/>
          </p:cNvPicPr>
          <p:nvPr/>
        </p:nvPicPr>
        <p:blipFill>
          <a:blip r:embed="rId1"/>
          <a:stretch>
            <a:fillRect/>
          </a:stretch>
        </p:blipFill>
        <p:spPr>
          <a:xfrm>
            <a:off x="3097763" y="1188720"/>
            <a:ext cx="5996169"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Reliability of the 1B's confidence on 500 held-out cases: agreement with Glimmer against mean confidence per bin (marker size by bin size; 95% Wilson intervals; bins under 5 cases omitted). Expected calibration error 0.052.</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The one-token decider mostly reads the order, not the preference</a:t>
            </a:r>
            <a:endParaRPr lang="en-US" sz="2400" dirty="0"/>
          </a:p>
        </p:txBody>
      </p:sp>
      <p:pic>
        <p:nvPicPr>
          <p:cNvPr id="3" name="Image 0" descr="preencoded.png">    </p:cNvPr>
          <p:cNvPicPr>
            <a:picLocks noChangeAspect="1"/>
          </p:cNvPicPr>
          <p:nvPr/>
        </p:nvPicPr>
        <p:blipFill>
          <a:blip r:embed="rId1"/>
          <a:stretch>
            <a:fillRect/>
          </a:stretch>
        </p:blipFill>
        <p:spPr>
          <a:xfrm>
            <a:off x="866568" y="1188720"/>
            <a:ext cx="10458558"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Picks that changed when only the order of the listed times changed, on the 196 hardest cases (95% Wilson intervals). Glimmer asked again in the same order is the baseline for its own sampling.</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Distillation techniques we tried, and what each did</a:t>
            </a:r>
            <a:endParaRPr lang="en-US" sz="2400" dirty="0"/>
          </a:p>
        </p:txBody>
      </p:sp>
      <p:sp>
        <p:nvSpPr>
          <p:cNvPr id="3" name="Text 1"/>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decision 1B (choosing a time)</a:t>
            </a:r>
            <a:endParaRPr lang="en-US" sz="1500" dirty="0"/>
          </a:p>
        </p:txBody>
      </p:sp>
      <p:sp>
        <p:nvSpPr>
          <p:cNvPr id="4" name="Shape 2"/>
          <p:cNvSpPr/>
          <p:nvPr/>
        </p:nvSpPr>
        <p:spPr>
          <a:xfrm>
            <a:off x="548640" y="1600200"/>
            <a:ext cx="5486400" cy="402336"/>
          </a:xfrm>
          <a:prstGeom prst="roundRect">
            <a:avLst>
              <a:gd name="adj" fmla="val 11364"/>
            </a:avLst>
          </a:prstGeom>
          <a:solidFill>
            <a:srgbClr val="F3F6F4"/>
          </a:solidFill>
          <a:ln w="12700">
            <a:solidFill>
              <a:srgbClr val="F3F6F4"/>
            </a:solidFill>
            <a:prstDash val="solid"/>
          </a:ln>
        </p:spPr>
      </p:sp>
      <p:sp>
        <p:nvSpPr>
          <p:cNvPr id="5" name="Shape 3"/>
          <p:cNvSpPr/>
          <p:nvPr/>
        </p:nvSpPr>
        <p:spPr>
          <a:xfrm>
            <a:off x="621792" y="1682496"/>
            <a:ext cx="960120" cy="237744"/>
          </a:xfrm>
          <a:prstGeom prst="roundRect">
            <a:avLst>
              <a:gd name="adj" fmla="val 50000"/>
            </a:avLst>
          </a:prstGeom>
          <a:solidFill>
            <a:srgbClr val="0A7F44"/>
          </a:solidFill>
          <a:ln w="12700">
            <a:solidFill>
              <a:srgbClr val="0A7F44"/>
            </a:solidFill>
            <a:prstDash val="solid"/>
          </a:ln>
        </p:spPr>
      </p:sp>
      <p:sp>
        <p:nvSpPr>
          <p:cNvPr id="6" name="Text 4"/>
          <p:cNvSpPr txBox="1"/>
          <p:nvPr/>
        </p:nvSpPr>
        <p:spPr>
          <a:xfrm>
            <a:off x="621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 name="Text 5"/>
          <p:cNvSpPr txBox="1"/>
          <p:nvPr/>
        </p:nvSpPr>
        <p:spPr>
          <a:xfrm>
            <a:off x="1664208" y="160020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LoRA SFT on Glimmer's choices </a:t>
            </a:r>
            <a:pPr indent="0" marL="0">
              <a:buNone/>
            </a:pPr>
            <a:r>
              <a:rPr lang="en-US" sz="950" dirty="0">
                <a:solidFill>
                  <a:srgbClr val="0064E0"/>
                </a:solidFill>
              </a:rPr>
              <a:t>[28] </a:t>
            </a:r>
            <a:pPr indent="0" marL="0">
              <a:buNone/>
            </a:pPr>
            <a:r>
              <a:rPr lang="en-US" sz="950" dirty="0">
                <a:solidFill>
                  <a:srgbClr val="55555C"/>
                </a:solidFill>
              </a:rPr>
              <a:t>rank 16, 4,868 cases, 20 min on one A100</a:t>
            </a:r>
            <a:endParaRPr lang="en-US" sz="950" dirty="0"/>
          </a:p>
        </p:txBody>
      </p:sp>
      <p:sp>
        <p:nvSpPr>
          <p:cNvPr id="8" name="Shape 6"/>
          <p:cNvSpPr/>
          <p:nvPr/>
        </p:nvSpPr>
        <p:spPr>
          <a:xfrm>
            <a:off x="548640" y="2039112"/>
            <a:ext cx="5486400" cy="402336"/>
          </a:xfrm>
          <a:prstGeom prst="roundRect">
            <a:avLst>
              <a:gd name="adj" fmla="val 11364"/>
            </a:avLst>
          </a:prstGeom>
          <a:solidFill>
            <a:srgbClr val="FFFFFF"/>
          </a:solidFill>
          <a:ln w="12700">
            <a:solidFill>
              <a:srgbClr val="FFFFFF"/>
            </a:solidFill>
            <a:prstDash val="solid"/>
          </a:ln>
        </p:spPr>
      </p:sp>
      <p:sp>
        <p:nvSpPr>
          <p:cNvPr id="9" name="Shape 7"/>
          <p:cNvSpPr/>
          <p:nvPr/>
        </p:nvSpPr>
        <p:spPr>
          <a:xfrm>
            <a:off x="621792" y="2121408"/>
            <a:ext cx="960120" cy="237744"/>
          </a:xfrm>
          <a:prstGeom prst="roundRect">
            <a:avLst>
              <a:gd name="adj" fmla="val 50000"/>
            </a:avLst>
          </a:prstGeom>
          <a:solidFill>
            <a:srgbClr val="0A7F44"/>
          </a:solidFill>
          <a:ln w="12700">
            <a:solidFill>
              <a:srgbClr val="0A7F44"/>
            </a:solidFill>
            <a:prstDash val="solid"/>
          </a:ln>
        </p:spPr>
      </p:sp>
      <p:sp>
        <p:nvSpPr>
          <p:cNvPr id="10" name="Text 8"/>
          <p:cNvSpPr txBox="1"/>
          <p:nvPr/>
        </p:nvSpPr>
        <p:spPr>
          <a:xfrm>
            <a:off x="621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1" name="Text 9"/>
          <p:cNvSpPr txBox="1"/>
          <p:nvPr/>
        </p:nvSpPr>
        <p:spPr>
          <a:xfrm>
            <a:off x="1664208" y="203911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One-pass scoring of declared options </a:t>
            </a:r>
            <a:pPr indent="0" marL="0">
              <a:buNone/>
            </a:pPr>
            <a:r>
              <a:rPr lang="en-US" sz="950" dirty="0">
                <a:solidFill>
                  <a:srgbClr val="0064E0"/>
                </a:solidFill>
              </a:rPr>
              <a:t>[20] </a:t>
            </a:r>
            <a:pPr indent="0" marL="0">
              <a:buNone/>
            </a:pPr>
            <a:r>
              <a:rPr lang="en-US" sz="950" dirty="0">
                <a:solidFill>
                  <a:srgbClr val="55555C"/>
                </a:solidFill>
              </a:rPr>
              <a:t>softmax over the valid letters; no text written</a:t>
            </a:r>
            <a:endParaRPr lang="en-US" sz="950" dirty="0"/>
          </a:p>
        </p:txBody>
      </p:sp>
      <p:sp>
        <p:nvSpPr>
          <p:cNvPr id="12" name="Shape 10"/>
          <p:cNvSpPr/>
          <p:nvPr/>
        </p:nvSpPr>
        <p:spPr>
          <a:xfrm>
            <a:off x="548640" y="2478024"/>
            <a:ext cx="5486400" cy="402336"/>
          </a:xfrm>
          <a:prstGeom prst="roundRect">
            <a:avLst>
              <a:gd name="adj" fmla="val 11364"/>
            </a:avLst>
          </a:prstGeom>
          <a:solidFill>
            <a:srgbClr val="F3F6F4"/>
          </a:solidFill>
          <a:ln w="12700">
            <a:solidFill>
              <a:srgbClr val="F3F6F4"/>
            </a:solidFill>
            <a:prstDash val="solid"/>
          </a:ln>
        </p:spPr>
      </p:sp>
      <p:sp>
        <p:nvSpPr>
          <p:cNvPr id="13" name="Shape 11"/>
          <p:cNvSpPr/>
          <p:nvPr/>
        </p:nvSpPr>
        <p:spPr>
          <a:xfrm>
            <a:off x="621792" y="2560320"/>
            <a:ext cx="960120" cy="237744"/>
          </a:xfrm>
          <a:prstGeom prst="roundRect">
            <a:avLst>
              <a:gd name="adj" fmla="val 50000"/>
            </a:avLst>
          </a:prstGeom>
          <a:solidFill>
            <a:srgbClr val="0A7F44"/>
          </a:solidFill>
          <a:ln w="12700">
            <a:solidFill>
              <a:srgbClr val="0A7F44"/>
            </a:solidFill>
            <a:prstDash val="solid"/>
          </a:ln>
        </p:spPr>
      </p:sp>
      <p:sp>
        <p:nvSpPr>
          <p:cNvPr id="14" name="Text 12"/>
          <p:cNvSpPr txBox="1"/>
          <p:nvPr/>
        </p:nvSpPr>
        <p:spPr>
          <a:xfrm>
            <a:off x="621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5" name="Text 13"/>
          <p:cNvSpPr txBox="1"/>
          <p:nvPr/>
        </p:nvSpPr>
        <p:spPr>
          <a:xfrm>
            <a:off x="1664208" y="247802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More teacher answers per case </a:t>
            </a:r>
            <a:pPr indent="0" marL="0">
              <a:buNone/>
            </a:pPr>
            <a:r>
              <a:rPr lang="en-US" sz="950" dirty="0">
                <a:solidFill>
                  <a:srgbClr val="0064E0"/>
                </a:solidFill>
              </a:rPr>
              <a:t>[27] </a:t>
            </a:r>
            <a:pPr indent="0" marL="0">
              <a:buNone/>
            </a:pPr>
            <a:r>
              <a:rPr lang="en-US" sz="950" dirty="0">
                <a:solidFill>
                  <a:srgbClr val="55555C"/>
                </a:solidFill>
              </a:rPr>
              <a:t>served as v4: int4 hardest 67.0% → 69.5%, test 88.5% → 88.9% vs v3</a:t>
            </a:r>
            <a:endParaRPr lang="en-US" sz="950" dirty="0"/>
          </a:p>
        </p:txBody>
      </p:sp>
      <p:sp>
        <p:nvSpPr>
          <p:cNvPr id="16" name="Shape 14"/>
          <p:cNvSpPr/>
          <p:nvPr/>
        </p:nvSpPr>
        <p:spPr>
          <a:xfrm>
            <a:off x="548640" y="2916936"/>
            <a:ext cx="5486400" cy="402336"/>
          </a:xfrm>
          <a:prstGeom prst="roundRect">
            <a:avLst>
              <a:gd name="adj" fmla="val 11364"/>
            </a:avLst>
          </a:prstGeom>
          <a:solidFill>
            <a:srgbClr val="FFFFFF"/>
          </a:solidFill>
          <a:ln w="12700">
            <a:solidFill>
              <a:srgbClr val="FFFFFF"/>
            </a:solidFill>
            <a:prstDash val="solid"/>
          </a:ln>
        </p:spPr>
      </p:sp>
      <p:sp>
        <p:nvSpPr>
          <p:cNvPr id="17" name="Shape 15"/>
          <p:cNvSpPr/>
          <p:nvPr/>
        </p:nvSpPr>
        <p:spPr>
          <a:xfrm>
            <a:off x="621792" y="2999232"/>
            <a:ext cx="960120" cy="237744"/>
          </a:xfrm>
          <a:prstGeom prst="roundRect">
            <a:avLst>
              <a:gd name="adj" fmla="val 50000"/>
            </a:avLst>
          </a:prstGeom>
          <a:solidFill>
            <a:srgbClr val="0064E0"/>
          </a:solidFill>
          <a:ln w="12700">
            <a:solidFill>
              <a:srgbClr val="0064E0"/>
            </a:solidFill>
            <a:prstDash val="solid"/>
          </a:ln>
        </p:spPr>
      </p:sp>
      <p:sp>
        <p:nvSpPr>
          <p:cNvPr id="18" name="Text 16"/>
          <p:cNvSpPr txBox="1"/>
          <p:nvPr/>
        </p:nvSpPr>
        <p:spPr>
          <a:xfrm>
            <a:off x="621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19" name="Text 17"/>
          <p:cNvSpPr txBox="1"/>
          <p:nvPr/>
        </p:nvSpPr>
        <p:spPr>
          <a:xfrm>
            <a:off x="1664208" y="291693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Order augmentation </a:t>
            </a:r>
            <a:pPr indent="0" marL="0">
              <a:buNone/>
            </a:pPr>
            <a:r>
              <a:rPr lang="en-US" sz="950" dirty="0">
                <a:solidFill>
                  <a:srgbClr val="0064E0"/>
                </a:solidFill>
              </a:rPr>
              <a:t>[–] </a:t>
            </a:r>
            <a:pPr indent="0" marL="0">
              <a:buNone/>
            </a:pPr>
            <a:r>
              <a:rPr lang="en-US" sz="950" dirty="0">
                <a:solidFill>
                  <a:srgbClr val="55555C"/>
                </a:solidFill>
              </a:rPr>
              <a:t>flips when reversed 15.6% → 1.6%, for 1.5 points of agreement</a:t>
            </a:r>
            <a:endParaRPr lang="en-US" sz="950" dirty="0"/>
          </a:p>
        </p:txBody>
      </p:sp>
      <p:sp>
        <p:nvSpPr>
          <p:cNvPr id="20" name="Shape 18"/>
          <p:cNvSpPr/>
          <p:nvPr/>
        </p:nvSpPr>
        <p:spPr>
          <a:xfrm>
            <a:off x="548640" y="3355848"/>
            <a:ext cx="5486400" cy="402336"/>
          </a:xfrm>
          <a:prstGeom prst="roundRect">
            <a:avLst>
              <a:gd name="adj" fmla="val 11364"/>
            </a:avLst>
          </a:prstGeom>
          <a:solidFill>
            <a:srgbClr val="F3F6F4"/>
          </a:solidFill>
          <a:ln w="12700">
            <a:solidFill>
              <a:srgbClr val="F3F6F4"/>
            </a:solidFill>
            <a:prstDash val="solid"/>
          </a:ln>
        </p:spPr>
      </p:sp>
      <p:sp>
        <p:nvSpPr>
          <p:cNvPr id="21" name="Shape 19"/>
          <p:cNvSpPr/>
          <p:nvPr/>
        </p:nvSpPr>
        <p:spPr>
          <a:xfrm>
            <a:off x="621792" y="3438144"/>
            <a:ext cx="960120" cy="237744"/>
          </a:xfrm>
          <a:prstGeom prst="roundRect">
            <a:avLst>
              <a:gd name="adj" fmla="val 50000"/>
            </a:avLst>
          </a:prstGeom>
          <a:solidFill>
            <a:srgbClr val="B26A00"/>
          </a:solidFill>
          <a:ln w="12700">
            <a:solidFill>
              <a:srgbClr val="B26A00"/>
            </a:solidFill>
            <a:prstDash val="solid"/>
          </a:ln>
        </p:spPr>
      </p:sp>
      <p:sp>
        <p:nvSpPr>
          <p:cNvPr id="22" name="Text 20"/>
          <p:cNvSpPr txBox="1"/>
          <p:nvPr/>
        </p:nvSpPr>
        <p:spPr>
          <a:xfrm>
            <a:off x="621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3" name="Text 21"/>
          <p:cNvSpPr txBox="1"/>
          <p:nvPr/>
        </p:nvSpPr>
        <p:spPr>
          <a:xfrm>
            <a:off x="1664208" y="335584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Soft labels, KL at T = 2 </a:t>
            </a:r>
            <a:pPr indent="0" marL="0">
              <a:buNone/>
            </a:pPr>
            <a:r>
              <a:rPr lang="en-US" sz="950" dirty="0">
                <a:solidFill>
                  <a:srgbClr val="0064E0"/>
                </a:solidFill>
              </a:rPr>
              <a:t>[27] </a:t>
            </a:r>
            <a:pPr indent="0" marL="0">
              <a:buNone/>
            </a:pPr>
            <a:r>
              <a:rPr lang="en-US" sz="950" dirty="0">
                <a:solidFill>
                  <a:srgbClr val="55555C"/>
                </a:solidFill>
              </a:rPr>
              <a:t>agreement and calibration both worse</a:t>
            </a:r>
            <a:endParaRPr lang="en-US" sz="950" dirty="0"/>
          </a:p>
        </p:txBody>
      </p:sp>
      <p:sp>
        <p:nvSpPr>
          <p:cNvPr id="24" name="Shape 22"/>
          <p:cNvSpPr/>
          <p:nvPr/>
        </p:nvSpPr>
        <p:spPr>
          <a:xfrm>
            <a:off x="548640" y="3794760"/>
            <a:ext cx="5486400" cy="402336"/>
          </a:xfrm>
          <a:prstGeom prst="roundRect">
            <a:avLst>
              <a:gd name="adj" fmla="val 11364"/>
            </a:avLst>
          </a:prstGeom>
          <a:solidFill>
            <a:srgbClr val="FFFFFF"/>
          </a:solidFill>
          <a:ln w="12700">
            <a:solidFill>
              <a:srgbClr val="FFFFFF"/>
            </a:solidFill>
            <a:prstDash val="solid"/>
          </a:ln>
        </p:spPr>
      </p:sp>
      <p:sp>
        <p:nvSpPr>
          <p:cNvPr id="25" name="Shape 23"/>
          <p:cNvSpPr/>
          <p:nvPr/>
        </p:nvSpPr>
        <p:spPr>
          <a:xfrm>
            <a:off x="621792" y="3877056"/>
            <a:ext cx="960120" cy="237744"/>
          </a:xfrm>
          <a:prstGeom prst="roundRect">
            <a:avLst>
              <a:gd name="adj" fmla="val 50000"/>
            </a:avLst>
          </a:prstGeom>
          <a:solidFill>
            <a:srgbClr val="B26A00"/>
          </a:solidFill>
          <a:ln w="12700">
            <a:solidFill>
              <a:srgbClr val="B26A00"/>
            </a:solidFill>
            <a:prstDash val="solid"/>
          </a:ln>
        </p:spPr>
      </p:sp>
      <p:sp>
        <p:nvSpPr>
          <p:cNvPr id="26" name="Text 24"/>
          <p:cNvSpPr txBox="1"/>
          <p:nvPr/>
        </p:nvSpPr>
        <p:spPr>
          <a:xfrm>
            <a:off x="621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7" name="Text 25"/>
          <p:cNvSpPr txBox="1"/>
          <p:nvPr/>
        </p:nvSpPr>
        <p:spPr>
          <a:xfrm>
            <a:off x="1664208" y="379476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The decider's letters as soft labels </a:t>
            </a:r>
            <a:pPr indent="0" marL="0">
              <a:buNone/>
            </a:pPr>
            <a:r>
              <a:rPr lang="en-US" sz="950" dirty="0">
                <a:solidFill>
                  <a:srgbClr val="0064E0"/>
                </a:solidFill>
              </a:rPr>
              <a:t>[27] </a:t>
            </a:r>
            <a:pPr indent="0" marL="0">
              <a:buNone/>
            </a:pPr>
            <a:r>
              <a:rPr lang="en-US" sz="950" dirty="0">
                <a:solidFill>
                  <a:srgbClr val="55555C"/>
                </a:solidFill>
              </a:rPr>
              <a:t>99.5% of its picks were the first time listed</a:t>
            </a:r>
            <a:endParaRPr lang="en-US" sz="950" dirty="0"/>
          </a:p>
        </p:txBody>
      </p:sp>
      <p:sp>
        <p:nvSpPr>
          <p:cNvPr id="28" name="Shape 26"/>
          <p:cNvSpPr/>
          <p:nvPr/>
        </p:nvSpPr>
        <p:spPr>
          <a:xfrm>
            <a:off x="548640" y="4233672"/>
            <a:ext cx="5486400" cy="402336"/>
          </a:xfrm>
          <a:prstGeom prst="roundRect">
            <a:avLst>
              <a:gd name="adj" fmla="val 11364"/>
            </a:avLst>
          </a:prstGeom>
          <a:solidFill>
            <a:srgbClr val="F3F6F4"/>
          </a:solidFill>
          <a:ln w="12700">
            <a:solidFill>
              <a:srgbClr val="F3F6F4"/>
            </a:solidFill>
            <a:prstDash val="solid"/>
          </a:ln>
        </p:spPr>
      </p:sp>
      <p:sp>
        <p:nvSpPr>
          <p:cNvPr id="29" name="Shape 27"/>
          <p:cNvSpPr/>
          <p:nvPr/>
        </p:nvSpPr>
        <p:spPr>
          <a:xfrm>
            <a:off x="621792" y="4315968"/>
            <a:ext cx="960120" cy="237744"/>
          </a:xfrm>
          <a:prstGeom prst="roundRect">
            <a:avLst>
              <a:gd name="adj" fmla="val 50000"/>
            </a:avLst>
          </a:prstGeom>
          <a:solidFill>
            <a:srgbClr val="8A8A92"/>
          </a:solidFill>
          <a:ln w="12700">
            <a:solidFill>
              <a:srgbClr val="8A8A92"/>
            </a:solidFill>
            <a:prstDash val="solid"/>
          </a:ln>
        </p:spPr>
      </p:sp>
      <p:sp>
        <p:nvSpPr>
          <p:cNvPr id="30" name="Text 28"/>
          <p:cNvSpPr txBox="1"/>
          <p:nvPr/>
        </p:nvSpPr>
        <p:spPr>
          <a:xfrm>
            <a:off x="621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not run</a:t>
            </a:r>
            <a:endParaRPr lang="en-US" sz="800" dirty="0"/>
          </a:p>
        </p:txBody>
      </p:sp>
      <p:sp>
        <p:nvSpPr>
          <p:cNvPr id="31" name="Text 29"/>
          <p:cNvSpPr txBox="1"/>
          <p:nvPr/>
        </p:nvSpPr>
        <p:spPr>
          <a:xfrm>
            <a:off x="1664208" y="423367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Rationale as an auxiliary loss </a:t>
            </a:r>
            <a:pPr indent="0" marL="0">
              <a:buNone/>
            </a:pPr>
            <a:r>
              <a:rPr lang="en-US" sz="950" dirty="0">
                <a:solidFill>
                  <a:srgbClr val="0064E0"/>
                </a:solidFill>
              </a:rPr>
              <a:t>[30] </a:t>
            </a:r>
            <a:pPr indent="0" marL="0">
              <a:buNone/>
            </a:pPr>
            <a:r>
              <a:rPr lang="en-US" sz="950" dirty="0">
                <a:solidFill>
                  <a:srgbClr val="55555C"/>
                </a:solidFill>
              </a:rPr>
              <a:t>cut off when the VM was preempted</a:t>
            </a:r>
            <a:endParaRPr lang="en-US" sz="950" dirty="0"/>
          </a:p>
        </p:txBody>
      </p:sp>
      <p:sp>
        <p:nvSpPr>
          <p:cNvPr id="32" name="Shape 30"/>
          <p:cNvSpPr/>
          <p:nvPr/>
        </p:nvSpPr>
        <p:spPr>
          <a:xfrm>
            <a:off x="548640" y="4672584"/>
            <a:ext cx="5486400" cy="402336"/>
          </a:xfrm>
          <a:prstGeom prst="roundRect">
            <a:avLst>
              <a:gd name="adj" fmla="val 11364"/>
            </a:avLst>
          </a:prstGeom>
          <a:solidFill>
            <a:srgbClr val="FFFFFF"/>
          </a:solidFill>
          <a:ln w="12700">
            <a:solidFill>
              <a:srgbClr val="FFFFFF"/>
            </a:solidFill>
            <a:prstDash val="solid"/>
          </a:ln>
        </p:spPr>
      </p:sp>
      <p:sp>
        <p:nvSpPr>
          <p:cNvPr id="33" name="Shape 31"/>
          <p:cNvSpPr/>
          <p:nvPr/>
        </p:nvSpPr>
        <p:spPr>
          <a:xfrm>
            <a:off x="621792" y="4754880"/>
            <a:ext cx="960120" cy="237744"/>
          </a:xfrm>
          <a:prstGeom prst="roundRect">
            <a:avLst>
              <a:gd name="adj" fmla="val 50000"/>
            </a:avLst>
          </a:prstGeom>
          <a:solidFill>
            <a:srgbClr val="0064E0"/>
          </a:solidFill>
          <a:ln w="12700">
            <a:solidFill>
              <a:srgbClr val="0064E0"/>
            </a:solidFill>
            <a:prstDash val="solid"/>
          </a:ln>
        </p:spPr>
      </p:sp>
      <p:sp>
        <p:nvSpPr>
          <p:cNvPr id="34" name="Text 32"/>
          <p:cNvSpPr txBox="1"/>
          <p:nvPr/>
        </p:nvSpPr>
        <p:spPr>
          <a:xfrm>
            <a:off x="621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5" name="Text 33"/>
          <p:cNvSpPr txBox="1"/>
          <p:nvPr/>
        </p:nvSpPr>
        <p:spPr>
          <a:xfrm>
            <a:off x="1664208" y="467258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Temperature scaling </a:t>
            </a:r>
            <a:pPr indent="0" marL="0">
              <a:buNone/>
            </a:pPr>
            <a:r>
              <a:rPr lang="en-US" sz="950" dirty="0">
                <a:solidFill>
                  <a:srgbClr val="0064E0"/>
                </a:solidFill>
              </a:rPr>
              <a:t>[31] </a:t>
            </a:r>
            <a:pPr indent="0" marL="0">
              <a:buNone/>
            </a:pPr>
            <a:r>
              <a:rPr lang="en-US" sz="950" dirty="0">
                <a:solidFill>
                  <a:srgbClr val="55555C"/>
                </a:solidFill>
              </a:rPr>
              <a:t>T 1.35–1.5 on val; test ECE 0.044 → 0.017 (A2A_STUDENT_TEMP)</a:t>
            </a:r>
            <a:endParaRPr lang="en-US" sz="950" dirty="0"/>
          </a:p>
        </p:txBody>
      </p:sp>
      <p:sp>
        <p:nvSpPr>
          <p:cNvPr id="36" name="Shape 34"/>
          <p:cNvSpPr/>
          <p:nvPr/>
        </p:nvSpPr>
        <p:spPr>
          <a:xfrm>
            <a:off x="548640" y="5111496"/>
            <a:ext cx="5486400" cy="402336"/>
          </a:xfrm>
          <a:prstGeom prst="roundRect">
            <a:avLst>
              <a:gd name="adj" fmla="val 11364"/>
            </a:avLst>
          </a:prstGeom>
          <a:solidFill>
            <a:srgbClr val="F3F6F4"/>
          </a:solidFill>
          <a:ln w="12700">
            <a:solidFill>
              <a:srgbClr val="F3F6F4"/>
            </a:solidFill>
            <a:prstDash val="solid"/>
          </a:ln>
        </p:spPr>
      </p:sp>
      <p:sp>
        <p:nvSpPr>
          <p:cNvPr id="37" name="Shape 35"/>
          <p:cNvSpPr/>
          <p:nvPr/>
        </p:nvSpPr>
        <p:spPr>
          <a:xfrm>
            <a:off x="621792" y="5193792"/>
            <a:ext cx="960120" cy="237744"/>
          </a:xfrm>
          <a:prstGeom prst="roundRect">
            <a:avLst>
              <a:gd name="adj" fmla="val 50000"/>
            </a:avLst>
          </a:prstGeom>
          <a:solidFill>
            <a:srgbClr val="0064E0"/>
          </a:solidFill>
          <a:ln w="12700">
            <a:solidFill>
              <a:srgbClr val="0064E0"/>
            </a:solidFill>
            <a:prstDash val="solid"/>
          </a:ln>
        </p:spPr>
      </p:sp>
      <p:sp>
        <p:nvSpPr>
          <p:cNvPr id="38" name="Text 36"/>
          <p:cNvSpPr txBox="1"/>
          <p:nvPr/>
        </p:nvSpPr>
        <p:spPr>
          <a:xfrm>
            <a:off x="621792" y="519379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9" name="Text 37"/>
          <p:cNvSpPr txBox="1"/>
          <p:nvPr/>
        </p:nvSpPr>
        <p:spPr>
          <a:xfrm>
            <a:off x="1664208" y="511149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Conformal risk control </a:t>
            </a:r>
            <a:pPr indent="0" marL="0">
              <a:buNone/>
            </a:pPr>
            <a:r>
              <a:rPr lang="en-US" sz="950" dirty="0">
                <a:solidFill>
                  <a:srgbClr val="0064E0"/>
                </a:solidFill>
              </a:rPr>
              <a:t>[32] </a:t>
            </a:r>
            <a:pPr indent="0" marL="0">
              <a:buNone/>
            </a:pPr>
            <a:r>
              <a:rPr lang="en-US" sz="950" dirty="0">
                <a:solidFill>
                  <a:srgbClr val="55555C"/>
                </a:solidFill>
              </a:rPr>
              <a:t>0.79 at 5% risk; the served 0.6 is a trade for more answers</a:t>
            </a:r>
            <a:endParaRPr lang="en-US" sz="950" dirty="0"/>
          </a:p>
        </p:txBody>
      </p:sp>
      <p:sp>
        <p:nvSpPr>
          <p:cNvPr id="40" name="Shape 38"/>
          <p:cNvSpPr/>
          <p:nvPr/>
        </p:nvSpPr>
        <p:spPr>
          <a:xfrm>
            <a:off x="548640" y="5550408"/>
            <a:ext cx="5486400" cy="402336"/>
          </a:xfrm>
          <a:prstGeom prst="roundRect">
            <a:avLst>
              <a:gd name="adj" fmla="val 11364"/>
            </a:avLst>
          </a:prstGeom>
          <a:solidFill>
            <a:srgbClr val="FFFFFF"/>
          </a:solidFill>
          <a:ln w="12700">
            <a:solidFill>
              <a:srgbClr val="FFFFFF"/>
            </a:solidFill>
            <a:prstDash val="solid"/>
          </a:ln>
        </p:spPr>
      </p:sp>
      <p:sp>
        <p:nvSpPr>
          <p:cNvPr id="41" name="Shape 39"/>
          <p:cNvSpPr/>
          <p:nvPr/>
        </p:nvSpPr>
        <p:spPr>
          <a:xfrm>
            <a:off x="621792" y="5632704"/>
            <a:ext cx="960120" cy="237744"/>
          </a:xfrm>
          <a:prstGeom prst="roundRect">
            <a:avLst>
              <a:gd name="adj" fmla="val 50000"/>
            </a:avLst>
          </a:prstGeom>
          <a:solidFill>
            <a:srgbClr val="0064E0"/>
          </a:solidFill>
          <a:ln w="12700">
            <a:solidFill>
              <a:srgbClr val="0064E0"/>
            </a:solidFill>
            <a:prstDash val="solid"/>
          </a:ln>
        </p:spPr>
      </p:sp>
      <p:sp>
        <p:nvSpPr>
          <p:cNvPr id="42" name="Text 40"/>
          <p:cNvSpPr txBox="1"/>
          <p:nvPr/>
        </p:nvSpPr>
        <p:spPr>
          <a:xfrm>
            <a:off x="621792" y="563270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43" name="Text 41"/>
          <p:cNvSpPr txBox="1"/>
          <p:nvPr/>
        </p:nvSpPr>
        <p:spPr>
          <a:xfrm>
            <a:off x="1664208" y="555040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33] </a:t>
            </a:r>
            <a:pPr indent="0" marL="0">
              <a:buNone/>
            </a:pPr>
            <a:r>
              <a:rPr lang="en-US" sz="950" dirty="0">
                <a:solidFill>
                  <a:srgbClr val="55555C"/>
                </a:solidFill>
              </a:rPr>
              <a:t>no significant change against bf16 (McNemar p ≥ 0.34)</a:t>
            </a:r>
            <a:endParaRPr lang="en-US" sz="950" dirty="0"/>
          </a:p>
        </p:txBody>
      </p:sp>
      <p:sp>
        <p:nvSpPr>
          <p:cNvPr id="44" name="Text 42"/>
          <p:cNvSpPr txBox="1"/>
          <p:nvPr/>
        </p:nvSpPr>
        <p:spPr>
          <a:xfrm>
            <a:off x="6263640" y="1188720"/>
            <a:ext cx="5379415" cy="365760"/>
          </a:xfrm>
          <a:prstGeom prst="rect">
            <a:avLst/>
          </a:prstGeom>
          <a:noFill/>
          <a:ln/>
        </p:spPr>
        <p:txBody>
          <a:bodyPr wrap="square" lIns="0" tIns="0" rIns="0" bIns="0" rtlCol="0" anchor="ctr"/>
          <a:lstStyle/>
          <a:p>
            <a:pPr indent="0" marL="0">
              <a:buNone/>
            </a:pPr>
            <a:r>
              <a:rPr lang="en-US" sz="1500" b="1" dirty="0">
                <a:solidFill>
                  <a:srgbClr val="0A0A0B"/>
                </a:solidFill>
              </a:rPr>
              <a:t>The text 1B, and the tiny layer</a:t>
            </a:r>
            <a:endParaRPr lang="en-US" sz="1500" dirty="0"/>
          </a:p>
        </p:txBody>
      </p:sp>
      <p:sp>
        <p:nvSpPr>
          <p:cNvPr id="45" name="Shape 43"/>
          <p:cNvSpPr/>
          <p:nvPr/>
        </p:nvSpPr>
        <p:spPr>
          <a:xfrm>
            <a:off x="6263640" y="1600200"/>
            <a:ext cx="5379415" cy="402336"/>
          </a:xfrm>
          <a:prstGeom prst="roundRect">
            <a:avLst>
              <a:gd name="adj" fmla="val 11364"/>
            </a:avLst>
          </a:prstGeom>
          <a:solidFill>
            <a:srgbClr val="F3F6F4"/>
          </a:solidFill>
          <a:ln w="12700">
            <a:solidFill>
              <a:srgbClr val="F3F6F4"/>
            </a:solidFill>
            <a:prstDash val="solid"/>
          </a:ln>
        </p:spPr>
      </p:sp>
      <p:sp>
        <p:nvSpPr>
          <p:cNvPr id="46" name="Shape 44"/>
          <p:cNvSpPr/>
          <p:nvPr/>
        </p:nvSpPr>
        <p:spPr>
          <a:xfrm>
            <a:off x="6336792" y="1682496"/>
            <a:ext cx="960120" cy="237744"/>
          </a:xfrm>
          <a:prstGeom prst="roundRect">
            <a:avLst>
              <a:gd name="adj" fmla="val 50000"/>
            </a:avLst>
          </a:prstGeom>
          <a:solidFill>
            <a:srgbClr val="0A7F44"/>
          </a:solidFill>
          <a:ln w="12700">
            <a:solidFill>
              <a:srgbClr val="0A7F44"/>
            </a:solidFill>
            <a:prstDash val="solid"/>
          </a:ln>
        </p:spPr>
      </p:sp>
      <p:sp>
        <p:nvSpPr>
          <p:cNvPr id="47" name="Text 45"/>
          <p:cNvSpPr txBox="1"/>
          <p:nvPr/>
        </p:nvSpPr>
        <p:spPr>
          <a:xfrm>
            <a:off x="6336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48" name="Text 46"/>
          <p:cNvSpPr txBox="1"/>
          <p:nvPr/>
        </p:nvSpPr>
        <p:spPr>
          <a:xfrm>
            <a:off x="7379208" y="160020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SFT on Glimmer's answers + attacked copies </a:t>
            </a:r>
            <a:pPr indent="0" marL="0">
              <a:buNone/>
            </a:pPr>
            <a:r>
              <a:rPr lang="en-US" sz="950" dirty="0">
                <a:solidFill>
                  <a:srgbClr val="0064E0"/>
                </a:solidFill>
              </a:rPr>
              <a:t>[28] </a:t>
            </a:r>
            <a:pPr indent="0" marL="0">
              <a:buNone/>
            </a:pPr>
            <a:r>
              <a:rPr lang="en-US" sz="950" dirty="0">
                <a:solidFill>
                  <a:srgbClr val="55555C"/>
                </a:solidFill>
              </a:rPr>
              <a:t>hostile comments passed 65/71 → 8/71 (Glimmer 0)</a:t>
            </a:r>
            <a:endParaRPr lang="en-US" sz="950" dirty="0"/>
          </a:p>
        </p:txBody>
      </p:sp>
      <p:sp>
        <p:nvSpPr>
          <p:cNvPr id="49" name="Shape 47"/>
          <p:cNvSpPr/>
          <p:nvPr/>
        </p:nvSpPr>
        <p:spPr>
          <a:xfrm>
            <a:off x="6263640" y="2039112"/>
            <a:ext cx="5379415" cy="402336"/>
          </a:xfrm>
          <a:prstGeom prst="roundRect">
            <a:avLst>
              <a:gd name="adj" fmla="val 11364"/>
            </a:avLst>
          </a:prstGeom>
          <a:solidFill>
            <a:srgbClr val="FFFFFF"/>
          </a:solidFill>
          <a:ln w="12700">
            <a:solidFill>
              <a:srgbClr val="FFFFFF"/>
            </a:solidFill>
            <a:prstDash val="solid"/>
          </a:ln>
        </p:spPr>
      </p:sp>
      <p:sp>
        <p:nvSpPr>
          <p:cNvPr id="50" name="Shape 48"/>
          <p:cNvSpPr/>
          <p:nvPr/>
        </p:nvSpPr>
        <p:spPr>
          <a:xfrm>
            <a:off x="6336792" y="2121408"/>
            <a:ext cx="960120" cy="237744"/>
          </a:xfrm>
          <a:prstGeom prst="roundRect">
            <a:avLst>
              <a:gd name="adj" fmla="val 50000"/>
            </a:avLst>
          </a:prstGeom>
          <a:solidFill>
            <a:srgbClr val="0A7F44"/>
          </a:solidFill>
          <a:ln w="12700">
            <a:solidFill>
              <a:srgbClr val="0A7F44"/>
            </a:solidFill>
            <a:prstDash val="solid"/>
          </a:ln>
        </p:spPr>
      </p:sp>
      <p:sp>
        <p:nvSpPr>
          <p:cNvPr id="51" name="Text 49"/>
          <p:cNvSpPr txBox="1"/>
          <p:nvPr/>
        </p:nvSpPr>
        <p:spPr>
          <a:xfrm>
            <a:off x="6336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52" name="Text 50"/>
          <p:cNvSpPr txBox="1"/>
          <p:nvPr/>
        </p:nvSpPr>
        <p:spPr>
          <a:xfrm>
            <a:off x="7379208" y="203911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Outside text in its own input message </a:t>
            </a:r>
            <a:pPr indent="0" marL="0">
              <a:buNone/>
            </a:pPr>
            <a:r>
              <a:rPr lang="en-US" sz="950" dirty="0">
                <a:solidFill>
                  <a:srgbClr val="0064E0"/>
                </a:solidFill>
              </a:rPr>
              <a:t>[35] </a:t>
            </a:r>
            <a:pPr indent="0" marL="0">
              <a:buNone/>
            </a:pPr>
            <a:r>
              <a:rPr lang="en-US" sz="950" dirty="0">
                <a:solidFill>
                  <a:srgbClr val="55555C"/>
                </a:solidFill>
              </a:rPr>
              <a:t>on the 1B route only; Glimmer's prompts unchanged</a:t>
            </a:r>
            <a:endParaRPr lang="en-US" sz="950" dirty="0"/>
          </a:p>
        </p:txBody>
      </p:sp>
      <p:sp>
        <p:nvSpPr>
          <p:cNvPr id="53" name="Shape 51"/>
          <p:cNvSpPr/>
          <p:nvPr/>
        </p:nvSpPr>
        <p:spPr>
          <a:xfrm>
            <a:off x="6263640" y="2478024"/>
            <a:ext cx="5379415" cy="402336"/>
          </a:xfrm>
          <a:prstGeom prst="roundRect">
            <a:avLst>
              <a:gd name="adj" fmla="val 11364"/>
            </a:avLst>
          </a:prstGeom>
          <a:solidFill>
            <a:srgbClr val="F3F6F4"/>
          </a:solidFill>
          <a:ln w="12700">
            <a:solidFill>
              <a:srgbClr val="F3F6F4"/>
            </a:solidFill>
            <a:prstDash val="solid"/>
          </a:ln>
        </p:spPr>
      </p:sp>
      <p:sp>
        <p:nvSpPr>
          <p:cNvPr id="54" name="Shape 52"/>
          <p:cNvSpPr/>
          <p:nvPr/>
        </p:nvSpPr>
        <p:spPr>
          <a:xfrm>
            <a:off x="6336792" y="2560320"/>
            <a:ext cx="960120" cy="237744"/>
          </a:xfrm>
          <a:prstGeom prst="roundRect">
            <a:avLst>
              <a:gd name="adj" fmla="val 50000"/>
            </a:avLst>
          </a:prstGeom>
          <a:solidFill>
            <a:srgbClr val="0064E0"/>
          </a:solidFill>
          <a:ln w="12700">
            <a:solidFill>
              <a:srgbClr val="0064E0"/>
            </a:solidFill>
            <a:prstDash val="solid"/>
          </a:ln>
        </p:spPr>
      </p:sp>
      <p:sp>
        <p:nvSpPr>
          <p:cNvPr id="55" name="Text 53"/>
          <p:cNvSpPr txBox="1"/>
          <p:nvPr/>
        </p:nvSpPr>
        <p:spPr>
          <a:xfrm>
            <a:off x="6336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56" name="Text 54"/>
          <p:cNvSpPr txBox="1"/>
          <p:nvPr/>
        </p:nvSpPr>
        <p:spPr>
          <a:xfrm>
            <a:off x="7379208" y="247802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Soft labels on the verdict </a:t>
            </a:r>
            <a:pPr indent="0" marL="0">
              <a:buNone/>
            </a:pPr>
            <a:r>
              <a:rPr lang="en-US" sz="950" dirty="0">
                <a:solidFill>
                  <a:srgbClr val="0064E0"/>
                </a:solidFill>
              </a:rPr>
              <a:t>[27] </a:t>
            </a:r>
            <a:pPr indent="0" marL="0">
              <a:buNone/>
            </a:pPr>
            <a:r>
              <a:rPr lang="en-US" sz="950" dirty="0">
                <a:solidFill>
                  <a:srgbClr val="55555C"/>
                </a:solidFill>
              </a:rPr>
              <a:t>Glimmer is almost always certain: little to learn</a:t>
            </a:r>
            <a:endParaRPr lang="en-US" sz="950" dirty="0"/>
          </a:p>
        </p:txBody>
      </p:sp>
      <p:sp>
        <p:nvSpPr>
          <p:cNvPr id="57" name="Shape 55"/>
          <p:cNvSpPr/>
          <p:nvPr/>
        </p:nvSpPr>
        <p:spPr>
          <a:xfrm>
            <a:off x="6263640" y="2916936"/>
            <a:ext cx="5379415" cy="402336"/>
          </a:xfrm>
          <a:prstGeom prst="roundRect">
            <a:avLst>
              <a:gd name="adj" fmla="val 11364"/>
            </a:avLst>
          </a:prstGeom>
          <a:solidFill>
            <a:srgbClr val="FFFFFF"/>
          </a:solidFill>
          <a:ln w="12700">
            <a:solidFill>
              <a:srgbClr val="FFFFFF"/>
            </a:solidFill>
            <a:prstDash val="solid"/>
          </a:ln>
        </p:spPr>
      </p:sp>
      <p:sp>
        <p:nvSpPr>
          <p:cNvPr id="58" name="Shape 56"/>
          <p:cNvSpPr/>
          <p:nvPr/>
        </p:nvSpPr>
        <p:spPr>
          <a:xfrm>
            <a:off x="6336792" y="2999232"/>
            <a:ext cx="960120" cy="237744"/>
          </a:xfrm>
          <a:prstGeom prst="roundRect">
            <a:avLst>
              <a:gd name="adj" fmla="val 50000"/>
            </a:avLst>
          </a:prstGeom>
          <a:solidFill>
            <a:srgbClr val="B26A00"/>
          </a:solidFill>
          <a:ln w="12700">
            <a:solidFill>
              <a:srgbClr val="B26A00"/>
            </a:solidFill>
            <a:prstDash val="solid"/>
          </a:ln>
        </p:spPr>
      </p:sp>
      <p:sp>
        <p:nvSpPr>
          <p:cNvPr id="59" name="Text 57"/>
          <p:cNvSpPr txBox="1"/>
          <p:nvPr/>
        </p:nvSpPr>
        <p:spPr>
          <a:xfrm>
            <a:off x="6336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0" name="Text 58"/>
          <p:cNvSpPr txBox="1"/>
          <p:nvPr/>
        </p:nvSpPr>
        <p:spPr>
          <a:xfrm>
            <a:off x="7379208" y="2916936"/>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SecAlign++ preference training </a:t>
            </a:r>
            <a:pPr indent="0" marL="0">
              <a:buNone/>
            </a:pPr>
            <a:r>
              <a:rPr lang="en-US" sz="950" dirty="0">
                <a:solidFill>
                  <a:srgbClr val="0064E0"/>
                </a:solidFill>
              </a:rPr>
              <a:t>[36, 37] </a:t>
            </a:r>
            <a:pPr indent="0" marL="0">
              <a:buNone/>
            </a:pPr>
            <a:r>
              <a:rPr lang="en-US" sz="950" dirty="0">
                <a:solidFill>
                  <a:srgbClr val="55555C"/>
                </a:solidFill>
              </a:rPr>
              <a:t>injected passes 5 → 2 of 71, but 8 of 32 ordinary blocked</a:t>
            </a:r>
            <a:endParaRPr lang="en-US" sz="950" dirty="0"/>
          </a:p>
        </p:txBody>
      </p:sp>
      <p:sp>
        <p:nvSpPr>
          <p:cNvPr id="61" name="Shape 59"/>
          <p:cNvSpPr/>
          <p:nvPr/>
        </p:nvSpPr>
        <p:spPr>
          <a:xfrm>
            <a:off x="6263640" y="3355848"/>
            <a:ext cx="5379415" cy="402336"/>
          </a:xfrm>
          <a:prstGeom prst="roundRect">
            <a:avLst>
              <a:gd name="adj" fmla="val 11364"/>
            </a:avLst>
          </a:prstGeom>
          <a:solidFill>
            <a:srgbClr val="F3F6F4"/>
          </a:solidFill>
          <a:ln w="12700">
            <a:solidFill>
              <a:srgbClr val="F3F6F4"/>
            </a:solidFill>
            <a:prstDash val="solid"/>
          </a:ln>
        </p:spPr>
      </p:sp>
      <p:sp>
        <p:nvSpPr>
          <p:cNvPr id="62" name="Shape 60"/>
          <p:cNvSpPr/>
          <p:nvPr/>
        </p:nvSpPr>
        <p:spPr>
          <a:xfrm>
            <a:off x="6336792" y="3438144"/>
            <a:ext cx="960120" cy="237744"/>
          </a:xfrm>
          <a:prstGeom prst="roundRect">
            <a:avLst>
              <a:gd name="adj" fmla="val 50000"/>
            </a:avLst>
          </a:prstGeom>
          <a:solidFill>
            <a:srgbClr val="B26A00"/>
          </a:solidFill>
          <a:ln w="12700">
            <a:solidFill>
              <a:srgbClr val="B26A00"/>
            </a:solidFill>
            <a:prstDash val="solid"/>
          </a:ln>
        </p:spPr>
      </p:sp>
      <p:sp>
        <p:nvSpPr>
          <p:cNvPr id="63" name="Text 61"/>
          <p:cNvSpPr txBox="1"/>
          <p:nvPr/>
        </p:nvSpPr>
        <p:spPr>
          <a:xfrm>
            <a:off x="6336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4" name="Text 62"/>
          <p:cNvSpPr txBox="1"/>
          <p:nvPr/>
        </p:nvSpPr>
        <p:spPr>
          <a:xfrm>
            <a:off x="7379208" y="3355848"/>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a:t>
            </a:r>
            <a:pPr indent="0" marL="0">
              <a:buNone/>
            </a:pPr>
            <a:r>
              <a:rPr lang="en-US" sz="950" dirty="0">
                <a:solidFill>
                  <a:srgbClr val="55555C"/>
                </a:solidFill>
              </a:rPr>
              <a:t>no consistent gain over plain Q4_K_M</a:t>
            </a:r>
            <a:endParaRPr lang="en-US" sz="950" dirty="0"/>
          </a:p>
        </p:txBody>
      </p:sp>
      <p:sp>
        <p:nvSpPr>
          <p:cNvPr id="65" name="Shape 63"/>
          <p:cNvSpPr/>
          <p:nvPr/>
        </p:nvSpPr>
        <p:spPr>
          <a:xfrm>
            <a:off x="6263640" y="3794760"/>
            <a:ext cx="5379415" cy="402336"/>
          </a:xfrm>
          <a:prstGeom prst="roundRect">
            <a:avLst>
              <a:gd name="adj" fmla="val 11364"/>
            </a:avLst>
          </a:prstGeom>
          <a:solidFill>
            <a:srgbClr val="FFFFFF"/>
          </a:solidFill>
          <a:ln w="12700">
            <a:solidFill>
              <a:srgbClr val="FFFFFF"/>
            </a:solidFill>
            <a:prstDash val="solid"/>
          </a:ln>
        </p:spPr>
      </p:sp>
      <p:sp>
        <p:nvSpPr>
          <p:cNvPr id="66" name="Shape 64"/>
          <p:cNvSpPr/>
          <p:nvPr/>
        </p:nvSpPr>
        <p:spPr>
          <a:xfrm>
            <a:off x="6336792" y="3877056"/>
            <a:ext cx="960120" cy="237744"/>
          </a:xfrm>
          <a:prstGeom prst="roundRect">
            <a:avLst>
              <a:gd name="adj" fmla="val 50000"/>
            </a:avLst>
          </a:prstGeom>
          <a:solidFill>
            <a:srgbClr val="0A7F44"/>
          </a:solidFill>
          <a:ln w="12700">
            <a:solidFill>
              <a:srgbClr val="0A7F44"/>
            </a:solidFill>
            <a:prstDash val="solid"/>
          </a:ln>
        </p:spPr>
      </p:sp>
      <p:sp>
        <p:nvSpPr>
          <p:cNvPr id="67" name="Text 65"/>
          <p:cNvSpPr txBox="1"/>
          <p:nvPr/>
        </p:nvSpPr>
        <p:spPr>
          <a:xfrm>
            <a:off x="6336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68" name="Text 66"/>
          <p:cNvSpPr txBox="1"/>
          <p:nvPr/>
        </p:nvSpPr>
        <p:spPr>
          <a:xfrm>
            <a:off x="7379208" y="379476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Tiny MLPs on facts code holds </a:t>
            </a:r>
            <a:pPr indent="0" marL="0">
              <a:buNone/>
            </a:pPr>
            <a:r>
              <a:rPr lang="en-US" sz="950" dirty="0">
                <a:solidFill>
                  <a:srgbClr val="0064E0"/>
                </a:solidFill>
              </a:rPr>
              <a:t>[–] </a:t>
            </a:r>
            <a:pPr indent="0" marL="0">
              <a:buNone/>
            </a:pPr>
            <a:r>
              <a:rPr lang="en-US" sz="950" dirty="0">
                <a:solidFill>
                  <a:srgbClr val="55555C"/>
                </a:solidFill>
              </a:rPr>
              <a:t>27.6 KB; hardest 69.4% (the 1B 63.3%)</a:t>
            </a:r>
            <a:endParaRPr lang="en-US" sz="950" dirty="0"/>
          </a:p>
        </p:txBody>
      </p:sp>
      <p:sp>
        <p:nvSpPr>
          <p:cNvPr id="69" name="Shape 67"/>
          <p:cNvSpPr/>
          <p:nvPr/>
        </p:nvSpPr>
        <p:spPr>
          <a:xfrm>
            <a:off x="6263640" y="4233672"/>
            <a:ext cx="5379415" cy="402336"/>
          </a:xfrm>
          <a:prstGeom prst="roundRect">
            <a:avLst>
              <a:gd name="adj" fmla="val 11364"/>
            </a:avLst>
          </a:prstGeom>
          <a:solidFill>
            <a:srgbClr val="F3F6F4"/>
          </a:solidFill>
          <a:ln w="12700">
            <a:solidFill>
              <a:srgbClr val="F3F6F4"/>
            </a:solidFill>
            <a:prstDash val="solid"/>
          </a:ln>
        </p:spPr>
      </p:sp>
      <p:sp>
        <p:nvSpPr>
          <p:cNvPr id="70" name="Shape 68"/>
          <p:cNvSpPr/>
          <p:nvPr/>
        </p:nvSpPr>
        <p:spPr>
          <a:xfrm>
            <a:off x="6336792" y="4315968"/>
            <a:ext cx="960120" cy="237744"/>
          </a:xfrm>
          <a:prstGeom prst="roundRect">
            <a:avLst>
              <a:gd name="adj" fmla="val 50000"/>
            </a:avLst>
          </a:prstGeom>
          <a:solidFill>
            <a:srgbClr val="0A7F44"/>
          </a:solidFill>
          <a:ln w="12700">
            <a:solidFill>
              <a:srgbClr val="0A7F44"/>
            </a:solidFill>
            <a:prstDash val="solid"/>
          </a:ln>
        </p:spPr>
      </p:sp>
      <p:sp>
        <p:nvSpPr>
          <p:cNvPr id="71" name="Text 69"/>
          <p:cNvSpPr txBox="1"/>
          <p:nvPr/>
        </p:nvSpPr>
        <p:spPr>
          <a:xfrm>
            <a:off x="6336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2" name="Text 70"/>
          <p:cNvSpPr txBox="1"/>
          <p:nvPr/>
        </p:nvSpPr>
        <p:spPr>
          <a:xfrm>
            <a:off x="7379208" y="423367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A doubt model + conformal threshold </a:t>
            </a:r>
            <a:pPr indent="0" marL="0">
              <a:buNone/>
            </a:pPr>
            <a:r>
              <a:rPr lang="en-US" sz="950" dirty="0">
                <a:solidFill>
                  <a:srgbClr val="0064E0"/>
                </a:solidFill>
              </a:rPr>
              <a:t>[32] </a:t>
            </a:r>
            <a:pPr indent="0" marL="0">
              <a:buNone/>
            </a:pPr>
            <a:r>
              <a:rPr lang="en-US" sz="950" dirty="0">
                <a:solidFill>
                  <a:srgbClr val="55555C"/>
                </a:solidFill>
              </a:rPr>
              <a:t>answers 59.8% of ordinary choices at 4.3% disagreement</a:t>
            </a:r>
            <a:endParaRPr lang="en-US" sz="950" dirty="0"/>
          </a:p>
        </p:txBody>
      </p:sp>
      <p:sp>
        <p:nvSpPr>
          <p:cNvPr id="73" name="Shape 71"/>
          <p:cNvSpPr/>
          <p:nvPr/>
        </p:nvSpPr>
        <p:spPr>
          <a:xfrm>
            <a:off x="6263640" y="4672584"/>
            <a:ext cx="5379415" cy="402336"/>
          </a:xfrm>
          <a:prstGeom prst="roundRect">
            <a:avLst>
              <a:gd name="adj" fmla="val 11364"/>
            </a:avLst>
          </a:prstGeom>
          <a:solidFill>
            <a:srgbClr val="FFFFFF"/>
          </a:solidFill>
          <a:ln w="12700">
            <a:solidFill>
              <a:srgbClr val="FFFFFF"/>
            </a:solidFill>
            <a:prstDash val="solid"/>
          </a:ln>
        </p:spPr>
      </p:sp>
      <p:sp>
        <p:nvSpPr>
          <p:cNvPr id="74" name="Shape 72"/>
          <p:cNvSpPr/>
          <p:nvPr/>
        </p:nvSpPr>
        <p:spPr>
          <a:xfrm>
            <a:off x="6336792" y="4754880"/>
            <a:ext cx="960120" cy="237744"/>
          </a:xfrm>
          <a:prstGeom prst="roundRect">
            <a:avLst>
              <a:gd name="adj" fmla="val 50000"/>
            </a:avLst>
          </a:prstGeom>
          <a:solidFill>
            <a:srgbClr val="B26A00"/>
          </a:solidFill>
          <a:ln w="12700">
            <a:solidFill>
              <a:srgbClr val="B26A00"/>
            </a:solidFill>
            <a:prstDash val="solid"/>
          </a:ln>
        </p:spPr>
      </p:sp>
      <p:sp>
        <p:nvSpPr>
          <p:cNvPr id="75" name="Text 73"/>
          <p:cNvSpPr txBox="1"/>
          <p:nvPr/>
        </p:nvSpPr>
        <p:spPr>
          <a:xfrm>
            <a:off x="6336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76" name="Text 74"/>
          <p:cNvSpPr txBox="1"/>
          <p:nvPr/>
        </p:nvSpPr>
        <p:spPr>
          <a:xfrm>
            <a:off x="7379208" y="467258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Hashed n-grams, int8 logistic regression </a:t>
            </a:r>
            <a:pPr indent="0" marL="0">
              <a:buNone/>
            </a:pPr>
            <a:r>
              <a:rPr lang="en-US" sz="950" dirty="0">
                <a:solidFill>
                  <a:srgbClr val="0064E0"/>
                </a:solidFill>
              </a:rPr>
              <a:t>[38] </a:t>
            </a:r>
            <a:pPr indent="0" marL="0">
              <a:buNone/>
            </a:pPr>
            <a:r>
              <a:rPr lang="en-US" sz="950" dirty="0">
                <a:solidFill>
                  <a:srgbClr val="55555C"/>
                </a:solidFill>
              </a:rPr>
              <a:t>post prefilter 87 KB: safe, but passes only 11%</a:t>
            </a:r>
            <a:endParaRPr lang="en-US" sz="950" dirty="0"/>
          </a:p>
        </p:txBody>
      </p:sp>
      <p:sp>
        <p:nvSpPr>
          <p:cNvPr id="77" name="Text 75"/>
          <p:cNvSpPr txBox="1"/>
          <p:nvPr/>
        </p:nvSpPr>
        <p:spPr>
          <a:xfrm>
            <a:off x="548640" y="6035040"/>
            <a:ext cx="11094415" cy="274320"/>
          </a:xfrm>
          <a:prstGeom prst="rect">
            <a:avLst/>
          </a:prstGeom>
          <a:noFill/>
          <a:ln/>
        </p:spPr>
        <p:txBody>
          <a:bodyPr wrap="square" lIns="0" tIns="0" rIns="0" bIns="0" rtlCol="0" anchor="ctr"/>
          <a:lstStyle/>
          <a:p>
            <a:pPr indent="0" marL="0">
              <a:buNone/>
            </a:pPr>
            <a:r>
              <a:rPr lang="en-US" sz="1000" dirty="0">
                <a:solidFill>
                  <a:srgbClr val="55555C"/>
                </a:solidFill>
              </a:rPr>
              <a:t>[n] = references on the last slides. Text 1B and tiny layer: submission/results/text1b.json and tiny.json; the decision 1B: its round-4 run (bf16).</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Four things that surprised us running Meta's models in a product</a:t>
            </a:r>
            <a:endParaRPr lang="en-US" sz="2400" dirty="0"/>
          </a:p>
        </p:txBody>
      </p:sp>
      <p:sp>
        <p:nvSpPr>
          <p:cNvPr id="3" name="Shape 1"/>
          <p:cNvSpPr/>
          <p:nvPr/>
        </p:nvSpPr>
        <p:spPr>
          <a:xfrm>
            <a:off x="548640" y="1325880"/>
            <a:ext cx="5440680" cy="2194560"/>
          </a:xfrm>
          <a:prstGeom prst="roundRect">
            <a:avLst>
              <a:gd name="adj" fmla="val 3333"/>
            </a:avLst>
          </a:prstGeom>
          <a:solidFill>
            <a:srgbClr val="F3F6F4"/>
          </a:solidFill>
          <a:ln w="12700">
            <a:solidFill>
              <a:srgbClr val="F3F6F4"/>
            </a:solidFill>
            <a:prstDash val="solid"/>
          </a:ln>
        </p:spPr>
      </p:sp>
      <p:sp>
        <p:nvSpPr>
          <p:cNvPr id="4" name="Text 2"/>
          <p:cNvSpPr txBox="1"/>
          <p:nvPr/>
        </p:nvSpPr>
        <p:spPr>
          <a:xfrm>
            <a:off x="822960" y="150876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reasons even when told not to</a:t>
            </a:r>
            <a:endParaRPr lang="en-US" sz="1700" dirty="0"/>
          </a:p>
          <a:p>
            <a:pPr indent="0" marL="0">
              <a:spcAft>
                <a:spcPts val="600"/>
              </a:spcAft>
              <a:buNone/>
            </a:pPr>
            <a:r>
              <a:rPr lang="en-US" sz="1400" dirty="0">
                <a:solidFill>
                  <a:srgbClr val="0A0A0B"/>
                </a:solidFill>
              </a:rPr>
              <a:t>84% of the tokens it wrote over 2,755 calls were reasoning; 9% of calls came back empty. Every call now asks for think "low" with 900 tokens of room.</a:t>
            </a:r>
            <a:endParaRPr lang="en-US" sz="1700" dirty="0"/>
          </a:p>
        </p:txBody>
      </p:sp>
      <p:sp>
        <p:nvSpPr>
          <p:cNvPr id="5" name="Shape 3"/>
          <p:cNvSpPr/>
          <p:nvPr/>
        </p:nvSpPr>
        <p:spPr>
          <a:xfrm>
            <a:off x="6172200" y="1325880"/>
            <a:ext cx="5440680" cy="2194560"/>
          </a:xfrm>
          <a:prstGeom prst="roundRect">
            <a:avLst>
              <a:gd name="adj" fmla="val 3333"/>
            </a:avLst>
          </a:prstGeom>
          <a:solidFill>
            <a:srgbClr val="F3F6F4"/>
          </a:solidFill>
          <a:ln w="12700">
            <a:solidFill>
              <a:srgbClr val="F3F6F4"/>
            </a:solidFill>
            <a:prstDash val="solid"/>
          </a:ln>
        </p:spPr>
      </p:sp>
      <p:sp>
        <p:nvSpPr>
          <p:cNvPr id="6" name="Text 4"/>
          <p:cNvSpPr txBox="1"/>
          <p:nvPr/>
        </p:nvSpPr>
        <p:spPr>
          <a:xfrm>
            <a:off x="6446520" y="150876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A 1B agrees with Glimmer as often as Glimmer agrees with itself</a:t>
            </a:r>
            <a:endParaRPr lang="en-US" sz="1700" dirty="0"/>
          </a:p>
          <a:p>
            <a:pPr indent="0" marL="0">
              <a:spcAft>
                <a:spcPts val="600"/>
              </a:spcAft>
              <a:buNone/>
            </a:pPr>
            <a:r>
              <a:rPr lang="en-US" sz="1400" dirty="0">
                <a:solidFill>
                  <a:srgbClr val="0A0A0B"/>
                </a:solidFill>
              </a:rPr>
              <a:t>89.5% against 88.8% on 500 held-out cases, in 0.9 s instead of about 40 s.</a:t>
            </a:r>
            <a:endParaRPr lang="en-US" sz="1700" dirty="0"/>
          </a:p>
        </p:txBody>
      </p:sp>
      <p:sp>
        <p:nvSpPr>
          <p:cNvPr id="7" name="Shape 5"/>
          <p:cNvSpPr/>
          <p:nvPr/>
        </p:nvSpPr>
        <p:spPr>
          <a:xfrm>
            <a:off x="548640" y="3749040"/>
            <a:ext cx="5440680" cy="2194560"/>
          </a:xfrm>
          <a:prstGeom prst="roundRect">
            <a:avLst>
              <a:gd name="adj" fmla="val 3333"/>
            </a:avLst>
          </a:prstGeom>
          <a:solidFill>
            <a:srgbClr val="F3F6F4"/>
          </a:solidFill>
          <a:ln w="12700">
            <a:solidFill>
              <a:srgbClr val="F3F6F4"/>
            </a:solidFill>
            <a:prstDash val="solid"/>
          </a:ln>
        </p:spPr>
      </p:sp>
      <p:sp>
        <p:nvSpPr>
          <p:cNvPr id="8" name="Text 6"/>
          <p:cNvSpPr txBox="1"/>
          <p:nvPr/>
        </p:nvSpPr>
        <p:spPr>
          <a:xfrm>
            <a:off x="822960" y="393192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can decide in one token</a:t>
            </a:r>
            <a:endParaRPr lang="en-US" sz="1700" dirty="0"/>
          </a:p>
          <a:p>
            <a:pPr indent="0" marL="0">
              <a:spcAft>
                <a:spcPts val="600"/>
              </a:spcAft>
              <a:buNone/>
            </a:pPr>
            <a:r>
              <a:rPr lang="en-US" sz="1400" dirty="0">
                <a:solidFill>
                  <a:srgbClr val="0A0A0B"/>
                </a:solidFill>
              </a:rPr>
              <a:t>Read with no chat template, its next token gives a probability for each option: 0.53 s, no reasoning. It mostly reads the order, though: 99.5% of picks were the first time listed.</a:t>
            </a:r>
            <a:endParaRPr lang="en-US" sz="1700" dirty="0"/>
          </a:p>
        </p:txBody>
      </p:sp>
      <p:sp>
        <p:nvSpPr>
          <p:cNvPr id="9" name="Shape 7"/>
          <p:cNvSpPr/>
          <p:nvPr/>
        </p:nvSpPr>
        <p:spPr>
          <a:xfrm>
            <a:off x="6172200" y="3749040"/>
            <a:ext cx="5440680" cy="2194560"/>
          </a:xfrm>
          <a:prstGeom prst="roundRect">
            <a:avLst>
              <a:gd name="adj" fmla="val 3333"/>
            </a:avLst>
          </a:prstGeom>
          <a:solidFill>
            <a:srgbClr val="F3F6F4"/>
          </a:solidFill>
          <a:ln w="12700">
            <a:solidFill>
              <a:srgbClr val="F3F6F4"/>
            </a:solidFill>
            <a:prstDash val="solid"/>
          </a:ln>
        </p:spPr>
      </p:sp>
      <p:sp>
        <p:nvSpPr>
          <p:cNvPr id="10" name="Text 8"/>
          <p:cNvSpPr txBox="1"/>
          <p:nvPr/>
        </p:nvSpPr>
        <p:spPr>
          <a:xfrm>
            <a:off x="6446520" y="393192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Llama Guard 3 refused a club name as violence</a:t>
            </a:r>
            <a:endParaRPr lang="en-US" sz="1700" dirty="0"/>
          </a:p>
          <a:p>
            <a:pPr indent="0" marL="0">
              <a:spcAft>
                <a:spcPts val="600"/>
              </a:spcAft>
              <a:buNone/>
            </a:pPr>
            <a:r>
              <a:rPr lang="en-US" sz="1400" dirty="0">
                <a:solidFill>
                  <a:srgbClr val="0A0A0B"/>
                </a:solidFill>
              </a:rPr>
              <a:t>“Serve test round 27” was refused on the live site (S9, then S1). S9 now needs a weapon word; S1 alone with no word of harm goes to the club's standard. Feed red team still 13 of 13.</a:t>
            </a:r>
            <a:endParaRPr lang="en-US" sz="17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Rule of Two, two guards and a hardened 1B: 93 of 93 attacks stopped</a:t>
            </a:r>
            <a:endParaRPr lang="en-US" sz="2400" dirty="0"/>
          </a:p>
        </p:txBody>
      </p:sp>
      <p:sp>
        <p:nvSpPr>
          <p:cNvPr id="3" name="Shape 1"/>
          <p:cNvSpPr/>
          <p:nvPr/>
        </p:nvSpPr>
        <p:spPr>
          <a:xfrm>
            <a:off x="548640" y="1325880"/>
            <a:ext cx="237744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63040"/>
            <a:ext cx="1920240" cy="731520"/>
          </a:xfrm>
          <a:prstGeom prst="rect">
            <a:avLst/>
          </a:prstGeom>
          <a:noFill/>
          <a:ln/>
        </p:spPr>
        <p:txBody>
          <a:bodyPr wrap="square" lIns="0" tIns="0" rIns="0" bIns="0" rtlCol="0" anchor="ctr"/>
          <a:lstStyle/>
          <a:p>
            <a:pPr indent="0" marL="0">
              <a:buNone/>
            </a:pPr>
            <a:r>
              <a:rPr lang="en-US" sz="4000" b="1" dirty="0">
                <a:solidFill>
                  <a:srgbClr val="0A7F44"/>
                </a:solidFill>
                <a:latin typeface="Segoe UI Semibold" pitchFamily="34" charset="0"/>
                <a:ea typeface="Segoe UI Semibold" pitchFamily="34" charset="-122"/>
                <a:cs typeface="Segoe UI Semibold" pitchFamily="34" charset="-120"/>
              </a:rPr>
              <a:t>93 / 93</a:t>
            </a:r>
            <a:endParaRPr lang="en-US" sz="4000" dirty="0"/>
          </a:p>
        </p:txBody>
      </p:sp>
      <p:sp>
        <p:nvSpPr>
          <p:cNvPr id="5" name="Text 3"/>
          <p:cNvSpPr txBox="1"/>
          <p:nvPr/>
        </p:nvSpPr>
        <p:spPr>
          <a:xfrm>
            <a:off x="777240" y="2194560"/>
            <a:ext cx="1920240" cy="594360"/>
          </a:xfrm>
          <a:prstGeom prst="rect">
            <a:avLst/>
          </a:prstGeom>
          <a:noFill/>
          <a:ln/>
        </p:spPr>
        <p:txBody>
          <a:bodyPr wrap="square" lIns="0" tIns="0" rIns="0" bIns="0" rtlCol="0" anchor="t"/>
          <a:lstStyle/>
          <a:p>
            <a:pPr indent="0" marL="0">
              <a:buNone/>
            </a:pPr>
            <a:r>
              <a:rPr lang="en-US" sz="1250" dirty="0">
                <a:solidFill>
                  <a:srgbClr val="55555C"/>
                </a:solidFill>
              </a:rPr>
              <a:t>attack cases stopped, named by OWASP LLM Top 10 risk</a:t>
            </a:r>
            <a:endParaRPr lang="en-US" sz="1250" dirty="0"/>
          </a:p>
        </p:txBody>
      </p:sp>
      <p:sp>
        <p:nvSpPr>
          <p:cNvPr id="6" name="Text 4"/>
          <p:cNvSpPr txBox="1"/>
          <p:nvPr/>
        </p:nvSpPr>
        <p:spPr>
          <a:xfrm>
            <a:off x="3200400" y="1325880"/>
            <a:ext cx="8412480" cy="320040"/>
          </a:xfrm>
          <a:prstGeom prst="rect">
            <a:avLst/>
          </a:prstGeom>
          <a:noFill/>
          <a:ln/>
        </p:spPr>
        <p:txBody>
          <a:bodyPr wrap="square" lIns="0" tIns="0" rIns="0" bIns="0" rtlCol="0" anchor="ctr"/>
          <a:lstStyle/>
          <a:p>
            <a:pPr indent="0" marL="0">
              <a:buNone/>
            </a:pPr>
            <a:r>
              <a:rPr lang="en-US" sz="1300" b="1" dirty="0">
                <a:solidFill>
                  <a:srgbClr val="0A0A0B"/>
                </a:solidFill>
              </a:rPr>
              <a:t>Untrusted text (posts, comments, reviews, wishes), layer by layer</a:t>
            </a:r>
            <a:endParaRPr lang="en-US" sz="1300" dirty="0"/>
          </a:p>
        </p:txBody>
      </p:sp>
      <p:sp>
        <p:nvSpPr>
          <p:cNvPr id="7" name="Shape 5"/>
          <p:cNvSpPr/>
          <p:nvPr/>
        </p:nvSpPr>
        <p:spPr>
          <a:xfrm>
            <a:off x="3200400" y="1737360"/>
            <a:ext cx="1481328" cy="1051560"/>
          </a:xfrm>
          <a:prstGeom prst="roundRect">
            <a:avLst>
              <a:gd name="adj" fmla="val 6957"/>
            </a:avLst>
          </a:prstGeom>
          <a:solidFill>
            <a:srgbClr val="FBEAE9"/>
          </a:solidFill>
          <a:ln w="12700">
            <a:solidFill>
              <a:srgbClr val="FBEAE9"/>
            </a:solidFill>
            <a:prstDash val="solid"/>
          </a:ln>
        </p:spPr>
      </p:sp>
      <p:sp>
        <p:nvSpPr>
          <p:cNvPr id="8" name="Text 6"/>
          <p:cNvSpPr txBox="1"/>
          <p:nvPr/>
        </p:nvSpPr>
        <p:spPr>
          <a:xfrm>
            <a:off x="3337560"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Text in</a:t>
            </a:r>
            <a:endParaRPr lang="en-US" sz="1400" dirty="0"/>
          </a:p>
          <a:p>
            <a:pPr algn="ctr" indent="0" marL="0">
              <a:buNone/>
            </a:pPr>
            <a:r>
              <a:rPr lang="en-US" sz="1150" dirty="0">
                <a:solidFill>
                  <a:srgbClr val="55555C"/>
                </a:solidFill>
              </a:rPr>
              <a:t>a post, a review</a:t>
            </a:r>
            <a:endParaRPr lang="en-US" sz="1400" dirty="0"/>
          </a:p>
        </p:txBody>
      </p:sp>
      <p:sp>
        <p:nvSpPr>
          <p:cNvPr id="9" name="Shape 7"/>
          <p:cNvSpPr/>
          <p:nvPr/>
        </p:nvSpPr>
        <p:spPr>
          <a:xfrm>
            <a:off x="4690872" y="2258568"/>
            <a:ext cx="192024" cy="914"/>
          </a:xfrm>
          <a:prstGeom prst="line">
            <a:avLst/>
          </a:prstGeom>
          <a:noFill/>
          <a:ln w="25400">
            <a:solidFill>
              <a:srgbClr val="8A8A92"/>
            </a:solidFill>
            <a:prstDash val="solid"/>
            <a:tailEnd type="triangle"/>
          </a:ln>
        </p:spPr>
      </p:sp>
      <p:sp>
        <p:nvSpPr>
          <p:cNvPr id="10" name="Shape 8"/>
          <p:cNvSpPr/>
          <p:nvPr/>
        </p:nvSpPr>
        <p:spPr>
          <a:xfrm>
            <a:off x="4901184" y="1737360"/>
            <a:ext cx="1481328" cy="1051560"/>
          </a:xfrm>
          <a:prstGeom prst="roundRect">
            <a:avLst>
              <a:gd name="adj" fmla="val 6957"/>
            </a:avLst>
          </a:prstGeom>
          <a:solidFill>
            <a:srgbClr val="F3F6F4"/>
          </a:solidFill>
          <a:ln w="12700">
            <a:solidFill>
              <a:srgbClr val="F3F6F4"/>
            </a:solidFill>
            <a:prstDash val="solid"/>
          </a:ln>
        </p:spPr>
      </p:sp>
      <p:sp>
        <p:nvSpPr>
          <p:cNvPr id="11" name="Text 9"/>
          <p:cNvSpPr txBox="1"/>
          <p:nvPr/>
        </p:nvSpPr>
        <p:spPr>
          <a:xfrm>
            <a:off x="5038344"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Prompt Guard</a:t>
            </a:r>
            <a:endParaRPr lang="en-US" sz="1400" dirty="0"/>
          </a:p>
          <a:p>
            <a:pPr algn="ctr" indent="0" marL="0">
              <a:buNone/>
            </a:pPr>
            <a:r>
              <a:rPr lang="en-US" sz="1150" dirty="0">
                <a:solidFill>
                  <a:srgbClr val="55555C"/>
                </a:solidFill>
              </a:rPr>
              <a:t>2 (86M): injections</a:t>
            </a:r>
            <a:endParaRPr lang="en-US" sz="1400" dirty="0"/>
          </a:p>
        </p:txBody>
      </p:sp>
      <p:sp>
        <p:nvSpPr>
          <p:cNvPr id="12" name="Shape 10"/>
          <p:cNvSpPr/>
          <p:nvPr/>
        </p:nvSpPr>
        <p:spPr>
          <a:xfrm>
            <a:off x="6391656" y="2258568"/>
            <a:ext cx="192024" cy="914"/>
          </a:xfrm>
          <a:prstGeom prst="line">
            <a:avLst/>
          </a:prstGeom>
          <a:noFill/>
          <a:ln w="25400">
            <a:solidFill>
              <a:srgbClr val="8A8A92"/>
            </a:solidFill>
            <a:prstDash val="solid"/>
            <a:tailEnd type="triangle"/>
          </a:ln>
        </p:spPr>
      </p:sp>
      <p:sp>
        <p:nvSpPr>
          <p:cNvPr id="13" name="Shape 11"/>
          <p:cNvSpPr/>
          <p:nvPr/>
        </p:nvSpPr>
        <p:spPr>
          <a:xfrm>
            <a:off x="6601968" y="1737360"/>
            <a:ext cx="1481328" cy="1051560"/>
          </a:xfrm>
          <a:prstGeom prst="roundRect">
            <a:avLst>
              <a:gd name="adj" fmla="val 6957"/>
            </a:avLst>
          </a:prstGeom>
          <a:solidFill>
            <a:srgbClr val="F3F6F4"/>
          </a:solidFill>
          <a:ln w="12700">
            <a:solidFill>
              <a:srgbClr val="F3F6F4"/>
            </a:solidFill>
            <a:prstDash val="solid"/>
          </a:ln>
        </p:spPr>
      </p:sp>
      <p:sp>
        <p:nvSpPr>
          <p:cNvPr id="14" name="Text 12"/>
          <p:cNvSpPr txBox="1"/>
          <p:nvPr/>
        </p:nvSpPr>
        <p:spPr>
          <a:xfrm>
            <a:off x="6739128"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Llama Guard</a:t>
            </a:r>
            <a:endParaRPr lang="en-US" sz="1400" dirty="0"/>
          </a:p>
          <a:p>
            <a:pPr algn="ctr" indent="0" marL="0">
              <a:buNone/>
            </a:pPr>
            <a:r>
              <a:rPr lang="en-US" sz="1150" dirty="0">
                <a:solidFill>
                  <a:srgbClr val="55555C"/>
                </a:solidFill>
              </a:rPr>
              <a:t>3 (1B): harms</a:t>
            </a:r>
            <a:endParaRPr lang="en-US" sz="1400" dirty="0"/>
          </a:p>
        </p:txBody>
      </p:sp>
      <p:sp>
        <p:nvSpPr>
          <p:cNvPr id="15" name="Shape 13"/>
          <p:cNvSpPr/>
          <p:nvPr/>
        </p:nvSpPr>
        <p:spPr>
          <a:xfrm>
            <a:off x="8092440" y="2258568"/>
            <a:ext cx="192024" cy="914"/>
          </a:xfrm>
          <a:prstGeom prst="line">
            <a:avLst/>
          </a:prstGeom>
          <a:noFill/>
          <a:ln w="25400">
            <a:solidFill>
              <a:srgbClr val="8A8A92"/>
            </a:solidFill>
            <a:prstDash val="solid"/>
            <a:tailEnd type="triangle"/>
          </a:ln>
        </p:spPr>
      </p:sp>
      <p:sp>
        <p:nvSpPr>
          <p:cNvPr id="16" name="Shape 14"/>
          <p:cNvSpPr/>
          <p:nvPr/>
        </p:nvSpPr>
        <p:spPr>
          <a:xfrm>
            <a:off x="8302752" y="1737360"/>
            <a:ext cx="1481328" cy="1051560"/>
          </a:xfrm>
          <a:prstGeom prst="roundRect">
            <a:avLst>
              <a:gd name="adj" fmla="val 6957"/>
            </a:avLst>
          </a:prstGeom>
          <a:solidFill>
            <a:srgbClr val="F3F6F4"/>
          </a:solidFill>
          <a:ln w="12700">
            <a:solidFill>
              <a:srgbClr val="F3F6F4"/>
            </a:solidFill>
            <a:prstDash val="solid"/>
          </a:ln>
        </p:spPr>
      </p:sp>
      <p:sp>
        <p:nvSpPr>
          <p:cNvPr id="17" name="Text 15"/>
          <p:cNvSpPr txBox="1"/>
          <p:nvPr/>
        </p:nvSpPr>
        <p:spPr>
          <a:xfrm>
            <a:off x="8439912"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Code checks</a:t>
            </a:r>
            <a:endParaRPr lang="en-US" sz="1400" dirty="0"/>
          </a:p>
          <a:p>
            <a:pPr algn="ctr" indent="0" marL="0">
              <a:buNone/>
            </a:pPr>
            <a:r>
              <a:rPr lang="en-US" sz="1150" dirty="0">
                <a:solidFill>
                  <a:srgbClr val="55555C"/>
                </a:solidFill>
              </a:rPr>
              <a:t>numbers, names, links</a:t>
            </a:r>
            <a:endParaRPr lang="en-US" sz="1400" dirty="0"/>
          </a:p>
        </p:txBody>
      </p:sp>
      <p:sp>
        <p:nvSpPr>
          <p:cNvPr id="18" name="Shape 16"/>
          <p:cNvSpPr/>
          <p:nvPr/>
        </p:nvSpPr>
        <p:spPr>
          <a:xfrm>
            <a:off x="9793224" y="2258568"/>
            <a:ext cx="192024" cy="914"/>
          </a:xfrm>
          <a:prstGeom prst="line">
            <a:avLst/>
          </a:prstGeom>
          <a:noFill/>
          <a:ln w="25400">
            <a:solidFill>
              <a:srgbClr val="8A8A92"/>
            </a:solidFill>
            <a:prstDash val="solid"/>
            <a:tailEnd type="triangle"/>
          </a:ln>
        </p:spPr>
      </p:sp>
      <p:sp>
        <p:nvSpPr>
          <p:cNvPr id="19" name="Shape 17"/>
          <p:cNvSpPr/>
          <p:nvPr/>
        </p:nvSpPr>
        <p:spPr>
          <a:xfrm>
            <a:off x="10003536" y="1737360"/>
            <a:ext cx="1481328" cy="1051560"/>
          </a:xfrm>
          <a:prstGeom prst="roundRect">
            <a:avLst>
              <a:gd name="adj" fmla="val 6957"/>
            </a:avLst>
          </a:prstGeom>
          <a:solidFill>
            <a:srgbClr val="0A7F44"/>
          </a:solidFill>
          <a:ln w="12700">
            <a:solidFill>
              <a:srgbClr val="0A7F44"/>
            </a:solidFill>
            <a:prstDash val="solid"/>
          </a:ln>
        </p:spPr>
      </p:sp>
      <p:sp>
        <p:nvSpPr>
          <p:cNvPr id="20" name="Text 18"/>
          <p:cNvSpPr txBox="1"/>
          <p:nvPr/>
        </p:nvSpPr>
        <p:spPr>
          <a:xfrm>
            <a:off x="10140696" y="1737360"/>
            <a:ext cx="1207008" cy="1051560"/>
          </a:xfrm>
          <a:prstGeom prst="rect">
            <a:avLst/>
          </a:prstGeom>
          <a:noFill/>
          <a:ln/>
        </p:spPr>
        <p:txBody>
          <a:bodyPr wrap="square" lIns="0" tIns="0" rIns="0" bIns="0" rtlCol="0" anchor="ctr"/>
          <a:lstStyle/>
          <a:p>
            <a:pPr algn="ctr" indent="0" marL="0">
              <a:buNone/>
            </a:pPr>
            <a:r>
              <a:rPr lang="en-US" sz="1400" b="1" dirty="0">
                <a:solidFill>
                  <a:srgbClr val="FFFFFF"/>
                </a:solidFill>
              </a:rPr>
              <a:t>Then a model</a:t>
            </a:r>
            <a:endParaRPr lang="en-US" sz="1400" dirty="0"/>
          </a:p>
          <a:p>
            <a:pPr algn="ctr" indent="0" marL="0">
              <a:buNone/>
            </a:pPr>
            <a:r>
              <a:rPr lang="en-US" sz="1150" dirty="0">
                <a:solidFill>
                  <a:srgbClr val="D9EBDF"/>
                </a:solidFill>
              </a:rPr>
              <a:t>never the one that acts</a:t>
            </a:r>
            <a:endParaRPr lang="en-US" sz="1400" dirty="0"/>
          </a:p>
        </p:txBody>
      </p:sp>
      <p:sp>
        <p:nvSpPr>
          <p:cNvPr id="21" name="Text 19"/>
          <p:cNvSpPr txBox="1"/>
          <p:nvPr/>
        </p:nvSpPr>
        <p:spPr>
          <a:xfrm>
            <a:off x="548640" y="3108960"/>
            <a:ext cx="5486400" cy="320040"/>
          </a:xfrm>
          <a:prstGeom prst="rect">
            <a:avLst/>
          </a:prstGeom>
          <a:noFill/>
          <a:ln/>
        </p:spPr>
        <p:txBody>
          <a:bodyPr wrap="square" lIns="0" tIns="0" rIns="0" bIns="0" rtlCol="0" anchor="ctr"/>
          <a:lstStyle/>
          <a:p>
            <a:pPr indent="0" marL="0">
              <a:buNone/>
            </a:pPr>
            <a:r>
              <a:rPr lang="en-US" sz="1300" b="1" dirty="0">
                <a:solidFill>
                  <a:srgbClr val="0A0A0B"/>
                </a:solidFill>
              </a:rPr>
              <a:t>A signed record of every yes</a:t>
            </a:r>
            <a:endParaRPr lang="en-US" sz="1300" dirty="0"/>
          </a:p>
        </p:txBody>
      </p:sp>
      <p:sp>
        <p:nvSpPr>
          <p:cNvPr id="22" name="Shape 20"/>
          <p:cNvSpPr/>
          <p:nvPr/>
        </p:nvSpPr>
        <p:spPr>
          <a:xfrm>
            <a:off x="548640" y="3520440"/>
            <a:ext cx="1188720" cy="777240"/>
          </a:xfrm>
          <a:prstGeom prst="roundRect">
            <a:avLst>
              <a:gd name="adj" fmla="val 9412"/>
            </a:avLst>
          </a:prstGeom>
          <a:solidFill>
            <a:srgbClr val="E9F3EC"/>
          </a:solidFill>
          <a:ln w="12700">
            <a:solidFill>
              <a:srgbClr val="E9F3EC"/>
            </a:solidFill>
            <a:prstDash val="solid"/>
          </a:ln>
        </p:spPr>
      </p:sp>
      <p:sp>
        <p:nvSpPr>
          <p:cNvPr id="23" name="Text 21"/>
          <p:cNvSpPr txBox="1"/>
          <p:nvPr/>
        </p:nvSpPr>
        <p:spPr>
          <a:xfrm>
            <a:off x="68580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#1</a:t>
            </a:r>
            <a:endParaRPr lang="en-US" sz="1400" dirty="0"/>
          </a:p>
          <a:p>
            <a:pPr algn="ctr" indent="0" marL="0">
              <a:buNone/>
            </a:pPr>
            <a:r>
              <a:rPr lang="en-US" sz="1150" dirty="0">
                <a:solidFill>
                  <a:srgbClr val="55555C"/>
                </a:solidFill>
              </a:rPr>
              <a:t>signed · hash of the last</a:t>
            </a:r>
            <a:endParaRPr lang="en-US" sz="1400" dirty="0"/>
          </a:p>
        </p:txBody>
      </p:sp>
      <p:sp>
        <p:nvSpPr>
          <p:cNvPr id="24" name="Shape 22"/>
          <p:cNvSpPr/>
          <p:nvPr/>
        </p:nvSpPr>
        <p:spPr>
          <a:xfrm>
            <a:off x="1746504" y="3904488"/>
            <a:ext cx="201168" cy="914"/>
          </a:xfrm>
          <a:prstGeom prst="line">
            <a:avLst/>
          </a:prstGeom>
          <a:noFill/>
          <a:ln w="25400">
            <a:solidFill>
              <a:srgbClr val="0A7F44"/>
            </a:solidFill>
            <a:prstDash val="solid"/>
            <a:tailEnd type="triangle"/>
          </a:ln>
        </p:spPr>
      </p:sp>
      <p:sp>
        <p:nvSpPr>
          <p:cNvPr id="25" name="Shape 23"/>
          <p:cNvSpPr/>
          <p:nvPr/>
        </p:nvSpPr>
        <p:spPr>
          <a:xfrm>
            <a:off x="1965960" y="3520440"/>
            <a:ext cx="1188720" cy="777240"/>
          </a:xfrm>
          <a:prstGeom prst="roundRect">
            <a:avLst>
              <a:gd name="adj" fmla="val 9412"/>
            </a:avLst>
          </a:prstGeom>
          <a:solidFill>
            <a:srgbClr val="E9F3EC"/>
          </a:solidFill>
          <a:ln w="12700">
            <a:solidFill>
              <a:srgbClr val="E9F3EC"/>
            </a:solidFill>
            <a:prstDash val="solid"/>
          </a:ln>
        </p:spPr>
      </p:sp>
      <p:sp>
        <p:nvSpPr>
          <p:cNvPr id="26" name="Text 24"/>
          <p:cNvSpPr txBox="1"/>
          <p:nvPr/>
        </p:nvSpPr>
        <p:spPr>
          <a:xfrm>
            <a:off x="210312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#2</a:t>
            </a:r>
            <a:endParaRPr lang="en-US" sz="1400" dirty="0"/>
          </a:p>
          <a:p>
            <a:pPr algn="ctr" indent="0" marL="0">
              <a:buNone/>
            </a:pPr>
            <a:r>
              <a:rPr lang="en-US" sz="1150" dirty="0">
                <a:solidFill>
                  <a:srgbClr val="55555C"/>
                </a:solidFill>
              </a:rPr>
              <a:t>signed · hash of the last</a:t>
            </a:r>
            <a:endParaRPr lang="en-US" sz="1400" dirty="0"/>
          </a:p>
        </p:txBody>
      </p:sp>
      <p:sp>
        <p:nvSpPr>
          <p:cNvPr id="27" name="Shape 25"/>
          <p:cNvSpPr/>
          <p:nvPr/>
        </p:nvSpPr>
        <p:spPr>
          <a:xfrm>
            <a:off x="3163824" y="3904488"/>
            <a:ext cx="201168" cy="914"/>
          </a:xfrm>
          <a:prstGeom prst="line">
            <a:avLst/>
          </a:prstGeom>
          <a:noFill/>
          <a:ln w="25400">
            <a:solidFill>
              <a:srgbClr val="0A7F44"/>
            </a:solidFill>
            <a:prstDash val="solid"/>
            <a:tailEnd type="triangle"/>
          </a:ln>
        </p:spPr>
      </p:sp>
      <p:sp>
        <p:nvSpPr>
          <p:cNvPr id="28" name="Shape 26"/>
          <p:cNvSpPr/>
          <p:nvPr/>
        </p:nvSpPr>
        <p:spPr>
          <a:xfrm>
            <a:off x="3383280" y="3520440"/>
            <a:ext cx="1188720" cy="777240"/>
          </a:xfrm>
          <a:prstGeom prst="roundRect">
            <a:avLst>
              <a:gd name="adj" fmla="val 9412"/>
            </a:avLst>
          </a:prstGeom>
          <a:solidFill>
            <a:srgbClr val="E9F3EC"/>
          </a:solidFill>
          <a:ln w="12700">
            <a:solidFill>
              <a:srgbClr val="E9F3EC"/>
            </a:solidFill>
            <a:prstDash val="solid"/>
          </a:ln>
        </p:spPr>
      </p:sp>
      <p:sp>
        <p:nvSpPr>
          <p:cNvPr id="29" name="Text 27"/>
          <p:cNvSpPr txBox="1"/>
          <p:nvPr/>
        </p:nvSpPr>
        <p:spPr>
          <a:xfrm>
            <a:off x="352044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#3</a:t>
            </a:r>
            <a:endParaRPr lang="en-US" sz="1400" dirty="0"/>
          </a:p>
          <a:p>
            <a:pPr algn="ctr" indent="0" marL="0">
              <a:buNone/>
            </a:pPr>
            <a:r>
              <a:rPr lang="en-US" sz="1150" dirty="0">
                <a:solidFill>
                  <a:srgbClr val="55555C"/>
                </a:solidFill>
              </a:rPr>
              <a:t>signed · hash of the last</a:t>
            </a:r>
            <a:endParaRPr lang="en-US" sz="1400" dirty="0"/>
          </a:p>
        </p:txBody>
      </p:sp>
      <p:sp>
        <p:nvSpPr>
          <p:cNvPr id="30" name="Shape 28"/>
          <p:cNvSpPr/>
          <p:nvPr/>
        </p:nvSpPr>
        <p:spPr>
          <a:xfrm>
            <a:off x="4581144" y="3904488"/>
            <a:ext cx="201168" cy="914"/>
          </a:xfrm>
          <a:prstGeom prst="line">
            <a:avLst/>
          </a:prstGeom>
          <a:noFill/>
          <a:ln w="25400">
            <a:solidFill>
              <a:srgbClr val="0A7F44"/>
            </a:solidFill>
            <a:prstDash val="solid"/>
            <a:tailEnd type="triangle"/>
          </a:ln>
        </p:spPr>
      </p:sp>
      <p:sp>
        <p:nvSpPr>
          <p:cNvPr id="31" name="Shape 29"/>
          <p:cNvSpPr/>
          <p:nvPr/>
        </p:nvSpPr>
        <p:spPr>
          <a:xfrm>
            <a:off x="4800600" y="3520440"/>
            <a:ext cx="1188720" cy="777240"/>
          </a:xfrm>
          <a:prstGeom prst="roundRect">
            <a:avLst>
              <a:gd name="adj" fmla="val 9412"/>
            </a:avLst>
          </a:prstGeom>
          <a:solidFill>
            <a:srgbClr val="E9F3EC"/>
          </a:solidFill>
          <a:ln w="12700">
            <a:solidFill>
              <a:srgbClr val="E9F3EC"/>
            </a:solidFill>
            <a:prstDash val="solid"/>
          </a:ln>
        </p:spPr>
      </p:sp>
      <p:sp>
        <p:nvSpPr>
          <p:cNvPr id="32" name="Text 30"/>
          <p:cNvSpPr txBox="1"/>
          <p:nvPr/>
        </p:nvSpPr>
        <p:spPr>
          <a:xfrm>
            <a:off x="493776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#4</a:t>
            </a:r>
            <a:endParaRPr lang="en-US" sz="1400" dirty="0"/>
          </a:p>
          <a:p>
            <a:pPr algn="ctr" indent="0" marL="0">
              <a:buNone/>
            </a:pPr>
            <a:r>
              <a:rPr lang="en-US" sz="1150" dirty="0">
                <a:solidFill>
                  <a:srgbClr val="55555C"/>
                </a:solidFill>
              </a:rPr>
              <a:t>signed · hash of the last</a:t>
            </a:r>
            <a:endParaRPr lang="en-US" sz="1400" dirty="0"/>
          </a:p>
        </p:txBody>
      </p:sp>
      <p:sp>
        <p:nvSpPr>
          <p:cNvPr id="33" name="Text 31"/>
          <p:cNvSpPr txBox="1"/>
          <p:nvPr/>
        </p:nvSpPr>
        <p:spPr>
          <a:xfrm>
            <a:off x="6583680" y="3108960"/>
            <a:ext cx="5029200" cy="320040"/>
          </a:xfrm>
          <a:prstGeom prst="rect">
            <a:avLst/>
          </a:prstGeom>
          <a:noFill/>
          <a:ln/>
        </p:spPr>
        <p:txBody>
          <a:bodyPr wrap="square" lIns="0" tIns="0" rIns="0" bIns="0" rtlCol="0" anchor="ctr"/>
          <a:lstStyle/>
          <a:p>
            <a:pPr indent="0" marL="0">
              <a:buNone/>
            </a:pPr>
            <a:r>
              <a:rPr lang="en-US" sz="1300" b="1" dirty="0">
                <a:solidFill>
                  <a:srgbClr val="0A0A0B"/>
                </a:solidFill>
              </a:rPr>
              <a:t>No-shows, with no money</a:t>
            </a:r>
            <a:endParaRPr lang="en-US" sz="1300" dirty="0"/>
          </a:p>
        </p:txBody>
      </p:sp>
      <p:sp>
        <p:nvSpPr>
          <p:cNvPr id="34" name="Shape 32"/>
          <p:cNvSpPr/>
          <p:nvPr/>
        </p:nvSpPr>
        <p:spPr>
          <a:xfrm>
            <a:off x="6583680" y="3520440"/>
            <a:ext cx="1554480" cy="777240"/>
          </a:xfrm>
          <a:prstGeom prst="roundRect">
            <a:avLst>
              <a:gd name="adj" fmla="val 9412"/>
            </a:avLst>
          </a:prstGeom>
          <a:solidFill>
            <a:srgbClr val="F3F6F4"/>
          </a:solidFill>
          <a:ln w="12700">
            <a:solidFill>
              <a:srgbClr val="F3F6F4"/>
            </a:solidFill>
            <a:prstDash val="solid"/>
          </a:ln>
        </p:spPr>
      </p:sp>
      <p:sp>
        <p:nvSpPr>
          <p:cNvPr id="35" name="Text 33"/>
          <p:cNvSpPr txBox="1"/>
          <p:nvPr/>
        </p:nvSpPr>
        <p:spPr>
          <a:xfrm>
            <a:off x="669340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60 days</a:t>
            </a:r>
            <a:endParaRPr lang="en-US" sz="1600" dirty="0"/>
          </a:p>
          <a:p>
            <a:pPr indent="0" marL="0">
              <a:buNone/>
            </a:pPr>
            <a:r>
              <a:rPr lang="en-US" sz="950" dirty="0">
                <a:solidFill>
                  <a:srgbClr val="55555C"/>
                </a:solidFill>
              </a:rPr>
              <a:t>half-life of a show-up record, shown in words</a:t>
            </a:r>
            <a:endParaRPr lang="en-US" sz="1600" dirty="0"/>
          </a:p>
        </p:txBody>
      </p:sp>
      <p:sp>
        <p:nvSpPr>
          <p:cNvPr id="36" name="Shape 34"/>
          <p:cNvSpPr/>
          <p:nvPr/>
        </p:nvSpPr>
        <p:spPr>
          <a:xfrm>
            <a:off x="8275320" y="3520440"/>
            <a:ext cx="1554480" cy="777240"/>
          </a:xfrm>
          <a:prstGeom prst="roundRect">
            <a:avLst>
              <a:gd name="adj" fmla="val 9412"/>
            </a:avLst>
          </a:prstGeom>
          <a:solidFill>
            <a:srgbClr val="F3F6F4"/>
          </a:solidFill>
          <a:ln w="12700">
            <a:solidFill>
              <a:srgbClr val="F3F6F4"/>
            </a:solidFill>
            <a:prstDash val="solid"/>
          </a:ln>
        </p:spPr>
      </p:sp>
      <p:sp>
        <p:nvSpPr>
          <p:cNvPr id="37" name="Text 35"/>
          <p:cNvSpPr txBox="1"/>
          <p:nvPr/>
        </p:nvSpPr>
        <p:spPr>
          <a:xfrm>
            <a:off x="838504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3 h</a:t>
            </a:r>
            <a:endParaRPr lang="en-US" sz="1600" dirty="0"/>
          </a:p>
          <a:p>
            <a:pPr indent="0" marL="0">
              <a:buNone/>
            </a:pPr>
            <a:r>
              <a:rPr lang="en-US" sz="950" dirty="0">
                <a:solidFill>
                  <a:srgbClr val="55555C"/>
                </a:solidFill>
              </a:rPr>
              <a:t>before: a short game is called off</a:t>
            </a:r>
            <a:endParaRPr lang="en-US" sz="1600" dirty="0"/>
          </a:p>
        </p:txBody>
      </p:sp>
      <p:sp>
        <p:nvSpPr>
          <p:cNvPr id="38" name="Shape 36"/>
          <p:cNvSpPr/>
          <p:nvPr/>
        </p:nvSpPr>
        <p:spPr>
          <a:xfrm>
            <a:off x="9966960" y="3520440"/>
            <a:ext cx="1554480" cy="777240"/>
          </a:xfrm>
          <a:prstGeom prst="roundRect">
            <a:avLst>
              <a:gd name="adj" fmla="val 9412"/>
            </a:avLst>
          </a:prstGeom>
          <a:solidFill>
            <a:srgbClr val="F3F6F4"/>
          </a:solidFill>
          <a:ln w="12700">
            <a:solidFill>
              <a:srgbClr val="F3F6F4"/>
            </a:solidFill>
            <a:prstDash val="solid"/>
          </a:ln>
        </p:spPr>
      </p:sp>
      <p:sp>
        <p:nvSpPr>
          <p:cNvPr id="39" name="Text 37"/>
          <p:cNvSpPr txBox="1"/>
          <p:nvPr/>
        </p:nvSpPr>
        <p:spPr>
          <a:xfrm>
            <a:off x="1007668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12 h</a:t>
            </a:r>
            <a:endParaRPr lang="en-US" sz="1600" dirty="0"/>
          </a:p>
          <a:p>
            <a:pPr indent="0" marL="0">
              <a:buNone/>
            </a:pPr>
            <a:r>
              <a:rPr lang="en-US" sz="950" dirty="0">
                <a:solidFill>
                  <a:srgbClr val="55555C"/>
                </a:solidFill>
              </a:rPr>
              <a:t>to confirm a freed spot</a:t>
            </a:r>
            <a:endParaRPr lang="en-US" sz="1600" dirty="0"/>
          </a:p>
        </p:txBody>
      </p:sp>
      <p:sp>
        <p:nvSpPr>
          <p:cNvPr id="40" name="Shape 38"/>
          <p:cNvSpPr/>
          <p:nvPr/>
        </p:nvSpPr>
        <p:spPr>
          <a:xfrm>
            <a:off x="548640" y="4617720"/>
            <a:ext cx="11094415" cy="1143000"/>
          </a:xfrm>
          <a:prstGeom prst="roundRect">
            <a:avLst>
              <a:gd name="adj" fmla="val 6400"/>
            </a:avLst>
          </a:prstGeom>
          <a:solidFill>
            <a:srgbClr val="FBEAE9"/>
          </a:solidFill>
          <a:ln w="12700">
            <a:solidFill>
              <a:srgbClr val="FBEAE9"/>
            </a:solidFill>
            <a:prstDash val="solid"/>
          </a:ln>
        </p:spPr>
      </p:sp>
      <p:sp>
        <p:nvSpPr>
          <p:cNvPr id="41" name="Text 39"/>
          <p:cNvSpPr txBox="1"/>
          <p:nvPr/>
        </p:nvSpPr>
        <p:spPr>
          <a:xfrm>
            <a:off x="822960" y="4709160"/>
            <a:ext cx="10545775" cy="1005840"/>
          </a:xfrm>
          <a:prstGeom prst="rect">
            <a:avLst/>
          </a:prstGeom>
          <a:noFill/>
          <a:ln/>
        </p:spPr>
        <p:txBody>
          <a:bodyPr wrap="square" lIns="0" tIns="0" rIns="0" bIns="0" rtlCol="0" anchor="t"/>
          <a:lstStyle/>
          <a:p>
            <a:pPr indent="0" marL="0">
              <a:spcAft>
                <a:spcPts val="600"/>
              </a:spcAft>
              <a:buNone/>
            </a:pPr>
            <a:r>
              <a:rPr lang="en-US" sz="1300" b="1" dirty="0">
                <a:solidFill>
                  <a:srgbClr val="D1352B"/>
                </a:solidFill>
              </a:rPr>
              <a:t>A failure, and the fix. </a:t>
            </a:r>
            <a:pPr indent="0" marL="0">
              <a:spcAft>
                <a:spcPts val="600"/>
              </a:spcAft>
              <a:buNone/>
            </a:pPr>
            <a:r>
              <a:rPr lang="en-US" sz="1300" dirty="0">
                <a:solidFill>
                  <a:srgbClr val="0A0A0B"/>
                </a:solidFill>
              </a:rPr>
              <a:t>A tester working as a host could work out how many people nearby were open to being asked, first from a count, then from the talk. Now nearby people appear only once they can actually play, and everyone else sees only published badge words; later rounds re-checked it and found nothing. The Agents Rule of Two: no agent holds untrusted input, private data and the power to act at once.</a:t>
            </a:r>
            <a:endParaRPr lang="en-US" sz="1300" dirty="0"/>
          </a:p>
        </p:txBody>
      </p:sp>
      <p:sp>
        <p:nvSpPr>
          <p:cNvPr id="42" name="Text 40"/>
          <p:cNvSpPr txBox="1"/>
          <p:nvPr/>
        </p:nvSpPr>
        <p:spPr>
          <a:xfrm>
            <a:off x="548640" y="5852160"/>
            <a:ext cx="11094415" cy="365760"/>
          </a:xfrm>
          <a:prstGeom prst="rect">
            <a:avLst/>
          </a:prstGeom>
          <a:noFill/>
          <a:ln/>
        </p:spPr>
        <p:txBody>
          <a:bodyPr wrap="square" lIns="0" tIns="0" rIns="0" bIns="0" rtlCol="0" anchor="t"/>
          <a:lstStyle/>
          <a:p>
            <a:pPr indent="0" marL="0">
              <a:spcAft>
                <a:spcPts val="600"/>
              </a:spcAft>
              <a:buNone/>
            </a:pPr>
            <a:r>
              <a:rPr lang="en-US" sz="1300" b="1" dirty="0">
                <a:solidFill>
                  <a:srgbClr val="0A7F44"/>
                </a:solidFill>
              </a:rPr>
              <a:t>A second 1B, distilled for short text: </a:t>
            </a:r>
            <a:pPr indent="0" marL="0">
              <a:spcAft>
                <a:spcPts val="600"/>
              </a:spcAft>
              <a:buNone/>
            </a:pPr>
            <a:r>
              <a:rPr lang="en-US" sz="1300" dirty="0">
                <a:solidFill>
                  <a:srgbClr val="0A0A0B"/>
                </a:solidFill>
              </a:rPr>
              <a:t>on 446 attacks it never saw in training, hostile comments that got through fell from 65 of 71 (the first 1B) to 8 of 71 (Glimmer: 0).</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Meta's models: on our own GPUs for privacy, the API where it helps</a:t>
            </a:r>
            <a:endParaRPr lang="en-US" sz="2400" dirty="0"/>
          </a:p>
        </p:txBody>
      </p:sp>
      <p:sp>
        <p:nvSpPr>
          <p:cNvPr id="3" name="Shape 1"/>
          <p:cNvSpPr/>
          <p:nvPr/>
        </p:nvSpPr>
        <p:spPr>
          <a:xfrm>
            <a:off x="548640" y="1234440"/>
            <a:ext cx="6400800" cy="3337560"/>
          </a:xfrm>
          <a:prstGeom prst="roundRect">
            <a:avLst>
              <a:gd name="adj" fmla="val 2192"/>
            </a:avLst>
          </a:prstGeom>
          <a:solidFill>
            <a:srgbClr val="F3F6F4"/>
          </a:solidFill>
          <a:ln w="12700">
            <a:solidFill>
              <a:srgbClr val="F3F6F4"/>
            </a:solidFill>
            <a:prstDash val="solid"/>
          </a:ln>
        </p:spPr>
      </p:sp>
      <p:sp>
        <p:nvSpPr>
          <p:cNvPr id="4" name="Text 2"/>
          <p:cNvSpPr txBox="1"/>
          <p:nvPr/>
        </p:nvSpPr>
        <p:spPr>
          <a:xfrm>
            <a:off x="731520" y="1298448"/>
            <a:ext cx="6035040" cy="548640"/>
          </a:xfrm>
          <a:prstGeom prst="rect">
            <a:avLst/>
          </a:prstGeom>
          <a:noFill/>
          <a:ln/>
        </p:spPr>
        <p:txBody>
          <a:bodyPr wrap="square" lIns="0" tIns="0" rIns="0" bIns="0" rtlCol="0" anchor="ctr"/>
          <a:lstStyle/>
          <a:p>
            <a:pPr indent="0" marL="0">
              <a:buNone/>
            </a:pPr>
            <a:r>
              <a:rPr lang="en-US" sz="1500" b="1" dirty="0">
                <a:solidFill>
                  <a:srgbClr val="0A0A0B"/>
                </a:solidFill>
              </a:rPr>
              <a:t>Our GPU server (two RTX 3090s and their CPU)</a:t>
            </a:r>
            <a:endParaRPr lang="en-US" sz="1500" dirty="0"/>
          </a:p>
          <a:p>
            <a:pPr indent="0" marL="0">
              <a:buNone/>
            </a:pPr>
            <a:r>
              <a:rPr lang="en-US" sz="1100" dirty="0">
                <a:solidFill>
                  <a:srgbClr val="55555C"/>
                </a:solidFill>
              </a:rPr>
              <a:t>players' data stays here</a:t>
            </a:r>
            <a:endParaRPr lang="en-US" sz="1500" dirty="0"/>
          </a:p>
        </p:txBody>
      </p:sp>
      <p:sp>
        <p:nvSpPr>
          <p:cNvPr id="5" name="Text 3"/>
          <p:cNvSpPr txBox="1"/>
          <p:nvPr/>
        </p:nvSpPr>
        <p:spPr>
          <a:xfrm>
            <a:off x="73152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1</a:t>
            </a:r>
            <a:endParaRPr lang="en-US" sz="1100" dirty="0"/>
          </a:p>
        </p:txBody>
      </p:sp>
      <p:sp>
        <p:nvSpPr>
          <p:cNvPr id="6" name="Shape 4"/>
          <p:cNvSpPr/>
          <p:nvPr/>
        </p:nvSpPr>
        <p:spPr>
          <a:xfrm>
            <a:off x="1783080" y="1993392"/>
            <a:ext cx="4983480" cy="585216"/>
          </a:xfrm>
          <a:prstGeom prst="roundRect">
            <a:avLst>
              <a:gd name="adj" fmla="val 9375"/>
            </a:avLst>
          </a:prstGeom>
          <a:solidFill>
            <a:srgbClr val="0A7F44"/>
          </a:solidFill>
          <a:ln w="12700">
            <a:solidFill>
              <a:srgbClr val="0A7F44"/>
            </a:solidFill>
            <a:prstDash val="solid"/>
          </a:ln>
        </p:spPr>
      </p:sp>
      <p:sp>
        <p:nvSpPr>
          <p:cNvPr id="7" name="Text 5"/>
          <p:cNvSpPr txBox="1"/>
          <p:nvPr/>
        </p:nvSpPr>
        <p:spPr>
          <a:xfrm>
            <a:off x="1828800" y="1993392"/>
            <a:ext cx="4892040" cy="585216"/>
          </a:xfrm>
          <a:prstGeom prst="rect">
            <a:avLst/>
          </a:prstGeom>
          <a:noFill/>
          <a:ln/>
        </p:spPr>
        <p:txBody>
          <a:bodyPr wrap="square" lIns="0" tIns="0" rIns="0" bIns="0" rtlCol="0" anchor="ctr"/>
          <a:lstStyle/>
          <a:p>
            <a:pPr algn="ctr" indent="0" marL="0">
              <a:buNone/>
            </a:pPr>
            <a:r>
              <a:rPr lang="en-US" sz="1050" b="1" dirty="0">
                <a:solidFill>
                  <a:srgbClr val="FFFFFF"/>
                </a:solidFill>
              </a:rPr>
              <a:t>Muse Glimmer 30B: every agent's reasoning</a:t>
            </a:r>
            <a:endParaRPr lang="en-US" sz="1050" dirty="0"/>
          </a:p>
        </p:txBody>
      </p:sp>
      <p:sp>
        <p:nvSpPr>
          <p:cNvPr id="8" name="Text 6"/>
          <p:cNvSpPr txBox="1"/>
          <p:nvPr/>
        </p:nvSpPr>
        <p:spPr>
          <a:xfrm>
            <a:off x="73152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CPU</a:t>
            </a:r>
            <a:endParaRPr lang="en-US" sz="1100" dirty="0"/>
          </a:p>
        </p:txBody>
      </p:sp>
      <p:sp>
        <p:nvSpPr>
          <p:cNvPr id="9" name="Shape 7"/>
          <p:cNvSpPr/>
          <p:nvPr/>
        </p:nvSpPr>
        <p:spPr>
          <a:xfrm>
            <a:off x="1783080" y="2862072"/>
            <a:ext cx="754380" cy="585216"/>
          </a:xfrm>
          <a:prstGeom prst="roundRect">
            <a:avLst>
              <a:gd name="adj" fmla="val 9375"/>
            </a:avLst>
          </a:prstGeom>
          <a:solidFill>
            <a:srgbClr val="E9F3EC"/>
          </a:solidFill>
          <a:ln w="12700">
            <a:solidFill>
              <a:srgbClr val="E9F3EC"/>
            </a:solidFill>
            <a:prstDash val="solid"/>
          </a:ln>
        </p:spPr>
      </p:sp>
      <p:sp>
        <p:nvSpPr>
          <p:cNvPr id="10" name="Text 8"/>
          <p:cNvSpPr txBox="1"/>
          <p:nvPr/>
        </p:nvSpPr>
        <p:spPr>
          <a:xfrm>
            <a:off x="18288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Our 1B</a:t>
            </a:r>
            <a:endParaRPr lang="en-US" sz="1050" dirty="0"/>
          </a:p>
        </p:txBody>
      </p:sp>
      <p:sp>
        <p:nvSpPr>
          <p:cNvPr id="11" name="Shape 9"/>
          <p:cNvSpPr/>
          <p:nvPr/>
        </p:nvSpPr>
        <p:spPr>
          <a:xfrm>
            <a:off x="2628900" y="2862072"/>
            <a:ext cx="754380" cy="585216"/>
          </a:xfrm>
          <a:prstGeom prst="roundRect">
            <a:avLst>
              <a:gd name="adj" fmla="val 9375"/>
            </a:avLst>
          </a:prstGeom>
          <a:solidFill>
            <a:srgbClr val="E9F3EC"/>
          </a:solidFill>
          <a:ln w="12700">
            <a:solidFill>
              <a:srgbClr val="E9F3EC"/>
            </a:solidFill>
            <a:prstDash val="solid"/>
          </a:ln>
        </p:spPr>
      </p:sp>
      <p:sp>
        <p:nvSpPr>
          <p:cNvPr id="12" name="Text 10"/>
          <p:cNvSpPr txBox="1"/>
          <p:nvPr/>
        </p:nvSpPr>
        <p:spPr>
          <a:xfrm>
            <a:off x="267462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Tiny layer</a:t>
            </a:r>
            <a:endParaRPr lang="en-US" sz="1050" dirty="0"/>
          </a:p>
        </p:txBody>
      </p:sp>
      <p:sp>
        <p:nvSpPr>
          <p:cNvPr id="13" name="Shape 11"/>
          <p:cNvSpPr/>
          <p:nvPr/>
        </p:nvSpPr>
        <p:spPr>
          <a:xfrm>
            <a:off x="3474720" y="2862072"/>
            <a:ext cx="754380" cy="585216"/>
          </a:xfrm>
          <a:prstGeom prst="roundRect">
            <a:avLst>
              <a:gd name="adj" fmla="val 9375"/>
            </a:avLst>
          </a:prstGeom>
          <a:solidFill>
            <a:srgbClr val="E9F3EC"/>
          </a:solidFill>
          <a:ln w="12700">
            <a:solidFill>
              <a:srgbClr val="E9F3EC"/>
            </a:solidFill>
            <a:prstDash val="solid"/>
          </a:ln>
        </p:spPr>
      </p:sp>
      <p:sp>
        <p:nvSpPr>
          <p:cNvPr id="14" name="Text 12"/>
          <p:cNvSpPr txBox="1"/>
          <p:nvPr/>
        </p:nvSpPr>
        <p:spPr>
          <a:xfrm>
            <a:off x="352044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Llama Guard 3</a:t>
            </a:r>
            <a:endParaRPr lang="en-US" sz="1050" dirty="0"/>
          </a:p>
        </p:txBody>
      </p:sp>
      <p:sp>
        <p:nvSpPr>
          <p:cNvPr id="15" name="Shape 13"/>
          <p:cNvSpPr/>
          <p:nvPr/>
        </p:nvSpPr>
        <p:spPr>
          <a:xfrm>
            <a:off x="4320540" y="2862072"/>
            <a:ext cx="754380" cy="585216"/>
          </a:xfrm>
          <a:prstGeom prst="roundRect">
            <a:avLst>
              <a:gd name="adj" fmla="val 9375"/>
            </a:avLst>
          </a:prstGeom>
          <a:solidFill>
            <a:srgbClr val="E9F3EC"/>
          </a:solidFill>
          <a:ln w="12700">
            <a:solidFill>
              <a:srgbClr val="E9F3EC"/>
            </a:solidFill>
            <a:prstDash val="solid"/>
          </a:ln>
        </p:spPr>
      </p:sp>
      <p:sp>
        <p:nvSpPr>
          <p:cNvPr id="16" name="Text 14"/>
          <p:cNvSpPr txBox="1"/>
          <p:nvPr/>
        </p:nvSpPr>
        <p:spPr>
          <a:xfrm>
            <a:off x="436626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Prompt Guard 2</a:t>
            </a:r>
            <a:endParaRPr lang="en-US" sz="1050" dirty="0"/>
          </a:p>
        </p:txBody>
      </p:sp>
      <p:sp>
        <p:nvSpPr>
          <p:cNvPr id="17" name="Shape 15"/>
          <p:cNvSpPr/>
          <p:nvPr/>
        </p:nvSpPr>
        <p:spPr>
          <a:xfrm>
            <a:off x="5166360" y="2862072"/>
            <a:ext cx="754380" cy="585216"/>
          </a:xfrm>
          <a:prstGeom prst="roundRect">
            <a:avLst>
              <a:gd name="adj" fmla="val 9375"/>
            </a:avLst>
          </a:prstGeom>
          <a:solidFill>
            <a:srgbClr val="E9F3EC"/>
          </a:solidFill>
          <a:ln w="12700">
            <a:solidFill>
              <a:srgbClr val="E9F3EC"/>
            </a:solidFill>
            <a:prstDash val="solid"/>
          </a:ln>
        </p:spPr>
      </p:sp>
      <p:sp>
        <p:nvSpPr>
          <p:cNvPr id="18" name="Text 16"/>
          <p:cNvSpPr txBox="1"/>
          <p:nvPr/>
        </p:nvSpPr>
        <p:spPr>
          <a:xfrm>
            <a:off x="521208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DRAMA</a:t>
            </a:r>
            <a:endParaRPr lang="en-US" sz="1050" dirty="0"/>
          </a:p>
        </p:txBody>
      </p:sp>
      <p:sp>
        <p:nvSpPr>
          <p:cNvPr id="19" name="Shape 17"/>
          <p:cNvSpPr/>
          <p:nvPr/>
        </p:nvSpPr>
        <p:spPr>
          <a:xfrm>
            <a:off x="6012180" y="2862072"/>
            <a:ext cx="754380" cy="585216"/>
          </a:xfrm>
          <a:prstGeom prst="roundRect">
            <a:avLst>
              <a:gd name="adj" fmla="val 9375"/>
            </a:avLst>
          </a:prstGeom>
          <a:solidFill>
            <a:srgbClr val="E9F3EC"/>
          </a:solidFill>
          <a:ln w="12700">
            <a:solidFill>
              <a:srgbClr val="E9F3EC"/>
            </a:solidFill>
            <a:prstDash val="solid"/>
          </a:ln>
        </p:spPr>
      </p:sp>
      <p:sp>
        <p:nvSpPr>
          <p:cNvPr id="20" name="Text 18"/>
          <p:cNvSpPr txBox="1"/>
          <p:nvPr/>
        </p:nvSpPr>
        <p:spPr>
          <a:xfrm>
            <a:off x="60579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Speech (ASR)</a:t>
            </a:r>
            <a:endParaRPr lang="en-US" sz="1050" dirty="0"/>
          </a:p>
        </p:txBody>
      </p:sp>
      <p:sp>
        <p:nvSpPr>
          <p:cNvPr id="21" name="Text 19"/>
          <p:cNvSpPr txBox="1"/>
          <p:nvPr/>
        </p:nvSpPr>
        <p:spPr>
          <a:xfrm>
            <a:off x="73152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0</a:t>
            </a:r>
            <a:endParaRPr lang="en-US" sz="1100" dirty="0"/>
          </a:p>
        </p:txBody>
      </p:sp>
      <p:sp>
        <p:nvSpPr>
          <p:cNvPr id="22" name="Shape 20"/>
          <p:cNvSpPr/>
          <p:nvPr/>
        </p:nvSpPr>
        <p:spPr>
          <a:xfrm>
            <a:off x="1783080" y="3730752"/>
            <a:ext cx="1177290" cy="585216"/>
          </a:xfrm>
          <a:prstGeom prst="roundRect">
            <a:avLst>
              <a:gd name="adj" fmla="val 9375"/>
            </a:avLst>
          </a:prstGeom>
          <a:solidFill>
            <a:srgbClr val="E9F3EC"/>
          </a:solidFill>
          <a:ln w="12700">
            <a:solidFill>
              <a:srgbClr val="E9F3EC"/>
            </a:solidFill>
            <a:prstDash val="solid"/>
          </a:ln>
        </p:spPr>
      </p:sp>
      <p:sp>
        <p:nvSpPr>
          <p:cNvPr id="23" name="Text 21"/>
          <p:cNvSpPr txBox="1"/>
          <p:nvPr/>
        </p:nvSpPr>
        <p:spPr>
          <a:xfrm>
            <a:off x="182880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SAM 2.1</a:t>
            </a:r>
            <a:endParaRPr lang="en-US" sz="1050" dirty="0"/>
          </a:p>
        </p:txBody>
      </p:sp>
      <p:sp>
        <p:nvSpPr>
          <p:cNvPr id="24" name="Shape 22"/>
          <p:cNvSpPr/>
          <p:nvPr/>
        </p:nvSpPr>
        <p:spPr>
          <a:xfrm>
            <a:off x="3051810" y="3730752"/>
            <a:ext cx="1177290" cy="585216"/>
          </a:xfrm>
          <a:prstGeom prst="roundRect">
            <a:avLst>
              <a:gd name="adj" fmla="val 9375"/>
            </a:avLst>
          </a:prstGeom>
          <a:solidFill>
            <a:srgbClr val="E9F3EC"/>
          </a:solidFill>
          <a:ln w="12700">
            <a:solidFill>
              <a:srgbClr val="E9F3EC"/>
            </a:solidFill>
            <a:prstDash val="solid"/>
          </a:ln>
        </p:spPr>
      </p:sp>
      <p:sp>
        <p:nvSpPr>
          <p:cNvPr id="25" name="Text 23"/>
          <p:cNvSpPr txBox="1"/>
          <p:nvPr/>
        </p:nvSpPr>
        <p:spPr>
          <a:xfrm>
            <a:off x="309753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Sapiens2</a:t>
            </a:r>
            <a:endParaRPr lang="en-US" sz="1050" dirty="0"/>
          </a:p>
        </p:txBody>
      </p:sp>
      <p:sp>
        <p:nvSpPr>
          <p:cNvPr id="26" name="Shape 24"/>
          <p:cNvSpPr/>
          <p:nvPr/>
        </p:nvSpPr>
        <p:spPr>
          <a:xfrm>
            <a:off x="4320540" y="3730752"/>
            <a:ext cx="1177290" cy="585216"/>
          </a:xfrm>
          <a:prstGeom prst="roundRect">
            <a:avLst>
              <a:gd name="adj" fmla="val 9375"/>
            </a:avLst>
          </a:prstGeom>
          <a:solidFill>
            <a:srgbClr val="E9F3EC"/>
          </a:solidFill>
          <a:ln w="12700">
            <a:solidFill>
              <a:srgbClr val="E9F3EC"/>
            </a:solidFill>
            <a:prstDash val="solid"/>
          </a:ln>
        </p:spPr>
      </p:sp>
      <p:sp>
        <p:nvSpPr>
          <p:cNvPr id="27" name="Text 25"/>
          <p:cNvSpPr txBox="1"/>
          <p:nvPr/>
        </p:nvSpPr>
        <p:spPr>
          <a:xfrm>
            <a:off x="436626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MapAnything</a:t>
            </a:r>
            <a:endParaRPr lang="en-US" sz="1050" dirty="0"/>
          </a:p>
        </p:txBody>
      </p:sp>
      <p:sp>
        <p:nvSpPr>
          <p:cNvPr id="28" name="Shape 26"/>
          <p:cNvSpPr/>
          <p:nvPr/>
        </p:nvSpPr>
        <p:spPr>
          <a:xfrm>
            <a:off x="5589270" y="3730752"/>
            <a:ext cx="1177290" cy="585216"/>
          </a:xfrm>
          <a:prstGeom prst="roundRect">
            <a:avLst>
              <a:gd name="adj" fmla="val 9375"/>
            </a:avLst>
          </a:prstGeom>
          <a:solidFill>
            <a:srgbClr val="E9F3EC"/>
          </a:solidFill>
          <a:ln w="12700">
            <a:solidFill>
              <a:srgbClr val="E9F3EC"/>
            </a:solidFill>
            <a:prstDash val="solid"/>
          </a:ln>
        </p:spPr>
      </p:sp>
      <p:sp>
        <p:nvSpPr>
          <p:cNvPr id="29" name="Text 27"/>
          <p:cNvSpPr txBox="1"/>
          <p:nvPr/>
        </p:nvSpPr>
        <p:spPr>
          <a:xfrm>
            <a:off x="563499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DETR / RT-DETR</a:t>
            </a:r>
            <a:endParaRPr lang="en-US" sz="1050" dirty="0"/>
          </a:p>
        </p:txBody>
      </p:sp>
      <p:sp>
        <p:nvSpPr>
          <p:cNvPr id="30" name="Shape 28"/>
          <p:cNvSpPr/>
          <p:nvPr/>
        </p:nvSpPr>
        <p:spPr>
          <a:xfrm>
            <a:off x="7223760" y="1234440"/>
            <a:ext cx="4419295" cy="3337560"/>
          </a:xfrm>
          <a:prstGeom prst="roundRect">
            <a:avLst>
              <a:gd name="adj" fmla="val 2192"/>
            </a:avLst>
          </a:prstGeom>
          <a:solidFill>
            <a:srgbClr val="F3F6F4"/>
          </a:solidFill>
          <a:ln w="12700">
            <a:solidFill>
              <a:srgbClr val="F3F6F4"/>
            </a:solidFill>
            <a:prstDash val="solid"/>
          </a:ln>
        </p:spPr>
      </p:sp>
      <p:sp>
        <p:nvSpPr>
          <p:cNvPr id="31" name="Text 29"/>
          <p:cNvSpPr txBox="1"/>
          <p:nvPr/>
        </p:nvSpPr>
        <p:spPr>
          <a:xfrm>
            <a:off x="7406640" y="1298448"/>
            <a:ext cx="4053535" cy="548640"/>
          </a:xfrm>
          <a:prstGeom prst="rect">
            <a:avLst/>
          </a:prstGeom>
          <a:noFill/>
          <a:ln/>
        </p:spPr>
        <p:txBody>
          <a:bodyPr wrap="square" lIns="0" tIns="0" rIns="0" bIns="0" rtlCol="0" anchor="ctr"/>
          <a:lstStyle/>
          <a:p>
            <a:pPr indent="0" marL="0">
              <a:buNone/>
            </a:pPr>
            <a:r>
              <a:rPr lang="en-US" sz="1500" b="1" dirty="0">
                <a:solidFill>
                  <a:srgbClr val="0A0A0B"/>
                </a:solidFill>
              </a:rPr>
              <a:t>Meta Model API</a:t>
            </a:r>
            <a:endParaRPr lang="en-US" sz="1500" dirty="0"/>
          </a:p>
          <a:p>
            <a:pPr indent="0" marL="0">
              <a:buNone/>
            </a:pPr>
            <a:r>
              <a:rPr lang="en-US" sz="1100" dirty="0">
                <a:solidFill>
                  <a:srgbClr val="55555C"/>
                </a:solidFill>
              </a:rPr>
              <a:t>only what needs it</a:t>
            </a:r>
            <a:endParaRPr lang="en-US" sz="1500" dirty="0"/>
          </a:p>
        </p:txBody>
      </p:sp>
      <p:sp>
        <p:nvSpPr>
          <p:cNvPr id="32" name="Text 30"/>
          <p:cNvSpPr txBox="1"/>
          <p:nvPr/>
        </p:nvSpPr>
        <p:spPr>
          <a:xfrm>
            <a:off x="740664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Text</a:t>
            </a:r>
            <a:endParaRPr lang="en-US" sz="1100" dirty="0"/>
          </a:p>
        </p:txBody>
      </p:sp>
      <p:sp>
        <p:nvSpPr>
          <p:cNvPr id="33" name="Shape 31"/>
          <p:cNvSpPr/>
          <p:nvPr/>
        </p:nvSpPr>
        <p:spPr>
          <a:xfrm>
            <a:off x="8458200" y="1993392"/>
            <a:ext cx="3001975" cy="585216"/>
          </a:xfrm>
          <a:prstGeom prst="roundRect">
            <a:avLst>
              <a:gd name="adj" fmla="val 9375"/>
            </a:avLst>
          </a:prstGeom>
          <a:solidFill>
            <a:srgbClr val="DCE6F5"/>
          </a:solidFill>
          <a:ln w="12700">
            <a:solidFill>
              <a:srgbClr val="DCE6F5"/>
            </a:solidFill>
            <a:prstDash val="solid"/>
          </a:ln>
        </p:spPr>
      </p:sp>
      <p:sp>
        <p:nvSpPr>
          <p:cNvPr id="34" name="Text 32"/>
          <p:cNvSpPr txBox="1"/>
          <p:nvPr/>
        </p:nvSpPr>
        <p:spPr>
          <a:xfrm>
            <a:off x="8503920" y="199339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Spark 1.3: long calls, fallback</a:t>
            </a:r>
            <a:endParaRPr lang="en-US" sz="1050" dirty="0"/>
          </a:p>
        </p:txBody>
      </p:sp>
      <p:sp>
        <p:nvSpPr>
          <p:cNvPr id="35" name="Text 33"/>
          <p:cNvSpPr txBox="1"/>
          <p:nvPr/>
        </p:nvSpPr>
        <p:spPr>
          <a:xfrm>
            <a:off x="740664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Voice</a:t>
            </a:r>
            <a:endParaRPr lang="en-US" sz="1100" dirty="0"/>
          </a:p>
        </p:txBody>
      </p:sp>
      <p:sp>
        <p:nvSpPr>
          <p:cNvPr id="36" name="Shape 34"/>
          <p:cNvSpPr/>
          <p:nvPr/>
        </p:nvSpPr>
        <p:spPr>
          <a:xfrm>
            <a:off x="8458200" y="2862072"/>
            <a:ext cx="3001975" cy="585216"/>
          </a:xfrm>
          <a:prstGeom prst="roundRect">
            <a:avLst>
              <a:gd name="adj" fmla="val 9375"/>
            </a:avLst>
          </a:prstGeom>
          <a:solidFill>
            <a:srgbClr val="DCE6F5"/>
          </a:solidFill>
          <a:ln w="12700">
            <a:solidFill>
              <a:srgbClr val="DCE6F5"/>
            </a:solidFill>
            <a:prstDash val="solid"/>
          </a:ln>
        </p:spPr>
      </p:sp>
      <p:sp>
        <p:nvSpPr>
          <p:cNvPr id="37" name="Text 35"/>
          <p:cNvSpPr txBox="1"/>
          <p:nvPr/>
        </p:nvSpPr>
        <p:spPr>
          <a:xfrm>
            <a:off x="8503920" y="286207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Voice Transcribe</a:t>
            </a:r>
            <a:endParaRPr lang="en-US" sz="1050" dirty="0"/>
          </a:p>
        </p:txBody>
      </p:sp>
      <p:sp>
        <p:nvSpPr>
          <p:cNvPr id="38" name="Text 36"/>
          <p:cNvSpPr txBox="1"/>
          <p:nvPr/>
        </p:nvSpPr>
        <p:spPr>
          <a:xfrm>
            <a:off x="740664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Vision</a:t>
            </a:r>
            <a:endParaRPr lang="en-US" sz="1100" dirty="0"/>
          </a:p>
        </p:txBody>
      </p:sp>
      <p:sp>
        <p:nvSpPr>
          <p:cNvPr id="39" name="Shape 37"/>
          <p:cNvSpPr/>
          <p:nvPr/>
        </p:nvSpPr>
        <p:spPr>
          <a:xfrm>
            <a:off x="8458200" y="3730752"/>
            <a:ext cx="939698" cy="585216"/>
          </a:xfrm>
          <a:prstGeom prst="roundRect">
            <a:avLst>
              <a:gd name="adj" fmla="val 9375"/>
            </a:avLst>
          </a:prstGeom>
          <a:solidFill>
            <a:srgbClr val="DCE6F5"/>
          </a:solidFill>
          <a:ln w="12700">
            <a:solidFill>
              <a:srgbClr val="DCE6F5"/>
            </a:solidFill>
            <a:prstDash val="solid"/>
          </a:ln>
        </p:spPr>
      </p:sp>
      <p:sp>
        <p:nvSpPr>
          <p:cNvPr id="40" name="Text 38"/>
          <p:cNvSpPr txBox="1"/>
          <p:nvPr/>
        </p:nvSpPr>
        <p:spPr>
          <a:xfrm>
            <a:off x="8503920"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Image</a:t>
            </a:r>
            <a:endParaRPr lang="en-US" sz="1050" dirty="0"/>
          </a:p>
        </p:txBody>
      </p:sp>
      <p:sp>
        <p:nvSpPr>
          <p:cNvPr id="41" name="Shape 39"/>
          <p:cNvSpPr/>
          <p:nvPr/>
        </p:nvSpPr>
        <p:spPr>
          <a:xfrm>
            <a:off x="9489338" y="3730752"/>
            <a:ext cx="939698" cy="585216"/>
          </a:xfrm>
          <a:prstGeom prst="roundRect">
            <a:avLst>
              <a:gd name="adj" fmla="val 9375"/>
            </a:avLst>
          </a:prstGeom>
          <a:solidFill>
            <a:srgbClr val="DCE6F5"/>
          </a:solidFill>
          <a:ln w="12700">
            <a:solidFill>
              <a:srgbClr val="DCE6F5"/>
            </a:solidFill>
            <a:prstDash val="solid"/>
          </a:ln>
        </p:spPr>
      </p:sp>
      <p:sp>
        <p:nvSpPr>
          <p:cNvPr id="42" name="Text 40"/>
          <p:cNvSpPr txBox="1"/>
          <p:nvPr/>
        </p:nvSpPr>
        <p:spPr>
          <a:xfrm>
            <a:off x="9535058"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Wonder</a:t>
            </a:r>
            <a:endParaRPr lang="en-US" sz="1050" dirty="0"/>
          </a:p>
        </p:txBody>
      </p:sp>
      <p:sp>
        <p:nvSpPr>
          <p:cNvPr id="43" name="Shape 41"/>
          <p:cNvSpPr/>
          <p:nvPr/>
        </p:nvSpPr>
        <p:spPr>
          <a:xfrm>
            <a:off x="10520477" y="3730752"/>
            <a:ext cx="939698" cy="585216"/>
          </a:xfrm>
          <a:prstGeom prst="roundRect">
            <a:avLst>
              <a:gd name="adj" fmla="val 9375"/>
            </a:avLst>
          </a:prstGeom>
          <a:solidFill>
            <a:srgbClr val="DCE6F5"/>
          </a:solidFill>
          <a:ln w="12700">
            <a:solidFill>
              <a:srgbClr val="DCE6F5"/>
            </a:solidFill>
            <a:prstDash val="solid"/>
          </a:ln>
        </p:spPr>
      </p:sp>
      <p:sp>
        <p:nvSpPr>
          <p:cNvPr id="44" name="Text 42"/>
          <p:cNvSpPr txBox="1"/>
          <p:nvPr/>
        </p:nvSpPr>
        <p:spPr>
          <a:xfrm>
            <a:off x="10566197"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SAM 3.1</a:t>
            </a:r>
            <a:endParaRPr lang="en-US" sz="1050" dirty="0"/>
          </a:p>
        </p:txBody>
      </p:sp>
      <p:sp>
        <p:nvSpPr>
          <p:cNvPr id="45" name="Text 43"/>
          <p:cNvSpPr txBox="1"/>
          <p:nvPr/>
        </p:nvSpPr>
        <p:spPr>
          <a:xfrm>
            <a:off x="548640" y="4754880"/>
            <a:ext cx="7315200" cy="320040"/>
          </a:xfrm>
          <a:prstGeom prst="rect">
            <a:avLst/>
          </a:prstGeom>
          <a:noFill/>
          <a:ln/>
        </p:spPr>
        <p:txBody>
          <a:bodyPr wrap="square" lIns="0" tIns="0" rIns="0" bIns="0" rtlCol="0" anchor="ctr"/>
          <a:lstStyle/>
          <a:p>
            <a:pPr indent="0" marL="0">
              <a:buNone/>
            </a:pPr>
            <a:r>
              <a:rPr lang="en-US" sz="1300" b="1" dirty="0">
                <a:solidFill>
                  <a:srgbClr val="0A0A0B"/>
                </a:solidFill>
              </a:rPr>
              <a:t>Which model answers a text call, by its length in tokens</a:t>
            </a:r>
            <a:endParaRPr lang="en-US" sz="1300" dirty="0"/>
          </a:p>
        </p:txBody>
      </p:sp>
      <p:sp>
        <p:nvSpPr>
          <p:cNvPr id="46" name="Shape 44"/>
          <p:cNvSpPr/>
          <p:nvPr/>
        </p:nvSpPr>
        <p:spPr>
          <a:xfrm>
            <a:off x="548640" y="5166360"/>
            <a:ext cx="1463040" cy="502920"/>
          </a:xfrm>
          <a:prstGeom prst="rect">
            <a:avLst/>
          </a:prstGeom>
          <a:solidFill>
            <a:srgbClr val="0A7F44"/>
          </a:solidFill>
          <a:ln w="12700">
            <a:solidFill>
              <a:srgbClr val="FFFFFF"/>
            </a:solidFill>
            <a:prstDash val="solid"/>
          </a:ln>
        </p:spPr>
      </p:sp>
      <p:sp>
        <p:nvSpPr>
          <p:cNvPr id="47" name="Text 45"/>
          <p:cNvSpPr txBox="1"/>
          <p:nvPr/>
        </p:nvSpPr>
        <p:spPr>
          <a:xfrm>
            <a:off x="640080" y="5166360"/>
            <a:ext cx="1280160" cy="502920"/>
          </a:xfrm>
          <a:prstGeom prst="rect">
            <a:avLst/>
          </a:prstGeom>
          <a:noFill/>
          <a:ln/>
        </p:spPr>
        <p:txBody>
          <a:bodyPr wrap="square" lIns="0" tIns="0" rIns="0" bIns="0" rtlCol="0" anchor="ctr"/>
          <a:lstStyle/>
          <a:p>
            <a:pPr indent="0" marL="0">
              <a:buNone/>
            </a:pPr>
            <a:r>
              <a:rPr lang="en-US" sz="1100" b="1" dirty="0">
                <a:solidFill>
                  <a:srgbClr val="FFFFFF"/>
                </a:solidFill>
              </a:rPr>
              <a:t>≤ 700, checked site: our 1B</a:t>
            </a:r>
            <a:endParaRPr lang="en-US" sz="1100" dirty="0"/>
          </a:p>
        </p:txBody>
      </p:sp>
      <p:sp>
        <p:nvSpPr>
          <p:cNvPr id="48" name="Shape 46"/>
          <p:cNvSpPr/>
          <p:nvPr/>
        </p:nvSpPr>
        <p:spPr>
          <a:xfrm>
            <a:off x="2011680" y="5166360"/>
            <a:ext cx="6949440" cy="502920"/>
          </a:xfrm>
          <a:prstGeom prst="rect">
            <a:avLst/>
          </a:prstGeom>
          <a:solidFill>
            <a:srgbClr val="E9F3EC"/>
          </a:solidFill>
          <a:ln w="12700">
            <a:solidFill>
              <a:srgbClr val="FFFFFF"/>
            </a:solidFill>
            <a:prstDash val="solid"/>
          </a:ln>
        </p:spPr>
      </p:sp>
      <p:sp>
        <p:nvSpPr>
          <p:cNvPr id="49" name="Text 47"/>
          <p:cNvSpPr txBox="1"/>
          <p:nvPr/>
        </p:nvSpPr>
        <p:spPr>
          <a:xfrm>
            <a:off x="2103120" y="5166360"/>
            <a:ext cx="6766560" cy="502920"/>
          </a:xfrm>
          <a:prstGeom prst="rect">
            <a:avLst/>
          </a:prstGeom>
          <a:noFill/>
          <a:ln/>
        </p:spPr>
        <p:txBody>
          <a:bodyPr wrap="square" lIns="0" tIns="0" rIns="0" bIns="0" rtlCol="0" anchor="ctr"/>
          <a:lstStyle/>
          <a:p>
            <a:pPr indent="0" marL="0">
              <a:buNone/>
            </a:pPr>
            <a:r>
              <a:rPr lang="en-US" sz="1100" b="1" dirty="0">
                <a:solidFill>
                  <a:srgbClr val="0A0A0B"/>
                </a:solidFill>
              </a:rPr>
              <a:t>longer, or any other site: Muse Glimmer (16,384-token context)</a:t>
            </a:r>
            <a:endParaRPr lang="en-US" sz="1100" dirty="0"/>
          </a:p>
        </p:txBody>
      </p:sp>
      <p:sp>
        <p:nvSpPr>
          <p:cNvPr id="50" name="Shape 48"/>
          <p:cNvSpPr/>
          <p:nvPr/>
        </p:nvSpPr>
        <p:spPr>
          <a:xfrm>
            <a:off x="8961120" y="5166360"/>
            <a:ext cx="2681935" cy="502920"/>
          </a:xfrm>
          <a:prstGeom prst="rect">
            <a:avLst/>
          </a:prstGeom>
          <a:solidFill>
            <a:srgbClr val="DCE6F5"/>
          </a:solidFill>
          <a:ln w="12700">
            <a:solidFill>
              <a:srgbClr val="FFFFFF"/>
            </a:solidFill>
            <a:prstDash val="solid"/>
          </a:ln>
        </p:spPr>
      </p:sp>
      <p:sp>
        <p:nvSpPr>
          <p:cNvPr id="51" name="Text 49"/>
          <p:cNvSpPr txBox="1"/>
          <p:nvPr/>
        </p:nvSpPr>
        <p:spPr>
          <a:xfrm>
            <a:off x="9052560" y="5166360"/>
            <a:ext cx="2499055" cy="502920"/>
          </a:xfrm>
          <a:prstGeom prst="rect">
            <a:avLst/>
          </a:prstGeom>
          <a:noFill/>
          <a:ln/>
        </p:spPr>
        <p:txBody>
          <a:bodyPr wrap="square" lIns="0" tIns="0" rIns="0" bIns="0" rtlCol="0" anchor="ctr"/>
          <a:lstStyle/>
          <a:p>
            <a:pPr indent="0" marL="0">
              <a:buNone/>
            </a:pPr>
            <a:r>
              <a:rPr lang="en-US" sz="1100" b="1" dirty="0">
                <a:solidFill>
                  <a:srgbClr val="0A0A0B"/>
                </a:solidFill>
              </a:rPr>
              <a:t>12,000+: Muse Spark</a:t>
            </a:r>
            <a:endParaRPr lang="en-US" sz="1100" dirty="0"/>
          </a:p>
        </p:txBody>
      </p:sp>
      <p:sp>
        <p:nvSpPr>
          <p:cNvPr id="52" name="Text 50"/>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150" dirty="0">
                <a:solidFill>
                  <a:srgbClr val="55555C"/>
                </a:solidFill>
              </a:rPr>
              <a:t>Every short site was tried on the 1B first: 9 end-to-end checks failed, 2 of 6 hostile comments got through and 4 of 10 injected reviews were obeyed, so a second 1B was distilled for short text, and it takes six checked sites.</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Six agent upgrades, each measured before and after</a:t>
            </a:r>
            <a:endParaRPr lang="en-US" sz="2400" dirty="0"/>
          </a:p>
        </p:txBody>
      </p:sp>
      <p:pic>
        <p:nvPicPr>
          <p:cNvPr id="3" name="Image 0" descr="preencoded.png">    </p:cNvPr>
          <p:cNvPicPr>
            <a:picLocks noChangeAspect="1"/>
          </p:cNvPicPr>
          <p:nvPr/>
        </p:nvPicPr>
        <p:blipFill>
          <a:blip r:embed="rId1"/>
          <a:stretch>
            <a:fillRect/>
          </a:stretch>
        </p:blipFill>
        <p:spPr>
          <a:xfrm>
            <a:off x="2619263" y="1188720"/>
            <a:ext cx="6953170"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Each upgrade before and after, on its own scale. Send gate, preference records and the stretch round are simulated; tool checks use injected faults; courts judged ahead ran on the RTX 3090 (4 cities); the tiny layer is held-out agreement on the hardest choices, against the 1B.</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A 27.6 KB classifier in front of the 1B, on by default</a:t>
            </a:r>
            <a:endParaRPr lang="en-US" sz="2400" dirty="0"/>
          </a:p>
        </p:txBody>
      </p:sp>
      <p:pic>
        <p:nvPicPr>
          <p:cNvPr id="3" name="Image 0" descr="preencoded.png">    </p:cNvPr>
          <p:cNvPicPr>
            <a:picLocks noChangeAspect="1"/>
          </p:cNvPicPr>
          <p:nvPr/>
        </p:nvPicPr>
        <p:blipFill>
          <a:blip r:embed="rId1"/>
          <a:stretch>
            <a:fillRect/>
          </a:stretch>
        </p:blipFill>
        <p:spPr>
          <a:xfrm>
            <a:off x="2101820" y="1188720"/>
            <a:ext cx="7988055"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Agreement with Glimmer over all held-out cases (95% Wilson intervals). The tiny layer is small MLPs over facts code holds, with a doubt model; 0.06 ms a choice. It answers 59.8% of ordinary choices itself at 4.3% disagreement and sends the rest on.</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A 1B distilled for short text resists attacks it never saw</a:t>
            </a:r>
            <a:endParaRPr lang="en-US" sz="2400" dirty="0"/>
          </a:p>
        </p:txBody>
      </p:sp>
      <p:pic>
        <p:nvPicPr>
          <p:cNvPr id="3" name="Image 0" descr="preencoded.png">    </p:cNvPr>
          <p:cNvPicPr>
            <a:picLocks noChangeAspect="1"/>
          </p:cNvPicPr>
          <p:nvPr/>
        </p:nvPicPr>
        <p:blipFill>
          <a:blip r:embed="rId1"/>
          <a:stretch>
            <a:fillRect/>
          </a:stretch>
        </p:blipFill>
        <p:spPr>
          <a:xfrm>
            <a:off x="1451733" y="1188720"/>
            <a:ext cx="9288229"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Attacks that succeeded on 446 held-out items built from attack templates not used in training, for the model alone with no guards in front (95% Wilson intervals). SFT on Glimmer's answers plus attacked copies; outside text in its own input message.</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Six flow bugs found by difficult simulated people, fixed</a:t>
            </a:r>
            <a:endParaRPr lang="en-US" sz="2400" dirty="0"/>
          </a:p>
        </p:txBody>
      </p:sp>
      <p:pic>
        <p:nvPicPr>
          <p:cNvPr id="3" name="Image 0" descr="preencoded.png">    </p:cNvPr>
          <p:cNvPicPr>
            <a:picLocks noChangeAspect="1"/>
          </p:cNvPicPr>
          <p:nvPr/>
        </p:nvPicPr>
        <p:blipFill>
          <a:blip r:embed="rId1"/>
          <a:stretch>
            <a:fillRect/>
          </a:stretch>
        </p:blipFill>
        <p:spPr>
          <a:xfrm>
            <a:off x="1778710" y="1188720"/>
            <a:ext cx="863427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dirty="0">
                <a:solidFill>
                  <a:srgbClr val="55555C"/>
                </a:solidFill>
              </a:rPr>
              <a:t>(a) Failures in 160 code-only runs with the difficult club (25% difficult people), before and after the fixes. (b) pass^k with Muse Glimmer (8 requests x 4 runs): a request counts only if every run succeeds. The pass^k gains are small and their intervals still include no change.</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References 1 to 26, and where every number comes from</a:t>
            </a:r>
            <a:endParaRPr lang="en-US" sz="2400" dirty="0"/>
          </a:p>
        </p:txBody>
      </p:sp>
      <p:sp>
        <p:nvSpPr>
          <p:cNvPr id="3" name="Text 1"/>
          <p:cNvSpPr txBox="1"/>
          <p:nvPr/>
        </p:nvSpPr>
        <p:spPr>
          <a:xfrm>
            <a:off x="5486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 NPR, RWJF and Harvard Chan: Sports and Health in America, 2015</a:t>
            </a:r>
            <a:endParaRPr lang="en-US" sz="1050" dirty="0"/>
          </a:p>
          <a:p>
            <a:pPr indent="0" marL="0">
              <a:spcAft>
                <a:spcPts val="300"/>
              </a:spcAft>
              <a:buNone/>
            </a:pPr>
            <a:r>
              <a:rPr lang="en-US" sz="1050" dirty="0">
                <a:solidFill>
                  <a:srgbClr val="0A0A0B"/>
                </a:solidFill>
              </a:rPr>
              <a:t>2. Sport New Zealand: Active NZ survey, 2023</a:t>
            </a:r>
            <a:endParaRPr lang="en-US" sz="1050" dirty="0"/>
          </a:p>
          <a:p>
            <a:pPr indent="0" marL="0">
              <a:spcAft>
                <a:spcPts val="300"/>
              </a:spcAft>
              <a:buNone/>
            </a:pPr>
            <a:r>
              <a:rPr lang="en-US" sz="1050" dirty="0">
                <a:solidFill>
                  <a:srgbClr val="0A0A0B"/>
                </a:solidFill>
              </a:rPr>
              <a:t>3. Agent2Agent (A2A) Protocol v1.0, Linux Foundation</a:t>
            </a:r>
            <a:endParaRPr lang="en-US" sz="1050" dirty="0"/>
          </a:p>
          <a:p>
            <a:pPr indent="0" marL="0">
              <a:spcAft>
                <a:spcPts val="300"/>
              </a:spcAft>
              <a:buNone/>
            </a:pPr>
            <a:r>
              <a:rPr lang="en-US" sz="1050" dirty="0">
                <a:solidFill>
                  <a:srgbClr val="0A0A0B"/>
                </a:solidFill>
              </a:rPr>
              <a:t>4. Smith: The Contract Net Protocol, 1980</a:t>
            </a:r>
            <a:endParaRPr lang="en-US" sz="1050" dirty="0"/>
          </a:p>
          <a:p>
            <a:pPr indent="0" marL="0">
              <a:spcAft>
                <a:spcPts val="300"/>
              </a:spcAft>
              <a:buNone/>
            </a:pPr>
            <a:r>
              <a:rPr lang="en-US" sz="1050" dirty="0">
                <a:solidFill>
                  <a:srgbClr val="0A0A0B"/>
                </a:solidFill>
              </a:rPr>
              <a:t>5. Yokoo et al.: Distributed Constraint Satisfaction, 1998</a:t>
            </a:r>
            <a:endParaRPr lang="en-US" sz="1050" dirty="0"/>
          </a:p>
          <a:p>
            <a:pPr indent="0" marL="0">
              <a:spcAft>
                <a:spcPts val="300"/>
              </a:spcAft>
              <a:buNone/>
            </a:pPr>
            <a:r>
              <a:rPr lang="en-US" sz="1050" dirty="0">
                <a:solidFill>
                  <a:srgbClr val="0A0A0B"/>
                </a:solidFill>
              </a:rPr>
              <a:t>6. Gray and Cheriton: Leases, SOSP 1989</a:t>
            </a:r>
            <a:endParaRPr lang="en-US" sz="1050" dirty="0"/>
          </a:p>
          <a:p>
            <a:pPr indent="0" marL="0">
              <a:spcAft>
                <a:spcPts val="300"/>
              </a:spcAft>
              <a:buNone/>
            </a:pPr>
            <a:r>
              <a:rPr lang="en-US" sz="1050" dirty="0">
                <a:solidFill>
                  <a:srgbClr val="0A0A0B"/>
                </a:solidFill>
              </a:rPr>
              <a:t>7. Havender: Avoiding Deadlock, 1968</a:t>
            </a:r>
            <a:endParaRPr lang="en-US" sz="1050" dirty="0"/>
          </a:p>
          <a:p>
            <a:pPr indent="0" marL="0">
              <a:spcAft>
                <a:spcPts val="300"/>
              </a:spcAft>
              <a:buNone/>
            </a:pPr>
            <a:r>
              <a:rPr lang="en-US" sz="1050" dirty="0">
                <a:solidFill>
                  <a:srgbClr val="0A0A0B"/>
                </a:solidFill>
              </a:rPr>
              <a:t>8. RFC 7515, JSON Web Signature</a:t>
            </a:r>
            <a:endParaRPr lang="en-US" sz="1050" dirty="0"/>
          </a:p>
          <a:p>
            <a:pPr indent="0" marL="0">
              <a:spcAft>
                <a:spcPts val="300"/>
              </a:spcAft>
              <a:buNone/>
            </a:pPr>
            <a:r>
              <a:rPr lang="en-US" sz="1050" dirty="0">
                <a:solidFill>
                  <a:srgbClr val="0A0A0B"/>
                </a:solidFill>
              </a:rPr>
              <a:t>9. RFC 8785, JSON Canonicalization Scheme</a:t>
            </a:r>
            <a:endParaRPr lang="en-US" sz="1050" dirty="0"/>
          </a:p>
          <a:p>
            <a:pPr indent="0" marL="0">
              <a:spcAft>
                <a:spcPts val="300"/>
              </a:spcAft>
              <a:buNone/>
            </a:pPr>
            <a:r>
              <a:rPr lang="en-US" sz="1050" dirty="0">
                <a:solidFill>
                  <a:srgbClr val="0A0A0B"/>
                </a:solidFill>
              </a:rPr>
              <a:t>10. Lalley and Weyl: Quadratic Voting, 2018</a:t>
            </a:r>
            <a:endParaRPr lang="en-US" sz="1050" dirty="0"/>
          </a:p>
          <a:p>
            <a:pPr indent="0" marL="0">
              <a:spcAft>
                <a:spcPts val="300"/>
              </a:spcAft>
              <a:buNone/>
            </a:pPr>
            <a:r>
              <a:rPr lang="en-US" sz="1050" dirty="0">
                <a:solidFill>
                  <a:srgbClr val="0A0A0B"/>
                </a:solidFill>
              </a:rPr>
              <a:t>11. LlamaFirewall, arXiv 2505.03574</a:t>
            </a:r>
            <a:endParaRPr lang="en-US" sz="1050" dirty="0"/>
          </a:p>
          <a:p>
            <a:pPr indent="0" marL="0">
              <a:spcAft>
                <a:spcPts val="300"/>
              </a:spcAft>
              <a:buNone/>
            </a:pPr>
            <a:r>
              <a:rPr lang="en-US" sz="1050" dirty="0">
                <a:solidFill>
                  <a:srgbClr val="0A0A0B"/>
                </a:solidFill>
              </a:rPr>
              <a:t>12. Darwin Gödel Machine, arXiv 2505.22954</a:t>
            </a:r>
            <a:endParaRPr lang="en-US" sz="1050" dirty="0"/>
          </a:p>
          <a:p>
            <a:pPr indent="0" marL="0">
              <a:spcAft>
                <a:spcPts val="300"/>
              </a:spcAft>
              <a:buNone/>
            </a:pPr>
            <a:r>
              <a:rPr lang="en-US" sz="1050" dirty="0">
                <a:solidFill>
                  <a:srgbClr val="0A0A0B"/>
                </a:solidFill>
              </a:rPr>
              <a:t>13. AlphaEvolve, arXiv 2506.13131</a:t>
            </a:r>
            <a:endParaRPr lang="en-US" sz="1050" dirty="0"/>
          </a:p>
        </p:txBody>
      </p:sp>
      <p:sp>
        <p:nvSpPr>
          <p:cNvPr id="4" name="Text 2"/>
          <p:cNvSpPr txBox="1"/>
          <p:nvPr/>
        </p:nvSpPr>
        <p:spPr>
          <a:xfrm>
            <a:off x="44348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14. Clio, arXiv 2412.13678</a:t>
            </a:r>
            <a:endParaRPr lang="en-US" sz="1050" dirty="0"/>
          </a:p>
          <a:p>
            <a:pPr indent="0" marL="0">
              <a:spcAft>
                <a:spcPts val="300"/>
              </a:spcAft>
              <a:buNone/>
            </a:pPr>
            <a:r>
              <a:rPr lang="en-US" sz="1050" dirty="0">
                <a:solidFill>
                  <a:srgbClr val="0A0A0B"/>
                </a:solidFill>
              </a:rPr>
              <a:t>15. CaMeL, arXiv 2503.18813</a:t>
            </a:r>
            <a:endParaRPr lang="en-US" sz="1050" dirty="0"/>
          </a:p>
          <a:p>
            <a:pPr indent="0" marL="0">
              <a:spcAft>
                <a:spcPts val="300"/>
              </a:spcAft>
              <a:buNone/>
            </a:pPr>
            <a:r>
              <a:rPr lang="en-US" sz="1050" dirty="0">
                <a:solidFill>
                  <a:srgbClr val="0A0A0B"/>
                </a:solidFill>
              </a:rPr>
              <a:t>16. MapAnything, 3DV 2026</a:t>
            </a:r>
            <a:endParaRPr lang="en-US" sz="1050" dirty="0"/>
          </a:p>
          <a:p>
            <a:pPr indent="0" marL="0">
              <a:spcAft>
                <a:spcPts val="300"/>
              </a:spcAft>
              <a:buNone/>
            </a:pPr>
            <a:r>
              <a:rPr lang="en-US" sz="1050" dirty="0">
                <a:solidFill>
                  <a:srgbClr val="0A0A0B"/>
                </a:solidFill>
              </a:rPr>
              <a:t>17. SAM 2, 2024</a:t>
            </a:r>
            <a:endParaRPr lang="en-US" sz="1050" dirty="0"/>
          </a:p>
          <a:p>
            <a:pPr indent="0" marL="0">
              <a:spcAft>
                <a:spcPts val="300"/>
              </a:spcAft>
              <a:buNone/>
            </a:pPr>
            <a:r>
              <a:rPr lang="en-US" sz="1050" dirty="0">
                <a:solidFill>
                  <a:srgbClr val="0A0A0B"/>
                </a:solidFill>
              </a:rPr>
              <a:t>18. RT-DETR, CVPR 2024</a:t>
            </a:r>
            <a:endParaRPr lang="en-US" sz="1050" dirty="0"/>
          </a:p>
          <a:p>
            <a:pPr indent="0" marL="0">
              <a:spcAft>
                <a:spcPts val="300"/>
              </a:spcAft>
              <a:buNone/>
            </a:pPr>
            <a:r>
              <a:rPr lang="en-US" sz="1050" dirty="0">
                <a:solidFill>
                  <a:srgbClr val="0A0A0B"/>
                </a:solidFill>
              </a:rPr>
              <a:t>19. FrugalGPT, arXiv 2305.05176</a:t>
            </a:r>
            <a:endParaRPr lang="en-US" sz="1050" dirty="0"/>
          </a:p>
          <a:p>
            <a:pPr indent="0" marL="0">
              <a:spcAft>
                <a:spcPts val="300"/>
              </a:spcAft>
              <a:buNone/>
            </a:pPr>
            <a:r>
              <a:rPr lang="en-US" sz="1050" dirty="0">
                <a:solidFill>
                  <a:srgbClr val="0A0A0B"/>
                </a:solidFill>
              </a:rPr>
              <a:t>20. TypeSafe: Jev decision models, 2026</a:t>
            </a:r>
            <a:endParaRPr lang="en-US" sz="1050" dirty="0"/>
          </a:p>
          <a:p>
            <a:pPr indent="0" marL="0">
              <a:spcAft>
                <a:spcPts val="300"/>
              </a:spcAft>
              <a:buNone/>
            </a:pPr>
            <a:r>
              <a:rPr lang="en-US" sz="1050" dirty="0">
                <a:solidFill>
                  <a:srgbClr val="0A0A0B"/>
                </a:solidFill>
              </a:rPr>
              <a:t>21. Meta: Agents Rule of Two, 2025</a:t>
            </a:r>
            <a:endParaRPr lang="en-US" sz="1050" dirty="0"/>
          </a:p>
          <a:p>
            <a:pPr indent="0" marL="0">
              <a:spcAft>
                <a:spcPts val="300"/>
              </a:spcAft>
              <a:buNone/>
            </a:pPr>
            <a:r>
              <a:rPr lang="en-US" sz="1050" dirty="0">
                <a:solidFill>
                  <a:srgbClr val="0A0A0B"/>
                </a:solidFill>
              </a:rPr>
              <a:t>22. Ramdas et al.: Safe Anytime-Valid Inference, 2023</a:t>
            </a:r>
            <a:endParaRPr lang="en-US" sz="1050" dirty="0"/>
          </a:p>
          <a:p>
            <a:pPr indent="0" marL="0">
              <a:spcAft>
                <a:spcPts val="300"/>
              </a:spcAft>
              <a:buNone/>
            </a:pPr>
            <a:r>
              <a:rPr lang="en-US" sz="1050" dirty="0">
                <a:solidFill>
                  <a:srgbClr val="0A0A0B"/>
                </a:solidFill>
              </a:rPr>
              <a:t>23. DEER: Dynamic Early Exit, arXiv 2504.15895</a:t>
            </a:r>
            <a:endParaRPr lang="en-US" sz="1050" dirty="0"/>
          </a:p>
          <a:p>
            <a:pPr indent="0" marL="0">
              <a:spcAft>
                <a:spcPts val="300"/>
              </a:spcAft>
              <a:buNone/>
            </a:pPr>
            <a:r>
              <a:rPr lang="en-US" sz="1050" dirty="0">
                <a:solidFill>
                  <a:srgbClr val="0A0A0B"/>
                </a:solidFill>
              </a:rPr>
              <a:t>24. Pep, arXiv 2602.15012</a:t>
            </a:r>
            <a:endParaRPr lang="en-US" sz="1050" dirty="0"/>
          </a:p>
          <a:p>
            <a:pPr indent="0" marL="0">
              <a:spcAft>
                <a:spcPts val="300"/>
              </a:spcAft>
              <a:buNone/>
            </a:pPr>
            <a:r>
              <a:rPr lang="en-US" sz="1050" dirty="0">
                <a:solidFill>
                  <a:srgbClr val="0A0A0B"/>
                </a:solidFill>
              </a:rPr>
              <a:t>25. VPL, NeurIPS 2024</a:t>
            </a:r>
            <a:endParaRPr lang="en-US" sz="1050" dirty="0"/>
          </a:p>
          <a:p>
            <a:pPr indent="0" marL="0">
              <a:spcAft>
                <a:spcPts val="300"/>
              </a:spcAft>
              <a:buNone/>
            </a:pPr>
            <a:r>
              <a:rPr lang="en-US" sz="1050" dirty="0">
                <a:solidFill>
                  <a:srgbClr val="0A0A0B"/>
                </a:solidFill>
              </a:rPr>
              <a:t>26. Consensus vs. Dissent, RecSys 2026</a:t>
            </a:r>
            <a:endParaRPr lang="en-US" sz="1050" dirty="0"/>
          </a:p>
        </p:txBody>
      </p:sp>
      <p:sp>
        <p:nvSpPr>
          <p:cNvPr id="5" name="Shape 3"/>
          <p:cNvSpPr/>
          <p:nvPr/>
        </p:nvSpPr>
        <p:spPr>
          <a:xfrm>
            <a:off x="8412480" y="1234440"/>
            <a:ext cx="3230575" cy="4892040"/>
          </a:xfrm>
          <a:prstGeom prst="roundRect">
            <a:avLst>
              <a:gd name="adj" fmla="val 2264"/>
            </a:avLst>
          </a:prstGeom>
          <a:solidFill>
            <a:srgbClr val="E9F3EC"/>
          </a:solidFill>
          <a:ln w="12700">
            <a:solidFill>
              <a:srgbClr val="E9F3EC"/>
            </a:solidFill>
            <a:prstDash val="solid"/>
          </a:ln>
        </p:spPr>
      </p:sp>
      <p:sp>
        <p:nvSpPr>
          <p:cNvPr id="6" name="Text 4"/>
          <p:cNvSpPr txBox="1"/>
          <p:nvPr/>
        </p:nvSpPr>
        <p:spPr>
          <a:xfrm>
            <a:off x="8595360" y="1371600"/>
            <a:ext cx="2864815" cy="4663440"/>
          </a:xfrm>
          <a:prstGeom prst="rect">
            <a:avLst/>
          </a:prstGeom>
          <a:noFill/>
          <a:ln/>
        </p:spPr>
        <p:txBody>
          <a:bodyPr wrap="square" lIns="0" tIns="0" rIns="0" bIns="0" rtlCol="0" anchor="t"/>
          <a:lstStyle/>
          <a:p>
            <a:pPr indent="0" marL="0">
              <a:spcAft>
                <a:spcPts val="800"/>
              </a:spcAft>
              <a:buNone/>
            </a:pPr>
            <a:r>
              <a:rPr lang="en-US" sz="1400" b="1" dirty="0">
                <a:solidFill>
                  <a:srgbClr val="0A7F44"/>
                </a:solidFill>
              </a:rPr>
              <a:t>Where the numbers come from</a:t>
            </a:r>
            <a:endParaRPr lang="en-US" sz="1150" dirty="0"/>
          </a:p>
          <a:p>
            <a:pPr indent="0" marL="0">
              <a:spcAft>
                <a:spcPts val="800"/>
              </a:spcAft>
              <a:buNone/>
            </a:pPr>
            <a:r>
              <a:rPr lang="en-US" sz="1150" dirty="0">
                <a:solidFill>
                  <a:srgbClr val="0A0A0B"/>
                </a:solidFill>
              </a:rPr>
              <a:t>Each number is from a result file in submission/results/ or from docs/ in the repository: the student in docs/decision_model.md, the agent testing in submission/agent_testing.md.</a:t>
            </a:r>
            <a:endParaRPr lang="en-US" sz="1150" dirty="0"/>
          </a:p>
          <a:p>
            <a:pPr indent="0" marL="0">
              <a:spcAft>
                <a:spcPts val="800"/>
              </a:spcAft>
              <a:buNone/>
            </a:pPr>
            <a:r>
              <a:rPr lang="en-US" sz="1150" dirty="0">
                <a:solidFill>
                  <a:srgbClr val="0A0A0B"/>
                </a:solidFill>
              </a:rPr>
              <a:t>Real and simulated: the badminton club is real people; the demo club, the evaluation clubs and the testers' members are simulated, and the testers were AI models.</a:t>
            </a:r>
            <a:endParaRPr lang="en-US" sz="1150" dirty="0"/>
          </a:p>
          <a:p>
            <a:pPr indent="0" marL="0">
              <a:spcAft>
                <a:spcPts val="800"/>
              </a:spcAft>
              <a:buNone/>
            </a:pPr>
            <a:r>
              <a:rPr lang="en-US" sz="1150" dirty="0">
                <a:solidFill>
                  <a:srgbClr val="0A0A0B"/>
                </a:solidFill>
              </a:rPr>
              <a:t>Built during the hackathon, from October 27; an AI coding agent wrote code to our instructions, credited in the commits.</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The algorithm behind each part, with its reference</a:t>
            </a:r>
            <a:endParaRPr lang="en-US" sz="2400" dirty="0"/>
          </a:p>
        </p:txBody>
      </p:sp>
      <p:sp>
        <p:nvSpPr>
          <p:cNvPr id="3" name="Shape 1"/>
          <p:cNvSpPr/>
          <p:nvPr/>
        </p:nvSpPr>
        <p:spPr>
          <a:xfrm>
            <a:off x="548640" y="1234440"/>
            <a:ext cx="5440680" cy="512064"/>
          </a:xfrm>
          <a:prstGeom prst="roundRect">
            <a:avLst>
              <a:gd name="adj" fmla="val 8929"/>
            </a:avLst>
          </a:prstGeom>
          <a:solidFill>
            <a:srgbClr val="F3F6F4"/>
          </a:solidFill>
          <a:ln w="12700">
            <a:solidFill>
              <a:srgbClr val="F3F6F4"/>
            </a:solidFill>
            <a:prstDash val="solid"/>
          </a:ln>
        </p:spPr>
      </p:sp>
      <p:sp>
        <p:nvSpPr>
          <p:cNvPr id="4" name="Text 2"/>
          <p:cNvSpPr txBox="1"/>
          <p:nvPr/>
        </p:nvSpPr>
        <p:spPr>
          <a:xfrm>
            <a:off x="68580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Negotiation</a:t>
            </a:r>
            <a:endParaRPr lang="en-US" sz="1200" dirty="0"/>
          </a:p>
        </p:txBody>
      </p:sp>
      <p:sp>
        <p:nvSpPr>
          <p:cNvPr id="5" name="Text 3"/>
          <p:cNvSpPr txBox="1"/>
          <p:nvPr/>
        </p:nvSpPr>
        <p:spPr>
          <a:xfrm>
            <a:off x="246888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Contract Net with a one-shot intersection; distributed constraint satisfaction </a:t>
            </a:r>
            <a:pPr indent="0" marL="0">
              <a:buNone/>
            </a:pPr>
            <a:r>
              <a:rPr lang="en-US" sz="1100" b="1" dirty="0">
                <a:solidFill>
                  <a:srgbClr val="0064E0"/>
                </a:solidFill>
              </a:rPr>
              <a:t>[4, 5]</a:t>
            </a:r>
            <a:endParaRPr lang="en-US" sz="1100" dirty="0"/>
          </a:p>
        </p:txBody>
      </p:sp>
      <p:sp>
        <p:nvSpPr>
          <p:cNvPr id="6" name="Shape 4"/>
          <p:cNvSpPr/>
          <p:nvPr/>
        </p:nvSpPr>
        <p:spPr>
          <a:xfrm>
            <a:off x="548640" y="1837944"/>
            <a:ext cx="5440680" cy="512064"/>
          </a:xfrm>
          <a:prstGeom prst="roundRect">
            <a:avLst>
              <a:gd name="adj" fmla="val 8929"/>
            </a:avLst>
          </a:prstGeom>
          <a:solidFill>
            <a:srgbClr val="FFFFFF"/>
          </a:solidFill>
          <a:ln w="12700">
            <a:solidFill>
              <a:srgbClr val="FFFFFF"/>
            </a:solidFill>
            <a:prstDash val="solid"/>
          </a:ln>
        </p:spPr>
      </p:sp>
      <p:sp>
        <p:nvSpPr>
          <p:cNvPr id="7" name="Text 5"/>
          <p:cNvSpPr txBox="1"/>
          <p:nvPr/>
        </p:nvSpPr>
        <p:spPr>
          <a:xfrm>
            <a:off x="68580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Holds</a:t>
            </a:r>
            <a:endParaRPr lang="en-US" sz="1200" dirty="0"/>
          </a:p>
        </p:txBody>
      </p:sp>
      <p:sp>
        <p:nvSpPr>
          <p:cNvPr id="8" name="Text 6"/>
          <p:cNvSpPr txBox="1"/>
          <p:nvPr/>
        </p:nvSpPr>
        <p:spPr>
          <a:xfrm>
            <a:off x="246888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leases with resource ordering (no deadlock) </a:t>
            </a:r>
            <a:pPr indent="0" marL="0">
              <a:buNone/>
            </a:pPr>
            <a:r>
              <a:rPr lang="en-US" sz="1100" b="1" dirty="0">
                <a:solidFill>
                  <a:srgbClr val="0064E0"/>
                </a:solidFill>
              </a:rPr>
              <a:t>[6, 7]</a:t>
            </a:r>
            <a:endParaRPr lang="en-US" sz="1100" dirty="0"/>
          </a:p>
        </p:txBody>
      </p:sp>
      <p:sp>
        <p:nvSpPr>
          <p:cNvPr id="9" name="Shape 7"/>
          <p:cNvSpPr/>
          <p:nvPr/>
        </p:nvSpPr>
        <p:spPr>
          <a:xfrm>
            <a:off x="548640" y="2441448"/>
            <a:ext cx="5440680" cy="512064"/>
          </a:xfrm>
          <a:prstGeom prst="roundRect">
            <a:avLst>
              <a:gd name="adj" fmla="val 8929"/>
            </a:avLst>
          </a:prstGeom>
          <a:solidFill>
            <a:srgbClr val="F3F6F4"/>
          </a:solidFill>
          <a:ln w="12700">
            <a:solidFill>
              <a:srgbClr val="F3F6F4"/>
            </a:solidFill>
            <a:prstDash val="solid"/>
          </a:ln>
        </p:spPr>
      </p:sp>
      <p:sp>
        <p:nvSpPr>
          <p:cNvPr id="10" name="Text 8"/>
          <p:cNvSpPr txBox="1"/>
          <p:nvPr/>
        </p:nvSpPr>
        <p:spPr>
          <a:xfrm>
            <a:off x="68580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Signed cards and consent</a:t>
            </a:r>
            <a:endParaRPr lang="en-US" sz="1200" dirty="0"/>
          </a:p>
        </p:txBody>
      </p:sp>
      <p:sp>
        <p:nvSpPr>
          <p:cNvPr id="11" name="Text 9"/>
          <p:cNvSpPr txBox="1"/>
          <p:nvPr/>
        </p:nvSpPr>
        <p:spPr>
          <a:xfrm>
            <a:off x="246888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JWS over canonical JSON, Ed25519; a hash chain </a:t>
            </a:r>
            <a:pPr indent="0" marL="0">
              <a:buNone/>
            </a:pPr>
            <a:r>
              <a:rPr lang="en-US" sz="1100" b="1" dirty="0">
                <a:solidFill>
                  <a:srgbClr val="0064E0"/>
                </a:solidFill>
              </a:rPr>
              <a:t>[8, 9]</a:t>
            </a:r>
            <a:endParaRPr lang="en-US" sz="1100" dirty="0"/>
          </a:p>
        </p:txBody>
      </p:sp>
      <p:sp>
        <p:nvSpPr>
          <p:cNvPr id="12" name="Shape 10"/>
          <p:cNvSpPr/>
          <p:nvPr/>
        </p:nvSpPr>
        <p:spPr>
          <a:xfrm>
            <a:off x="548640" y="3044952"/>
            <a:ext cx="5440680" cy="512064"/>
          </a:xfrm>
          <a:prstGeom prst="roundRect">
            <a:avLst>
              <a:gd name="adj" fmla="val 8929"/>
            </a:avLst>
          </a:prstGeom>
          <a:solidFill>
            <a:srgbClr val="FFFFFF"/>
          </a:solidFill>
          <a:ln w="12700">
            <a:solidFill>
              <a:srgbClr val="FFFFFF"/>
            </a:solidFill>
            <a:prstDash val="solid"/>
          </a:ln>
        </p:spPr>
      </p:sp>
      <p:sp>
        <p:nvSpPr>
          <p:cNvPr id="13" name="Text 11"/>
          <p:cNvSpPr txBox="1"/>
          <p:nvPr/>
        </p:nvSpPr>
        <p:spPr>
          <a:xfrm>
            <a:off x="68580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Asking one question</a:t>
            </a:r>
            <a:endParaRPr lang="en-US" sz="1200" dirty="0"/>
          </a:p>
        </p:txBody>
      </p:sp>
      <p:sp>
        <p:nvSpPr>
          <p:cNvPr id="14" name="Text 12"/>
          <p:cNvSpPr txBox="1"/>
          <p:nvPr/>
        </p:nvSpPr>
        <p:spPr>
          <a:xfrm>
            <a:off x="246888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value of information over Beta posteriors; shared structure across people </a:t>
            </a:r>
            <a:pPr indent="0" marL="0">
              <a:buNone/>
            </a:pPr>
            <a:r>
              <a:rPr lang="en-US" sz="1100" b="1" dirty="0">
                <a:solidFill>
                  <a:srgbClr val="0064E0"/>
                </a:solidFill>
              </a:rPr>
              <a:t>[24, 25]</a:t>
            </a:r>
            <a:endParaRPr lang="en-US" sz="1100" dirty="0"/>
          </a:p>
        </p:txBody>
      </p:sp>
      <p:sp>
        <p:nvSpPr>
          <p:cNvPr id="15" name="Shape 13"/>
          <p:cNvSpPr/>
          <p:nvPr/>
        </p:nvSpPr>
        <p:spPr>
          <a:xfrm>
            <a:off x="548640" y="3648456"/>
            <a:ext cx="5440680" cy="512064"/>
          </a:xfrm>
          <a:prstGeom prst="roundRect">
            <a:avLst>
              <a:gd name="adj" fmla="val 8929"/>
            </a:avLst>
          </a:prstGeom>
          <a:solidFill>
            <a:srgbClr val="F3F6F4"/>
          </a:solidFill>
          <a:ln w="12700">
            <a:solidFill>
              <a:srgbClr val="F3F6F4"/>
            </a:solidFill>
            <a:prstDash val="solid"/>
          </a:ln>
        </p:spPr>
      </p:sp>
      <p:sp>
        <p:nvSpPr>
          <p:cNvPr id="16" name="Text 14"/>
          <p:cNvSpPr txBox="1"/>
          <p:nvPr/>
        </p:nvSpPr>
        <p:spPr>
          <a:xfrm>
            <a:off x="68580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Ranking times</a:t>
            </a:r>
            <a:endParaRPr lang="en-US" sz="1200" dirty="0"/>
          </a:p>
        </p:txBody>
      </p:sp>
      <p:sp>
        <p:nvSpPr>
          <p:cNvPr id="17" name="Text 15"/>
          <p:cNvSpPr txBox="1"/>
          <p:nvPr/>
        </p:nvSpPr>
        <p:spPr>
          <a:xfrm>
            <a:off x="246888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product of chances with a least-misery floor </a:t>
            </a:r>
            <a:pPr indent="0" marL="0">
              <a:buNone/>
            </a:pPr>
            <a:r>
              <a:rPr lang="en-US" sz="1100" b="1" dirty="0">
                <a:solidFill>
                  <a:srgbClr val="0064E0"/>
                </a:solidFill>
              </a:rPr>
              <a:t>[26]</a:t>
            </a:r>
            <a:endParaRPr lang="en-US" sz="1100" dirty="0"/>
          </a:p>
        </p:txBody>
      </p:sp>
      <p:sp>
        <p:nvSpPr>
          <p:cNvPr id="18" name="Shape 16"/>
          <p:cNvSpPr/>
          <p:nvPr/>
        </p:nvSpPr>
        <p:spPr>
          <a:xfrm>
            <a:off x="548640" y="4251960"/>
            <a:ext cx="5440680" cy="512064"/>
          </a:xfrm>
          <a:prstGeom prst="roundRect">
            <a:avLst>
              <a:gd name="adj" fmla="val 8929"/>
            </a:avLst>
          </a:prstGeom>
          <a:solidFill>
            <a:srgbClr val="FFFFFF"/>
          </a:solidFill>
          <a:ln w="12700">
            <a:solidFill>
              <a:srgbClr val="FFFFFF"/>
            </a:solidFill>
            <a:prstDash val="solid"/>
          </a:ln>
        </p:spPr>
      </p:sp>
      <p:sp>
        <p:nvSpPr>
          <p:cNvPr id="19" name="Text 17"/>
          <p:cNvSpPr txBox="1"/>
          <p:nvPr/>
        </p:nvSpPr>
        <p:spPr>
          <a:xfrm>
            <a:off x="68580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Decision tiers</a:t>
            </a:r>
            <a:endParaRPr lang="en-US" sz="1200" dirty="0"/>
          </a:p>
        </p:txBody>
      </p:sp>
      <p:sp>
        <p:nvSpPr>
          <p:cNvPr id="20" name="Text 18"/>
          <p:cNvSpPr txBox="1"/>
          <p:nvPr/>
        </p:nvSpPr>
        <p:spPr>
          <a:xfrm>
            <a:off x="246888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a cascade of models, cheapest first </a:t>
            </a:r>
            <a:pPr indent="0" marL="0">
              <a:buNone/>
            </a:pPr>
            <a:r>
              <a:rPr lang="en-US" sz="1100" b="1" dirty="0">
                <a:solidFill>
                  <a:srgbClr val="0064E0"/>
                </a:solidFill>
              </a:rPr>
              <a:t>[19]</a:t>
            </a:r>
            <a:endParaRPr lang="en-US" sz="1100" dirty="0"/>
          </a:p>
        </p:txBody>
      </p:sp>
      <p:sp>
        <p:nvSpPr>
          <p:cNvPr id="21" name="Shape 19"/>
          <p:cNvSpPr/>
          <p:nvPr/>
        </p:nvSpPr>
        <p:spPr>
          <a:xfrm>
            <a:off x="548640" y="4855464"/>
            <a:ext cx="5440680" cy="512064"/>
          </a:xfrm>
          <a:prstGeom prst="roundRect">
            <a:avLst>
              <a:gd name="adj" fmla="val 8929"/>
            </a:avLst>
          </a:prstGeom>
          <a:solidFill>
            <a:srgbClr val="F3F6F4"/>
          </a:solidFill>
          <a:ln w="12700">
            <a:solidFill>
              <a:srgbClr val="F3F6F4"/>
            </a:solidFill>
            <a:prstDash val="solid"/>
          </a:ln>
        </p:spPr>
      </p:sp>
      <p:sp>
        <p:nvSpPr>
          <p:cNvPr id="22" name="Text 20"/>
          <p:cNvSpPr txBox="1"/>
          <p:nvPr/>
        </p:nvSpPr>
        <p:spPr>
          <a:xfrm>
            <a:off x="68580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Early exit</a:t>
            </a:r>
            <a:endParaRPr lang="en-US" sz="1200" dirty="0"/>
          </a:p>
        </p:txBody>
      </p:sp>
      <p:sp>
        <p:nvSpPr>
          <p:cNvPr id="23" name="Text 21"/>
          <p:cNvSpPr txBox="1"/>
          <p:nvPr/>
        </p:nvSpPr>
        <p:spPr>
          <a:xfrm>
            <a:off x="246888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dynamic early exit from reasoning </a:t>
            </a:r>
            <a:pPr indent="0" marL="0">
              <a:buNone/>
            </a:pPr>
            <a:r>
              <a:rPr lang="en-US" sz="1100" b="1" dirty="0">
                <a:solidFill>
                  <a:srgbClr val="0064E0"/>
                </a:solidFill>
              </a:rPr>
              <a:t>[23]</a:t>
            </a:r>
            <a:endParaRPr lang="en-US" sz="1100" dirty="0"/>
          </a:p>
        </p:txBody>
      </p:sp>
      <p:sp>
        <p:nvSpPr>
          <p:cNvPr id="24" name="Shape 22"/>
          <p:cNvSpPr/>
          <p:nvPr/>
        </p:nvSpPr>
        <p:spPr>
          <a:xfrm>
            <a:off x="548640" y="5458968"/>
            <a:ext cx="5440680" cy="512064"/>
          </a:xfrm>
          <a:prstGeom prst="roundRect">
            <a:avLst>
              <a:gd name="adj" fmla="val 8929"/>
            </a:avLst>
          </a:prstGeom>
          <a:solidFill>
            <a:srgbClr val="FFFFFF"/>
          </a:solidFill>
          <a:ln w="12700">
            <a:solidFill>
              <a:srgbClr val="FFFFFF"/>
            </a:solidFill>
            <a:prstDash val="solid"/>
          </a:ln>
        </p:spPr>
      </p:sp>
      <p:sp>
        <p:nvSpPr>
          <p:cNvPr id="25" name="Text 23"/>
          <p:cNvSpPr txBox="1"/>
          <p:nvPr/>
        </p:nvSpPr>
        <p:spPr>
          <a:xfrm>
            <a:off x="68580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Rollback</a:t>
            </a:r>
            <a:endParaRPr lang="en-US" sz="1200" dirty="0"/>
          </a:p>
        </p:txBody>
      </p:sp>
      <p:sp>
        <p:nvSpPr>
          <p:cNvPr id="26" name="Text 24"/>
          <p:cNvSpPr txBox="1"/>
          <p:nvPr/>
        </p:nvSpPr>
        <p:spPr>
          <a:xfrm>
            <a:off x="246888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an anytime-valid e-process test </a:t>
            </a:r>
            <a:pPr indent="0" marL="0">
              <a:buNone/>
            </a:pPr>
            <a:r>
              <a:rPr lang="en-US" sz="1100" b="1" dirty="0">
                <a:solidFill>
                  <a:srgbClr val="0064E0"/>
                </a:solidFill>
              </a:rPr>
              <a:t>[22]</a:t>
            </a:r>
            <a:endParaRPr lang="en-US" sz="1100" dirty="0"/>
          </a:p>
        </p:txBody>
      </p:sp>
      <p:sp>
        <p:nvSpPr>
          <p:cNvPr id="27" name="Shape 25"/>
          <p:cNvSpPr/>
          <p:nvPr/>
        </p:nvSpPr>
        <p:spPr>
          <a:xfrm>
            <a:off x="6172200" y="1234440"/>
            <a:ext cx="5440680" cy="512064"/>
          </a:xfrm>
          <a:prstGeom prst="roundRect">
            <a:avLst>
              <a:gd name="adj" fmla="val 8929"/>
            </a:avLst>
          </a:prstGeom>
          <a:solidFill>
            <a:srgbClr val="F3F6F4"/>
          </a:solidFill>
          <a:ln w="12700">
            <a:solidFill>
              <a:srgbClr val="F3F6F4"/>
            </a:solidFill>
            <a:prstDash val="solid"/>
          </a:ln>
        </p:spPr>
      </p:sp>
      <p:sp>
        <p:nvSpPr>
          <p:cNvPr id="28" name="Text 26"/>
          <p:cNvSpPr txBox="1"/>
          <p:nvPr/>
        </p:nvSpPr>
        <p:spPr>
          <a:xfrm>
            <a:off x="630936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Votes</a:t>
            </a:r>
            <a:endParaRPr lang="en-US" sz="1200" dirty="0"/>
          </a:p>
        </p:txBody>
      </p:sp>
      <p:sp>
        <p:nvSpPr>
          <p:cNvPr id="29" name="Text 27"/>
          <p:cNvSpPr txBox="1"/>
          <p:nvPr/>
        </p:nvSpPr>
        <p:spPr>
          <a:xfrm>
            <a:off x="809244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quadratic voting </a:t>
            </a:r>
            <a:pPr indent="0" marL="0">
              <a:buNone/>
            </a:pPr>
            <a:r>
              <a:rPr lang="en-US" sz="1100" b="1" dirty="0">
                <a:solidFill>
                  <a:srgbClr val="0064E0"/>
                </a:solidFill>
              </a:rPr>
              <a:t>[10]</a:t>
            </a:r>
            <a:endParaRPr lang="en-US" sz="1100" dirty="0"/>
          </a:p>
        </p:txBody>
      </p:sp>
      <p:sp>
        <p:nvSpPr>
          <p:cNvPr id="30" name="Shape 28"/>
          <p:cNvSpPr/>
          <p:nvPr/>
        </p:nvSpPr>
        <p:spPr>
          <a:xfrm>
            <a:off x="6172200" y="1837944"/>
            <a:ext cx="5440680" cy="512064"/>
          </a:xfrm>
          <a:prstGeom prst="roundRect">
            <a:avLst>
              <a:gd name="adj" fmla="val 8929"/>
            </a:avLst>
          </a:prstGeom>
          <a:solidFill>
            <a:srgbClr val="FFFFFF"/>
          </a:solidFill>
          <a:ln w="12700">
            <a:solidFill>
              <a:srgbClr val="FFFFFF"/>
            </a:solidFill>
            <a:prstDash val="solid"/>
          </a:ln>
        </p:spPr>
      </p:sp>
      <p:sp>
        <p:nvSpPr>
          <p:cNvPr id="31" name="Text 29"/>
          <p:cNvSpPr txBox="1"/>
          <p:nvPr/>
        </p:nvSpPr>
        <p:spPr>
          <a:xfrm>
            <a:off x="630936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When to send</a:t>
            </a:r>
            <a:endParaRPr lang="en-US" sz="1200" dirty="0"/>
          </a:p>
        </p:txBody>
      </p:sp>
      <p:sp>
        <p:nvSpPr>
          <p:cNvPr id="32" name="Text 30"/>
          <p:cNvSpPr txBox="1"/>
          <p:nvPr/>
        </p:nvSpPr>
        <p:spPr>
          <a:xfrm>
            <a:off x="809244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Thompson sampling with a burden cost </a:t>
            </a:r>
            <a:pPr indent="0" marL="0">
              <a:buNone/>
            </a:pPr>
            <a:r>
              <a:rPr lang="en-US" sz="1100" b="1" dirty="0">
                <a:solidFill>
                  <a:srgbClr val="0064E0"/>
                </a:solidFill>
              </a:rPr>
              <a:t>[39, 40]</a:t>
            </a:r>
            <a:endParaRPr lang="en-US" sz="1100" dirty="0"/>
          </a:p>
        </p:txBody>
      </p:sp>
      <p:sp>
        <p:nvSpPr>
          <p:cNvPr id="33" name="Shape 31"/>
          <p:cNvSpPr/>
          <p:nvPr/>
        </p:nvSpPr>
        <p:spPr>
          <a:xfrm>
            <a:off x="6172200" y="2441448"/>
            <a:ext cx="5440680" cy="512064"/>
          </a:xfrm>
          <a:prstGeom prst="roundRect">
            <a:avLst>
              <a:gd name="adj" fmla="val 8929"/>
            </a:avLst>
          </a:prstGeom>
          <a:solidFill>
            <a:srgbClr val="F3F6F4"/>
          </a:solidFill>
          <a:ln w="12700">
            <a:solidFill>
              <a:srgbClr val="F3F6F4"/>
            </a:solidFill>
            <a:prstDash val="solid"/>
          </a:ln>
        </p:spPr>
      </p:sp>
      <p:sp>
        <p:nvSpPr>
          <p:cNvPr id="34" name="Text 32"/>
          <p:cNvSpPr txBox="1"/>
          <p:nvPr/>
        </p:nvSpPr>
        <p:spPr>
          <a:xfrm>
            <a:off x="630936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Preference memory</a:t>
            </a:r>
            <a:endParaRPr lang="en-US" sz="1200" dirty="0"/>
          </a:p>
        </p:txBody>
      </p:sp>
      <p:sp>
        <p:nvSpPr>
          <p:cNvPr id="35" name="Text 33"/>
          <p:cNvSpPr txBox="1"/>
          <p:nvPr/>
        </p:nvSpPr>
        <p:spPr>
          <a:xfrm>
            <a:off x="809244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typed records, the newest wins </a:t>
            </a:r>
            <a:pPr indent="0" marL="0">
              <a:buNone/>
            </a:pPr>
            <a:r>
              <a:rPr lang="en-US" sz="1100" b="1" dirty="0">
                <a:solidFill>
                  <a:srgbClr val="0064E0"/>
                </a:solidFill>
              </a:rPr>
              <a:t>[41, 42]</a:t>
            </a:r>
            <a:endParaRPr lang="en-US" sz="1100" dirty="0"/>
          </a:p>
        </p:txBody>
      </p:sp>
      <p:sp>
        <p:nvSpPr>
          <p:cNvPr id="36" name="Shape 34"/>
          <p:cNvSpPr/>
          <p:nvPr/>
        </p:nvSpPr>
        <p:spPr>
          <a:xfrm>
            <a:off x="6172200" y="3044952"/>
            <a:ext cx="5440680" cy="512064"/>
          </a:xfrm>
          <a:prstGeom prst="roundRect">
            <a:avLst>
              <a:gd name="adj" fmla="val 8929"/>
            </a:avLst>
          </a:prstGeom>
          <a:solidFill>
            <a:srgbClr val="FFFFFF"/>
          </a:solidFill>
          <a:ln w="12700">
            <a:solidFill>
              <a:srgbClr val="FFFFFF"/>
            </a:solidFill>
            <a:prstDash val="solid"/>
          </a:ln>
        </p:spPr>
      </p:sp>
      <p:sp>
        <p:nvSpPr>
          <p:cNvPr id="37" name="Text 35"/>
          <p:cNvSpPr txBox="1"/>
          <p:nvPr/>
        </p:nvSpPr>
        <p:spPr>
          <a:xfrm>
            <a:off x="630936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Tool calls</a:t>
            </a:r>
            <a:endParaRPr lang="en-US" sz="1200" dirty="0"/>
          </a:p>
        </p:txBody>
      </p:sp>
      <p:sp>
        <p:nvSpPr>
          <p:cNvPr id="38" name="Text 36"/>
          <p:cNvSpPr txBox="1"/>
          <p:nvPr/>
        </p:nvSpPr>
        <p:spPr>
          <a:xfrm>
            <a:off x="809244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schema, then typed semantic checks and bounded repair </a:t>
            </a:r>
            <a:pPr indent="0" marL="0">
              <a:buNone/>
            </a:pPr>
            <a:r>
              <a:rPr lang="en-US" sz="1100" b="1" dirty="0">
                <a:solidFill>
                  <a:srgbClr val="0064E0"/>
                </a:solidFill>
              </a:rPr>
              <a:t>[43, 44]</a:t>
            </a:r>
            <a:endParaRPr lang="en-US" sz="1100" dirty="0"/>
          </a:p>
        </p:txBody>
      </p:sp>
      <p:sp>
        <p:nvSpPr>
          <p:cNvPr id="39" name="Shape 37"/>
          <p:cNvSpPr/>
          <p:nvPr/>
        </p:nvSpPr>
        <p:spPr>
          <a:xfrm>
            <a:off x="6172200" y="3648456"/>
            <a:ext cx="5440680" cy="512064"/>
          </a:xfrm>
          <a:prstGeom prst="roundRect">
            <a:avLst>
              <a:gd name="adj" fmla="val 8929"/>
            </a:avLst>
          </a:prstGeom>
          <a:solidFill>
            <a:srgbClr val="F3F6F4"/>
          </a:solidFill>
          <a:ln w="12700">
            <a:solidFill>
              <a:srgbClr val="F3F6F4"/>
            </a:solidFill>
            <a:prstDash val="solid"/>
          </a:ln>
        </p:spPr>
      </p:sp>
      <p:sp>
        <p:nvSpPr>
          <p:cNvPr id="40" name="Text 38"/>
          <p:cNvSpPr txBox="1"/>
          <p:nvPr/>
        </p:nvSpPr>
        <p:spPr>
          <a:xfrm>
            <a:off x="630936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Courts judged ahead</a:t>
            </a:r>
            <a:endParaRPr lang="en-US" sz="1200" dirty="0"/>
          </a:p>
        </p:txBody>
      </p:sp>
      <p:sp>
        <p:nvSpPr>
          <p:cNvPr id="41" name="Text 39"/>
          <p:cNvSpPr txBox="1"/>
          <p:nvPr/>
        </p:nvSpPr>
        <p:spPr>
          <a:xfrm>
            <a:off x="809244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speculative actions </a:t>
            </a:r>
            <a:pPr indent="0" marL="0">
              <a:buNone/>
            </a:pPr>
            <a:r>
              <a:rPr lang="en-US" sz="1100" b="1" dirty="0">
                <a:solidFill>
                  <a:srgbClr val="0064E0"/>
                </a:solidFill>
              </a:rPr>
              <a:t>[45]</a:t>
            </a:r>
            <a:endParaRPr lang="en-US" sz="1100" dirty="0"/>
          </a:p>
        </p:txBody>
      </p:sp>
      <p:sp>
        <p:nvSpPr>
          <p:cNvPr id="42" name="Shape 40"/>
          <p:cNvSpPr/>
          <p:nvPr/>
        </p:nvSpPr>
        <p:spPr>
          <a:xfrm>
            <a:off x="6172200" y="4251960"/>
            <a:ext cx="5440680" cy="512064"/>
          </a:xfrm>
          <a:prstGeom prst="roundRect">
            <a:avLst>
              <a:gd name="adj" fmla="val 8929"/>
            </a:avLst>
          </a:prstGeom>
          <a:solidFill>
            <a:srgbClr val="FFFFFF"/>
          </a:solidFill>
          <a:ln w="12700">
            <a:solidFill>
              <a:srgbClr val="FFFFFF"/>
            </a:solidFill>
            <a:prstDash val="solid"/>
          </a:ln>
        </p:spPr>
      </p:sp>
      <p:sp>
        <p:nvSpPr>
          <p:cNvPr id="43" name="Text 41"/>
          <p:cNvSpPr txBox="1"/>
          <p:nvPr/>
        </p:nvSpPr>
        <p:spPr>
          <a:xfrm>
            <a:off x="630936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Harder testing</a:t>
            </a:r>
            <a:endParaRPr lang="en-US" sz="1200" dirty="0"/>
          </a:p>
        </p:txBody>
      </p:sp>
      <p:sp>
        <p:nvSpPr>
          <p:cNvPr id="44" name="Text 42"/>
          <p:cNvSpPr txBox="1"/>
          <p:nvPr/>
        </p:nvSpPr>
        <p:spPr>
          <a:xfrm>
            <a:off x="809244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pass^k with difficult simulated people </a:t>
            </a:r>
            <a:pPr indent="0" marL="0">
              <a:buNone/>
            </a:pPr>
            <a:r>
              <a:rPr lang="en-US" sz="1100" b="1" dirty="0">
                <a:solidFill>
                  <a:srgbClr val="0064E0"/>
                </a:solidFill>
              </a:rPr>
              <a:t>[46, 47]</a:t>
            </a:r>
            <a:endParaRPr lang="en-US" sz="1100" dirty="0"/>
          </a:p>
        </p:txBody>
      </p:sp>
      <p:sp>
        <p:nvSpPr>
          <p:cNvPr id="45" name="Shape 43"/>
          <p:cNvSpPr/>
          <p:nvPr/>
        </p:nvSpPr>
        <p:spPr>
          <a:xfrm>
            <a:off x="6172200" y="4855464"/>
            <a:ext cx="5440680" cy="512064"/>
          </a:xfrm>
          <a:prstGeom prst="roundRect">
            <a:avLst>
              <a:gd name="adj" fmla="val 8929"/>
            </a:avLst>
          </a:prstGeom>
          <a:solidFill>
            <a:srgbClr val="F3F6F4"/>
          </a:solidFill>
          <a:ln w="12700">
            <a:solidFill>
              <a:srgbClr val="F3F6F4"/>
            </a:solidFill>
            <a:prstDash val="solid"/>
          </a:ln>
        </p:spPr>
      </p:sp>
      <p:sp>
        <p:nvSpPr>
          <p:cNvPr id="46" name="Text 44"/>
          <p:cNvSpPr txBox="1"/>
          <p:nvPr/>
        </p:nvSpPr>
        <p:spPr>
          <a:xfrm>
            <a:off x="630936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Order of options</a:t>
            </a:r>
            <a:endParaRPr lang="en-US" sz="1200" dirty="0"/>
          </a:p>
        </p:txBody>
      </p:sp>
      <p:sp>
        <p:nvSpPr>
          <p:cNvPr id="47" name="Text 45"/>
          <p:cNvSpPr txBox="1"/>
          <p:nvPr/>
        </p:nvSpPr>
        <p:spPr>
          <a:xfrm>
            <a:off x="809244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the first-proposal bias, measured </a:t>
            </a:r>
            <a:pPr indent="0" marL="0">
              <a:buNone/>
            </a:pPr>
            <a:r>
              <a:rPr lang="en-US" sz="1100" b="1" dirty="0">
                <a:solidFill>
                  <a:srgbClr val="0064E0"/>
                </a:solidFill>
              </a:rPr>
              <a:t>[48]</a:t>
            </a:r>
            <a:endParaRPr lang="en-US" sz="1100" dirty="0"/>
          </a:p>
        </p:txBody>
      </p:sp>
      <p:sp>
        <p:nvSpPr>
          <p:cNvPr id="48" name="Shape 46"/>
          <p:cNvSpPr/>
          <p:nvPr/>
        </p:nvSpPr>
        <p:spPr>
          <a:xfrm>
            <a:off x="6172200" y="5458968"/>
            <a:ext cx="5440680" cy="512064"/>
          </a:xfrm>
          <a:prstGeom prst="roundRect">
            <a:avLst>
              <a:gd name="adj" fmla="val 8929"/>
            </a:avLst>
          </a:prstGeom>
          <a:solidFill>
            <a:srgbClr val="FFFFFF"/>
          </a:solidFill>
          <a:ln w="12700">
            <a:solidFill>
              <a:srgbClr val="FFFFFF"/>
            </a:solidFill>
            <a:prstDash val="solid"/>
          </a:ln>
        </p:spPr>
      </p:sp>
      <p:sp>
        <p:nvSpPr>
          <p:cNvPr id="49" name="Text 47"/>
          <p:cNvSpPr txBox="1"/>
          <p:nvPr/>
        </p:nvSpPr>
        <p:spPr>
          <a:xfrm>
            <a:off x="630936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Second round</a:t>
            </a:r>
            <a:endParaRPr lang="en-US" sz="1200" dirty="0"/>
          </a:p>
        </p:txBody>
      </p:sp>
      <p:sp>
        <p:nvSpPr>
          <p:cNvPr id="50" name="Text 48"/>
          <p:cNvSpPr txBox="1"/>
          <p:nvPr/>
        </p:nvSpPr>
        <p:spPr>
          <a:xfrm>
            <a:off x="809244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graded costs instead of yes or no </a:t>
            </a:r>
            <a:pPr indent="0" marL="0">
              <a:buNone/>
            </a:pPr>
            <a:r>
              <a:rPr lang="en-US" sz="1100" b="1" dirty="0">
                <a:solidFill>
                  <a:srgbClr val="0064E0"/>
                </a:solidFill>
              </a:rPr>
              <a:t>[49]</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868680"/>
          </a:xfrm>
          <a:prstGeom prst="rect">
            <a:avLst/>
          </a:prstGeom>
          <a:noFill/>
          <a:ln/>
        </p:spPr>
        <p:txBody>
          <a:bodyPr wrap="square" lIns="0" tIns="0" rIns="0" bIns="0" rtlCol="0" anchor="ctr"/>
          <a:lstStyle/>
          <a:p>
            <a:pPr algn="l" indent="0" marL="0">
              <a:buNone/>
            </a:pPr>
            <a:r>
              <a:rPr lang="en-US" sz="2400" b="1" dirty="0">
                <a:solidFill>
                  <a:schemeClr val="tx1"/>
                </a:solidFill>
              </a:rPr>
              <a:t>References 27 to 49: the algorithms we used</a:t>
            </a:r>
            <a:endParaRPr lang="en-US" sz="2400" dirty="0"/>
          </a:p>
        </p:txBody>
      </p:sp>
      <p:sp>
        <p:nvSpPr>
          <p:cNvPr id="3" name="Text 1"/>
          <p:cNvSpPr txBox="1"/>
          <p:nvPr/>
        </p:nvSpPr>
        <p:spPr>
          <a:xfrm>
            <a:off x="54864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27. Hinton, Vinyals and Dean: Distilling the Knowledge in a Neural Network, arXiv 1503.02531, 2015</a:t>
            </a:r>
            <a:endParaRPr lang="en-US" sz="1100" dirty="0"/>
          </a:p>
          <a:p>
            <a:pPr indent="0" marL="0">
              <a:spcAft>
                <a:spcPts val="500"/>
              </a:spcAft>
              <a:buNone/>
            </a:pPr>
            <a:r>
              <a:rPr lang="en-US" sz="1100" dirty="0">
                <a:solidFill>
                  <a:srgbClr val="0A0A0B"/>
                </a:solidFill>
              </a:rPr>
              <a:t>28. Hu et al.: LoRA: Low-Rank Adaptation of Large Language Models, ICLR 2022</a:t>
            </a:r>
            <a:endParaRPr lang="en-US" sz="1100" dirty="0"/>
          </a:p>
          <a:p>
            <a:pPr indent="0" marL="0">
              <a:spcAft>
                <a:spcPts val="500"/>
              </a:spcAft>
              <a:buNone/>
            </a:pPr>
            <a:r>
              <a:rPr lang="en-US" sz="1100" dirty="0">
                <a:solidFill>
                  <a:srgbClr val="0A0A0B"/>
                </a:solidFill>
              </a:rPr>
              <a:t>29. Agarwal et al.: On-Policy Distillation of Language Models (GKD), ICLR 2024</a:t>
            </a:r>
            <a:endParaRPr lang="en-US" sz="1100" dirty="0"/>
          </a:p>
          <a:p>
            <a:pPr indent="0" marL="0">
              <a:spcAft>
                <a:spcPts val="500"/>
              </a:spcAft>
              <a:buNone/>
            </a:pPr>
            <a:r>
              <a:rPr lang="en-US" sz="1100" dirty="0">
                <a:solidFill>
                  <a:srgbClr val="0A0A0B"/>
                </a:solidFill>
              </a:rPr>
              <a:t>30. Hsieh et al.: Distilling Step-by-Step, Findings of ACL 2023</a:t>
            </a:r>
            <a:endParaRPr lang="en-US" sz="1100" dirty="0"/>
          </a:p>
          <a:p>
            <a:pPr indent="0" marL="0">
              <a:spcAft>
                <a:spcPts val="500"/>
              </a:spcAft>
              <a:buNone/>
            </a:pPr>
            <a:r>
              <a:rPr lang="en-US" sz="1100" dirty="0">
                <a:solidFill>
                  <a:srgbClr val="0A0A0B"/>
                </a:solidFill>
              </a:rPr>
              <a:t>31. Guo et al.: On Calibration of Modern Neural Networks, ICML 2017</a:t>
            </a:r>
            <a:endParaRPr lang="en-US" sz="1100" dirty="0"/>
          </a:p>
          <a:p>
            <a:pPr indent="0" marL="0">
              <a:spcAft>
                <a:spcPts val="500"/>
              </a:spcAft>
              <a:buNone/>
            </a:pPr>
            <a:r>
              <a:rPr lang="en-US" sz="1100" dirty="0">
                <a:solidFill>
                  <a:srgbClr val="0A0A0B"/>
                </a:solidFill>
              </a:rPr>
              <a:t>32. Angelopoulos et al.: Conformal Risk Control, arXiv 2208.02814</a:t>
            </a:r>
            <a:endParaRPr lang="en-US" sz="1100" dirty="0"/>
          </a:p>
          <a:p>
            <a:pPr indent="0" marL="0">
              <a:spcAft>
                <a:spcPts val="500"/>
              </a:spcAft>
              <a:buNone/>
            </a:pPr>
            <a:r>
              <a:rPr lang="en-US" sz="1100" dirty="0">
                <a:solidFill>
                  <a:srgbClr val="0A0A0B"/>
                </a:solidFill>
              </a:rPr>
              <a:t>33. McNemar: the sampling error of the difference between correlated proportions, Psychometrika 1947</a:t>
            </a:r>
            <a:endParaRPr lang="en-US" sz="1100" dirty="0"/>
          </a:p>
          <a:p>
            <a:pPr indent="0" marL="0">
              <a:spcAft>
                <a:spcPts val="500"/>
              </a:spcAft>
              <a:buNone/>
            </a:pPr>
            <a:r>
              <a:rPr lang="en-US" sz="1100" dirty="0">
                <a:solidFill>
                  <a:srgbClr val="0A0A0B"/>
                </a:solidFill>
              </a:rPr>
              <a:t>34. llama.cpp: quantization with an importance matrix (imatrix), ggml-org</a:t>
            </a:r>
            <a:endParaRPr lang="en-US" sz="1100" dirty="0"/>
          </a:p>
          <a:p>
            <a:pPr indent="0" marL="0">
              <a:spcAft>
                <a:spcPts val="500"/>
              </a:spcAft>
              <a:buNone/>
            </a:pPr>
            <a:r>
              <a:rPr lang="en-US" sz="1100" dirty="0">
                <a:solidFill>
                  <a:srgbClr val="0A0A0B"/>
                </a:solidFill>
              </a:rPr>
              <a:t>35. Chen et al.: StruQ: Defending Against Prompt Injection with Structured Queries, arXiv 2402.06363</a:t>
            </a:r>
            <a:endParaRPr lang="en-US" sz="1100" dirty="0"/>
          </a:p>
          <a:p>
            <a:pPr indent="0" marL="0">
              <a:spcAft>
                <a:spcPts val="500"/>
              </a:spcAft>
              <a:buNone/>
            </a:pPr>
            <a:r>
              <a:rPr lang="en-US" sz="1100" dirty="0">
                <a:solidFill>
                  <a:srgbClr val="0A0A0B"/>
                </a:solidFill>
              </a:rPr>
              <a:t>36. Chen et al.: SecAlign: Defending Against Prompt Injection with Preference Optimization, arXiv 2410.05451</a:t>
            </a:r>
            <a:endParaRPr lang="en-US" sz="1100" dirty="0"/>
          </a:p>
          <a:p>
            <a:pPr indent="0" marL="0">
              <a:spcAft>
                <a:spcPts val="500"/>
              </a:spcAft>
              <a:buNone/>
            </a:pPr>
            <a:r>
              <a:rPr lang="en-US" sz="1100" dirty="0">
                <a:solidFill>
                  <a:srgbClr val="0A0A0B"/>
                </a:solidFill>
              </a:rPr>
              <a:t>37. Rafailov et al.: Direct Preference Optimization, NeurIPS 2023</a:t>
            </a:r>
            <a:endParaRPr lang="en-US" sz="1100" dirty="0"/>
          </a:p>
          <a:p>
            <a:pPr indent="0" marL="0">
              <a:spcAft>
                <a:spcPts val="500"/>
              </a:spcAft>
              <a:buNone/>
            </a:pPr>
            <a:r>
              <a:rPr lang="en-US" sz="1100" dirty="0">
                <a:solidFill>
                  <a:srgbClr val="0A0A0B"/>
                </a:solidFill>
              </a:rPr>
              <a:t>38. Weinberger et al.: Feature Hashing for Large Scale Multitask Learning, ICML 2009</a:t>
            </a:r>
            <a:endParaRPr lang="en-US" sz="1100" dirty="0"/>
          </a:p>
        </p:txBody>
      </p:sp>
      <p:sp>
        <p:nvSpPr>
          <p:cNvPr id="4" name="Text 2"/>
          <p:cNvSpPr txBox="1"/>
          <p:nvPr/>
        </p:nvSpPr>
        <p:spPr>
          <a:xfrm>
            <a:off x="617220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39. Thompson: On the likelihood that one unknown probability exceeds another, Biometrika 1933</a:t>
            </a:r>
            <a:endParaRPr lang="en-US" sz="1100" dirty="0"/>
          </a:p>
          <a:p>
            <a:pPr indent="0" marL="0">
              <a:spcAft>
                <a:spcPts val="500"/>
              </a:spcAft>
              <a:buNone/>
            </a:pPr>
            <a:r>
              <a:rPr lang="en-US" sz="1100" dirty="0">
                <a:solidFill>
                  <a:srgbClr val="0A0A0B"/>
                </a:solidFill>
              </a:rPr>
              <a:t>40. Kim et al.: ProPerSim, proactive and personalized assistants, arXiv 2509.21730</a:t>
            </a:r>
            <a:endParaRPr lang="en-US" sz="1100" dirty="0"/>
          </a:p>
          <a:p>
            <a:pPr indent="0" marL="0">
              <a:spcAft>
                <a:spcPts val="500"/>
              </a:spcAft>
              <a:buNone/>
            </a:pPr>
            <a:r>
              <a:rPr lang="en-US" sz="1100" dirty="0">
                <a:solidFill>
                  <a:srgbClr val="0A0A0B"/>
                </a:solidFill>
              </a:rPr>
              <a:t>41. Mem0: scalable long-term memory for agents, arXiv 2504.19413</a:t>
            </a:r>
            <a:endParaRPr lang="en-US" sz="1100" dirty="0"/>
          </a:p>
          <a:p>
            <a:pPr indent="0" marL="0">
              <a:spcAft>
                <a:spcPts val="500"/>
              </a:spcAft>
              <a:buNone/>
            </a:pPr>
            <a:r>
              <a:rPr lang="en-US" sz="1100" dirty="0">
                <a:solidFill>
                  <a:srgbClr val="0A0A0B"/>
                </a:solidFill>
              </a:rPr>
              <a:t>42. PersonaMem: dynamic user preferences, arXiv 2504.14225</a:t>
            </a:r>
            <a:endParaRPr lang="en-US" sz="1100" dirty="0"/>
          </a:p>
          <a:p>
            <a:pPr indent="0" marL="0">
              <a:spcAft>
                <a:spcPts val="500"/>
              </a:spcAft>
              <a:buNone/>
            </a:pPr>
            <a:r>
              <a:rPr lang="en-US" sz="1100" dirty="0">
                <a:solidFill>
                  <a:srgbClr val="0A0A0B"/>
                </a:solidFill>
              </a:rPr>
              <a:t>43. JSONSchemaBench, arXiv 2501.10868</a:t>
            </a:r>
            <a:endParaRPr lang="en-US" sz="1100" dirty="0"/>
          </a:p>
          <a:p>
            <a:pPr indent="0" marL="0">
              <a:spcAft>
                <a:spcPts val="500"/>
              </a:spcAft>
              <a:buNone/>
            </a:pPr>
            <a:r>
              <a:rPr lang="en-US" sz="1100" dirty="0">
                <a:solidFill>
                  <a:srgbClr val="0A0A0B"/>
                </a:solidFill>
              </a:rPr>
              <a:t>44. ReliabilityBench, arXiv 2601.06112</a:t>
            </a:r>
            <a:endParaRPr lang="en-US" sz="1100" dirty="0"/>
          </a:p>
          <a:p>
            <a:pPr indent="0" marL="0">
              <a:spcAft>
                <a:spcPts val="500"/>
              </a:spcAft>
              <a:buNone/>
            </a:pPr>
            <a:r>
              <a:rPr lang="en-US" sz="1100" dirty="0">
                <a:solidFill>
                  <a:srgbClr val="0A0A0B"/>
                </a:solidFill>
              </a:rPr>
              <a:t>45. Speculative Actions, arXiv 2510.04371</a:t>
            </a:r>
            <a:endParaRPr lang="en-US" sz="1100" dirty="0"/>
          </a:p>
          <a:p>
            <a:pPr indent="0" marL="0">
              <a:spcAft>
                <a:spcPts val="500"/>
              </a:spcAft>
              <a:buNone/>
            </a:pPr>
            <a:r>
              <a:rPr lang="en-US" sz="1100" dirty="0">
                <a:solidFill>
                  <a:srgbClr val="0A0A0B"/>
                </a:solidFill>
              </a:rPr>
              <a:t>46. τ-bench: pass^k for tool agents, arXiv 2406.12045</a:t>
            </a:r>
            <a:endParaRPr lang="en-US" sz="1100" dirty="0"/>
          </a:p>
          <a:p>
            <a:pPr indent="0" marL="0">
              <a:spcAft>
                <a:spcPts val="500"/>
              </a:spcAft>
              <a:buNone/>
            </a:pPr>
            <a:r>
              <a:rPr lang="en-US" sz="1100" dirty="0">
                <a:solidFill>
                  <a:srgbClr val="0A0A0B"/>
                </a:solidFill>
              </a:rPr>
              <a:t>47. Sim2Real gap of simulated users, arXiv 2603.11245</a:t>
            </a:r>
            <a:endParaRPr lang="en-US" sz="1100" dirty="0"/>
          </a:p>
          <a:p>
            <a:pPr indent="0" marL="0">
              <a:spcAft>
                <a:spcPts val="500"/>
              </a:spcAft>
              <a:buNone/>
            </a:pPr>
            <a:r>
              <a:rPr lang="en-US" sz="1100" dirty="0">
                <a:solidFill>
                  <a:srgbClr val="0A0A0B"/>
                </a:solidFill>
              </a:rPr>
              <a:t>48. Magentic Marketplace, arXiv 2510.25779</a:t>
            </a:r>
            <a:endParaRPr lang="en-US" sz="1100" dirty="0"/>
          </a:p>
          <a:p>
            <a:pPr indent="0" marL="0">
              <a:spcAft>
                <a:spcPts val="500"/>
              </a:spcAft>
              <a:buNone/>
            </a:pPr>
            <a:r>
              <a:rPr lang="en-US" sz="1100" dirty="0">
                <a:solidFill>
                  <a:srgbClr val="0A0A0B"/>
                </a:solidFill>
              </a:rPr>
              <a:t>49. CalBench, arXiv 2605.09823</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technical report</dc:title>
  <dc:subject>PptxGenJS Presentation</dc:subject>
  <dc:creator>Serve</dc:creator>
  <cp:lastModifiedBy>Serve</cp:lastModifiedBy>
  <cp:revision>1</cp:revision>
  <dcterms:created xsi:type="dcterms:W3CDTF">2026-10-31T14:49:17Z</dcterms:created>
  <dcterms:modified xsi:type="dcterms:W3CDTF">2026-10-31T14:49:17Z</dcterms:modified>
</cp:coreProperties>
</file>