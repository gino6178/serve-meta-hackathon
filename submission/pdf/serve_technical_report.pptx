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Serve turns hours of back-and-forth into one yes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30, 25 rounds. After every round we fixed what they found, ran the unit tests, checked the pages in a browser, deployed, and started the next round with new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were the test setup, not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(resource ordering), all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With private calendars it found no more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answer now also teaches about similar hours: the first talk lands 68.9% to 73.7%. Every question is charged to the disclosure budget; at most 3 asks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3's letters in time order fixed the stated preference (26 of 32, Glimmer 27). In round 4, more teacher answers per case gave the best agreement; order augmentation nearly removed the order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answers more of the hardest (96.9%) but agrees less (61.2%), so the served threshold stays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the served int4 picks the same option on 492 of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decider's letters are not used as soft labels, and per-member shuffling stays off: no order kept preferences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gate (Thompson sampling with a burden cost), preference records (newest wins), tool checks (typed repair, postconditions), judging ahead (speculative actions), stretch round (graded costs), tiny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The 87 KB post prefilter stays off: it passed 0 of 762 hostile comments but only 11% of ordinary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answer.learn joins the 1B's sites; the post standard stays with Glimmer (8 of 71 hostile comments passed, against 0). SecAlign++ was tried and not kept: it blocked 8 of 32 ordinary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 | </a:t>
            </a:r>
            <a:pPr indent="0" marL="0">
              <a:buNone/>
            </a:pPr>
            <a:r>
              <a:rPr lang="en-US" sz="1100" dirty="0">
                <a:solidFill>
                  <a:srgbClr val="55555C"/>
                </a:solidFill>
              </a:rPr>
              <a:t>(a) Share of people who play a sport, by age (NPR, RWJF and Harvard Chan poll, 2015). (b) Barriers adults name for not playing regularly (Sport New Zealand, Active NZ, 2023). Talk answers the first barrier, Match the second, the agents the third.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helpers take the friction out, for anyone, anywhere</a:t>
            </a:r>
            <a:endParaRPr lang="en-US" sz="28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Body</a:t>
            </a:r>
            <a:endParaRPr lang="en-US" sz="1800" dirty="0"/>
          </a:p>
          <a:p>
            <a:pPr indent="0" marL="0">
              <a:buNone/>
            </a:pPr>
            <a:r>
              <a:rPr lang="en-US" sz="1200" dirty="0">
                <a:solidFill>
                  <a:srgbClr val="55555C"/>
                </a:solidFill>
              </a:rPr>
              <a:t>schedules around the body</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A body log and health-app export become scheduling limits: doubles while a knee is sore, one game fewer in a heavy week. Not medical advice.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153 AI agents in 25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 by round: bugs fell to zero, clean reports rose to 6 of 6</a:t>
            </a:r>
            <a:endParaRPr lang="en-US" sz="2800" dirty="0"/>
          </a:p>
        </p:txBody>
      </p:sp>
      <p:pic>
        <p:nvPicPr>
          <p:cNvPr id="3" name="Image 0" descr="preencoded.png">    </p:cNvPr>
          <p:cNvPicPr>
            <a:picLocks noChangeAspect="1"/>
          </p:cNvPicPr>
          <p:nvPr/>
        </p:nvPicPr>
        <p:blipFill>
          <a:blip r:embed="rId1"/>
          <a:stretch>
            <a:fillRect/>
          </a:stretch>
        </p:blipFill>
        <p:spPr>
          <a:xfrm>
            <a:off x="1985364" y="1188720"/>
            <a:ext cx="822096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2 | </a:t>
            </a:r>
            <a:pPr indent="0" marL="0">
              <a:buNone/>
            </a:pPr>
            <a:r>
              <a:rPr lang="en-US" sz="1100" dirty="0">
                <a:solidFill>
                  <a:srgbClr val="55555C"/>
                </a:solidFill>
              </a:rPr>
              <a:t>(a) Bugs reported per round by six fresh AI testers; from round 21 only core-flow bugs count (shaded). (b) Testers whose report came back clean. 153 testers in 25 rounds, 16,713 requests logged.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1966527" y="1188720"/>
            <a:ext cx="8258641"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3 | </a:t>
            </a:r>
            <a:pPr indent="0" marL="0">
              <a:buNone/>
            </a:pPr>
            <a:r>
              <a:rPr lang="en-US" sz="1100" dirty="0">
                <a:solidFill>
                  <a:srgbClr val="55555C"/>
                </a:solidFill>
              </a:rPr>
              <a:t>One row per tester session (rounds 4 to 25), one mark per request at its time since the session began: 10,135 answered (2xx), 1,389 refused, not found or invalid (4xx), no server errors (5xx).</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Holds stop double bookings; fair venues cost 2.3 min a game</a:t>
            </a:r>
            <a:endParaRPr lang="en-US" sz="2800" dirty="0"/>
          </a:p>
        </p:txBody>
      </p:sp>
      <p:pic>
        <p:nvPicPr>
          <p:cNvPr id="3" name="Image 0" descr="preencoded.png">    </p:cNvPr>
          <p:cNvPicPr>
            <a:picLocks noChangeAspect="1"/>
          </p:cNvPicPr>
          <p:nvPr/>
        </p:nvPicPr>
        <p:blipFill>
          <a:blip r:embed="rId1"/>
          <a:stretch>
            <a:fillRect/>
          </a:stretch>
        </p:blipFill>
        <p:spPr>
          <a:xfrm>
            <a:off x="1648444" y="1188720"/>
            <a:ext cx="889480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4 | </a:t>
            </a:r>
            <a:pPr indent="0" marL="0">
              <a:buNone/>
            </a:pPr>
            <a:r>
              <a:rPr lang="en-US" sz="1100" dirty="0">
                <a:solidFill>
                  <a:srgbClr val="55555C"/>
                </a:solidFill>
              </a:rPr>
              <a:t>(a) Pairs of simultaneous talks for one member that booked the member twice, without and with 30-minute holds (n = 12 each; 95% Wilson intervals). (b) Fairness score of the booked games under three venue rules (12 simulated games). Recovery: 20 of 20 checks with the gateway killed at 5 points; 22 of 22 across two machines.</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Ranking times by the chance everyone says yes</a:t>
            </a:r>
            <a:endParaRPr lang="en-US" sz="2800" dirty="0"/>
          </a:p>
        </p:txBody>
      </p:sp>
      <p:pic>
        <p:nvPicPr>
          <p:cNvPr id="3" name="Image 0" descr="preencoded.png">    </p:cNvPr>
          <p:cNvPicPr>
            <a:picLocks noChangeAspect="1"/>
          </p:cNvPicPr>
          <p:nvPr/>
        </p:nvPicPr>
        <p:blipFill>
          <a:blip r:embed="rId1"/>
          <a:stretch>
            <a:fillRect/>
          </a:stretch>
        </p:blipFill>
        <p:spPr>
          <a:xfrm>
            <a:off x="1924191" y="1188720"/>
            <a:ext cx="834331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5 | </a:t>
            </a:r>
            <a:pPr indent="0" marL="0">
              <a:buNone/>
            </a:pPr>
            <a:r>
              <a:rPr lang="en-US" sz="1100" dirty="0">
                <a:solidFill>
                  <a:srgbClr val="55555C"/>
                </a:solidFill>
              </a:rPr>
              <a:t>(a) Requests whose first proposed time keeps every player's rules, before (the time most players had free) and now (product of each player's chance of a yes, least-misery floor 0.15); 3,000 simulated requests each, 95% intervals. (b) Model choices left per doubles request.</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pic>
        <p:nvPicPr>
          <p:cNvPr id="3" name="Image 0" descr="preencoded.png">    </p:cNvPr>
          <p:cNvPicPr>
            <a:picLocks noChangeAspect="1"/>
          </p:cNvPicPr>
          <p:nvPr/>
        </p:nvPicPr>
        <p:blipFill>
          <a:blip r:embed="rId1"/>
          <a:stretch>
            <a:fillRect/>
          </a:stretch>
        </p:blipFill>
        <p:spPr>
          <a:xfrm>
            <a:off x="1871663" y="1188720"/>
            <a:ext cx="84483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6 | </a:t>
            </a:r>
            <a:pPr indent="0" marL="0">
              <a:buNone/>
            </a:pPr>
            <a:r>
              <a:rPr lang="en-US" sz="1100" dirty="0">
                <a:solidFill>
                  <a:srgbClr val="55555C"/>
                </a:solidFill>
              </a:rPr>
              <a:t>Games found after one yes-or-no question and one more talk, by question strategy; 20,000 simulated requests each (8 players, 6 times, hidden availability), 95% intervals. Beliefs are Beta posteriors over what each agent was seen to accept, never a calendar.</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pic>
        <p:nvPicPr>
          <p:cNvPr id="20" name="Image 0" descr="preencoded.png">    </p:cNvPr>
          <p:cNvPicPr>
            <a:picLocks noChangeAspect="1"/>
          </p:cNvPicPr>
          <p:nvPr/>
        </p:nvPicPr>
        <p:blipFill>
          <a:blip r:embed="rId1"/>
          <a:stretch>
            <a:fillRect/>
          </a:stretch>
        </p:blipFill>
        <p:spPr>
          <a:xfrm>
            <a:off x="6858000" y="2743200"/>
            <a:ext cx="4785055" cy="2440515"/>
          </a:xfrm>
          <a:prstGeom prst="rect">
            <a:avLst/>
          </a:prstGeom>
        </p:spPr>
      </p:pic>
      <p:sp>
        <p:nvSpPr>
          <p:cNvPr id="21" name="Text 18"/>
          <p:cNvSpPr txBox="1"/>
          <p:nvPr/>
        </p:nvSpPr>
        <p:spPr>
          <a:xfrm>
            <a:off x="6858000" y="5293443"/>
            <a:ext cx="4785055" cy="685800"/>
          </a:xfrm>
          <a:prstGeom prst="rect">
            <a:avLst/>
          </a:prstGeom>
          <a:noFill/>
          <a:ln/>
        </p:spPr>
        <p:txBody>
          <a:bodyPr wrap="square" lIns="0" tIns="0" rIns="0" bIns="0" rtlCol="0" anchor="t"/>
          <a:lstStyle/>
          <a:p>
            <a:pPr indent="0" marL="0">
              <a:buNone/>
            </a:pPr>
            <a:r>
              <a:rPr lang="en-US" sz="1100" b="1" dirty="0">
                <a:solidFill>
                  <a:srgbClr val="0A0A0B"/>
                </a:solidFill>
              </a:rPr>
              <a:t>Fig. 7 | </a:t>
            </a:r>
            <a:pPr indent="0" marL="0">
              <a:buNone/>
            </a:pPr>
            <a:r>
              <a:rPr lang="en-US" sz="1100" dirty="0">
                <a:solidFill>
                  <a:srgbClr val="55555C"/>
                </a:solidFill>
              </a:rPr>
              <a:t>Harmless changes rolled back in 20,000 simulated 7-day canaries of 5 members, looked at every 5 minutes (95% Wilson intervals). The price is caution: a bad change (thumbs down 25% to 60%) was caught in 61%.</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1B makes Glimmer's choice in 0.9 s instead of 40 s</a:t>
            </a:r>
            <a:endParaRPr lang="en-US" sz="2800" dirty="0"/>
          </a:p>
        </p:txBody>
      </p:sp>
      <p:pic>
        <p:nvPicPr>
          <p:cNvPr id="3" name="Image 0" descr="preencoded.png">    </p:cNvPr>
          <p:cNvPicPr>
            <a:picLocks noChangeAspect="1"/>
          </p:cNvPicPr>
          <p:nvPr/>
        </p:nvPicPr>
        <p:blipFill>
          <a:blip r:embed="rId1"/>
          <a:stretch>
            <a:fillRect/>
          </a:stretch>
        </p:blipFill>
        <p:spPr>
          <a:xfrm>
            <a:off x="1410504" y="1188720"/>
            <a:ext cx="937068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8 | </a:t>
            </a:r>
            <a:pPr indent="0" marL="0">
              <a:buNone/>
            </a:pPr>
            <a:r>
              <a:rPr lang="en-US" sz="1100" dirty="0">
                <a:solidFill>
                  <a:srgbClr val="55555C"/>
                </a:solidFill>
              </a:rPr>
              <a:t>Time for one choice between listed times (log scale). The 1B (Llama 3.2 1B distilled from 4,868 of Glimmer's choices, int4) runs on the CPU and agrees with Glimmer on 89.5% of 500 held-out cases, against Glimmer's 88.8% with itself.</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pic>
        <p:nvPicPr>
          <p:cNvPr id="3" name="Image 0" descr="preencoded.png">    </p:cNvPr>
          <p:cNvPicPr>
            <a:picLocks noChangeAspect="1"/>
          </p:cNvPicPr>
          <p:nvPr/>
        </p:nvPicPr>
        <p:blipFill>
          <a:blip r:embed="rId1"/>
          <a:stretch>
            <a:fillRect/>
          </a:stretch>
        </p:blipFill>
        <p:spPr>
          <a:xfrm>
            <a:off x="1240035" y="1188720"/>
            <a:ext cx="971162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9 | </a:t>
            </a:r>
            <a:pPr indent="0" marL="0">
              <a:buNone/>
            </a:pPr>
            <a:r>
              <a:rPr lang="en-US" sz="1100" dirty="0">
                <a:solidFill>
                  <a:srgbClr val="55555C"/>
                </a:solidFill>
              </a:rPr>
              <a:t>Case s009 from the 196 hardest (the asked time ends after the member's home-by limit). (a) The 1B's own reading of whether each time works, checked against code's before it may answer. (b) Its probabilities over the valid options: t2 at 0.673 clears the 0.6 threshold, and both of Glimmer's answers chose t2.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round 4's variants</a:t>
            </a:r>
            <a:endParaRPr lang="en-US" sz="2800" dirty="0"/>
          </a:p>
        </p:txBody>
      </p:sp>
      <p:pic>
        <p:nvPicPr>
          <p:cNvPr id="3" name="Image 0" descr="preencoded.png">    </p:cNvPr>
          <p:cNvPicPr>
            <a:picLocks noChangeAspect="1"/>
          </p:cNvPicPr>
          <p:nvPr/>
        </p:nvPicPr>
        <p:blipFill>
          <a:blip r:embed="rId1"/>
          <a:stretch>
            <a:fillRect/>
          </a:stretch>
        </p:blipFill>
        <p:spPr>
          <a:xfrm>
            <a:off x="1795016" y="1188720"/>
            <a:ext cx="860166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10 | </a:t>
            </a:r>
            <a:pPr indent="0" marL="0">
              <a:buNone/>
            </a:pPr>
            <a:r>
              <a:rPr lang="en-US" sz="1100" dirty="0">
                <a:solidFill>
                  <a:srgbClr val="55555C"/>
                </a:solidFill>
              </a:rPr>
              <a:t>(a) Agreement with Glimmer on the 196 hardest cases over three rounds (3B student; 95% intervals; dashed: Glimmer with itself). (b) Round 4 variants of the 1B (bf16): agreement with the majority of Glimmer's other answers against how often the pick changes when the list is reversed.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threshold decides what the 1B answers itself</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11 | </a:t>
            </a:r>
            <a:pPr indent="0" marL="0">
              <a:buNone/>
            </a:pPr>
            <a:r>
              <a:rPr lang="en-US" sz="1100" dirty="0">
                <a:solidFill>
                  <a:srgbClr val="55555C"/>
                </a:solidFill>
              </a:rPr>
              <a:t>Share of choices the served int4 1B answers itself, and its agreement with Glimmer (the rest answered by Glimmer), by confidence threshold. (a) 500 ordinary held-out cases. (b) The 196 hardest. Dashed: Glimmer with itself. Served at 0.6.</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a:t>
            </a:r>
            <a:endParaRPr lang="en-US" sz="2800" dirty="0"/>
          </a:p>
        </p:txBody>
      </p:sp>
      <p:pic>
        <p:nvPicPr>
          <p:cNvPr id="3" name="Image 0" descr="preencoded.png">    </p:cNvPr>
          <p:cNvPicPr>
            <a:picLocks noChangeAspect="1"/>
          </p:cNvPicPr>
          <p:nvPr/>
        </p:nvPicPr>
        <p:blipFill>
          <a:blip r:embed="rId1"/>
          <a:stretch>
            <a:fillRect/>
          </a:stretch>
        </p:blipFill>
        <p:spPr>
          <a:xfrm>
            <a:off x="3097763" y="1188720"/>
            <a:ext cx="599616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12 | </a:t>
            </a:r>
            <a:pPr indent="0" marL="0">
              <a:buNone/>
            </a:pPr>
            <a:r>
              <a:rPr lang="en-US" sz="1100" dirty="0">
                <a:solidFill>
                  <a:srgbClr val="55555C"/>
                </a:solidFill>
              </a:rPr>
              <a:t>Reliability of the 1B's confidence on 500 held-out cases: agreement with Glimmer against mean confidence per bin (marker size by bin size; 95% Wilson intervals; bins under 5 cases omitted). Expected calibration error 0.052.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one-token decider mostly reads the order, not the preference</a:t>
            </a:r>
            <a:endParaRPr lang="en-US" sz="2800" dirty="0"/>
          </a:p>
        </p:txBody>
      </p:sp>
      <p:pic>
        <p:nvPicPr>
          <p:cNvPr id="3" name="Image 0" descr="preencoded.png">    </p:cNvPr>
          <p:cNvPicPr>
            <a:picLocks noChangeAspect="1"/>
          </p:cNvPicPr>
          <p:nvPr/>
        </p:nvPicPr>
        <p:blipFill>
          <a:blip r:embed="rId1"/>
          <a:stretch>
            <a:fillRect/>
          </a:stretch>
        </p:blipFill>
        <p:spPr>
          <a:xfrm>
            <a:off x="866568" y="1188720"/>
            <a:ext cx="10458558"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13 | </a:t>
            </a:r>
            <a:pPr indent="0" marL="0">
              <a:buNone/>
            </a:pPr>
            <a:r>
              <a:rPr lang="en-US" sz="1100" dirty="0">
                <a:solidFill>
                  <a:srgbClr val="55555C"/>
                </a:solidFill>
              </a:rPr>
              <a:t>Picks that changed when only the order of the listed times changed, on the 196 hardest cases (95% Wilson intervals). Glimmer asked again in the same order is the baseline for its own sampling.</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Distillation techniques we tried, and what each did</a:t>
            </a:r>
            <a:endParaRPr lang="en-US" sz="28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hardest vs Glimmer's majority 71.5% → 73.0% (near run-to-run noise)</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reads sports injuries as medical advice</a:t>
            </a:r>
            <a:endParaRPr lang="en-US" sz="1700" dirty="0"/>
          </a:p>
          <a:p>
            <a:pPr indent="0" marL="0">
              <a:spcAft>
                <a:spcPts val="600"/>
              </a:spcAft>
              <a:buNone/>
            </a:pPr>
            <a:r>
              <a:rPr lang="en-US" sz="1400" dirty="0">
                <a:solidFill>
                  <a:srgbClr val="0A0A0B"/>
                </a:solidFill>
              </a:rPr>
              <a:t>Its S6 category flagged 6 to 8 of 15 ordinary injury-care answers; S6 now blocks only when code also finds a dose, a medicine or a condition.</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19202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192024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only five checked sites go to it.</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six agent upgrades</a:t>
            </a:r>
            <a:endParaRPr lang="en-US" sz="2800" dirty="0"/>
          </a:p>
        </p:txBody>
      </p:sp>
      <p:pic>
        <p:nvPicPr>
          <p:cNvPr id="3" name="Image 0" descr="preencoded.png">    </p:cNvPr>
          <p:cNvPicPr>
            <a:picLocks noChangeAspect="1"/>
          </p:cNvPicPr>
          <p:nvPr/>
        </p:nvPicPr>
        <p:blipFill>
          <a:blip r:embed="rId1"/>
          <a:stretch>
            <a:fillRect/>
          </a:stretch>
        </p:blipFill>
        <p:spPr>
          <a:xfrm>
            <a:off x="2619263" y="1188720"/>
            <a:ext cx="69531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14 | </a:t>
            </a:r>
            <a:pPr indent="0" marL="0">
              <a:buNone/>
            </a:pPr>
            <a:r>
              <a:rPr lang="en-US" sz="1100" dirty="0">
                <a:solidFill>
                  <a:srgbClr val="55555C"/>
                </a:solidFill>
              </a:rPr>
              <a:t>Each upgrade before and after, on its own scale. Send gate, preference records and the stretch round are simulated; tool checks use injected faults; courts judged ahead ran on the RTX 3090 (4 cities); the tiny layer is held-out agreement on the hardest choices, against the 1B.</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27.6 KB classifier in front of the 1B, on by default</a:t>
            </a:r>
            <a:endParaRPr lang="en-US" sz="2800" dirty="0"/>
          </a:p>
        </p:txBody>
      </p:sp>
      <p:pic>
        <p:nvPicPr>
          <p:cNvPr id="3" name="Image 0" descr="preencoded.png">    </p:cNvPr>
          <p:cNvPicPr>
            <a:picLocks noChangeAspect="1"/>
          </p:cNvPicPr>
          <p:nvPr/>
        </p:nvPicPr>
        <p:blipFill>
          <a:blip r:embed="rId1"/>
          <a:stretch>
            <a:fillRect/>
          </a:stretch>
        </p:blipFill>
        <p:spPr>
          <a:xfrm>
            <a:off x="2101820" y="1188720"/>
            <a:ext cx="7988055"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15 | </a:t>
            </a:r>
            <a:pPr indent="0" marL="0">
              <a:buNone/>
            </a:pPr>
            <a:r>
              <a:rPr lang="en-US" sz="1100" dirty="0">
                <a:solidFill>
                  <a:srgbClr val="55555C"/>
                </a:solidFill>
              </a:rPr>
              <a:t>Agreement with Glimmer over all held-out cases (95% Wilson intervals). The tiny layer is small MLPs over facts code holds, with a doubt model; 0.06 ms a choice. It answers 59.8% of ordinary choices itself at 4.3% disagreement and sends the rest on.</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1B distilled for short text resists attacks it never saw</a:t>
            </a:r>
            <a:endParaRPr lang="en-US" sz="2800" dirty="0"/>
          </a:p>
        </p:txBody>
      </p:sp>
      <p:pic>
        <p:nvPicPr>
          <p:cNvPr id="3" name="Image 0" descr="preencoded.png">    </p:cNvPr>
          <p:cNvPicPr>
            <a:picLocks noChangeAspect="1"/>
          </p:cNvPicPr>
          <p:nvPr/>
        </p:nvPicPr>
        <p:blipFill>
          <a:blip r:embed="rId1"/>
          <a:stretch>
            <a:fillRect/>
          </a:stretch>
        </p:blipFill>
        <p:spPr>
          <a:xfrm>
            <a:off x="1451733" y="1188720"/>
            <a:ext cx="928822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16 | </a:t>
            </a:r>
            <a:pPr indent="0" marL="0">
              <a:buNone/>
            </a:pPr>
            <a:r>
              <a:rPr lang="en-US" sz="1100" dirty="0">
                <a:solidFill>
                  <a:srgbClr val="55555C"/>
                </a:solidFill>
              </a:rPr>
              <a:t>Attacks that succeeded on 446 held-out items built from attack templates not used in training, for the model alone with no guards in front (95% Wilson intervals). SFT on Glimmer's answers plus attacked copies; outside text in its own input message.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Six flow bugs found by difficult simulated people, fixed</a:t>
            </a:r>
            <a:endParaRPr lang="en-US" sz="2800" dirty="0"/>
          </a:p>
        </p:txBody>
      </p:sp>
      <p:pic>
        <p:nvPicPr>
          <p:cNvPr id="3" name="Image 0" descr="preencoded.png">    </p:cNvPr>
          <p:cNvPicPr>
            <a:picLocks noChangeAspect="1"/>
          </p:cNvPicPr>
          <p:nvPr/>
        </p:nvPicPr>
        <p:blipFill>
          <a:blip r:embed="rId1"/>
          <a:stretch>
            <a:fillRect/>
          </a:stretch>
        </p:blipFill>
        <p:spPr>
          <a:xfrm>
            <a:off x="1778710" y="1188720"/>
            <a:ext cx="863427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17 | </a:t>
            </a:r>
            <a:pPr indent="0" marL="0">
              <a:buNone/>
            </a:pPr>
            <a:r>
              <a:rPr lang="en-US" sz="1100" dirty="0">
                <a:solidFill>
                  <a:srgbClr val="55555C"/>
                </a:solidFill>
              </a:rPr>
              <a:t>(a) Failures in 160 code-only runs with the difficult club (25% difficult people), before and after the fixes. (b) pass^k with Muse Glimmer (8 requests x 4 runs): a request counts only if every run succeeds. The pass^k gains are small and their intervals still include no change.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1 to 26, and where every number comes from</a:t>
            </a:r>
            <a:endParaRPr lang="en-US" sz="28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algorithm behind each part, with its reference</a:t>
            </a:r>
            <a:endParaRPr lang="en-US" sz="28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27 to 49: the algorithms we used</a:t>
            </a:r>
            <a:endParaRPr lang="en-US" sz="28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Serve">
  <a:themeElements>
    <a:clrScheme name="Serve">
      <a:dk1>
        <a:srgbClr val="0A0A0B"/>
      </a:dk1>
      <a:lt1>
        <a:srgbClr val="FFFFFF"/>
      </a:lt1>
      <a:dk2>
        <a:srgbClr val="14241B"/>
      </a:dk2>
      <a:lt2>
        <a:srgbClr val="F3F6F4"/>
      </a:lt2>
      <a:accent1>
        <a:srgbClr val="0A7F44"/>
      </a:accent1>
      <a:accent2>
        <a:srgbClr val="0064E0"/>
      </a:accent2>
      <a:accent3>
        <a:srgbClr val="D1352B"/>
      </a:accent3>
      <a:accent4>
        <a:srgbClr val="B26A00"/>
      </a:accent4>
      <a:accent5>
        <a:srgbClr val="55555C"/>
      </a:accent5>
      <a:accent6>
        <a:srgbClr val="8A8A92"/>
      </a:accent6>
      <a:hlink>
        <a:srgbClr val="0064E0"/>
      </a:hlink>
      <a:folHlink>
        <a:srgbClr val="55555C"/>
      </a:folHlink>
    </a:clrScheme>
    <a:fontScheme name="Serv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2026-10-31T10:11:30Z</dcterms:created>
  <dcterms:modified xsi:type="dcterms:W3CDTF">2026-10-31T10:11:30Z</dcterms:modified>
</cp:coreProperties>
</file>