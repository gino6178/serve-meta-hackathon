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3681b764-44ad-ebfe-6b26-5234ecc4fbb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Lst>
        </p14:section>
        <p14:section name="Appendix" id="{68edcb09-9353-2e06-2fd5-e0b022ca8728}">
          <p14:sldIdLst>
            <p14:sldId id="276"/>
            <p14:sldId id="277"/>
            <p14:sldId id="278"/>
            <p14:sldId id="279"/>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 95% intervals: the same within them</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vs itself [87.1–90.3]</c:v>
                  </c:pt>
                  <c:pt idx="1">
                    <c:v>First time listed</c:v>
                  </c:pt>
                  <c:pt idx="2">
                    <c:v>1B student [87.9–91.0]</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 (a small test)</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fitting it around work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示意圖：每個人都有自己的 agent，因為隱私，偏好只有 agent 知道（幾點有空、願意跑多遠、願意付多少），不會攤在群組裡。
左邊是今天：每個 agent 只認識自己的主人，也只能找通訊錄裡的人；朋友沒空就沒有下一步，而陌生人的 agent 又不知道能不能信。
右邊是 Serve：一個讓人和 agent 都能進出的地方。agent 帶著主人的偏好來揪團、找附近的夥伴，彼此只交換「可以／不行／原因」，偏好不離開 agent。
下面三個支柱：AI trust（真人出席率＋agent 守信率，每個 agent 有自己的金鑰、每則訊息都簽章）；Web3：不可竄改的信用帳本（每筆信用紀錄都是雜湊鏈上的一筆，含前一筆的雜湊；伺服器每天用自己的 Ed25519 金鑰簽下鏈尾；任何人都能從 /api/trust/chain 驗證，repo 裡有 verify_trust_chain.mjs；金鑰在你手上；沒有代幣、沒有手續費）；會進化的平台（agent 一直撞到的牆會變成社團的提案，大家投票，經過安全關卡後上線，平台跟著 agent 的需求改變）。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痛點二：人人都會有懂自己的 agent，但沒有一個人和 agent 都能出入的公共場所，agent 只能找通訊錄裡的老朋友；老朋友沒空，你還是打不成。
一旦走出朋友圈，馬上有兩個風險：真人會不會放鳥（人的風險）、對方的 agent 會不會替主人亂答應，或一直問人來拼湊別人的行程（agent 的風險）。
Serve 的解法：願意的人可以讓附近 5 公里內的 agent 來問；每個人有兩份紀錄，都由程式從實際發生的事算出：出席率（賽後球友一鍵確認誰有到，開打前 6 小時內退出算臨時放鳥），和 agent 守信率（agent 替你說 yes 之後你本人也說 yes 的比例），加上「一天問太多 agent」和「簽章失敗」兩個警示。
每場球可以設門檻：出席率不到的人排候補；守信率太低的 agent 不能替主人答應，改問本人。Serve 不收訂金、不經手錢。
右邊的情境是用測試帳號在本機跑出來的真實對話：Dan 的 agent 守信率 52%，所以直接問 Dan 本人；Bob 出席率 33%（3 場），進候補；Leo、Hana、Kenji 的 agent 談好週六 21:00，場館 agent 從 NT$410 談到 NT$280。正式站的紀錄從零開始累積。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冷啟動：agent 對 agent 需要雙方都在 Serve 上；第二個人怎麼來？靠邀請連結。跟 agent 說一句 → 分享連結到 LINE、WhatsApp 群組 → 對方沒帳號也能打開，看到球局和剩幾個名額（看不到誰報名）→ 登入一次就自動加入 → 滿團時每個人都收到 Game on，之後他自己的 agent 就能替他回覆。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 模型精簡版：六個撐起產品的模型（Muse Glimmer、Llama 3.2 1B 學生、Llama Guard 3、Prompt Guard 2、DRAMA、Muse Voice Transcribe），其他九個一行帶過，完整 15 格在附錄。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拿掉一個模型會怎樣：Glimmer（整個 agent 不能運作）、學生模型（每次決策從 0.9 秒變 40 秒，模擬中 Glimmer 回答多 54–67%）、DRAMA（第一個找到對的筆記從 0.60 掉到 0.35）、Llama Guard、Prompt Guard、Muse Voice。標明哪些是量測、哪些是設計上的。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真實與模擬一頁看清楚：左邊是真的（真人、真模型、真程式），右邊是模擬（測試用的社團與成員，都有標示）。模擬證明 agent 守住成員說過的話，不代表真人的反應；那是真人社團在量的。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開發範圍：比賽期間做的（全部程式碼、微調的 1B 學生模型、Demo 影片）、我之前就有的（TrackNetV5，關閉、本作品沒用到）、第三方照原樣使用的模型、軟體與資料。repo 歷史從 10/28（第二天）開始，900 多個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影片 2:27，三幕：一、冷啟動：Leo 沒有帳號，點連結就加入，Mia 同時收到 Game on（並排）；二、agent 透過 A2A 協商，Hana 的 agent 提出反提案（Messenger 裡一個 yes 就訂好也在這一幕）；三、找球場：Prompt Guard 2 先過濾評論，再由 Muse Glimmer 判斷（14 倍速，有標示），然後是社團。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找出值得分享的片刻（自動剪輯，不做動作分析）→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2.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2.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jpeg"/><Relationship Id="rId3" Type="http://schemas.openxmlformats.org/officeDocument/2006/relationships/image" Target="../media/image-19-3.jpe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jpeg"/><Relationship Id="rId3" Type="http://schemas.openxmlformats.org/officeDocument/2006/relationships/image" Target="../media/image-24-3.jpe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video" Target="../media/media-25-1.mp4"/><Relationship Id="rId2" Type="http://schemas.microsoft.com/office/2007/relationships/media" Target="../media/media-25-1.mp4"/><Relationship Id="rId3" Type="http://schemas.openxmlformats.org/officeDocument/2006/relationships/image" Target="../media/image-25-3.png"/><Relationship Id="rId4" Type="http://schemas.openxmlformats.org/officeDocument/2006/relationships/image" Target="../media/image-25-4.jpeg"/><Relationship Id="rId5" Type="http://schemas.openxmlformats.org/officeDocument/2006/relationships/image" Target="../media/image-25-5.jpeg"/><Relationship Id="rId6" Type="http://schemas.openxmlformats.org/officeDocument/2006/relationships/image" Target="../media/image-25-6.jpeg"/><Relationship Id="rId7" Type="http://schemas.openxmlformats.org/officeDocument/2006/relationships/image" Target="../media/image-25-7.jpe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3" name="Text 1"/>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4" name="Shape 2"/>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5" name="Text 3"/>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6" name="Shape 4"/>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7" name="Text 5"/>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8" name="Shape 6"/>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9" name="Text 7"/>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84048" cy="384048"/>
          </a:xfrm>
          <a:prstGeom prst="rect">
            <a:avLst/>
          </a:prstGeom>
        </p:spPr>
      </p:pic>
      <p:sp>
        <p:nvSpPr>
          <p:cNvPr id="11" name="Text 8"/>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Six Meta models carry it; 15 used in all</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 (NZ)</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late meeting,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moves the game, plans one fewer in a heavy week,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THE PROBLEM</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Everyone will have an agent, with nowhere to meet</a:t>
            </a:r>
            <a:endParaRPr lang="en-US" sz="3200" dirty="0"/>
          </a:p>
        </p:txBody>
      </p:sp>
      <p:sp>
        <p:nvSpPr>
          <p:cNvPr id="5" name="Shape 2"/>
          <p:cNvSpPr/>
          <p:nvPr/>
        </p:nvSpPr>
        <p:spPr>
          <a:xfrm>
            <a:off x="548640" y="1645920"/>
            <a:ext cx="5074920" cy="3246120"/>
          </a:xfrm>
          <a:prstGeom prst="roundRect">
            <a:avLst>
              <a:gd name="adj" fmla="val 3380"/>
            </a:avLst>
          </a:prstGeom>
          <a:solidFill>
            <a:srgbClr val="F6F7F8"/>
          </a:solidFill>
          <a:ln w="12700">
            <a:solidFill>
              <a:srgbClr val="F6F7F8"/>
            </a:solidFill>
            <a:prstDash val="solid"/>
          </a:ln>
        </p:spPr>
      </p:sp>
      <p:sp>
        <p:nvSpPr>
          <p:cNvPr id="6" name="Text 3"/>
          <p:cNvSpPr txBox="1"/>
          <p:nvPr/>
        </p:nvSpPr>
        <p:spPr>
          <a:xfrm>
            <a:off x="777240" y="1783080"/>
            <a:ext cx="2743200" cy="256032"/>
          </a:xfrm>
          <a:prstGeom prst="rect">
            <a:avLst/>
          </a:prstGeom>
          <a:noFill/>
          <a:ln/>
        </p:spPr>
        <p:txBody>
          <a:bodyPr wrap="square" lIns="0" tIns="0" rIns="0" bIns="0" rtlCol="0" anchor="t"/>
          <a:lstStyle/>
          <a:p>
            <a:pPr indent="0" marL="0">
              <a:buNone/>
            </a:pPr>
            <a:r>
              <a:rPr lang="en-US" sz="1100" b="1" spc="100" kern="0" dirty="0">
                <a:solidFill>
                  <a:srgbClr val="D1352B"/>
                </a:solidFill>
              </a:rPr>
              <a:t>TODAY</a:t>
            </a:r>
            <a:endParaRPr lang="en-US" sz="1100" dirty="0"/>
          </a:p>
        </p:txBody>
      </p:sp>
      <p:sp>
        <p:nvSpPr>
          <p:cNvPr id="7" name="Shape 4"/>
          <p:cNvSpPr/>
          <p:nvPr/>
        </p:nvSpPr>
        <p:spPr>
          <a:xfrm>
            <a:off x="777240" y="2240280"/>
            <a:ext cx="566928" cy="566928"/>
          </a:xfrm>
          <a:prstGeom prst="ellipse">
            <a:avLst/>
          </a:prstGeom>
          <a:solidFill>
            <a:srgbClr val="FFFFFF"/>
          </a:solidFill>
          <a:ln w="15875">
            <a:solidFill>
              <a:srgbClr val="DCDCE0"/>
            </a:solidFill>
            <a:prstDash val="solid"/>
          </a:ln>
        </p:spPr>
      </p:sp>
      <p:sp>
        <p:nvSpPr>
          <p:cNvPr id="8" name="Text 5"/>
          <p:cNvSpPr txBox="1"/>
          <p:nvPr/>
        </p:nvSpPr>
        <p:spPr>
          <a:xfrm>
            <a:off x="777240" y="2240280"/>
            <a:ext cx="566928" cy="566928"/>
          </a:xfrm>
          <a:prstGeom prst="rect">
            <a:avLst/>
          </a:prstGeom>
          <a:noFill/>
          <a:ln/>
        </p:spPr>
        <p:txBody>
          <a:bodyPr wrap="square" lIns="0" tIns="0" rIns="0" bIns="0" rtlCol="0" anchor="ctr"/>
          <a:lstStyle/>
          <a:p>
            <a:pPr algn="ctr" indent="0" marL="0">
              <a:buNone/>
            </a:pPr>
            <a:r>
              <a:rPr lang="en-US" sz="1300" b="1" dirty="0">
                <a:solidFill>
                  <a:srgbClr val="0A0A0B"/>
                </a:solidFill>
              </a:rPr>
              <a:t>A</a:t>
            </a:r>
            <a:endParaRPr lang="en-US" sz="1300" dirty="0"/>
          </a:p>
        </p:txBody>
      </p:sp>
      <p:sp>
        <p:nvSpPr>
          <p:cNvPr id="9" name="Shape 6"/>
          <p:cNvSpPr/>
          <p:nvPr/>
        </p:nvSpPr>
        <p:spPr>
          <a:xfrm>
            <a:off x="1435608" y="2221992"/>
            <a:ext cx="1572768" cy="603504"/>
          </a:xfrm>
          <a:prstGeom prst="roundRect">
            <a:avLst>
              <a:gd name="adj" fmla="val 15152"/>
            </a:avLst>
          </a:prstGeom>
          <a:solidFill>
            <a:srgbClr val="E9F3EC"/>
          </a:solidFill>
          <a:ln w="12700">
            <a:solidFill>
              <a:srgbClr val="0A7F44"/>
            </a:solidFill>
            <a:prstDash val="solid"/>
          </a:ln>
        </p:spPr>
      </p:sp>
      <p:sp>
        <p:nvSpPr>
          <p:cNvPr id="10" name="Text 7"/>
          <p:cNvSpPr txBox="1"/>
          <p:nvPr/>
        </p:nvSpPr>
        <p:spPr>
          <a:xfrm>
            <a:off x="1527048" y="2258568"/>
            <a:ext cx="1444752" cy="548640"/>
          </a:xfrm>
          <a:prstGeom prst="rect">
            <a:avLst/>
          </a:prstGeom>
          <a:noFill/>
          <a:ln/>
        </p:spPr>
        <p:txBody>
          <a:bodyPr wrap="square" lIns="0" tIns="0" rIns="0" bIns="0" rtlCol="0" anchor="ctr"/>
          <a:lstStyle/>
          <a:p>
            <a:pPr indent="0" marL="0">
              <a:buNone/>
            </a:pPr>
            <a:r>
              <a:rPr lang="en-US" sz="1000" b="1" dirty="0">
                <a:solidFill>
                  <a:srgbClr val="0A7F44"/>
                </a:solidFill>
              </a:rPr>
              <a:t>Agent · private
</a:t>
            </a:r>
            <a:pPr indent="0" marL="0">
              <a:buNone/>
            </a:pPr>
            <a:r>
              <a:rPr lang="en-US" sz="950" dirty="0">
                <a:solidFill>
                  <a:srgbClr val="0A0A0B"/>
                </a:solidFill>
              </a:rPr>
              <a:t>Thu evenings · within 3 km</a:t>
            </a:r>
            <a:endParaRPr lang="en-US" sz="1400" dirty="0"/>
          </a:p>
        </p:txBody>
      </p:sp>
      <p:sp>
        <p:nvSpPr>
          <p:cNvPr id="11" name="Shape 8"/>
          <p:cNvSpPr/>
          <p:nvPr/>
        </p:nvSpPr>
        <p:spPr>
          <a:xfrm>
            <a:off x="3108960" y="2240280"/>
            <a:ext cx="566928" cy="566928"/>
          </a:xfrm>
          <a:prstGeom prst="ellipse">
            <a:avLst/>
          </a:prstGeom>
          <a:solidFill>
            <a:srgbClr val="FFFFFF"/>
          </a:solidFill>
          <a:ln w="15875">
            <a:solidFill>
              <a:srgbClr val="DCDCE0"/>
            </a:solidFill>
            <a:prstDash val="solid"/>
          </a:ln>
        </p:spPr>
      </p:sp>
      <p:sp>
        <p:nvSpPr>
          <p:cNvPr id="12" name="Text 9"/>
          <p:cNvSpPr txBox="1"/>
          <p:nvPr/>
        </p:nvSpPr>
        <p:spPr>
          <a:xfrm>
            <a:off x="3108960" y="2240280"/>
            <a:ext cx="566928" cy="566928"/>
          </a:xfrm>
          <a:prstGeom prst="rect">
            <a:avLst/>
          </a:prstGeom>
          <a:noFill/>
          <a:ln/>
        </p:spPr>
        <p:txBody>
          <a:bodyPr wrap="square" lIns="0" tIns="0" rIns="0" bIns="0" rtlCol="0" anchor="ctr"/>
          <a:lstStyle/>
          <a:p>
            <a:pPr algn="ctr" indent="0" marL="0">
              <a:buNone/>
            </a:pPr>
            <a:r>
              <a:rPr lang="en-US" sz="1300" b="1" dirty="0">
                <a:solidFill>
                  <a:srgbClr val="0A0A0B"/>
                </a:solidFill>
              </a:rPr>
              <a:t>B</a:t>
            </a:r>
            <a:endParaRPr lang="en-US" sz="1300" dirty="0"/>
          </a:p>
        </p:txBody>
      </p:sp>
      <p:sp>
        <p:nvSpPr>
          <p:cNvPr id="13" name="Shape 10"/>
          <p:cNvSpPr/>
          <p:nvPr/>
        </p:nvSpPr>
        <p:spPr>
          <a:xfrm>
            <a:off x="3767328" y="2221992"/>
            <a:ext cx="1572768" cy="603504"/>
          </a:xfrm>
          <a:prstGeom prst="roundRect">
            <a:avLst>
              <a:gd name="adj" fmla="val 15152"/>
            </a:avLst>
          </a:prstGeom>
          <a:solidFill>
            <a:srgbClr val="E9F3EC"/>
          </a:solidFill>
          <a:ln w="12700">
            <a:solidFill>
              <a:srgbClr val="0A7F44"/>
            </a:solidFill>
            <a:prstDash val="solid"/>
          </a:ln>
        </p:spPr>
      </p:sp>
      <p:sp>
        <p:nvSpPr>
          <p:cNvPr id="14" name="Text 11"/>
          <p:cNvSpPr txBox="1"/>
          <p:nvPr/>
        </p:nvSpPr>
        <p:spPr>
          <a:xfrm>
            <a:off x="3858768" y="2258568"/>
            <a:ext cx="1444752" cy="548640"/>
          </a:xfrm>
          <a:prstGeom prst="rect">
            <a:avLst/>
          </a:prstGeom>
          <a:noFill/>
          <a:ln/>
        </p:spPr>
        <p:txBody>
          <a:bodyPr wrap="square" lIns="0" tIns="0" rIns="0" bIns="0" rtlCol="0" anchor="ctr"/>
          <a:lstStyle/>
          <a:p>
            <a:pPr indent="0" marL="0">
              <a:buNone/>
            </a:pPr>
            <a:r>
              <a:rPr lang="en-US" sz="1000" b="1" dirty="0">
                <a:solidFill>
                  <a:srgbClr val="0A7F44"/>
                </a:solidFill>
              </a:rPr>
              <a:t>Agent · private
</a:t>
            </a:r>
            <a:pPr indent="0" marL="0">
              <a:buNone/>
            </a:pPr>
            <a:r>
              <a:rPr lang="en-US" sz="950" dirty="0">
                <a:solidFill>
                  <a:srgbClr val="0A0A0B"/>
                </a:solidFill>
              </a:rPr>
              <a:t>Weekends · under NT$100</a:t>
            </a:r>
            <a:endParaRPr lang="en-US" sz="1400" dirty="0"/>
          </a:p>
        </p:txBody>
      </p:sp>
      <p:sp>
        <p:nvSpPr>
          <p:cNvPr id="15" name="Shape 12"/>
          <p:cNvSpPr/>
          <p:nvPr/>
        </p:nvSpPr>
        <p:spPr>
          <a:xfrm>
            <a:off x="777240" y="3429000"/>
            <a:ext cx="566928" cy="566928"/>
          </a:xfrm>
          <a:prstGeom prst="ellipse">
            <a:avLst/>
          </a:prstGeom>
          <a:solidFill>
            <a:srgbClr val="FFFFFF"/>
          </a:solidFill>
          <a:ln w="15875">
            <a:solidFill>
              <a:srgbClr val="DCDCE0"/>
            </a:solidFill>
            <a:prstDash val="solid"/>
          </a:ln>
        </p:spPr>
      </p:sp>
      <p:sp>
        <p:nvSpPr>
          <p:cNvPr id="16" name="Text 13"/>
          <p:cNvSpPr txBox="1"/>
          <p:nvPr/>
        </p:nvSpPr>
        <p:spPr>
          <a:xfrm>
            <a:off x="777240" y="3429000"/>
            <a:ext cx="566928" cy="566928"/>
          </a:xfrm>
          <a:prstGeom prst="rect">
            <a:avLst/>
          </a:prstGeom>
          <a:noFill/>
          <a:ln/>
        </p:spPr>
        <p:txBody>
          <a:bodyPr wrap="square" lIns="0" tIns="0" rIns="0" bIns="0" rtlCol="0" anchor="ctr"/>
          <a:lstStyle/>
          <a:p>
            <a:pPr algn="ctr" indent="0" marL="0">
              <a:buNone/>
            </a:pPr>
            <a:r>
              <a:rPr lang="en-US" sz="1300" b="1" dirty="0">
                <a:solidFill>
                  <a:srgbClr val="0A0A0B"/>
                </a:solidFill>
              </a:rPr>
              <a:t>C</a:t>
            </a:r>
            <a:endParaRPr lang="en-US" sz="1300" dirty="0"/>
          </a:p>
        </p:txBody>
      </p:sp>
      <p:sp>
        <p:nvSpPr>
          <p:cNvPr id="17" name="Shape 14"/>
          <p:cNvSpPr/>
          <p:nvPr/>
        </p:nvSpPr>
        <p:spPr>
          <a:xfrm>
            <a:off x="1435608" y="3410712"/>
            <a:ext cx="1572768" cy="603504"/>
          </a:xfrm>
          <a:prstGeom prst="roundRect">
            <a:avLst>
              <a:gd name="adj" fmla="val 15152"/>
            </a:avLst>
          </a:prstGeom>
          <a:solidFill>
            <a:srgbClr val="E9F3EC"/>
          </a:solidFill>
          <a:ln w="12700">
            <a:solidFill>
              <a:srgbClr val="0A7F44"/>
            </a:solidFill>
            <a:prstDash val="solid"/>
          </a:ln>
        </p:spPr>
      </p:sp>
      <p:sp>
        <p:nvSpPr>
          <p:cNvPr id="18" name="Text 15"/>
          <p:cNvSpPr txBox="1"/>
          <p:nvPr/>
        </p:nvSpPr>
        <p:spPr>
          <a:xfrm>
            <a:off x="1527048" y="3447288"/>
            <a:ext cx="1444752" cy="548640"/>
          </a:xfrm>
          <a:prstGeom prst="rect">
            <a:avLst/>
          </a:prstGeom>
          <a:noFill/>
          <a:ln/>
        </p:spPr>
        <p:txBody>
          <a:bodyPr wrap="square" lIns="0" tIns="0" rIns="0" bIns="0" rtlCol="0" anchor="ctr"/>
          <a:lstStyle/>
          <a:p>
            <a:pPr indent="0" marL="0">
              <a:buNone/>
            </a:pPr>
            <a:r>
              <a:rPr lang="en-US" sz="1000" b="1" dirty="0">
                <a:solidFill>
                  <a:srgbClr val="0A7F44"/>
                </a:solidFill>
              </a:rPr>
              <a:t>Agent · private
</a:t>
            </a:r>
            <a:pPr indent="0" marL="0">
              <a:buNone/>
            </a:pPr>
            <a:r>
              <a:rPr lang="en-US" sz="950" dirty="0">
                <a:solidFill>
                  <a:srgbClr val="0A0A0B"/>
                </a:solidFill>
              </a:rPr>
              <a:t>Quiet courts · any day</a:t>
            </a:r>
            <a:endParaRPr lang="en-US" sz="1400" dirty="0"/>
          </a:p>
        </p:txBody>
      </p:sp>
      <p:sp>
        <p:nvSpPr>
          <p:cNvPr id="19" name="Shape 16"/>
          <p:cNvSpPr/>
          <p:nvPr/>
        </p:nvSpPr>
        <p:spPr>
          <a:xfrm>
            <a:off x="3108960" y="3429000"/>
            <a:ext cx="566928" cy="566928"/>
          </a:xfrm>
          <a:prstGeom prst="ellipse">
            <a:avLst/>
          </a:prstGeom>
          <a:solidFill>
            <a:srgbClr val="FFFFFF"/>
          </a:solidFill>
          <a:ln w="15875">
            <a:solidFill>
              <a:srgbClr val="DCDCE0"/>
            </a:solidFill>
            <a:prstDash val="solid"/>
          </a:ln>
        </p:spPr>
      </p:sp>
      <p:sp>
        <p:nvSpPr>
          <p:cNvPr id="20" name="Text 17"/>
          <p:cNvSpPr txBox="1"/>
          <p:nvPr/>
        </p:nvSpPr>
        <p:spPr>
          <a:xfrm>
            <a:off x="3108960" y="3429000"/>
            <a:ext cx="566928" cy="566928"/>
          </a:xfrm>
          <a:prstGeom prst="rect">
            <a:avLst/>
          </a:prstGeom>
          <a:noFill/>
          <a:ln/>
        </p:spPr>
        <p:txBody>
          <a:bodyPr wrap="square" lIns="0" tIns="0" rIns="0" bIns="0" rtlCol="0" anchor="ctr"/>
          <a:lstStyle/>
          <a:p>
            <a:pPr algn="ctr" indent="0" marL="0">
              <a:buNone/>
            </a:pPr>
            <a:r>
              <a:rPr lang="en-US" sz="1300" b="1" dirty="0">
                <a:solidFill>
                  <a:srgbClr val="0A0A0B"/>
                </a:solidFill>
              </a:rPr>
              <a:t>D</a:t>
            </a:r>
            <a:endParaRPr lang="en-US" sz="1300" dirty="0"/>
          </a:p>
        </p:txBody>
      </p:sp>
      <p:sp>
        <p:nvSpPr>
          <p:cNvPr id="21" name="Shape 18"/>
          <p:cNvSpPr/>
          <p:nvPr/>
        </p:nvSpPr>
        <p:spPr>
          <a:xfrm>
            <a:off x="3767328" y="3410712"/>
            <a:ext cx="1572768" cy="603504"/>
          </a:xfrm>
          <a:prstGeom prst="roundRect">
            <a:avLst>
              <a:gd name="adj" fmla="val 15152"/>
            </a:avLst>
          </a:prstGeom>
          <a:solidFill>
            <a:srgbClr val="E9F3EC"/>
          </a:solidFill>
          <a:ln w="12700">
            <a:solidFill>
              <a:srgbClr val="0A7F44"/>
            </a:solidFill>
            <a:prstDash val="solid"/>
          </a:ln>
        </p:spPr>
      </p:sp>
      <p:sp>
        <p:nvSpPr>
          <p:cNvPr id="22" name="Text 19"/>
          <p:cNvSpPr txBox="1"/>
          <p:nvPr/>
        </p:nvSpPr>
        <p:spPr>
          <a:xfrm>
            <a:off x="3858768" y="3447288"/>
            <a:ext cx="1444752" cy="548640"/>
          </a:xfrm>
          <a:prstGeom prst="rect">
            <a:avLst/>
          </a:prstGeom>
          <a:noFill/>
          <a:ln/>
        </p:spPr>
        <p:txBody>
          <a:bodyPr wrap="square" lIns="0" tIns="0" rIns="0" bIns="0" rtlCol="0" anchor="ctr"/>
          <a:lstStyle/>
          <a:p>
            <a:pPr indent="0" marL="0">
              <a:buNone/>
            </a:pPr>
            <a:r>
              <a:rPr lang="en-US" sz="1000" b="1" dirty="0">
                <a:solidFill>
                  <a:srgbClr val="0A7F44"/>
                </a:solidFill>
              </a:rPr>
              <a:t>Agent · private
</a:t>
            </a:r>
            <a:pPr indent="0" marL="0">
              <a:buNone/>
            </a:pPr>
            <a:r>
              <a:rPr lang="en-US" sz="950" dirty="0">
                <a:solidFill>
                  <a:srgbClr val="0A0A0B"/>
                </a:solidFill>
              </a:rPr>
              <a:t>Early mornings · near work</a:t>
            </a:r>
            <a:endParaRPr lang="en-US" sz="1400" dirty="0"/>
          </a:p>
        </p:txBody>
      </p:sp>
      <p:sp>
        <p:nvSpPr>
          <p:cNvPr id="23" name="Shape 20"/>
          <p:cNvSpPr/>
          <p:nvPr/>
        </p:nvSpPr>
        <p:spPr>
          <a:xfrm>
            <a:off x="2221992" y="2862072"/>
            <a:ext cx="0" cy="530352"/>
          </a:xfrm>
          <a:prstGeom prst="line">
            <a:avLst/>
          </a:prstGeom>
          <a:noFill/>
          <a:ln w="15875">
            <a:solidFill>
              <a:srgbClr val="D1352B"/>
            </a:solidFill>
            <a:prstDash val="dash"/>
          </a:ln>
        </p:spPr>
      </p:sp>
      <p:sp>
        <p:nvSpPr>
          <p:cNvPr id="24" name="Shape 21"/>
          <p:cNvSpPr/>
          <p:nvPr/>
        </p:nvSpPr>
        <p:spPr>
          <a:xfrm>
            <a:off x="4553712" y="2862072"/>
            <a:ext cx="0" cy="530352"/>
          </a:xfrm>
          <a:prstGeom prst="line">
            <a:avLst/>
          </a:prstGeom>
          <a:noFill/>
          <a:ln w="15875">
            <a:solidFill>
              <a:srgbClr val="D1352B"/>
            </a:solidFill>
            <a:prstDash val="dash"/>
          </a:ln>
        </p:spPr>
      </p:sp>
      <p:sp>
        <p:nvSpPr>
          <p:cNvPr id="25" name="Text 22"/>
          <p:cNvSpPr txBox="1"/>
          <p:nvPr/>
        </p:nvSpPr>
        <p:spPr>
          <a:xfrm>
            <a:off x="2331720" y="2990088"/>
            <a:ext cx="274320" cy="274320"/>
          </a:xfrm>
          <a:prstGeom prst="rect">
            <a:avLst/>
          </a:prstGeom>
          <a:noFill/>
          <a:ln/>
        </p:spPr>
        <p:txBody>
          <a:bodyPr wrap="square" lIns="0" tIns="0" rIns="0" bIns="0" rtlCol="0" anchor="t"/>
          <a:lstStyle/>
          <a:p>
            <a:pPr indent="0" marL="0">
              <a:buNone/>
            </a:pPr>
            <a:r>
              <a:rPr lang="en-US" sz="1400" b="1" dirty="0">
                <a:solidFill>
                  <a:srgbClr val="D1352B"/>
                </a:solidFill>
              </a:rPr>
              <a:t>?</a:t>
            </a:r>
            <a:endParaRPr lang="en-US" sz="1400" dirty="0"/>
          </a:p>
        </p:txBody>
      </p:sp>
      <p:sp>
        <p:nvSpPr>
          <p:cNvPr id="26" name="Text 23"/>
          <p:cNvSpPr txBox="1"/>
          <p:nvPr/>
        </p:nvSpPr>
        <p:spPr>
          <a:xfrm>
            <a:off x="4663440" y="2990088"/>
            <a:ext cx="274320" cy="274320"/>
          </a:xfrm>
          <a:prstGeom prst="rect">
            <a:avLst/>
          </a:prstGeom>
          <a:noFill/>
          <a:ln/>
        </p:spPr>
        <p:txBody>
          <a:bodyPr wrap="square" lIns="0" tIns="0" rIns="0" bIns="0" rtlCol="0" anchor="t"/>
          <a:lstStyle/>
          <a:p>
            <a:pPr indent="0" marL="0">
              <a:buNone/>
            </a:pPr>
            <a:r>
              <a:rPr lang="en-US" sz="1400" b="1" dirty="0">
                <a:solidFill>
                  <a:srgbClr val="D1352B"/>
                </a:solidFill>
              </a:rPr>
              <a:t>?</a:t>
            </a:r>
            <a:endParaRPr lang="en-US" sz="1400" dirty="0"/>
          </a:p>
        </p:txBody>
      </p:sp>
      <p:sp>
        <p:nvSpPr>
          <p:cNvPr id="27" name="Text 24"/>
          <p:cNvSpPr txBox="1"/>
          <p:nvPr/>
        </p:nvSpPr>
        <p:spPr>
          <a:xfrm>
            <a:off x="777240" y="4160520"/>
            <a:ext cx="4663440" cy="685800"/>
          </a:xfrm>
          <a:prstGeom prst="rect">
            <a:avLst/>
          </a:prstGeom>
          <a:noFill/>
          <a:ln/>
        </p:spPr>
        <p:txBody>
          <a:bodyPr wrap="square" lIns="0" tIns="0" rIns="0" bIns="0" rtlCol="0" anchor="t"/>
          <a:lstStyle/>
          <a:p>
            <a:pPr indent="0" marL="0">
              <a:buNone/>
            </a:pPr>
            <a:r>
              <a:rPr lang="en-US" sz="1100" dirty="0">
                <a:solidFill>
                  <a:srgbClr val="55555C"/>
                </a:solidFill>
              </a:rPr>
              <a:t>Only each agent knows its person's times, distance and price: that stays private. But an agent can only message its own contacts, and has no way to know which strangers' agents to trust.</a:t>
            </a:r>
            <a:endParaRPr lang="en-US" sz="1100" dirty="0"/>
          </a:p>
        </p:txBody>
      </p:sp>
      <p:sp>
        <p:nvSpPr>
          <p:cNvPr id="28" name="Shape 25"/>
          <p:cNvSpPr/>
          <p:nvPr/>
        </p:nvSpPr>
        <p:spPr>
          <a:xfrm>
            <a:off x="5687568" y="3246120"/>
            <a:ext cx="411480" cy="0"/>
          </a:xfrm>
          <a:prstGeom prst="line">
            <a:avLst/>
          </a:prstGeom>
          <a:noFill/>
          <a:ln w="31750">
            <a:solidFill>
              <a:srgbClr val="0A7F44"/>
            </a:solidFill>
            <a:prstDash val="solid"/>
            <a:tailEnd type="triangle"/>
          </a:ln>
        </p:spPr>
      </p:sp>
      <p:sp>
        <p:nvSpPr>
          <p:cNvPr id="29" name="Shape 26"/>
          <p:cNvSpPr/>
          <p:nvPr/>
        </p:nvSpPr>
        <p:spPr>
          <a:xfrm>
            <a:off x="6172200" y="1645920"/>
            <a:ext cx="5440680" cy="3246120"/>
          </a:xfrm>
          <a:prstGeom prst="roundRect">
            <a:avLst>
              <a:gd name="adj" fmla="val 3380"/>
            </a:avLst>
          </a:prstGeom>
          <a:solidFill>
            <a:srgbClr val="E9F3EC"/>
          </a:solidFill>
          <a:ln w="12700">
            <a:solidFill>
              <a:srgbClr val="E9F3EC"/>
            </a:solidFill>
            <a:prstDash val="solid"/>
          </a:ln>
        </p:spPr>
      </p:sp>
      <p:sp>
        <p:nvSpPr>
          <p:cNvPr id="30" name="Text 27"/>
          <p:cNvSpPr txBox="1"/>
          <p:nvPr/>
        </p:nvSpPr>
        <p:spPr>
          <a:xfrm>
            <a:off x="6400800" y="1783080"/>
            <a:ext cx="5120640" cy="256032"/>
          </a:xfrm>
          <a:prstGeom prst="rect">
            <a:avLst/>
          </a:prstGeom>
          <a:noFill/>
          <a:ln/>
        </p:spPr>
        <p:txBody>
          <a:bodyPr wrap="square" lIns="0" tIns="0" rIns="0" bIns="0" rtlCol="0" anchor="t"/>
          <a:lstStyle/>
          <a:p>
            <a:pPr indent="0" marL="0">
              <a:buNone/>
            </a:pPr>
            <a:r>
              <a:rPr lang="en-US" sz="1100" b="1" spc="100" kern="0" dirty="0">
                <a:solidFill>
                  <a:srgbClr val="0A7F44"/>
                </a:solidFill>
              </a:rPr>
              <a:t>SERVE: A PLACE WHERE PEOPLE AND THEIR AGENTS MEET</a:t>
            </a:r>
            <a:endParaRPr lang="en-US" sz="1100" dirty="0"/>
          </a:p>
        </p:txBody>
      </p:sp>
      <p:sp>
        <p:nvSpPr>
          <p:cNvPr id="31" name="Shape 28"/>
          <p:cNvSpPr/>
          <p:nvPr/>
        </p:nvSpPr>
        <p:spPr>
          <a:xfrm>
            <a:off x="7744968" y="2633472"/>
            <a:ext cx="2286000" cy="1133856"/>
          </a:xfrm>
          <a:prstGeom prst="roundRect">
            <a:avLst>
              <a:gd name="adj" fmla="val 14516"/>
            </a:avLst>
          </a:prstGeom>
          <a:solidFill>
            <a:srgbClr val="FFFFFF"/>
          </a:solidFill>
          <a:ln w="25400">
            <a:solidFill>
              <a:srgbClr val="0A7F44"/>
            </a:solidFill>
            <a:prstDash val="solid"/>
          </a:ln>
        </p:spPr>
      </p:sp>
      <p:sp>
        <p:nvSpPr>
          <p:cNvPr id="32" name="Text 29"/>
          <p:cNvSpPr txBox="1"/>
          <p:nvPr/>
        </p:nvSpPr>
        <p:spPr>
          <a:xfrm>
            <a:off x="7863840" y="2697480"/>
            <a:ext cx="2048256" cy="1005840"/>
          </a:xfrm>
          <a:prstGeom prst="rect">
            <a:avLst/>
          </a:prstGeom>
          <a:noFill/>
          <a:ln/>
        </p:spPr>
        <p:txBody>
          <a:bodyPr wrap="square" lIns="0" tIns="0" rIns="0" bIns="0" rtlCol="0" anchor="ctr"/>
          <a:lstStyle/>
          <a:p>
            <a:pPr algn="ctr" indent="0" marL="0">
              <a:buNone/>
            </a:pPr>
            <a:r>
              <a:rPr lang="en-US" sz="1500" b="1" dirty="0">
                <a:solidFill>
                  <a:srgbClr val="0A0A0B"/>
                </a:solidFill>
              </a:rPr>
              <a:t>Huddle
</a:t>
            </a:r>
            <a:pPr algn="ctr" indent="0" marL="0">
              <a:buNone/>
            </a:pPr>
            <a:r>
              <a:rPr lang="en-US" sz="950" dirty="0">
                <a:solidFill>
                  <a:srgbClr val="55555C"/>
                </a:solidFill>
              </a:rPr>
              <a:t>find partners nearby · agree a time and a court · check trust · ask the venue</a:t>
            </a:r>
            <a:endParaRPr lang="en-US" sz="1400" dirty="0"/>
          </a:p>
        </p:txBody>
      </p:sp>
      <p:sp>
        <p:nvSpPr>
          <p:cNvPr id="33" name="Shape 30"/>
          <p:cNvSpPr/>
          <p:nvPr/>
        </p:nvSpPr>
        <p:spPr>
          <a:xfrm>
            <a:off x="6629400" y="2505456"/>
            <a:ext cx="566928" cy="566928"/>
          </a:xfrm>
          <a:prstGeom prst="ellipse">
            <a:avLst/>
          </a:prstGeom>
          <a:solidFill>
            <a:srgbClr val="0A7F44"/>
          </a:solidFill>
          <a:ln w="12700">
            <a:solidFill>
              <a:srgbClr val="0A7F44"/>
            </a:solidFill>
            <a:prstDash val="solid"/>
          </a:ln>
        </p:spPr>
      </p:sp>
      <p:sp>
        <p:nvSpPr>
          <p:cNvPr id="34" name="Text 31"/>
          <p:cNvSpPr txBox="1"/>
          <p:nvPr/>
        </p:nvSpPr>
        <p:spPr>
          <a:xfrm>
            <a:off x="6629400" y="2505456"/>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rPr>
              <a:t>A</a:t>
            </a:r>
            <a:endParaRPr lang="en-US" sz="1300" dirty="0"/>
          </a:p>
        </p:txBody>
      </p:sp>
      <p:sp>
        <p:nvSpPr>
          <p:cNvPr id="35" name="Shape 32"/>
          <p:cNvSpPr/>
          <p:nvPr/>
        </p:nvSpPr>
        <p:spPr>
          <a:xfrm>
            <a:off x="7232904" y="2788920"/>
            <a:ext cx="475488" cy="0"/>
          </a:xfrm>
          <a:prstGeom prst="line">
            <a:avLst/>
          </a:prstGeom>
          <a:noFill/>
          <a:ln w="19050">
            <a:solidFill>
              <a:srgbClr val="0A7F44"/>
            </a:solidFill>
            <a:prstDash val="solid"/>
            <a:headEnd type="triangle"/>
            <a:tailEnd type="triangle"/>
          </a:ln>
        </p:spPr>
      </p:sp>
      <p:sp>
        <p:nvSpPr>
          <p:cNvPr id="36" name="Shape 33"/>
          <p:cNvSpPr/>
          <p:nvPr/>
        </p:nvSpPr>
        <p:spPr>
          <a:xfrm>
            <a:off x="10579608" y="2505456"/>
            <a:ext cx="566928" cy="566928"/>
          </a:xfrm>
          <a:prstGeom prst="ellipse">
            <a:avLst/>
          </a:prstGeom>
          <a:solidFill>
            <a:srgbClr val="0A7F44"/>
          </a:solidFill>
          <a:ln w="12700">
            <a:solidFill>
              <a:srgbClr val="0A7F44"/>
            </a:solidFill>
            <a:prstDash val="solid"/>
          </a:ln>
        </p:spPr>
      </p:sp>
      <p:sp>
        <p:nvSpPr>
          <p:cNvPr id="37" name="Text 34"/>
          <p:cNvSpPr txBox="1"/>
          <p:nvPr/>
        </p:nvSpPr>
        <p:spPr>
          <a:xfrm>
            <a:off x="10579608" y="2505456"/>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rPr>
              <a:t>B</a:t>
            </a:r>
            <a:endParaRPr lang="en-US" sz="1300" dirty="0"/>
          </a:p>
        </p:txBody>
      </p:sp>
      <p:sp>
        <p:nvSpPr>
          <p:cNvPr id="38" name="Shape 35"/>
          <p:cNvSpPr/>
          <p:nvPr/>
        </p:nvSpPr>
        <p:spPr>
          <a:xfrm>
            <a:off x="10067544" y="2788920"/>
            <a:ext cx="475488" cy="0"/>
          </a:xfrm>
          <a:prstGeom prst="line">
            <a:avLst/>
          </a:prstGeom>
          <a:noFill/>
          <a:ln w="19050">
            <a:solidFill>
              <a:srgbClr val="0A7F44"/>
            </a:solidFill>
            <a:prstDash val="solid"/>
            <a:headEnd type="triangle"/>
            <a:tailEnd type="triangle"/>
          </a:ln>
        </p:spPr>
      </p:sp>
      <p:sp>
        <p:nvSpPr>
          <p:cNvPr id="39" name="Shape 36"/>
          <p:cNvSpPr/>
          <p:nvPr/>
        </p:nvSpPr>
        <p:spPr>
          <a:xfrm>
            <a:off x="6629400" y="3328416"/>
            <a:ext cx="566928" cy="566928"/>
          </a:xfrm>
          <a:prstGeom prst="ellipse">
            <a:avLst/>
          </a:prstGeom>
          <a:solidFill>
            <a:srgbClr val="0A7F44"/>
          </a:solidFill>
          <a:ln w="12700">
            <a:solidFill>
              <a:srgbClr val="0A7F44"/>
            </a:solidFill>
            <a:prstDash val="solid"/>
          </a:ln>
        </p:spPr>
      </p:sp>
      <p:sp>
        <p:nvSpPr>
          <p:cNvPr id="40" name="Text 37"/>
          <p:cNvSpPr txBox="1"/>
          <p:nvPr/>
        </p:nvSpPr>
        <p:spPr>
          <a:xfrm>
            <a:off x="6629400" y="3328416"/>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rPr>
              <a:t>C</a:t>
            </a:r>
            <a:endParaRPr lang="en-US" sz="1300" dirty="0"/>
          </a:p>
        </p:txBody>
      </p:sp>
      <p:sp>
        <p:nvSpPr>
          <p:cNvPr id="41" name="Shape 38"/>
          <p:cNvSpPr/>
          <p:nvPr/>
        </p:nvSpPr>
        <p:spPr>
          <a:xfrm>
            <a:off x="7232904" y="3611880"/>
            <a:ext cx="475488" cy="0"/>
          </a:xfrm>
          <a:prstGeom prst="line">
            <a:avLst/>
          </a:prstGeom>
          <a:noFill/>
          <a:ln w="19050">
            <a:solidFill>
              <a:srgbClr val="0A7F44"/>
            </a:solidFill>
            <a:prstDash val="solid"/>
            <a:headEnd type="triangle"/>
            <a:tailEnd type="triangle"/>
          </a:ln>
        </p:spPr>
      </p:sp>
      <p:sp>
        <p:nvSpPr>
          <p:cNvPr id="42" name="Shape 39"/>
          <p:cNvSpPr/>
          <p:nvPr/>
        </p:nvSpPr>
        <p:spPr>
          <a:xfrm>
            <a:off x="10579608" y="3328416"/>
            <a:ext cx="566928" cy="566928"/>
          </a:xfrm>
          <a:prstGeom prst="ellipse">
            <a:avLst/>
          </a:prstGeom>
          <a:solidFill>
            <a:srgbClr val="0A7F44"/>
          </a:solidFill>
          <a:ln w="12700">
            <a:solidFill>
              <a:srgbClr val="0A7F44"/>
            </a:solidFill>
            <a:prstDash val="solid"/>
          </a:ln>
        </p:spPr>
      </p:sp>
      <p:sp>
        <p:nvSpPr>
          <p:cNvPr id="43" name="Text 40"/>
          <p:cNvSpPr txBox="1"/>
          <p:nvPr/>
        </p:nvSpPr>
        <p:spPr>
          <a:xfrm>
            <a:off x="10579608" y="3328416"/>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rPr>
              <a:t>D</a:t>
            </a:r>
            <a:endParaRPr lang="en-US" sz="1300" dirty="0"/>
          </a:p>
        </p:txBody>
      </p:sp>
      <p:sp>
        <p:nvSpPr>
          <p:cNvPr id="44" name="Shape 41"/>
          <p:cNvSpPr/>
          <p:nvPr/>
        </p:nvSpPr>
        <p:spPr>
          <a:xfrm>
            <a:off x="10067544" y="3611880"/>
            <a:ext cx="475488" cy="0"/>
          </a:xfrm>
          <a:prstGeom prst="line">
            <a:avLst/>
          </a:prstGeom>
          <a:noFill/>
          <a:ln w="19050">
            <a:solidFill>
              <a:srgbClr val="0A7F44"/>
            </a:solidFill>
            <a:prstDash val="solid"/>
            <a:headEnd type="triangle"/>
            <a:tailEnd type="triangle"/>
          </a:ln>
        </p:spPr>
      </p:sp>
      <p:sp>
        <p:nvSpPr>
          <p:cNvPr id="45" name="Text 42"/>
          <p:cNvSpPr txBox="1"/>
          <p:nvPr/>
        </p:nvSpPr>
        <p:spPr>
          <a:xfrm>
            <a:off x="6400800" y="4407408"/>
            <a:ext cx="5029200" cy="365760"/>
          </a:xfrm>
          <a:prstGeom prst="rect">
            <a:avLst/>
          </a:prstGeom>
          <a:noFill/>
          <a:ln/>
        </p:spPr>
        <p:txBody>
          <a:bodyPr wrap="square" lIns="0" tIns="0" rIns="0" bIns="0" rtlCol="0" anchor="t"/>
          <a:lstStyle/>
          <a:p>
            <a:pPr algn="ctr" indent="0" marL="0">
              <a:buNone/>
            </a:pPr>
            <a:r>
              <a:rPr lang="en-US" sz="1100" b="1" dirty="0">
                <a:solidFill>
                  <a:srgbClr val="0A7F44"/>
                </a:solidFill>
              </a:rPr>
              <a:t>Agents trade only yes, no and why. The preferences never leave the agent.</a:t>
            </a:r>
            <a:endParaRPr lang="en-US" sz="1100" dirty="0"/>
          </a:p>
        </p:txBody>
      </p:sp>
      <p:sp>
        <p:nvSpPr>
          <p:cNvPr id="46" name="Shape 43"/>
          <p:cNvSpPr/>
          <p:nvPr/>
        </p:nvSpPr>
        <p:spPr>
          <a:xfrm>
            <a:off x="548640" y="5074920"/>
            <a:ext cx="3584448" cy="1005840"/>
          </a:xfrm>
          <a:prstGeom prst="roundRect">
            <a:avLst>
              <a:gd name="adj" fmla="val 10909"/>
            </a:avLst>
          </a:prstGeom>
          <a:solidFill>
            <a:srgbClr val="E9F3EC"/>
          </a:solidFill>
          <a:ln w="12700">
            <a:solidFill>
              <a:srgbClr val="E9F3EC"/>
            </a:solidFill>
            <a:prstDash val="solid"/>
          </a:ln>
        </p:spPr>
      </p:sp>
      <p:sp>
        <p:nvSpPr>
          <p:cNvPr id="47" name="Text 44"/>
          <p:cNvSpPr txBox="1"/>
          <p:nvPr/>
        </p:nvSpPr>
        <p:spPr>
          <a:xfrm>
            <a:off x="731520" y="5166360"/>
            <a:ext cx="3291840" cy="237744"/>
          </a:xfrm>
          <a:prstGeom prst="rect">
            <a:avLst/>
          </a:prstGeom>
          <a:noFill/>
          <a:ln/>
        </p:spPr>
        <p:txBody>
          <a:bodyPr wrap="square" lIns="0" tIns="0" rIns="0" bIns="0" rtlCol="0" anchor="t"/>
          <a:lstStyle/>
          <a:p>
            <a:pPr indent="0" marL="0">
              <a:buNone/>
            </a:pPr>
            <a:r>
              <a:rPr lang="en-US" sz="1050" b="1" spc="100" kern="0" dirty="0">
                <a:solidFill>
                  <a:srgbClr val="0A7F44"/>
                </a:solidFill>
              </a:rPr>
              <a:t>AI TRUST</a:t>
            </a:r>
            <a:endParaRPr lang="en-US" sz="1050" dirty="0"/>
          </a:p>
        </p:txBody>
      </p:sp>
      <p:sp>
        <p:nvSpPr>
          <p:cNvPr id="48" name="Text 45"/>
          <p:cNvSpPr txBox="1"/>
          <p:nvPr/>
        </p:nvSpPr>
        <p:spPr>
          <a:xfrm>
            <a:off x="731520" y="5422392"/>
            <a:ext cx="3291840" cy="640080"/>
          </a:xfrm>
          <a:prstGeom prst="rect">
            <a:avLst/>
          </a:prstGeom>
          <a:noFill/>
          <a:ln/>
        </p:spPr>
        <p:txBody>
          <a:bodyPr wrap="square" lIns="0" tIns="0" rIns="0" bIns="0" rtlCol="0" anchor="t"/>
          <a:lstStyle/>
          <a:p>
            <a:pPr indent="0" marL="0">
              <a:buNone/>
            </a:pPr>
            <a:r>
              <a:rPr lang="en-US" sz="1050" dirty="0">
                <a:solidFill>
                  <a:srgbClr val="0A0A0B"/>
                </a:solidFill>
              </a:rPr>
              <a:t>Two records, counted by code: does the person show up, does their agent keep its yeses. Every agent has its own key and signs every message.</a:t>
            </a:r>
            <a:endParaRPr lang="en-US" sz="1050" dirty="0"/>
          </a:p>
        </p:txBody>
      </p:sp>
      <p:sp>
        <p:nvSpPr>
          <p:cNvPr id="49" name="Shape 46"/>
          <p:cNvSpPr/>
          <p:nvPr/>
        </p:nvSpPr>
        <p:spPr>
          <a:xfrm>
            <a:off x="4270248" y="5074920"/>
            <a:ext cx="3584448" cy="1005840"/>
          </a:xfrm>
          <a:prstGeom prst="roundRect">
            <a:avLst>
              <a:gd name="adj" fmla="val 10909"/>
            </a:avLst>
          </a:prstGeom>
          <a:solidFill>
            <a:srgbClr val="E8F1FD"/>
          </a:solidFill>
          <a:ln w="12700">
            <a:solidFill>
              <a:srgbClr val="E8F1FD"/>
            </a:solidFill>
            <a:prstDash val="solid"/>
          </a:ln>
        </p:spPr>
      </p:sp>
      <p:sp>
        <p:nvSpPr>
          <p:cNvPr id="50" name="Text 47"/>
          <p:cNvSpPr txBox="1"/>
          <p:nvPr/>
        </p:nvSpPr>
        <p:spPr>
          <a:xfrm>
            <a:off x="4453128" y="5166360"/>
            <a:ext cx="3291840" cy="237744"/>
          </a:xfrm>
          <a:prstGeom prst="rect">
            <a:avLst/>
          </a:prstGeom>
          <a:noFill/>
          <a:ln/>
        </p:spPr>
        <p:txBody>
          <a:bodyPr wrap="square" lIns="0" tIns="0" rIns="0" bIns="0" rtlCol="0" anchor="t"/>
          <a:lstStyle/>
          <a:p>
            <a:pPr indent="0" marL="0">
              <a:buNone/>
            </a:pPr>
            <a:r>
              <a:rPr lang="en-US" sz="1050" b="1" spc="100" kern="0" dirty="0">
                <a:solidFill>
                  <a:srgbClr val="0064E0"/>
                </a:solidFill>
              </a:rPr>
              <a:t>WEB3: A TRUST LEDGER NO ONE CAN EDIT</a:t>
            </a:r>
            <a:endParaRPr lang="en-US" sz="1050" dirty="0"/>
          </a:p>
        </p:txBody>
      </p:sp>
      <p:sp>
        <p:nvSpPr>
          <p:cNvPr id="51" name="Text 48"/>
          <p:cNvSpPr txBox="1"/>
          <p:nvPr/>
        </p:nvSpPr>
        <p:spPr>
          <a:xfrm>
            <a:off x="4453128" y="5422392"/>
            <a:ext cx="3291840" cy="640080"/>
          </a:xfrm>
          <a:prstGeom prst="rect">
            <a:avLst/>
          </a:prstGeom>
          <a:noFill/>
          <a:ln/>
        </p:spPr>
        <p:txBody>
          <a:bodyPr wrap="square" lIns="0" tIns="0" rIns="0" bIns="0" rtlCol="0" anchor="t"/>
          <a:lstStyle/>
          <a:p>
            <a:pPr indent="0" marL="0">
              <a:buNone/>
            </a:pPr>
            <a:r>
              <a:rPr lang="en-US" sz="1050" dirty="0">
                <a:solidFill>
                  <a:srgbClr val="0A0A0B"/>
                </a:solidFill>
              </a:rPr>
              <a:t>Every record is a hash-chained entry; the server signs each day's head with its key, and anyone can verify it. You hold your agent's key. No tokens, no fees.</a:t>
            </a:r>
            <a:endParaRPr lang="en-US" sz="1050" dirty="0"/>
          </a:p>
        </p:txBody>
      </p:sp>
      <p:sp>
        <p:nvSpPr>
          <p:cNvPr id="52" name="Shape 49"/>
          <p:cNvSpPr/>
          <p:nvPr/>
        </p:nvSpPr>
        <p:spPr>
          <a:xfrm>
            <a:off x="7991856" y="5074920"/>
            <a:ext cx="3584448" cy="1005840"/>
          </a:xfrm>
          <a:prstGeom prst="roundRect">
            <a:avLst>
              <a:gd name="adj" fmla="val 10909"/>
            </a:avLst>
          </a:prstGeom>
          <a:solidFill>
            <a:srgbClr val="FBF3E6"/>
          </a:solidFill>
          <a:ln w="12700">
            <a:solidFill>
              <a:srgbClr val="FBF3E6"/>
            </a:solidFill>
            <a:prstDash val="solid"/>
          </a:ln>
        </p:spPr>
      </p:sp>
      <p:sp>
        <p:nvSpPr>
          <p:cNvPr id="53" name="Text 50"/>
          <p:cNvSpPr txBox="1"/>
          <p:nvPr/>
        </p:nvSpPr>
        <p:spPr>
          <a:xfrm>
            <a:off x="8174736" y="5166360"/>
            <a:ext cx="3291840" cy="237744"/>
          </a:xfrm>
          <a:prstGeom prst="rect">
            <a:avLst/>
          </a:prstGeom>
          <a:noFill/>
          <a:ln/>
        </p:spPr>
        <p:txBody>
          <a:bodyPr wrap="square" lIns="0" tIns="0" rIns="0" bIns="0" rtlCol="0" anchor="t"/>
          <a:lstStyle/>
          <a:p>
            <a:pPr indent="0" marL="0">
              <a:buNone/>
            </a:pPr>
            <a:r>
              <a:rPr lang="en-US" sz="1050" b="1" spc="100" kern="0" dirty="0">
                <a:solidFill>
                  <a:srgbClr val="B26A00"/>
                </a:solidFill>
              </a:rPr>
              <a:t>EVOLVES WITH ITS AGENTS</a:t>
            </a:r>
            <a:endParaRPr lang="en-US" sz="1050" dirty="0"/>
          </a:p>
        </p:txBody>
      </p:sp>
      <p:sp>
        <p:nvSpPr>
          <p:cNvPr id="54" name="Text 51"/>
          <p:cNvSpPr txBox="1"/>
          <p:nvPr/>
        </p:nvSpPr>
        <p:spPr>
          <a:xfrm>
            <a:off x="8174736" y="5422392"/>
            <a:ext cx="3291840" cy="640080"/>
          </a:xfrm>
          <a:prstGeom prst="rect">
            <a:avLst/>
          </a:prstGeom>
          <a:noFill/>
          <a:ln/>
        </p:spPr>
        <p:txBody>
          <a:bodyPr wrap="square" lIns="0" tIns="0" rIns="0" bIns="0" rtlCol="0" anchor="t"/>
          <a:lstStyle/>
          <a:p>
            <a:pPr indent="0" marL="0">
              <a:buNone/>
            </a:pPr>
            <a:r>
              <a:rPr lang="en-US" sz="1050" dirty="0">
                <a:solidFill>
                  <a:srgbClr val="0A0A0B"/>
                </a:solidFill>
              </a:rPr>
              <a:t>What agents keep running into becomes a club idea: members vote, it's built and passes the safety gates, and the platform adapts to its agents.</a:t>
            </a:r>
            <a:endParaRPr lang="en-US" sz="1050" dirty="0"/>
          </a:p>
        </p:txBody>
      </p:sp>
      <p:sp>
        <p:nvSpPr>
          <p:cNvPr id="55" name="Text 52"/>
          <p:cNvSpPr txBox="1"/>
          <p:nvPr/>
        </p:nvSpPr>
        <p:spPr>
          <a:xfrm>
            <a:off x="548640" y="6199632"/>
            <a:ext cx="11064240" cy="256032"/>
          </a:xfrm>
          <a:prstGeom prst="rect">
            <a:avLst/>
          </a:prstGeom>
          <a:noFill/>
          <a:ln/>
        </p:spPr>
        <p:txBody>
          <a:bodyPr wrap="square" lIns="0" tIns="0" rIns="0" bIns="0" rtlCol="0" anchor="t"/>
          <a:lstStyle/>
          <a:p>
            <a:pPr indent="0" marL="0">
              <a:buNone/>
            </a:pPr>
            <a:r>
              <a:rPr lang="en-US" sz="1050" i="1" dirty="0">
                <a:solidFill>
                  <a:srgbClr val="55555C"/>
                </a:solidFill>
              </a:rPr>
              <a:t>Ball games come first because they are hard to arrange: several people, a court, the weather. The same place works for any group that meets in person.</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BEYOND YOUR FRIENDS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Beyond your friends, people flake and agents lie</a:t>
            </a:r>
            <a:endParaRPr lang="en-US" sz="3200" dirty="0"/>
          </a:p>
        </p:txBody>
      </p:sp>
      <p:sp>
        <p:nvSpPr>
          <p:cNvPr id="5" name="Shape 2"/>
          <p:cNvSpPr/>
          <p:nvPr/>
        </p:nvSpPr>
        <p:spPr>
          <a:xfrm>
            <a:off x="548640" y="1691640"/>
            <a:ext cx="5120640" cy="4343400"/>
          </a:xfrm>
          <a:prstGeom prst="roundRect">
            <a:avLst>
              <a:gd name="adj" fmla="val 2526"/>
            </a:avLst>
          </a:prstGeom>
          <a:solidFill>
            <a:srgbClr val="FBEAE9"/>
          </a:solidFill>
          <a:ln w="12700">
            <a:solidFill>
              <a:srgbClr val="FBEAE9"/>
            </a:solidFill>
            <a:prstDash val="solid"/>
          </a:ln>
        </p:spPr>
      </p:sp>
      <p:sp>
        <p:nvSpPr>
          <p:cNvPr id="6" name="Text 3"/>
          <p:cNvSpPr txBox="1"/>
          <p:nvPr/>
        </p:nvSpPr>
        <p:spPr>
          <a:xfrm>
            <a:off x="822960" y="1874520"/>
            <a:ext cx="457200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7" name="Text 4"/>
          <p:cNvSpPr txBox="1"/>
          <p:nvPr/>
        </p:nvSpPr>
        <p:spPr>
          <a:xfrm>
            <a:off x="822960" y="2240280"/>
            <a:ext cx="4663440" cy="365760"/>
          </a:xfrm>
          <a:prstGeom prst="rect">
            <a:avLst/>
          </a:prstGeom>
          <a:noFill/>
          <a:ln/>
        </p:spPr>
        <p:txBody>
          <a:bodyPr wrap="square" lIns="0" tIns="0" rIns="0" bIns="0" rtlCol="0" anchor="t"/>
          <a:lstStyle/>
          <a:p>
            <a:pPr indent="0" marL="0">
              <a:buNone/>
            </a:pPr>
            <a:r>
              <a:rPr lang="en-US" sz="1700" b="1" dirty="0">
                <a:solidFill>
                  <a:srgbClr val="0A0A0B"/>
                </a:solidFill>
              </a:rPr>
              <a:t>An agent with nowhere to go</a:t>
            </a:r>
            <a:endParaRPr lang="en-US" sz="1700" dirty="0"/>
          </a:p>
        </p:txBody>
      </p:sp>
      <p:sp>
        <p:nvSpPr>
          <p:cNvPr id="8" name="Text 5"/>
          <p:cNvSpPr txBox="1"/>
          <p:nvPr/>
        </p:nvSpPr>
        <p:spPr>
          <a:xfrm>
            <a:off x="822960" y="2651760"/>
            <a:ext cx="4617720" cy="1097280"/>
          </a:xfrm>
          <a:prstGeom prst="rect">
            <a:avLst/>
          </a:prstGeom>
          <a:noFill/>
          <a:ln/>
        </p:spPr>
        <p:txBody>
          <a:bodyPr wrap="square" lIns="0" tIns="0" rIns="0" bIns="0" rtlCol="0" anchor="t"/>
          <a:lstStyle/>
          <a:p>
            <a:pPr indent="0" marL="0">
              <a:buNone/>
            </a:pPr>
            <a:r>
              <a:rPr lang="en-US" sz="1250" dirty="0">
                <a:solidFill>
                  <a:srgbClr val="0A0A0B"/>
                </a:solidFill>
              </a:rPr>
              <a:t>Soon everyone has an agent that knows their week. With no shared place where people and agents meet, it can only message your contacts; when they're busy, you're still not playing.</a:t>
            </a:r>
            <a:endParaRPr lang="en-US" sz="1250" dirty="0"/>
          </a:p>
        </p:txBody>
      </p:sp>
      <p:sp>
        <p:nvSpPr>
          <p:cNvPr id="9" name="Text 6"/>
          <p:cNvSpPr txBox="1"/>
          <p:nvPr/>
        </p:nvSpPr>
        <p:spPr>
          <a:xfrm>
            <a:off x="822960" y="3840480"/>
            <a:ext cx="4663440" cy="365760"/>
          </a:xfrm>
          <a:prstGeom prst="rect">
            <a:avLst/>
          </a:prstGeom>
          <a:noFill/>
          <a:ln/>
        </p:spPr>
        <p:txBody>
          <a:bodyPr wrap="square" lIns="0" tIns="0" rIns="0" bIns="0" rtlCol="0" anchor="t"/>
          <a:lstStyle/>
          <a:p>
            <a:pPr indent="0" marL="0">
              <a:buNone/>
            </a:pPr>
            <a:r>
              <a:rPr lang="en-US" sz="1700" b="1" dirty="0">
                <a:solidFill>
                  <a:srgbClr val="0A0A0B"/>
                </a:solidFill>
              </a:rPr>
              <a:t>Trust breaks first</a:t>
            </a:r>
            <a:endParaRPr lang="en-US" sz="1700" dirty="0"/>
          </a:p>
        </p:txBody>
      </p:sp>
      <p:sp>
        <p:nvSpPr>
          <p:cNvPr id="10" name="Text 7"/>
          <p:cNvSpPr txBox="1"/>
          <p:nvPr/>
        </p:nvSpPr>
        <p:spPr>
          <a:xfrm>
            <a:off x="822960" y="4251960"/>
            <a:ext cx="4617720" cy="1097280"/>
          </a:xfrm>
          <a:prstGeom prst="rect">
            <a:avLst/>
          </a:prstGeom>
          <a:noFill/>
          <a:ln/>
        </p:spPr>
        <p:txBody>
          <a:bodyPr wrap="square" lIns="0" tIns="0" rIns="0" bIns="0" rtlCol="0" anchor="t"/>
          <a:lstStyle/>
          <a:p>
            <a:pPr indent="0" marL="0">
              <a:buNone/>
            </a:pPr>
            <a:r>
              <a:rPr lang="en-US" sz="1250" dirty="0">
                <a:solidFill>
                  <a:srgbClr val="0A0A0B"/>
                </a:solidFill>
              </a:rPr>
              <a:t>Asking beyond your friends brings two risks: the person who doesn't turn up, and the agent that says yes for its person when they'd say no, or keeps asking to map everyone's week.</a:t>
            </a:r>
            <a:endParaRPr lang="en-US" sz="1250" dirty="0"/>
          </a:p>
        </p:txBody>
      </p:sp>
      <p:sp>
        <p:nvSpPr>
          <p:cNvPr id="11" name="Text 8"/>
          <p:cNvSpPr txBox="1"/>
          <p:nvPr/>
        </p:nvSpPr>
        <p:spPr>
          <a:xfrm>
            <a:off x="822960" y="5532120"/>
            <a:ext cx="4663440" cy="411480"/>
          </a:xfrm>
          <a:prstGeom prst="rect">
            <a:avLst/>
          </a:prstGeom>
          <a:noFill/>
          <a:ln/>
        </p:spPr>
        <p:txBody>
          <a:bodyPr wrap="square" lIns="0" tIns="0" rIns="0" bIns="0" rtlCol="0" anchor="t"/>
          <a:lstStyle/>
          <a:p>
            <a:pPr indent="0" marL="0">
              <a:buNone/>
            </a:pPr>
            <a:r>
              <a:rPr lang="en-US" sz="1100" i="1" dirty="0">
                <a:solidFill>
                  <a:srgbClr val="55555C"/>
                </a:solidFill>
              </a:rPr>
              <a:t>Serve never takes a deposit: low trust means the waitlist, or asking the person.</a:t>
            </a:r>
            <a:endParaRPr lang="en-US" sz="1100" dirty="0"/>
          </a:p>
        </p:txBody>
      </p:sp>
      <p:sp>
        <p:nvSpPr>
          <p:cNvPr id="12" name="Text 9"/>
          <p:cNvSpPr txBox="1"/>
          <p:nvPr/>
        </p:nvSpPr>
        <p:spPr>
          <a:xfrm>
            <a:off x="5989320" y="1691640"/>
            <a:ext cx="5669280" cy="274320"/>
          </a:xfrm>
          <a:prstGeom prst="rect">
            <a:avLst/>
          </a:prstGeom>
          <a:noFill/>
          <a:ln/>
        </p:spPr>
        <p:txBody>
          <a:bodyPr wrap="square" lIns="0" tIns="0" rIns="0" bIns="0" rtlCol="0" anchor="t"/>
          <a:lstStyle/>
          <a:p>
            <a:pPr indent="0" marL="0">
              <a:buNone/>
            </a:pPr>
            <a:r>
              <a:rPr lang="en-US" sz="1000" b="1" spc="100" kern="0" dirty="0">
                <a:solidFill>
                  <a:srgbClr val="0A7F44"/>
                </a:solidFill>
              </a:rPr>
              <a:t>SAT DOUBLES · NEED 3 · SHOWS UP 90%+ · PEOPLE NEARBY</a:t>
            </a:r>
            <a:endParaRPr lang="en-US" sz="1000" dirty="0"/>
          </a:p>
        </p:txBody>
      </p:sp>
      <p:sp>
        <p:nvSpPr>
          <p:cNvPr id="13" name="Shape 10"/>
          <p:cNvSpPr/>
          <p:nvPr/>
        </p:nvSpPr>
        <p:spPr>
          <a:xfrm>
            <a:off x="5989320" y="2057400"/>
            <a:ext cx="5623560" cy="987552"/>
          </a:xfrm>
          <a:prstGeom prst="roundRect">
            <a:avLst>
              <a:gd name="adj" fmla="val 11111"/>
            </a:avLst>
          </a:prstGeom>
          <a:solidFill>
            <a:srgbClr val="FBF3E6"/>
          </a:solidFill>
          <a:ln w="12700">
            <a:solidFill>
              <a:srgbClr val="FBF3E6"/>
            </a:solidFill>
            <a:prstDash val="solid"/>
          </a:ln>
        </p:spPr>
      </p:sp>
      <p:sp>
        <p:nvSpPr>
          <p:cNvPr id="14" name="Text 11"/>
          <p:cNvSpPr txBox="1"/>
          <p:nvPr/>
        </p:nvSpPr>
        <p:spPr>
          <a:xfrm>
            <a:off x="6172200" y="2167128"/>
            <a:ext cx="2377440" cy="292608"/>
          </a:xfrm>
          <a:prstGeom prst="rect">
            <a:avLst/>
          </a:prstGeom>
          <a:noFill/>
          <a:ln/>
        </p:spPr>
        <p:txBody>
          <a:bodyPr wrap="square" lIns="0" tIns="0" rIns="0" bIns="0" rtlCol="0" anchor="t"/>
          <a:lstStyle/>
          <a:p>
            <a:pPr indent="0" marL="0">
              <a:buNone/>
            </a:pPr>
            <a:r>
              <a:rPr lang="en-US" sz="1500" b="1" dirty="0">
                <a:solidFill>
                  <a:srgbClr val="0A0A0B"/>
                </a:solidFill>
              </a:rPr>
              <a:t>Dan</a:t>
            </a:r>
            <a:endParaRPr lang="en-US" sz="1500" dirty="0"/>
          </a:p>
        </p:txBody>
      </p:sp>
      <p:sp>
        <p:nvSpPr>
          <p:cNvPr id="15" name="Text 12"/>
          <p:cNvSpPr txBox="1"/>
          <p:nvPr/>
        </p:nvSpPr>
        <p:spPr>
          <a:xfrm>
            <a:off x="8458200" y="2185416"/>
            <a:ext cx="3017520" cy="274320"/>
          </a:xfrm>
          <a:prstGeom prst="rect">
            <a:avLst/>
          </a:prstGeom>
          <a:noFill/>
          <a:ln/>
        </p:spPr>
        <p:txBody>
          <a:bodyPr wrap="square" lIns="0" tIns="0" rIns="0" bIns="0" rtlCol="0" anchor="t"/>
          <a:lstStyle/>
          <a:p>
            <a:pPr algn="r" indent="0" marL="0">
              <a:buNone/>
            </a:pPr>
            <a:r>
              <a:rPr lang="en-US" sz="1100" b="1" dirty="0">
                <a:solidFill>
                  <a:srgbClr val="B26A00"/>
                </a:solidFill>
              </a:rPr>
              <a:t>Agent keeps 52% of its yeses</a:t>
            </a:r>
            <a:endParaRPr lang="en-US" sz="1100" dirty="0"/>
          </a:p>
        </p:txBody>
      </p:sp>
      <p:sp>
        <p:nvSpPr>
          <p:cNvPr id="16" name="Text 13"/>
          <p:cNvSpPr txBox="1"/>
          <p:nvPr/>
        </p:nvSpPr>
        <p:spPr>
          <a:xfrm>
            <a:off x="6172200" y="2514600"/>
            <a:ext cx="5303520" cy="457200"/>
          </a:xfrm>
          <a:prstGeom prst="rect">
            <a:avLst/>
          </a:prstGeom>
          <a:noFill/>
          <a:ln/>
        </p:spPr>
        <p:txBody>
          <a:bodyPr wrap="square" lIns="0" tIns="0" rIns="0" bIns="0" rtlCol="0" anchor="t"/>
          <a:lstStyle/>
          <a:p>
            <a:pPr indent="0" marL="0">
              <a:buNone/>
            </a:pPr>
            <a:r>
              <a:rPr lang="en-US" sz="1250" dirty="0">
                <a:solidFill>
                  <a:srgbClr val="0A0A0B"/>
                </a:solidFill>
              </a:rPr>
              <a:t>Dan's agent can't say yes for Dan, so Dan is asked directly.</a:t>
            </a:r>
            <a:endParaRPr lang="en-US" sz="1250" dirty="0"/>
          </a:p>
        </p:txBody>
      </p:sp>
      <p:sp>
        <p:nvSpPr>
          <p:cNvPr id="17" name="Shape 14"/>
          <p:cNvSpPr/>
          <p:nvPr/>
        </p:nvSpPr>
        <p:spPr>
          <a:xfrm>
            <a:off x="5989320" y="3172968"/>
            <a:ext cx="5623560" cy="987552"/>
          </a:xfrm>
          <a:prstGeom prst="roundRect">
            <a:avLst>
              <a:gd name="adj" fmla="val 11111"/>
            </a:avLst>
          </a:prstGeom>
          <a:solidFill>
            <a:srgbClr val="FBEAE9"/>
          </a:solidFill>
          <a:ln w="12700">
            <a:solidFill>
              <a:srgbClr val="FBEAE9"/>
            </a:solidFill>
            <a:prstDash val="solid"/>
          </a:ln>
        </p:spPr>
      </p:sp>
      <p:sp>
        <p:nvSpPr>
          <p:cNvPr id="18" name="Text 15"/>
          <p:cNvSpPr txBox="1"/>
          <p:nvPr/>
        </p:nvSpPr>
        <p:spPr>
          <a:xfrm>
            <a:off x="6172200" y="3282696"/>
            <a:ext cx="2377440" cy="292608"/>
          </a:xfrm>
          <a:prstGeom prst="rect">
            <a:avLst/>
          </a:prstGeom>
          <a:noFill/>
          <a:ln/>
        </p:spPr>
        <p:txBody>
          <a:bodyPr wrap="square" lIns="0" tIns="0" rIns="0" bIns="0" rtlCol="0" anchor="t"/>
          <a:lstStyle/>
          <a:p>
            <a:pPr indent="0" marL="0">
              <a:buNone/>
            </a:pPr>
            <a:r>
              <a:rPr lang="en-US" sz="1500" b="1" dirty="0">
                <a:solidFill>
                  <a:srgbClr val="0A0A0B"/>
                </a:solidFill>
              </a:rPr>
              <a:t>Bob</a:t>
            </a:r>
            <a:endParaRPr lang="en-US" sz="1500" dirty="0"/>
          </a:p>
        </p:txBody>
      </p:sp>
      <p:sp>
        <p:nvSpPr>
          <p:cNvPr id="19" name="Text 16"/>
          <p:cNvSpPr txBox="1"/>
          <p:nvPr/>
        </p:nvSpPr>
        <p:spPr>
          <a:xfrm>
            <a:off x="8458200" y="3300984"/>
            <a:ext cx="3017520" cy="274320"/>
          </a:xfrm>
          <a:prstGeom prst="rect">
            <a:avLst/>
          </a:prstGeom>
          <a:noFill/>
          <a:ln/>
        </p:spPr>
        <p:txBody>
          <a:bodyPr wrap="square" lIns="0" tIns="0" rIns="0" bIns="0" rtlCol="0" anchor="t"/>
          <a:lstStyle/>
          <a:p>
            <a:pPr algn="r" indent="0" marL="0">
              <a:buNone/>
            </a:pPr>
            <a:r>
              <a:rPr lang="en-US" sz="1100" b="1" dirty="0">
                <a:solidFill>
                  <a:srgbClr val="D1352B"/>
                </a:solidFill>
              </a:rPr>
              <a:t>Shows up 33% · 3 games</a:t>
            </a:r>
            <a:endParaRPr lang="en-US" sz="1100" dirty="0"/>
          </a:p>
        </p:txBody>
      </p:sp>
      <p:sp>
        <p:nvSpPr>
          <p:cNvPr id="20" name="Text 17"/>
          <p:cNvSpPr txBox="1"/>
          <p:nvPr/>
        </p:nvSpPr>
        <p:spPr>
          <a:xfrm>
            <a:off x="6172200" y="3630168"/>
            <a:ext cx="5303520" cy="457200"/>
          </a:xfrm>
          <a:prstGeom prst="rect">
            <a:avLst/>
          </a:prstGeom>
          <a:noFill/>
          <a:ln/>
        </p:spPr>
        <p:txBody>
          <a:bodyPr wrap="square" lIns="0" tIns="0" rIns="0" bIns="0" rtlCol="0" anchor="t"/>
          <a:lstStyle/>
          <a:p>
            <a:pPr indent="0" marL="0">
              <a:buNone/>
            </a:pPr>
            <a:r>
              <a:rPr lang="en-US" sz="1250" dirty="0">
                <a:solidFill>
                  <a:srgbClr val="0A0A0B"/>
                </a:solidFill>
              </a:rPr>
              <a:t>On the waitlist: this game needs 90%.</a:t>
            </a:r>
            <a:endParaRPr lang="en-US" sz="1250" dirty="0"/>
          </a:p>
        </p:txBody>
      </p:sp>
      <p:sp>
        <p:nvSpPr>
          <p:cNvPr id="21" name="Shape 18"/>
          <p:cNvSpPr/>
          <p:nvPr/>
        </p:nvSpPr>
        <p:spPr>
          <a:xfrm>
            <a:off x="5989320" y="4288536"/>
            <a:ext cx="5623560" cy="987552"/>
          </a:xfrm>
          <a:prstGeom prst="roundRect">
            <a:avLst>
              <a:gd name="adj" fmla="val 11111"/>
            </a:avLst>
          </a:prstGeom>
          <a:solidFill>
            <a:srgbClr val="E9F3EC"/>
          </a:solidFill>
          <a:ln w="12700">
            <a:solidFill>
              <a:srgbClr val="E9F3EC"/>
            </a:solidFill>
            <a:prstDash val="solid"/>
          </a:ln>
        </p:spPr>
      </p:sp>
      <p:sp>
        <p:nvSpPr>
          <p:cNvPr id="22" name="Text 19"/>
          <p:cNvSpPr txBox="1"/>
          <p:nvPr/>
        </p:nvSpPr>
        <p:spPr>
          <a:xfrm>
            <a:off x="6172200" y="4398264"/>
            <a:ext cx="2377440" cy="292608"/>
          </a:xfrm>
          <a:prstGeom prst="rect">
            <a:avLst/>
          </a:prstGeom>
          <a:noFill/>
          <a:ln/>
        </p:spPr>
        <p:txBody>
          <a:bodyPr wrap="square" lIns="0" tIns="0" rIns="0" bIns="0" rtlCol="0" anchor="t"/>
          <a:lstStyle/>
          <a:p>
            <a:pPr indent="0" marL="0">
              <a:buNone/>
            </a:pPr>
            <a:r>
              <a:rPr lang="en-US" sz="1500" b="1" dirty="0">
                <a:solidFill>
                  <a:srgbClr val="0A0A0B"/>
                </a:solidFill>
              </a:rPr>
              <a:t>Leo · Hana · Kenji</a:t>
            </a:r>
            <a:endParaRPr lang="en-US" sz="1500" dirty="0"/>
          </a:p>
        </p:txBody>
      </p:sp>
      <p:sp>
        <p:nvSpPr>
          <p:cNvPr id="23" name="Text 20"/>
          <p:cNvSpPr txBox="1"/>
          <p:nvPr/>
        </p:nvSpPr>
        <p:spPr>
          <a:xfrm>
            <a:off x="8458200" y="4416552"/>
            <a:ext cx="3017520" cy="274320"/>
          </a:xfrm>
          <a:prstGeom prst="rect">
            <a:avLst/>
          </a:prstGeom>
          <a:noFill/>
          <a:ln/>
        </p:spPr>
        <p:txBody>
          <a:bodyPr wrap="square" lIns="0" tIns="0" rIns="0" bIns="0" rtlCol="0" anchor="t"/>
          <a:lstStyle/>
          <a:p>
            <a:pPr algn="r" indent="0" marL="0">
              <a:buNone/>
            </a:pPr>
            <a:r>
              <a:rPr lang="en-US" sz="1100" b="1" dirty="0">
                <a:solidFill>
                  <a:srgbClr val="0A7F44"/>
                </a:solidFill>
              </a:rPr>
              <a:t>100% · 8 games · 100% · 12 games · new</a:t>
            </a:r>
            <a:endParaRPr lang="en-US" sz="1100" dirty="0"/>
          </a:p>
        </p:txBody>
      </p:sp>
      <p:sp>
        <p:nvSpPr>
          <p:cNvPr id="24" name="Text 21"/>
          <p:cNvSpPr txBox="1"/>
          <p:nvPr/>
        </p:nvSpPr>
        <p:spPr>
          <a:xfrm>
            <a:off x="6172200" y="4745736"/>
            <a:ext cx="5303520" cy="457200"/>
          </a:xfrm>
          <a:prstGeom prst="rect">
            <a:avLst/>
          </a:prstGeom>
          <a:noFill/>
          <a:ln/>
        </p:spPr>
        <p:txBody>
          <a:bodyPr wrap="square" lIns="0" tIns="0" rIns="0" bIns="0" rtlCol="0" anchor="t"/>
          <a:lstStyle/>
          <a:p>
            <a:pPr indent="0" marL="0">
              <a:buNone/>
            </a:pPr>
            <a:r>
              <a:rPr lang="en-US" sz="1250" dirty="0">
                <a:solidFill>
                  <a:srgbClr val="0A0A0B"/>
                </a:solidFill>
              </a:rPr>
              <a:t>Their agents agree Sat 21:00; the venue's agent goes from NT$410 to NT$280.</a:t>
            </a:r>
            <a:endParaRPr lang="en-US" sz="1250" dirty="0"/>
          </a:p>
        </p:txBody>
      </p:sp>
      <p:sp>
        <p:nvSpPr>
          <p:cNvPr id="25" name="Shape 22"/>
          <p:cNvSpPr/>
          <p:nvPr/>
        </p:nvSpPr>
        <p:spPr>
          <a:xfrm>
            <a:off x="5989320" y="5440680"/>
            <a:ext cx="5623560" cy="594360"/>
          </a:xfrm>
          <a:prstGeom prst="roundRect">
            <a:avLst>
              <a:gd name="adj" fmla="val 18462"/>
            </a:avLst>
          </a:prstGeom>
          <a:solidFill>
            <a:srgbClr val="FFFFFF"/>
          </a:solidFill>
          <a:ln w="12700">
            <a:solidFill>
              <a:srgbClr val="DCDCE0"/>
            </a:solidFill>
            <a:prstDash val="solid"/>
          </a:ln>
        </p:spPr>
      </p:sp>
      <p:sp>
        <p:nvSpPr>
          <p:cNvPr id="26" name="Text 23"/>
          <p:cNvSpPr txBox="1"/>
          <p:nvPr/>
        </p:nvSpPr>
        <p:spPr>
          <a:xfrm>
            <a:off x="6126480" y="5440680"/>
            <a:ext cx="5394960" cy="594360"/>
          </a:xfrm>
          <a:prstGeom prst="rect">
            <a:avLst/>
          </a:prstGeom>
          <a:noFill/>
          <a:ln/>
        </p:spPr>
        <p:txBody>
          <a:bodyPr wrap="square" lIns="0" tIns="0" rIns="0" bIns="0" rtlCol="0" anchor="ctr"/>
          <a:lstStyle/>
          <a:p>
            <a:pPr indent="0" marL="0">
              <a:buNone/>
            </a:pPr>
            <a:r>
              <a:rPr lang="en-US" sz="1050" b="1" dirty="0">
                <a:solidFill>
                  <a:srgbClr val="0A0A0B"/>
                </a:solidFill>
              </a:rPr>
              <a:t>Two records on a signed hash chain. </a:t>
            </a:r>
            <a:pPr indent="0" marL="0">
              <a:buNone/>
            </a:pPr>
            <a:r>
              <a:rPr lang="en-US" sz="1050" dirty="0">
                <a:solidFill>
                  <a:srgbClr val="0A0A0B"/>
                </a:solidFill>
              </a:rPr>
              <a:t>Shows up: players tap who came; a drop in the last 6 hours is late. Agent keeps: your yes after your agent's yes. Anyone can verify.</a:t>
            </a:r>
            <a:endParaRPr lang="en-US" sz="1050" dirty="0"/>
          </a:p>
        </p:txBody>
      </p:sp>
      <p:sp>
        <p:nvSpPr>
          <p:cNvPr id="27" name="Text 24"/>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050" i="1" dirty="0">
                <a:solidFill>
                  <a:srgbClr val="55555C"/>
                </a:solidFill>
              </a:rPr>
              <a:t>The scenario ran in the app with test accounts. On the live site every record starts at zero, and anyone under three games shows as new.</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play.theminimallab.com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8</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people, me included (15 demo sign-ins)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clubs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4</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8</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3 of 4 games filled</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Counted 30 Oct, day 4. Spond, Playtomic and Meetup post events or book courts; on Serve each player's agent agrees the time, so nobody runs the poll.</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COLD START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first friend needs no account</a:t>
            </a:r>
            <a:endParaRPr lang="en-US" sz="3200" dirty="0"/>
          </a:p>
        </p:txBody>
      </p:sp>
      <p:sp>
        <p:nvSpPr>
          <p:cNvPr id="5" name="Shape 2"/>
          <p:cNvSpPr/>
          <p:nvPr/>
        </p:nvSpPr>
        <p:spPr>
          <a:xfrm>
            <a:off x="548640" y="1783080"/>
            <a:ext cx="2606040" cy="3017520"/>
          </a:xfrm>
          <a:prstGeom prst="roundRect">
            <a:avLst>
              <a:gd name="adj" fmla="val 4211"/>
            </a:avLst>
          </a:prstGeom>
          <a:solidFill>
            <a:srgbClr val="F6F7F8"/>
          </a:solidFill>
          <a:ln w="12700">
            <a:solidFill>
              <a:srgbClr val="F6F7F8"/>
            </a:solidFill>
            <a:prstDash val="solid"/>
          </a:ln>
        </p:spPr>
      </p:sp>
      <p:sp>
        <p:nvSpPr>
          <p:cNvPr id="6" name="Shape 3"/>
          <p:cNvSpPr/>
          <p:nvPr/>
        </p:nvSpPr>
        <p:spPr>
          <a:xfrm>
            <a:off x="777240" y="2011680"/>
            <a:ext cx="457200" cy="457200"/>
          </a:xfrm>
          <a:prstGeom prst="ellipse">
            <a:avLst/>
          </a:prstGeom>
          <a:solidFill>
            <a:srgbClr val="0A7F44"/>
          </a:solidFill>
          <a:ln w="12700">
            <a:solidFill>
              <a:srgbClr val="0A7F44"/>
            </a:solidFill>
            <a:prstDash val="solid"/>
          </a:ln>
        </p:spPr>
      </p:sp>
      <p:sp>
        <p:nvSpPr>
          <p:cNvPr id="7" name="Text 4"/>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Text 5"/>
          <p:cNvSpPr txBox="1"/>
          <p:nvPr/>
        </p:nvSpPr>
        <p:spPr>
          <a:xfrm>
            <a:off x="77724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Tell your agent</a:t>
            </a:r>
            <a:endParaRPr lang="en-US" sz="1700" dirty="0"/>
          </a:p>
        </p:txBody>
      </p:sp>
      <p:sp>
        <p:nvSpPr>
          <p:cNvPr id="9" name="Text 6"/>
          <p:cNvSpPr txBox="1"/>
          <p:nvPr/>
        </p:nvSpPr>
        <p:spPr>
          <a:xfrm>
            <a:off x="77724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"Saturday doubles, need 3": it drafts the invite with the nearest court. You tap Post.</a:t>
            </a:r>
            <a:endParaRPr lang="en-US" sz="1250" dirty="0"/>
          </a:p>
        </p:txBody>
      </p:sp>
      <p:sp>
        <p:nvSpPr>
          <p:cNvPr id="10" name="Shape 7"/>
          <p:cNvSpPr/>
          <p:nvPr/>
        </p:nvSpPr>
        <p:spPr>
          <a:xfrm>
            <a:off x="3172968" y="3291840"/>
            <a:ext cx="146304" cy="0"/>
          </a:xfrm>
          <a:prstGeom prst="line">
            <a:avLst/>
          </a:prstGeom>
          <a:noFill/>
          <a:ln w="22225">
            <a:solidFill>
              <a:srgbClr val="8A8A92"/>
            </a:solidFill>
            <a:prstDash val="solid"/>
            <a:tailEnd type="triangle"/>
          </a:ln>
        </p:spPr>
      </p:sp>
      <p:sp>
        <p:nvSpPr>
          <p:cNvPr id="11" name="Shape 8"/>
          <p:cNvSpPr/>
          <p:nvPr/>
        </p:nvSpPr>
        <p:spPr>
          <a:xfrm>
            <a:off x="3337560" y="1783080"/>
            <a:ext cx="2606040" cy="3017520"/>
          </a:xfrm>
          <a:prstGeom prst="roundRect">
            <a:avLst>
              <a:gd name="adj" fmla="val 4211"/>
            </a:avLst>
          </a:prstGeom>
          <a:solidFill>
            <a:srgbClr val="F6F7F8"/>
          </a:solidFill>
          <a:ln w="12700">
            <a:solidFill>
              <a:srgbClr val="F6F7F8"/>
            </a:solidFill>
            <a:prstDash val="solid"/>
          </a:ln>
        </p:spPr>
      </p:sp>
      <p:sp>
        <p:nvSpPr>
          <p:cNvPr id="12" name="Shape 9"/>
          <p:cNvSpPr/>
          <p:nvPr/>
        </p:nvSpPr>
        <p:spPr>
          <a:xfrm>
            <a:off x="3566160" y="2011680"/>
            <a:ext cx="457200" cy="457200"/>
          </a:xfrm>
          <a:prstGeom prst="ellipse">
            <a:avLst/>
          </a:prstGeom>
          <a:solidFill>
            <a:srgbClr val="0A7F44"/>
          </a:solidFill>
          <a:ln w="12700">
            <a:solidFill>
              <a:srgbClr val="0A7F44"/>
            </a:solidFill>
            <a:prstDash val="solid"/>
          </a:ln>
        </p:spPr>
      </p:sp>
      <p:sp>
        <p:nvSpPr>
          <p:cNvPr id="13" name="Text 10"/>
          <p:cNvSpPr txBox="1"/>
          <p:nvPr/>
        </p:nvSpPr>
        <p:spPr>
          <a:xfrm>
            <a:off x="356616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4" name="Text 11"/>
          <p:cNvSpPr txBox="1"/>
          <p:nvPr/>
        </p:nvSpPr>
        <p:spPr>
          <a:xfrm>
            <a:off x="356616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Share the link</a:t>
            </a:r>
            <a:endParaRPr lang="en-US" sz="1700" dirty="0"/>
          </a:p>
        </p:txBody>
      </p:sp>
      <p:sp>
        <p:nvSpPr>
          <p:cNvPr id="15" name="Text 12"/>
          <p:cNvSpPr txBox="1"/>
          <p:nvPr/>
        </p:nvSpPr>
        <p:spPr>
          <a:xfrm>
            <a:off x="356616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To any group chat. It opens with no account: the game, the place, the spots left, never who is going.</a:t>
            </a:r>
            <a:endParaRPr lang="en-US" sz="1250" dirty="0"/>
          </a:p>
        </p:txBody>
      </p:sp>
      <p:sp>
        <p:nvSpPr>
          <p:cNvPr id="16" name="Shape 13"/>
          <p:cNvSpPr/>
          <p:nvPr/>
        </p:nvSpPr>
        <p:spPr>
          <a:xfrm>
            <a:off x="5961888" y="3291840"/>
            <a:ext cx="146304" cy="0"/>
          </a:xfrm>
          <a:prstGeom prst="line">
            <a:avLst/>
          </a:prstGeom>
          <a:noFill/>
          <a:ln w="22225">
            <a:solidFill>
              <a:srgbClr val="8A8A92"/>
            </a:solidFill>
            <a:prstDash val="solid"/>
            <a:tailEnd type="triangle"/>
          </a:ln>
        </p:spPr>
      </p:sp>
      <p:sp>
        <p:nvSpPr>
          <p:cNvPr id="17" name="Shape 14"/>
          <p:cNvSpPr/>
          <p:nvPr/>
        </p:nvSpPr>
        <p:spPr>
          <a:xfrm>
            <a:off x="6126480" y="1783080"/>
            <a:ext cx="2606040" cy="3017520"/>
          </a:xfrm>
          <a:prstGeom prst="roundRect">
            <a:avLst>
              <a:gd name="adj" fmla="val 4211"/>
            </a:avLst>
          </a:prstGeom>
          <a:solidFill>
            <a:srgbClr val="F6F7F8"/>
          </a:solidFill>
          <a:ln w="12700">
            <a:solidFill>
              <a:srgbClr val="F6F7F8"/>
            </a:solidFill>
            <a:prstDash val="solid"/>
          </a:ln>
        </p:spPr>
      </p:sp>
      <p:sp>
        <p:nvSpPr>
          <p:cNvPr id="18" name="Shape 15"/>
          <p:cNvSpPr/>
          <p:nvPr/>
        </p:nvSpPr>
        <p:spPr>
          <a:xfrm>
            <a:off x="6355080" y="2011680"/>
            <a:ext cx="457200" cy="457200"/>
          </a:xfrm>
          <a:prstGeom prst="ellipse">
            <a:avLst/>
          </a:prstGeom>
          <a:solidFill>
            <a:srgbClr val="0A7F44"/>
          </a:solidFill>
          <a:ln w="12700">
            <a:solidFill>
              <a:srgbClr val="0A7F44"/>
            </a:solidFill>
            <a:prstDash val="solid"/>
          </a:ln>
        </p:spPr>
      </p:sp>
      <p:sp>
        <p:nvSpPr>
          <p:cNvPr id="19" name="Text 16"/>
          <p:cNvSpPr txBox="1"/>
          <p:nvPr/>
        </p:nvSpPr>
        <p:spPr>
          <a:xfrm>
            <a:off x="635508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0" name="Text 17"/>
          <p:cNvSpPr txBox="1"/>
          <p:nvPr/>
        </p:nvSpPr>
        <p:spPr>
          <a:xfrm>
            <a:off x="635508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Tap Join</a:t>
            </a:r>
            <a:endParaRPr lang="en-US" sz="1700" dirty="0"/>
          </a:p>
        </p:txBody>
      </p:sp>
      <p:sp>
        <p:nvSpPr>
          <p:cNvPr id="21" name="Text 18"/>
          <p:cNvSpPr txBox="1"/>
          <p:nvPr/>
        </p:nvSpPr>
        <p:spPr>
          <a:xfrm>
            <a:off x="635508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Sign in once (a demo sign-in for now: Facebook and Instagram login wait for Meta's app review) and the game is joined straight away.</a:t>
            </a:r>
            <a:endParaRPr lang="en-US" sz="1250" dirty="0"/>
          </a:p>
        </p:txBody>
      </p:sp>
      <p:sp>
        <p:nvSpPr>
          <p:cNvPr id="22" name="Shape 19"/>
          <p:cNvSpPr/>
          <p:nvPr/>
        </p:nvSpPr>
        <p:spPr>
          <a:xfrm>
            <a:off x="8750808" y="3291840"/>
            <a:ext cx="146304" cy="0"/>
          </a:xfrm>
          <a:prstGeom prst="line">
            <a:avLst/>
          </a:prstGeom>
          <a:noFill/>
          <a:ln w="22225">
            <a:solidFill>
              <a:srgbClr val="8A8A92"/>
            </a:solidFill>
            <a:prstDash val="solid"/>
            <a:tailEnd type="triangle"/>
          </a:ln>
        </p:spPr>
      </p:sp>
      <p:sp>
        <p:nvSpPr>
          <p:cNvPr id="23" name="Shape 20"/>
          <p:cNvSpPr/>
          <p:nvPr/>
        </p:nvSpPr>
        <p:spPr>
          <a:xfrm>
            <a:off x="8915400" y="1783080"/>
            <a:ext cx="2606040" cy="3017520"/>
          </a:xfrm>
          <a:prstGeom prst="roundRect">
            <a:avLst>
              <a:gd name="adj" fmla="val 4211"/>
            </a:avLst>
          </a:prstGeom>
          <a:solidFill>
            <a:srgbClr val="E9F3EC"/>
          </a:solidFill>
          <a:ln w="12700">
            <a:solidFill>
              <a:srgbClr val="E9F3EC"/>
            </a:solidFill>
            <a:prstDash val="solid"/>
          </a:ln>
        </p:spPr>
      </p:sp>
      <p:sp>
        <p:nvSpPr>
          <p:cNvPr id="24" name="Shape 21"/>
          <p:cNvSpPr/>
          <p:nvPr/>
        </p:nvSpPr>
        <p:spPr>
          <a:xfrm>
            <a:off x="9144000" y="2011680"/>
            <a:ext cx="457200" cy="457200"/>
          </a:xfrm>
          <a:prstGeom prst="ellipse">
            <a:avLst/>
          </a:prstGeom>
          <a:solidFill>
            <a:srgbClr val="0A7F44"/>
          </a:solidFill>
          <a:ln w="12700">
            <a:solidFill>
              <a:srgbClr val="0A7F44"/>
            </a:solidFill>
            <a:prstDash val="solid"/>
          </a:ln>
        </p:spPr>
      </p:sp>
      <p:sp>
        <p:nvSpPr>
          <p:cNvPr id="25" name="Text 22"/>
          <p:cNvSpPr txBox="1"/>
          <p:nvPr/>
        </p:nvSpPr>
        <p:spPr>
          <a:xfrm>
            <a:off x="914400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6" name="Text 23"/>
          <p:cNvSpPr txBox="1"/>
          <p:nvPr/>
        </p:nvSpPr>
        <p:spPr>
          <a:xfrm>
            <a:off x="9144000" y="2651760"/>
            <a:ext cx="2194560" cy="365760"/>
          </a:xfrm>
          <a:prstGeom prst="rect">
            <a:avLst/>
          </a:prstGeom>
          <a:noFill/>
          <a:ln/>
        </p:spPr>
        <p:txBody>
          <a:bodyPr wrap="square" lIns="0" tIns="0" rIns="0" bIns="0" rtlCol="0" anchor="t"/>
          <a:lstStyle/>
          <a:p>
            <a:pPr indent="0" marL="0">
              <a:buNone/>
            </a:pPr>
            <a:r>
              <a:rPr lang="en-US" sz="1700" b="1" dirty="0">
                <a:solidFill>
                  <a:srgbClr val="0A0A0B"/>
                </a:solidFill>
              </a:rPr>
              <a:t>Game on</a:t>
            </a:r>
            <a:endParaRPr lang="en-US" sz="1700" dirty="0"/>
          </a:p>
        </p:txBody>
      </p:sp>
      <p:sp>
        <p:nvSpPr>
          <p:cNvPr id="27" name="Text 24"/>
          <p:cNvSpPr txBox="1"/>
          <p:nvPr/>
        </p:nvSpPr>
        <p:spPr>
          <a:xfrm>
            <a:off x="9144000" y="3108960"/>
            <a:ext cx="2194560" cy="1554480"/>
          </a:xfrm>
          <a:prstGeom prst="rect">
            <a:avLst/>
          </a:prstGeom>
          <a:noFill/>
          <a:ln/>
        </p:spPr>
        <p:txBody>
          <a:bodyPr wrap="square" lIns="0" tIns="0" rIns="0" bIns="0" rtlCol="0" anchor="t"/>
          <a:lstStyle/>
          <a:p>
            <a:pPr indent="0" marL="0">
              <a:buNone/>
            </a:pPr>
            <a:r>
              <a:rPr lang="en-US" sz="1250" dirty="0">
                <a:solidFill>
                  <a:srgbClr val="55555C"/>
                </a:solidFill>
              </a:rPr>
              <a:t>The last spot taken, everyone in it hears "Game on". From then on, their own agent answers for them.</a:t>
            </a:r>
            <a:endParaRPr lang="en-US" sz="1250" dirty="0"/>
          </a:p>
        </p:txBody>
      </p:sp>
      <p:sp>
        <p:nvSpPr>
          <p:cNvPr id="28" name="Shape 25"/>
          <p:cNvSpPr/>
          <p:nvPr/>
        </p:nvSpPr>
        <p:spPr>
          <a:xfrm>
            <a:off x="548640" y="5029200"/>
            <a:ext cx="11064240" cy="1005840"/>
          </a:xfrm>
          <a:prstGeom prst="roundRect">
            <a:avLst>
              <a:gd name="adj" fmla="val 10909"/>
            </a:avLst>
          </a:prstGeom>
          <a:solidFill>
            <a:srgbClr val="FFFFFF"/>
          </a:solidFill>
          <a:ln w="12700">
            <a:solidFill>
              <a:srgbClr val="DCDCE0"/>
            </a:solidFill>
            <a:prstDash val="solid"/>
          </a:ln>
        </p:spPr>
      </p:sp>
      <p:sp>
        <p:nvSpPr>
          <p:cNvPr id="29" name="Text 26"/>
          <p:cNvSpPr txBox="1"/>
          <p:nvPr/>
        </p:nvSpPr>
        <p:spPr>
          <a:xfrm>
            <a:off x="777240" y="5029200"/>
            <a:ext cx="10607040" cy="1005840"/>
          </a:xfrm>
          <a:prstGeom prst="rect">
            <a:avLst/>
          </a:prstGeom>
          <a:noFill/>
          <a:ln/>
        </p:spPr>
        <p:txBody>
          <a:bodyPr wrap="square" lIns="0" tIns="0" rIns="0" bIns="0" rtlCol="0" anchor="ctr"/>
          <a:lstStyle/>
          <a:p>
            <a:pPr indent="0" marL="0">
              <a:buNone/>
            </a:pPr>
            <a:r>
              <a:rPr lang="en-US" sz="1300" b="1" dirty="0">
                <a:solidFill>
                  <a:srgbClr val="0A0A0B"/>
                </a:solidFill>
              </a:rPr>
              <a:t>Why it matters. </a:t>
            </a:r>
            <a:pPr indent="0" marL="0">
              <a:buNone/>
            </a:pPr>
            <a:r>
              <a:rPr lang="en-US" sz="1300" dirty="0">
                <a:solidFill>
                  <a:srgbClr val="0A0A0B"/>
                </a:solidFill>
              </a:rPr>
              <a:t>Agents agree games only between members, so the second player has to get in somehow: the link is that way in, and nobody has to install anything first. A private club's games never leave the club. Live on the public site since 29 Oct; the link page and the join are covered by tests.</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organize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parents and helpers join only when the organizer lets them in. Children have no accounts: first names only, seen by the organizer.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a gentle-games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organizer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"Not after 22:00 on work nights"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Usually one round: they mark times, code picks; a counter-offer if none fits</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 auto-cut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health data only sets scheduling limits,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(an earlier run than slide 11, on court 3)</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usually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 a counter-offer only if none fits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reviews first; Google's are listed with a link, not stored</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Six Meta models carry the product (15 used in all)</a:t>
            </a:r>
            <a:endParaRPr lang="en-US" sz="3200" dirty="0"/>
          </a:p>
        </p:txBody>
      </p:sp>
      <p:sp>
        <p:nvSpPr>
          <p:cNvPr id="5" name="Shape 2"/>
          <p:cNvSpPr/>
          <p:nvPr/>
        </p:nvSpPr>
        <p:spPr>
          <a:xfrm>
            <a:off x="548640" y="1691640"/>
            <a:ext cx="3566160" cy="1645920"/>
          </a:xfrm>
          <a:prstGeom prst="roundRect">
            <a:avLst>
              <a:gd name="adj" fmla="val 6667"/>
            </a:avLst>
          </a:prstGeom>
          <a:solidFill>
            <a:srgbClr val="E9F3EC"/>
          </a:solidFill>
          <a:ln w="12700">
            <a:solidFill>
              <a:srgbClr val="E9F3EC"/>
            </a:solidFill>
            <a:prstDash val="solid"/>
          </a:ln>
        </p:spPr>
      </p:sp>
      <p:sp>
        <p:nvSpPr>
          <p:cNvPr id="6" name="Text 3"/>
          <p:cNvSpPr txBox="1"/>
          <p:nvPr/>
        </p:nvSpPr>
        <p:spPr>
          <a:xfrm>
            <a:off x="74980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7" name="Text 4"/>
          <p:cNvSpPr txBox="1"/>
          <p:nvPr/>
        </p:nvSpPr>
        <p:spPr>
          <a:xfrm>
            <a:off x="74980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Glimmer</a:t>
            </a:r>
            <a:endParaRPr lang="en-US" sz="1700" dirty="0"/>
          </a:p>
        </p:txBody>
      </p:sp>
      <p:sp>
        <p:nvSpPr>
          <p:cNvPr id="8" name="Text 5"/>
          <p:cNvSpPr txBox="1"/>
          <p:nvPr/>
        </p:nvSpPr>
        <p:spPr>
          <a:xfrm>
            <a:off x="74980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agent's decisions: the tool loop, A2A answers, the court judge</a:t>
            </a:r>
            <a:endParaRPr lang="en-US" sz="1200" dirty="0"/>
          </a:p>
        </p:txBody>
      </p:sp>
      <p:sp>
        <p:nvSpPr>
          <p:cNvPr id="9" name="Text 6"/>
          <p:cNvSpPr txBox="1"/>
          <p:nvPr/>
        </p:nvSpPr>
        <p:spPr>
          <a:xfrm>
            <a:off x="74980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RTX 3090 · Ollama · open weights</a:t>
            </a:r>
            <a:endParaRPr lang="en-US" sz="1000" dirty="0"/>
          </a:p>
        </p:txBody>
      </p:sp>
      <p:sp>
        <p:nvSpPr>
          <p:cNvPr id="10" name="Shape 7"/>
          <p:cNvSpPr/>
          <p:nvPr/>
        </p:nvSpPr>
        <p:spPr>
          <a:xfrm>
            <a:off x="4297680" y="1691640"/>
            <a:ext cx="3566160" cy="1645920"/>
          </a:xfrm>
          <a:prstGeom prst="roundRect">
            <a:avLst>
              <a:gd name="adj" fmla="val 6667"/>
            </a:avLst>
          </a:prstGeom>
          <a:solidFill>
            <a:srgbClr val="E9F3EC"/>
          </a:solidFill>
          <a:ln w="12700">
            <a:solidFill>
              <a:srgbClr val="E9F3EC"/>
            </a:solidFill>
            <a:prstDash val="solid"/>
          </a:ln>
        </p:spPr>
      </p:sp>
      <p:sp>
        <p:nvSpPr>
          <p:cNvPr id="11" name="Text 8"/>
          <p:cNvSpPr txBox="1"/>
          <p:nvPr/>
        </p:nvSpPr>
        <p:spPr>
          <a:xfrm>
            <a:off x="4498848" y="1847088"/>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REASONING</a:t>
            </a:r>
            <a:endParaRPr lang="en-US" sz="1000" dirty="0"/>
          </a:p>
        </p:txBody>
      </p:sp>
      <p:sp>
        <p:nvSpPr>
          <p:cNvPr id="12" name="Text 9"/>
          <p:cNvSpPr txBox="1"/>
          <p:nvPr/>
        </p:nvSpPr>
        <p:spPr>
          <a:xfrm>
            <a:off x="449884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3.2 1B student</a:t>
            </a:r>
            <a:endParaRPr lang="en-US" sz="1700" dirty="0"/>
          </a:p>
        </p:txBody>
      </p:sp>
      <p:sp>
        <p:nvSpPr>
          <p:cNvPr id="13" name="Text 10"/>
          <p:cNvSpPr txBox="1"/>
          <p:nvPr/>
        </p:nvSpPr>
        <p:spPr>
          <a:xfrm>
            <a:off x="449884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Distilled from Glimmer; answers alone when sure, in about 0.9 s</a:t>
            </a:r>
            <a:endParaRPr lang="en-US" sz="1200" dirty="0"/>
          </a:p>
        </p:txBody>
      </p:sp>
      <p:sp>
        <p:nvSpPr>
          <p:cNvPr id="14" name="Text 11"/>
          <p:cNvSpPr txBox="1"/>
          <p:nvPr/>
        </p:nvSpPr>
        <p:spPr>
          <a:xfrm>
            <a:off x="449884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fine-tuned here</a:t>
            </a:r>
            <a:endParaRPr lang="en-US" sz="1000" dirty="0"/>
          </a:p>
        </p:txBody>
      </p:sp>
      <p:sp>
        <p:nvSpPr>
          <p:cNvPr id="15" name="Shape 12"/>
          <p:cNvSpPr/>
          <p:nvPr/>
        </p:nvSpPr>
        <p:spPr>
          <a:xfrm>
            <a:off x="8046720" y="1691640"/>
            <a:ext cx="3566160" cy="1645920"/>
          </a:xfrm>
          <a:prstGeom prst="roundRect">
            <a:avLst>
              <a:gd name="adj" fmla="val 6667"/>
            </a:avLst>
          </a:prstGeom>
          <a:solidFill>
            <a:srgbClr val="FBEAE9"/>
          </a:solidFill>
          <a:ln w="12700">
            <a:solidFill>
              <a:srgbClr val="FBEAE9"/>
            </a:solidFill>
            <a:prstDash val="solid"/>
          </a:ln>
        </p:spPr>
      </p:sp>
      <p:sp>
        <p:nvSpPr>
          <p:cNvPr id="16" name="Text 13"/>
          <p:cNvSpPr txBox="1"/>
          <p:nvPr/>
        </p:nvSpPr>
        <p:spPr>
          <a:xfrm>
            <a:off x="8247888" y="18470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17" name="Text 14"/>
          <p:cNvSpPr txBox="1"/>
          <p:nvPr/>
        </p:nvSpPr>
        <p:spPr>
          <a:xfrm>
            <a:off x="8247888" y="21031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Llama Guard 3 1B</a:t>
            </a:r>
            <a:endParaRPr lang="en-US" sz="1700" dirty="0"/>
          </a:p>
        </p:txBody>
      </p:sp>
      <p:sp>
        <p:nvSpPr>
          <p:cNvPr id="18" name="Text 15"/>
          <p:cNvSpPr txBox="1"/>
          <p:nvPr/>
        </p:nvSpPr>
        <p:spPr>
          <a:xfrm>
            <a:off x="8247888" y="2496312"/>
            <a:ext cx="3200400" cy="502920"/>
          </a:xfrm>
          <a:prstGeom prst="rect">
            <a:avLst/>
          </a:prstGeom>
          <a:noFill/>
          <a:ln/>
        </p:spPr>
        <p:txBody>
          <a:bodyPr wrap="square" lIns="0" tIns="0" rIns="0" bIns="0" rtlCol="0" anchor="t"/>
          <a:lstStyle/>
          <a:p>
            <a:pPr indent="0" marL="0">
              <a:buNone/>
            </a:pPr>
            <a:r>
              <a:rPr lang="en-US" sz="1200" dirty="0">
                <a:solidFill>
                  <a:srgbClr val="0A0A0B"/>
                </a:solidFill>
              </a:rPr>
              <a:t>Every message in and out, a person's or an agent's</a:t>
            </a:r>
            <a:endParaRPr lang="en-US" sz="1200" dirty="0"/>
          </a:p>
        </p:txBody>
      </p:sp>
      <p:sp>
        <p:nvSpPr>
          <p:cNvPr id="19" name="Text 16"/>
          <p:cNvSpPr txBox="1"/>
          <p:nvPr/>
        </p:nvSpPr>
        <p:spPr>
          <a:xfrm>
            <a:off x="8247888" y="29992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20" name="Shape 17"/>
          <p:cNvSpPr/>
          <p:nvPr/>
        </p:nvSpPr>
        <p:spPr>
          <a:xfrm>
            <a:off x="548640" y="3520440"/>
            <a:ext cx="3566160" cy="1645920"/>
          </a:xfrm>
          <a:prstGeom prst="roundRect">
            <a:avLst>
              <a:gd name="adj" fmla="val 6667"/>
            </a:avLst>
          </a:prstGeom>
          <a:solidFill>
            <a:srgbClr val="FBEAE9"/>
          </a:solidFill>
          <a:ln w="12700">
            <a:solidFill>
              <a:srgbClr val="FBEAE9"/>
            </a:solidFill>
            <a:prstDash val="solid"/>
          </a:ln>
        </p:spPr>
      </p:sp>
      <p:sp>
        <p:nvSpPr>
          <p:cNvPr id="21" name="Text 18"/>
          <p:cNvSpPr txBox="1"/>
          <p:nvPr/>
        </p:nvSpPr>
        <p:spPr>
          <a:xfrm>
            <a:off x="749808" y="3675888"/>
            <a:ext cx="3108960" cy="228600"/>
          </a:xfrm>
          <a:prstGeom prst="rect">
            <a:avLst/>
          </a:prstGeom>
          <a:noFill/>
          <a:ln/>
        </p:spPr>
        <p:txBody>
          <a:bodyPr wrap="square" lIns="0" tIns="0" rIns="0" bIns="0" rtlCol="0" anchor="t"/>
          <a:lstStyle/>
          <a:p>
            <a:pPr indent="0" marL="0">
              <a:buNone/>
            </a:pPr>
            <a:r>
              <a:rPr lang="en-US" sz="1000" b="1" spc="100" kern="0" dirty="0">
                <a:solidFill>
                  <a:srgbClr val="D1352B"/>
                </a:solidFill>
              </a:rPr>
              <a:t>SAFETY</a:t>
            </a:r>
            <a:endParaRPr lang="en-US" sz="1000" dirty="0"/>
          </a:p>
        </p:txBody>
      </p:sp>
      <p:sp>
        <p:nvSpPr>
          <p:cNvPr id="22" name="Text 19"/>
          <p:cNvSpPr txBox="1"/>
          <p:nvPr/>
        </p:nvSpPr>
        <p:spPr>
          <a:xfrm>
            <a:off x="74980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Prompt Guard 2</a:t>
            </a:r>
            <a:endParaRPr lang="en-US" sz="1700" dirty="0"/>
          </a:p>
        </p:txBody>
      </p:sp>
      <p:sp>
        <p:nvSpPr>
          <p:cNvPr id="23" name="Text 20"/>
          <p:cNvSpPr txBox="1"/>
          <p:nvPr/>
        </p:nvSpPr>
        <p:spPr>
          <a:xfrm>
            <a:off x="74980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Google reviews and members' ideas, before any model reads them</a:t>
            </a:r>
            <a:endParaRPr lang="en-US" sz="1200" dirty="0"/>
          </a:p>
        </p:txBody>
      </p:sp>
      <p:sp>
        <p:nvSpPr>
          <p:cNvPr id="24" name="Text 21"/>
          <p:cNvSpPr txBox="1"/>
          <p:nvPr/>
        </p:nvSpPr>
        <p:spPr>
          <a:xfrm>
            <a:off x="74980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86M</a:t>
            </a:r>
            <a:endParaRPr lang="en-US" sz="1000" dirty="0"/>
          </a:p>
        </p:txBody>
      </p:sp>
      <p:sp>
        <p:nvSpPr>
          <p:cNvPr id="25" name="Shape 22"/>
          <p:cNvSpPr/>
          <p:nvPr/>
        </p:nvSpPr>
        <p:spPr>
          <a:xfrm>
            <a:off x="4297680" y="3520440"/>
            <a:ext cx="3566160" cy="1645920"/>
          </a:xfrm>
          <a:prstGeom prst="roundRect">
            <a:avLst>
              <a:gd name="adj" fmla="val 6667"/>
            </a:avLst>
          </a:prstGeom>
          <a:solidFill>
            <a:srgbClr val="E8F1FD"/>
          </a:solidFill>
          <a:ln w="12700">
            <a:solidFill>
              <a:srgbClr val="E8F1FD"/>
            </a:solidFill>
            <a:prstDash val="solid"/>
          </a:ln>
        </p:spPr>
      </p:sp>
      <p:sp>
        <p:nvSpPr>
          <p:cNvPr id="26" name="Text 23"/>
          <p:cNvSpPr txBox="1"/>
          <p:nvPr/>
        </p:nvSpPr>
        <p:spPr>
          <a:xfrm>
            <a:off x="4498848" y="3675888"/>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MEMORY</a:t>
            </a:r>
            <a:endParaRPr lang="en-US" sz="1000" dirty="0"/>
          </a:p>
        </p:txBody>
      </p:sp>
      <p:sp>
        <p:nvSpPr>
          <p:cNvPr id="27" name="Text 24"/>
          <p:cNvSpPr txBox="1"/>
          <p:nvPr/>
        </p:nvSpPr>
        <p:spPr>
          <a:xfrm>
            <a:off x="449884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DRAMA</a:t>
            </a:r>
            <a:endParaRPr lang="en-US" sz="1700" dirty="0"/>
          </a:p>
        </p:txBody>
      </p:sp>
      <p:sp>
        <p:nvSpPr>
          <p:cNvPr id="28" name="Text 25"/>
          <p:cNvSpPr txBox="1"/>
          <p:nvPr/>
        </p:nvSpPr>
        <p:spPr>
          <a:xfrm>
            <a:off x="449884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Agent memory: what matters for your week, found by meaning</a:t>
            </a:r>
            <a:endParaRPr lang="en-US" sz="1200" dirty="0"/>
          </a:p>
        </p:txBody>
      </p:sp>
      <p:sp>
        <p:nvSpPr>
          <p:cNvPr id="29" name="Text 26"/>
          <p:cNvSpPr txBox="1"/>
          <p:nvPr/>
        </p:nvSpPr>
        <p:spPr>
          <a:xfrm>
            <a:off x="449884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CPU · open weights</a:t>
            </a:r>
            <a:endParaRPr lang="en-US" sz="1000" dirty="0"/>
          </a:p>
        </p:txBody>
      </p:sp>
      <p:sp>
        <p:nvSpPr>
          <p:cNvPr id="30" name="Shape 27"/>
          <p:cNvSpPr/>
          <p:nvPr/>
        </p:nvSpPr>
        <p:spPr>
          <a:xfrm>
            <a:off x="8046720" y="3520440"/>
            <a:ext cx="3566160" cy="1645920"/>
          </a:xfrm>
          <a:prstGeom prst="roundRect">
            <a:avLst>
              <a:gd name="adj" fmla="val 6667"/>
            </a:avLst>
          </a:prstGeom>
          <a:solidFill>
            <a:srgbClr val="FBF3E6"/>
          </a:solidFill>
          <a:ln w="12700">
            <a:solidFill>
              <a:srgbClr val="FBF3E6"/>
            </a:solidFill>
            <a:prstDash val="solid"/>
          </a:ln>
        </p:spPr>
      </p:sp>
      <p:sp>
        <p:nvSpPr>
          <p:cNvPr id="31" name="Text 28"/>
          <p:cNvSpPr txBox="1"/>
          <p:nvPr/>
        </p:nvSpPr>
        <p:spPr>
          <a:xfrm>
            <a:off x="8247888" y="3675888"/>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VOICE</a:t>
            </a:r>
            <a:endParaRPr lang="en-US" sz="1000" dirty="0"/>
          </a:p>
        </p:txBody>
      </p:sp>
      <p:sp>
        <p:nvSpPr>
          <p:cNvPr id="32" name="Text 29"/>
          <p:cNvSpPr txBox="1"/>
          <p:nvPr/>
        </p:nvSpPr>
        <p:spPr>
          <a:xfrm>
            <a:off x="8247888" y="3931920"/>
            <a:ext cx="3200400" cy="365760"/>
          </a:xfrm>
          <a:prstGeom prst="rect">
            <a:avLst/>
          </a:prstGeom>
          <a:noFill/>
          <a:ln/>
        </p:spPr>
        <p:txBody>
          <a:bodyPr wrap="square" lIns="0" tIns="0" rIns="0" bIns="0" rtlCol="0" anchor="t"/>
          <a:lstStyle/>
          <a:p>
            <a:pPr indent="0" marL="0">
              <a:buNone/>
            </a:pPr>
            <a:r>
              <a:rPr lang="en-US" sz="1700" b="1" dirty="0">
                <a:solidFill>
                  <a:srgbClr val="0A0A0B"/>
                </a:solidFill>
              </a:rPr>
              <a:t>Muse Voice Transcribe</a:t>
            </a:r>
            <a:endParaRPr lang="en-US" sz="1700" dirty="0"/>
          </a:p>
        </p:txBody>
      </p:sp>
      <p:sp>
        <p:nvSpPr>
          <p:cNvPr id="33" name="Text 30"/>
          <p:cNvSpPr txBox="1"/>
          <p:nvPr/>
        </p:nvSpPr>
        <p:spPr>
          <a:xfrm>
            <a:off x="8247888" y="4325112"/>
            <a:ext cx="3200400" cy="502920"/>
          </a:xfrm>
          <a:prstGeom prst="rect">
            <a:avLst/>
          </a:prstGeom>
          <a:noFill/>
          <a:ln/>
        </p:spPr>
        <p:txBody>
          <a:bodyPr wrap="square" lIns="0" tIns="0" rIns="0" bIns="0" rtlCol="0" anchor="t"/>
          <a:lstStyle/>
          <a:p>
            <a:pPr indent="0" marL="0">
              <a:buNone/>
            </a:pPr>
            <a:r>
              <a:rPr lang="en-US" sz="1200" dirty="0">
                <a:solidFill>
                  <a:srgbClr val="0A0A0B"/>
                </a:solidFill>
              </a:rPr>
              <a:t>Talk to your agent hands-free, and cut in while it speaks</a:t>
            </a:r>
            <a:endParaRPr lang="en-US" sz="1200" dirty="0"/>
          </a:p>
        </p:txBody>
      </p:sp>
      <p:sp>
        <p:nvSpPr>
          <p:cNvPr id="34" name="Text 31"/>
          <p:cNvSpPr txBox="1"/>
          <p:nvPr/>
        </p:nvSpPr>
        <p:spPr>
          <a:xfrm>
            <a:off x="8247888" y="4828032"/>
            <a:ext cx="3200400" cy="228600"/>
          </a:xfrm>
          <a:prstGeom prst="rect">
            <a:avLst/>
          </a:prstGeom>
          <a:noFill/>
          <a:ln/>
        </p:spPr>
        <p:txBody>
          <a:bodyPr wrap="square" lIns="0" tIns="0" rIns="0" bIns="0" rtlCol="0" anchor="t"/>
          <a:lstStyle/>
          <a:p>
            <a:pPr indent="0" marL="0">
              <a:buNone/>
            </a:pPr>
            <a:r>
              <a:rPr lang="en-US" sz="1000" dirty="0">
                <a:solidFill>
                  <a:srgbClr val="55555C"/>
                </a:solidFill>
              </a:rPr>
              <a:t>Meta Model API · realtime</a:t>
            </a:r>
            <a:endParaRPr lang="en-US" sz="1000" dirty="0"/>
          </a:p>
        </p:txBody>
      </p:sp>
      <p:sp>
        <p:nvSpPr>
          <p:cNvPr id="35" name="Shape 32"/>
          <p:cNvSpPr/>
          <p:nvPr/>
        </p:nvSpPr>
        <p:spPr>
          <a:xfrm>
            <a:off x="548640" y="5440680"/>
            <a:ext cx="11064240" cy="777240"/>
          </a:xfrm>
          <a:prstGeom prst="roundRect">
            <a:avLst>
              <a:gd name="adj" fmla="val 14118"/>
            </a:avLst>
          </a:prstGeom>
          <a:solidFill>
            <a:srgbClr val="F6F7F8"/>
          </a:solidFill>
          <a:ln w="12700">
            <a:solidFill>
              <a:srgbClr val="F6F7F8"/>
            </a:solidFill>
            <a:prstDash val="solid"/>
          </a:ln>
        </p:spPr>
      </p:sp>
      <p:sp>
        <p:nvSpPr>
          <p:cNvPr id="36" name="Text 33"/>
          <p:cNvSpPr txBox="1"/>
          <p:nvPr/>
        </p:nvSpPr>
        <p:spPr>
          <a:xfrm>
            <a:off x="731520" y="5440680"/>
            <a:ext cx="10698480" cy="777240"/>
          </a:xfrm>
          <a:prstGeom prst="rect">
            <a:avLst/>
          </a:prstGeom>
          <a:noFill/>
          <a:ln/>
        </p:spPr>
        <p:txBody>
          <a:bodyPr wrap="square" lIns="0" tIns="0" rIns="0" bIns="0" rtlCol="0" anchor="ctr"/>
          <a:lstStyle/>
          <a:p>
            <a:pPr indent="0" marL="0">
              <a:buNone/>
            </a:pPr>
            <a:r>
              <a:rPr lang="en-US" sz="1200" b="1" dirty="0">
                <a:solidFill>
                  <a:srgbClr val="0A0A0B"/>
                </a:solidFill>
              </a:rPr>
              <a:t>Also: </a:t>
            </a:r>
            <a:pPr indent="0" marL="0">
              <a:buNone/>
            </a:pPr>
            <a:r>
              <a:rPr lang="en-US" sz="1200" dirty="0">
                <a:solidFill>
                  <a:srgbClr val="0A0A0B"/>
                </a:solidFill>
              </a:rPr>
              <a:t>DETR, Sapiens2, SAM 2.1, MapAnything (auto-cut highlights) · Omnilingual ASR (voice notes) · Muse Image (posters, agent faces) · Muse Spark (fallback) · Muse Wonder and SAM 3.1 (checks). Of the 15, 12 run in the product and 3 are checks; all 15 in the appendix.</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WHY EACH ONE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Take one away, and this is what breaks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560320"/>
                <a:gridCol w="7040880"/>
                <a:gridCol w="1463040"/>
              </a:tblGrid>
              <a:tr h="566928">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Without</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What breaks</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Evidence</a:t>
                      </a:r>
                      <a:endParaRPr lang="en-US" sz="11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Muse Glimmer</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 planner and no agent answers: the product does not run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Llama 3.2 1B student</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Every member answer goes to Glimmer: about 40 s instead of 0.9 s, and 54–67% more Glimmer answers in simulated talks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measured</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DRAMA</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The right note comes first 0.35 of the time instead of 0.60 (word matching instead; 20 questions)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measured, small</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Llama Guard 3 1B</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Nothing reads every message in and out; code alone reads only plain words. With it: 37 of 42 unsafe refused, 1 of 74 harmless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Prompt Guard 2</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Google reviews and members' ideas reach the models unscreened; poisoned reviews are among the 93 attacks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566928">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Muse Voice Transcribe</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No talking hands-free and no cutting in while the agent speaks</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300" dirty="0">
                          <a:solidFill>
                            <a:srgbClr val="0A0A0B"/>
                          </a:solidFill>
                          <a:latin typeface="Segoe UI" pitchFamily="34" charset="0"/>
                          <a:ea typeface="Segoe UI" pitchFamily="34" charset="-122"/>
                          <a:cs typeface="Segoe UI" pitchFamily="34" charset="-120"/>
                        </a:rPr>
                        <a:t>by design</a:t>
                      </a:r>
                      <a:endParaRPr lang="en-US" sz="1300" dirty="0">
                        <a:latin typeface="Segoe UI" charset="0"/>
                        <a:ea typeface="Segoe UI" charset="0"/>
                        <a:cs typeface="Segoe UI" charset="0"/>
                      </a:endParaRPr>
                    </a:p>
                  </a:txBody>
                  <a:tcPr marL="109728" marR="109728"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6" name="Text 2"/>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rgbClr val="55555C"/>
                </a:solidFill>
              </a:rPr>
              <a:t>"Measured": numbers from this entry's tests. "By design": what the code does without it.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in the evaluations' ledgers</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1645920"/>
          </a:xfrm>
          <a:prstGeom prst="roundRect">
            <a:avLst>
              <a:gd name="adj" fmla="val 6667"/>
            </a:avLst>
          </a:prstGeom>
          <a:solidFill>
            <a:srgbClr val="E9F3EC"/>
          </a:solidFill>
          <a:ln w="12700">
            <a:solidFill>
              <a:srgbClr val="E9F3EC"/>
            </a:solidFill>
            <a:prstDash val="solid"/>
          </a:ln>
        </p:spPr>
      </p:sp>
      <p:sp>
        <p:nvSpPr>
          <p:cNvPr id="20" name="Text 17"/>
          <p:cNvSpPr txBox="1"/>
          <p:nvPr/>
        </p:nvSpPr>
        <p:spPr>
          <a:xfrm>
            <a:off x="505663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Teacher data</a:t>
            </a:r>
            <a:endParaRPr lang="en-US" sz="1500" dirty="0"/>
          </a:p>
        </p:txBody>
      </p:sp>
      <p:sp>
        <p:nvSpPr>
          <p:cNvPr id="21" name="Text 18"/>
          <p:cNvSpPr txBox="1"/>
          <p:nvPr/>
        </p:nvSpPr>
        <p:spPr>
          <a:xfrm>
            <a:off x="505663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4,868 choices Glimmer made through the real agent call (a separate A100 run); LoRA, 3 epochs, 20 minutes</a:t>
            </a:r>
            <a:endParaRPr lang="en-US" sz="1200" dirty="0"/>
          </a:p>
        </p:txBody>
      </p:sp>
      <p:sp>
        <p:nvSpPr>
          <p:cNvPr id="22" name="Shape 19"/>
          <p:cNvSpPr/>
          <p:nvPr/>
        </p:nvSpPr>
        <p:spPr>
          <a:xfrm>
            <a:off x="8275320" y="1965960"/>
            <a:ext cx="3273552" cy="1645920"/>
          </a:xfrm>
          <a:prstGeom prst="roundRect">
            <a:avLst>
              <a:gd name="adj" fmla="val 6667"/>
            </a:avLst>
          </a:prstGeom>
          <a:solidFill>
            <a:srgbClr val="E9F3EC"/>
          </a:solidFill>
          <a:ln w="12700">
            <a:solidFill>
              <a:srgbClr val="E9F3EC"/>
            </a:solidFill>
            <a:prstDash val="solid"/>
          </a:ln>
        </p:spPr>
      </p:sp>
      <p:sp>
        <p:nvSpPr>
          <p:cNvPr id="23" name="Text 20"/>
          <p:cNvSpPr txBox="1"/>
          <p:nvPr/>
        </p:nvSpPr>
        <p:spPr>
          <a:xfrm>
            <a:off x="8439912" y="2103120"/>
            <a:ext cx="2971800" cy="320040"/>
          </a:xfrm>
          <a:prstGeom prst="rect">
            <a:avLst/>
          </a:prstGeom>
          <a:noFill/>
          <a:ln/>
        </p:spPr>
        <p:txBody>
          <a:bodyPr wrap="square" lIns="0" tIns="0" rIns="0" bIns="0" rtlCol="0" anchor="t"/>
          <a:lstStyle/>
          <a:p>
            <a:pPr indent="0" marL="0">
              <a:buNone/>
            </a:pPr>
            <a:r>
              <a:rPr lang="en-US" sz="1500" b="1" dirty="0">
                <a:solidFill>
                  <a:srgbClr val="0A0A0B"/>
                </a:solidFill>
              </a:rPr>
              <a:t>int4 on the CPU</a:t>
            </a:r>
            <a:endParaRPr lang="en-US" sz="1500" dirty="0"/>
          </a:p>
        </p:txBody>
      </p:sp>
      <p:sp>
        <p:nvSpPr>
          <p:cNvPr id="24" name="Text 21"/>
          <p:cNvSpPr txBox="1"/>
          <p:nvPr/>
        </p:nvSpPr>
        <p:spPr>
          <a:xfrm>
            <a:off x="8439912" y="2514600"/>
            <a:ext cx="2971800" cy="960120"/>
          </a:xfrm>
          <a:prstGeom prst="rect">
            <a:avLst/>
          </a:prstGeom>
          <a:noFill/>
          <a:ln/>
        </p:spPr>
        <p:txBody>
          <a:bodyPr wrap="square" lIns="0" tIns="0" rIns="0" bIns="0" rtlCol="0" anchor="t"/>
          <a:lstStyle/>
          <a:p>
            <a:pPr indent="0" marL="0">
              <a:buNone/>
            </a:pPr>
            <a:r>
              <a:rPr lang="en-US" sz="1200" dirty="0">
                <a:solidFill>
                  <a:srgbClr val="0A0A0B"/>
                </a:solidFill>
              </a:rPr>
              <a:t>0.8 GB; one pass gives a probability per option, about 0.9 s a decision, no text written</a:t>
            </a:r>
            <a:endParaRPr lang="en-US" sz="1200" dirty="0"/>
          </a:p>
        </p:txBody>
      </p:sp>
      <p:graphicFrame>
        <p:nvGraphicFramePr>
          <p:cNvPr id="25"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26" name="Shape 22"/>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27" name="Text 23"/>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28" name="Text 24"/>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answers in simulated talks; on the 500 test cases the student answers 96%</a:t>
            </a:r>
            <a:endParaRPr lang="en-US" sz="1000" dirty="0"/>
          </a:p>
        </p:txBody>
      </p:sp>
      <p:sp>
        <p:nvSpPr>
          <p:cNvPr id="29" name="Shape 25"/>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0" name="Text 26"/>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1" name="Text 27"/>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free within 8 s and answers within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about 0.9 s on the CPU, a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600 tokens, 40 s at p50</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 The week planned in the video took 78 s (13 Glimmer calls), in the background.</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At 0.6 the student answers 96% of the 500 test cases and still agrees with Glimmer 89.9%; at 0.7 it agrees more on the hardest cases but sends more to Glimmer.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SAFETY, 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10896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108960" cy="329184"/>
          </a:xfrm>
          <a:prstGeom prst="rect">
            <a:avLst/>
          </a:prstGeom>
          <a:noFill/>
          <a:ln/>
        </p:spPr>
        <p:txBody>
          <a:bodyPr wrap="square" lIns="0" tIns="0" rIns="0" bIns="0" rtlCol="0" anchor="ctr"/>
          <a:lstStyle/>
          <a:p>
            <a:pPr algn="ctr" indent="0" marL="0">
              <a:buNone/>
            </a:pPr>
            <a:r>
              <a:rPr lang="en-US" sz="1050" b="1" dirty="0">
                <a:solidFill>
                  <a:srgbClr val="55555C"/>
                </a:solidFill>
              </a:rPr>
              <a:t>Measured with a simulated prober</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429000" cy="1143000"/>
          </a:xfrm>
          <a:prstGeom prst="rect">
            <a:avLst/>
          </a:prstGeom>
          <a:noFill/>
          <a:ln/>
        </p:spPr>
        <p:txBody>
          <a:bodyPr wrap="square" lIns="0" tIns="0" rIns="0" bIns="0" rtlCol="0" anchor="ctr"/>
          <a:lstStyle/>
          <a:p>
            <a:pPr indent="0" marL="0">
              <a:buNone/>
            </a:pPr>
            <a:r>
              <a:rPr lang="en-US" sz="1050" dirty="0">
                <a:solidFill>
                  <a:srgbClr val="0A0A0B"/>
                </a:solidFill>
              </a:rPr>
              <a:t>scripted attacks stopped: injected instructions, poisoned reviews, forged Agent Cards, sock-puppet votes. Unsafe messages: 37 of 42 refused, 1 of 74 harmless ones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WHAT IS REAL, WHAT IS SIMULATED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real models; simulated test clubs</a:t>
            </a:r>
            <a:endParaRPr lang="en-US" sz="3200" dirty="0"/>
          </a:p>
        </p:txBody>
      </p:sp>
      <p:sp>
        <p:nvSpPr>
          <p:cNvPr id="5" name="Shape 2"/>
          <p:cNvSpPr/>
          <p:nvPr/>
        </p:nvSpPr>
        <p:spPr>
          <a:xfrm>
            <a:off x="548640" y="1691640"/>
            <a:ext cx="5440680" cy="3429000"/>
          </a:xfrm>
          <a:prstGeom prst="roundRect">
            <a:avLst>
              <a:gd name="adj" fmla="val 3200"/>
            </a:avLst>
          </a:prstGeom>
          <a:solidFill>
            <a:srgbClr val="E9F3EC"/>
          </a:solidFill>
          <a:ln w="12700">
            <a:solidFill>
              <a:srgbClr val="0A7F44"/>
            </a:solidFill>
            <a:prstDash val="solid"/>
          </a:ln>
        </p:spPr>
      </p:sp>
      <p:sp>
        <p:nvSpPr>
          <p:cNvPr id="6" name="Text 3"/>
          <p:cNvSpPr txBox="1"/>
          <p:nvPr/>
        </p:nvSpPr>
        <p:spPr>
          <a:xfrm>
            <a:off x="822960" y="1810512"/>
            <a:ext cx="4937760" cy="228600"/>
          </a:xfrm>
          <a:prstGeom prst="rect">
            <a:avLst/>
          </a:prstGeom>
          <a:noFill/>
          <a:ln/>
        </p:spPr>
        <p:txBody>
          <a:bodyPr wrap="square" lIns="0" tIns="0" rIns="0" bIns="0" rtlCol="0" anchor="t"/>
          <a:lstStyle/>
          <a:p>
            <a:pPr indent="0" marL="0">
              <a:buNone/>
            </a:pPr>
            <a:r>
              <a:rPr lang="en-US" sz="1050" b="1" spc="100" kern="0" dirty="0">
                <a:solidFill>
                  <a:srgbClr val="0A7F44"/>
                </a:solidFill>
              </a:rPr>
              <a:t>REAL</a:t>
            </a:r>
            <a:endParaRPr lang="en-US" sz="1050" dirty="0"/>
          </a:p>
        </p:txBody>
      </p:sp>
      <p:sp>
        <p:nvSpPr>
          <p:cNvPr id="7" name="Text 4"/>
          <p:cNvSpPr txBox="1"/>
          <p:nvPr/>
        </p:nvSpPr>
        <p:spPr>
          <a:xfrm>
            <a:off x="822960" y="2048256"/>
            <a:ext cx="4937760" cy="365760"/>
          </a:xfrm>
          <a:prstGeom prst="rect">
            <a:avLst/>
          </a:prstGeom>
          <a:noFill/>
          <a:ln/>
        </p:spPr>
        <p:txBody>
          <a:bodyPr wrap="square" lIns="0" tIns="0" rIns="0" bIns="0" rtlCol="0" anchor="t"/>
          <a:lstStyle/>
          <a:p>
            <a:pPr indent="0" marL="0">
              <a:buNone/>
            </a:pPr>
            <a:r>
              <a:rPr lang="en-US" sz="1600" b="1" dirty="0">
                <a:solidFill>
                  <a:srgbClr val="0A0A0B"/>
                </a:solidFill>
              </a:rPr>
              <a:t>What a judge can trust as is</a:t>
            </a:r>
            <a:endParaRPr lang="en-US" sz="1600" dirty="0"/>
          </a:p>
        </p:txBody>
      </p:sp>
      <p:sp>
        <p:nvSpPr>
          <p:cNvPr id="8" name="Text 5"/>
          <p:cNvSpPr txBox="1"/>
          <p:nvPr/>
        </p:nvSpPr>
        <p:spPr>
          <a:xfrm>
            <a:off x="822960" y="2468880"/>
            <a:ext cx="4937760" cy="26060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0A0A0B"/>
                </a:solidFill>
              </a:rPr>
              <a:t>8 players, 14 accounts, 2 clubs they started, 4 games, 7 joins on the live site (29 Oct)</a:t>
            </a:r>
            <a:endParaRPr lang="en-US" sz="1150" dirty="0"/>
          </a:p>
          <a:p>
            <a:pPr marL="177800" indent="-177800">
              <a:spcAft>
                <a:spcPts val="400"/>
              </a:spcAft>
              <a:buSzPct val="100000"/>
              <a:buChar char="•"/>
            </a:pPr>
            <a:r>
              <a:rPr lang="en-US" sz="1150" dirty="0">
                <a:solidFill>
                  <a:srgbClr val="0A0A0B"/>
                </a:solidFill>
              </a:rPr>
              <a:t>Every agent's code: A2A over JSON-RPC, signed Agent Cards, holds, crash recovery</a:t>
            </a:r>
            <a:endParaRPr lang="en-US" sz="1150" dirty="0"/>
          </a:p>
          <a:p>
            <a:pPr marL="177800" indent="-177800">
              <a:spcAft>
                <a:spcPts val="400"/>
              </a:spcAft>
              <a:buSzPct val="100000"/>
              <a:buChar char="•"/>
            </a:pPr>
            <a:r>
              <a:rPr lang="en-US" sz="1150" dirty="0">
                <a:solidFill>
                  <a:srgbClr val="0A0A0B"/>
                </a:solidFill>
              </a:rPr>
              <a:t>Muse Glimmer making every decision in the evaluations; the guards, DRAMA, speech recognition</a:t>
            </a:r>
            <a:endParaRPr lang="en-US" sz="1150" dirty="0"/>
          </a:p>
          <a:p>
            <a:pPr marL="177800" indent="-177800">
              <a:spcAft>
                <a:spcPts val="400"/>
              </a:spcAft>
              <a:buSzPct val="100000"/>
              <a:buChar char="•"/>
            </a:pPr>
            <a:r>
              <a:rPr lang="en-US" sz="1150" dirty="0">
                <a:solidFill>
                  <a:srgbClr val="0A0A0B"/>
                </a:solidFill>
              </a:rPr>
              <a:t>Courts from OpenStreetMap, real forecasts; Messenger's webhook on a real Page (Facebook and Instagram login wait for Meta's app review: players use a demo sign-in)</a:t>
            </a:r>
            <a:endParaRPr lang="en-US" sz="1150" dirty="0"/>
          </a:p>
          <a:p>
            <a:pPr marL="177800" indent="-177800">
              <a:spcAft>
                <a:spcPts val="400"/>
              </a:spcAft>
              <a:buSzPct val="100000"/>
              <a:buChar char="•"/>
            </a:pPr>
            <a:r>
              <a:rPr lang="en-US" sz="1150" dirty="0">
                <a:solidFill>
                  <a:srgbClr val="0A0A0B"/>
                </a:solidFill>
              </a:rPr>
              <a:t>Highlights cut from real footage (a CC BY clip)</a:t>
            </a:r>
            <a:endParaRPr lang="en-US" sz="1150" dirty="0"/>
          </a:p>
        </p:txBody>
      </p:sp>
      <p:sp>
        <p:nvSpPr>
          <p:cNvPr id="9" name="Shape 6"/>
          <p:cNvSpPr/>
          <p:nvPr/>
        </p:nvSpPr>
        <p:spPr>
          <a:xfrm>
            <a:off x="6172200" y="1691640"/>
            <a:ext cx="5440680" cy="3429000"/>
          </a:xfrm>
          <a:prstGeom prst="roundRect">
            <a:avLst>
              <a:gd name="adj" fmla="val 3200"/>
            </a:avLst>
          </a:prstGeom>
          <a:solidFill>
            <a:srgbClr val="FBF3E6"/>
          </a:solidFill>
          <a:ln w="12700">
            <a:solidFill>
              <a:srgbClr val="B26A00"/>
            </a:solidFill>
            <a:prstDash val="solid"/>
          </a:ln>
        </p:spPr>
      </p:sp>
      <p:sp>
        <p:nvSpPr>
          <p:cNvPr id="10" name="Text 7"/>
          <p:cNvSpPr txBox="1"/>
          <p:nvPr/>
        </p:nvSpPr>
        <p:spPr>
          <a:xfrm>
            <a:off x="6446520" y="1810512"/>
            <a:ext cx="4937760" cy="228600"/>
          </a:xfrm>
          <a:prstGeom prst="rect">
            <a:avLst/>
          </a:prstGeom>
          <a:noFill/>
          <a:ln/>
        </p:spPr>
        <p:txBody>
          <a:bodyPr wrap="square" lIns="0" tIns="0" rIns="0" bIns="0" rtlCol="0" anchor="t"/>
          <a:lstStyle/>
          <a:p>
            <a:pPr indent="0" marL="0">
              <a:buNone/>
            </a:pPr>
            <a:r>
              <a:rPr lang="en-US" sz="1050" b="1" spc="100" kern="0" dirty="0">
                <a:solidFill>
                  <a:srgbClr val="B26A00"/>
                </a:solidFill>
              </a:rPr>
              <a:t>SIMULATED, AND LABELLED SO</a:t>
            </a:r>
            <a:endParaRPr lang="en-US" sz="1050" dirty="0"/>
          </a:p>
        </p:txBody>
      </p:sp>
      <p:sp>
        <p:nvSpPr>
          <p:cNvPr id="11" name="Text 8"/>
          <p:cNvSpPr txBox="1"/>
          <p:nvPr/>
        </p:nvSpPr>
        <p:spPr>
          <a:xfrm>
            <a:off x="6446520" y="2048256"/>
            <a:ext cx="4937760" cy="365760"/>
          </a:xfrm>
          <a:prstGeom prst="rect">
            <a:avLst/>
          </a:prstGeom>
          <a:noFill/>
          <a:ln/>
        </p:spPr>
        <p:txBody>
          <a:bodyPr wrap="square" lIns="0" tIns="0" rIns="0" bIns="0" rtlCol="0" anchor="t"/>
          <a:lstStyle/>
          <a:p>
            <a:pPr indent="0" marL="0">
              <a:buNone/>
            </a:pPr>
            <a:r>
              <a:rPr lang="en-US" sz="1600" b="1" dirty="0">
                <a:solidFill>
                  <a:srgbClr val="0A0A0B"/>
                </a:solidFill>
              </a:rPr>
              <a:t>Clubs built for the tests</a:t>
            </a:r>
            <a:endParaRPr lang="en-US" sz="1600" dirty="0"/>
          </a:p>
        </p:txBody>
      </p:sp>
      <p:sp>
        <p:nvSpPr>
          <p:cNvPr id="12" name="Text 9"/>
          <p:cNvSpPr txBox="1"/>
          <p:nvPr/>
        </p:nvSpPr>
        <p:spPr>
          <a:xfrm>
            <a:off x="6446520" y="2468880"/>
            <a:ext cx="4937760" cy="260604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0A0A0B"/>
                </a:solidFill>
              </a:rPr>
              <a:t>The demo club's members, venues and free times (marked demo in the app)</a:t>
            </a:r>
            <a:endParaRPr lang="en-US" sz="1150" dirty="0"/>
          </a:p>
          <a:p>
            <a:pPr marL="177800" indent="-177800">
              <a:spcAft>
                <a:spcPts val="400"/>
              </a:spcAft>
              <a:buSzPct val="100000"/>
              <a:buChar char="•"/>
            </a:pPr>
            <a:r>
              <a:rPr lang="en-US" sz="1150" dirty="0">
                <a:solidFill>
                  <a:srgbClr val="0A0A0B"/>
                </a:solidFill>
              </a:rPr>
              <a:t>The members in the scale, rules, matchmaking and student tests (seeds 7 and 11)</a:t>
            </a:r>
            <a:endParaRPr lang="en-US" sz="1150" dirty="0"/>
          </a:p>
          <a:p>
            <a:pPr marL="177800" indent="-177800">
              <a:spcAft>
                <a:spcPts val="400"/>
              </a:spcAft>
              <a:buSzPct val="100000"/>
              <a:buChar char="•"/>
            </a:pPr>
            <a:r>
              <a:rPr lang="en-US" sz="1150" dirty="0">
                <a:solidFill>
                  <a:srgbClr val="0A0A0B"/>
                </a:solidFill>
              </a:rPr>
              <a:t>The community loop's club of 60 and its votes</a:t>
            </a:r>
            <a:endParaRPr lang="en-US" sz="1150" dirty="0"/>
          </a:p>
          <a:p>
            <a:pPr marL="177800" indent="-177800">
              <a:spcAft>
                <a:spcPts val="400"/>
              </a:spcAft>
              <a:buSzPct val="100000"/>
              <a:buChar char="•"/>
            </a:pPr>
            <a:r>
              <a:rPr lang="en-US" sz="1150" dirty="0">
                <a:solidFill>
                  <a:srgbClr val="0A0A0B"/>
                </a:solidFill>
              </a:rPr>
              <a:t>The 20,000 requests in the asking test; the prober in the disclosure test</a:t>
            </a:r>
            <a:endParaRPr lang="en-US" sz="1150" dirty="0"/>
          </a:p>
          <a:p>
            <a:pPr marL="177800" indent="-177800">
              <a:spcAft>
                <a:spcPts val="400"/>
              </a:spcAft>
              <a:buSzPct val="100000"/>
              <a:buChar char="•"/>
            </a:pPr>
            <a:r>
              <a:rPr lang="en-US" sz="1150" dirty="0">
                <a:solidFill>
                  <a:srgbClr val="0A0A0B"/>
                </a:solidFill>
              </a:rPr>
              <a:t>The attacks and unsafe messages: labelled tests I wrote</a:t>
            </a:r>
            <a:endParaRPr lang="en-US" sz="1150" dirty="0"/>
          </a:p>
        </p:txBody>
      </p:sp>
      <p:sp>
        <p:nvSpPr>
          <p:cNvPr id="13" name="Shape 10"/>
          <p:cNvSpPr/>
          <p:nvPr/>
        </p:nvSpPr>
        <p:spPr>
          <a:xfrm>
            <a:off x="548640" y="5257800"/>
            <a:ext cx="11064240" cy="868680"/>
          </a:xfrm>
          <a:prstGeom prst="roundRect">
            <a:avLst>
              <a:gd name="adj" fmla="val 12632"/>
            </a:avLst>
          </a:prstGeom>
          <a:solidFill>
            <a:srgbClr val="FBEAE9"/>
          </a:solidFill>
          <a:ln w="12700">
            <a:solidFill>
              <a:srgbClr val="FBEAE9"/>
            </a:solidFill>
            <a:prstDash val="solid"/>
          </a:ln>
        </p:spPr>
      </p:sp>
      <p:sp>
        <p:nvSpPr>
          <p:cNvPr id="14" name="Text 11"/>
          <p:cNvSpPr txBox="1"/>
          <p:nvPr/>
        </p:nvSpPr>
        <p:spPr>
          <a:xfrm>
            <a:off x="777240" y="5349240"/>
            <a:ext cx="2743200" cy="228600"/>
          </a:xfrm>
          <a:prstGeom prst="rect">
            <a:avLst/>
          </a:prstGeom>
          <a:noFill/>
          <a:ln/>
        </p:spPr>
        <p:txBody>
          <a:bodyPr wrap="square" lIns="0" tIns="0" rIns="0" bIns="0" rtlCol="0" anchor="t"/>
          <a:lstStyle/>
          <a:p>
            <a:pPr indent="0" marL="0">
              <a:buNone/>
            </a:pPr>
            <a:r>
              <a:rPr lang="en-US" sz="1050" b="1" spc="100" kern="0" dirty="0">
                <a:solidFill>
                  <a:srgbClr val="D1352B"/>
                </a:solidFill>
              </a:rPr>
              <a:t>KNOWN FAILURES</a:t>
            </a:r>
            <a:endParaRPr lang="en-US" sz="1050" dirty="0"/>
          </a:p>
        </p:txBody>
      </p:sp>
      <p:sp>
        <p:nvSpPr>
          <p:cNvPr id="15" name="Text 12"/>
          <p:cNvSpPr txBox="1"/>
          <p:nvPr/>
        </p:nvSpPr>
        <p:spPr>
          <a:xfrm>
            <a:off x="777240" y="5577840"/>
            <a:ext cx="10607040" cy="502920"/>
          </a:xfrm>
          <a:prstGeom prst="rect">
            <a:avLst/>
          </a:prstGeom>
          <a:noFill/>
          <a:ln/>
        </p:spPr>
        <p:txBody>
          <a:bodyPr wrap="square" lIns="0" tIns="0" rIns="0" bIns="0" rtlCol="0" anchor="t"/>
          <a:lstStyle/>
          <a:p>
            <a:pPr indent="0" marL="0">
              <a:buNone/>
            </a:pPr>
            <a:r>
              <a:rPr lang="en-US" sz="1100" dirty="0">
                <a:solidFill>
                  <a:srgbClr val="0A0A0B"/>
                </a:solidFill>
              </a:rPr>
              <a:t>5 of 42 unsafe messages got past Llama Guard and code · 1 of 74 harmless ones refused · 9% of Glimmer calls came back empty (mostly a small budget: every call now has room to reason) · with a rule only in a member's words, Glimmer broke it in 1 of 60 talks</a:t>
            </a:r>
            <a:endParaRPr lang="en-US" sz="1100" dirty="0"/>
          </a:p>
        </p:txBody>
      </p:sp>
      <p:sp>
        <p:nvSpPr>
          <p:cNvPr id="16" name="Text 13"/>
          <p:cNvSpPr txBox="1"/>
          <p:nvPr/>
        </p:nvSpPr>
        <p:spPr>
          <a:xfrm>
            <a:off x="548640" y="6199632"/>
            <a:ext cx="11064240" cy="274320"/>
          </a:xfrm>
          <a:prstGeom prst="rect">
            <a:avLst/>
          </a:prstGeom>
          <a:noFill/>
          <a:ln/>
        </p:spPr>
        <p:txBody>
          <a:bodyPr wrap="square" lIns="0" tIns="0" rIns="0" bIns="0" rtlCol="0" anchor="t"/>
          <a:lstStyle/>
          <a:p>
            <a:pPr indent="0" marL="0">
              <a:buNone/>
            </a:pPr>
            <a:r>
              <a:rPr lang="en-US" sz="1050" i="1" dirty="0">
                <a:solidFill>
                  <a:srgbClr val="55555C"/>
                </a:solidFill>
              </a:rPr>
              <a:t>The simulations show the agents keep what members stated; they do not show how real people react. The live club measures that.</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BUILT DURING THE HACKATHON · OCT 27 – NOV 4, 2026</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New here, mine from before, third party</a:t>
            </a:r>
            <a:endParaRPr lang="en-US" sz="3200" dirty="0"/>
          </a:p>
        </p:txBody>
      </p:sp>
      <p:sp>
        <p:nvSpPr>
          <p:cNvPr id="5" name="Shape 2"/>
          <p:cNvSpPr/>
          <p:nvPr/>
        </p:nvSpPr>
        <p:spPr>
          <a:xfrm>
            <a:off x="548640" y="1691640"/>
            <a:ext cx="4206240" cy="4389120"/>
          </a:xfrm>
          <a:prstGeom prst="roundRect">
            <a:avLst>
              <a:gd name="adj" fmla="val 2609"/>
            </a:avLst>
          </a:prstGeom>
          <a:solidFill>
            <a:srgbClr val="E9F3EC"/>
          </a:solidFill>
          <a:ln w="12700">
            <a:solidFill>
              <a:srgbClr val="0A7F44"/>
            </a:solidFill>
            <a:prstDash val="solid"/>
          </a:ln>
        </p:spPr>
      </p:sp>
      <p:sp>
        <p:nvSpPr>
          <p:cNvPr id="6" name="Text 3"/>
          <p:cNvSpPr txBox="1"/>
          <p:nvPr/>
        </p:nvSpPr>
        <p:spPr>
          <a:xfrm>
            <a:off x="777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A7F44"/>
                </a:solidFill>
              </a:rPr>
              <a:t>BUILT HERE</a:t>
            </a:r>
            <a:endParaRPr lang="en-US" sz="1050" dirty="0"/>
          </a:p>
        </p:txBody>
      </p:sp>
      <p:sp>
        <p:nvSpPr>
          <p:cNvPr id="7" name="Text 4"/>
          <p:cNvSpPr txBox="1"/>
          <p:nvPr/>
        </p:nvSpPr>
        <p:spPr>
          <a:xfrm>
            <a:off x="777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All the code</a:t>
            </a:r>
            <a:endParaRPr lang="en-US" sz="1600" dirty="0"/>
          </a:p>
        </p:txBody>
      </p:sp>
      <p:sp>
        <p:nvSpPr>
          <p:cNvPr id="8" name="Text 5"/>
          <p:cNvSpPr txBox="1"/>
          <p:nvPr/>
        </p:nvSpPr>
        <p:spPr>
          <a:xfrm>
            <a:off x="777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The gateway and every agent; A2A and its signing; matchmaking; memory and beliefs</a:t>
            </a:r>
            <a:endParaRPr lang="en-US" sz="1200" dirty="0"/>
          </a:p>
          <a:p>
            <a:pPr marL="152400" indent="-152400">
              <a:spcAft>
                <a:spcPts val="500"/>
              </a:spcAft>
              <a:buSzPct val="100000"/>
              <a:buChar char="•"/>
            </a:pPr>
            <a:r>
              <a:rPr lang="en-US" sz="1200" dirty="0">
                <a:solidFill>
                  <a:srgbClr val="0A0A0B"/>
                </a:solidFill>
              </a:rPr>
              <a:t>The community loop and its builder; the highlight pipeline's code</a:t>
            </a:r>
            <a:endParaRPr lang="en-US" sz="1200" dirty="0"/>
          </a:p>
          <a:p>
            <a:pPr marL="152400" indent="-152400">
              <a:spcAft>
                <a:spcPts val="500"/>
              </a:spcAft>
              <a:buSzPct val="100000"/>
              <a:buChar char="•"/>
            </a:pPr>
            <a:r>
              <a:rPr lang="en-US" sz="1200" dirty="0">
                <a:solidFill>
                  <a:srgbClr val="0A0A0B"/>
                </a:solidFill>
              </a:rPr>
              <a:t>The web app, members, clubs, the per-player gateways</a:t>
            </a:r>
            <a:endParaRPr lang="en-US" sz="1200" dirty="0"/>
          </a:p>
          <a:p>
            <a:pPr marL="152400" indent="-152400">
              <a:spcAft>
                <a:spcPts val="500"/>
              </a:spcAft>
              <a:buSzPct val="100000"/>
              <a:buChar char="•"/>
            </a:pPr>
            <a:r>
              <a:rPr lang="en-US" sz="1200" dirty="0">
                <a:solidFill>
                  <a:srgbClr val="0A0A0B"/>
                </a:solidFill>
              </a:rPr>
              <a:t>The Llama 3.2 1B student, fine-tuned from Glimmer's choices</a:t>
            </a:r>
            <a:endParaRPr lang="en-US" sz="1200" dirty="0"/>
          </a:p>
          <a:p>
            <a:pPr marL="152400" indent="-152400">
              <a:spcAft>
                <a:spcPts val="500"/>
              </a:spcAft>
              <a:buSzPct val="100000"/>
              <a:buChar char="•"/>
            </a:pPr>
            <a:r>
              <a:rPr lang="en-US" sz="1200" dirty="0">
                <a:solidFill>
                  <a:srgbClr val="0A0A0B"/>
                </a:solidFill>
              </a:rPr>
              <a:t>Every test and evaluation; the demo video (2:27)</a:t>
            </a:r>
            <a:endParaRPr lang="en-US" sz="1200" dirty="0"/>
          </a:p>
          <a:p>
            <a:pPr marL="152400" indent="-152400">
              <a:spcAft>
                <a:spcPts val="500"/>
              </a:spcAft>
              <a:buSzPct val="100000"/>
              <a:buChar char="•"/>
            </a:pPr>
            <a:r>
              <a:rPr lang="en-US" sz="1200" dirty="0">
                <a:solidFill>
                  <a:srgbClr val="0A0A0B"/>
                </a:solidFill>
              </a:rPr>
              <a:t>Started Oct 28 (day 2 of the hackathon); over 900 commits since</a:t>
            </a:r>
            <a:endParaRPr lang="en-US" sz="1200" dirty="0"/>
          </a:p>
        </p:txBody>
      </p:sp>
      <p:sp>
        <p:nvSpPr>
          <p:cNvPr id="9" name="Shape 6"/>
          <p:cNvSpPr/>
          <p:nvPr/>
        </p:nvSpPr>
        <p:spPr>
          <a:xfrm>
            <a:off x="4892040" y="1691640"/>
            <a:ext cx="2377440" cy="4389120"/>
          </a:xfrm>
          <a:prstGeom prst="roundRect">
            <a:avLst>
              <a:gd name="adj" fmla="val 4615"/>
            </a:avLst>
          </a:prstGeom>
          <a:solidFill>
            <a:srgbClr val="F6F7F8"/>
          </a:solidFill>
          <a:ln w="12700">
            <a:solidFill>
              <a:srgbClr val="55555C"/>
            </a:solidFill>
            <a:prstDash val="solid"/>
          </a:ln>
        </p:spPr>
      </p:sp>
      <p:sp>
        <p:nvSpPr>
          <p:cNvPr id="10" name="Text 7"/>
          <p:cNvSpPr txBox="1"/>
          <p:nvPr/>
        </p:nvSpPr>
        <p:spPr>
          <a:xfrm>
            <a:off x="5120640" y="1828800"/>
            <a:ext cx="1920240" cy="228600"/>
          </a:xfrm>
          <a:prstGeom prst="rect">
            <a:avLst/>
          </a:prstGeom>
          <a:noFill/>
          <a:ln/>
        </p:spPr>
        <p:txBody>
          <a:bodyPr wrap="square" lIns="0" tIns="0" rIns="0" bIns="0" rtlCol="0" anchor="t"/>
          <a:lstStyle/>
          <a:p>
            <a:pPr indent="0" marL="0">
              <a:buNone/>
            </a:pPr>
            <a:r>
              <a:rPr lang="en-US" sz="1050" b="1" spc="100" kern="0" dirty="0">
                <a:solidFill>
                  <a:srgbClr val="55555C"/>
                </a:solidFill>
              </a:rPr>
              <a:t>MINE, FROM BEFORE</a:t>
            </a:r>
            <a:endParaRPr lang="en-US" sz="1050" dirty="0"/>
          </a:p>
        </p:txBody>
      </p:sp>
      <p:sp>
        <p:nvSpPr>
          <p:cNvPr id="11" name="Text 8"/>
          <p:cNvSpPr txBox="1"/>
          <p:nvPr/>
        </p:nvSpPr>
        <p:spPr>
          <a:xfrm>
            <a:off x="5120640" y="2084832"/>
            <a:ext cx="1920240" cy="365760"/>
          </a:xfrm>
          <a:prstGeom prst="rect">
            <a:avLst/>
          </a:prstGeom>
          <a:noFill/>
          <a:ln/>
        </p:spPr>
        <p:txBody>
          <a:bodyPr wrap="square" lIns="0" tIns="0" rIns="0" bIns="0" rtlCol="0" anchor="t"/>
          <a:lstStyle/>
          <a:p>
            <a:pPr indent="0" marL="0">
              <a:buNone/>
            </a:pPr>
            <a:r>
              <a:rPr lang="en-US" sz="1600" b="1" dirty="0">
                <a:solidFill>
                  <a:srgbClr val="0A0A0B"/>
                </a:solidFill>
              </a:rPr>
              <a:t>Off in this entry</a:t>
            </a:r>
            <a:endParaRPr lang="en-US" sz="1600" dirty="0"/>
          </a:p>
        </p:txBody>
      </p:sp>
      <p:sp>
        <p:nvSpPr>
          <p:cNvPr id="12" name="Text 9"/>
          <p:cNvSpPr txBox="1"/>
          <p:nvPr/>
        </p:nvSpPr>
        <p:spPr>
          <a:xfrm>
            <a:off x="5120640" y="2542032"/>
            <a:ext cx="19202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TrackNetV5, my published shuttle tracker (ICIP 2026): off by default, not loaded in this entry</a:t>
            </a:r>
            <a:endParaRPr lang="en-US" sz="1200" dirty="0"/>
          </a:p>
        </p:txBody>
      </p:sp>
      <p:sp>
        <p:nvSpPr>
          <p:cNvPr id="13" name="Shape 10"/>
          <p:cNvSpPr/>
          <p:nvPr/>
        </p:nvSpPr>
        <p:spPr>
          <a:xfrm>
            <a:off x="7406640" y="1691640"/>
            <a:ext cx="4206240" cy="4389120"/>
          </a:xfrm>
          <a:prstGeom prst="roundRect">
            <a:avLst>
              <a:gd name="adj" fmla="val 2609"/>
            </a:avLst>
          </a:prstGeom>
          <a:solidFill>
            <a:srgbClr val="E8F1FD"/>
          </a:solidFill>
          <a:ln w="12700">
            <a:solidFill>
              <a:srgbClr val="0064E0"/>
            </a:solidFill>
            <a:prstDash val="solid"/>
          </a:ln>
        </p:spPr>
      </p:sp>
      <p:sp>
        <p:nvSpPr>
          <p:cNvPr id="14" name="Text 11"/>
          <p:cNvSpPr txBox="1"/>
          <p:nvPr/>
        </p:nvSpPr>
        <p:spPr>
          <a:xfrm>
            <a:off x="7635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064E0"/>
                </a:solidFill>
              </a:rPr>
              <a:t>THIRD PARTY, AS PUBLISHED</a:t>
            </a:r>
            <a:endParaRPr lang="en-US" sz="1050" dirty="0"/>
          </a:p>
        </p:txBody>
      </p:sp>
      <p:sp>
        <p:nvSpPr>
          <p:cNvPr id="15" name="Text 12"/>
          <p:cNvSpPr txBox="1"/>
          <p:nvPr/>
        </p:nvSpPr>
        <p:spPr>
          <a:xfrm>
            <a:off x="7635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Models, software, data</a:t>
            </a:r>
            <a:endParaRPr lang="en-US" sz="1600" dirty="0"/>
          </a:p>
        </p:txBody>
      </p:sp>
      <p:sp>
        <p:nvSpPr>
          <p:cNvPr id="16" name="Text 13"/>
          <p:cNvSpPr txBox="1"/>
          <p:nvPr/>
        </p:nvSpPr>
        <p:spPr>
          <a:xfrm>
            <a:off x="7635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0A0A0B"/>
                </a:solidFill>
              </a:rPr>
              <a:t>Meta: Muse Glimmer, Llama 3.2 1B, Llama Guard 3, Prompt Guard 2, DRAMA, Omnilingual ASR, DETR, Sapiens2, SAM 2.1, MapAnything; API: Muse Spark, Voice Transcribe, Image, Wonder, SAM 3.1</a:t>
            </a:r>
            <a:endParaRPr lang="en-US" sz="1100" dirty="0"/>
          </a:p>
          <a:p>
            <a:pPr marL="152400" indent="-152400">
              <a:spcAft>
                <a:spcPts val="500"/>
              </a:spcAft>
              <a:buSzPct val="100000"/>
              <a:buChar char="•"/>
            </a:pPr>
            <a:r>
              <a:rPr lang="en-US" sz="1100" dirty="0">
                <a:solidFill>
                  <a:srgbClr val="0A0A0B"/>
                </a:solidFill>
              </a:rPr>
              <a:t>Other models: Kokoro (speech), IBM Granite (optional), WASB (off)</a:t>
            </a:r>
            <a:endParaRPr lang="en-US" sz="1100" dirty="0"/>
          </a:p>
          <a:p>
            <a:pPr marL="152400" indent="-152400">
              <a:spcAft>
                <a:spcPts val="500"/>
              </a:spcAft>
              <a:buSzPct val="100000"/>
              <a:buChar char="•"/>
            </a:pPr>
            <a:r>
              <a:rPr lang="en-US" sz="1100" dirty="0">
                <a:solidFill>
                  <a:srgbClr val="0A0A0B"/>
                </a:solidFill>
              </a:rPr>
              <a:t>Software: A2A SDK, Ollama, Transformers, OpenTelemetry, React, Vite, Leaflet, Cloudflare tunnel</a:t>
            </a:r>
            <a:endParaRPr lang="en-US" sz="1100" dirty="0"/>
          </a:p>
          <a:p>
            <a:pPr marL="152400" indent="-152400">
              <a:spcAft>
                <a:spcPts val="500"/>
              </a:spcAft>
              <a:buSzPct val="100000"/>
              <a:buChar char="•"/>
            </a:pPr>
            <a:r>
              <a:rPr lang="en-US" sz="1100" dirty="0">
                <a:solidFill>
                  <a:srgbClr val="0A0A0B"/>
                </a:solidFill>
              </a:rPr>
              <a:t>Data: OpenStreetMap, Open-Meteo, Google Places, CC BY clips (credited)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 · THE VIDEO, 2:27</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Three acts, all in the running app</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3566160" cy="2005965"/>
          </a:xfrm>
          <a:prstGeom prst="rect">
            <a:avLst/>
          </a:prstGeom>
        </p:spPr>
      </p:pic>
      <p:sp>
        <p:nvSpPr>
          <p:cNvPr id="6" name="Shape 2"/>
          <p:cNvSpPr/>
          <p:nvPr/>
        </p:nvSpPr>
        <p:spPr>
          <a:xfrm>
            <a:off x="548640" y="1783080"/>
            <a:ext cx="3566160" cy="2005965"/>
          </a:xfrm>
          <a:prstGeom prst="rect">
            <a:avLst/>
          </a:prstGeom>
          <a:ln w="12700">
            <a:solidFill>
              <a:srgbClr val="DCDCE0"/>
            </a:solidFill>
            <a:prstDash val="solid"/>
          </a:ln>
        </p:spPr>
      </p:sp>
      <p:sp>
        <p:nvSpPr>
          <p:cNvPr id="7" name="Shape 3"/>
          <p:cNvSpPr/>
          <p:nvPr/>
        </p:nvSpPr>
        <p:spPr>
          <a:xfrm>
            <a:off x="548640" y="3977640"/>
            <a:ext cx="731520" cy="329184"/>
          </a:xfrm>
          <a:prstGeom prst="roundRect">
            <a:avLst>
              <a:gd name="adj" fmla="val 50000"/>
            </a:avLst>
          </a:prstGeom>
          <a:solidFill>
            <a:srgbClr val="0A7F44"/>
          </a:solidFill>
          <a:ln w="12700">
            <a:solidFill>
              <a:srgbClr val="0A7F44"/>
            </a:solidFill>
            <a:prstDash val="solid"/>
          </a:ln>
        </p:spPr>
      </p:sp>
      <p:sp>
        <p:nvSpPr>
          <p:cNvPr id="8" name="Text 4"/>
          <p:cNvSpPr txBox="1"/>
          <p:nvPr/>
        </p:nvSpPr>
        <p:spPr>
          <a:xfrm>
            <a:off x="54864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0:41</a:t>
            </a:r>
            <a:endParaRPr lang="en-US" sz="1100" dirty="0"/>
          </a:p>
        </p:txBody>
      </p:sp>
      <p:sp>
        <p:nvSpPr>
          <p:cNvPr id="9" name="Text 5"/>
          <p:cNvSpPr txBox="1"/>
          <p:nvPr/>
        </p:nvSpPr>
        <p:spPr>
          <a:xfrm>
            <a:off x="54864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1 · cold start: Leo has no account, the link joins him, and Mia hears "Game on" at once</a:t>
            </a:r>
            <a:endParaRPr lang="en-US" sz="1250" dirty="0"/>
          </a:p>
        </p:txBody>
      </p:sp>
      <p:pic>
        <p:nvPicPr>
          <p:cNvPr id="10" name="Image 1" descr="preencoded.png">    </p:cNvPr>
          <p:cNvPicPr>
            <a:picLocks noChangeAspect="1"/>
          </p:cNvPicPr>
          <p:nvPr/>
        </p:nvPicPr>
        <p:blipFill>
          <a:blip r:embed="rId2"/>
          <a:stretch>
            <a:fillRect/>
          </a:stretch>
        </p:blipFill>
        <p:spPr>
          <a:xfrm>
            <a:off x="4297680" y="1783080"/>
            <a:ext cx="3566160" cy="2005965"/>
          </a:xfrm>
          <a:prstGeom prst="rect">
            <a:avLst/>
          </a:prstGeom>
        </p:spPr>
      </p:pic>
      <p:sp>
        <p:nvSpPr>
          <p:cNvPr id="11" name="Shape 6"/>
          <p:cNvSpPr/>
          <p:nvPr/>
        </p:nvSpPr>
        <p:spPr>
          <a:xfrm>
            <a:off x="4297680" y="1783080"/>
            <a:ext cx="3566160" cy="2005965"/>
          </a:xfrm>
          <a:prstGeom prst="rect">
            <a:avLst/>
          </a:prstGeom>
          <a:ln w="12700">
            <a:solidFill>
              <a:srgbClr val="DCDCE0"/>
            </a:solidFill>
            <a:prstDash val="solid"/>
          </a:ln>
        </p:spPr>
      </p:sp>
      <p:sp>
        <p:nvSpPr>
          <p:cNvPr id="12" name="Shape 7"/>
          <p:cNvSpPr/>
          <p:nvPr/>
        </p:nvSpPr>
        <p:spPr>
          <a:xfrm>
            <a:off x="4297680" y="3977640"/>
            <a:ext cx="731520" cy="329184"/>
          </a:xfrm>
          <a:prstGeom prst="roundRect">
            <a:avLst>
              <a:gd name="adj" fmla="val 50000"/>
            </a:avLst>
          </a:prstGeom>
          <a:solidFill>
            <a:srgbClr val="0A7F44"/>
          </a:solidFill>
          <a:ln w="12700">
            <a:solidFill>
              <a:srgbClr val="0A7F44"/>
            </a:solidFill>
            <a:prstDash val="solid"/>
          </a:ln>
        </p:spPr>
      </p:sp>
      <p:sp>
        <p:nvSpPr>
          <p:cNvPr id="13" name="Text 8"/>
          <p:cNvSpPr txBox="1"/>
          <p:nvPr/>
        </p:nvSpPr>
        <p:spPr>
          <a:xfrm>
            <a:off x="429768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1:15</a:t>
            </a:r>
            <a:endParaRPr lang="en-US" sz="1100" dirty="0"/>
          </a:p>
        </p:txBody>
      </p:sp>
      <p:sp>
        <p:nvSpPr>
          <p:cNvPr id="14" name="Text 9"/>
          <p:cNvSpPr txBox="1"/>
          <p:nvPr/>
        </p:nvSpPr>
        <p:spPr>
          <a:xfrm>
            <a:off x="429768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2 · A2A: Hana's agent makes a real counter-offer; one yes in Messenger books it (end-to-end test)</a:t>
            </a:r>
            <a:endParaRPr lang="en-US" sz="1250" dirty="0"/>
          </a:p>
        </p:txBody>
      </p:sp>
      <p:pic>
        <p:nvPicPr>
          <p:cNvPr id="15" name="Image 2" descr="preencoded.png">    </p:cNvPr>
          <p:cNvPicPr>
            <a:picLocks noChangeAspect="1"/>
          </p:cNvPicPr>
          <p:nvPr/>
        </p:nvPicPr>
        <p:blipFill>
          <a:blip r:embed="rId3"/>
          <a:stretch>
            <a:fillRect/>
          </a:stretch>
        </p:blipFill>
        <p:spPr>
          <a:xfrm>
            <a:off x="8046720" y="1783080"/>
            <a:ext cx="3566160" cy="2005965"/>
          </a:xfrm>
          <a:prstGeom prst="rect">
            <a:avLst/>
          </a:prstGeom>
        </p:spPr>
      </p:pic>
      <p:sp>
        <p:nvSpPr>
          <p:cNvPr id="16" name="Shape 10"/>
          <p:cNvSpPr/>
          <p:nvPr/>
        </p:nvSpPr>
        <p:spPr>
          <a:xfrm>
            <a:off x="8046720" y="1783080"/>
            <a:ext cx="3566160" cy="2005965"/>
          </a:xfrm>
          <a:prstGeom prst="rect">
            <a:avLst/>
          </a:prstGeom>
          <a:ln w="12700">
            <a:solidFill>
              <a:srgbClr val="DCDCE0"/>
            </a:solidFill>
            <a:prstDash val="solid"/>
          </a:ln>
        </p:spPr>
      </p:sp>
      <p:sp>
        <p:nvSpPr>
          <p:cNvPr id="17" name="Shape 11"/>
          <p:cNvSpPr/>
          <p:nvPr/>
        </p:nvSpPr>
        <p:spPr>
          <a:xfrm>
            <a:off x="8046720" y="3977640"/>
            <a:ext cx="731520" cy="329184"/>
          </a:xfrm>
          <a:prstGeom prst="roundRect">
            <a:avLst>
              <a:gd name="adj" fmla="val 50000"/>
            </a:avLst>
          </a:prstGeom>
          <a:solidFill>
            <a:srgbClr val="0A7F44"/>
          </a:solidFill>
          <a:ln w="12700">
            <a:solidFill>
              <a:srgbClr val="0A7F44"/>
            </a:solidFill>
            <a:prstDash val="solid"/>
          </a:ln>
        </p:spPr>
      </p:sp>
      <p:sp>
        <p:nvSpPr>
          <p:cNvPr id="18" name="Text 12"/>
          <p:cNvSpPr txBox="1"/>
          <p:nvPr/>
        </p:nvSpPr>
        <p:spPr>
          <a:xfrm>
            <a:off x="8046720" y="3977640"/>
            <a:ext cx="731520" cy="329184"/>
          </a:xfrm>
          <a:prstGeom prst="rect">
            <a:avLst/>
          </a:prstGeom>
          <a:noFill/>
          <a:ln/>
        </p:spPr>
        <p:txBody>
          <a:bodyPr wrap="square" lIns="0" tIns="0" rIns="0" bIns="0" rtlCol="0" anchor="ctr"/>
          <a:lstStyle/>
          <a:p>
            <a:pPr algn="ctr" indent="0" marL="0">
              <a:buNone/>
            </a:pPr>
            <a:r>
              <a:rPr lang="en-US" sz="1100" b="1" dirty="0">
                <a:solidFill>
                  <a:srgbClr val="FFFFFF"/>
                </a:solidFill>
              </a:rPr>
              <a:t>1:25</a:t>
            </a:r>
            <a:endParaRPr lang="en-US" sz="1100" dirty="0"/>
          </a:p>
        </p:txBody>
      </p:sp>
      <p:sp>
        <p:nvSpPr>
          <p:cNvPr id="19" name="Text 13"/>
          <p:cNvSpPr txBox="1"/>
          <p:nvPr/>
        </p:nvSpPr>
        <p:spPr>
          <a:xfrm>
            <a:off x="8046720" y="4389120"/>
            <a:ext cx="3566160" cy="731520"/>
          </a:xfrm>
          <a:prstGeom prst="rect">
            <a:avLst/>
          </a:prstGeom>
          <a:noFill/>
          <a:ln/>
        </p:spPr>
        <p:txBody>
          <a:bodyPr wrap="square" lIns="0" tIns="0" rIns="0" bIns="0" rtlCol="0" anchor="t"/>
          <a:lstStyle/>
          <a:p>
            <a:pPr indent="0" marL="0">
              <a:buNone/>
            </a:pPr>
            <a:r>
              <a:rPr lang="en-US" sz="1250" dirty="0">
                <a:solidFill>
                  <a:srgbClr val="0A0A0B"/>
                </a:solidFill>
              </a:rPr>
              <a:t>Act 3 · courts: Prompt Guard 2 screens reviews, then Muse Glimmer judges (shown at 14×, labelled)</a:t>
            </a:r>
            <a:endParaRPr lang="en-US" sz="1250" dirty="0"/>
          </a:p>
        </p:txBody>
      </p:sp>
      <p:sp>
        <p:nvSpPr>
          <p:cNvPr id="20" name="Text 14"/>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200" i="1" dirty="0">
                <a:solidFill>
                  <a:srgbClr val="55555C"/>
                </a:solidFill>
              </a:rPr>
              <a:t>Every speed-up is labelled on screen. The video shows only what this deck lists as built during the hackathon (slide 18).</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Auto-cut highlights to Instagram</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Oct 28 – Nov 4, 2026, during the hackathon · demo video 2:27 · what is new and what is not: slide 18</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https://play.theminimallab.com</a:t>
            </a:r>
            <a:endParaRPr lang="en-US" sz="1300" dirty="0"/>
          </a:p>
        </p:txBody>
      </p:sp>
      <p:sp>
        <p:nvSpPr>
          <p:cNvPr id="14" name="Text 11"/>
          <p:cNvSpPr txBox="1"/>
          <p:nvPr/>
        </p:nvSpPr>
        <p:spPr>
          <a:xfrm>
            <a:off x="914400" y="6035040"/>
            <a:ext cx="10362895" cy="329184"/>
          </a:xfrm>
          <a:prstGeom prst="rect">
            <a:avLst/>
          </a:prstGeom>
          <a:noFill/>
          <a:ln/>
        </p:spPr>
        <p:txBody>
          <a:bodyPr wrap="square" lIns="0" tIns="0" rIns="0" bIns="0" rtlCol="0" anchor="ctr"/>
          <a:lstStyle/>
          <a:p>
            <a:pPr algn="ctr" indent="0" marL="0">
              <a:buNone/>
            </a:pPr>
            <a:r>
              <a:rPr lang="en-US" sz="1300" dirty="0">
                <a:solidFill>
                  <a:srgbClr val="55555C"/>
                </a:solidFill>
              </a:rPr>
              <a:t>The product runs Muse Glimmer on an RTX 3090 I own; cloud A100s ran evaluations, including the A2A test's second gateway</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2194560"/>
            <a:ext cx="10058400" cy="365760"/>
          </a:xfrm>
          <a:prstGeom prst="rect">
            <a:avLst/>
          </a:prstGeom>
          <a:noFill/>
          <a:ln/>
        </p:spPr>
        <p:txBody>
          <a:bodyPr wrap="square" lIns="0" tIns="0" rIns="0" bIns="0" rtlCol="0" anchor="t"/>
          <a:lstStyle/>
          <a:p>
            <a:pPr indent="0" marL="0">
              <a:buNone/>
            </a:pPr>
            <a:r>
              <a:rPr lang="en-US" sz="1400" b="1" spc="200" kern="0" dirty="0">
                <a:solidFill>
                  <a:srgbClr val="0A7F44"/>
                </a:solidFill>
              </a:rPr>
              <a:t>APPENDIX</a:t>
            </a:r>
            <a:endParaRPr lang="en-US" sz="1400" dirty="0"/>
          </a:p>
        </p:txBody>
      </p:sp>
      <p:sp>
        <p:nvSpPr>
          <p:cNvPr id="3" name="Text 1"/>
          <p:cNvSpPr txBox="1"/>
          <p:nvPr/>
        </p:nvSpPr>
        <p:spPr>
          <a:xfrm>
            <a:off x="731520" y="2606040"/>
            <a:ext cx="10515600" cy="822960"/>
          </a:xfrm>
          <a:prstGeom prst="rect">
            <a:avLst/>
          </a:prstGeom>
          <a:noFill/>
          <a:ln/>
        </p:spPr>
        <p:txBody>
          <a:bodyPr wrap="square" lIns="0" tIns="0" rIns="0" bIns="0" rtlCol="0" anchor="t"/>
          <a:lstStyle/>
          <a:p>
            <a:pPr indent="0" marL="0">
              <a:buNone/>
            </a:pPr>
            <a:r>
              <a:rPr lang="en-US" sz="4000" b="1" dirty="0">
                <a:solidFill>
                  <a:srgbClr val="0A0A0B"/>
                </a:solidFill>
              </a:rPr>
              <a:t>The details behind the main slides</a:t>
            </a:r>
            <a:endParaRPr lang="en-US" sz="4000" dirty="0"/>
          </a:p>
        </p:txBody>
      </p:sp>
      <p:sp>
        <p:nvSpPr>
          <p:cNvPr id="4" name="Text 2"/>
          <p:cNvSpPr txBox="1"/>
          <p:nvPr/>
        </p:nvSpPr>
        <p:spPr>
          <a:xfrm>
            <a:off x="731520" y="3611880"/>
            <a:ext cx="10515600" cy="1097280"/>
          </a:xfrm>
          <a:prstGeom prst="rect">
            <a:avLst/>
          </a:prstGeom>
          <a:noFill/>
          <a:ln/>
        </p:spPr>
        <p:txBody>
          <a:bodyPr wrap="square" lIns="0" tIns="0" rIns="0" bIns="0" rtlCol="0" anchor="t"/>
          <a:lstStyle/>
          <a:p>
            <a:pPr indent="0" marL="0">
              <a:buNone/>
            </a:pPr>
            <a:r>
              <a:rPr lang="en-US" sz="1600" dirty="0">
                <a:solidFill>
                  <a:srgbClr val="55555C"/>
                </a:solidFill>
              </a:rPr>
              <a:t>The agent and A2A · all 15 Meta models · the social app · auto-cut highlights · agents as members · voice · federated clubs · memory · agent architecture · scale · the self-evolving club · every number and its source · the full architecture</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check_limits</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Usually 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 a counter-offer if none fits</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ALL 15 META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12 in the product, 3 for checks</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in the app</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Not in the 15. Messenger: your agent in your chats; Facebook or IG login;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sp>
        <p:nvSpPr>
          <p:cNvPr id="86" name="Text 82"/>
          <p:cNvSpPr txBox="1"/>
          <p:nvPr/>
        </p:nvSpPr>
        <p:spPr>
          <a:xfrm>
            <a:off x="548640" y="6089904"/>
            <a:ext cx="109728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server (GPU and CPU); 5 on the Meta Model API. Spark, SAM 3.1 and Wonder: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THE SOCIAL APP</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AUTO-EDITED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cut automatically into a clip to share</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up to 12°</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 (a small test).</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 ARCHITECTURE · TESTED IN CODE AND SIMULATION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126480" y="384048"/>
            <a:ext cx="548640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126480" y="384048"/>
            <a:ext cx="5486400" cy="329184"/>
          </a:xfrm>
          <a:prstGeom prst="rect">
            <a:avLst/>
          </a:prstGeom>
          <a:noFill/>
          <a:ln/>
        </p:spPr>
        <p:txBody>
          <a:bodyPr wrap="square" lIns="0" tIns="0" rIns="0" bIns="0" rtlCol="0" anchor="ctr"/>
          <a:lstStyle/>
          <a:p>
            <a:pPr algn="ctr" indent="0" marL="0">
              <a:buNone/>
            </a:pPr>
            <a:r>
              <a:rPr lang="en-US" sz="1050" b="1" dirty="0">
                <a:solidFill>
                  <a:srgbClr val="55555C"/>
                </a:solidFill>
              </a:rPr>
              <a:t>A simulated club of 60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37/42</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unsafe messages refused (1 of 74 harmless)</a:t>
            </a:r>
            <a:endParaRPr lang="en-US" sz="1200" dirty="0"/>
          </a:p>
        </p:txBody>
      </p:sp>
      <p:sp>
        <p:nvSpPr>
          <p:cNvPr id="17" name="Text 14"/>
          <p:cNvSpPr txBox="1"/>
          <p:nvPr/>
        </p:nvSpPr>
        <p:spPr>
          <a:xfrm>
            <a:off x="548640" y="6217920"/>
            <a:ext cx="11064240" cy="228600"/>
          </a:xfrm>
          <a:prstGeom prst="rect">
            <a:avLst/>
          </a:prstGeom>
          <a:noFill/>
          <a:ln/>
        </p:spPr>
        <p:txBody>
          <a:bodyPr wrap="square" lIns="0" tIns="0" rIns="0" bIns="0" rtlCol="0" anchor="t"/>
          <a:lstStyle/>
          <a:p>
            <a:pPr indent="0" marL="0">
              <a:buNone/>
            </a:pPr>
            <a:r>
              <a:rPr lang="en-US" sz="1000" i="1" dirty="0">
                <a:solidFill>
                  <a:srgbClr val="55555C"/>
                </a:solidFill>
              </a:rPr>
              <a:t>Bold: run with the real model. "A cloud A100": the same Muse Glimmer build that runs the product on the RTX 3090.</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4572000"/>
                <a:gridCol w="3566160"/>
                <a:gridCol w="2926080"/>
              </a:tblGrid>
              <a:tr h="30175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npm test, 25 offline suites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275 = 270 pass + 3 optional + 2 Linux-only</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No model, no GPU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Messenger end to end (test/e2e.mjs)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58 of 58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Attacks (test/redteam.mjs)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93 of 93 stopped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A cloud A100, twice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Community loop's attacks, within the 93</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29 of 29 stopped, 5 of 5 controls passed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 with the real guards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A2A between two gateways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22 of 22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Taipei GPU server and a GCP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Crash matrix</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20 of 20 checks (201 of 201 assertions)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stand-in model</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Unsafe messages: Llama Guard, then code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37 of 42 refused; 1 of 74 harmless ones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federation of three clubs (test/federation_unit.mjs)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4 of 4: found, signed, rotated, forgery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Real HTTP, one host</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"I want to play" in Messenger</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13 of 13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b="1"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Scheduling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Auto 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cut automatically: find you, the moment to share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Muse Wonder (judges orbits)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2026-10-30T01:05:48Z</dcterms:created>
  <dcterms:modified xsi:type="dcterms:W3CDTF">2026-10-30T01:05:48Z</dcterms:modified>
</cp:coreProperties>
</file>