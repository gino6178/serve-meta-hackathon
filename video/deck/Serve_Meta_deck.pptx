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938cde6-4403-4080-086e-d175c0ac275e}">
          <p14:sldIdLst>
            <p14:sldId id="256"/>
            <p14:sldId id="257"/>
          </p14:sldIdLst>
        </p14:section>
        <p14:section name="Impact" id="{2d0dac08-4c0a-5651-a867-93fb77db5573}">
          <p14:sldIdLst>
            <p14:sldId id="258"/>
            <p14:sldId id="259"/>
            <p14:sldId id="260"/>
            <p14:sldId id="261"/>
          </p14:sldIdLst>
        </p14:section>
        <p14:section name="Demo" id="{523d7f62-9443-b1b0-5421-cf0d028fa468}">
          <p14:sldIdLst>
            <p14:sldId id="262"/>
            <p14:sldId id="263"/>
            <p14:sldId id="264"/>
            <p14:sldId id="265"/>
            <p14:sldId id="266"/>
            <p14:sldId id="267"/>
          </p14:sldIdLst>
        </p14:section>
        <p14:section name="Use of Meta AI" id="{179caa06-9a2a-c1b4-91f4-96e60d7d99c6}">
          <p14:sldIdLst>
            <p14:sldId id="268"/>
            <p14:sldId id="269"/>
            <p14:sldId id="270"/>
            <p14:sldId id="271"/>
          </p14:sldIdLst>
        </p14:section>
        <p14:section name="Technical depth" id="{434816aa-397e-af0b-0299-f29875363f8c}">
          <p14:sldIdLst>
            <p14:sldId id="272"/>
            <p14:sldId id="273"/>
            <p14:sldId id="274"/>
            <p14:sldId id="275"/>
            <p14:sldId id="276"/>
            <p14:sldId id="277"/>
            <p14:sldId id="278"/>
            <p14:sldId id="279"/>
            <p14:sldId id="280"/>
            <p14:sldId id="281"/>
          </p14:sldIdLst>
        </p14:section>
        <p14:section name="Architecture" id="{d5718a86-6e01-6207-f382-c71a9eaa375c}">
          <p14:sldIdLst>
            <p14:sldId id="282"/>
          </p14:sldIdLst>
        </p14:section>
        <p14:section name="Close" id="{4fd92530-9251-f352-f228-cf91ba46c8e8}">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with itself</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同一套引擎服務沒有人組織的群體，三種社團都已實作、有單元測試：
1 孩童社團（老師或志工）：一定是私密社團，只有帶隊的人能發活動；孩子不用帳號，只存名字（只有帶隊的人看得到）；勾選今天誰來，程式排輪替，每個孩子上場時間最多差一輪；產生家長接送通知。
2 樂齡社團：社團裡每個揪團由程式把關：08:00–16:00 開始、60 分鐘、最多 8 人、球拍類雙打；不符合就拒絕並說明原因。
3 慈善賽：發起人寫公益對象，參賽者自評等級與認捐（只記錄，Serve 不經手錢）；一鍵抽籤：實力平均的雙打組合、循環賽、場地與時段，同一時段沒有隊伍撞場，貼到社團動態。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排程脈絡（agent 記憶）：拿掉了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對戰海報與 agent 大頭貼（Meta Model API 的 Muse Image，每張 $0.01）：
海報：Muse Image 只畫背景插畫（兩隻吉祥物在球場對峙，不放文字），名字、時間、賭注由 app 用程式疊上去，所以不會出現亂碼字；每場挑戰只產生一次，存在伺服器上。只有球種和單雙打會進 prompt，名字和留言從不送出。一鍵從手機分享到 Instagram / Facebook。
大頭貼：demo 社團每位成員的 agent 和你自己的 agent 各一張，只產生一次，出現在社群動態、Agent 對話和首頁。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記憶（agent/src/memory/memory.js、body/context.js）：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這週加的六件事，每一件都有量測：
1 私密行事曆貫穿 Match 和規劃：其他成員的空檔只能問「這個時間有空嗎」，每天最多問 24 次。
2 學出來的意圖路由：正規表示式找到 6/10 約球請求，加上路由 10/10，22 則其他訊息誤報 1 則。
3 Muse Spark（Muse Code 用的同一系列）蓋 C3 新功能：修正我們自己的 oracle 後第一次就過。
4 商用授權的記憶 embedder：Granite（Apache 2.0）前三名召回 0.80。
5 Orbit 視覺裁判：Muse Wonder 看 84 張標註畫面，會說出它看到的瑕疵。
6 GPU 套件在 A100 上跑過閘門：攻擊 93/93、e2e 58/58、crash matrix 201/201。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2.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image" Target="../media/image-7-3.jpe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2.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image" Target="../media/image-11-4.jpeg"/><Relationship Id="rId5" Type="http://schemas.openxmlformats.org/officeDocument/2006/relationships/image" Target="../media/image-11-5.jpeg"/><Relationship Id="rId6" Type="http://schemas.openxmlformats.org/officeDocument/2006/relationships/image" Target="../media/image-11-6.jpeg"/><Relationship Id="rId7" Type="http://schemas.openxmlformats.org/officeDocument/2006/relationships/image" Target="../media/image-11-7.jpe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2.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3.xml"/><Relationship Id="rId4"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week,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my GPU, 5 on the Meta Model API</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20240"/>
            <a:ext cx="2971800" cy="731520"/>
          </a:xfrm>
          <a:prstGeom prst="rect">
            <a:avLst/>
          </a:prstGeom>
          <a:noFill/>
          <a:ln/>
        </p:spPr>
        <p:txBody>
          <a:bodyPr wrap="square" lIns="0" tIns="0" rIns="0" bIns="0" rtlCol="0" anchor="t"/>
          <a:lstStyle/>
          <a:p>
            <a:pPr indent="0" marL="0">
              <a:buNone/>
            </a:pPr>
            <a:r>
              <a:rPr lang="en-US" sz="3800" b="1" dirty="0">
                <a:solidFill>
                  <a:srgbClr val="0A7F44"/>
                </a:solidFill>
              </a:rPr>
              <a:t>40% → 26%</a:t>
            </a:r>
            <a:endParaRPr lang="en-US" sz="3800" dirty="0"/>
          </a:p>
        </p:txBody>
      </p:sp>
      <p:sp>
        <p:nvSpPr>
          <p:cNvPr id="7" name="Text 4"/>
          <p:cNvSpPr txBox="1"/>
          <p:nvPr/>
        </p:nvSpPr>
        <p:spPr>
          <a:xfrm>
            <a:off x="822960" y="2697480"/>
            <a:ext cx="2743200" cy="594360"/>
          </a:xfrm>
          <a:prstGeom prst="rect">
            <a:avLst/>
          </a:prstGeom>
          <a:noFill/>
          <a:ln/>
        </p:spPr>
        <p:txBody>
          <a:bodyPr wrap="square" lIns="0" tIns="0" rIns="0" bIns="0" rtlCol="0" anchor="t"/>
          <a:lstStyle/>
          <a:p>
            <a:pPr indent="0" marL="0">
              <a:buNone/>
            </a:pPr>
            <a:r>
              <a:rPr lang="en-US" sz="1500" dirty="0">
                <a:solidFill>
                  <a:srgbClr val="0A0A0B"/>
                </a:solidFill>
              </a:rPr>
              <a:t>of US adults play a sport at ages 18 to 21, then at 26 to 49</a:t>
            </a:r>
            <a:endParaRPr lang="en-US" sz="1500" dirty="0"/>
          </a:p>
        </p:txBody>
      </p:sp>
      <p:sp>
        <p:nvSpPr>
          <p:cNvPr id="8" name="Text 5"/>
          <p:cNvSpPr txBox="1"/>
          <p:nvPr/>
        </p:nvSpPr>
        <p:spPr>
          <a:xfrm>
            <a:off x="822960" y="3291840"/>
            <a:ext cx="2743200" cy="411480"/>
          </a:xfrm>
          <a:prstGeom prst="rect">
            <a:avLst/>
          </a:prstGeom>
          <a:noFill/>
          <a:ln/>
        </p:spPr>
        <p:txBody>
          <a:bodyPr wrap="square" lIns="0" tIns="0" rIns="0" bIns="0" rtlCol="0" anchor="t"/>
          <a:lstStyle/>
          <a:p>
            <a:pPr indent="0" marL="0">
              <a:buNone/>
            </a:pPr>
            <a:r>
              <a:rPr lang="en-US" sz="1050" dirty="0">
                <a:solidFill>
                  <a:srgbClr val="55555C"/>
                </a:solidFill>
              </a:rPr>
              <a:t>NPR, RWJF and Harvard Chan poll of 2,506 adults, 2015</a:t>
            </a:r>
            <a:endParaRPr lang="en-US" sz="1050" dirty="0"/>
          </a:p>
        </p:txBody>
      </p:sp>
      <p:sp>
        <p:nvSpPr>
          <p:cNvPr id="9" name="Text 6"/>
          <p:cNvSpPr txBox="1"/>
          <p:nvPr/>
        </p:nvSpPr>
        <p:spPr>
          <a:xfrm>
            <a:off x="822960" y="3886200"/>
            <a:ext cx="2743200" cy="228600"/>
          </a:xfrm>
          <a:prstGeom prst="rect">
            <a:avLst/>
          </a:prstGeom>
          <a:noFill/>
          <a:ln/>
        </p:spPr>
        <p:txBody>
          <a:bodyPr wrap="square" lIns="0" tIns="0" rIns="0" bIns="0" rtlCol="0" anchor="t"/>
          <a:lstStyle/>
          <a:p>
            <a:pPr indent="0" marL="0">
              <a:buNone/>
            </a:pPr>
            <a:r>
              <a:rPr lang="en-US" sz="1000" b="1" spc="100" kern="0" dirty="0">
                <a:solidFill>
                  <a:srgbClr val="0A7F44"/>
                </a:solidFill>
              </a:rPr>
              <a:t>WHAT STOPS ADULTS</a:t>
            </a:r>
            <a:endParaRPr lang="en-US" sz="1000" dirty="0"/>
          </a:p>
        </p:txBody>
      </p:sp>
      <p:sp>
        <p:nvSpPr>
          <p:cNvPr id="10" name="Text 7"/>
          <p:cNvSpPr txBox="1"/>
          <p:nvPr/>
        </p:nvSpPr>
        <p:spPr>
          <a:xfrm>
            <a:off x="822960" y="4160520"/>
            <a:ext cx="731520" cy="365760"/>
          </a:xfrm>
          <a:prstGeom prst="rect">
            <a:avLst/>
          </a:prstGeom>
          <a:noFill/>
          <a:ln/>
        </p:spPr>
        <p:txBody>
          <a:bodyPr wrap="square" lIns="0" tIns="0" rIns="0" bIns="0" rtlCol="0" anchor="t"/>
          <a:lstStyle/>
          <a:p>
            <a:pPr indent="0" marL="0">
              <a:buNone/>
            </a:pPr>
            <a:r>
              <a:rPr lang="en-US" sz="1800" b="1" dirty="0">
                <a:solidFill>
                  <a:srgbClr val="0A0A0B"/>
                </a:solidFill>
              </a:rPr>
              <a:t>64%</a:t>
            </a:r>
            <a:endParaRPr lang="en-US" sz="1800" dirty="0"/>
          </a:p>
        </p:txBody>
      </p:sp>
      <p:sp>
        <p:nvSpPr>
          <p:cNvPr id="11" name="Text 8"/>
          <p:cNvSpPr txBox="1"/>
          <p:nvPr/>
        </p:nvSpPr>
        <p:spPr>
          <a:xfrm>
            <a:off x="1554480" y="4160520"/>
            <a:ext cx="2194560" cy="365760"/>
          </a:xfrm>
          <a:prstGeom prst="rect">
            <a:avLst/>
          </a:prstGeom>
          <a:noFill/>
          <a:ln/>
        </p:spPr>
        <p:txBody>
          <a:bodyPr wrap="square" lIns="0" tIns="0" rIns="0" bIns="0" rtlCol="0" anchor="ctr"/>
          <a:lstStyle/>
          <a:p>
            <a:pPr indent="0" marL="0">
              <a:buNone/>
            </a:pPr>
            <a:r>
              <a:rPr lang="en-US" sz="1200" dirty="0">
                <a:solidFill>
                  <a:srgbClr val="0A0A0B"/>
                </a:solidFill>
              </a:rPr>
              <a:t>other commitments come first</a:t>
            </a:r>
            <a:endParaRPr lang="en-US" sz="1200" dirty="0"/>
          </a:p>
        </p:txBody>
      </p:sp>
      <p:sp>
        <p:nvSpPr>
          <p:cNvPr id="12" name="Text 9"/>
          <p:cNvSpPr txBox="1"/>
          <p:nvPr/>
        </p:nvSpPr>
        <p:spPr>
          <a:xfrm>
            <a:off x="822960" y="4572000"/>
            <a:ext cx="731520" cy="365760"/>
          </a:xfrm>
          <a:prstGeom prst="rect">
            <a:avLst/>
          </a:prstGeom>
          <a:noFill/>
          <a:ln/>
        </p:spPr>
        <p:txBody>
          <a:bodyPr wrap="square" lIns="0" tIns="0" rIns="0" bIns="0" rtlCol="0" anchor="t"/>
          <a:lstStyle/>
          <a:p>
            <a:pPr indent="0" marL="0">
              <a:buNone/>
            </a:pPr>
            <a:r>
              <a:rPr lang="en-US" sz="1800" b="1" dirty="0">
                <a:solidFill>
                  <a:srgbClr val="0A0A0B"/>
                </a:solidFill>
              </a:rPr>
              <a:t>21%</a:t>
            </a:r>
            <a:endParaRPr lang="en-US" sz="1800" dirty="0"/>
          </a:p>
        </p:txBody>
      </p:sp>
      <p:sp>
        <p:nvSpPr>
          <p:cNvPr id="13" name="Text 10"/>
          <p:cNvSpPr txBox="1"/>
          <p:nvPr/>
        </p:nvSpPr>
        <p:spPr>
          <a:xfrm>
            <a:off x="1554480" y="4572000"/>
            <a:ext cx="2194560" cy="365760"/>
          </a:xfrm>
          <a:prstGeom prst="rect">
            <a:avLst/>
          </a:prstGeom>
          <a:noFill/>
          <a:ln/>
        </p:spPr>
        <p:txBody>
          <a:bodyPr wrap="square" lIns="0" tIns="0" rIns="0" bIns="0" rtlCol="0" anchor="ctr"/>
          <a:lstStyle/>
          <a:p>
            <a:pPr indent="0" marL="0">
              <a:buNone/>
            </a:pPr>
            <a:r>
              <a:rPr lang="en-US" sz="1200" dirty="0">
                <a:solidFill>
                  <a:srgbClr val="0A0A0B"/>
                </a:solidFill>
              </a:rPr>
              <a:t>got out of the habit</a:t>
            </a:r>
            <a:endParaRPr lang="en-US" sz="1200" dirty="0"/>
          </a:p>
        </p:txBody>
      </p:sp>
      <p:sp>
        <p:nvSpPr>
          <p:cNvPr id="14" name="Text 11"/>
          <p:cNvSpPr txBox="1"/>
          <p:nvPr/>
        </p:nvSpPr>
        <p:spPr>
          <a:xfrm>
            <a:off x="822960" y="4983480"/>
            <a:ext cx="731520" cy="365760"/>
          </a:xfrm>
          <a:prstGeom prst="rect">
            <a:avLst/>
          </a:prstGeom>
          <a:noFill/>
          <a:ln/>
        </p:spPr>
        <p:txBody>
          <a:bodyPr wrap="square" lIns="0" tIns="0" rIns="0" bIns="0" rtlCol="0" anchor="t"/>
          <a:lstStyle/>
          <a:p>
            <a:pPr indent="0" marL="0">
              <a:buNone/>
            </a:pPr>
            <a:r>
              <a:rPr lang="en-US" sz="1800" b="1" dirty="0">
                <a:solidFill>
                  <a:srgbClr val="0A0A0B"/>
                </a:solidFill>
              </a:rPr>
              <a:t>10%</a:t>
            </a:r>
            <a:endParaRPr lang="en-US" sz="1800" dirty="0"/>
          </a:p>
        </p:txBody>
      </p:sp>
      <p:sp>
        <p:nvSpPr>
          <p:cNvPr id="15" name="Text 12"/>
          <p:cNvSpPr txBox="1"/>
          <p:nvPr/>
        </p:nvSpPr>
        <p:spPr>
          <a:xfrm>
            <a:off x="1554480" y="4983480"/>
            <a:ext cx="2194560" cy="365760"/>
          </a:xfrm>
          <a:prstGeom prst="rect">
            <a:avLst/>
          </a:prstGeom>
          <a:noFill/>
          <a:ln/>
        </p:spPr>
        <p:txBody>
          <a:bodyPr wrap="square" lIns="0" tIns="0" rIns="0" bIns="0" rtlCol="0" anchor="ctr"/>
          <a:lstStyle/>
          <a:p>
            <a:pPr indent="0" marL="0">
              <a:buNone/>
            </a:pPr>
            <a:r>
              <a:rPr lang="en-US" sz="1200" dirty="0">
                <a:solidFill>
                  <a:srgbClr val="0A0A0B"/>
                </a:solidFill>
              </a:rPr>
              <a:t>no one to do it with</a:t>
            </a:r>
            <a:endParaRPr lang="en-US" sz="1200" dirty="0"/>
          </a:p>
        </p:txBody>
      </p:sp>
      <p:sp>
        <p:nvSpPr>
          <p:cNvPr id="16" name="Text 13"/>
          <p:cNvSpPr txBox="1"/>
          <p:nvPr/>
        </p:nvSpPr>
        <p:spPr>
          <a:xfrm>
            <a:off x="822960" y="5440680"/>
            <a:ext cx="2743200" cy="274320"/>
          </a:xfrm>
          <a:prstGeom prst="rect">
            <a:avLst/>
          </a:prstGeom>
          <a:noFill/>
          <a:ln/>
        </p:spPr>
        <p:txBody>
          <a:bodyPr wrap="square" lIns="0" tIns="0" rIns="0" bIns="0" rtlCol="0" anchor="t"/>
          <a:lstStyle/>
          <a:p>
            <a:pPr indent="0" marL="0">
              <a:buNone/>
            </a:pPr>
            <a:r>
              <a:rPr lang="en-US" sz="1050" dirty="0">
                <a:solidFill>
                  <a:srgbClr val="55555C"/>
                </a:solidFill>
              </a:rPr>
              <a:t>Active NZ survey, Sport New Zealand, 2023</a:t>
            </a:r>
            <a:endParaRPr lang="en-US" sz="1050" dirty="0"/>
          </a:p>
        </p:txBody>
      </p:sp>
      <p:sp>
        <p:nvSpPr>
          <p:cNvPr id="17" name="Text 14"/>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8" name="Text 15"/>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9" name="Shape 16"/>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20" name="Text 17"/>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21" name="Text 18"/>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"Who's free this week?" "Is the court taken?" "We're one short." The group chat wears the fun out.</a:t>
            </a:r>
            <a:endParaRPr lang="en-US" sz="1200" dirty="0"/>
          </a:p>
        </p:txBody>
      </p:sp>
      <p:sp>
        <p:nvSpPr>
          <p:cNvPr id="22" name="Shape 19"/>
          <p:cNvSpPr/>
          <p:nvPr/>
        </p:nvSpPr>
        <p:spPr>
          <a:xfrm>
            <a:off x="7790688" y="2679192"/>
            <a:ext cx="182880" cy="0"/>
          </a:xfrm>
          <a:prstGeom prst="line">
            <a:avLst/>
          </a:prstGeom>
          <a:noFill/>
          <a:ln w="22225">
            <a:solidFill>
              <a:srgbClr val="8A8A92"/>
            </a:solidFill>
            <a:prstDash val="solid"/>
            <a:tailEnd type="triangle"/>
          </a:ln>
        </p:spPr>
      </p:sp>
      <p:sp>
        <p:nvSpPr>
          <p:cNvPr id="23" name="Shape 20"/>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24" name="Text 21"/>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agrees the time and the court with the other players' agents. You approve once; your phone says "Game on: Thu 19:00, 4 in."</a:t>
            </a:r>
            <a:endParaRPr lang="en-US" sz="1300" dirty="0"/>
          </a:p>
        </p:txBody>
      </p:sp>
      <p:sp>
        <p:nvSpPr>
          <p:cNvPr id="25" name="Shape 22"/>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26" name="Text 23"/>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7" name="Text 24"/>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8" name="Shape 25"/>
          <p:cNvSpPr/>
          <p:nvPr/>
        </p:nvSpPr>
        <p:spPr>
          <a:xfrm>
            <a:off x="7790688" y="4050792"/>
            <a:ext cx="182880" cy="0"/>
          </a:xfrm>
          <a:prstGeom prst="line">
            <a:avLst/>
          </a:prstGeom>
          <a:noFill/>
          <a:ln w="22225">
            <a:solidFill>
              <a:srgbClr val="8A8A92"/>
            </a:solidFill>
            <a:prstDash val="solid"/>
            <a:tailEnd type="triangle"/>
          </a:ln>
        </p:spPr>
      </p:sp>
      <p:sp>
        <p:nvSpPr>
          <p:cNvPr id="29" name="Shape 26"/>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30" name="Text 27"/>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31" name="Shape 28"/>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32" name="Text 29"/>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33" name="Text 30"/>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34" name="Shape 31"/>
          <p:cNvSpPr/>
          <p:nvPr/>
        </p:nvSpPr>
        <p:spPr>
          <a:xfrm>
            <a:off x="7790688" y="5422392"/>
            <a:ext cx="182880" cy="0"/>
          </a:xfrm>
          <a:prstGeom prst="line">
            <a:avLst/>
          </a:prstGeom>
          <a:noFill/>
          <a:ln w="22225">
            <a:solidFill>
              <a:srgbClr val="8A8A92"/>
            </a:solidFill>
            <a:prstDash val="solid"/>
            <a:tailEnd type="triangle"/>
          </a:ln>
        </p:spPr>
      </p:sp>
      <p:sp>
        <p:nvSpPr>
          <p:cNvPr id="35" name="Shape 32"/>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36" name="Text 33"/>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37" name="Text 34"/>
          <p:cNvSpPr txBox="1"/>
          <p:nvPr/>
        </p:nvSpPr>
        <p:spPr>
          <a:xfrm>
            <a:off x="4206240" y="6199632"/>
            <a:ext cx="7406640" cy="274320"/>
          </a:xfrm>
          <a:prstGeom prst="rect">
            <a:avLst/>
          </a:prstGeom>
          <a:noFill/>
          <a:ln/>
        </p:spPr>
        <p:txBody>
          <a:bodyPr wrap="square" lIns="0" tIns="0" rIns="0" bIns="0" rtlCol="0" anchor="t"/>
          <a:lstStyle/>
          <a:p>
            <a:pPr indent="0" marL="0">
              <a:buNone/>
            </a:pPr>
            <a:r>
              <a:rPr lang="en-US" sz="1100" i="1" dirty="0">
                <a:solidFill>
                  <a:srgbClr val="55555C"/>
                </a:solidFill>
              </a:rPr>
              <a:t>Less screen time, more court time: any ball sport that needs people, a time and a place.</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6035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SINCE 29 OCT · relay-orders-eliminate-associated.trycloudflare.com</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3</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players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1</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3</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 2 and 6 min after posting</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and you tap Post. Share it as a link: anyone opens it and joins, no account needed first.</a:t>
            </a:r>
            <a:endParaRPr lang="en-US" sz="1100" dirty="0"/>
          </a:p>
        </p:txBody>
      </p:sp>
      <p:sp>
        <p:nvSpPr>
          <p:cNvPr id="36" name="Text 31"/>
          <p:cNvSpPr txBox="1"/>
          <p:nvPr/>
        </p:nvSpPr>
        <p:spPr>
          <a:xfrm>
            <a:off x="5669280" y="6053328"/>
            <a:ext cx="6035040" cy="365760"/>
          </a:xfrm>
          <a:prstGeom prst="rect">
            <a:avLst/>
          </a:prstGeom>
          <a:noFill/>
          <a:ln/>
        </p:spPr>
        <p:txBody>
          <a:bodyPr wrap="square" lIns="0" tIns="0" rIns="0" bIns="0" rtlCol="0" anchor="t"/>
          <a:lstStyle/>
          <a:p>
            <a:pPr indent="0" marL="0">
              <a:buNone/>
            </a:pPr>
            <a:r>
              <a:rPr lang="en-US" sz="1000" i="1" dirty="0">
                <a:solidFill>
                  <a:srgbClr val="55555C"/>
                </a:solidFill>
              </a:rPr>
              <a:t>Live for the last days of a nine-day hackathon: a week-long trial with 10–20 players is next (games booked, time to agree, invitees who join).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WHO ELSE IT SERVES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Games where no one has time to organise them</a:t>
            </a:r>
            <a:endParaRPr lang="en-US" sz="3200" dirty="0"/>
          </a:p>
        </p:txBody>
      </p:sp>
      <p:sp>
        <p:nvSpPr>
          <p:cNvPr id="5" name="Shape 2"/>
          <p:cNvSpPr/>
          <p:nvPr/>
        </p:nvSpPr>
        <p:spPr>
          <a:xfrm>
            <a:off x="548640" y="1691640"/>
            <a:ext cx="3566160" cy="4343400"/>
          </a:xfrm>
          <a:prstGeom prst="roundRect">
            <a:avLst>
              <a:gd name="adj" fmla="val 3077"/>
            </a:avLst>
          </a:prstGeom>
          <a:solidFill>
            <a:srgbClr val="FFFFFF"/>
          </a:solidFill>
          <a:ln w="12700">
            <a:solidFill>
              <a:srgbClr val="DCDCE0"/>
            </a:solidFill>
            <a:prstDash val="solid"/>
          </a:ln>
        </p:spPr>
      </p:sp>
      <p:sp>
        <p:nvSpPr>
          <p:cNvPr id="6" name="Text 3"/>
          <p:cNvSpPr txBox="1"/>
          <p:nvPr/>
        </p:nvSpPr>
        <p:spPr>
          <a:xfrm>
            <a:off x="777240" y="1874520"/>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CHILDREN</a:t>
            </a:r>
            <a:endParaRPr lang="en-US" sz="1000" dirty="0"/>
          </a:p>
        </p:txBody>
      </p:sp>
      <p:sp>
        <p:nvSpPr>
          <p:cNvPr id="7" name="Text 4"/>
          <p:cNvSpPr txBox="1"/>
          <p:nvPr/>
        </p:nvSpPr>
        <p:spPr>
          <a:xfrm>
            <a:off x="77724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A teacher or volunteer</a:t>
            </a:r>
            <a:endParaRPr lang="en-US" sz="1800" dirty="0"/>
          </a:p>
        </p:txBody>
      </p:sp>
      <p:sp>
        <p:nvSpPr>
          <p:cNvPr id="8" name="Text 5"/>
          <p:cNvSpPr txBox="1"/>
          <p:nvPr/>
        </p:nvSpPr>
        <p:spPr>
          <a:xfrm>
            <a:off x="77724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Private, organiser-led. Children have no accounts: first names only, seen by the organiser. Tap who came; code shares out the courts in turns.</a:t>
            </a:r>
            <a:endParaRPr lang="en-US" sz="1250" dirty="0"/>
          </a:p>
        </p:txBody>
      </p:sp>
      <p:sp>
        <p:nvSpPr>
          <p:cNvPr id="9" name="Shape 6"/>
          <p:cNvSpPr/>
          <p:nvPr/>
        </p:nvSpPr>
        <p:spPr>
          <a:xfrm>
            <a:off x="777240" y="4480560"/>
            <a:ext cx="3108960" cy="1325880"/>
          </a:xfrm>
          <a:prstGeom prst="roundRect">
            <a:avLst>
              <a:gd name="adj" fmla="val 8276"/>
            </a:avLst>
          </a:prstGeom>
          <a:solidFill>
            <a:srgbClr val="E9F3EC"/>
          </a:solidFill>
          <a:ln w="12700">
            <a:solidFill>
              <a:srgbClr val="E9F3EC"/>
            </a:solidFill>
            <a:prstDash val="solid"/>
          </a:ln>
        </p:spPr>
      </p:sp>
      <p:sp>
        <p:nvSpPr>
          <p:cNvPr id="10" name="Text 7"/>
          <p:cNvSpPr txBox="1"/>
          <p:nvPr/>
        </p:nvSpPr>
        <p:spPr>
          <a:xfrm>
            <a:off x="91440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11 children, 2 courts: everyone plays within one turn of the others. A pick-up note for parents.</a:t>
            </a:r>
            <a:endParaRPr lang="en-US" sz="1200" dirty="0"/>
          </a:p>
        </p:txBody>
      </p:sp>
      <p:sp>
        <p:nvSpPr>
          <p:cNvPr id="11" name="Shape 8"/>
          <p:cNvSpPr/>
          <p:nvPr/>
        </p:nvSpPr>
        <p:spPr>
          <a:xfrm>
            <a:off x="4297680" y="1691640"/>
            <a:ext cx="3566160" cy="4343400"/>
          </a:xfrm>
          <a:prstGeom prst="roundRect">
            <a:avLst>
              <a:gd name="adj" fmla="val 3077"/>
            </a:avLst>
          </a:prstGeom>
          <a:solidFill>
            <a:srgbClr val="FFFFFF"/>
          </a:solidFill>
          <a:ln w="12700">
            <a:solidFill>
              <a:srgbClr val="DCDCE0"/>
            </a:solidFill>
            <a:prstDash val="solid"/>
          </a:ln>
        </p:spPr>
      </p:sp>
      <p:sp>
        <p:nvSpPr>
          <p:cNvPr id="12" name="Text 9"/>
          <p:cNvSpPr txBox="1"/>
          <p:nvPr/>
        </p:nvSpPr>
        <p:spPr>
          <a:xfrm>
            <a:off x="4526280" y="1874520"/>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OLDER ADULTS</a:t>
            </a:r>
            <a:endParaRPr lang="en-US" sz="1000" dirty="0"/>
          </a:p>
        </p:txBody>
      </p:sp>
      <p:sp>
        <p:nvSpPr>
          <p:cNvPr id="13" name="Text 10"/>
          <p:cNvSpPr txBox="1"/>
          <p:nvPr/>
        </p:nvSpPr>
        <p:spPr>
          <a:xfrm>
            <a:off x="452628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Gentle games</a:t>
            </a:r>
            <a:endParaRPr lang="en-US" sz="1800" dirty="0"/>
          </a:p>
        </p:txBody>
      </p:sp>
      <p:sp>
        <p:nvSpPr>
          <p:cNvPr id="14" name="Text 11"/>
          <p:cNvSpPr txBox="1"/>
          <p:nvPr/>
        </p:nvSpPr>
        <p:spPr>
          <a:xfrm>
            <a:off x="452628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Every game posted in the club is held by code: starts 08:00 to 16:00, 60 minutes, 8 players at most, doubles for racket sports.</a:t>
            </a:r>
            <a:endParaRPr lang="en-US" sz="1250" dirty="0"/>
          </a:p>
        </p:txBody>
      </p:sp>
      <p:sp>
        <p:nvSpPr>
          <p:cNvPr id="15" name="Shape 12"/>
          <p:cNvSpPr/>
          <p:nvPr/>
        </p:nvSpPr>
        <p:spPr>
          <a:xfrm>
            <a:off x="4526280" y="4480560"/>
            <a:ext cx="3108960" cy="1325880"/>
          </a:xfrm>
          <a:prstGeom prst="roundRect">
            <a:avLst>
              <a:gd name="adj" fmla="val 8276"/>
            </a:avLst>
          </a:prstGeom>
          <a:solidFill>
            <a:srgbClr val="E8F1FD"/>
          </a:solidFill>
          <a:ln w="12700">
            <a:solidFill>
              <a:srgbClr val="E8F1FD"/>
            </a:solidFill>
            <a:prstDash val="solid"/>
          </a:ln>
        </p:spPr>
      </p:sp>
      <p:sp>
        <p:nvSpPr>
          <p:cNvPr id="16" name="Text 13"/>
          <p:cNvSpPr txBox="1"/>
          <p:nvPr/>
        </p:nvSpPr>
        <p:spPr>
          <a:xfrm>
            <a:off x="466344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A 19:00 game is refused, with the reason. The card says "Gentle game · doubles, 60 min".</a:t>
            </a:r>
            <a:endParaRPr lang="en-US" sz="1200" dirty="0"/>
          </a:p>
        </p:txBody>
      </p:sp>
      <p:sp>
        <p:nvSpPr>
          <p:cNvPr id="17" name="Shape 14"/>
          <p:cNvSpPr/>
          <p:nvPr/>
        </p:nvSpPr>
        <p:spPr>
          <a:xfrm>
            <a:off x="8046720" y="1691640"/>
            <a:ext cx="3566160" cy="4343400"/>
          </a:xfrm>
          <a:prstGeom prst="roundRect">
            <a:avLst>
              <a:gd name="adj" fmla="val 3077"/>
            </a:avLst>
          </a:prstGeom>
          <a:solidFill>
            <a:srgbClr val="FFFFFF"/>
          </a:solidFill>
          <a:ln w="12700">
            <a:solidFill>
              <a:srgbClr val="DCDCE0"/>
            </a:solidFill>
            <a:prstDash val="solid"/>
          </a:ln>
        </p:spPr>
      </p:sp>
      <p:sp>
        <p:nvSpPr>
          <p:cNvPr id="18" name="Text 15"/>
          <p:cNvSpPr txBox="1"/>
          <p:nvPr/>
        </p:nvSpPr>
        <p:spPr>
          <a:xfrm>
            <a:off x="8275320" y="1874520"/>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A CAUSE</a:t>
            </a:r>
            <a:endParaRPr lang="en-US" sz="1000" dirty="0"/>
          </a:p>
        </p:txBody>
      </p:sp>
      <p:sp>
        <p:nvSpPr>
          <p:cNvPr id="19" name="Text 16"/>
          <p:cNvSpPr txBox="1"/>
          <p:nvPr/>
        </p:nvSpPr>
        <p:spPr>
          <a:xfrm>
            <a:off x="827532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Charity cup</a:t>
            </a:r>
            <a:endParaRPr lang="en-US" sz="1800" dirty="0"/>
          </a:p>
        </p:txBody>
      </p:sp>
      <p:sp>
        <p:nvSpPr>
          <p:cNvPr id="20" name="Text 17"/>
          <p:cNvSpPr txBox="1"/>
          <p:nvPr/>
        </p:nvSpPr>
        <p:spPr>
          <a:xfrm>
            <a:off x="827532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Players enter with a level and a pledge to the cause, only recorded: Serve handles no money. The organiser makes the draw in one tap.</a:t>
            </a:r>
            <a:endParaRPr lang="en-US" sz="1250" dirty="0"/>
          </a:p>
        </p:txBody>
      </p:sp>
      <p:sp>
        <p:nvSpPr>
          <p:cNvPr id="21" name="Shape 18"/>
          <p:cNvSpPr/>
          <p:nvPr/>
        </p:nvSpPr>
        <p:spPr>
          <a:xfrm>
            <a:off x="8275320" y="4480560"/>
            <a:ext cx="3108960" cy="1325880"/>
          </a:xfrm>
          <a:prstGeom prst="roundRect">
            <a:avLst>
              <a:gd name="adj" fmla="val 8276"/>
            </a:avLst>
          </a:prstGeom>
          <a:solidFill>
            <a:srgbClr val="FBF3E6"/>
          </a:solidFill>
          <a:ln w="12700">
            <a:solidFill>
              <a:srgbClr val="FBF3E6"/>
            </a:solidFill>
            <a:prstDash val="solid"/>
          </a:ln>
        </p:spPr>
      </p:sp>
      <p:sp>
        <p:nvSpPr>
          <p:cNvPr id="22" name="Text 19"/>
          <p:cNvSpPr txBox="1"/>
          <p:nvPr/>
        </p:nvSpPr>
        <p:spPr>
          <a:xfrm>
            <a:off x="841248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Balanced doubles, a round robin on courts and times, no team twice in a slot; posted in the club.</a:t>
            </a:r>
            <a:endParaRPr lang="en-US" sz="1200" dirty="0"/>
          </a:p>
        </p:txBody>
      </p:sp>
      <p:sp>
        <p:nvSpPr>
          <p:cNvPr id="23" name="Text 20"/>
          <p:cNvSpPr txBox="1"/>
          <p:nvPr/>
        </p:nvSpPr>
        <p:spPr>
          <a:xfrm>
            <a:off x="548640" y="6144768"/>
            <a:ext cx="10972800" cy="274320"/>
          </a:xfrm>
          <a:prstGeom prst="rect">
            <a:avLst/>
          </a:prstGeom>
          <a:noFill/>
          <a:ln/>
        </p:spPr>
        <p:txBody>
          <a:bodyPr wrap="square" lIns="0" tIns="0" rIns="0" bIns="0" rtlCol="0" anchor="t"/>
          <a:lstStyle/>
          <a:p>
            <a:pPr indent="0" marL="0">
              <a:buNone/>
            </a:pPr>
            <a:r>
              <a:rPr lang="en-US" sz="1100" i="1" dirty="0">
                <a:solidFill>
                  <a:srgbClr val="55555C"/>
                </a:solidFill>
              </a:rPr>
              <a:t>All rules are code, checked in test/programs_unit.mjs. A new kind of group is a club, not a new agent.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games</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my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SCHEDULING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and your games fit around it</a:t>
            </a:r>
            <a:endParaRPr lang="en-US" sz="3200" dirty="0"/>
          </a:p>
        </p:txBody>
      </p:sp>
      <p:sp>
        <p:nvSpPr>
          <p:cNvPr id="5" name="Shape 2"/>
          <p:cNvSpPr/>
          <p:nvPr/>
        </p:nvSpPr>
        <p:spPr>
          <a:xfrm>
            <a:off x="548640" y="1691640"/>
            <a:ext cx="4846320" cy="4343400"/>
          </a:xfrm>
          <a:prstGeom prst="roundRect">
            <a:avLst>
              <a:gd name="adj" fmla="val 2526"/>
            </a:avLst>
          </a:prstGeom>
          <a:solidFill>
            <a:srgbClr val="FFFFFF"/>
          </a:solidFill>
          <a:ln w="12700">
            <a:solidFill>
              <a:srgbClr val="DCDCE0"/>
            </a:solidFill>
            <a:prstDash val="solid"/>
          </a:ln>
        </p:spPr>
      </p:sp>
      <p:sp>
        <p:nvSpPr>
          <p:cNvPr id="6" name="Text 3"/>
          <p:cNvSpPr txBox="1"/>
          <p:nvPr/>
        </p:nvSpPr>
        <p:spPr>
          <a:xfrm>
            <a:off x="777240" y="1828800"/>
            <a:ext cx="4389120" cy="228600"/>
          </a:xfrm>
          <a:prstGeom prst="rect">
            <a:avLst/>
          </a:prstGeom>
          <a:noFill/>
          <a:ln/>
        </p:spPr>
        <p:txBody>
          <a:bodyPr wrap="square" lIns="0" tIns="0" rIns="0" bIns="0" rtlCol="0" anchor="t"/>
          <a:lstStyle/>
          <a:p>
            <a:pPr indent="0" marL="0">
              <a:buNone/>
            </a:pPr>
            <a:r>
              <a:rPr lang="en-US" sz="1000" b="1" spc="100" kern="0" dirty="0">
                <a:solidFill>
                  <a:srgbClr val="55555C"/>
                </a:solidFill>
              </a:rPr>
              <a:t>THIS WEEK'S LIMITS</a:t>
            </a:r>
            <a:endParaRPr lang="en-US" sz="1000" dirty="0"/>
          </a:p>
        </p:txBody>
      </p:sp>
      <p:sp>
        <p:nvSpPr>
          <p:cNvPr id="7" name="Shape 4"/>
          <p:cNvSpPr/>
          <p:nvPr/>
        </p:nvSpPr>
        <p:spPr>
          <a:xfrm>
            <a:off x="777240" y="2194560"/>
            <a:ext cx="4389120" cy="786384"/>
          </a:xfrm>
          <a:prstGeom prst="roundRect">
            <a:avLst>
              <a:gd name="adj" fmla="val 13953"/>
            </a:avLst>
          </a:prstGeom>
          <a:solidFill>
            <a:srgbClr val="F6F7F8"/>
          </a:solidFill>
          <a:ln w="12700">
            <a:solidFill>
              <a:srgbClr val="F6F7F8"/>
            </a:solidFill>
            <a:prstDash val="solid"/>
          </a:ln>
        </p:spPr>
      </p:sp>
      <p:sp>
        <p:nvSpPr>
          <p:cNvPr id="8" name="Text 5"/>
          <p:cNvSpPr txBox="1"/>
          <p:nvPr/>
        </p:nvSpPr>
        <p:spPr>
          <a:xfrm>
            <a:off x="960120" y="2286000"/>
            <a:ext cx="4023360" cy="292608"/>
          </a:xfrm>
          <a:prstGeom prst="rect">
            <a:avLst/>
          </a:prstGeom>
          <a:noFill/>
          <a:ln/>
        </p:spPr>
        <p:txBody>
          <a:bodyPr wrap="square" lIns="0" tIns="0" rIns="0" bIns="0" rtlCol="0" anchor="t"/>
          <a:lstStyle/>
          <a:p>
            <a:pPr indent="0" marL="0">
              <a:buNone/>
            </a:pPr>
            <a:r>
              <a:rPr lang="en-US" sz="1400" b="1" dirty="0">
                <a:solidFill>
                  <a:srgbClr val="0A0A0B"/>
                </a:solidFill>
              </a:rPr>
              <a:t>Doubles first</a:t>
            </a:r>
            <a:endParaRPr lang="en-US" sz="1400" dirty="0"/>
          </a:p>
        </p:txBody>
      </p:sp>
      <p:sp>
        <p:nvSpPr>
          <p:cNvPr id="9" name="Text 6"/>
          <p:cNvSpPr txBox="1"/>
          <p:nvPr/>
        </p:nvSpPr>
        <p:spPr>
          <a:xfrm>
            <a:off x="960120" y="2633472"/>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Sun 25 Oct</a:t>
            </a:r>
            <a:endParaRPr lang="en-US" sz="1050" dirty="0"/>
          </a:p>
        </p:txBody>
      </p:sp>
      <p:sp>
        <p:nvSpPr>
          <p:cNvPr id="10" name="Shape 7"/>
          <p:cNvSpPr/>
          <p:nvPr/>
        </p:nvSpPr>
        <p:spPr>
          <a:xfrm>
            <a:off x="777240" y="3127248"/>
            <a:ext cx="4389120" cy="786384"/>
          </a:xfrm>
          <a:prstGeom prst="roundRect">
            <a:avLst>
              <a:gd name="adj" fmla="val 13953"/>
            </a:avLst>
          </a:prstGeom>
          <a:solidFill>
            <a:srgbClr val="F6F7F8"/>
          </a:solidFill>
          <a:ln w="12700">
            <a:solidFill>
              <a:srgbClr val="F6F7F8"/>
            </a:solidFill>
            <a:prstDash val="solid"/>
          </a:ln>
        </p:spPr>
      </p:sp>
      <p:sp>
        <p:nvSpPr>
          <p:cNvPr id="11" name="Text 8"/>
          <p:cNvSpPr txBox="1"/>
          <p:nvPr/>
        </p:nvSpPr>
        <p:spPr>
          <a:xfrm>
            <a:off x="960120" y="3218688"/>
            <a:ext cx="4023360" cy="292608"/>
          </a:xfrm>
          <a:prstGeom prst="rect">
            <a:avLst/>
          </a:prstGeom>
          <a:noFill/>
          <a:ln/>
        </p:spPr>
        <p:txBody>
          <a:bodyPr wrap="square" lIns="0" tIns="0" rIns="0" bIns="0" rtlCol="0" anchor="t"/>
          <a:lstStyle/>
          <a:p>
            <a:pPr indent="0" marL="0">
              <a:buNone/>
            </a:pPr>
            <a:r>
              <a:rPr lang="en-US" sz="1400" b="1" dirty="0">
                <a:solidFill>
                  <a:srgbClr val="0A0A0B"/>
                </a:solidFill>
              </a:rPr>
              <a:t>No games after 22:00 on work nights</a:t>
            </a:r>
            <a:endParaRPr lang="en-US" sz="1400" dirty="0"/>
          </a:p>
        </p:txBody>
      </p:sp>
      <p:sp>
        <p:nvSpPr>
          <p:cNvPr id="12" name="Text 9"/>
          <p:cNvSpPr txBox="1"/>
          <p:nvPr/>
        </p:nvSpPr>
        <p:spPr>
          <a:xfrm>
            <a:off x="960120" y="3566160"/>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Thu 22 Oct</a:t>
            </a:r>
            <a:endParaRPr lang="en-US" sz="1050" dirty="0"/>
          </a:p>
        </p:txBody>
      </p:sp>
      <p:sp>
        <p:nvSpPr>
          <p:cNvPr id="13" name="Shape 10"/>
          <p:cNvSpPr/>
          <p:nvPr/>
        </p:nvSpPr>
        <p:spPr>
          <a:xfrm>
            <a:off x="777240" y="4059936"/>
            <a:ext cx="4389120" cy="786384"/>
          </a:xfrm>
          <a:prstGeom prst="roundRect">
            <a:avLst>
              <a:gd name="adj" fmla="val 13953"/>
            </a:avLst>
          </a:prstGeom>
          <a:solidFill>
            <a:srgbClr val="F6F7F8"/>
          </a:solidFill>
          <a:ln w="12700">
            <a:solidFill>
              <a:srgbClr val="F6F7F8"/>
            </a:solidFill>
            <a:prstDash val="solid"/>
          </a:ln>
        </p:spPr>
      </p:sp>
      <p:sp>
        <p:nvSpPr>
          <p:cNvPr id="14" name="Text 11"/>
          <p:cNvSpPr txBox="1"/>
          <p:nvPr/>
        </p:nvSpPr>
        <p:spPr>
          <a:xfrm>
            <a:off x="960120" y="4151376"/>
            <a:ext cx="4023360" cy="292608"/>
          </a:xfrm>
          <a:prstGeom prst="rect">
            <a:avLst/>
          </a:prstGeom>
          <a:noFill/>
          <a:ln/>
        </p:spPr>
        <p:txBody>
          <a:bodyPr wrap="square" lIns="0" tIns="0" rIns="0" bIns="0" rtlCol="0" anchor="t"/>
          <a:lstStyle/>
          <a:p>
            <a:pPr indent="0" marL="0">
              <a:buNone/>
            </a:pPr>
            <a:r>
              <a:rPr lang="en-US" sz="1400" b="1" dirty="0">
                <a:solidFill>
                  <a:srgbClr val="0A0A0B"/>
                </a:solidFill>
              </a:rPr>
              <a:t>Leave Tomás out for now</a:t>
            </a:r>
            <a:endParaRPr lang="en-US" sz="1400" dirty="0"/>
          </a:p>
        </p:txBody>
      </p:sp>
      <p:sp>
        <p:nvSpPr>
          <p:cNvPr id="15" name="Text 12"/>
          <p:cNvSpPr txBox="1"/>
          <p:nvPr/>
        </p:nvSpPr>
        <p:spPr>
          <a:xfrm>
            <a:off x="960120" y="4498848"/>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Fri 23 Oct</a:t>
            </a:r>
            <a:endParaRPr lang="en-US" sz="1050" dirty="0"/>
          </a:p>
        </p:txBody>
      </p:sp>
      <p:sp>
        <p:nvSpPr>
          <p:cNvPr id="16" name="Shape 13"/>
          <p:cNvSpPr/>
          <p:nvPr/>
        </p:nvSpPr>
        <p:spPr>
          <a:xfrm>
            <a:off x="777240" y="4992624"/>
            <a:ext cx="4389120" cy="786384"/>
          </a:xfrm>
          <a:prstGeom prst="roundRect">
            <a:avLst>
              <a:gd name="adj" fmla="val 13953"/>
            </a:avLst>
          </a:prstGeom>
          <a:solidFill>
            <a:srgbClr val="F6F7F8"/>
          </a:solidFill>
          <a:ln w="12700">
            <a:solidFill>
              <a:srgbClr val="F6F7F8"/>
            </a:solidFill>
            <a:prstDash val="solid"/>
          </a:ln>
        </p:spPr>
      </p:sp>
      <p:sp>
        <p:nvSpPr>
          <p:cNvPr id="17" name="Text 14"/>
          <p:cNvSpPr txBox="1"/>
          <p:nvPr/>
        </p:nvSpPr>
        <p:spPr>
          <a:xfrm>
            <a:off x="960120" y="5084064"/>
            <a:ext cx="4023360" cy="292608"/>
          </a:xfrm>
          <a:prstGeom prst="rect">
            <a:avLst/>
          </a:prstGeom>
          <a:noFill/>
          <a:ln/>
        </p:spPr>
        <p:txBody>
          <a:bodyPr wrap="square" lIns="0" tIns="0" rIns="0" bIns="0" rtlCol="0" anchor="t"/>
          <a:lstStyle/>
          <a:p>
            <a:pPr indent="0" marL="0">
              <a:buNone/>
            </a:pPr>
            <a:r>
              <a:rPr lang="en-US" sz="1400" b="1" dirty="0">
                <a:solidFill>
                  <a:srgbClr val="0A0A0B"/>
                </a:solidFill>
              </a:rPr>
              <a:t>One game fewer this week</a:t>
            </a:r>
            <a:endParaRPr lang="en-US" sz="1400" dirty="0"/>
          </a:p>
        </p:txBody>
      </p:sp>
      <p:sp>
        <p:nvSpPr>
          <p:cNvPr id="18" name="Text 15"/>
          <p:cNvSpPr txBox="1"/>
          <p:nvPr/>
        </p:nvSpPr>
        <p:spPr>
          <a:xfrm>
            <a:off x="960120" y="5431536"/>
            <a:ext cx="4023360" cy="256032"/>
          </a:xfrm>
          <a:prstGeom prst="rect">
            <a:avLst/>
          </a:prstGeom>
          <a:noFill/>
          <a:ln/>
        </p:spPr>
        <p:txBody>
          <a:bodyPr wrap="square" lIns="0" tIns="0" rIns="0" bIns="0" rtlCol="0" anchor="t"/>
          <a:lstStyle/>
          <a:p>
            <a:pPr indent="0" marL="0">
              <a:buNone/>
            </a:pPr>
            <a:r>
              <a:rPr lang="en-US" sz="1050" dirty="0">
                <a:solidFill>
                  <a:srgbClr val="0A7F44"/>
                </a:solidFill>
              </a:rPr>
              <a:t>Your games and health app</a:t>
            </a:r>
            <a:endParaRPr lang="en-US" sz="1050" dirty="0"/>
          </a:p>
        </p:txBody>
      </p:sp>
      <p:sp>
        <p:nvSpPr>
          <p:cNvPr id="19" name="Shape 16"/>
          <p:cNvSpPr/>
          <p:nvPr/>
        </p:nvSpPr>
        <p:spPr>
          <a:xfrm>
            <a:off x="5669280" y="1783080"/>
            <a:ext cx="384048" cy="384048"/>
          </a:xfrm>
          <a:prstGeom prst="ellipse">
            <a:avLst/>
          </a:prstGeom>
          <a:solidFill>
            <a:srgbClr val="0A7F44"/>
          </a:solidFill>
          <a:ln w="12700">
            <a:solidFill>
              <a:srgbClr val="0A7F44"/>
            </a:solidFill>
            <a:prstDash val="solid"/>
          </a:ln>
        </p:spPr>
      </p:sp>
      <p:sp>
        <p:nvSpPr>
          <p:cNvPr id="20" name="Text 1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21" name="Text 1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22" name="Text 1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your games and your health app; what you told your agent before.</a:t>
            </a:r>
            <a:endParaRPr lang="en-US" sz="1200" dirty="0"/>
          </a:p>
        </p:txBody>
      </p:sp>
      <p:sp>
        <p:nvSpPr>
          <p:cNvPr id="23" name="Shape 20"/>
          <p:cNvSpPr/>
          <p:nvPr/>
        </p:nvSpPr>
        <p:spPr>
          <a:xfrm>
            <a:off x="5669280" y="2862072"/>
            <a:ext cx="384048" cy="384048"/>
          </a:xfrm>
          <a:prstGeom prst="ellipse">
            <a:avLst/>
          </a:prstGeom>
          <a:solidFill>
            <a:srgbClr val="0A7F44"/>
          </a:solidFill>
          <a:ln w="12700">
            <a:solidFill>
              <a:srgbClr val="0A7F44"/>
            </a:solidFill>
            <a:prstDash val="solid"/>
          </a:ln>
        </p:spPr>
      </p:sp>
      <p:sp>
        <p:nvSpPr>
          <p:cNvPr id="24" name="Text 2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25" name="Text 2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26" name="Text 2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and a newer note replaces an older one.</a:t>
            </a:r>
            <a:endParaRPr lang="en-US" sz="1200" dirty="0"/>
          </a:p>
        </p:txBody>
      </p:sp>
      <p:sp>
        <p:nvSpPr>
          <p:cNvPr id="27" name="Shape 24"/>
          <p:cNvSpPr/>
          <p:nvPr/>
        </p:nvSpPr>
        <p:spPr>
          <a:xfrm>
            <a:off x="5669280" y="3941064"/>
            <a:ext cx="384048" cy="384048"/>
          </a:xfrm>
          <a:prstGeom prst="ellipse">
            <a:avLst/>
          </a:prstGeom>
          <a:solidFill>
            <a:srgbClr val="0A7F44"/>
          </a:solidFill>
          <a:ln w="12700">
            <a:solidFill>
              <a:srgbClr val="0A7F44"/>
            </a:solidFill>
            <a:prstDash val="solid"/>
          </a:ln>
        </p:spPr>
      </p:sp>
      <p:sp>
        <p:nvSpPr>
          <p:cNvPr id="28" name="Text 2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9" name="Text 2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30" name="Text 2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late games, someone left out, one game fewer. Each limit must cite a real note, checked by code.</a:t>
            </a:r>
            <a:endParaRPr lang="en-US" sz="1200" dirty="0"/>
          </a:p>
        </p:txBody>
      </p:sp>
      <p:sp>
        <p:nvSpPr>
          <p:cNvPr id="31" name="Shape 28"/>
          <p:cNvSpPr/>
          <p:nvPr/>
        </p:nvSpPr>
        <p:spPr>
          <a:xfrm>
            <a:off x="5669280" y="5020056"/>
            <a:ext cx="384048" cy="384048"/>
          </a:xfrm>
          <a:prstGeom prst="ellipse">
            <a:avLst/>
          </a:prstGeom>
          <a:solidFill>
            <a:srgbClr val="0A7F44"/>
          </a:solidFill>
          <a:ln w="12700">
            <a:solidFill>
              <a:srgbClr val="0A7F44"/>
            </a:solidFill>
            <a:prstDash val="solid"/>
          </a:ln>
        </p:spPr>
      </p:sp>
      <p:sp>
        <p:nvSpPr>
          <p:cNvPr id="32" name="Text 2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33" name="Text 3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34" name="Text 3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top notes and the cited limits go to Muse Glimmer when it plans your week. Scheduling only: no coaching, no medical advice.</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 CLIP TO SHARE · FIVE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becomes a clip for your friends</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SATURDAY · MADE WITH MUSE IMAGE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poster for the rematch, a face for every agent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 rematch poster, shared from the phone</a:t>
            </a:r>
            <a:endParaRPr lang="en-US" sz="1050" dirty="0"/>
          </a:p>
        </p:txBody>
      </p:sp>
      <p:sp>
        <p:nvSpPr>
          <p:cNvPr id="8" name="Text 4"/>
          <p:cNvSpPr txBox="1"/>
          <p:nvPr/>
        </p:nvSpPr>
        <p:spPr>
          <a:xfrm>
            <a:off x="3291840" y="173736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The poster</a:t>
            </a:r>
            <a:endParaRPr lang="en-US" sz="1500" dirty="0"/>
          </a:p>
        </p:txBody>
      </p:sp>
      <p:sp>
        <p:nvSpPr>
          <p:cNvPr id="9" name="Text 5"/>
          <p:cNvSpPr txBox="1"/>
          <p:nvPr/>
        </p:nvSpPr>
        <p:spPr>
          <a:xfrm>
            <a:off x="3291840" y="2057400"/>
            <a:ext cx="4023360" cy="1463040"/>
          </a:xfrm>
          <a:prstGeom prst="rect">
            <a:avLst/>
          </a:prstGeom>
          <a:noFill/>
          <a:ln/>
        </p:spPr>
        <p:txBody>
          <a:bodyPr wrap="square" lIns="0" tIns="0" rIns="0" bIns="0" rtlCol="0" anchor="t"/>
          <a:lstStyle/>
          <a:p>
            <a:pPr indent="0" marL="0">
              <a:buNone/>
            </a:pPr>
            <a:r>
              <a:rPr lang="en-US" sz="1150" dirty="0">
                <a:solidFill>
                  <a:srgbClr val="55555C"/>
                </a:solidFill>
              </a:rPr>
              <a:t>Muse Image draws only the art: two of the club's mascots facing off, no words in it. The app writes who, when and the stake on top, so nothing reads wrong. Made once per challenge; only the sport and the format go into the prompt, never a name or a note.</a:t>
            </a:r>
            <a:endParaRPr lang="en-US" sz="1150" dirty="0"/>
          </a:p>
        </p:txBody>
      </p:sp>
      <p:sp>
        <p:nvSpPr>
          <p:cNvPr id="10" name="Text 6"/>
          <p:cNvSpPr txBox="1"/>
          <p:nvPr/>
        </p:nvSpPr>
        <p:spPr>
          <a:xfrm>
            <a:off x="3291840" y="361188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Every agent's face</a:t>
            </a:r>
            <a:endParaRPr lang="en-US" sz="1500" dirty="0"/>
          </a:p>
        </p:txBody>
      </p:sp>
      <p:sp>
        <p:nvSpPr>
          <p:cNvPr id="11" name="Text 7"/>
          <p:cNvSpPr txBox="1"/>
          <p:nvPr/>
        </p:nvSpPr>
        <p:spPr>
          <a:xfrm>
            <a:off x="3291840" y="3931920"/>
            <a:ext cx="4023360" cy="1097280"/>
          </a:xfrm>
          <a:prstGeom prst="rect">
            <a:avLst/>
          </a:prstGeom>
          <a:noFill/>
          <a:ln/>
        </p:spPr>
        <p:txBody>
          <a:bodyPr wrap="square" lIns="0" tIns="0" rIns="0" bIns="0" rtlCol="0" anchor="t"/>
          <a:lstStyle/>
          <a:p>
            <a:pPr indent="0" marL="0">
              <a:buNone/>
            </a:pPr>
            <a:r>
              <a:rPr lang="en-US" sz="1150" dirty="0">
                <a:solidFill>
                  <a:srgbClr val="55555C"/>
                </a:solidFill>
              </a:rPr>
              <a:t>One for each member's agent and one for yours, made once (12 images), so you can tell at a glance whose agent is talking: in the feed, in Agent chats and on the home page.</a:t>
            </a:r>
            <a:endParaRPr lang="en-US" sz="1150" dirty="0"/>
          </a:p>
        </p:txBody>
      </p:sp>
      <p:sp>
        <p:nvSpPr>
          <p:cNvPr id="12" name="Shape 8"/>
          <p:cNvSpPr/>
          <p:nvPr/>
        </p:nvSpPr>
        <p:spPr>
          <a:xfrm>
            <a:off x="3291840" y="5166360"/>
            <a:ext cx="3291840" cy="329184"/>
          </a:xfrm>
          <a:prstGeom prst="roundRect">
            <a:avLst>
              <a:gd name="adj" fmla="val 50000"/>
            </a:avLst>
          </a:prstGeom>
          <a:solidFill>
            <a:srgbClr val="FBF3E6"/>
          </a:solidFill>
          <a:ln w="12700">
            <a:solidFill>
              <a:srgbClr val="FBF3E6"/>
            </a:solidFill>
            <a:prstDash val="solid"/>
          </a:ln>
        </p:spPr>
      </p:sp>
      <p:sp>
        <p:nvSpPr>
          <p:cNvPr id="13" name="Text 9"/>
          <p:cNvSpPr txBox="1"/>
          <p:nvPr/>
        </p:nvSpPr>
        <p:spPr>
          <a:xfrm>
            <a:off x="3291840" y="5166360"/>
            <a:ext cx="3291840" cy="329184"/>
          </a:xfrm>
          <a:prstGeom prst="rect">
            <a:avLst/>
          </a:prstGeom>
          <a:noFill/>
          <a:ln/>
        </p:spPr>
        <p:txBody>
          <a:bodyPr wrap="square" lIns="0" tIns="0" rIns="0" bIns="0" rtlCol="0" anchor="ctr"/>
          <a:lstStyle/>
          <a:p>
            <a:pPr algn="ctr" indent="0" marL="0">
              <a:buNone/>
            </a:pPr>
            <a:r>
              <a:rPr lang="en-US" sz="1100" b="1" dirty="0">
                <a:solidFill>
                  <a:srgbClr val="B26A00"/>
                </a:solidFill>
              </a:rPr>
              <a:t>Muse Image · $0.01 an image · made once</a:t>
            </a:r>
            <a:endParaRPr lang="en-US" sz="1100" dirty="0"/>
          </a:p>
        </p:txBody>
      </p:sp>
      <p:pic>
        <p:nvPicPr>
          <p:cNvPr id="14" name="Image 1" descr="preencoded.png">    </p:cNvPr>
          <p:cNvPicPr>
            <a:picLocks noChangeAspect="1"/>
          </p:cNvPicPr>
          <p:nvPr/>
        </p:nvPicPr>
        <p:blipFill>
          <a:blip r:embed="rId2"/>
          <a:stretch>
            <a:fillRect/>
          </a:stretch>
        </p:blipFill>
        <p:spPr>
          <a:xfrm>
            <a:off x="7726680" y="1783080"/>
            <a:ext cx="868680" cy="868680"/>
          </a:xfrm>
          <a:prstGeom prst="rect">
            <a:avLst/>
          </a:prstGeom>
        </p:spPr>
      </p:pic>
      <p:pic>
        <p:nvPicPr>
          <p:cNvPr id="15" name="Image 2" descr="preencoded.png">    </p:cNvPr>
          <p:cNvPicPr>
            <a:picLocks noChangeAspect="1"/>
          </p:cNvPicPr>
          <p:nvPr/>
        </p:nvPicPr>
        <p:blipFill>
          <a:blip r:embed="rId3"/>
          <a:stretch>
            <a:fillRect/>
          </a:stretch>
        </p:blipFill>
        <p:spPr>
          <a:xfrm>
            <a:off x="8714232" y="1783080"/>
            <a:ext cx="868680" cy="868680"/>
          </a:xfrm>
          <a:prstGeom prst="rect">
            <a:avLst/>
          </a:prstGeom>
        </p:spPr>
      </p:pic>
      <p:pic>
        <p:nvPicPr>
          <p:cNvPr id="16" name="Image 3" descr="preencoded.png">    </p:cNvPr>
          <p:cNvPicPr>
            <a:picLocks noChangeAspect="1"/>
          </p:cNvPicPr>
          <p:nvPr/>
        </p:nvPicPr>
        <p:blipFill>
          <a:blip r:embed="rId4"/>
          <a:stretch>
            <a:fillRect/>
          </a:stretch>
        </p:blipFill>
        <p:spPr>
          <a:xfrm>
            <a:off x="9701784" y="1783080"/>
            <a:ext cx="868680" cy="868680"/>
          </a:xfrm>
          <a:prstGeom prst="rect">
            <a:avLst/>
          </a:prstGeom>
        </p:spPr>
      </p:pic>
      <p:pic>
        <p:nvPicPr>
          <p:cNvPr id="17" name="Image 4" descr="preencoded.png">    </p:cNvPr>
          <p:cNvPicPr>
            <a:picLocks noChangeAspect="1"/>
          </p:cNvPicPr>
          <p:nvPr/>
        </p:nvPicPr>
        <p:blipFill>
          <a:blip r:embed="rId5"/>
          <a:stretch>
            <a:fillRect/>
          </a:stretch>
        </p:blipFill>
        <p:spPr>
          <a:xfrm>
            <a:off x="10689336" y="1783080"/>
            <a:ext cx="868680" cy="868680"/>
          </a:xfrm>
          <a:prstGeom prst="rect">
            <a:avLst/>
          </a:prstGeom>
        </p:spPr>
      </p:pic>
      <p:pic>
        <p:nvPicPr>
          <p:cNvPr id="18" name="Image 5" descr="preencoded.png">    </p:cNvPr>
          <p:cNvPicPr>
            <a:picLocks noChangeAspect="1"/>
          </p:cNvPicPr>
          <p:nvPr/>
        </p:nvPicPr>
        <p:blipFill>
          <a:blip r:embed="rId6"/>
          <a:stretch>
            <a:fillRect/>
          </a:stretch>
        </p:blipFill>
        <p:spPr>
          <a:xfrm>
            <a:off x="7726680" y="2807208"/>
            <a:ext cx="868680" cy="868680"/>
          </a:xfrm>
          <a:prstGeom prst="rect">
            <a:avLst/>
          </a:prstGeom>
        </p:spPr>
      </p:pic>
      <p:pic>
        <p:nvPicPr>
          <p:cNvPr id="19" name="Image 6" descr="preencoded.png">    </p:cNvPr>
          <p:cNvPicPr>
            <a:picLocks noChangeAspect="1"/>
          </p:cNvPicPr>
          <p:nvPr/>
        </p:nvPicPr>
        <p:blipFill>
          <a:blip r:embed="rId7"/>
          <a:stretch>
            <a:fillRect/>
          </a:stretch>
        </p:blipFill>
        <p:spPr>
          <a:xfrm>
            <a:off x="8714232" y="2807208"/>
            <a:ext cx="868680" cy="868680"/>
          </a:xfrm>
          <a:prstGeom prst="rect">
            <a:avLst/>
          </a:prstGeom>
        </p:spPr>
      </p:pic>
      <p:pic>
        <p:nvPicPr>
          <p:cNvPr id="20" name="Image 7" descr="preencoded.png">    </p:cNvPr>
          <p:cNvPicPr>
            <a:picLocks noChangeAspect="1"/>
          </p:cNvPicPr>
          <p:nvPr/>
        </p:nvPicPr>
        <p:blipFill>
          <a:blip r:embed="rId8"/>
          <a:stretch>
            <a:fillRect/>
          </a:stretch>
        </p:blipFill>
        <p:spPr>
          <a:xfrm>
            <a:off x="9701784" y="2807208"/>
            <a:ext cx="868680" cy="868680"/>
          </a:xfrm>
          <a:prstGeom prst="rect">
            <a:avLst/>
          </a:prstGeom>
        </p:spPr>
      </p:pic>
      <p:pic>
        <p:nvPicPr>
          <p:cNvPr id="21" name="Image 8" descr="preencoded.png">    </p:cNvPr>
          <p:cNvPicPr>
            <a:picLocks noChangeAspect="1"/>
          </p:cNvPicPr>
          <p:nvPr/>
        </p:nvPicPr>
        <p:blipFill>
          <a:blip r:embed="rId9"/>
          <a:stretch>
            <a:fillRect/>
          </a:stretch>
        </p:blipFill>
        <p:spPr>
          <a:xfrm>
            <a:off x="10689336" y="2807208"/>
            <a:ext cx="868680" cy="868680"/>
          </a:xfrm>
          <a:prstGeom prst="rect">
            <a:avLst/>
          </a:prstGeom>
        </p:spPr>
      </p:pic>
      <p:pic>
        <p:nvPicPr>
          <p:cNvPr id="22" name="Image 9" descr="preencoded.png">    </p:cNvPr>
          <p:cNvPicPr>
            <a:picLocks noChangeAspect="1"/>
          </p:cNvPicPr>
          <p:nvPr/>
        </p:nvPicPr>
        <p:blipFill>
          <a:blip r:embed="rId10"/>
          <a:stretch>
            <a:fillRect/>
          </a:stretch>
        </p:blipFill>
        <p:spPr>
          <a:xfrm>
            <a:off x="7726680" y="3831336"/>
            <a:ext cx="868680" cy="868680"/>
          </a:xfrm>
          <a:prstGeom prst="rect">
            <a:avLst/>
          </a:prstGeom>
        </p:spPr>
      </p:pic>
      <p:pic>
        <p:nvPicPr>
          <p:cNvPr id="23" name="Image 10" descr="preencoded.png">    </p:cNvPr>
          <p:cNvPicPr>
            <a:picLocks noChangeAspect="1"/>
          </p:cNvPicPr>
          <p:nvPr/>
        </p:nvPicPr>
        <p:blipFill>
          <a:blip r:embed="rId11"/>
          <a:stretch>
            <a:fillRect/>
          </a:stretch>
        </p:blipFill>
        <p:spPr>
          <a:xfrm>
            <a:off x="8714232" y="3831336"/>
            <a:ext cx="868680" cy="868680"/>
          </a:xfrm>
          <a:prstGeom prst="rect">
            <a:avLst/>
          </a:prstGeom>
        </p:spPr>
      </p:pic>
      <p:pic>
        <p:nvPicPr>
          <p:cNvPr id="24" name="Image 11" descr="preencoded.png">    </p:cNvPr>
          <p:cNvPicPr>
            <a:picLocks noChangeAspect="1"/>
          </p:cNvPicPr>
          <p:nvPr/>
        </p:nvPicPr>
        <p:blipFill>
          <a:blip r:embed="rId12"/>
          <a:stretch>
            <a:fillRect/>
          </a:stretch>
        </p:blipFill>
        <p:spPr>
          <a:xfrm>
            <a:off x="9701784" y="3831336"/>
            <a:ext cx="868680" cy="868680"/>
          </a:xfrm>
          <a:prstGeom prst="rect">
            <a:avLst/>
          </a:prstGeom>
        </p:spPr>
      </p:pic>
      <p:pic>
        <p:nvPicPr>
          <p:cNvPr id="25" name="Image 12" descr="preencoded.png">    </p:cNvPr>
          <p:cNvPicPr>
            <a:picLocks noChangeAspect="1"/>
          </p:cNvPicPr>
          <p:nvPr/>
        </p:nvPicPr>
        <p:blipFill>
          <a:blip r:embed="rId13"/>
          <a:stretch>
            <a:fillRect/>
          </a:stretch>
        </p:blipFill>
        <p:spPr>
          <a:xfrm>
            <a:off x="10689336" y="3831336"/>
            <a:ext cx="868680" cy="868680"/>
          </a:xfrm>
          <a:prstGeom prst="rect">
            <a:avLst/>
          </a:prstGeom>
        </p:spPr>
      </p:pic>
      <p:sp>
        <p:nvSpPr>
          <p:cNvPr id="26" name="Text 10"/>
          <p:cNvSpPr txBox="1"/>
          <p:nvPr/>
        </p:nvSpPr>
        <p:spPr>
          <a:xfrm>
            <a:off x="7726680" y="4892040"/>
            <a:ext cx="3931920" cy="256032"/>
          </a:xfrm>
          <a:prstGeom prst="rect">
            <a:avLst/>
          </a:prstGeom>
          <a:noFill/>
          <a:ln/>
        </p:spPr>
        <p:txBody>
          <a:bodyPr wrap="square" lIns="0" tIns="0" rIns="0" bIns="0" rtlCol="0" anchor="t"/>
          <a:lstStyle/>
          <a:p>
            <a:pPr indent="0" marL="0">
              <a:buNone/>
            </a:pPr>
            <a:r>
              <a:rPr lang="en-US" sz="1050" dirty="0">
                <a:solidFill>
                  <a:srgbClr val="55555C"/>
                </a:solidFill>
              </a:rPr>
              <a:t>The demo club's agents and yours</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each with a job</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alone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simulated club</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Agent memory: what matters for your week, by meaning</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moment worth sharing in your clip</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Messenger: your agent in your chats; join with Facebook or IG;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pic>
        <p:nvPicPr>
          <p:cNvPr id="86" name="Image 1" descr="preencoded.png">    </p:cNvPr>
          <p:cNvPicPr>
            <a:picLocks noChangeAspect="1"/>
          </p:cNvPicPr>
          <p:nvPr/>
        </p:nvPicPr>
        <p:blipFill>
          <a:blip r:embed="rId2"/>
          <a:stretch>
            <a:fillRect/>
          </a:stretch>
        </p:blipFill>
        <p:spPr>
          <a:xfrm>
            <a:off x="548640" y="6089904"/>
            <a:ext cx="274320" cy="274320"/>
          </a:xfrm>
          <a:prstGeom prst="rect">
            <a:avLst/>
          </a:prstGeom>
        </p:spPr>
      </p:pic>
      <p:sp>
        <p:nvSpPr>
          <p:cNvPr id="87" name="Text 82"/>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10 open weights on my GPU; 5 on the Meta Model API: Voice and Image at runtime, Spark, SAM 3.1 and Wonder for fallback and checks.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26080"/>
            <a:ext cx="1554480" cy="310896"/>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get_week</a:t>
            </a:r>
            <a:endParaRPr lang="en-US" sz="1000" dirty="0"/>
          </a:p>
        </p:txBody>
      </p:sp>
      <p:sp>
        <p:nvSpPr>
          <p:cNvPr id="10" name="Shape 7"/>
          <p:cNvSpPr/>
          <p:nvPr/>
        </p:nvSpPr>
        <p:spPr>
          <a:xfrm>
            <a:off x="2423160" y="2926080"/>
            <a:ext cx="1554480" cy="310896"/>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42316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check_body</a:t>
            </a:r>
            <a:endParaRPr lang="en-US" sz="1000" dirty="0"/>
          </a:p>
        </p:txBody>
      </p:sp>
      <p:sp>
        <p:nvSpPr>
          <p:cNvPr id="12" name="Shape 9"/>
          <p:cNvSpPr/>
          <p:nvPr/>
        </p:nvSpPr>
        <p:spPr>
          <a:xfrm>
            <a:off x="4069080" y="2926080"/>
            <a:ext cx="1554480" cy="310896"/>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406908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recall</a:t>
            </a:r>
            <a:endParaRPr lang="en-US" sz="1000" dirty="0"/>
          </a:p>
        </p:txBody>
      </p:sp>
      <p:sp>
        <p:nvSpPr>
          <p:cNvPr id="14" name="Shape 11"/>
          <p:cNvSpPr/>
          <p:nvPr/>
        </p:nvSpPr>
        <p:spPr>
          <a:xfrm>
            <a:off x="777240" y="3310128"/>
            <a:ext cx="1554480" cy="310896"/>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77724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find_partners</a:t>
            </a:r>
            <a:endParaRPr lang="en-US" sz="1000" dirty="0"/>
          </a:p>
        </p:txBody>
      </p:sp>
      <p:sp>
        <p:nvSpPr>
          <p:cNvPr id="16" name="Shape 13"/>
          <p:cNvSpPr/>
          <p:nvPr/>
        </p:nvSpPr>
        <p:spPr>
          <a:xfrm>
            <a:off x="2423160" y="3310128"/>
            <a:ext cx="1554480" cy="310896"/>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242316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find_places</a:t>
            </a:r>
            <a:endParaRPr lang="en-US" sz="1000" dirty="0"/>
          </a:p>
        </p:txBody>
      </p:sp>
      <p:sp>
        <p:nvSpPr>
          <p:cNvPr id="18" name="Shape 15"/>
          <p:cNvSpPr/>
          <p:nvPr/>
        </p:nvSpPr>
        <p:spPr>
          <a:xfrm>
            <a:off x="4069080" y="3310128"/>
            <a:ext cx="1554480" cy="310896"/>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406908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negotiate</a:t>
            </a:r>
            <a:endParaRPr lang="en-US" sz="1000" dirty="0"/>
          </a:p>
        </p:txBody>
      </p:sp>
      <p:sp>
        <p:nvSpPr>
          <p:cNvPr id="20" name="Shape 17"/>
          <p:cNvSpPr/>
          <p:nvPr/>
        </p:nvSpPr>
        <p:spPr>
          <a:xfrm>
            <a:off x="777240" y="3694176"/>
            <a:ext cx="1554480" cy="310896"/>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77724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request_approval</a:t>
            </a:r>
            <a:endParaRPr lang="en-US" sz="1000" dirty="0"/>
          </a:p>
        </p:txBody>
      </p:sp>
      <p:sp>
        <p:nvSpPr>
          <p:cNvPr id="22" name="Shape 19"/>
          <p:cNvSpPr/>
          <p:nvPr/>
        </p:nvSpPr>
        <p:spPr>
          <a:xfrm>
            <a:off x="2423160" y="3694176"/>
            <a:ext cx="1554480" cy="310896"/>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242316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nudge</a:t>
            </a:r>
            <a:endParaRPr lang="en-US" sz="1000" dirty="0"/>
          </a:p>
        </p:txBody>
      </p:sp>
      <p:sp>
        <p:nvSpPr>
          <p:cNvPr id="24" name="Shape 21"/>
          <p:cNvSpPr/>
          <p:nvPr/>
        </p:nvSpPr>
        <p:spPr>
          <a:xfrm>
            <a:off x="4069080" y="3694176"/>
            <a:ext cx="1554480" cy="310896"/>
          </a:xfrm>
          <a:prstGeom prst="roundRect">
            <a:avLst>
              <a:gd name="adj" fmla="val 50000"/>
            </a:avLst>
          </a:prstGeom>
          <a:solidFill>
            <a:srgbClr val="E9F3EC"/>
          </a:solidFill>
          <a:ln w="12700">
            <a:solidFill>
              <a:srgbClr val="E9F3EC"/>
            </a:solidFill>
            <a:prstDash val="solid"/>
          </a:ln>
        </p:spPr>
      </p:sp>
      <p:sp>
        <p:nvSpPr>
          <p:cNvPr id="25" name="Text 22"/>
          <p:cNvSpPr txBox="1"/>
          <p:nvPr/>
        </p:nvSpPr>
        <p:spPr>
          <a:xfrm>
            <a:off x="406908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finish</a:t>
            </a:r>
            <a:endParaRPr lang="en-US" sz="1000" dirty="0"/>
          </a:p>
        </p:txBody>
      </p:sp>
      <p:sp>
        <p:nvSpPr>
          <p:cNvPr id="26" name="Text 23"/>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7" name="Shape 24"/>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8" name="Text 25"/>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9" name="Text 26"/>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30" name="Text 27"/>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31" name="Text 28"/>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2" name="Text 29"/>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3" name="Text 30"/>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4" name="Text 31"/>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5" name="Text 32"/>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6" name="Text 33"/>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7" name="Text 34"/>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8" name="Shape 35"/>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9" name="Text 36"/>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40" name="Text 37"/>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on the Meta Model API: your audio goes there; it finds where your turn ends</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logged</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of members' answers taken off Glimmer (simulated club),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the student is up and answers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 Muse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450 tokens, 24 to 40 s</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Muse Glimmer takes the rest, with its full reasoning.</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MEMORY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Notes that update themselves, found by meaning,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MEASURED THIS WEEK</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Six more pieces, each one measured</a:t>
            </a:r>
            <a:endParaRPr lang="en-US" sz="3200" dirty="0"/>
          </a:p>
        </p:txBody>
      </p:sp>
      <p:sp>
        <p:nvSpPr>
          <p:cNvPr id="5" name="Shape 2"/>
          <p:cNvSpPr/>
          <p:nvPr/>
        </p:nvSpPr>
        <p:spPr>
          <a:xfrm>
            <a:off x="548640" y="1737360"/>
            <a:ext cx="347472" cy="347472"/>
          </a:xfrm>
          <a:prstGeom prst="ellipse">
            <a:avLst/>
          </a:prstGeom>
          <a:solidFill>
            <a:srgbClr val="0A7F44"/>
          </a:solidFill>
          <a:ln w="12700">
            <a:solidFill>
              <a:srgbClr val="0A7F44"/>
            </a:solidFill>
            <a:prstDash val="solid"/>
          </a:ln>
        </p:spPr>
      </p:sp>
      <p:sp>
        <p:nvSpPr>
          <p:cNvPr id="6" name="Text 3"/>
          <p:cNvSpPr txBox="1"/>
          <p:nvPr/>
        </p:nvSpPr>
        <p:spPr>
          <a:xfrm>
            <a:off x="548640" y="17373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4"/>
          <p:cNvSpPr txBox="1"/>
          <p:nvPr/>
        </p:nvSpPr>
        <p:spPr>
          <a:xfrm>
            <a:off x="1051560" y="16642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Private calendars, everywhere</a:t>
            </a:r>
            <a:endParaRPr lang="en-US" sz="1350" dirty="0"/>
          </a:p>
        </p:txBody>
      </p:sp>
      <p:sp>
        <p:nvSpPr>
          <p:cNvPr id="8" name="Text 5"/>
          <p:cNvSpPr txBox="1"/>
          <p:nvPr/>
        </p:nvSpPr>
        <p:spPr>
          <a:xfrm>
            <a:off x="1051560" y="1938528"/>
            <a:ext cx="4206240" cy="292608"/>
          </a:xfrm>
          <a:prstGeom prst="rect">
            <a:avLst/>
          </a:prstGeom>
          <a:noFill/>
          <a:ln/>
        </p:spPr>
        <p:txBody>
          <a:bodyPr wrap="square" lIns="0" tIns="0" rIns="0" bIns="0" rtlCol="0" anchor="t"/>
          <a:lstStyle/>
          <a:p>
            <a:pPr indent="0" marL="0">
              <a:buNone/>
            </a:pPr>
            <a:r>
              <a:rPr lang="en-US" sz="950" dirty="0">
                <a:solidFill>
                  <a:srgbClr val="55555C"/>
                </a:solidFill>
              </a:rPr>
              <a:t>Match, the planner and the search ask each member's agent 'free then?'; a yes or a no, 24 asks a day</a:t>
            </a:r>
            <a:endParaRPr lang="en-US" sz="950" dirty="0"/>
          </a:p>
        </p:txBody>
      </p:sp>
      <p:sp>
        <p:nvSpPr>
          <p:cNvPr id="9" name="Shape 6"/>
          <p:cNvSpPr/>
          <p:nvPr/>
        </p:nvSpPr>
        <p:spPr>
          <a:xfrm>
            <a:off x="5486400" y="1645920"/>
            <a:ext cx="6126480" cy="530352"/>
          </a:xfrm>
          <a:prstGeom prst="roundRect">
            <a:avLst>
              <a:gd name="adj" fmla="val 20690"/>
            </a:avLst>
          </a:prstGeom>
          <a:solidFill>
            <a:srgbClr val="F6F7F8"/>
          </a:solidFill>
          <a:ln w="12700">
            <a:solidFill>
              <a:srgbClr val="F6F7F8"/>
            </a:solidFill>
            <a:prstDash val="solid"/>
          </a:ln>
        </p:spPr>
      </p:sp>
      <p:sp>
        <p:nvSpPr>
          <p:cNvPr id="10" name="Text 7"/>
          <p:cNvSpPr txBox="1"/>
          <p:nvPr/>
        </p:nvSpPr>
        <p:spPr>
          <a:xfrm>
            <a:off x="5650992" y="16459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4 tests: a calendar read by anyone but its agent throws</a:t>
            </a:r>
            <a:endParaRPr lang="en-US" sz="1100" dirty="0"/>
          </a:p>
        </p:txBody>
      </p:sp>
      <p:sp>
        <p:nvSpPr>
          <p:cNvPr id="11" name="Shape 8"/>
          <p:cNvSpPr/>
          <p:nvPr/>
        </p:nvSpPr>
        <p:spPr>
          <a:xfrm>
            <a:off x="548640" y="2377440"/>
            <a:ext cx="347472" cy="347472"/>
          </a:xfrm>
          <a:prstGeom prst="ellipse">
            <a:avLst/>
          </a:prstGeom>
          <a:solidFill>
            <a:srgbClr val="0A7F44"/>
          </a:solidFill>
          <a:ln w="12700">
            <a:solidFill>
              <a:srgbClr val="0A7F44"/>
            </a:solidFill>
            <a:prstDash val="solid"/>
          </a:ln>
        </p:spPr>
      </p:sp>
      <p:sp>
        <p:nvSpPr>
          <p:cNvPr id="12" name="Text 9"/>
          <p:cNvSpPr txBox="1"/>
          <p:nvPr/>
        </p:nvSpPr>
        <p:spPr>
          <a:xfrm>
            <a:off x="548640" y="23774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0"/>
          <p:cNvSpPr txBox="1"/>
          <p:nvPr/>
        </p:nvSpPr>
        <p:spPr>
          <a:xfrm>
            <a:off x="1051560" y="23042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learned intent router</a:t>
            </a:r>
            <a:endParaRPr lang="en-US" sz="1350" dirty="0"/>
          </a:p>
        </p:txBody>
      </p:sp>
      <p:sp>
        <p:nvSpPr>
          <p:cNvPr id="14" name="Text 11"/>
          <p:cNvSpPr txBox="1"/>
          <p:nvPr/>
        </p:nvSpPr>
        <p:spPr>
          <a:xfrm>
            <a:off x="1051560" y="2578608"/>
            <a:ext cx="4206240" cy="292608"/>
          </a:xfrm>
          <a:prstGeom prst="rect">
            <a:avLst/>
          </a:prstGeom>
          <a:noFill/>
          <a:ln/>
        </p:spPr>
        <p:txBody>
          <a:bodyPr wrap="square" lIns="0" tIns="0" rIns="0" bIns="0" rtlCol="0" anchor="t"/>
          <a:lstStyle/>
          <a:p>
            <a:pPr indent="0" marL="0">
              <a:buNone/>
            </a:pPr>
            <a:r>
              <a:rPr lang="en-US" sz="950" dirty="0">
                <a:solidFill>
                  <a:srgbClr val="55555C"/>
                </a:solidFill>
              </a:rPr>
              <a:t>DRAMA vectors and a small head, behind the regular expressions</a:t>
            </a:r>
            <a:endParaRPr lang="en-US" sz="950" dirty="0"/>
          </a:p>
        </p:txBody>
      </p:sp>
      <p:sp>
        <p:nvSpPr>
          <p:cNvPr id="15" name="Shape 12"/>
          <p:cNvSpPr/>
          <p:nvPr/>
        </p:nvSpPr>
        <p:spPr>
          <a:xfrm>
            <a:off x="5486400" y="2286000"/>
            <a:ext cx="6126480" cy="530352"/>
          </a:xfrm>
          <a:prstGeom prst="roundRect">
            <a:avLst>
              <a:gd name="adj" fmla="val 20690"/>
            </a:avLst>
          </a:prstGeom>
          <a:solidFill>
            <a:srgbClr val="F6F7F8"/>
          </a:solidFill>
          <a:ln w="12700">
            <a:solidFill>
              <a:srgbClr val="F6F7F8"/>
            </a:solidFill>
            <a:prstDash val="solid"/>
          </a:ln>
        </p:spPr>
      </p:sp>
      <p:sp>
        <p:nvSpPr>
          <p:cNvPr id="16" name="Text 13"/>
          <p:cNvSpPr txBox="1"/>
          <p:nvPr/>
        </p:nvSpPr>
        <p:spPr>
          <a:xfrm>
            <a:off x="5650992" y="22860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Game requests found: 6 of 10 by the expressions alone, 10 of 10 with the router added</a:t>
            </a:r>
            <a:endParaRPr lang="en-US" sz="1100" dirty="0"/>
          </a:p>
        </p:txBody>
      </p:sp>
      <p:sp>
        <p:nvSpPr>
          <p:cNvPr id="17" name="Shape 14"/>
          <p:cNvSpPr/>
          <p:nvPr/>
        </p:nvSpPr>
        <p:spPr>
          <a:xfrm>
            <a:off x="548640" y="3017520"/>
            <a:ext cx="347472" cy="347472"/>
          </a:xfrm>
          <a:prstGeom prst="ellipse">
            <a:avLst/>
          </a:prstGeom>
          <a:solidFill>
            <a:srgbClr val="0A7F44"/>
          </a:solidFill>
          <a:ln w="12700">
            <a:solidFill>
              <a:srgbClr val="0A7F44"/>
            </a:solidFill>
            <a:prstDash val="solid"/>
          </a:ln>
        </p:spPr>
      </p:sp>
      <p:sp>
        <p:nvSpPr>
          <p:cNvPr id="18" name="Text 15"/>
          <p:cNvSpPr txBox="1"/>
          <p:nvPr/>
        </p:nvSpPr>
        <p:spPr>
          <a:xfrm>
            <a:off x="548640" y="30175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9" name="Text 16"/>
          <p:cNvSpPr txBox="1"/>
          <p:nvPr/>
        </p:nvSpPr>
        <p:spPr>
          <a:xfrm>
            <a:off x="1051560" y="294436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New code, built by Muse Spark</a:t>
            </a:r>
            <a:endParaRPr lang="en-US" sz="1350" dirty="0"/>
          </a:p>
        </p:txBody>
      </p:sp>
      <p:sp>
        <p:nvSpPr>
          <p:cNvPr id="20" name="Text 17"/>
          <p:cNvSpPr txBox="1"/>
          <p:nvPr/>
        </p:nvSpPr>
        <p:spPr>
          <a:xfrm>
            <a:off x="1051560" y="3218688"/>
            <a:ext cx="4206240" cy="292608"/>
          </a:xfrm>
          <a:prstGeom prst="rect">
            <a:avLst/>
          </a:prstGeom>
          <a:noFill/>
          <a:ln/>
        </p:spPr>
        <p:txBody>
          <a:bodyPr wrap="square" lIns="0" tIns="0" rIns="0" bIns="0" rtlCol="0" anchor="t"/>
          <a:lstStyle/>
          <a:p>
            <a:pPr indent="0" marL="0">
              <a:buNone/>
            </a:pPr>
            <a:r>
              <a:rPr lang="en-US" sz="950" dirty="0">
                <a:solidFill>
                  <a:srgbClr val="55555C"/>
                </a:solidFill>
              </a:rPr>
              <a:t>A C3 spec: a new module and a field in the planner (Muse Code's model family)</a:t>
            </a:r>
            <a:endParaRPr lang="en-US" sz="950" dirty="0"/>
          </a:p>
        </p:txBody>
      </p:sp>
      <p:sp>
        <p:nvSpPr>
          <p:cNvPr id="21" name="Shape 18"/>
          <p:cNvSpPr/>
          <p:nvPr/>
        </p:nvSpPr>
        <p:spPr>
          <a:xfrm>
            <a:off x="5486400" y="2926080"/>
            <a:ext cx="6126480" cy="530352"/>
          </a:xfrm>
          <a:prstGeom prst="roundRect">
            <a:avLst>
              <a:gd name="adj" fmla="val 20690"/>
            </a:avLst>
          </a:prstGeom>
          <a:solidFill>
            <a:srgbClr val="F6F7F8"/>
          </a:solidFill>
          <a:ln w="12700">
            <a:solidFill>
              <a:srgbClr val="F6F7F8"/>
            </a:solidFill>
            <a:prstDash val="solid"/>
          </a:ln>
        </p:spPr>
      </p:sp>
      <p:sp>
        <p:nvSpPr>
          <p:cNvPr id="22" name="Text 19"/>
          <p:cNvSpPr txBox="1"/>
          <p:nvPr/>
        </p:nvSpPr>
        <p:spPr>
          <a:xfrm>
            <a:off x="5650992" y="292608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Built on the first attempt: Spark 202k tokens, 1.4 min; Glimmer 111k, 1.6 min</a:t>
            </a:r>
            <a:endParaRPr lang="en-US" sz="1100" dirty="0"/>
          </a:p>
        </p:txBody>
      </p:sp>
      <p:sp>
        <p:nvSpPr>
          <p:cNvPr id="23" name="Shape 20"/>
          <p:cNvSpPr/>
          <p:nvPr/>
        </p:nvSpPr>
        <p:spPr>
          <a:xfrm>
            <a:off x="548640" y="3657600"/>
            <a:ext cx="347472" cy="347472"/>
          </a:xfrm>
          <a:prstGeom prst="ellipse">
            <a:avLst/>
          </a:prstGeom>
          <a:solidFill>
            <a:srgbClr val="0064E0"/>
          </a:solidFill>
          <a:ln w="12700">
            <a:solidFill>
              <a:srgbClr val="0064E0"/>
            </a:solidFill>
            <a:prstDash val="solid"/>
          </a:ln>
        </p:spPr>
      </p:sp>
      <p:sp>
        <p:nvSpPr>
          <p:cNvPr id="24" name="Text 21"/>
          <p:cNvSpPr txBox="1"/>
          <p:nvPr/>
        </p:nvSpPr>
        <p:spPr>
          <a:xfrm>
            <a:off x="548640" y="3657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5" name="Text 22"/>
          <p:cNvSpPr txBox="1"/>
          <p:nvPr/>
        </p:nvSpPr>
        <p:spPr>
          <a:xfrm>
            <a:off x="1051560" y="358444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An embedder for commercial use</a:t>
            </a:r>
            <a:endParaRPr lang="en-US" sz="1350" dirty="0"/>
          </a:p>
        </p:txBody>
      </p:sp>
      <p:sp>
        <p:nvSpPr>
          <p:cNvPr id="26" name="Text 23"/>
          <p:cNvSpPr txBox="1"/>
          <p:nvPr/>
        </p:nvSpPr>
        <p:spPr>
          <a:xfrm>
            <a:off x="1051560" y="3858768"/>
            <a:ext cx="4206240" cy="292608"/>
          </a:xfrm>
          <a:prstGeom prst="rect">
            <a:avLst/>
          </a:prstGeom>
          <a:noFill/>
          <a:ln/>
        </p:spPr>
        <p:txBody>
          <a:bodyPr wrap="square" lIns="0" tIns="0" rIns="0" bIns="0" rtlCol="0" anchor="t"/>
          <a:lstStyle/>
          <a:p>
            <a:pPr indent="0" marL="0">
              <a:buNone/>
            </a:pPr>
            <a:r>
              <a:rPr lang="en-US" sz="950" dirty="0">
                <a:solidFill>
                  <a:srgbClr val="55555C"/>
                </a:solidFill>
              </a:rPr>
              <a:t>IBM Granite (Apache 2.0) in place of DRAMA (non-commercial)</a:t>
            </a:r>
            <a:endParaRPr lang="en-US" sz="950" dirty="0"/>
          </a:p>
        </p:txBody>
      </p:sp>
      <p:sp>
        <p:nvSpPr>
          <p:cNvPr id="27" name="Shape 24"/>
          <p:cNvSpPr/>
          <p:nvPr/>
        </p:nvSpPr>
        <p:spPr>
          <a:xfrm>
            <a:off x="5486400" y="3566160"/>
            <a:ext cx="6126480" cy="530352"/>
          </a:xfrm>
          <a:prstGeom prst="roundRect">
            <a:avLst>
              <a:gd name="adj" fmla="val 20690"/>
            </a:avLst>
          </a:prstGeom>
          <a:solidFill>
            <a:srgbClr val="F6F7F8"/>
          </a:solidFill>
          <a:ln w="12700">
            <a:solidFill>
              <a:srgbClr val="F6F7F8"/>
            </a:solidFill>
            <a:prstDash val="solid"/>
          </a:ln>
        </p:spPr>
      </p:sp>
      <p:sp>
        <p:nvSpPr>
          <p:cNvPr id="28" name="Text 25"/>
          <p:cNvSpPr txBox="1"/>
          <p:nvPr/>
        </p:nvSpPr>
        <p:spPr>
          <a:xfrm>
            <a:off x="5650992" y="3566160"/>
            <a:ext cx="5852160" cy="530352"/>
          </a:xfrm>
          <a:prstGeom prst="rect">
            <a:avLst/>
          </a:prstGeom>
          <a:noFill/>
          <a:ln/>
        </p:spPr>
        <p:txBody>
          <a:bodyPr wrap="square" lIns="0" tIns="0" rIns="0" bIns="0" rtlCol="0" anchor="ctr"/>
          <a:lstStyle/>
          <a:p>
            <a:pPr indent="0" marL="0">
              <a:buNone/>
            </a:pPr>
            <a:r>
              <a:rPr lang="en-US" sz="1100" dirty="0">
                <a:solidFill>
                  <a:srgbClr val="0A0A0B"/>
                </a:solidFill>
              </a:rPr>
              <a:t>Recall@3 0.80 vs DRAMA 0.75; Recall@1 0.40 vs 0.60: DRAMA stays default</a:t>
            </a:r>
            <a:endParaRPr lang="en-US" sz="1100" dirty="0"/>
          </a:p>
        </p:txBody>
      </p:sp>
      <p:sp>
        <p:nvSpPr>
          <p:cNvPr id="29" name="Shape 26"/>
          <p:cNvSpPr/>
          <p:nvPr/>
        </p:nvSpPr>
        <p:spPr>
          <a:xfrm>
            <a:off x="548640" y="4297680"/>
            <a:ext cx="347472" cy="347472"/>
          </a:xfrm>
          <a:prstGeom prst="ellipse">
            <a:avLst/>
          </a:prstGeom>
          <a:solidFill>
            <a:srgbClr val="B26A00"/>
          </a:solidFill>
          <a:ln w="12700">
            <a:solidFill>
              <a:srgbClr val="B26A00"/>
            </a:solidFill>
            <a:prstDash val="solid"/>
          </a:ln>
        </p:spPr>
      </p:sp>
      <p:sp>
        <p:nvSpPr>
          <p:cNvPr id="30" name="Text 27"/>
          <p:cNvSpPr txBox="1"/>
          <p:nvPr/>
        </p:nvSpPr>
        <p:spPr>
          <a:xfrm>
            <a:off x="548640" y="42976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1" name="Text 28"/>
          <p:cNvSpPr txBox="1"/>
          <p:nvPr/>
        </p:nvSpPr>
        <p:spPr>
          <a:xfrm>
            <a:off x="1051560" y="422452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vision judge for orbits</a:t>
            </a:r>
            <a:endParaRPr lang="en-US" sz="1350" dirty="0"/>
          </a:p>
        </p:txBody>
      </p:sp>
      <p:sp>
        <p:nvSpPr>
          <p:cNvPr id="32" name="Text 29"/>
          <p:cNvSpPr txBox="1"/>
          <p:nvPr/>
        </p:nvSpPr>
        <p:spPr>
          <a:xfrm>
            <a:off x="1051560" y="4498848"/>
            <a:ext cx="4206240" cy="292608"/>
          </a:xfrm>
          <a:prstGeom prst="rect">
            <a:avLst/>
          </a:prstGeom>
          <a:noFill/>
          <a:ln/>
        </p:spPr>
        <p:txBody>
          <a:bodyPr wrap="square" lIns="0" tIns="0" rIns="0" bIns="0" rtlCol="0" anchor="t"/>
          <a:lstStyle/>
          <a:p>
            <a:pPr indent="0" marL="0">
              <a:buNone/>
            </a:pPr>
            <a:r>
              <a:rPr lang="en-US" sz="950" dirty="0">
                <a:solidFill>
                  <a:srgbClr val="55555C"/>
                </a:solidFill>
              </a:rPr>
              <a:t>Muse Wonder looks at each rendered orbit frame, beside the pixel rule</a:t>
            </a:r>
            <a:endParaRPr lang="en-US" sz="950" dirty="0"/>
          </a:p>
        </p:txBody>
      </p:sp>
      <p:sp>
        <p:nvSpPr>
          <p:cNvPr id="33" name="Shape 30"/>
          <p:cNvSpPr/>
          <p:nvPr/>
        </p:nvSpPr>
        <p:spPr>
          <a:xfrm>
            <a:off x="5486400" y="4206240"/>
            <a:ext cx="6126480" cy="530352"/>
          </a:xfrm>
          <a:prstGeom prst="roundRect">
            <a:avLst>
              <a:gd name="adj" fmla="val 20690"/>
            </a:avLst>
          </a:prstGeom>
          <a:solidFill>
            <a:srgbClr val="F6F7F8"/>
          </a:solidFill>
          <a:ln w="12700">
            <a:solidFill>
              <a:srgbClr val="F6F7F8"/>
            </a:solidFill>
            <a:prstDash val="solid"/>
          </a:ln>
        </p:spPr>
      </p:sp>
      <p:sp>
        <p:nvSpPr>
          <p:cNvPr id="34" name="Text 31"/>
          <p:cNvSpPr txBox="1"/>
          <p:nvPr/>
        </p:nvSpPr>
        <p:spPr>
          <a:xfrm>
            <a:off x="5650992" y="4206240"/>
            <a:ext cx="5852160" cy="530352"/>
          </a:xfrm>
          <a:prstGeom prst="rect">
            <a:avLst/>
          </a:prstGeom>
          <a:noFill/>
          <a:ln/>
        </p:spPr>
        <p:txBody>
          <a:bodyPr wrap="square" lIns="0" tIns="0" rIns="0" bIns="0" rtlCol="0" anchor="ctr"/>
          <a:lstStyle/>
          <a:p>
            <a:pPr indent="0" marL="0">
              <a:buNone/>
            </a:pPr>
            <a:r>
              <a:rPr lang="en-US" sz="1100" dirty="0">
                <a:solidFill>
                  <a:srgbClr val="0A0A0B"/>
                </a:solidFill>
              </a:rPr>
              <a:t>84 labelled frames judged; it names the defect it rejects: 'a doubled net outline, a blurred band'</a:t>
            </a:r>
            <a:endParaRPr lang="en-US" sz="1100" dirty="0"/>
          </a:p>
        </p:txBody>
      </p:sp>
      <p:sp>
        <p:nvSpPr>
          <p:cNvPr id="35" name="Shape 32"/>
          <p:cNvSpPr/>
          <p:nvPr/>
        </p:nvSpPr>
        <p:spPr>
          <a:xfrm>
            <a:off x="548640" y="4937760"/>
            <a:ext cx="347472" cy="347472"/>
          </a:xfrm>
          <a:prstGeom prst="ellipse">
            <a:avLst/>
          </a:prstGeom>
          <a:solidFill>
            <a:srgbClr val="0A7F44"/>
          </a:solidFill>
          <a:ln w="12700">
            <a:solidFill>
              <a:srgbClr val="0A7F44"/>
            </a:solidFill>
            <a:prstDash val="solid"/>
          </a:ln>
        </p:spPr>
      </p:sp>
      <p:sp>
        <p:nvSpPr>
          <p:cNvPr id="36" name="Text 33"/>
          <p:cNvSpPr txBox="1"/>
          <p:nvPr/>
        </p:nvSpPr>
        <p:spPr>
          <a:xfrm>
            <a:off x="548640" y="49377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7" name="Text 34"/>
          <p:cNvSpPr txBox="1"/>
          <p:nvPr/>
        </p:nvSpPr>
        <p:spPr>
          <a:xfrm>
            <a:off x="1051560" y="48646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GPU suites, through the gates</a:t>
            </a:r>
            <a:endParaRPr lang="en-US" sz="1350" dirty="0"/>
          </a:p>
        </p:txBody>
      </p:sp>
      <p:sp>
        <p:nvSpPr>
          <p:cNvPr id="38" name="Text 35"/>
          <p:cNvSpPr txBox="1"/>
          <p:nvPr/>
        </p:nvSpPr>
        <p:spPr>
          <a:xfrm>
            <a:off x="1051560" y="5138928"/>
            <a:ext cx="4206240" cy="292608"/>
          </a:xfrm>
          <a:prstGeom prst="rect">
            <a:avLst/>
          </a:prstGeom>
          <a:noFill/>
          <a:ln/>
        </p:spPr>
        <p:txBody>
          <a:bodyPr wrap="square" lIns="0" tIns="0" rIns="0" bIns="0" rtlCol="0" anchor="t"/>
          <a:lstStyle/>
          <a:p>
            <a:pPr indent="0" marL="0">
              <a:buNone/>
            </a:pPr>
            <a:r>
              <a:rPr lang="en-US" sz="950" dirty="0">
                <a:solidFill>
                  <a:srgbClr val="55555C"/>
                </a:solidFill>
              </a:rPr>
              <a:t>One flag change, Muse Glimmer on a cloud A100</a:t>
            </a:r>
            <a:endParaRPr lang="en-US" sz="950" dirty="0"/>
          </a:p>
        </p:txBody>
      </p:sp>
      <p:sp>
        <p:nvSpPr>
          <p:cNvPr id="39" name="Shape 36"/>
          <p:cNvSpPr/>
          <p:nvPr/>
        </p:nvSpPr>
        <p:spPr>
          <a:xfrm>
            <a:off x="5486400" y="4846320"/>
            <a:ext cx="6126480" cy="530352"/>
          </a:xfrm>
          <a:prstGeom prst="roundRect">
            <a:avLst>
              <a:gd name="adj" fmla="val 20690"/>
            </a:avLst>
          </a:prstGeom>
          <a:solidFill>
            <a:srgbClr val="F6F7F8"/>
          </a:solidFill>
          <a:ln w="12700">
            <a:solidFill>
              <a:srgbClr val="F6F7F8"/>
            </a:solidFill>
            <a:prstDash val="solid"/>
          </a:ln>
        </p:spPr>
      </p:sp>
      <p:sp>
        <p:nvSpPr>
          <p:cNvPr id="40" name="Text 37"/>
          <p:cNvSpPr txBox="1"/>
          <p:nvPr/>
        </p:nvSpPr>
        <p:spPr>
          <a:xfrm>
            <a:off x="5650992" y="48463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Attacks 93 of 93, end to end 58 of 58, crash matrix 20 of 20, oracle passed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numbers, and where each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crash-matrix checks (5 kill points)</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572000"/>
                <a:gridCol w="3566160"/>
                <a:gridCol w="292608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25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275 tests, 270 pass (3 optional, 2 Linux-only)</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58 of 58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93 of 93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 twice</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93</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federation of three clubs (test/federation_unit.mjs)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4 of 4: found, signed, rotated, forgery refused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Real HTTP, one host</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Body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find you, the moment to share, cut you out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(921 commits); third-party models and tools in the report, 7.1</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  ·  live: relay-orders-eliminate-associated.trycloudflare.com</a:t>
            </a:r>
            <a:endParaRPr lang="en-US" sz="1300" dirty="0"/>
          </a:p>
        </p:txBody>
      </p:sp>
      <p:pic>
        <p:nvPicPr>
          <p:cNvPr id="14" name="Image 1" descr="preencoded.png">    </p:cNvPr>
          <p:cNvPicPr>
            <a:picLocks noChangeAspect="1"/>
          </p:cNvPicPr>
          <p:nvPr/>
        </p:nvPicPr>
        <p:blipFill>
          <a:blip r:embed="rId2"/>
          <a:stretch>
            <a:fillRect/>
          </a:stretch>
        </p:blipFill>
        <p:spPr>
          <a:xfrm>
            <a:off x="2103120" y="6035040"/>
            <a:ext cx="329184" cy="329184"/>
          </a:xfrm>
          <a:prstGeom prst="rect">
            <a:avLst/>
          </a:prstGeom>
        </p:spPr>
      </p:pic>
      <p:sp>
        <p:nvSpPr>
          <p:cNvPr id="15" name="Text 11"/>
          <p:cNvSpPr txBox="1"/>
          <p:nvPr/>
        </p:nvSpPr>
        <p:spPr>
          <a:xfrm>
            <a:off x="2523744" y="6035040"/>
            <a:ext cx="8229600" cy="329184"/>
          </a:xfrm>
          <a:prstGeom prst="rect">
            <a:avLst/>
          </a:prstGeom>
          <a:noFill/>
          <a:ln/>
        </p:spPr>
        <p:txBody>
          <a:bodyPr wrap="square" lIns="0" tIns="0" rIns="0" bIns="0" rtlCol="0" anchor="ctr"/>
          <a:lstStyle/>
          <a:p>
            <a:pPr indent="0" marL="0">
              <a:buNone/>
            </a:pPr>
            <a:r>
              <a:rPr lang="en-US" sz="1300" dirty="0">
                <a:solidFill>
                  <a:srgbClr val="55555C"/>
                </a:solidFill>
              </a:rPr>
              <a:t>The product runs Muse Glimmer on an RTX 3090 I own; cloud A100s ran evaluations only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2026-10-29T08:33:14Z</dcterms:created>
  <dcterms:modified xsi:type="dcterms:W3CDTF">2026-10-29T08:33:14Z</dcterms:modified>
</cp:coreProperties>
</file>