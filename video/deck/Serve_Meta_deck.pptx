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id="{08a859c3-ad39-6d6e-9145-4f138a98828e}">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Lst>
        </p14:section>
        <p14:section name="Appendix" id="{df1f52d0-9742-1f5e-b291-da709829f6d7}">
          <p14:sldIdLst>
            <p14:sldId id="275"/>
            <p14:sldId id="276"/>
            <p14:sldId id="277"/>
            <p14:sldId id="278"/>
            <p14:sldId id="279"/>
            <p14:sldId id="280"/>
            <p14:sldId id="281"/>
            <p14:sldId id="282"/>
            <p14:sldId id="283"/>
            <p14:sldId id="284"/>
            <p14:sldId id="285"/>
            <p14:sldId id="286"/>
            <p14:sldId id="287"/>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A0A0B"/>
                </a:solidFill>
                <a:latin typeface="+mn-lt"/>
              </a:defRPr>
            </a:pPr>
            <a:r>
              <a:rPr sz="1100" b="0" i="0" u="none" strike="noStrike">
                <a:solidFill>
                  <a:srgbClr val="0A0A0B"/>
                </a:solidFill>
                <a:latin typeface="+mn-lt"/>
              </a:rPr>
              <a:t>Agrees with Glimmer, 500 held-out cases, 95% intervals: the same within them</a:t>
            </a:r>
          </a:p>
        </c:rich>
      </c:tx>
      <c:layout/>
      <c:overlay val="0"/>
    </c:title>
    <c:autoTitleDeleted val="0"/>
    <c:plotArea>
      <c:layout/>
      <c:barChart>
        <c:barDir val="bar"/>
        <c:grouping val="clustered"/>
        <c:varyColors val="0"/>
        <c:ser>
          <c:idx val="0"/>
          <c:order val="0"/>
          <c:tx>
            <c:strRef>
              <c:f>Sheet1!$B$1</c:f>
              <c:strCache>
                <c:ptCount val="1"/>
                <c:pt idx="0">
                  <c:v>Agrees with Glimmer's answer</c:v>
                </c:pt>
              </c:strCache>
            </c:strRef>
          </c:tx>
          <c:spPr>
            <a:solidFill>
              <a:srgbClr val="8A8A92"/>
            </a:solidFill>
            <a:effectLst/>
          </c:spPr>
          <c:invertIfNegative val="0"/>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8A8A92"/>
              </a:solidFill>
              <a:effectLst/>
            </c:spPr>
          </c:dPt>
          <c:dPt>
            <c:idx val="1"/>
            <c:invertIfNegative val="0"/>
            <c:bubble3D val="0"/>
            <c:spPr>
              <a:solidFill>
                <a:srgbClr val="DCDCE0"/>
              </a:solidFill>
              <a:effectLst/>
            </c:spPr>
          </c:dPt>
          <c:dPt>
            <c:idx val="2"/>
            <c:invertIfNegative val="0"/>
            <c:bubble3D val="0"/>
            <c:spPr>
              <a:solidFill>
                <a:srgbClr val="0A7F44"/>
              </a:solidFill>
              <a:effectLst/>
            </c:spPr>
          </c:dPt>
          <c:cat>
            <c:multiLvlStrRef>
              <c:f>Sheet1!$A$2:$A$4</c:f>
              <c:multiLvlStrCache>
                <c:ptCount val="3"/>
                <c:lvl>
                  <c:pt idx="0">
                    <c:v>Glimmer vs itself [87.1–90.3]</c:v>
                  </c:pt>
                  <c:pt idx="1">
                    <c:v>First time listed</c:v>
                  </c:pt>
                  <c:pt idx="2">
                    <c:v>1B student [87.9–91.0]</c:v>
                  </c:pt>
                </c:lvl>
              </c:multiLvlStrCache>
            </c:multiLvlStrRef>
          </c:cat>
          <c:val>
            <c:numRef>
              <c:f>Sheet1!$B$2:$B$4</c:f>
              <c:numCache>
                <c:formatCode>General</c:formatCode>
                <c:ptCount val="3"/>
                <c:pt idx="0">
                  <c:v>88.8</c:v>
                </c:pt>
                <c:pt idx="1">
                  <c:v>82.7</c:v>
                </c:pt>
                <c:pt idx="2">
                  <c:v>89.5</c:v>
                </c:pt>
              </c:numCache>
            </c:numRef>
          </c:val>
        </c:ser>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0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The hardest 196 cases, by threshold</a:t>
            </a:r>
          </a:p>
        </c:rich>
      </c:tx>
      <c:layout/>
      <c:overlay val="0"/>
    </c:title>
    <c:autoTitleDeleted val="0"/>
    <c:plotArea>
      <c:layout/>
      <c:lineChart>
        <c:varyColors val="0"/>
        <c:ser>
          <c:idx val="0"/>
          <c:order val="0"/>
          <c:tx>
            <c:strRef>
              <c:f>Sheet1!$B$1</c:f>
              <c:strCache>
                <c:ptCount val="1"/>
                <c:pt idx="0">
                  <c:v>Answered by the student</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Cascade agrees with Glimmer</c:v>
                </c:pt>
              </c:strCache>
            </c:strRef>
          </c:tx>
          <c:spPr>
            <a:solidFill>
              <a:srgbClr val="0064E0"/>
            </a:solidFill>
            <a:ln w="31750" cap="flat">
              <a:solidFill>
                <a:srgbClr val="0064E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64E0"/>
              </a:solidFill>
              <a:ln w="9525" cap="flat">
                <a:solidFill>
                  <a:srgbClr val="0064E0"/>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C"/>
                    </a:solidFill>
                    <a:latin typeface="Arial"/>
                  </a:defRPr>
                </a:pPr>
                <a:r>
                  <a:rPr sz="10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C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Finding the right note: 20 planning questions, 41 notes each (a small test)</a:t>
            </a:r>
          </a:p>
        </c:rich>
      </c:tx>
      <c:layout/>
      <c:overlay val="0"/>
    </c:title>
    <c:autoTitleDeleted val="0"/>
    <c:plotArea>
      <c:layout/>
      <c:barChart>
        <c:barDir val="col"/>
        <c:grouping val="clustered"/>
        <c:varyColors val="0"/>
        <c:ser>
          <c:idx val="0"/>
          <c:order val="0"/>
          <c:tx>
            <c:strRef>
              <c:f>Sheet1!$B$1</c:f>
              <c:strCache>
                <c:ptCount val="1"/>
                <c:pt idx="0">
                  <c:v>Meta's DRAMA</c:v>
                </c:pt>
              </c:strCache>
            </c:strRef>
          </c:tx>
          <c:spPr>
            <a:solidFill>
              <a:srgbClr val="0064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Sheet1!$B$2:$B$4</c:f>
              <c:numCache>
                <c:formatCode>General</c:formatCode>
                <c:ptCount val="3"/>
                <c:pt idx="0">
                  <c:v>0.6</c:v>
                </c:pt>
                <c:pt idx="1">
                  <c:v>0.75</c:v>
                </c:pt>
                <c:pt idx="2">
                  <c:v>0.696</c:v>
                </c:pt>
              </c:numCache>
            </c:numRef>
          </c:val>
        </c:ser>
        <c:ser>
          <c:idx val="1"/>
          <c:order val="1"/>
          <c:tx>
            <c:strRef>
              <c:f>Sheet1!$C$1</c:f>
              <c:strCache>
                <c:ptCount val="1"/>
                <c:pt idx="0">
                  <c:v>BM25 (words)</c:v>
                </c:pt>
              </c:strCache>
            </c:strRef>
          </c:tx>
          <c:spPr>
            <a:solidFill>
              <a:srgbClr val="DCDC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Sheet1!$C$2:$C$4</c:f>
              <c:numCache>
                <c:formatCode>General</c:formatCode>
                <c:ptCount val="3"/>
                <c:pt idx="0">
                  <c:v>0.35</c:v>
                </c:pt>
                <c:pt idx="1">
                  <c:v>0.45</c:v>
                </c:pt>
                <c:pt idx="2">
                  <c:v>0.422</c:v>
                </c:pt>
              </c:numCache>
            </c:numRef>
          </c:val>
        </c:ser>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的封面頁：Play more. Manage less. 右邊是手機上的社群動態和 Agent 對話。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fitting it around work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痛點二：人人都會有懂自己的 agent，但沒有一個人和 agent 都能出入的公共場所，agent 只能找通訊錄裡的老朋友；老朋友沒空，你還是打不成。
一旦走出朋友圈，馬上有兩個風險：真人會不會放鳥（人的風險）、對方的 agent 會不會替主人亂答應，或一直問人來拼湊別人的行程（agent 的風險）。
Serve 的解法：願意的人可以讓附近 5 公里內的 agent 來問；每個人有兩份紀錄，都由程式從實際發生的事算出：出席率（賽後球友一鍵確認誰有到，開打前 6 小時內退出算臨時放鳥），和 agent 守信率（agent 替你說 yes 之後你本人也說 yes 的比例），加上「一天問太多 agent」和「簽章失敗」兩個警示。
每場球可以設門檻：出席率不到的人排候補；守信率太低的 agent 不能替主人答應，改問本人。Serve 不收訂金、不經手錢。
右邊的情境是用測試帳號在本機跑出來的真實對話：Dan 的 agent 守信率 52%，所以直接問 Dan 本人；Bob 出席率 33%（3 場），進候補；Leo、Hana、Kenji 的 agent 談好週六 21:00，場館 agent 從 NT$410 談到 NT$280。正式站的紀錄從零開始累積。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上線給真的使用者用：公開網址（Cloudflare tunnel），每位使用者登入後在伺服器上有一個自己的 agent（獨立的 gateway 程序、獨立資料夾），社團、動態、揪團大家共用。
第一天：3 位使用者（5 個帳號）、使用者自己開了 1 個社團（新竹，2 人）、發了 3 個揪團、2 次加入、1 則留言。
左：社團在真地圖上，agent 主動推薦附近的公開社團；右：直接跟 agent 說「週六早上雙打，缺 3 個」，agent 擬好邀請（日期由程式算、最近的球場），按一下就發佈，之後在對話裡看到誰加入。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冷啟動：agent 對 agent 需要雙方都在 Serve 上；第二個人怎麼來？靠邀請連結。跟 agent 說一句 → 分享連結到 LINE、WhatsApp 群組 → 對方沒帳號也能打開，看到球局和剩幾個名額（看不到誰報名）→ 登入一次就自動加入 → 滿團時每個人都收到 Game on，之後他自己的 agent 就能替他回覆。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同一套引擎服務沒有人組織的群體，三種社團都已實作、有單元測試：
1 孩童社團（老師或志工）：一定是私密社團，只有帶隊的人能發活動；孩子不用帳號，只存名字（只有帶隊的人看得到）；勾選今天誰來，程式排輪替，每個孩子上場時間最多差一輪；產生家長接送通知。
2 樂齡社團：社團裡每個揪團由程式把關：08:00–16:00 開始、60 分鐘、最多 8 人、球拍類雙打；不符合就拒絕並說明原因。
3 慈善賽：發起人寫公益對象，參賽者自評等級與認捐（只記錄，Serve 不經手錢）；一鍵抽籤：實力平均的雙打組合、循環賽、場地與時段，同一時段沒有隊伍撞場，貼到社團動態。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Meta 模型精簡版：六個撐起產品的模型（Muse Glimmer、Llama 3.2 1B 學生、Llama Guard 3、Prompt Guard 2、DRAMA、Muse Voice Transcribe），其他九個一行帶過，完整 15 格在附錄。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拿掉一個模型會怎樣：Glimmer（整個 agent 不能運作）、學生模型（每次決策從 0.9 秒變 40 秒，模擬中 Glimmer 回答多 54–67%）、DRAMA（第一個找到對的筆記從 0.60 掉到 0.35）、Llama Guard、Prompt Guard、Muse Voice。標明哪些是量測、哪些是設計上的。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痛點與解法同一頁：
左：記錄了 2,755 次 Muse Glimmer 呼叫，84% 的 token 是推理；關掉 thinking 它還是在隱藏通道推理，預算不夠時 9% 回空白。所以每次呼叫用 think: low 並留推理空間。
右：把最常見的判斷（會員選哪個時段）交給微調出來的 Llama 3.2 1B（Jev 式決策模型）：用真正的 agent 呼叫讓 Glimmer 標註 4,868 題，LoRA 微調，不生成文字、直接對選項給機率，int4 在 CPU 上約 0.9 秒。留出會員上和 Glimmer 一致 89.5%（Glimmer 跟自己 88.8%），在模擬社團少用 54–67% 的 Glimmer 呼叫。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學生模型和 Muse Glimmer 的交接（agent/src/agents/student.js、a2a.js fullAnswer）：
1. 先由程式處理事實能決定的：行事曆、硬規則；只剩一個可行時段就直接回答，不叫任何模型。
2. 真正需要判斷時，先問 Llama 3.2 1B 學生模型。它只有在三個條件都成立時才回答：選項機率 ≥ 0.6；它自己對「哪些時段可行」的判讀和程式算的一致；worker 有空且夠快（排隊超過 8 秒或超過 20 秒就放棄）。
3. 任何一個不成立，就交給 Muse Glimmer 完整推理。
4. 不管誰回答，程式都再檢查一次硬規則，結果才透過 A2A 送出，並標示是哪一層回答的（Agent 對話頁上看得到）。
右圖：門檻越高，學生回答得越少、整體越準；我們選 0.6：在最難的 196 題裡學生回答 73%，其餘交給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真實與模擬一頁看清楚：左邊是真的（真人、真模型、真程式），右邊是模擬（測試用的社團與成員，都有標示）。模擬證明 agent 守住成員說過的話，不代表真人的反應；那是真人社團在量的。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開發範圍：比賽期間做的（全部程式碼、微調的 1B 學生模型、Demo 影片）、我之前就有的（TrackNetV5，關閉、本作品沒用到）、第三方照原樣使用的模型、軟體與資料。repo 歷史從 10/28（第二天）開始，900 多個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影片 2:27，三幕：一、冷啟動：Leo 沒有帳號，點連結就加入，Mia 同時收到 Game on（並排）；二、agent 透過 A2A 協商，Hana 的 agent 提出反提案（Messenger 裡一個 yes 就訂好也在這一幕）；三、找球場：Prompt Guard 2 先過濾評論，再由 Muse Glimmer 判斷（14 倍速，有標示），然後是社團。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 agent：Muse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旁白：Then it plans my week…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的東西：15 個 Meta 模型（10 個開放權重在我自己的伺服器上跑，5 個走 Meta Model API）＋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Facebook / Instagram 登入已經做好（OAuth 在伺服器上完成，只存帳號 id 的雜湊）；Meta app 還沒核准前，demo 用 demo 帳號，畫面上那行提示是實話，不要遮掉。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管線（右邊都是同一記殺球：SAM 2.1 去背、MapAnything 深度、俯視環繞圖和沿弧線算繪出的三格）：DETR 找人 → Sapiens2 找出值得分享的片刻（自動剪輯，不做動作分析）→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全雙工語音代理：手機麥克風串流到你的伺服器，伺服器轉接到 Meta 的 Muse Voice Transcribe（即時、ENDPOINTING 模式，自動判斷你講完了，支援中英夾雜），key 只放在伺服器。你講完一句就交給 agent（Muse Glimmer，跟打字問一樣過 Llama Guard、數字核對），回答一句一句用 Kokoro 念出來。你一開口它就停下來聽，還沒念的回答直接丟掉。
實測一次（voice_live.json）：1.2 秒接通，2.0 秒開始說話，3.6 秒轉寫完成，12.3 秒回答文字出來（本地 Glimmer + 守門）；之後改成一句一句念，第一句不用等整段。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去中心化的跨社團聯邦：設定檔只寫其他社團的網址。每個社團公開一張名片（/a2a/club.json：名稱、可被邀約的成員公開資料、金鑰位置），gateway 讀名片後就把對方當成 peer，第一次連線釘選對方金鑰。
換鑰匙：舊鑰匙簽一張交接聲明跟新金鑰一起公開；對方發現釘選的鑰匙不見了，就從釘選的那把沿著聲明鏈驗證，驗過才改釘新的，偽造的聲明一律拒絕。
測試（test/federation_unit.mjs，真的 HTTP）：三個社團互相發現、互相簽章驗證；B 連續換兩次鑰匙，A 沿兩張聲明跟上；C 用別人簽的假聲明，被拒絕、釘選不變；不是名片的網頁不採用。兩台機器之間的完整約球談判之前已測過 22/22。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記憶（agent/src/memory/memory.js、body/context.js）：
寫入：筆記只來自玩家自己的話和程式產生的事實（比賽、健康 app），其他 agent 寫的東西永遠不會變成筆記（防記憶注入）。新的一句話會跟舊筆記比對：新增、取代、或重複（類似 Mem0）。被取代的筆記保留但不再被檢索。
檢索：Meta 的 DRAMA（drama-base，768 維）在伺服器 CPU 上把問題和筆記變成向量，用餘弦相似度乘上時間衰減排序（身體筆記 7 天減半），取前幾名。
生成與接地：Muse Glimmer 拿這些筆記規劃這週；規則由程式從紀錄產生，每條附上來源筆記，程式檢查引用的是同一個部位。
數字：20 題規劃問題中 DRAMA 第一名就對 12 題（Recall@1 0.60，BM25 0.35）；有更新機制時過期筆記 0 筆還被當真（只追加是 15 筆）、規則正確 90.5%（52.4%）；玩家兩週前說先不要約 Tomás，有記憶時 3/3 都排除他，沒記憶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四個代理架構：
1 主動資訊探詢（VoI）：談判失敗時不放棄、不把問題丟回給使用者，用 Beta 後驗（只來自它看過的 yes/no，不看別人的行事曆）× 對方 agent 的意願，算出「問哪一題最能提高成局機率」，只問一個是非題，答是才再談。模擬 20,000 次：一題 + 一次談判成局 51.9%，不問 40.7%、隨便問 44.4%、問最可能的那組 48.2%。
2 談判中的批評者：對方 agent 的每個反提案先經過程式審查——一場談判問超過兩個不同時間＝在探測你的行程，不再接受；你最近三場有兩場路最遠，又要你跑最遠就拒絕。
3 從片段到信念：每週把零散筆記抽象成幾條長期信念，每條必須引用筆記、概括要兩條以上、數字必須出現在引用裡，不合格就丟。Glimmer 實測 10 條筆記 → 3 條信念，0 條被丟。
4 預約前的同意證明：談妥的比賽每位球員的 agent 用自己的 Ed25519 金鑰簽同一份比賽紀錄，預約時逐一驗證，改過時間、加人、用別人的金鑰都會被拒絕。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規模化：把整個社團塞進 prompt，token 隨人數線性成長，401 人以上就放不進 16K 的 context；Serve 先用程式篩出候選人，一週規劃平均每次呼叫約 1,505 → 1,563 token（11 人到 301 人），幾乎不變。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
真實案例（模擬社團 seed 7，管線、關卡、回滾是真的；technical report 5.6）：會員說「晚點再問我」→ 規格 C0：ask.hour 12 → 18，上線給 31 位 beta 會員中的 5 位，倒讚 29% → 23%，升級。故意植入的壞改動 ask.ahead 3 → 2 給 8 人的 canary：倒讚 40% → 60%，自動回滾。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2.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2.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image" Target="../media/image-18-3.jpe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video" Target="../media/media-24-1.mp4"/><Relationship Id="rId2" Type="http://schemas.microsoft.com/office/2007/relationships/media" Target="../media/media-24-1.mp4"/><Relationship Id="rId3" Type="http://schemas.openxmlformats.org/officeDocument/2006/relationships/image" Target="../media/image-24-3.png"/><Relationship Id="rId4" Type="http://schemas.openxmlformats.org/officeDocument/2006/relationships/image" Target="../media/image-24-4.jpeg"/><Relationship Id="rId5" Type="http://schemas.openxmlformats.org/officeDocument/2006/relationships/image" Target="../media/image-24-5.jpeg"/><Relationship Id="rId6" Type="http://schemas.openxmlformats.org/officeDocument/2006/relationships/image" Target="../media/image-24-6.jpeg"/><Relationship Id="rId7" Type="http://schemas.openxmlformats.org/officeDocument/2006/relationships/image" Target="../media/image-24-7.jpe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2.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3" name="Text 1"/>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4" name="Shape 2"/>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5" name="Text 3"/>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6" name="Shape 4"/>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7" name="Text 5"/>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8" name="Shape 6"/>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9" name="Text 7"/>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0" name="Image 0" descr="preencoded.png">    </p:cNvPr>
          <p:cNvPicPr>
            <a:picLocks noChangeAspect="1"/>
          </p:cNvPicPr>
          <p:nvPr/>
        </p:nvPicPr>
        <p:blipFill>
          <a:blip r:embed="rId1"/>
          <a:stretch>
            <a:fillRect/>
          </a:stretch>
        </p:blipFill>
        <p:spPr>
          <a:xfrm>
            <a:off x="731520" y="5897880"/>
            <a:ext cx="384048" cy="384048"/>
          </a:xfrm>
          <a:prstGeom prst="rect">
            <a:avLst/>
          </a:prstGeom>
        </p:spPr>
      </p:pic>
      <p:sp>
        <p:nvSpPr>
          <p:cNvPr id="11" name="Text 8"/>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02920" cy="502920"/>
          </a:xfrm>
          <a:prstGeom prst="rect">
            <a:avLst/>
          </a:prstGeom>
        </p:spPr>
      </p:pic>
      <p:sp>
        <p:nvSpPr>
          <p:cNvPr id="3" name="Text 0"/>
          <p:cNvSpPr txBox="1"/>
          <p:nvPr/>
        </p:nvSpPr>
        <p:spPr>
          <a:xfrm>
            <a:off x="1325880" y="658368"/>
            <a:ext cx="2743200" cy="548640"/>
          </a:xfrm>
          <a:prstGeom prst="rect">
            <a:avLst/>
          </a:prstGeom>
          <a:noFill/>
          <a:ln/>
        </p:spPr>
        <p:txBody>
          <a:bodyPr wrap="square" lIns="0" tIns="0" rIns="0" bIns="0" rtlCol="0" anchor="ctr"/>
          <a:lstStyle/>
          <a:p>
            <a:pPr indent="0" marL="0">
              <a:buNone/>
            </a:pPr>
            <a:r>
              <a:rPr lang="en-US" sz="3000" b="1" dirty="0">
                <a:solidFill>
                  <a:srgbClr val="0A0A0B"/>
                </a:solidFill>
              </a:rPr>
              <a:t>serve</a:t>
            </a:r>
            <a:endParaRPr lang="en-US" sz="3000" dirty="0"/>
          </a:p>
        </p:txBody>
      </p:sp>
      <p:sp>
        <p:nvSpPr>
          <p:cNvPr id="4" name="Text 1"/>
          <p:cNvSpPr txBox="1"/>
          <p:nvPr/>
        </p:nvSpPr>
        <p:spPr>
          <a:xfrm>
            <a:off x="731520" y="1828800"/>
            <a:ext cx="5120640" cy="1828800"/>
          </a:xfrm>
          <a:prstGeom prst="rect">
            <a:avLst/>
          </a:prstGeom>
          <a:noFill/>
          <a:ln/>
        </p:spPr>
        <p:txBody>
          <a:bodyPr wrap="square" lIns="0" tIns="0" rIns="0" bIns="0" rtlCol="0" anchor="t"/>
          <a:lstStyle/>
          <a:p>
            <a:pPr indent="0" marL="0">
              <a:lnSpc>
                <a:spcPct val="95000"/>
              </a:lnSpc>
              <a:buNone/>
            </a:pPr>
            <a:r>
              <a:rPr lang="en-US" sz="5400" b="1" dirty="0">
                <a:solidFill>
                  <a:srgbClr val="0A0A0B"/>
                </a:solidFill>
              </a:rPr>
              <a:t>Play more.
</a:t>
            </a:r>
            <a:pPr indent="0" marL="0">
              <a:lnSpc>
                <a:spcPct val="95000"/>
              </a:lnSpc>
              <a:buNone/>
            </a:pPr>
            <a:r>
              <a:rPr lang="en-US" sz="5400" b="1" dirty="0">
                <a:solidFill>
                  <a:srgbClr val="0A7F44"/>
                </a:solidFill>
              </a:rPr>
              <a:t>Manage less.</a:t>
            </a:r>
            <a:endParaRPr lang="en-US" sz="5400" dirty="0"/>
          </a:p>
        </p:txBody>
      </p:sp>
      <p:sp>
        <p:nvSpPr>
          <p:cNvPr id="5" name="Text 2"/>
          <p:cNvSpPr txBox="1"/>
          <p:nvPr/>
        </p:nvSpPr>
        <p:spPr>
          <a:xfrm>
            <a:off x="731520" y="3794760"/>
            <a:ext cx="4754880" cy="914400"/>
          </a:xfrm>
          <a:prstGeom prst="rect">
            <a:avLst/>
          </a:prstGeom>
          <a:noFill/>
          <a:ln/>
        </p:spPr>
        <p:txBody>
          <a:bodyPr wrap="square" lIns="0" tIns="0" rIns="0" bIns="0" rtlCol="0" anchor="t"/>
          <a:lstStyle/>
          <a:p>
            <a:pPr indent="0" marL="0">
              <a:buNone/>
            </a:pPr>
            <a:r>
              <a:rPr lang="en-US" sz="1700" dirty="0">
                <a:solidFill>
                  <a:srgbClr val="55555C"/>
                </a:solidFill>
              </a:rPr>
              <a:t>Your agent sets up your games with your friends' agents, plans around your week, and cuts your highlights. You just say yes.</a:t>
            </a:r>
            <a:endParaRPr lang="en-US" sz="1700" dirty="0"/>
          </a:p>
        </p:txBody>
      </p:sp>
      <p:sp>
        <p:nvSpPr>
          <p:cNvPr id="6" name="Shape 3"/>
          <p:cNvSpPr/>
          <p:nvPr/>
        </p:nvSpPr>
        <p:spPr>
          <a:xfrm>
            <a:off x="731520" y="4983480"/>
            <a:ext cx="128016" cy="128016"/>
          </a:xfrm>
          <a:prstGeom prst="ellipse">
            <a:avLst/>
          </a:prstGeom>
          <a:solidFill>
            <a:srgbClr val="0A7F44"/>
          </a:solidFill>
          <a:ln w="12700">
            <a:solidFill>
              <a:srgbClr val="0A7F44"/>
            </a:solidFill>
            <a:prstDash val="solid"/>
          </a:ln>
        </p:spPr>
      </p:sp>
      <p:sp>
        <p:nvSpPr>
          <p:cNvPr id="7" name="Text 4"/>
          <p:cNvSpPr txBox="1"/>
          <p:nvPr/>
        </p:nvSpPr>
        <p:spPr>
          <a:xfrm>
            <a:off x="987552" y="489204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Agents agree your week</a:t>
            </a:r>
            <a:endParaRPr lang="en-US" sz="1400" dirty="0"/>
          </a:p>
        </p:txBody>
      </p:sp>
      <p:sp>
        <p:nvSpPr>
          <p:cNvPr id="8" name="Shape 5"/>
          <p:cNvSpPr/>
          <p:nvPr/>
        </p:nvSpPr>
        <p:spPr>
          <a:xfrm>
            <a:off x="731520" y="5394960"/>
            <a:ext cx="128016" cy="128016"/>
          </a:xfrm>
          <a:prstGeom prst="ellipse">
            <a:avLst/>
          </a:prstGeom>
          <a:solidFill>
            <a:srgbClr val="0064E0"/>
          </a:solidFill>
          <a:ln w="12700">
            <a:solidFill>
              <a:srgbClr val="0064E0"/>
            </a:solidFill>
            <a:prstDash val="solid"/>
          </a:ln>
        </p:spPr>
      </p:sp>
      <p:sp>
        <p:nvSpPr>
          <p:cNvPr id="9" name="Text 6"/>
          <p:cNvSpPr txBox="1"/>
          <p:nvPr/>
        </p:nvSpPr>
        <p:spPr>
          <a:xfrm>
            <a:off x="987552" y="530352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Your agent in Messenger</a:t>
            </a:r>
            <a:endParaRPr lang="en-US" sz="1400" dirty="0"/>
          </a:p>
        </p:txBody>
      </p:sp>
      <p:sp>
        <p:nvSpPr>
          <p:cNvPr id="10" name="Shape 7"/>
          <p:cNvSpPr/>
          <p:nvPr/>
        </p:nvSpPr>
        <p:spPr>
          <a:xfrm>
            <a:off x="731520" y="5806440"/>
            <a:ext cx="128016" cy="128016"/>
          </a:xfrm>
          <a:prstGeom prst="ellipse">
            <a:avLst/>
          </a:prstGeom>
          <a:solidFill>
            <a:srgbClr val="0A0A0B"/>
          </a:solidFill>
          <a:ln w="12700">
            <a:solidFill>
              <a:srgbClr val="0A0A0B"/>
            </a:solidFill>
            <a:prstDash val="solid"/>
          </a:ln>
        </p:spPr>
      </p:sp>
      <p:sp>
        <p:nvSpPr>
          <p:cNvPr id="11" name="Text 8"/>
          <p:cNvSpPr txBox="1"/>
          <p:nvPr/>
        </p:nvSpPr>
        <p:spPr>
          <a:xfrm>
            <a:off x="987552" y="571500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Six Meta models carry it; 15 used in all</a:t>
            </a:r>
            <a:endParaRPr lang="en-US" sz="1400" dirty="0"/>
          </a:p>
        </p:txBody>
      </p:sp>
      <p:sp>
        <p:nvSpPr>
          <p:cNvPr id="12" name="Text 9"/>
          <p:cNvSpPr txBox="1"/>
          <p:nvPr/>
        </p:nvSpPr>
        <p:spPr>
          <a:xfrm>
            <a:off x="731520" y="6263640"/>
            <a:ext cx="5120640" cy="274320"/>
          </a:xfrm>
          <a:prstGeom prst="rect">
            <a:avLst/>
          </a:prstGeom>
          <a:noFill/>
          <a:ln/>
        </p:spPr>
        <p:txBody>
          <a:bodyPr wrap="square" lIns="0" tIns="0" rIns="0" bIns="0" rtlCol="0" anchor="t"/>
          <a:lstStyle/>
          <a:p>
            <a:pPr indent="0" marL="0">
              <a:buNone/>
            </a:pPr>
            <a:r>
              <a:rPr lang="en-US" sz="1100" dirty="0">
                <a:solidFill>
                  <a:srgbClr val="55555C"/>
                </a:solidFill>
              </a:rPr>
              <a:t>Not a coach, not a sports analyzer, not a medical tool: a club that organizes itself.</a:t>
            </a:r>
            <a:endParaRPr lang="en-US" sz="1100" dirty="0"/>
          </a:p>
        </p:txBody>
      </p:sp>
      <p:sp>
        <p:nvSpPr>
          <p:cNvPr id="13" name="Shape 10"/>
          <p:cNvSpPr/>
          <p:nvPr/>
        </p:nvSpPr>
        <p:spPr>
          <a:xfrm>
            <a:off x="6108192" y="713232"/>
            <a:ext cx="2494189" cy="5248656"/>
          </a:xfrm>
          <a:prstGeom prst="roundRect">
            <a:avLst>
              <a:gd name="adj" fmla="val 7332"/>
            </a:avLst>
          </a:prstGeom>
          <a:solidFill>
            <a:srgbClr val="0A0A0B"/>
          </a:solidFill>
          <a:ln w="12700">
            <a:solidFill>
              <a:srgbClr val="0A0A0B"/>
            </a:solidFill>
            <a:prstDash val="solid"/>
          </a:ln>
        </p:spPr>
      </p:sp>
      <p:pic>
        <p:nvPicPr>
          <p:cNvPr id="14" name="Image 1" descr="preencoded.png">    </p:cNvPr>
          <p:cNvPicPr>
            <a:picLocks noChangeAspect="1"/>
          </p:cNvPicPr>
          <p:nvPr/>
        </p:nvPicPr>
        <p:blipFill>
          <a:blip r:embed="rId2"/>
          <a:stretch>
            <a:fillRect/>
          </a:stretch>
        </p:blipFill>
        <p:spPr>
          <a:xfrm>
            <a:off x="6172200" y="777240"/>
            <a:ext cx="2366173" cy="5120640"/>
          </a:xfrm>
          <a:prstGeom prst="rect">
            <a:avLst/>
          </a:prstGeom>
        </p:spPr>
      </p:pic>
      <p:sp>
        <p:nvSpPr>
          <p:cNvPr id="15" name="Shape 11"/>
          <p:cNvSpPr/>
          <p:nvPr/>
        </p:nvSpPr>
        <p:spPr>
          <a:xfrm>
            <a:off x="8851392" y="1170432"/>
            <a:ext cx="2494189" cy="5248656"/>
          </a:xfrm>
          <a:prstGeom prst="roundRect">
            <a:avLst>
              <a:gd name="adj" fmla="val 7332"/>
            </a:avLst>
          </a:prstGeom>
          <a:solidFill>
            <a:srgbClr val="0A0A0B"/>
          </a:solidFill>
          <a:ln w="12700">
            <a:solidFill>
              <a:srgbClr val="0A0A0B"/>
            </a:solidFill>
            <a:prstDash val="solid"/>
          </a:ln>
        </p:spPr>
      </p:sp>
      <p:pic>
        <p:nvPicPr>
          <p:cNvPr id="16" name="Image 2" descr="preencoded.png">    </p:cNvPr>
          <p:cNvPicPr>
            <a:picLocks noChangeAspect="1"/>
          </p:cNvPicPr>
          <p:nvPr/>
        </p:nvPicPr>
        <p:blipFill>
          <a:blip r:embed="rId3"/>
          <a:stretch>
            <a:fillRect/>
          </a:stretch>
        </p:blipFill>
        <p:spPr>
          <a:xfrm>
            <a:off x="8915400" y="1234440"/>
            <a:ext cx="2366173" cy="5120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20240"/>
            <a:ext cx="2971800" cy="731520"/>
          </a:xfrm>
          <a:prstGeom prst="rect">
            <a:avLst/>
          </a:prstGeom>
          <a:noFill/>
          <a:ln/>
        </p:spPr>
        <p:txBody>
          <a:bodyPr wrap="square" lIns="0" tIns="0" rIns="0" bIns="0" rtlCol="0" anchor="t"/>
          <a:lstStyle/>
          <a:p>
            <a:pPr indent="0" marL="0">
              <a:buNone/>
            </a:pPr>
            <a:r>
              <a:rPr lang="en-US" sz="3800" b="1" dirty="0">
                <a:solidFill>
                  <a:srgbClr val="0A7F44"/>
                </a:solidFill>
              </a:rPr>
              <a:t>40% → 26%</a:t>
            </a:r>
            <a:endParaRPr lang="en-US" sz="3800" dirty="0"/>
          </a:p>
        </p:txBody>
      </p:sp>
      <p:sp>
        <p:nvSpPr>
          <p:cNvPr id="7" name="Text 4"/>
          <p:cNvSpPr txBox="1"/>
          <p:nvPr/>
        </p:nvSpPr>
        <p:spPr>
          <a:xfrm>
            <a:off x="822960" y="2697480"/>
            <a:ext cx="2743200" cy="594360"/>
          </a:xfrm>
          <a:prstGeom prst="rect">
            <a:avLst/>
          </a:prstGeom>
          <a:noFill/>
          <a:ln/>
        </p:spPr>
        <p:txBody>
          <a:bodyPr wrap="square" lIns="0" tIns="0" rIns="0" bIns="0" rtlCol="0" anchor="t"/>
          <a:lstStyle/>
          <a:p>
            <a:pPr indent="0" marL="0">
              <a:buNone/>
            </a:pPr>
            <a:r>
              <a:rPr lang="en-US" sz="1500" dirty="0">
                <a:solidFill>
                  <a:srgbClr val="0A0A0B"/>
                </a:solidFill>
              </a:rPr>
              <a:t>of US adults play a sport at ages 18 to 21, then at 26 to 49</a:t>
            </a:r>
            <a:endParaRPr lang="en-US" sz="1500" dirty="0"/>
          </a:p>
        </p:txBody>
      </p:sp>
      <p:sp>
        <p:nvSpPr>
          <p:cNvPr id="8" name="Text 5"/>
          <p:cNvSpPr txBox="1"/>
          <p:nvPr/>
        </p:nvSpPr>
        <p:spPr>
          <a:xfrm>
            <a:off x="822960" y="3291840"/>
            <a:ext cx="2743200" cy="411480"/>
          </a:xfrm>
          <a:prstGeom prst="rect">
            <a:avLst/>
          </a:prstGeom>
          <a:noFill/>
          <a:ln/>
        </p:spPr>
        <p:txBody>
          <a:bodyPr wrap="square" lIns="0" tIns="0" rIns="0" bIns="0" rtlCol="0" anchor="t"/>
          <a:lstStyle/>
          <a:p>
            <a:pPr indent="0" marL="0">
              <a:buNone/>
            </a:pPr>
            <a:r>
              <a:rPr lang="en-US" sz="1050" dirty="0">
                <a:solidFill>
                  <a:srgbClr val="55555C"/>
                </a:solidFill>
              </a:rPr>
              <a:t>NPR, RWJF and Harvard Chan poll of 2,506 adults, 2015</a:t>
            </a:r>
            <a:endParaRPr lang="en-US" sz="1050" dirty="0"/>
          </a:p>
        </p:txBody>
      </p:sp>
      <p:sp>
        <p:nvSpPr>
          <p:cNvPr id="9" name="Text 6"/>
          <p:cNvSpPr txBox="1"/>
          <p:nvPr/>
        </p:nvSpPr>
        <p:spPr>
          <a:xfrm>
            <a:off x="822960" y="3886200"/>
            <a:ext cx="2743200" cy="228600"/>
          </a:xfrm>
          <a:prstGeom prst="rect">
            <a:avLst/>
          </a:prstGeom>
          <a:noFill/>
          <a:ln/>
        </p:spPr>
        <p:txBody>
          <a:bodyPr wrap="square" lIns="0" tIns="0" rIns="0" bIns="0" rtlCol="0" anchor="t"/>
          <a:lstStyle/>
          <a:p>
            <a:pPr indent="0" marL="0">
              <a:buNone/>
            </a:pPr>
            <a:r>
              <a:rPr lang="en-US" sz="1000" b="1" spc="100" kern="0" dirty="0">
                <a:solidFill>
                  <a:srgbClr val="0A7F44"/>
                </a:solidFill>
              </a:rPr>
              <a:t>WHAT STOPS ADULTS (NZ)</a:t>
            </a:r>
            <a:endParaRPr lang="en-US" sz="1000" dirty="0"/>
          </a:p>
        </p:txBody>
      </p:sp>
      <p:sp>
        <p:nvSpPr>
          <p:cNvPr id="10" name="Text 7"/>
          <p:cNvSpPr txBox="1"/>
          <p:nvPr/>
        </p:nvSpPr>
        <p:spPr>
          <a:xfrm>
            <a:off x="822960" y="4160520"/>
            <a:ext cx="731520" cy="365760"/>
          </a:xfrm>
          <a:prstGeom prst="rect">
            <a:avLst/>
          </a:prstGeom>
          <a:noFill/>
          <a:ln/>
        </p:spPr>
        <p:txBody>
          <a:bodyPr wrap="square" lIns="0" tIns="0" rIns="0" bIns="0" rtlCol="0" anchor="t"/>
          <a:lstStyle/>
          <a:p>
            <a:pPr indent="0" marL="0">
              <a:buNone/>
            </a:pPr>
            <a:r>
              <a:rPr lang="en-US" sz="1800" b="1" dirty="0">
                <a:solidFill>
                  <a:srgbClr val="0A0A0B"/>
                </a:solidFill>
              </a:rPr>
              <a:t>64%</a:t>
            </a:r>
            <a:endParaRPr lang="en-US" sz="1800" dirty="0"/>
          </a:p>
        </p:txBody>
      </p:sp>
      <p:sp>
        <p:nvSpPr>
          <p:cNvPr id="11" name="Text 8"/>
          <p:cNvSpPr txBox="1"/>
          <p:nvPr/>
        </p:nvSpPr>
        <p:spPr>
          <a:xfrm>
            <a:off x="1554480" y="4160520"/>
            <a:ext cx="2194560" cy="365760"/>
          </a:xfrm>
          <a:prstGeom prst="rect">
            <a:avLst/>
          </a:prstGeom>
          <a:noFill/>
          <a:ln/>
        </p:spPr>
        <p:txBody>
          <a:bodyPr wrap="square" lIns="0" tIns="0" rIns="0" bIns="0" rtlCol="0" anchor="ctr"/>
          <a:lstStyle/>
          <a:p>
            <a:pPr indent="0" marL="0">
              <a:buNone/>
            </a:pPr>
            <a:r>
              <a:rPr lang="en-US" sz="1200" dirty="0">
                <a:solidFill>
                  <a:srgbClr val="0A0A0B"/>
                </a:solidFill>
              </a:rPr>
              <a:t>other commitments come first</a:t>
            </a:r>
            <a:endParaRPr lang="en-US" sz="1200" dirty="0"/>
          </a:p>
        </p:txBody>
      </p:sp>
      <p:sp>
        <p:nvSpPr>
          <p:cNvPr id="12" name="Text 9"/>
          <p:cNvSpPr txBox="1"/>
          <p:nvPr/>
        </p:nvSpPr>
        <p:spPr>
          <a:xfrm>
            <a:off x="822960" y="4572000"/>
            <a:ext cx="731520" cy="365760"/>
          </a:xfrm>
          <a:prstGeom prst="rect">
            <a:avLst/>
          </a:prstGeom>
          <a:noFill/>
          <a:ln/>
        </p:spPr>
        <p:txBody>
          <a:bodyPr wrap="square" lIns="0" tIns="0" rIns="0" bIns="0" rtlCol="0" anchor="t"/>
          <a:lstStyle/>
          <a:p>
            <a:pPr indent="0" marL="0">
              <a:buNone/>
            </a:pPr>
            <a:r>
              <a:rPr lang="en-US" sz="1800" b="1" dirty="0">
                <a:solidFill>
                  <a:srgbClr val="0A0A0B"/>
                </a:solidFill>
              </a:rPr>
              <a:t>21%</a:t>
            </a:r>
            <a:endParaRPr lang="en-US" sz="1800" dirty="0"/>
          </a:p>
        </p:txBody>
      </p:sp>
      <p:sp>
        <p:nvSpPr>
          <p:cNvPr id="13" name="Text 10"/>
          <p:cNvSpPr txBox="1"/>
          <p:nvPr/>
        </p:nvSpPr>
        <p:spPr>
          <a:xfrm>
            <a:off x="1554480" y="4572000"/>
            <a:ext cx="2194560" cy="365760"/>
          </a:xfrm>
          <a:prstGeom prst="rect">
            <a:avLst/>
          </a:prstGeom>
          <a:noFill/>
          <a:ln/>
        </p:spPr>
        <p:txBody>
          <a:bodyPr wrap="square" lIns="0" tIns="0" rIns="0" bIns="0" rtlCol="0" anchor="ctr"/>
          <a:lstStyle/>
          <a:p>
            <a:pPr indent="0" marL="0">
              <a:buNone/>
            </a:pPr>
            <a:r>
              <a:rPr lang="en-US" sz="1200" dirty="0">
                <a:solidFill>
                  <a:srgbClr val="0A0A0B"/>
                </a:solidFill>
              </a:rPr>
              <a:t>got out of the habit</a:t>
            </a:r>
            <a:endParaRPr lang="en-US" sz="1200" dirty="0"/>
          </a:p>
        </p:txBody>
      </p:sp>
      <p:sp>
        <p:nvSpPr>
          <p:cNvPr id="14" name="Text 11"/>
          <p:cNvSpPr txBox="1"/>
          <p:nvPr/>
        </p:nvSpPr>
        <p:spPr>
          <a:xfrm>
            <a:off x="822960" y="4983480"/>
            <a:ext cx="731520" cy="365760"/>
          </a:xfrm>
          <a:prstGeom prst="rect">
            <a:avLst/>
          </a:prstGeom>
          <a:noFill/>
          <a:ln/>
        </p:spPr>
        <p:txBody>
          <a:bodyPr wrap="square" lIns="0" tIns="0" rIns="0" bIns="0" rtlCol="0" anchor="t"/>
          <a:lstStyle/>
          <a:p>
            <a:pPr indent="0" marL="0">
              <a:buNone/>
            </a:pPr>
            <a:r>
              <a:rPr lang="en-US" sz="1800" b="1" dirty="0">
                <a:solidFill>
                  <a:srgbClr val="0A0A0B"/>
                </a:solidFill>
              </a:rPr>
              <a:t>10%</a:t>
            </a:r>
            <a:endParaRPr lang="en-US" sz="1800" dirty="0"/>
          </a:p>
        </p:txBody>
      </p:sp>
      <p:sp>
        <p:nvSpPr>
          <p:cNvPr id="15" name="Text 12"/>
          <p:cNvSpPr txBox="1"/>
          <p:nvPr/>
        </p:nvSpPr>
        <p:spPr>
          <a:xfrm>
            <a:off x="1554480" y="4983480"/>
            <a:ext cx="2194560" cy="365760"/>
          </a:xfrm>
          <a:prstGeom prst="rect">
            <a:avLst/>
          </a:prstGeom>
          <a:noFill/>
          <a:ln/>
        </p:spPr>
        <p:txBody>
          <a:bodyPr wrap="square" lIns="0" tIns="0" rIns="0" bIns="0" rtlCol="0" anchor="ctr"/>
          <a:lstStyle/>
          <a:p>
            <a:pPr indent="0" marL="0">
              <a:buNone/>
            </a:pPr>
            <a:r>
              <a:rPr lang="en-US" sz="1200" dirty="0">
                <a:solidFill>
                  <a:srgbClr val="0A0A0B"/>
                </a:solidFill>
              </a:rPr>
              <a:t>no one to do it with</a:t>
            </a:r>
            <a:endParaRPr lang="en-US" sz="1200" dirty="0"/>
          </a:p>
        </p:txBody>
      </p:sp>
      <p:sp>
        <p:nvSpPr>
          <p:cNvPr id="16" name="Text 13"/>
          <p:cNvSpPr txBox="1"/>
          <p:nvPr/>
        </p:nvSpPr>
        <p:spPr>
          <a:xfrm>
            <a:off x="822960" y="5440680"/>
            <a:ext cx="2743200" cy="274320"/>
          </a:xfrm>
          <a:prstGeom prst="rect">
            <a:avLst/>
          </a:prstGeom>
          <a:noFill/>
          <a:ln/>
        </p:spPr>
        <p:txBody>
          <a:bodyPr wrap="square" lIns="0" tIns="0" rIns="0" bIns="0" rtlCol="0" anchor="t"/>
          <a:lstStyle/>
          <a:p>
            <a:pPr indent="0" marL="0">
              <a:buNone/>
            </a:pPr>
            <a:r>
              <a:rPr lang="en-US" sz="1050" dirty="0">
                <a:solidFill>
                  <a:srgbClr val="55555C"/>
                </a:solidFill>
              </a:rPr>
              <a:t>Active NZ survey, Sport New Zealand, 2023</a:t>
            </a:r>
            <a:endParaRPr lang="en-US" sz="1050" dirty="0"/>
          </a:p>
        </p:txBody>
      </p:sp>
      <p:sp>
        <p:nvSpPr>
          <p:cNvPr id="17" name="Text 14"/>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8" name="Text 15"/>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9" name="Shape 16"/>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20" name="Text 17"/>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21" name="Text 18"/>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"Who's free this week?" "Is the court taken?" "We're one short." The group chat wears the fun out.</a:t>
            </a:r>
            <a:endParaRPr lang="en-US" sz="1200" dirty="0"/>
          </a:p>
        </p:txBody>
      </p:sp>
      <p:sp>
        <p:nvSpPr>
          <p:cNvPr id="22" name="Shape 19"/>
          <p:cNvSpPr/>
          <p:nvPr/>
        </p:nvSpPr>
        <p:spPr>
          <a:xfrm>
            <a:off x="7790688" y="2679192"/>
            <a:ext cx="182880" cy="0"/>
          </a:xfrm>
          <a:prstGeom prst="line">
            <a:avLst/>
          </a:prstGeom>
          <a:noFill/>
          <a:ln w="22225">
            <a:solidFill>
              <a:srgbClr val="8A8A92"/>
            </a:solidFill>
            <a:prstDash val="solid"/>
            <a:tailEnd type="triangle"/>
          </a:ln>
        </p:spPr>
      </p:sp>
      <p:sp>
        <p:nvSpPr>
          <p:cNvPr id="23" name="Shape 20"/>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24" name="Text 21"/>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Your agent agrees the time and the court with the other players' agents. You approve once; your phone says "Game on: Thu 19:00, 4 in."</a:t>
            </a:r>
            <a:endParaRPr lang="en-US" sz="1300" dirty="0"/>
          </a:p>
        </p:txBody>
      </p:sp>
      <p:sp>
        <p:nvSpPr>
          <p:cNvPr id="25" name="Shape 22"/>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26" name="Text 23"/>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7" name="Text 24"/>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8" name="Shape 25"/>
          <p:cNvSpPr/>
          <p:nvPr/>
        </p:nvSpPr>
        <p:spPr>
          <a:xfrm>
            <a:off x="7790688" y="4050792"/>
            <a:ext cx="182880" cy="0"/>
          </a:xfrm>
          <a:prstGeom prst="line">
            <a:avLst/>
          </a:prstGeom>
          <a:noFill/>
          <a:ln w="22225">
            <a:solidFill>
              <a:srgbClr val="8A8A92"/>
            </a:solidFill>
            <a:prstDash val="solid"/>
            <a:tailEnd type="triangle"/>
          </a:ln>
        </p:spPr>
      </p:sp>
      <p:sp>
        <p:nvSpPr>
          <p:cNvPr id="29" name="Shape 26"/>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30" name="Text 27"/>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31" name="Shape 28"/>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32" name="Text 29"/>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33" name="Text 30"/>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late meeting, a heavy week, rain on an outdoor court.</a:t>
            </a:r>
            <a:endParaRPr lang="en-US" sz="1200" dirty="0"/>
          </a:p>
        </p:txBody>
      </p:sp>
      <p:sp>
        <p:nvSpPr>
          <p:cNvPr id="34" name="Shape 31"/>
          <p:cNvSpPr/>
          <p:nvPr/>
        </p:nvSpPr>
        <p:spPr>
          <a:xfrm>
            <a:off x="7790688" y="5422392"/>
            <a:ext cx="182880" cy="0"/>
          </a:xfrm>
          <a:prstGeom prst="line">
            <a:avLst/>
          </a:prstGeom>
          <a:noFill/>
          <a:ln w="22225">
            <a:solidFill>
              <a:srgbClr val="8A8A92"/>
            </a:solidFill>
            <a:prstDash val="solid"/>
            <a:tailEnd type="triangle"/>
          </a:ln>
        </p:spPr>
      </p:sp>
      <p:sp>
        <p:nvSpPr>
          <p:cNvPr id="35" name="Shape 32"/>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36" name="Text 33"/>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moves the game, plans one fewer in a heavy week, and checks the map, reviews and forecast.</a:t>
            </a:r>
            <a:endParaRPr lang="en-US" sz="1300" dirty="0"/>
          </a:p>
        </p:txBody>
      </p:sp>
      <p:sp>
        <p:nvSpPr>
          <p:cNvPr id="37" name="Text 34"/>
          <p:cNvSpPr txBox="1"/>
          <p:nvPr/>
        </p:nvSpPr>
        <p:spPr>
          <a:xfrm>
            <a:off x="4206240" y="6199632"/>
            <a:ext cx="7406640" cy="274320"/>
          </a:xfrm>
          <a:prstGeom prst="rect">
            <a:avLst/>
          </a:prstGeom>
          <a:noFill/>
          <a:ln/>
        </p:spPr>
        <p:txBody>
          <a:bodyPr wrap="square" lIns="0" tIns="0" rIns="0" bIns="0" rtlCol="0" anchor="t"/>
          <a:lstStyle/>
          <a:p>
            <a:pPr indent="0" marL="0">
              <a:buNone/>
            </a:pPr>
            <a:r>
              <a:rPr lang="en-US" sz="1100" i="1" dirty="0">
                <a:solidFill>
                  <a:srgbClr val="55555C"/>
                </a:solidFill>
              </a:rPr>
              <a:t>Less screen time, more court time: any ball sport that needs people, a time and a place.</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BEYOND YOUR FRIENDS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Beyond your friends, people flake and agents lie</a:t>
            </a:r>
            <a:endParaRPr lang="en-US" sz="3200" dirty="0"/>
          </a:p>
        </p:txBody>
      </p:sp>
      <p:sp>
        <p:nvSpPr>
          <p:cNvPr id="5" name="Shape 2"/>
          <p:cNvSpPr/>
          <p:nvPr/>
        </p:nvSpPr>
        <p:spPr>
          <a:xfrm>
            <a:off x="548640" y="1691640"/>
            <a:ext cx="5120640" cy="4343400"/>
          </a:xfrm>
          <a:prstGeom prst="roundRect">
            <a:avLst>
              <a:gd name="adj" fmla="val 2526"/>
            </a:avLst>
          </a:prstGeom>
          <a:solidFill>
            <a:srgbClr val="FBEAE9"/>
          </a:solidFill>
          <a:ln w="12700">
            <a:solidFill>
              <a:srgbClr val="FBEAE9"/>
            </a:solidFill>
            <a:prstDash val="solid"/>
          </a:ln>
        </p:spPr>
      </p:sp>
      <p:sp>
        <p:nvSpPr>
          <p:cNvPr id="6" name="Text 3"/>
          <p:cNvSpPr txBox="1"/>
          <p:nvPr/>
        </p:nvSpPr>
        <p:spPr>
          <a:xfrm>
            <a:off x="822960" y="1874520"/>
            <a:ext cx="457200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7" name="Text 4"/>
          <p:cNvSpPr txBox="1"/>
          <p:nvPr/>
        </p:nvSpPr>
        <p:spPr>
          <a:xfrm>
            <a:off x="822960" y="2240280"/>
            <a:ext cx="4663440" cy="365760"/>
          </a:xfrm>
          <a:prstGeom prst="rect">
            <a:avLst/>
          </a:prstGeom>
          <a:noFill/>
          <a:ln/>
        </p:spPr>
        <p:txBody>
          <a:bodyPr wrap="square" lIns="0" tIns="0" rIns="0" bIns="0" rtlCol="0" anchor="t"/>
          <a:lstStyle/>
          <a:p>
            <a:pPr indent="0" marL="0">
              <a:buNone/>
            </a:pPr>
            <a:r>
              <a:rPr lang="en-US" sz="1700" b="1" dirty="0">
                <a:solidFill>
                  <a:srgbClr val="0A0A0B"/>
                </a:solidFill>
              </a:rPr>
              <a:t>An agent with nowhere to go</a:t>
            </a:r>
            <a:endParaRPr lang="en-US" sz="1700" dirty="0"/>
          </a:p>
        </p:txBody>
      </p:sp>
      <p:sp>
        <p:nvSpPr>
          <p:cNvPr id="8" name="Text 5"/>
          <p:cNvSpPr txBox="1"/>
          <p:nvPr/>
        </p:nvSpPr>
        <p:spPr>
          <a:xfrm>
            <a:off x="822960" y="2651760"/>
            <a:ext cx="4617720" cy="1097280"/>
          </a:xfrm>
          <a:prstGeom prst="rect">
            <a:avLst/>
          </a:prstGeom>
          <a:noFill/>
          <a:ln/>
        </p:spPr>
        <p:txBody>
          <a:bodyPr wrap="square" lIns="0" tIns="0" rIns="0" bIns="0" rtlCol="0" anchor="t"/>
          <a:lstStyle/>
          <a:p>
            <a:pPr indent="0" marL="0">
              <a:buNone/>
            </a:pPr>
            <a:r>
              <a:rPr lang="en-US" sz="1250" dirty="0">
                <a:solidFill>
                  <a:srgbClr val="0A0A0B"/>
                </a:solidFill>
              </a:rPr>
              <a:t>Soon everyone has an agent that knows their week. With no shared place where people and agents meet, it can only message your contacts; when they're busy, you're still not playing.</a:t>
            </a:r>
            <a:endParaRPr lang="en-US" sz="1250" dirty="0"/>
          </a:p>
        </p:txBody>
      </p:sp>
      <p:sp>
        <p:nvSpPr>
          <p:cNvPr id="9" name="Text 6"/>
          <p:cNvSpPr txBox="1"/>
          <p:nvPr/>
        </p:nvSpPr>
        <p:spPr>
          <a:xfrm>
            <a:off x="822960" y="3840480"/>
            <a:ext cx="4663440" cy="365760"/>
          </a:xfrm>
          <a:prstGeom prst="rect">
            <a:avLst/>
          </a:prstGeom>
          <a:noFill/>
          <a:ln/>
        </p:spPr>
        <p:txBody>
          <a:bodyPr wrap="square" lIns="0" tIns="0" rIns="0" bIns="0" rtlCol="0" anchor="t"/>
          <a:lstStyle/>
          <a:p>
            <a:pPr indent="0" marL="0">
              <a:buNone/>
            </a:pPr>
            <a:r>
              <a:rPr lang="en-US" sz="1700" b="1" dirty="0">
                <a:solidFill>
                  <a:srgbClr val="0A0A0B"/>
                </a:solidFill>
              </a:rPr>
              <a:t>Trust breaks first</a:t>
            </a:r>
            <a:endParaRPr lang="en-US" sz="1700" dirty="0"/>
          </a:p>
        </p:txBody>
      </p:sp>
      <p:sp>
        <p:nvSpPr>
          <p:cNvPr id="10" name="Text 7"/>
          <p:cNvSpPr txBox="1"/>
          <p:nvPr/>
        </p:nvSpPr>
        <p:spPr>
          <a:xfrm>
            <a:off x="822960" y="4251960"/>
            <a:ext cx="4617720" cy="1097280"/>
          </a:xfrm>
          <a:prstGeom prst="rect">
            <a:avLst/>
          </a:prstGeom>
          <a:noFill/>
          <a:ln/>
        </p:spPr>
        <p:txBody>
          <a:bodyPr wrap="square" lIns="0" tIns="0" rIns="0" bIns="0" rtlCol="0" anchor="t"/>
          <a:lstStyle/>
          <a:p>
            <a:pPr indent="0" marL="0">
              <a:buNone/>
            </a:pPr>
            <a:r>
              <a:rPr lang="en-US" sz="1250" dirty="0">
                <a:solidFill>
                  <a:srgbClr val="0A0A0B"/>
                </a:solidFill>
              </a:rPr>
              <a:t>Asking beyond your friends brings two risks: the person who doesn't turn up, and the agent that says yes for its person when they'd say no, or keeps asking to map everyone's week.</a:t>
            </a:r>
            <a:endParaRPr lang="en-US" sz="1250" dirty="0"/>
          </a:p>
        </p:txBody>
      </p:sp>
      <p:sp>
        <p:nvSpPr>
          <p:cNvPr id="11" name="Text 8"/>
          <p:cNvSpPr txBox="1"/>
          <p:nvPr/>
        </p:nvSpPr>
        <p:spPr>
          <a:xfrm>
            <a:off x="822960" y="5532120"/>
            <a:ext cx="4663440" cy="411480"/>
          </a:xfrm>
          <a:prstGeom prst="rect">
            <a:avLst/>
          </a:prstGeom>
          <a:noFill/>
          <a:ln/>
        </p:spPr>
        <p:txBody>
          <a:bodyPr wrap="square" lIns="0" tIns="0" rIns="0" bIns="0" rtlCol="0" anchor="t"/>
          <a:lstStyle/>
          <a:p>
            <a:pPr indent="0" marL="0">
              <a:buNone/>
            </a:pPr>
            <a:r>
              <a:rPr lang="en-US" sz="1100" i="1" dirty="0">
                <a:solidFill>
                  <a:srgbClr val="55555C"/>
                </a:solidFill>
              </a:rPr>
              <a:t>Serve never takes a deposit: low trust means the waitlist, or asking the person.</a:t>
            </a:r>
            <a:endParaRPr lang="en-US" sz="1100" dirty="0"/>
          </a:p>
        </p:txBody>
      </p:sp>
      <p:sp>
        <p:nvSpPr>
          <p:cNvPr id="12" name="Text 9"/>
          <p:cNvSpPr txBox="1"/>
          <p:nvPr/>
        </p:nvSpPr>
        <p:spPr>
          <a:xfrm>
            <a:off x="5989320" y="1691640"/>
            <a:ext cx="5669280" cy="274320"/>
          </a:xfrm>
          <a:prstGeom prst="rect">
            <a:avLst/>
          </a:prstGeom>
          <a:noFill/>
          <a:ln/>
        </p:spPr>
        <p:txBody>
          <a:bodyPr wrap="square" lIns="0" tIns="0" rIns="0" bIns="0" rtlCol="0" anchor="t"/>
          <a:lstStyle/>
          <a:p>
            <a:pPr indent="0" marL="0">
              <a:buNone/>
            </a:pPr>
            <a:r>
              <a:rPr lang="en-US" sz="1000" b="1" spc="100" kern="0" dirty="0">
                <a:solidFill>
                  <a:srgbClr val="0A7F44"/>
                </a:solidFill>
              </a:rPr>
              <a:t>SAT DOUBLES · NEED 3 · SHOWS UP 90%+ · PEOPLE NEARBY</a:t>
            </a:r>
            <a:endParaRPr lang="en-US" sz="1000" dirty="0"/>
          </a:p>
        </p:txBody>
      </p:sp>
      <p:sp>
        <p:nvSpPr>
          <p:cNvPr id="13" name="Shape 10"/>
          <p:cNvSpPr/>
          <p:nvPr/>
        </p:nvSpPr>
        <p:spPr>
          <a:xfrm>
            <a:off x="5989320" y="2057400"/>
            <a:ext cx="5623560" cy="987552"/>
          </a:xfrm>
          <a:prstGeom prst="roundRect">
            <a:avLst>
              <a:gd name="adj" fmla="val 11111"/>
            </a:avLst>
          </a:prstGeom>
          <a:solidFill>
            <a:srgbClr val="FBF3E6"/>
          </a:solidFill>
          <a:ln w="12700">
            <a:solidFill>
              <a:srgbClr val="FBF3E6"/>
            </a:solidFill>
            <a:prstDash val="solid"/>
          </a:ln>
        </p:spPr>
      </p:sp>
      <p:sp>
        <p:nvSpPr>
          <p:cNvPr id="14" name="Text 11"/>
          <p:cNvSpPr txBox="1"/>
          <p:nvPr/>
        </p:nvSpPr>
        <p:spPr>
          <a:xfrm>
            <a:off x="6172200" y="2167128"/>
            <a:ext cx="2377440" cy="292608"/>
          </a:xfrm>
          <a:prstGeom prst="rect">
            <a:avLst/>
          </a:prstGeom>
          <a:noFill/>
          <a:ln/>
        </p:spPr>
        <p:txBody>
          <a:bodyPr wrap="square" lIns="0" tIns="0" rIns="0" bIns="0" rtlCol="0" anchor="t"/>
          <a:lstStyle/>
          <a:p>
            <a:pPr indent="0" marL="0">
              <a:buNone/>
            </a:pPr>
            <a:r>
              <a:rPr lang="en-US" sz="1500" b="1" dirty="0">
                <a:solidFill>
                  <a:srgbClr val="0A0A0B"/>
                </a:solidFill>
              </a:rPr>
              <a:t>Dan</a:t>
            </a:r>
            <a:endParaRPr lang="en-US" sz="1500" dirty="0"/>
          </a:p>
        </p:txBody>
      </p:sp>
      <p:sp>
        <p:nvSpPr>
          <p:cNvPr id="15" name="Text 12"/>
          <p:cNvSpPr txBox="1"/>
          <p:nvPr/>
        </p:nvSpPr>
        <p:spPr>
          <a:xfrm>
            <a:off x="8458200" y="2185416"/>
            <a:ext cx="3017520" cy="274320"/>
          </a:xfrm>
          <a:prstGeom prst="rect">
            <a:avLst/>
          </a:prstGeom>
          <a:noFill/>
          <a:ln/>
        </p:spPr>
        <p:txBody>
          <a:bodyPr wrap="square" lIns="0" tIns="0" rIns="0" bIns="0" rtlCol="0" anchor="t"/>
          <a:lstStyle/>
          <a:p>
            <a:pPr algn="r" indent="0" marL="0">
              <a:buNone/>
            </a:pPr>
            <a:r>
              <a:rPr lang="en-US" sz="1100" b="1" dirty="0">
                <a:solidFill>
                  <a:srgbClr val="B26A00"/>
                </a:solidFill>
              </a:rPr>
              <a:t>Agent keeps 52% of its yeses</a:t>
            </a:r>
            <a:endParaRPr lang="en-US" sz="1100" dirty="0"/>
          </a:p>
        </p:txBody>
      </p:sp>
      <p:sp>
        <p:nvSpPr>
          <p:cNvPr id="16" name="Text 13"/>
          <p:cNvSpPr txBox="1"/>
          <p:nvPr/>
        </p:nvSpPr>
        <p:spPr>
          <a:xfrm>
            <a:off x="6172200" y="2514600"/>
            <a:ext cx="5303520" cy="457200"/>
          </a:xfrm>
          <a:prstGeom prst="rect">
            <a:avLst/>
          </a:prstGeom>
          <a:noFill/>
          <a:ln/>
        </p:spPr>
        <p:txBody>
          <a:bodyPr wrap="square" lIns="0" tIns="0" rIns="0" bIns="0" rtlCol="0" anchor="t"/>
          <a:lstStyle/>
          <a:p>
            <a:pPr indent="0" marL="0">
              <a:buNone/>
            </a:pPr>
            <a:r>
              <a:rPr lang="en-US" sz="1250" dirty="0">
                <a:solidFill>
                  <a:srgbClr val="0A0A0B"/>
                </a:solidFill>
              </a:rPr>
              <a:t>Dan's agent can't say yes for Dan, so Dan is asked directly.</a:t>
            </a:r>
            <a:endParaRPr lang="en-US" sz="1250" dirty="0"/>
          </a:p>
        </p:txBody>
      </p:sp>
      <p:sp>
        <p:nvSpPr>
          <p:cNvPr id="17" name="Shape 14"/>
          <p:cNvSpPr/>
          <p:nvPr/>
        </p:nvSpPr>
        <p:spPr>
          <a:xfrm>
            <a:off x="5989320" y="3172968"/>
            <a:ext cx="5623560" cy="987552"/>
          </a:xfrm>
          <a:prstGeom prst="roundRect">
            <a:avLst>
              <a:gd name="adj" fmla="val 11111"/>
            </a:avLst>
          </a:prstGeom>
          <a:solidFill>
            <a:srgbClr val="FBEAE9"/>
          </a:solidFill>
          <a:ln w="12700">
            <a:solidFill>
              <a:srgbClr val="FBEAE9"/>
            </a:solidFill>
            <a:prstDash val="solid"/>
          </a:ln>
        </p:spPr>
      </p:sp>
      <p:sp>
        <p:nvSpPr>
          <p:cNvPr id="18" name="Text 15"/>
          <p:cNvSpPr txBox="1"/>
          <p:nvPr/>
        </p:nvSpPr>
        <p:spPr>
          <a:xfrm>
            <a:off x="6172200" y="3282696"/>
            <a:ext cx="2377440" cy="292608"/>
          </a:xfrm>
          <a:prstGeom prst="rect">
            <a:avLst/>
          </a:prstGeom>
          <a:noFill/>
          <a:ln/>
        </p:spPr>
        <p:txBody>
          <a:bodyPr wrap="square" lIns="0" tIns="0" rIns="0" bIns="0" rtlCol="0" anchor="t"/>
          <a:lstStyle/>
          <a:p>
            <a:pPr indent="0" marL="0">
              <a:buNone/>
            </a:pPr>
            <a:r>
              <a:rPr lang="en-US" sz="1500" b="1" dirty="0">
                <a:solidFill>
                  <a:srgbClr val="0A0A0B"/>
                </a:solidFill>
              </a:rPr>
              <a:t>Bob</a:t>
            </a:r>
            <a:endParaRPr lang="en-US" sz="1500" dirty="0"/>
          </a:p>
        </p:txBody>
      </p:sp>
      <p:sp>
        <p:nvSpPr>
          <p:cNvPr id="19" name="Text 16"/>
          <p:cNvSpPr txBox="1"/>
          <p:nvPr/>
        </p:nvSpPr>
        <p:spPr>
          <a:xfrm>
            <a:off x="8458200" y="3300984"/>
            <a:ext cx="3017520" cy="274320"/>
          </a:xfrm>
          <a:prstGeom prst="rect">
            <a:avLst/>
          </a:prstGeom>
          <a:noFill/>
          <a:ln/>
        </p:spPr>
        <p:txBody>
          <a:bodyPr wrap="square" lIns="0" tIns="0" rIns="0" bIns="0" rtlCol="0" anchor="t"/>
          <a:lstStyle/>
          <a:p>
            <a:pPr algn="r" indent="0" marL="0">
              <a:buNone/>
            </a:pPr>
            <a:r>
              <a:rPr lang="en-US" sz="1100" b="1" dirty="0">
                <a:solidFill>
                  <a:srgbClr val="D1352B"/>
                </a:solidFill>
              </a:rPr>
              <a:t>Shows up 33% · 3 games</a:t>
            </a:r>
            <a:endParaRPr lang="en-US" sz="1100" dirty="0"/>
          </a:p>
        </p:txBody>
      </p:sp>
      <p:sp>
        <p:nvSpPr>
          <p:cNvPr id="20" name="Text 17"/>
          <p:cNvSpPr txBox="1"/>
          <p:nvPr/>
        </p:nvSpPr>
        <p:spPr>
          <a:xfrm>
            <a:off x="6172200" y="3630168"/>
            <a:ext cx="5303520" cy="457200"/>
          </a:xfrm>
          <a:prstGeom prst="rect">
            <a:avLst/>
          </a:prstGeom>
          <a:noFill/>
          <a:ln/>
        </p:spPr>
        <p:txBody>
          <a:bodyPr wrap="square" lIns="0" tIns="0" rIns="0" bIns="0" rtlCol="0" anchor="t"/>
          <a:lstStyle/>
          <a:p>
            <a:pPr indent="0" marL="0">
              <a:buNone/>
            </a:pPr>
            <a:r>
              <a:rPr lang="en-US" sz="1250" dirty="0">
                <a:solidFill>
                  <a:srgbClr val="0A0A0B"/>
                </a:solidFill>
              </a:rPr>
              <a:t>On the waitlist: this game needs 90%.</a:t>
            </a:r>
            <a:endParaRPr lang="en-US" sz="1250" dirty="0"/>
          </a:p>
        </p:txBody>
      </p:sp>
      <p:sp>
        <p:nvSpPr>
          <p:cNvPr id="21" name="Shape 18"/>
          <p:cNvSpPr/>
          <p:nvPr/>
        </p:nvSpPr>
        <p:spPr>
          <a:xfrm>
            <a:off x="5989320" y="4288536"/>
            <a:ext cx="5623560" cy="987552"/>
          </a:xfrm>
          <a:prstGeom prst="roundRect">
            <a:avLst>
              <a:gd name="adj" fmla="val 11111"/>
            </a:avLst>
          </a:prstGeom>
          <a:solidFill>
            <a:srgbClr val="E9F3EC"/>
          </a:solidFill>
          <a:ln w="12700">
            <a:solidFill>
              <a:srgbClr val="E9F3EC"/>
            </a:solidFill>
            <a:prstDash val="solid"/>
          </a:ln>
        </p:spPr>
      </p:sp>
      <p:sp>
        <p:nvSpPr>
          <p:cNvPr id="22" name="Text 19"/>
          <p:cNvSpPr txBox="1"/>
          <p:nvPr/>
        </p:nvSpPr>
        <p:spPr>
          <a:xfrm>
            <a:off x="6172200" y="4398264"/>
            <a:ext cx="2377440" cy="292608"/>
          </a:xfrm>
          <a:prstGeom prst="rect">
            <a:avLst/>
          </a:prstGeom>
          <a:noFill/>
          <a:ln/>
        </p:spPr>
        <p:txBody>
          <a:bodyPr wrap="square" lIns="0" tIns="0" rIns="0" bIns="0" rtlCol="0" anchor="t"/>
          <a:lstStyle/>
          <a:p>
            <a:pPr indent="0" marL="0">
              <a:buNone/>
            </a:pPr>
            <a:r>
              <a:rPr lang="en-US" sz="1500" b="1" dirty="0">
                <a:solidFill>
                  <a:srgbClr val="0A0A0B"/>
                </a:solidFill>
              </a:rPr>
              <a:t>Leo · Hana · Kenji</a:t>
            </a:r>
            <a:endParaRPr lang="en-US" sz="1500" dirty="0"/>
          </a:p>
        </p:txBody>
      </p:sp>
      <p:sp>
        <p:nvSpPr>
          <p:cNvPr id="23" name="Text 20"/>
          <p:cNvSpPr txBox="1"/>
          <p:nvPr/>
        </p:nvSpPr>
        <p:spPr>
          <a:xfrm>
            <a:off x="8458200" y="4416552"/>
            <a:ext cx="3017520" cy="274320"/>
          </a:xfrm>
          <a:prstGeom prst="rect">
            <a:avLst/>
          </a:prstGeom>
          <a:noFill/>
          <a:ln/>
        </p:spPr>
        <p:txBody>
          <a:bodyPr wrap="square" lIns="0" tIns="0" rIns="0" bIns="0" rtlCol="0" anchor="t"/>
          <a:lstStyle/>
          <a:p>
            <a:pPr algn="r" indent="0" marL="0">
              <a:buNone/>
            </a:pPr>
            <a:r>
              <a:rPr lang="en-US" sz="1100" b="1" dirty="0">
                <a:solidFill>
                  <a:srgbClr val="0A7F44"/>
                </a:solidFill>
              </a:rPr>
              <a:t>100% · 8 games · 100% · 12 games · new</a:t>
            </a:r>
            <a:endParaRPr lang="en-US" sz="1100" dirty="0"/>
          </a:p>
        </p:txBody>
      </p:sp>
      <p:sp>
        <p:nvSpPr>
          <p:cNvPr id="24" name="Text 21"/>
          <p:cNvSpPr txBox="1"/>
          <p:nvPr/>
        </p:nvSpPr>
        <p:spPr>
          <a:xfrm>
            <a:off x="6172200" y="4745736"/>
            <a:ext cx="5303520" cy="457200"/>
          </a:xfrm>
          <a:prstGeom prst="rect">
            <a:avLst/>
          </a:prstGeom>
          <a:noFill/>
          <a:ln/>
        </p:spPr>
        <p:txBody>
          <a:bodyPr wrap="square" lIns="0" tIns="0" rIns="0" bIns="0" rtlCol="0" anchor="t"/>
          <a:lstStyle/>
          <a:p>
            <a:pPr indent="0" marL="0">
              <a:buNone/>
            </a:pPr>
            <a:r>
              <a:rPr lang="en-US" sz="1250" dirty="0">
                <a:solidFill>
                  <a:srgbClr val="0A0A0B"/>
                </a:solidFill>
              </a:rPr>
              <a:t>Their agents agree Sat 21:00; the venue's agent goes from NT$410 to NT$280.</a:t>
            </a:r>
            <a:endParaRPr lang="en-US" sz="1250" dirty="0"/>
          </a:p>
        </p:txBody>
      </p:sp>
      <p:sp>
        <p:nvSpPr>
          <p:cNvPr id="25" name="Shape 22"/>
          <p:cNvSpPr/>
          <p:nvPr/>
        </p:nvSpPr>
        <p:spPr>
          <a:xfrm>
            <a:off x="5989320" y="5440680"/>
            <a:ext cx="5623560" cy="594360"/>
          </a:xfrm>
          <a:prstGeom prst="roundRect">
            <a:avLst>
              <a:gd name="adj" fmla="val 18462"/>
            </a:avLst>
          </a:prstGeom>
          <a:solidFill>
            <a:srgbClr val="FFFFFF"/>
          </a:solidFill>
          <a:ln w="12700">
            <a:solidFill>
              <a:srgbClr val="DCDCE0"/>
            </a:solidFill>
            <a:prstDash val="solid"/>
          </a:ln>
        </p:spPr>
      </p:sp>
      <p:sp>
        <p:nvSpPr>
          <p:cNvPr id="26" name="Text 23"/>
          <p:cNvSpPr txBox="1"/>
          <p:nvPr/>
        </p:nvSpPr>
        <p:spPr>
          <a:xfrm>
            <a:off x="6126480" y="5440680"/>
            <a:ext cx="5394960" cy="594360"/>
          </a:xfrm>
          <a:prstGeom prst="rect">
            <a:avLst/>
          </a:prstGeom>
          <a:noFill/>
          <a:ln/>
        </p:spPr>
        <p:txBody>
          <a:bodyPr wrap="square" lIns="0" tIns="0" rIns="0" bIns="0" rtlCol="0" anchor="ctr"/>
          <a:lstStyle/>
          <a:p>
            <a:pPr indent="0" marL="0">
              <a:buNone/>
            </a:pPr>
            <a:r>
              <a:rPr lang="en-US" sz="1050" b="1" dirty="0">
                <a:solidFill>
                  <a:srgbClr val="0A0A0B"/>
                </a:solidFill>
              </a:rPr>
              <a:t>Two records, counted by code. </a:t>
            </a:r>
            <a:pPr indent="0" marL="0">
              <a:buNone/>
            </a:pPr>
            <a:r>
              <a:rPr lang="en-US" sz="1050" dirty="0">
                <a:solidFill>
                  <a:srgbClr val="0A0A0B"/>
                </a:solidFill>
              </a:rPr>
              <a:t>Shows up: players tap who came after each game; leaving in the last 6 hours is a late drop. Agent keeps: your yes after your agent's yes.</a:t>
            </a:r>
            <a:endParaRPr lang="en-US" sz="1050" dirty="0"/>
          </a:p>
        </p:txBody>
      </p:sp>
      <p:sp>
        <p:nvSpPr>
          <p:cNvPr id="27" name="Text 24"/>
          <p:cNvSpPr txBox="1"/>
          <p:nvPr/>
        </p:nvSpPr>
        <p:spPr>
          <a:xfrm>
            <a:off x="548640" y="6144768"/>
            <a:ext cx="11064240" cy="274320"/>
          </a:xfrm>
          <a:prstGeom prst="rect">
            <a:avLst/>
          </a:prstGeom>
          <a:noFill/>
          <a:ln/>
        </p:spPr>
        <p:txBody>
          <a:bodyPr wrap="square" lIns="0" tIns="0" rIns="0" bIns="0" rtlCol="0" anchor="t"/>
          <a:lstStyle/>
          <a:p>
            <a:pPr indent="0" marL="0">
              <a:buNone/>
            </a:pPr>
            <a:r>
              <a:rPr lang="en-US" sz="1050" i="1" dirty="0">
                <a:solidFill>
                  <a:srgbClr val="55555C"/>
                </a:solidFill>
              </a:rPr>
              <a:t>The scenario ran in the app with test accounts. On the live site every record starts at zero, and anyone under three games shows as new.</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LIVE · INVITED PLAYERS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Real players, each with an agent of their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Clubs on a real map, one recommended</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Say it; your agent drafts the invite</a:t>
            </a:r>
            <a:endParaRPr lang="en-US" sz="1050" dirty="0"/>
          </a:p>
        </p:txBody>
      </p:sp>
      <p:sp>
        <p:nvSpPr>
          <p:cNvPr id="11" name="Text 6"/>
          <p:cNvSpPr txBox="1"/>
          <p:nvPr/>
        </p:nvSpPr>
        <p:spPr>
          <a:xfrm>
            <a:off x="5669280" y="1691640"/>
            <a:ext cx="6035040" cy="228600"/>
          </a:xfrm>
          <a:prstGeom prst="rect">
            <a:avLst/>
          </a:prstGeom>
          <a:noFill/>
          <a:ln/>
        </p:spPr>
        <p:txBody>
          <a:bodyPr wrap="square" lIns="0" tIns="0" rIns="0" bIns="0" rtlCol="0" anchor="t"/>
          <a:lstStyle/>
          <a:p>
            <a:pPr indent="0" marL="0">
              <a:buNone/>
            </a:pPr>
            <a:r>
              <a:rPr lang="en-US" sz="1000" b="1" spc="100" kern="0" dirty="0">
                <a:solidFill>
                  <a:srgbClr val="55555C"/>
                </a:solidFill>
              </a:rPr>
              <a:t>LIVE SINCE 29 OCT · play.theminimallab.com</a:t>
            </a:r>
            <a:endParaRPr lang="en-US" sz="1000" dirty="0"/>
          </a:p>
        </p:txBody>
      </p:sp>
      <p:sp>
        <p:nvSpPr>
          <p:cNvPr id="12" name="Shape 7"/>
          <p:cNvSpPr/>
          <p:nvPr/>
        </p:nvSpPr>
        <p:spPr>
          <a:xfrm>
            <a:off x="5669280" y="1965960"/>
            <a:ext cx="1353312" cy="960120"/>
          </a:xfrm>
          <a:prstGeom prst="roundRect">
            <a:avLst>
              <a:gd name="adj" fmla="val 11429"/>
            </a:avLst>
          </a:prstGeom>
          <a:solidFill>
            <a:srgbClr val="E9F3EC"/>
          </a:solidFill>
          <a:ln w="12700">
            <a:solidFill>
              <a:srgbClr val="E9F3EC"/>
            </a:solidFill>
            <a:prstDash val="solid"/>
          </a:ln>
        </p:spPr>
      </p:sp>
      <p:sp>
        <p:nvSpPr>
          <p:cNvPr id="13" name="Text 8"/>
          <p:cNvSpPr txBox="1"/>
          <p:nvPr/>
        </p:nvSpPr>
        <p:spPr>
          <a:xfrm>
            <a:off x="5797296" y="2011680"/>
            <a:ext cx="1097280" cy="502920"/>
          </a:xfrm>
          <a:prstGeom prst="rect">
            <a:avLst/>
          </a:prstGeom>
          <a:noFill/>
          <a:ln/>
        </p:spPr>
        <p:txBody>
          <a:bodyPr wrap="square" lIns="0" tIns="0" rIns="0" bIns="0" rtlCol="0" anchor="t"/>
          <a:lstStyle/>
          <a:p>
            <a:pPr indent="0" marL="0">
              <a:buNone/>
            </a:pPr>
            <a:r>
              <a:rPr lang="en-US" sz="2600" b="1" dirty="0">
                <a:solidFill>
                  <a:srgbClr val="0A7F44"/>
                </a:solidFill>
              </a:rPr>
              <a:t>8</a:t>
            </a:r>
            <a:endParaRPr lang="en-US" sz="2600" dirty="0"/>
          </a:p>
        </p:txBody>
      </p:sp>
      <p:sp>
        <p:nvSpPr>
          <p:cNvPr id="14" name="Text 9"/>
          <p:cNvSpPr txBox="1"/>
          <p:nvPr/>
        </p:nvSpPr>
        <p:spPr>
          <a:xfrm>
            <a:off x="579729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people, me included (15 demo sign-ins)</a:t>
            </a:r>
            <a:endParaRPr lang="en-US" sz="1050" dirty="0"/>
          </a:p>
        </p:txBody>
      </p:sp>
      <p:sp>
        <p:nvSpPr>
          <p:cNvPr id="15" name="Shape 10"/>
          <p:cNvSpPr/>
          <p:nvPr/>
        </p:nvSpPr>
        <p:spPr>
          <a:xfrm>
            <a:off x="7132320" y="1965960"/>
            <a:ext cx="1353312" cy="960120"/>
          </a:xfrm>
          <a:prstGeom prst="roundRect">
            <a:avLst>
              <a:gd name="adj" fmla="val 11429"/>
            </a:avLst>
          </a:prstGeom>
          <a:solidFill>
            <a:srgbClr val="F6F7F8"/>
          </a:solidFill>
          <a:ln w="12700">
            <a:solidFill>
              <a:srgbClr val="F6F7F8"/>
            </a:solidFill>
            <a:prstDash val="solid"/>
          </a:ln>
        </p:spPr>
      </p:sp>
      <p:sp>
        <p:nvSpPr>
          <p:cNvPr id="16" name="Text 11"/>
          <p:cNvSpPr txBox="1"/>
          <p:nvPr/>
        </p:nvSpPr>
        <p:spPr>
          <a:xfrm>
            <a:off x="726033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2</a:t>
            </a:r>
            <a:endParaRPr lang="en-US" sz="2600" dirty="0"/>
          </a:p>
        </p:txBody>
      </p:sp>
      <p:sp>
        <p:nvSpPr>
          <p:cNvPr id="17" name="Text 12"/>
          <p:cNvSpPr txBox="1"/>
          <p:nvPr/>
        </p:nvSpPr>
        <p:spPr>
          <a:xfrm>
            <a:off x="726033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clubs they started</a:t>
            </a:r>
            <a:endParaRPr lang="en-US" sz="1050" dirty="0"/>
          </a:p>
        </p:txBody>
      </p:sp>
      <p:sp>
        <p:nvSpPr>
          <p:cNvPr id="18" name="Shape 13"/>
          <p:cNvSpPr/>
          <p:nvPr/>
        </p:nvSpPr>
        <p:spPr>
          <a:xfrm>
            <a:off x="8595360" y="1965960"/>
            <a:ext cx="1353312" cy="960120"/>
          </a:xfrm>
          <a:prstGeom prst="roundRect">
            <a:avLst>
              <a:gd name="adj" fmla="val 11429"/>
            </a:avLst>
          </a:prstGeom>
          <a:solidFill>
            <a:srgbClr val="F6F7F8"/>
          </a:solidFill>
          <a:ln w="12700">
            <a:solidFill>
              <a:srgbClr val="F6F7F8"/>
            </a:solidFill>
            <a:prstDash val="solid"/>
          </a:ln>
        </p:spPr>
      </p:sp>
      <p:sp>
        <p:nvSpPr>
          <p:cNvPr id="19" name="Text 14"/>
          <p:cNvSpPr txBox="1"/>
          <p:nvPr/>
        </p:nvSpPr>
        <p:spPr>
          <a:xfrm>
            <a:off x="872337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4</a:t>
            </a:r>
            <a:endParaRPr lang="en-US" sz="2600" dirty="0"/>
          </a:p>
        </p:txBody>
      </p:sp>
      <p:sp>
        <p:nvSpPr>
          <p:cNvPr id="20" name="Text 15"/>
          <p:cNvSpPr txBox="1"/>
          <p:nvPr/>
        </p:nvSpPr>
        <p:spPr>
          <a:xfrm>
            <a:off x="872337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games posted</a:t>
            </a:r>
            <a:endParaRPr lang="en-US" sz="1050" dirty="0"/>
          </a:p>
        </p:txBody>
      </p:sp>
      <p:sp>
        <p:nvSpPr>
          <p:cNvPr id="21" name="Shape 16"/>
          <p:cNvSpPr/>
          <p:nvPr/>
        </p:nvSpPr>
        <p:spPr>
          <a:xfrm>
            <a:off x="10058400" y="1965960"/>
            <a:ext cx="1353312" cy="960120"/>
          </a:xfrm>
          <a:prstGeom prst="roundRect">
            <a:avLst>
              <a:gd name="adj" fmla="val 11429"/>
            </a:avLst>
          </a:prstGeom>
          <a:solidFill>
            <a:srgbClr val="F6F7F8"/>
          </a:solidFill>
          <a:ln w="12700">
            <a:solidFill>
              <a:srgbClr val="F6F7F8"/>
            </a:solidFill>
            <a:prstDash val="solid"/>
          </a:ln>
        </p:spPr>
      </p:sp>
      <p:sp>
        <p:nvSpPr>
          <p:cNvPr id="22" name="Text 17"/>
          <p:cNvSpPr txBox="1"/>
          <p:nvPr/>
        </p:nvSpPr>
        <p:spPr>
          <a:xfrm>
            <a:off x="1018641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8</a:t>
            </a:r>
            <a:endParaRPr lang="en-US" sz="2600" dirty="0"/>
          </a:p>
        </p:txBody>
      </p:sp>
      <p:sp>
        <p:nvSpPr>
          <p:cNvPr id="23" name="Text 18"/>
          <p:cNvSpPr txBox="1"/>
          <p:nvPr/>
        </p:nvSpPr>
        <p:spPr>
          <a:xfrm>
            <a:off x="1018641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joins; 3 of 4 games filled</a:t>
            </a:r>
            <a:endParaRPr lang="en-US" sz="1050" dirty="0"/>
          </a:p>
        </p:txBody>
      </p:sp>
      <p:sp>
        <p:nvSpPr>
          <p:cNvPr id="24" name="Shape 19"/>
          <p:cNvSpPr/>
          <p:nvPr/>
        </p:nvSpPr>
        <p:spPr>
          <a:xfrm>
            <a:off x="5669280" y="3236976"/>
            <a:ext cx="310896" cy="310896"/>
          </a:xfrm>
          <a:prstGeom prst="ellipse">
            <a:avLst/>
          </a:prstGeom>
          <a:solidFill>
            <a:srgbClr val="0A7F44"/>
          </a:solidFill>
          <a:ln w="12700">
            <a:solidFill>
              <a:srgbClr val="0A7F44"/>
            </a:solidFill>
            <a:prstDash val="solid"/>
          </a:ln>
        </p:spPr>
      </p:sp>
      <p:sp>
        <p:nvSpPr>
          <p:cNvPr id="25" name="Text 20"/>
          <p:cNvSpPr txBox="1"/>
          <p:nvPr/>
        </p:nvSpPr>
        <p:spPr>
          <a:xfrm>
            <a:off x="5669280" y="323697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1</a:t>
            </a:r>
            <a:endParaRPr lang="en-US" sz="1150" dirty="0"/>
          </a:p>
        </p:txBody>
      </p:sp>
      <p:sp>
        <p:nvSpPr>
          <p:cNvPr id="26" name="Text 21"/>
          <p:cNvSpPr txBox="1"/>
          <p:nvPr/>
        </p:nvSpPr>
        <p:spPr>
          <a:xfrm>
            <a:off x="6126480" y="320040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An agent of their own</a:t>
            </a:r>
            <a:endParaRPr lang="en-US" sz="1400" dirty="0"/>
          </a:p>
        </p:txBody>
      </p:sp>
      <p:sp>
        <p:nvSpPr>
          <p:cNvPr id="27" name="Text 22"/>
          <p:cNvSpPr txBox="1"/>
          <p:nvPr/>
        </p:nvSpPr>
        <p:spPr>
          <a:xfrm>
            <a:off x="6126480" y="3502152"/>
            <a:ext cx="5486400" cy="548640"/>
          </a:xfrm>
          <a:prstGeom prst="rect">
            <a:avLst/>
          </a:prstGeom>
          <a:noFill/>
          <a:ln/>
        </p:spPr>
        <p:txBody>
          <a:bodyPr wrap="square" lIns="0" tIns="0" rIns="0" bIns="0" rtlCol="0" anchor="t"/>
          <a:lstStyle/>
          <a:p>
            <a:pPr indent="0" marL="0">
              <a:buNone/>
            </a:pPr>
            <a:r>
              <a:rPr lang="en-US" sz="1100" dirty="0">
                <a:solidFill>
                  <a:srgbClr val="55555C"/>
                </a:solidFill>
              </a:rPr>
              <a:t>Each player's agent runs in its own process on my server, with its own data folder; the club, its feed and its games are shared.</a:t>
            </a:r>
            <a:endParaRPr lang="en-US" sz="1100" dirty="0"/>
          </a:p>
        </p:txBody>
      </p:sp>
      <p:sp>
        <p:nvSpPr>
          <p:cNvPr id="28" name="Shape 23"/>
          <p:cNvSpPr/>
          <p:nvPr/>
        </p:nvSpPr>
        <p:spPr>
          <a:xfrm>
            <a:off x="5669280" y="4197096"/>
            <a:ext cx="310896" cy="310896"/>
          </a:xfrm>
          <a:prstGeom prst="ellipse">
            <a:avLst/>
          </a:prstGeom>
          <a:solidFill>
            <a:srgbClr val="0A7F44"/>
          </a:solidFill>
          <a:ln w="12700">
            <a:solidFill>
              <a:srgbClr val="0A7F44"/>
            </a:solidFill>
            <a:prstDash val="solid"/>
          </a:ln>
        </p:spPr>
      </p:sp>
      <p:sp>
        <p:nvSpPr>
          <p:cNvPr id="29" name="Text 24"/>
          <p:cNvSpPr txBox="1"/>
          <p:nvPr/>
        </p:nvSpPr>
        <p:spPr>
          <a:xfrm>
            <a:off x="5669280" y="419709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2</a:t>
            </a:r>
            <a:endParaRPr lang="en-US" sz="1150" dirty="0"/>
          </a:p>
        </p:txBody>
      </p:sp>
      <p:sp>
        <p:nvSpPr>
          <p:cNvPr id="30" name="Text 25"/>
          <p:cNvSpPr txBox="1"/>
          <p:nvPr/>
        </p:nvSpPr>
        <p:spPr>
          <a:xfrm>
            <a:off x="6126480" y="416052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Clubs anyone can start</a:t>
            </a:r>
            <a:endParaRPr lang="en-US" sz="1400" dirty="0"/>
          </a:p>
        </p:txBody>
      </p:sp>
      <p:sp>
        <p:nvSpPr>
          <p:cNvPr id="31" name="Text 26"/>
          <p:cNvSpPr txBox="1"/>
          <p:nvPr/>
        </p:nvSpPr>
        <p:spPr>
          <a:xfrm>
            <a:off x="6126480" y="4462272"/>
            <a:ext cx="5486400" cy="548640"/>
          </a:xfrm>
          <a:prstGeom prst="rect">
            <a:avLst/>
          </a:prstGeom>
          <a:noFill/>
          <a:ln/>
        </p:spPr>
        <p:txBody>
          <a:bodyPr wrap="square" lIns="0" tIns="0" rIns="0" bIns="0" rtlCol="0" anchor="t"/>
          <a:lstStyle/>
          <a:p>
            <a:pPr indent="0" marL="0">
              <a:buNone/>
            </a:pPr>
            <a:r>
              <a:rPr lang="en-US" sz="1100" dirty="0">
                <a:solidFill>
                  <a:srgbClr val="55555C"/>
                </a:solidFill>
              </a:rPr>
              <a:t>Public or private, on a real map; your agent recommends the nearest public one.</a:t>
            </a:r>
            <a:endParaRPr lang="en-US" sz="1100" dirty="0"/>
          </a:p>
        </p:txBody>
      </p:sp>
      <p:sp>
        <p:nvSpPr>
          <p:cNvPr id="32" name="Shape 27"/>
          <p:cNvSpPr/>
          <p:nvPr/>
        </p:nvSpPr>
        <p:spPr>
          <a:xfrm>
            <a:off x="5669280" y="5157216"/>
            <a:ext cx="310896" cy="310896"/>
          </a:xfrm>
          <a:prstGeom prst="ellipse">
            <a:avLst/>
          </a:prstGeom>
          <a:solidFill>
            <a:srgbClr val="0A7F44"/>
          </a:solidFill>
          <a:ln w="12700">
            <a:solidFill>
              <a:srgbClr val="0A7F44"/>
            </a:solidFill>
            <a:prstDash val="solid"/>
          </a:ln>
        </p:spPr>
      </p:sp>
      <p:sp>
        <p:nvSpPr>
          <p:cNvPr id="33" name="Text 28"/>
          <p:cNvSpPr txBox="1"/>
          <p:nvPr/>
        </p:nvSpPr>
        <p:spPr>
          <a:xfrm>
            <a:off x="5669280" y="515721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3</a:t>
            </a:r>
            <a:endParaRPr lang="en-US" sz="1150" dirty="0"/>
          </a:p>
        </p:txBody>
      </p:sp>
      <p:sp>
        <p:nvSpPr>
          <p:cNvPr id="34" name="Text 29"/>
          <p:cNvSpPr txBox="1"/>
          <p:nvPr/>
        </p:nvSpPr>
        <p:spPr>
          <a:xfrm>
            <a:off x="6126480" y="512064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Tell your agent the game</a:t>
            </a:r>
            <a:endParaRPr lang="en-US" sz="1400" dirty="0"/>
          </a:p>
        </p:txBody>
      </p:sp>
      <p:sp>
        <p:nvSpPr>
          <p:cNvPr id="35" name="Text 30"/>
          <p:cNvSpPr txBox="1"/>
          <p:nvPr/>
        </p:nvSpPr>
        <p:spPr>
          <a:xfrm>
            <a:off x="6126480" y="5422392"/>
            <a:ext cx="5486400" cy="548640"/>
          </a:xfrm>
          <a:prstGeom prst="rect">
            <a:avLst/>
          </a:prstGeom>
          <a:noFill/>
          <a:ln/>
        </p:spPr>
        <p:txBody>
          <a:bodyPr wrap="square" lIns="0" tIns="0" rIns="0" bIns="0" rtlCol="0" anchor="t"/>
          <a:lstStyle/>
          <a:p>
            <a:pPr indent="0" marL="0">
              <a:buNone/>
            </a:pPr>
            <a:r>
              <a:rPr lang="en-US" sz="1100" dirty="0">
                <a:solidFill>
                  <a:srgbClr val="55555C"/>
                </a:solidFill>
              </a:rPr>
              <a:t>"Saturday morning doubles, need 3": it drafts the invite with the nearest court and you tap Post. Share it as a link: anyone opens it and joins, no account needed first.</a:t>
            </a:r>
            <a:endParaRPr lang="en-US" sz="1100" dirty="0"/>
          </a:p>
        </p:txBody>
      </p:sp>
      <p:sp>
        <p:nvSpPr>
          <p:cNvPr id="36" name="Text 31"/>
          <p:cNvSpPr txBox="1"/>
          <p:nvPr/>
        </p:nvSpPr>
        <p:spPr>
          <a:xfrm>
            <a:off x="5669280" y="6053328"/>
            <a:ext cx="6035040" cy="365760"/>
          </a:xfrm>
          <a:prstGeom prst="rect">
            <a:avLst/>
          </a:prstGeom>
          <a:noFill/>
          <a:ln/>
        </p:spPr>
        <p:txBody>
          <a:bodyPr wrap="square" lIns="0" tIns="0" rIns="0" bIns="0" rtlCol="0" anchor="t"/>
          <a:lstStyle/>
          <a:p>
            <a:pPr indent="0" marL="0">
              <a:buNone/>
            </a:pPr>
            <a:r>
              <a:rPr lang="en-US" sz="1000" i="1" dirty="0">
                <a:solidFill>
                  <a:srgbClr val="55555C"/>
                </a:solidFill>
              </a:rPr>
              <a:t>Counted 30 Oct, day 4. Spond, Playtomic and Meetup post events or book courts; on Serve each player's agent agrees the time, so nobody runs the poll.</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COLD START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first friend needs no account</a:t>
            </a:r>
            <a:endParaRPr lang="en-US" sz="3200" dirty="0"/>
          </a:p>
        </p:txBody>
      </p:sp>
      <p:sp>
        <p:nvSpPr>
          <p:cNvPr id="5" name="Shape 2"/>
          <p:cNvSpPr/>
          <p:nvPr/>
        </p:nvSpPr>
        <p:spPr>
          <a:xfrm>
            <a:off x="548640" y="1783080"/>
            <a:ext cx="2606040" cy="3017520"/>
          </a:xfrm>
          <a:prstGeom prst="roundRect">
            <a:avLst>
              <a:gd name="adj" fmla="val 4211"/>
            </a:avLst>
          </a:prstGeom>
          <a:solidFill>
            <a:srgbClr val="F6F7F8"/>
          </a:solidFill>
          <a:ln w="12700">
            <a:solidFill>
              <a:srgbClr val="F6F7F8"/>
            </a:solidFill>
            <a:prstDash val="solid"/>
          </a:ln>
        </p:spPr>
      </p:sp>
      <p:sp>
        <p:nvSpPr>
          <p:cNvPr id="6" name="Shape 3"/>
          <p:cNvSpPr/>
          <p:nvPr/>
        </p:nvSpPr>
        <p:spPr>
          <a:xfrm>
            <a:off x="777240" y="2011680"/>
            <a:ext cx="457200" cy="457200"/>
          </a:xfrm>
          <a:prstGeom prst="ellipse">
            <a:avLst/>
          </a:prstGeom>
          <a:solidFill>
            <a:srgbClr val="0A7F44"/>
          </a:solidFill>
          <a:ln w="12700">
            <a:solidFill>
              <a:srgbClr val="0A7F44"/>
            </a:solidFill>
            <a:prstDash val="solid"/>
          </a:ln>
        </p:spPr>
      </p:sp>
      <p:sp>
        <p:nvSpPr>
          <p:cNvPr id="7" name="Text 4"/>
          <p:cNvSpPr txBox="1"/>
          <p:nvPr/>
        </p:nvSpPr>
        <p:spPr>
          <a:xfrm>
            <a:off x="777240"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8" name="Text 5"/>
          <p:cNvSpPr txBox="1"/>
          <p:nvPr/>
        </p:nvSpPr>
        <p:spPr>
          <a:xfrm>
            <a:off x="777240" y="2651760"/>
            <a:ext cx="2194560" cy="365760"/>
          </a:xfrm>
          <a:prstGeom prst="rect">
            <a:avLst/>
          </a:prstGeom>
          <a:noFill/>
          <a:ln/>
        </p:spPr>
        <p:txBody>
          <a:bodyPr wrap="square" lIns="0" tIns="0" rIns="0" bIns="0" rtlCol="0" anchor="t"/>
          <a:lstStyle/>
          <a:p>
            <a:pPr indent="0" marL="0">
              <a:buNone/>
            </a:pPr>
            <a:r>
              <a:rPr lang="en-US" sz="1700" b="1" dirty="0">
                <a:solidFill>
                  <a:srgbClr val="0A0A0B"/>
                </a:solidFill>
              </a:rPr>
              <a:t>Tell your agent</a:t>
            </a:r>
            <a:endParaRPr lang="en-US" sz="1700" dirty="0"/>
          </a:p>
        </p:txBody>
      </p:sp>
      <p:sp>
        <p:nvSpPr>
          <p:cNvPr id="9" name="Text 6"/>
          <p:cNvSpPr txBox="1"/>
          <p:nvPr/>
        </p:nvSpPr>
        <p:spPr>
          <a:xfrm>
            <a:off x="777240" y="3108960"/>
            <a:ext cx="2194560" cy="1554480"/>
          </a:xfrm>
          <a:prstGeom prst="rect">
            <a:avLst/>
          </a:prstGeom>
          <a:noFill/>
          <a:ln/>
        </p:spPr>
        <p:txBody>
          <a:bodyPr wrap="square" lIns="0" tIns="0" rIns="0" bIns="0" rtlCol="0" anchor="t"/>
          <a:lstStyle/>
          <a:p>
            <a:pPr indent="0" marL="0">
              <a:buNone/>
            </a:pPr>
            <a:r>
              <a:rPr lang="en-US" sz="1250" dirty="0">
                <a:solidFill>
                  <a:srgbClr val="55555C"/>
                </a:solidFill>
              </a:rPr>
              <a:t>"Saturday doubles, need 3": it drafts the invite with the nearest court. You tap Post.</a:t>
            </a:r>
            <a:endParaRPr lang="en-US" sz="1250" dirty="0"/>
          </a:p>
        </p:txBody>
      </p:sp>
      <p:sp>
        <p:nvSpPr>
          <p:cNvPr id="10" name="Shape 7"/>
          <p:cNvSpPr/>
          <p:nvPr/>
        </p:nvSpPr>
        <p:spPr>
          <a:xfrm>
            <a:off x="3172968" y="3291840"/>
            <a:ext cx="146304" cy="0"/>
          </a:xfrm>
          <a:prstGeom prst="line">
            <a:avLst/>
          </a:prstGeom>
          <a:noFill/>
          <a:ln w="22225">
            <a:solidFill>
              <a:srgbClr val="8A8A92"/>
            </a:solidFill>
            <a:prstDash val="solid"/>
            <a:tailEnd type="triangle"/>
          </a:ln>
        </p:spPr>
      </p:sp>
      <p:sp>
        <p:nvSpPr>
          <p:cNvPr id="11" name="Shape 8"/>
          <p:cNvSpPr/>
          <p:nvPr/>
        </p:nvSpPr>
        <p:spPr>
          <a:xfrm>
            <a:off x="3337560" y="1783080"/>
            <a:ext cx="2606040" cy="3017520"/>
          </a:xfrm>
          <a:prstGeom prst="roundRect">
            <a:avLst>
              <a:gd name="adj" fmla="val 4211"/>
            </a:avLst>
          </a:prstGeom>
          <a:solidFill>
            <a:srgbClr val="F6F7F8"/>
          </a:solidFill>
          <a:ln w="12700">
            <a:solidFill>
              <a:srgbClr val="F6F7F8"/>
            </a:solidFill>
            <a:prstDash val="solid"/>
          </a:ln>
        </p:spPr>
      </p:sp>
      <p:sp>
        <p:nvSpPr>
          <p:cNvPr id="12" name="Shape 9"/>
          <p:cNvSpPr/>
          <p:nvPr/>
        </p:nvSpPr>
        <p:spPr>
          <a:xfrm>
            <a:off x="3566160" y="2011680"/>
            <a:ext cx="457200" cy="457200"/>
          </a:xfrm>
          <a:prstGeom prst="ellipse">
            <a:avLst/>
          </a:prstGeom>
          <a:solidFill>
            <a:srgbClr val="0A7F44"/>
          </a:solidFill>
          <a:ln w="12700">
            <a:solidFill>
              <a:srgbClr val="0A7F44"/>
            </a:solidFill>
            <a:prstDash val="solid"/>
          </a:ln>
        </p:spPr>
      </p:sp>
      <p:sp>
        <p:nvSpPr>
          <p:cNvPr id="13" name="Text 10"/>
          <p:cNvSpPr txBox="1"/>
          <p:nvPr/>
        </p:nvSpPr>
        <p:spPr>
          <a:xfrm>
            <a:off x="3566160"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4" name="Text 11"/>
          <p:cNvSpPr txBox="1"/>
          <p:nvPr/>
        </p:nvSpPr>
        <p:spPr>
          <a:xfrm>
            <a:off x="3566160" y="2651760"/>
            <a:ext cx="2194560" cy="365760"/>
          </a:xfrm>
          <a:prstGeom prst="rect">
            <a:avLst/>
          </a:prstGeom>
          <a:noFill/>
          <a:ln/>
        </p:spPr>
        <p:txBody>
          <a:bodyPr wrap="square" lIns="0" tIns="0" rIns="0" bIns="0" rtlCol="0" anchor="t"/>
          <a:lstStyle/>
          <a:p>
            <a:pPr indent="0" marL="0">
              <a:buNone/>
            </a:pPr>
            <a:r>
              <a:rPr lang="en-US" sz="1700" b="1" dirty="0">
                <a:solidFill>
                  <a:srgbClr val="0A0A0B"/>
                </a:solidFill>
              </a:rPr>
              <a:t>Share the link</a:t>
            </a:r>
            <a:endParaRPr lang="en-US" sz="1700" dirty="0"/>
          </a:p>
        </p:txBody>
      </p:sp>
      <p:sp>
        <p:nvSpPr>
          <p:cNvPr id="15" name="Text 12"/>
          <p:cNvSpPr txBox="1"/>
          <p:nvPr/>
        </p:nvSpPr>
        <p:spPr>
          <a:xfrm>
            <a:off x="3566160" y="3108960"/>
            <a:ext cx="2194560" cy="1554480"/>
          </a:xfrm>
          <a:prstGeom prst="rect">
            <a:avLst/>
          </a:prstGeom>
          <a:noFill/>
          <a:ln/>
        </p:spPr>
        <p:txBody>
          <a:bodyPr wrap="square" lIns="0" tIns="0" rIns="0" bIns="0" rtlCol="0" anchor="t"/>
          <a:lstStyle/>
          <a:p>
            <a:pPr indent="0" marL="0">
              <a:buNone/>
            </a:pPr>
            <a:r>
              <a:rPr lang="en-US" sz="1250" dirty="0">
                <a:solidFill>
                  <a:srgbClr val="55555C"/>
                </a:solidFill>
              </a:rPr>
              <a:t>To any group chat. It opens with no account: the game, the place, the spots left, never who is going.</a:t>
            </a:r>
            <a:endParaRPr lang="en-US" sz="1250" dirty="0"/>
          </a:p>
        </p:txBody>
      </p:sp>
      <p:sp>
        <p:nvSpPr>
          <p:cNvPr id="16" name="Shape 13"/>
          <p:cNvSpPr/>
          <p:nvPr/>
        </p:nvSpPr>
        <p:spPr>
          <a:xfrm>
            <a:off x="5961888" y="3291840"/>
            <a:ext cx="146304" cy="0"/>
          </a:xfrm>
          <a:prstGeom prst="line">
            <a:avLst/>
          </a:prstGeom>
          <a:noFill/>
          <a:ln w="22225">
            <a:solidFill>
              <a:srgbClr val="8A8A92"/>
            </a:solidFill>
            <a:prstDash val="solid"/>
            <a:tailEnd type="triangle"/>
          </a:ln>
        </p:spPr>
      </p:sp>
      <p:sp>
        <p:nvSpPr>
          <p:cNvPr id="17" name="Shape 14"/>
          <p:cNvSpPr/>
          <p:nvPr/>
        </p:nvSpPr>
        <p:spPr>
          <a:xfrm>
            <a:off x="6126480" y="1783080"/>
            <a:ext cx="2606040" cy="3017520"/>
          </a:xfrm>
          <a:prstGeom prst="roundRect">
            <a:avLst>
              <a:gd name="adj" fmla="val 4211"/>
            </a:avLst>
          </a:prstGeom>
          <a:solidFill>
            <a:srgbClr val="F6F7F8"/>
          </a:solidFill>
          <a:ln w="12700">
            <a:solidFill>
              <a:srgbClr val="F6F7F8"/>
            </a:solidFill>
            <a:prstDash val="solid"/>
          </a:ln>
        </p:spPr>
      </p:sp>
      <p:sp>
        <p:nvSpPr>
          <p:cNvPr id="18" name="Shape 15"/>
          <p:cNvSpPr/>
          <p:nvPr/>
        </p:nvSpPr>
        <p:spPr>
          <a:xfrm>
            <a:off x="6355080" y="2011680"/>
            <a:ext cx="457200" cy="457200"/>
          </a:xfrm>
          <a:prstGeom prst="ellipse">
            <a:avLst/>
          </a:prstGeom>
          <a:solidFill>
            <a:srgbClr val="0A7F44"/>
          </a:solidFill>
          <a:ln w="12700">
            <a:solidFill>
              <a:srgbClr val="0A7F44"/>
            </a:solidFill>
            <a:prstDash val="solid"/>
          </a:ln>
        </p:spPr>
      </p:sp>
      <p:sp>
        <p:nvSpPr>
          <p:cNvPr id="19" name="Text 16"/>
          <p:cNvSpPr txBox="1"/>
          <p:nvPr/>
        </p:nvSpPr>
        <p:spPr>
          <a:xfrm>
            <a:off x="6355080"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20" name="Text 17"/>
          <p:cNvSpPr txBox="1"/>
          <p:nvPr/>
        </p:nvSpPr>
        <p:spPr>
          <a:xfrm>
            <a:off x="6355080" y="2651760"/>
            <a:ext cx="2194560" cy="365760"/>
          </a:xfrm>
          <a:prstGeom prst="rect">
            <a:avLst/>
          </a:prstGeom>
          <a:noFill/>
          <a:ln/>
        </p:spPr>
        <p:txBody>
          <a:bodyPr wrap="square" lIns="0" tIns="0" rIns="0" bIns="0" rtlCol="0" anchor="t"/>
          <a:lstStyle/>
          <a:p>
            <a:pPr indent="0" marL="0">
              <a:buNone/>
            </a:pPr>
            <a:r>
              <a:rPr lang="en-US" sz="1700" b="1" dirty="0">
                <a:solidFill>
                  <a:srgbClr val="0A0A0B"/>
                </a:solidFill>
              </a:rPr>
              <a:t>Tap Join</a:t>
            </a:r>
            <a:endParaRPr lang="en-US" sz="1700" dirty="0"/>
          </a:p>
        </p:txBody>
      </p:sp>
      <p:sp>
        <p:nvSpPr>
          <p:cNvPr id="21" name="Text 18"/>
          <p:cNvSpPr txBox="1"/>
          <p:nvPr/>
        </p:nvSpPr>
        <p:spPr>
          <a:xfrm>
            <a:off x="6355080" y="3108960"/>
            <a:ext cx="2194560" cy="1554480"/>
          </a:xfrm>
          <a:prstGeom prst="rect">
            <a:avLst/>
          </a:prstGeom>
          <a:noFill/>
          <a:ln/>
        </p:spPr>
        <p:txBody>
          <a:bodyPr wrap="square" lIns="0" tIns="0" rIns="0" bIns="0" rtlCol="0" anchor="t"/>
          <a:lstStyle/>
          <a:p>
            <a:pPr indent="0" marL="0">
              <a:buNone/>
            </a:pPr>
            <a:r>
              <a:rPr lang="en-US" sz="1250" dirty="0">
                <a:solidFill>
                  <a:srgbClr val="55555C"/>
                </a:solidFill>
              </a:rPr>
              <a:t>Sign in once (a demo sign-in for now: Facebook and Instagram login wait for Meta's app review) and the game is joined straight away.</a:t>
            </a:r>
            <a:endParaRPr lang="en-US" sz="1250" dirty="0"/>
          </a:p>
        </p:txBody>
      </p:sp>
      <p:sp>
        <p:nvSpPr>
          <p:cNvPr id="22" name="Shape 19"/>
          <p:cNvSpPr/>
          <p:nvPr/>
        </p:nvSpPr>
        <p:spPr>
          <a:xfrm>
            <a:off x="8750808" y="3291840"/>
            <a:ext cx="146304" cy="0"/>
          </a:xfrm>
          <a:prstGeom prst="line">
            <a:avLst/>
          </a:prstGeom>
          <a:noFill/>
          <a:ln w="22225">
            <a:solidFill>
              <a:srgbClr val="8A8A92"/>
            </a:solidFill>
            <a:prstDash val="solid"/>
            <a:tailEnd type="triangle"/>
          </a:ln>
        </p:spPr>
      </p:sp>
      <p:sp>
        <p:nvSpPr>
          <p:cNvPr id="23" name="Shape 20"/>
          <p:cNvSpPr/>
          <p:nvPr/>
        </p:nvSpPr>
        <p:spPr>
          <a:xfrm>
            <a:off x="8915400" y="1783080"/>
            <a:ext cx="2606040" cy="3017520"/>
          </a:xfrm>
          <a:prstGeom prst="roundRect">
            <a:avLst>
              <a:gd name="adj" fmla="val 4211"/>
            </a:avLst>
          </a:prstGeom>
          <a:solidFill>
            <a:srgbClr val="E9F3EC"/>
          </a:solidFill>
          <a:ln w="12700">
            <a:solidFill>
              <a:srgbClr val="E9F3EC"/>
            </a:solidFill>
            <a:prstDash val="solid"/>
          </a:ln>
        </p:spPr>
      </p:sp>
      <p:sp>
        <p:nvSpPr>
          <p:cNvPr id="24" name="Shape 21"/>
          <p:cNvSpPr/>
          <p:nvPr/>
        </p:nvSpPr>
        <p:spPr>
          <a:xfrm>
            <a:off x="9144000" y="2011680"/>
            <a:ext cx="457200" cy="457200"/>
          </a:xfrm>
          <a:prstGeom prst="ellipse">
            <a:avLst/>
          </a:prstGeom>
          <a:solidFill>
            <a:srgbClr val="0A7F44"/>
          </a:solidFill>
          <a:ln w="12700">
            <a:solidFill>
              <a:srgbClr val="0A7F44"/>
            </a:solidFill>
            <a:prstDash val="solid"/>
          </a:ln>
        </p:spPr>
      </p:sp>
      <p:sp>
        <p:nvSpPr>
          <p:cNvPr id="25" name="Text 22"/>
          <p:cNvSpPr txBox="1"/>
          <p:nvPr/>
        </p:nvSpPr>
        <p:spPr>
          <a:xfrm>
            <a:off x="9144000"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6" name="Text 23"/>
          <p:cNvSpPr txBox="1"/>
          <p:nvPr/>
        </p:nvSpPr>
        <p:spPr>
          <a:xfrm>
            <a:off x="9144000" y="2651760"/>
            <a:ext cx="2194560" cy="365760"/>
          </a:xfrm>
          <a:prstGeom prst="rect">
            <a:avLst/>
          </a:prstGeom>
          <a:noFill/>
          <a:ln/>
        </p:spPr>
        <p:txBody>
          <a:bodyPr wrap="square" lIns="0" tIns="0" rIns="0" bIns="0" rtlCol="0" anchor="t"/>
          <a:lstStyle/>
          <a:p>
            <a:pPr indent="0" marL="0">
              <a:buNone/>
            </a:pPr>
            <a:r>
              <a:rPr lang="en-US" sz="1700" b="1" dirty="0">
                <a:solidFill>
                  <a:srgbClr val="0A0A0B"/>
                </a:solidFill>
              </a:rPr>
              <a:t>Game on</a:t>
            </a:r>
            <a:endParaRPr lang="en-US" sz="1700" dirty="0"/>
          </a:p>
        </p:txBody>
      </p:sp>
      <p:sp>
        <p:nvSpPr>
          <p:cNvPr id="27" name="Text 24"/>
          <p:cNvSpPr txBox="1"/>
          <p:nvPr/>
        </p:nvSpPr>
        <p:spPr>
          <a:xfrm>
            <a:off x="9144000" y="3108960"/>
            <a:ext cx="2194560" cy="1554480"/>
          </a:xfrm>
          <a:prstGeom prst="rect">
            <a:avLst/>
          </a:prstGeom>
          <a:noFill/>
          <a:ln/>
        </p:spPr>
        <p:txBody>
          <a:bodyPr wrap="square" lIns="0" tIns="0" rIns="0" bIns="0" rtlCol="0" anchor="t"/>
          <a:lstStyle/>
          <a:p>
            <a:pPr indent="0" marL="0">
              <a:buNone/>
            </a:pPr>
            <a:r>
              <a:rPr lang="en-US" sz="1250" dirty="0">
                <a:solidFill>
                  <a:srgbClr val="55555C"/>
                </a:solidFill>
              </a:rPr>
              <a:t>The last spot taken, everyone in it hears "Game on". From then on, their own agent answers for them.</a:t>
            </a:r>
            <a:endParaRPr lang="en-US" sz="1250" dirty="0"/>
          </a:p>
        </p:txBody>
      </p:sp>
      <p:sp>
        <p:nvSpPr>
          <p:cNvPr id="28" name="Shape 25"/>
          <p:cNvSpPr/>
          <p:nvPr/>
        </p:nvSpPr>
        <p:spPr>
          <a:xfrm>
            <a:off x="548640" y="5029200"/>
            <a:ext cx="11064240" cy="1005840"/>
          </a:xfrm>
          <a:prstGeom prst="roundRect">
            <a:avLst>
              <a:gd name="adj" fmla="val 10909"/>
            </a:avLst>
          </a:prstGeom>
          <a:solidFill>
            <a:srgbClr val="FFFFFF"/>
          </a:solidFill>
          <a:ln w="12700">
            <a:solidFill>
              <a:srgbClr val="DCDCE0"/>
            </a:solidFill>
            <a:prstDash val="solid"/>
          </a:ln>
        </p:spPr>
      </p:sp>
      <p:sp>
        <p:nvSpPr>
          <p:cNvPr id="29" name="Text 26"/>
          <p:cNvSpPr txBox="1"/>
          <p:nvPr/>
        </p:nvSpPr>
        <p:spPr>
          <a:xfrm>
            <a:off x="777240" y="5029200"/>
            <a:ext cx="10607040" cy="1005840"/>
          </a:xfrm>
          <a:prstGeom prst="rect">
            <a:avLst/>
          </a:prstGeom>
          <a:noFill/>
          <a:ln/>
        </p:spPr>
        <p:txBody>
          <a:bodyPr wrap="square" lIns="0" tIns="0" rIns="0" bIns="0" rtlCol="0" anchor="ctr"/>
          <a:lstStyle/>
          <a:p>
            <a:pPr indent="0" marL="0">
              <a:buNone/>
            </a:pPr>
            <a:r>
              <a:rPr lang="en-US" sz="1300" b="1" dirty="0">
                <a:solidFill>
                  <a:srgbClr val="0A0A0B"/>
                </a:solidFill>
              </a:rPr>
              <a:t>Why it matters. </a:t>
            </a:r>
            <a:pPr indent="0" marL="0">
              <a:buNone/>
            </a:pPr>
            <a:r>
              <a:rPr lang="en-US" sz="1300" dirty="0">
                <a:solidFill>
                  <a:srgbClr val="0A0A0B"/>
                </a:solidFill>
              </a:rPr>
              <a:t>Agents agree games only between members, so the second player has to get in somehow: the link is that way in, and nobody has to install anything first. A private club's games never leave the club. Live on the public site since 29 Oct; the link page and the join are covered by tests.</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WHO ELSE IT SERVES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Games where no one has time to organize them</a:t>
            </a:r>
            <a:endParaRPr lang="en-US" sz="3200" dirty="0"/>
          </a:p>
        </p:txBody>
      </p:sp>
      <p:sp>
        <p:nvSpPr>
          <p:cNvPr id="5" name="Shape 2"/>
          <p:cNvSpPr/>
          <p:nvPr/>
        </p:nvSpPr>
        <p:spPr>
          <a:xfrm>
            <a:off x="548640" y="1691640"/>
            <a:ext cx="3566160" cy="4343400"/>
          </a:xfrm>
          <a:prstGeom prst="roundRect">
            <a:avLst>
              <a:gd name="adj" fmla="val 3077"/>
            </a:avLst>
          </a:prstGeom>
          <a:solidFill>
            <a:srgbClr val="FFFFFF"/>
          </a:solidFill>
          <a:ln w="12700">
            <a:solidFill>
              <a:srgbClr val="DCDCE0"/>
            </a:solidFill>
            <a:prstDash val="solid"/>
          </a:ln>
        </p:spPr>
      </p:sp>
      <p:sp>
        <p:nvSpPr>
          <p:cNvPr id="6" name="Text 3"/>
          <p:cNvSpPr txBox="1"/>
          <p:nvPr/>
        </p:nvSpPr>
        <p:spPr>
          <a:xfrm>
            <a:off x="777240" y="1874520"/>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CHILDREN</a:t>
            </a:r>
            <a:endParaRPr lang="en-US" sz="1000" dirty="0"/>
          </a:p>
        </p:txBody>
      </p:sp>
      <p:sp>
        <p:nvSpPr>
          <p:cNvPr id="7" name="Text 4"/>
          <p:cNvSpPr txBox="1"/>
          <p:nvPr/>
        </p:nvSpPr>
        <p:spPr>
          <a:xfrm>
            <a:off x="77724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A teacher or volunteer</a:t>
            </a:r>
            <a:endParaRPr lang="en-US" sz="1800" dirty="0"/>
          </a:p>
        </p:txBody>
      </p:sp>
      <p:sp>
        <p:nvSpPr>
          <p:cNvPr id="8" name="Text 5"/>
          <p:cNvSpPr txBox="1"/>
          <p:nvPr/>
        </p:nvSpPr>
        <p:spPr>
          <a:xfrm>
            <a:off x="77724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Private: parents and helpers join only when the organizer lets them in. Children have no accounts: first names only, seen by the organizer. Code shares out the courts in turns.</a:t>
            </a:r>
            <a:endParaRPr lang="en-US" sz="1250" dirty="0"/>
          </a:p>
        </p:txBody>
      </p:sp>
      <p:sp>
        <p:nvSpPr>
          <p:cNvPr id="9" name="Shape 6"/>
          <p:cNvSpPr/>
          <p:nvPr/>
        </p:nvSpPr>
        <p:spPr>
          <a:xfrm>
            <a:off x="777240" y="4480560"/>
            <a:ext cx="3108960" cy="1325880"/>
          </a:xfrm>
          <a:prstGeom prst="roundRect">
            <a:avLst>
              <a:gd name="adj" fmla="val 8276"/>
            </a:avLst>
          </a:prstGeom>
          <a:solidFill>
            <a:srgbClr val="E9F3EC"/>
          </a:solidFill>
          <a:ln w="12700">
            <a:solidFill>
              <a:srgbClr val="E9F3EC"/>
            </a:solidFill>
            <a:prstDash val="solid"/>
          </a:ln>
        </p:spPr>
      </p:sp>
      <p:sp>
        <p:nvSpPr>
          <p:cNvPr id="10" name="Text 7"/>
          <p:cNvSpPr txBox="1"/>
          <p:nvPr/>
        </p:nvSpPr>
        <p:spPr>
          <a:xfrm>
            <a:off x="91440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11 children, 2 courts: everyone plays within one turn of the others. A pick-up note for parents.</a:t>
            </a:r>
            <a:endParaRPr lang="en-US" sz="1200" dirty="0"/>
          </a:p>
        </p:txBody>
      </p:sp>
      <p:sp>
        <p:nvSpPr>
          <p:cNvPr id="11" name="Shape 8"/>
          <p:cNvSpPr/>
          <p:nvPr/>
        </p:nvSpPr>
        <p:spPr>
          <a:xfrm>
            <a:off x="4297680" y="1691640"/>
            <a:ext cx="3566160" cy="4343400"/>
          </a:xfrm>
          <a:prstGeom prst="roundRect">
            <a:avLst>
              <a:gd name="adj" fmla="val 3077"/>
            </a:avLst>
          </a:prstGeom>
          <a:solidFill>
            <a:srgbClr val="FFFFFF"/>
          </a:solidFill>
          <a:ln w="12700">
            <a:solidFill>
              <a:srgbClr val="DCDCE0"/>
            </a:solidFill>
            <a:prstDash val="solid"/>
          </a:ln>
        </p:spPr>
      </p:sp>
      <p:sp>
        <p:nvSpPr>
          <p:cNvPr id="12" name="Text 9"/>
          <p:cNvSpPr txBox="1"/>
          <p:nvPr/>
        </p:nvSpPr>
        <p:spPr>
          <a:xfrm>
            <a:off x="4526280" y="1874520"/>
            <a:ext cx="3108960" cy="228600"/>
          </a:xfrm>
          <a:prstGeom prst="rect">
            <a:avLst/>
          </a:prstGeom>
          <a:noFill/>
          <a:ln/>
        </p:spPr>
        <p:txBody>
          <a:bodyPr wrap="square" lIns="0" tIns="0" rIns="0" bIns="0" rtlCol="0" anchor="t"/>
          <a:lstStyle/>
          <a:p>
            <a:pPr indent="0" marL="0">
              <a:buNone/>
            </a:pPr>
            <a:r>
              <a:rPr lang="en-US" sz="1000" b="1" spc="100" kern="0" dirty="0">
                <a:solidFill>
                  <a:srgbClr val="0064E0"/>
                </a:solidFill>
              </a:rPr>
              <a:t>OLDER ADULTS</a:t>
            </a:r>
            <a:endParaRPr lang="en-US" sz="1000" dirty="0"/>
          </a:p>
        </p:txBody>
      </p:sp>
      <p:sp>
        <p:nvSpPr>
          <p:cNvPr id="13" name="Text 10"/>
          <p:cNvSpPr txBox="1"/>
          <p:nvPr/>
        </p:nvSpPr>
        <p:spPr>
          <a:xfrm>
            <a:off x="452628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Gentle games</a:t>
            </a:r>
            <a:endParaRPr lang="en-US" sz="1800" dirty="0"/>
          </a:p>
        </p:txBody>
      </p:sp>
      <p:sp>
        <p:nvSpPr>
          <p:cNvPr id="14" name="Text 11"/>
          <p:cNvSpPr txBox="1"/>
          <p:nvPr/>
        </p:nvSpPr>
        <p:spPr>
          <a:xfrm>
            <a:off x="452628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Every game posted in a gentle-games club is held by code: starts 08:00 to 16:00, 60 minutes, 8 players at most, doubles for racket sports.</a:t>
            </a:r>
            <a:endParaRPr lang="en-US" sz="1250" dirty="0"/>
          </a:p>
        </p:txBody>
      </p:sp>
      <p:sp>
        <p:nvSpPr>
          <p:cNvPr id="15" name="Shape 12"/>
          <p:cNvSpPr/>
          <p:nvPr/>
        </p:nvSpPr>
        <p:spPr>
          <a:xfrm>
            <a:off x="4526280" y="4480560"/>
            <a:ext cx="3108960" cy="1325880"/>
          </a:xfrm>
          <a:prstGeom prst="roundRect">
            <a:avLst>
              <a:gd name="adj" fmla="val 8276"/>
            </a:avLst>
          </a:prstGeom>
          <a:solidFill>
            <a:srgbClr val="E8F1FD"/>
          </a:solidFill>
          <a:ln w="12700">
            <a:solidFill>
              <a:srgbClr val="E8F1FD"/>
            </a:solidFill>
            <a:prstDash val="solid"/>
          </a:ln>
        </p:spPr>
      </p:sp>
      <p:sp>
        <p:nvSpPr>
          <p:cNvPr id="16" name="Text 13"/>
          <p:cNvSpPr txBox="1"/>
          <p:nvPr/>
        </p:nvSpPr>
        <p:spPr>
          <a:xfrm>
            <a:off x="466344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A 19:00 game is refused, with the reason. The card says "Gentle game · doubles, 60 min".</a:t>
            </a:r>
            <a:endParaRPr lang="en-US" sz="1200" dirty="0"/>
          </a:p>
        </p:txBody>
      </p:sp>
      <p:sp>
        <p:nvSpPr>
          <p:cNvPr id="17" name="Shape 14"/>
          <p:cNvSpPr/>
          <p:nvPr/>
        </p:nvSpPr>
        <p:spPr>
          <a:xfrm>
            <a:off x="8046720" y="1691640"/>
            <a:ext cx="3566160" cy="4343400"/>
          </a:xfrm>
          <a:prstGeom prst="roundRect">
            <a:avLst>
              <a:gd name="adj" fmla="val 3077"/>
            </a:avLst>
          </a:prstGeom>
          <a:solidFill>
            <a:srgbClr val="FFFFFF"/>
          </a:solidFill>
          <a:ln w="12700">
            <a:solidFill>
              <a:srgbClr val="DCDCE0"/>
            </a:solidFill>
            <a:prstDash val="solid"/>
          </a:ln>
        </p:spPr>
      </p:sp>
      <p:sp>
        <p:nvSpPr>
          <p:cNvPr id="18" name="Text 15"/>
          <p:cNvSpPr txBox="1"/>
          <p:nvPr/>
        </p:nvSpPr>
        <p:spPr>
          <a:xfrm>
            <a:off x="8275320" y="1874520"/>
            <a:ext cx="3108960" cy="228600"/>
          </a:xfrm>
          <a:prstGeom prst="rect">
            <a:avLst/>
          </a:prstGeom>
          <a:noFill/>
          <a:ln/>
        </p:spPr>
        <p:txBody>
          <a:bodyPr wrap="square" lIns="0" tIns="0" rIns="0" bIns="0" rtlCol="0" anchor="t"/>
          <a:lstStyle/>
          <a:p>
            <a:pPr indent="0" marL="0">
              <a:buNone/>
            </a:pPr>
            <a:r>
              <a:rPr lang="en-US" sz="1000" b="1" spc="100" kern="0" dirty="0">
                <a:solidFill>
                  <a:srgbClr val="B26A00"/>
                </a:solidFill>
              </a:rPr>
              <a:t>A CAUSE</a:t>
            </a:r>
            <a:endParaRPr lang="en-US" sz="1000" dirty="0"/>
          </a:p>
        </p:txBody>
      </p:sp>
      <p:sp>
        <p:nvSpPr>
          <p:cNvPr id="19" name="Text 16"/>
          <p:cNvSpPr txBox="1"/>
          <p:nvPr/>
        </p:nvSpPr>
        <p:spPr>
          <a:xfrm>
            <a:off x="827532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Charity cup</a:t>
            </a:r>
            <a:endParaRPr lang="en-US" sz="1800" dirty="0"/>
          </a:p>
        </p:txBody>
      </p:sp>
      <p:sp>
        <p:nvSpPr>
          <p:cNvPr id="20" name="Text 17"/>
          <p:cNvSpPr txBox="1"/>
          <p:nvPr/>
        </p:nvSpPr>
        <p:spPr>
          <a:xfrm>
            <a:off x="827532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Players enter with a level and a pledge to the cause, only recorded: Serve handles no money. The organizer makes the draw in one tap.</a:t>
            </a:r>
            <a:endParaRPr lang="en-US" sz="1250" dirty="0"/>
          </a:p>
        </p:txBody>
      </p:sp>
      <p:sp>
        <p:nvSpPr>
          <p:cNvPr id="21" name="Shape 18"/>
          <p:cNvSpPr/>
          <p:nvPr/>
        </p:nvSpPr>
        <p:spPr>
          <a:xfrm>
            <a:off x="8275320" y="4480560"/>
            <a:ext cx="3108960" cy="1325880"/>
          </a:xfrm>
          <a:prstGeom prst="roundRect">
            <a:avLst>
              <a:gd name="adj" fmla="val 8276"/>
            </a:avLst>
          </a:prstGeom>
          <a:solidFill>
            <a:srgbClr val="FBF3E6"/>
          </a:solidFill>
          <a:ln w="12700">
            <a:solidFill>
              <a:srgbClr val="FBF3E6"/>
            </a:solidFill>
            <a:prstDash val="solid"/>
          </a:ln>
        </p:spPr>
      </p:sp>
      <p:sp>
        <p:nvSpPr>
          <p:cNvPr id="22" name="Text 19"/>
          <p:cNvSpPr txBox="1"/>
          <p:nvPr/>
        </p:nvSpPr>
        <p:spPr>
          <a:xfrm>
            <a:off x="841248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Balanced doubles, a round robin on courts and times, no team twice in a slot; posted in the club.</a:t>
            </a:r>
            <a:endParaRPr lang="en-US" sz="1200" dirty="0"/>
          </a:p>
        </p:txBody>
      </p:sp>
      <p:sp>
        <p:nvSpPr>
          <p:cNvPr id="23" name="Text 20"/>
          <p:cNvSpPr txBox="1"/>
          <p:nvPr/>
        </p:nvSpPr>
        <p:spPr>
          <a:xfrm>
            <a:off x="548640" y="6144768"/>
            <a:ext cx="10972800" cy="274320"/>
          </a:xfrm>
          <a:prstGeom prst="rect">
            <a:avLst/>
          </a:prstGeom>
          <a:noFill/>
          <a:ln/>
        </p:spPr>
        <p:txBody>
          <a:bodyPr wrap="square" lIns="0" tIns="0" rIns="0" bIns="0" rtlCol="0" anchor="t"/>
          <a:lstStyle/>
          <a:p>
            <a:pPr indent="0" marL="0">
              <a:buNone/>
            </a:pPr>
            <a:r>
              <a:rPr lang="en-US" sz="1100" i="1" dirty="0">
                <a:solidFill>
                  <a:srgbClr val="55555C"/>
                </a:solidFill>
              </a:rPr>
              <a:t>All rules are code, checked in test/programs_unit.mjs. A new kind of group is a club, not a new agent.</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"Not after 22:00 on work nights"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games</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Usually one round: they mark times, code picks; a counter-offer if none fits</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 auto-cut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health data only sets scheduling limits, on my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577840" cy="4443230"/>
          </a:xfrm>
          <a:prstGeom prst="rect">
            <a:avLst/>
          </a:prstGeom>
        </p:spPr>
      </p:pic>
      <p:sp>
        <p:nvSpPr>
          <p:cNvPr id="6" name="Shape 2"/>
          <p:cNvSpPr/>
          <p:nvPr/>
        </p:nvSpPr>
        <p:spPr>
          <a:xfrm>
            <a:off x="548640" y="1691640"/>
            <a:ext cx="5577840" cy="4443230"/>
          </a:xfrm>
          <a:prstGeom prst="rect">
            <a:avLst/>
          </a:prstGeom>
          <a:ln w="12700">
            <a:solidFill>
              <a:srgbClr val="DCDCE0"/>
            </a:solidFill>
            <a:prstDash val="solid"/>
          </a:ln>
        </p:spPr>
      </p:sp>
      <p:sp>
        <p:nvSpPr>
          <p:cNvPr id="7" name="Text 3"/>
          <p:cNvSpPr txBox="1"/>
          <p:nvPr/>
        </p:nvSpPr>
        <p:spPr>
          <a:xfrm>
            <a:off x="548640" y="6245352"/>
            <a:ext cx="5577840" cy="228600"/>
          </a:xfrm>
          <a:prstGeom prst="rect">
            <a:avLst/>
          </a:prstGeom>
          <a:noFill/>
          <a:ln/>
        </p:spPr>
        <p:txBody>
          <a:bodyPr wrap="square" lIns="0" tIns="0" rIns="0" bIns="0" rtlCol="0" anchor="t"/>
          <a:lstStyle/>
          <a:p>
            <a:pPr indent="0" marL="0">
              <a:buNone/>
            </a:pPr>
            <a:r>
              <a:rPr lang="en-US" sz="1050" dirty="0">
                <a:solidFill>
                  <a:srgbClr val="55555C"/>
                </a:solidFill>
              </a:rPr>
              <a:t>Badminton: the venue in the middle (an earlier run than slide 10, on court 3)</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Basketball: public courts, judged with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usually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 a counter-offer only if none fits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reviews first; Google's are listed with a link, not stored</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Six Meta models carry the product (15 used in all)</a:t>
            </a:r>
            <a:endParaRPr lang="en-US" sz="3200" dirty="0"/>
          </a:p>
        </p:txBody>
      </p:sp>
      <p:sp>
        <p:nvSpPr>
          <p:cNvPr id="5" name="Shape 2"/>
          <p:cNvSpPr/>
          <p:nvPr/>
        </p:nvSpPr>
        <p:spPr>
          <a:xfrm>
            <a:off x="548640" y="1691640"/>
            <a:ext cx="3566160" cy="1645920"/>
          </a:xfrm>
          <a:prstGeom prst="roundRect">
            <a:avLst>
              <a:gd name="adj" fmla="val 6667"/>
            </a:avLst>
          </a:prstGeom>
          <a:solidFill>
            <a:srgbClr val="E9F3EC"/>
          </a:solidFill>
          <a:ln w="12700">
            <a:solidFill>
              <a:srgbClr val="E9F3EC"/>
            </a:solidFill>
            <a:prstDash val="solid"/>
          </a:ln>
        </p:spPr>
      </p:sp>
      <p:sp>
        <p:nvSpPr>
          <p:cNvPr id="6" name="Text 3"/>
          <p:cNvSpPr txBox="1"/>
          <p:nvPr/>
        </p:nvSpPr>
        <p:spPr>
          <a:xfrm>
            <a:off x="749808" y="1847088"/>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7" name="Text 4"/>
          <p:cNvSpPr txBox="1"/>
          <p:nvPr/>
        </p:nvSpPr>
        <p:spPr>
          <a:xfrm>
            <a:off x="749808" y="21031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Muse Glimmer</a:t>
            </a:r>
            <a:endParaRPr lang="en-US" sz="1700" dirty="0"/>
          </a:p>
        </p:txBody>
      </p:sp>
      <p:sp>
        <p:nvSpPr>
          <p:cNvPr id="8" name="Text 5"/>
          <p:cNvSpPr txBox="1"/>
          <p:nvPr/>
        </p:nvSpPr>
        <p:spPr>
          <a:xfrm>
            <a:off x="749808" y="2496312"/>
            <a:ext cx="3200400" cy="502920"/>
          </a:xfrm>
          <a:prstGeom prst="rect">
            <a:avLst/>
          </a:prstGeom>
          <a:noFill/>
          <a:ln/>
        </p:spPr>
        <p:txBody>
          <a:bodyPr wrap="square" lIns="0" tIns="0" rIns="0" bIns="0" rtlCol="0" anchor="t"/>
          <a:lstStyle/>
          <a:p>
            <a:pPr indent="0" marL="0">
              <a:buNone/>
            </a:pPr>
            <a:r>
              <a:rPr lang="en-US" sz="1200" dirty="0">
                <a:solidFill>
                  <a:srgbClr val="0A0A0B"/>
                </a:solidFill>
              </a:rPr>
              <a:t>Every agent's decisions: the tool loop, A2A answers, the court judge</a:t>
            </a:r>
            <a:endParaRPr lang="en-US" sz="1200" dirty="0"/>
          </a:p>
        </p:txBody>
      </p:sp>
      <p:sp>
        <p:nvSpPr>
          <p:cNvPr id="9" name="Text 6"/>
          <p:cNvSpPr txBox="1"/>
          <p:nvPr/>
        </p:nvSpPr>
        <p:spPr>
          <a:xfrm>
            <a:off x="749808" y="2999232"/>
            <a:ext cx="3200400" cy="228600"/>
          </a:xfrm>
          <a:prstGeom prst="rect">
            <a:avLst/>
          </a:prstGeom>
          <a:noFill/>
          <a:ln/>
        </p:spPr>
        <p:txBody>
          <a:bodyPr wrap="square" lIns="0" tIns="0" rIns="0" bIns="0" rtlCol="0" anchor="t"/>
          <a:lstStyle/>
          <a:p>
            <a:pPr indent="0" marL="0">
              <a:buNone/>
            </a:pPr>
            <a:r>
              <a:rPr lang="en-US" sz="1000" dirty="0">
                <a:solidFill>
                  <a:srgbClr val="55555C"/>
                </a:solidFill>
              </a:rPr>
              <a:t>RTX 3090 · Ollama · open weights</a:t>
            </a:r>
            <a:endParaRPr lang="en-US" sz="1000" dirty="0"/>
          </a:p>
        </p:txBody>
      </p:sp>
      <p:sp>
        <p:nvSpPr>
          <p:cNvPr id="10" name="Shape 7"/>
          <p:cNvSpPr/>
          <p:nvPr/>
        </p:nvSpPr>
        <p:spPr>
          <a:xfrm>
            <a:off x="4297680" y="1691640"/>
            <a:ext cx="3566160" cy="1645920"/>
          </a:xfrm>
          <a:prstGeom prst="roundRect">
            <a:avLst>
              <a:gd name="adj" fmla="val 6667"/>
            </a:avLst>
          </a:prstGeom>
          <a:solidFill>
            <a:srgbClr val="E9F3EC"/>
          </a:solidFill>
          <a:ln w="12700">
            <a:solidFill>
              <a:srgbClr val="E9F3EC"/>
            </a:solidFill>
            <a:prstDash val="solid"/>
          </a:ln>
        </p:spPr>
      </p:sp>
      <p:sp>
        <p:nvSpPr>
          <p:cNvPr id="11" name="Text 8"/>
          <p:cNvSpPr txBox="1"/>
          <p:nvPr/>
        </p:nvSpPr>
        <p:spPr>
          <a:xfrm>
            <a:off x="4498848" y="1847088"/>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12" name="Text 9"/>
          <p:cNvSpPr txBox="1"/>
          <p:nvPr/>
        </p:nvSpPr>
        <p:spPr>
          <a:xfrm>
            <a:off x="4498848" y="21031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Llama 3.2 1B student</a:t>
            </a:r>
            <a:endParaRPr lang="en-US" sz="1700" dirty="0"/>
          </a:p>
        </p:txBody>
      </p:sp>
      <p:sp>
        <p:nvSpPr>
          <p:cNvPr id="13" name="Text 10"/>
          <p:cNvSpPr txBox="1"/>
          <p:nvPr/>
        </p:nvSpPr>
        <p:spPr>
          <a:xfrm>
            <a:off x="4498848" y="2496312"/>
            <a:ext cx="3200400" cy="502920"/>
          </a:xfrm>
          <a:prstGeom prst="rect">
            <a:avLst/>
          </a:prstGeom>
          <a:noFill/>
          <a:ln/>
        </p:spPr>
        <p:txBody>
          <a:bodyPr wrap="square" lIns="0" tIns="0" rIns="0" bIns="0" rtlCol="0" anchor="t"/>
          <a:lstStyle/>
          <a:p>
            <a:pPr indent="0" marL="0">
              <a:buNone/>
            </a:pPr>
            <a:r>
              <a:rPr lang="en-US" sz="1200" dirty="0">
                <a:solidFill>
                  <a:srgbClr val="0A0A0B"/>
                </a:solidFill>
              </a:rPr>
              <a:t>Distilled from Glimmer; answers alone when sure, in about 0.9 s</a:t>
            </a:r>
            <a:endParaRPr lang="en-US" sz="1200" dirty="0"/>
          </a:p>
        </p:txBody>
      </p:sp>
      <p:sp>
        <p:nvSpPr>
          <p:cNvPr id="14" name="Text 11"/>
          <p:cNvSpPr txBox="1"/>
          <p:nvPr/>
        </p:nvSpPr>
        <p:spPr>
          <a:xfrm>
            <a:off x="4498848" y="29992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fine-tuned here</a:t>
            </a:r>
            <a:endParaRPr lang="en-US" sz="1000" dirty="0"/>
          </a:p>
        </p:txBody>
      </p:sp>
      <p:sp>
        <p:nvSpPr>
          <p:cNvPr id="15" name="Shape 12"/>
          <p:cNvSpPr/>
          <p:nvPr/>
        </p:nvSpPr>
        <p:spPr>
          <a:xfrm>
            <a:off x="8046720" y="1691640"/>
            <a:ext cx="3566160" cy="1645920"/>
          </a:xfrm>
          <a:prstGeom prst="roundRect">
            <a:avLst>
              <a:gd name="adj" fmla="val 6667"/>
            </a:avLst>
          </a:prstGeom>
          <a:solidFill>
            <a:srgbClr val="FBEAE9"/>
          </a:solidFill>
          <a:ln w="12700">
            <a:solidFill>
              <a:srgbClr val="FBEAE9"/>
            </a:solidFill>
            <a:prstDash val="solid"/>
          </a:ln>
        </p:spPr>
      </p:sp>
      <p:sp>
        <p:nvSpPr>
          <p:cNvPr id="16" name="Text 13"/>
          <p:cNvSpPr txBox="1"/>
          <p:nvPr/>
        </p:nvSpPr>
        <p:spPr>
          <a:xfrm>
            <a:off x="8247888" y="1847088"/>
            <a:ext cx="310896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17" name="Text 14"/>
          <p:cNvSpPr txBox="1"/>
          <p:nvPr/>
        </p:nvSpPr>
        <p:spPr>
          <a:xfrm>
            <a:off x="8247888" y="21031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Llama Guard 3 1B</a:t>
            </a:r>
            <a:endParaRPr lang="en-US" sz="1700" dirty="0"/>
          </a:p>
        </p:txBody>
      </p:sp>
      <p:sp>
        <p:nvSpPr>
          <p:cNvPr id="18" name="Text 15"/>
          <p:cNvSpPr txBox="1"/>
          <p:nvPr/>
        </p:nvSpPr>
        <p:spPr>
          <a:xfrm>
            <a:off x="8247888" y="2496312"/>
            <a:ext cx="3200400" cy="502920"/>
          </a:xfrm>
          <a:prstGeom prst="rect">
            <a:avLst/>
          </a:prstGeom>
          <a:noFill/>
          <a:ln/>
        </p:spPr>
        <p:txBody>
          <a:bodyPr wrap="square" lIns="0" tIns="0" rIns="0" bIns="0" rtlCol="0" anchor="t"/>
          <a:lstStyle/>
          <a:p>
            <a:pPr indent="0" marL="0">
              <a:buNone/>
            </a:pPr>
            <a:r>
              <a:rPr lang="en-US" sz="1200" dirty="0">
                <a:solidFill>
                  <a:srgbClr val="0A0A0B"/>
                </a:solidFill>
              </a:rPr>
              <a:t>Every message in and out, a person's or an agent's</a:t>
            </a:r>
            <a:endParaRPr lang="en-US" sz="1200" dirty="0"/>
          </a:p>
        </p:txBody>
      </p:sp>
      <p:sp>
        <p:nvSpPr>
          <p:cNvPr id="19" name="Text 16"/>
          <p:cNvSpPr txBox="1"/>
          <p:nvPr/>
        </p:nvSpPr>
        <p:spPr>
          <a:xfrm>
            <a:off x="8247888" y="29992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open weights</a:t>
            </a:r>
            <a:endParaRPr lang="en-US" sz="1000" dirty="0"/>
          </a:p>
        </p:txBody>
      </p:sp>
      <p:sp>
        <p:nvSpPr>
          <p:cNvPr id="20" name="Shape 17"/>
          <p:cNvSpPr/>
          <p:nvPr/>
        </p:nvSpPr>
        <p:spPr>
          <a:xfrm>
            <a:off x="548640" y="3520440"/>
            <a:ext cx="3566160" cy="1645920"/>
          </a:xfrm>
          <a:prstGeom prst="roundRect">
            <a:avLst>
              <a:gd name="adj" fmla="val 6667"/>
            </a:avLst>
          </a:prstGeom>
          <a:solidFill>
            <a:srgbClr val="FBEAE9"/>
          </a:solidFill>
          <a:ln w="12700">
            <a:solidFill>
              <a:srgbClr val="FBEAE9"/>
            </a:solidFill>
            <a:prstDash val="solid"/>
          </a:ln>
        </p:spPr>
      </p:sp>
      <p:sp>
        <p:nvSpPr>
          <p:cNvPr id="21" name="Text 18"/>
          <p:cNvSpPr txBox="1"/>
          <p:nvPr/>
        </p:nvSpPr>
        <p:spPr>
          <a:xfrm>
            <a:off x="749808" y="3675888"/>
            <a:ext cx="310896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22" name="Text 19"/>
          <p:cNvSpPr txBox="1"/>
          <p:nvPr/>
        </p:nvSpPr>
        <p:spPr>
          <a:xfrm>
            <a:off x="749808" y="39319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Prompt Guard 2</a:t>
            </a:r>
            <a:endParaRPr lang="en-US" sz="1700" dirty="0"/>
          </a:p>
        </p:txBody>
      </p:sp>
      <p:sp>
        <p:nvSpPr>
          <p:cNvPr id="23" name="Text 20"/>
          <p:cNvSpPr txBox="1"/>
          <p:nvPr/>
        </p:nvSpPr>
        <p:spPr>
          <a:xfrm>
            <a:off x="749808" y="4325112"/>
            <a:ext cx="3200400" cy="502920"/>
          </a:xfrm>
          <a:prstGeom prst="rect">
            <a:avLst/>
          </a:prstGeom>
          <a:noFill/>
          <a:ln/>
        </p:spPr>
        <p:txBody>
          <a:bodyPr wrap="square" lIns="0" tIns="0" rIns="0" bIns="0" rtlCol="0" anchor="t"/>
          <a:lstStyle/>
          <a:p>
            <a:pPr indent="0" marL="0">
              <a:buNone/>
            </a:pPr>
            <a:r>
              <a:rPr lang="en-US" sz="1200" dirty="0">
                <a:solidFill>
                  <a:srgbClr val="0A0A0B"/>
                </a:solidFill>
              </a:rPr>
              <a:t>Google reviews and members' ideas, before any model reads them</a:t>
            </a:r>
            <a:endParaRPr lang="en-US" sz="1200" dirty="0"/>
          </a:p>
        </p:txBody>
      </p:sp>
      <p:sp>
        <p:nvSpPr>
          <p:cNvPr id="24" name="Text 21"/>
          <p:cNvSpPr txBox="1"/>
          <p:nvPr/>
        </p:nvSpPr>
        <p:spPr>
          <a:xfrm>
            <a:off x="749808" y="48280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86M</a:t>
            </a:r>
            <a:endParaRPr lang="en-US" sz="1000" dirty="0"/>
          </a:p>
        </p:txBody>
      </p:sp>
      <p:sp>
        <p:nvSpPr>
          <p:cNvPr id="25" name="Shape 22"/>
          <p:cNvSpPr/>
          <p:nvPr/>
        </p:nvSpPr>
        <p:spPr>
          <a:xfrm>
            <a:off x="4297680" y="3520440"/>
            <a:ext cx="3566160" cy="1645920"/>
          </a:xfrm>
          <a:prstGeom prst="roundRect">
            <a:avLst>
              <a:gd name="adj" fmla="val 6667"/>
            </a:avLst>
          </a:prstGeom>
          <a:solidFill>
            <a:srgbClr val="E8F1FD"/>
          </a:solidFill>
          <a:ln w="12700">
            <a:solidFill>
              <a:srgbClr val="E8F1FD"/>
            </a:solidFill>
            <a:prstDash val="solid"/>
          </a:ln>
        </p:spPr>
      </p:sp>
      <p:sp>
        <p:nvSpPr>
          <p:cNvPr id="26" name="Text 23"/>
          <p:cNvSpPr txBox="1"/>
          <p:nvPr/>
        </p:nvSpPr>
        <p:spPr>
          <a:xfrm>
            <a:off x="4498848" y="3675888"/>
            <a:ext cx="3108960" cy="228600"/>
          </a:xfrm>
          <a:prstGeom prst="rect">
            <a:avLst/>
          </a:prstGeom>
          <a:noFill/>
          <a:ln/>
        </p:spPr>
        <p:txBody>
          <a:bodyPr wrap="square" lIns="0" tIns="0" rIns="0" bIns="0" rtlCol="0" anchor="t"/>
          <a:lstStyle/>
          <a:p>
            <a:pPr indent="0" marL="0">
              <a:buNone/>
            </a:pPr>
            <a:r>
              <a:rPr lang="en-US" sz="1000" b="1" spc="100" kern="0" dirty="0">
                <a:solidFill>
                  <a:srgbClr val="0064E0"/>
                </a:solidFill>
              </a:rPr>
              <a:t>MEMORY</a:t>
            </a:r>
            <a:endParaRPr lang="en-US" sz="1000" dirty="0"/>
          </a:p>
        </p:txBody>
      </p:sp>
      <p:sp>
        <p:nvSpPr>
          <p:cNvPr id="27" name="Text 24"/>
          <p:cNvSpPr txBox="1"/>
          <p:nvPr/>
        </p:nvSpPr>
        <p:spPr>
          <a:xfrm>
            <a:off x="4498848" y="39319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DRAMA</a:t>
            </a:r>
            <a:endParaRPr lang="en-US" sz="1700" dirty="0"/>
          </a:p>
        </p:txBody>
      </p:sp>
      <p:sp>
        <p:nvSpPr>
          <p:cNvPr id="28" name="Text 25"/>
          <p:cNvSpPr txBox="1"/>
          <p:nvPr/>
        </p:nvSpPr>
        <p:spPr>
          <a:xfrm>
            <a:off x="4498848" y="4325112"/>
            <a:ext cx="3200400" cy="502920"/>
          </a:xfrm>
          <a:prstGeom prst="rect">
            <a:avLst/>
          </a:prstGeom>
          <a:noFill/>
          <a:ln/>
        </p:spPr>
        <p:txBody>
          <a:bodyPr wrap="square" lIns="0" tIns="0" rIns="0" bIns="0" rtlCol="0" anchor="t"/>
          <a:lstStyle/>
          <a:p>
            <a:pPr indent="0" marL="0">
              <a:buNone/>
            </a:pPr>
            <a:r>
              <a:rPr lang="en-US" sz="1200" dirty="0">
                <a:solidFill>
                  <a:srgbClr val="0A0A0B"/>
                </a:solidFill>
              </a:rPr>
              <a:t>Agent memory: what matters for your week, found by meaning</a:t>
            </a:r>
            <a:endParaRPr lang="en-US" sz="1200" dirty="0"/>
          </a:p>
        </p:txBody>
      </p:sp>
      <p:sp>
        <p:nvSpPr>
          <p:cNvPr id="29" name="Text 26"/>
          <p:cNvSpPr txBox="1"/>
          <p:nvPr/>
        </p:nvSpPr>
        <p:spPr>
          <a:xfrm>
            <a:off x="4498848" y="48280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open weights</a:t>
            </a:r>
            <a:endParaRPr lang="en-US" sz="1000" dirty="0"/>
          </a:p>
        </p:txBody>
      </p:sp>
      <p:sp>
        <p:nvSpPr>
          <p:cNvPr id="30" name="Shape 27"/>
          <p:cNvSpPr/>
          <p:nvPr/>
        </p:nvSpPr>
        <p:spPr>
          <a:xfrm>
            <a:off x="8046720" y="3520440"/>
            <a:ext cx="3566160" cy="1645920"/>
          </a:xfrm>
          <a:prstGeom prst="roundRect">
            <a:avLst>
              <a:gd name="adj" fmla="val 6667"/>
            </a:avLst>
          </a:prstGeom>
          <a:solidFill>
            <a:srgbClr val="FBF3E6"/>
          </a:solidFill>
          <a:ln w="12700">
            <a:solidFill>
              <a:srgbClr val="FBF3E6"/>
            </a:solidFill>
            <a:prstDash val="solid"/>
          </a:ln>
        </p:spPr>
      </p:sp>
      <p:sp>
        <p:nvSpPr>
          <p:cNvPr id="31" name="Text 28"/>
          <p:cNvSpPr txBox="1"/>
          <p:nvPr/>
        </p:nvSpPr>
        <p:spPr>
          <a:xfrm>
            <a:off x="8247888" y="3675888"/>
            <a:ext cx="3108960" cy="228600"/>
          </a:xfrm>
          <a:prstGeom prst="rect">
            <a:avLst/>
          </a:prstGeom>
          <a:noFill/>
          <a:ln/>
        </p:spPr>
        <p:txBody>
          <a:bodyPr wrap="square" lIns="0" tIns="0" rIns="0" bIns="0" rtlCol="0" anchor="t"/>
          <a:lstStyle/>
          <a:p>
            <a:pPr indent="0" marL="0">
              <a:buNone/>
            </a:pPr>
            <a:r>
              <a:rPr lang="en-US" sz="1000" b="1" spc="100" kern="0" dirty="0">
                <a:solidFill>
                  <a:srgbClr val="B26A00"/>
                </a:solidFill>
              </a:rPr>
              <a:t>VOICE</a:t>
            </a:r>
            <a:endParaRPr lang="en-US" sz="1000" dirty="0"/>
          </a:p>
        </p:txBody>
      </p:sp>
      <p:sp>
        <p:nvSpPr>
          <p:cNvPr id="32" name="Text 29"/>
          <p:cNvSpPr txBox="1"/>
          <p:nvPr/>
        </p:nvSpPr>
        <p:spPr>
          <a:xfrm>
            <a:off x="8247888" y="39319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Muse Voice Transcribe</a:t>
            </a:r>
            <a:endParaRPr lang="en-US" sz="1700" dirty="0"/>
          </a:p>
        </p:txBody>
      </p:sp>
      <p:sp>
        <p:nvSpPr>
          <p:cNvPr id="33" name="Text 30"/>
          <p:cNvSpPr txBox="1"/>
          <p:nvPr/>
        </p:nvSpPr>
        <p:spPr>
          <a:xfrm>
            <a:off x="8247888" y="4325112"/>
            <a:ext cx="3200400" cy="502920"/>
          </a:xfrm>
          <a:prstGeom prst="rect">
            <a:avLst/>
          </a:prstGeom>
          <a:noFill/>
          <a:ln/>
        </p:spPr>
        <p:txBody>
          <a:bodyPr wrap="square" lIns="0" tIns="0" rIns="0" bIns="0" rtlCol="0" anchor="t"/>
          <a:lstStyle/>
          <a:p>
            <a:pPr indent="0" marL="0">
              <a:buNone/>
            </a:pPr>
            <a:r>
              <a:rPr lang="en-US" sz="1200" dirty="0">
                <a:solidFill>
                  <a:srgbClr val="0A0A0B"/>
                </a:solidFill>
              </a:rPr>
              <a:t>Talk to your agent hands-free, and cut in while it speaks</a:t>
            </a:r>
            <a:endParaRPr lang="en-US" sz="1200" dirty="0"/>
          </a:p>
        </p:txBody>
      </p:sp>
      <p:sp>
        <p:nvSpPr>
          <p:cNvPr id="34" name="Text 31"/>
          <p:cNvSpPr txBox="1"/>
          <p:nvPr/>
        </p:nvSpPr>
        <p:spPr>
          <a:xfrm>
            <a:off x="8247888" y="4828032"/>
            <a:ext cx="3200400" cy="228600"/>
          </a:xfrm>
          <a:prstGeom prst="rect">
            <a:avLst/>
          </a:prstGeom>
          <a:noFill/>
          <a:ln/>
        </p:spPr>
        <p:txBody>
          <a:bodyPr wrap="square" lIns="0" tIns="0" rIns="0" bIns="0" rtlCol="0" anchor="t"/>
          <a:lstStyle/>
          <a:p>
            <a:pPr indent="0" marL="0">
              <a:buNone/>
            </a:pPr>
            <a:r>
              <a:rPr lang="en-US" sz="1000" dirty="0">
                <a:solidFill>
                  <a:srgbClr val="55555C"/>
                </a:solidFill>
              </a:rPr>
              <a:t>Meta Model API · realtime</a:t>
            </a:r>
            <a:endParaRPr lang="en-US" sz="1000" dirty="0"/>
          </a:p>
        </p:txBody>
      </p:sp>
      <p:sp>
        <p:nvSpPr>
          <p:cNvPr id="35" name="Shape 32"/>
          <p:cNvSpPr/>
          <p:nvPr/>
        </p:nvSpPr>
        <p:spPr>
          <a:xfrm>
            <a:off x="548640" y="5440680"/>
            <a:ext cx="11064240" cy="777240"/>
          </a:xfrm>
          <a:prstGeom prst="roundRect">
            <a:avLst>
              <a:gd name="adj" fmla="val 14118"/>
            </a:avLst>
          </a:prstGeom>
          <a:solidFill>
            <a:srgbClr val="F6F7F8"/>
          </a:solidFill>
          <a:ln w="12700">
            <a:solidFill>
              <a:srgbClr val="F6F7F8"/>
            </a:solidFill>
            <a:prstDash val="solid"/>
          </a:ln>
        </p:spPr>
      </p:sp>
      <p:sp>
        <p:nvSpPr>
          <p:cNvPr id="36" name="Text 33"/>
          <p:cNvSpPr txBox="1"/>
          <p:nvPr/>
        </p:nvSpPr>
        <p:spPr>
          <a:xfrm>
            <a:off x="731520" y="5440680"/>
            <a:ext cx="10698480" cy="777240"/>
          </a:xfrm>
          <a:prstGeom prst="rect">
            <a:avLst/>
          </a:prstGeom>
          <a:noFill/>
          <a:ln/>
        </p:spPr>
        <p:txBody>
          <a:bodyPr wrap="square" lIns="0" tIns="0" rIns="0" bIns="0" rtlCol="0" anchor="ctr"/>
          <a:lstStyle/>
          <a:p>
            <a:pPr indent="0" marL="0">
              <a:buNone/>
            </a:pPr>
            <a:r>
              <a:rPr lang="en-US" sz="1200" b="1" dirty="0">
                <a:solidFill>
                  <a:srgbClr val="0A0A0B"/>
                </a:solidFill>
              </a:rPr>
              <a:t>Also: </a:t>
            </a:r>
            <a:pPr indent="0" marL="0">
              <a:buNone/>
            </a:pPr>
            <a:r>
              <a:rPr lang="en-US" sz="1200" dirty="0">
                <a:solidFill>
                  <a:srgbClr val="0A0A0B"/>
                </a:solidFill>
              </a:rPr>
              <a:t>DETR, Sapiens2, SAM 2.1, MapAnything (auto-cut highlights) · Omnilingual ASR (voice notes) · Muse Image (posters, agent faces) · Muse Spark (fallback) · Muse Wonder and SAM 3.1 (checks). Of the 15, 12 run in the product and 3 are checks; all 15 in the appendix.</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WHY EACH ONE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Take one away, and this is what breaks</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2560320"/>
                <a:gridCol w="7040880"/>
                <a:gridCol w="1463040"/>
              </a:tblGrid>
              <a:tr h="566928">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Without</a:t>
                      </a:r>
                      <a:endParaRPr lang="en-US" sz="11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What breaks</a:t>
                      </a:r>
                      <a:endParaRPr lang="en-US" sz="11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Evidence</a:t>
                      </a:r>
                      <a:endParaRPr lang="en-US" sz="11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Muse Glimmer</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No planner and no agent answers: the product does not run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by design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Llama 3.2 1B student</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Every member answer goes to Glimmer: about 40 s instead of 0.9 s, and 54–67% more Glimmer answers in simulated talks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measured</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DRAMA</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The right note comes first 0.35 of the time instead of 0.60 (word matching instead; 20 questions)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measured, small</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Llama Guard 3 1B</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Nothing reads every message in and out; code alone reads only plain words. With it: 37 of 42 unsafe refused, 1 of 74 harmless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by design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Prompt Guard 2</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Google reviews and members' ideas reach the models unscreened; poisoned reviews are among the 93 attacks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by design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Muse Voice Transcribe</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No talking hands-free and no cutting in while the agent speaks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by design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6" name="Text 2"/>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rgbClr val="55555C"/>
                </a:solidFill>
              </a:rPr>
              <a:t>"Measured": numbers from this entry's tests. "By design": what the code does without it.</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20% · FINE-TUNING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Muse Glimmer reasons a lot, so I trained a 1B student</a:t>
            </a:r>
            <a:endParaRPr lang="en-US" sz="3200" dirty="0"/>
          </a:p>
        </p:txBody>
      </p:sp>
      <p:sp>
        <p:nvSpPr>
          <p:cNvPr id="5" name="Text 2"/>
          <p:cNvSpPr txBox="1"/>
          <p:nvPr/>
        </p:nvSpPr>
        <p:spPr>
          <a:xfrm>
            <a:off x="548640" y="1645920"/>
            <a:ext cx="3840480" cy="228600"/>
          </a:xfrm>
          <a:prstGeom prst="rect">
            <a:avLst/>
          </a:prstGeom>
          <a:noFill/>
          <a:ln/>
        </p:spPr>
        <p:txBody>
          <a:bodyPr wrap="square" lIns="0" tIns="0" rIns="0" bIns="0" rtlCol="0" anchor="t"/>
          <a:lstStyle/>
          <a:p>
            <a:pPr indent="0" marL="0">
              <a:buNone/>
            </a:pPr>
            <a:r>
              <a:rPr lang="en-US" sz="1050" b="1" spc="100" kern="0" dirty="0">
                <a:solidFill>
                  <a:srgbClr val="D1352B"/>
                </a:solidFill>
              </a:rPr>
              <a:t>WHAT THE LEDGER SHOWED</a:t>
            </a:r>
            <a:endParaRPr lang="en-US" sz="1050" dirty="0"/>
          </a:p>
        </p:txBody>
      </p:sp>
      <p:sp>
        <p:nvSpPr>
          <p:cNvPr id="6" name="Shape 3"/>
          <p:cNvSpPr/>
          <p:nvPr/>
        </p:nvSpPr>
        <p:spPr>
          <a:xfrm>
            <a:off x="548640" y="1965960"/>
            <a:ext cx="384048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731520" y="1965960"/>
            <a:ext cx="1463040" cy="786384"/>
          </a:xfrm>
          <a:prstGeom prst="rect">
            <a:avLst/>
          </a:prstGeom>
          <a:noFill/>
          <a:ln/>
        </p:spPr>
        <p:txBody>
          <a:bodyPr wrap="square" lIns="0" tIns="0" rIns="0" bIns="0" rtlCol="0" anchor="ctr"/>
          <a:lstStyle/>
          <a:p>
            <a:pPr indent="0" marL="0">
              <a:buNone/>
            </a:pPr>
            <a:r>
              <a:rPr lang="en-US" sz="2800" b="1" dirty="0">
                <a:solidFill>
                  <a:srgbClr val="0A0A0B"/>
                </a:solidFill>
              </a:rPr>
              <a:t>2,755</a:t>
            </a:r>
            <a:endParaRPr lang="en-US" sz="2800" dirty="0"/>
          </a:p>
        </p:txBody>
      </p:sp>
      <p:sp>
        <p:nvSpPr>
          <p:cNvPr id="8" name="Text 5"/>
          <p:cNvSpPr txBox="1"/>
          <p:nvPr/>
        </p:nvSpPr>
        <p:spPr>
          <a:xfrm>
            <a:off x="2148840" y="1965960"/>
            <a:ext cx="2148840" cy="786384"/>
          </a:xfrm>
          <a:prstGeom prst="rect">
            <a:avLst/>
          </a:prstGeom>
          <a:noFill/>
          <a:ln/>
        </p:spPr>
        <p:txBody>
          <a:bodyPr wrap="square" lIns="0" tIns="0" rIns="0" bIns="0" rtlCol="0" anchor="ctr"/>
          <a:lstStyle/>
          <a:p>
            <a:pPr indent="0" marL="0">
              <a:buNone/>
            </a:pPr>
            <a:r>
              <a:rPr lang="en-US" sz="1100" dirty="0">
                <a:solidFill>
                  <a:srgbClr val="0A0A0B"/>
                </a:solidFill>
              </a:rPr>
              <a:t>Muse Glimmer calls in the evaluations' ledgers</a:t>
            </a:r>
            <a:endParaRPr lang="en-US" sz="1100" dirty="0"/>
          </a:p>
        </p:txBody>
      </p:sp>
      <p:sp>
        <p:nvSpPr>
          <p:cNvPr id="9" name="Shape 6"/>
          <p:cNvSpPr/>
          <p:nvPr/>
        </p:nvSpPr>
        <p:spPr>
          <a:xfrm>
            <a:off x="548640" y="2862072"/>
            <a:ext cx="3840480" cy="786384"/>
          </a:xfrm>
          <a:prstGeom prst="roundRect">
            <a:avLst>
              <a:gd name="adj" fmla="val 13953"/>
            </a:avLst>
          </a:prstGeom>
          <a:solidFill>
            <a:srgbClr val="FFFFFF"/>
          </a:solidFill>
          <a:ln w="12700">
            <a:solidFill>
              <a:srgbClr val="DCDCE0"/>
            </a:solidFill>
            <a:prstDash val="solid"/>
          </a:ln>
        </p:spPr>
      </p:sp>
      <p:sp>
        <p:nvSpPr>
          <p:cNvPr id="10" name="Text 7"/>
          <p:cNvSpPr txBox="1"/>
          <p:nvPr/>
        </p:nvSpPr>
        <p:spPr>
          <a:xfrm>
            <a:off x="731520" y="2862072"/>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84%</a:t>
            </a:r>
            <a:endParaRPr lang="en-US" sz="2800" dirty="0"/>
          </a:p>
        </p:txBody>
      </p:sp>
      <p:sp>
        <p:nvSpPr>
          <p:cNvPr id="11" name="Text 8"/>
          <p:cNvSpPr txBox="1"/>
          <p:nvPr/>
        </p:nvSpPr>
        <p:spPr>
          <a:xfrm>
            <a:off x="2148840" y="2862072"/>
            <a:ext cx="2148840" cy="786384"/>
          </a:xfrm>
          <a:prstGeom prst="rect">
            <a:avLst/>
          </a:prstGeom>
          <a:noFill/>
          <a:ln/>
        </p:spPr>
        <p:txBody>
          <a:bodyPr wrap="square" lIns="0" tIns="0" rIns="0" bIns="0" rtlCol="0" anchor="ctr"/>
          <a:lstStyle/>
          <a:p>
            <a:pPr indent="0" marL="0">
              <a:buNone/>
            </a:pPr>
            <a:r>
              <a:rPr lang="en-US" sz="1100" dirty="0">
                <a:solidFill>
                  <a:srgbClr val="0A0A0B"/>
                </a:solidFill>
              </a:rPr>
              <a:t>of its tokens were reasoning</a:t>
            </a:r>
            <a:endParaRPr lang="en-US" sz="1100" dirty="0"/>
          </a:p>
        </p:txBody>
      </p:sp>
      <p:sp>
        <p:nvSpPr>
          <p:cNvPr id="12" name="Shape 9"/>
          <p:cNvSpPr/>
          <p:nvPr/>
        </p:nvSpPr>
        <p:spPr>
          <a:xfrm>
            <a:off x="548640" y="3758184"/>
            <a:ext cx="3840480" cy="786384"/>
          </a:xfrm>
          <a:prstGeom prst="roundRect">
            <a:avLst>
              <a:gd name="adj" fmla="val 13953"/>
            </a:avLst>
          </a:prstGeom>
          <a:solidFill>
            <a:srgbClr val="FFFFFF"/>
          </a:solidFill>
          <a:ln w="12700">
            <a:solidFill>
              <a:srgbClr val="DCDCE0"/>
            </a:solidFill>
            <a:prstDash val="solid"/>
          </a:ln>
        </p:spPr>
      </p:sp>
      <p:sp>
        <p:nvSpPr>
          <p:cNvPr id="13" name="Text 10"/>
          <p:cNvSpPr txBox="1"/>
          <p:nvPr/>
        </p:nvSpPr>
        <p:spPr>
          <a:xfrm>
            <a:off x="731520" y="3758184"/>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9%</a:t>
            </a:r>
            <a:endParaRPr lang="en-US" sz="2800" dirty="0"/>
          </a:p>
        </p:txBody>
      </p:sp>
      <p:sp>
        <p:nvSpPr>
          <p:cNvPr id="14" name="Text 11"/>
          <p:cNvSpPr txBox="1"/>
          <p:nvPr/>
        </p:nvSpPr>
        <p:spPr>
          <a:xfrm>
            <a:off x="2148840" y="3758184"/>
            <a:ext cx="2148840" cy="786384"/>
          </a:xfrm>
          <a:prstGeom prst="rect">
            <a:avLst/>
          </a:prstGeom>
          <a:noFill/>
          <a:ln/>
        </p:spPr>
        <p:txBody>
          <a:bodyPr wrap="square" lIns="0" tIns="0" rIns="0" bIns="0" rtlCol="0" anchor="ctr"/>
          <a:lstStyle/>
          <a:p>
            <a:pPr indent="0" marL="0">
              <a:buNone/>
            </a:pPr>
            <a:r>
              <a:rPr lang="en-US" sz="1100" dirty="0">
                <a:solidFill>
                  <a:srgbClr val="0A0A0B"/>
                </a:solidFill>
              </a:rPr>
              <a:t>came back empty: thinking off, it still reasoned in a hidden channel</a:t>
            </a:r>
            <a:endParaRPr lang="en-US" sz="1100" dirty="0"/>
          </a:p>
        </p:txBody>
      </p:sp>
      <p:sp>
        <p:nvSpPr>
          <p:cNvPr id="15" name="Shape 12"/>
          <p:cNvSpPr/>
          <p:nvPr/>
        </p:nvSpPr>
        <p:spPr>
          <a:xfrm>
            <a:off x="548640" y="4709160"/>
            <a:ext cx="3840480" cy="1463040"/>
          </a:xfrm>
          <a:prstGeom prst="roundRect">
            <a:avLst>
              <a:gd name="adj" fmla="val 7500"/>
            </a:avLst>
          </a:prstGeom>
          <a:solidFill>
            <a:srgbClr val="F6F7F8"/>
          </a:solidFill>
          <a:ln w="12700">
            <a:solidFill>
              <a:srgbClr val="F6F7F8"/>
            </a:solidFill>
            <a:prstDash val="solid"/>
          </a:ln>
        </p:spPr>
      </p:sp>
      <p:sp>
        <p:nvSpPr>
          <p:cNvPr id="16" name="Text 13"/>
          <p:cNvSpPr txBox="1"/>
          <p:nvPr/>
        </p:nvSpPr>
        <p:spPr>
          <a:xfrm>
            <a:off x="731520" y="4828032"/>
            <a:ext cx="3520440" cy="1280160"/>
          </a:xfrm>
          <a:prstGeom prst="rect">
            <a:avLst/>
          </a:prstGeom>
          <a:noFill/>
          <a:ln/>
        </p:spPr>
        <p:txBody>
          <a:bodyPr wrap="square" lIns="0" tIns="0" rIns="0" bIns="0" rtlCol="0" anchor="t"/>
          <a:lstStyle/>
          <a:p>
            <a:pPr indent="0" marL="0">
              <a:buNone/>
            </a:pPr>
            <a:r>
              <a:rPr lang="en-US" sz="1200" b="1" dirty="0">
                <a:solidFill>
                  <a:srgbClr val="0A0A0B"/>
                </a:solidFill>
              </a:rPr>
              <a:t>So every call asks for think: "low" and leaves room to reason. </a:t>
            </a:r>
            <a:pPr indent="0" marL="0">
              <a:buNone/>
            </a:pPr>
            <a:r>
              <a:rPr lang="en-US" sz="1200" dirty="0">
                <a:solidFill>
                  <a:srgbClr val="0A0A0B"/>
                </a:solidFill>
              </a:rPr>
              <a:t>And the most common choice, which time a member's agent picks, goes to a student that writes nothing.</a:t>
            </a:r>
            <a:endParaRPr lang="en-US" sz="1200" dirty="0"/>
          </a:p>
        </p:txBody>
      </p:sp>
      <p:sp>
        <p:nvSpPr>
          <p:cNvPr id="17" name="Shape 14"/>
          <p:cNvSpPr/>
          <p:nvPr/>
        </p:nvSpPr>
        <p:spPr>
          <a:xfrm>
            <a:off x="4480560" y="3291840"/>
            <a:ext cx="274320" cy="0"/>
          </a:xfrm>
          <a:prstGeom prst="line">
            <a:avLst/>
          </a:prstGeom>
          <a:noFill/>
          <a:ln w="31750">
            <a:solidFill>
              <a:srgbClr val="0A7F44"/>
            </a:solidFill>
            <a:prstDash val="solid"/>
            <a:tailEnd type="triangle"/>
          </a:ln>
        </p:spPr>
      </p:sp>
      <p:sp>
        <p:nvSpPr>
          <p:cNvPr id="18" name="Text 15"/>
          <p:cNvSpPr txBox="1"/>
          <p:nvPr/>
        </p:nvSpPr>
        <p:spPr>
          <a:xfrm>
            <a:off x="4892040" y="1645920"/>
            <a:ext cx="6675120" cy="228600"/>
          </a:xfrm>
          <a:prstGeom prst="rect">
            <a:avLst/>
          </a:prstGeom>
          <a:noFill/>
          <a:ln/>
        </p:spPr>
        <p:txBody>
          <a:bodyPr wrap="square" lIns="0" tIns="0" rIns="0" bIns="0" rtlCol="0" anchor="t"/>
          <a:lstStyle/>
          <a:p>
            <a:pPr indent="0" marL="0">
              <a:buNone/>
            </a:pPr>
            <a:r>
              <a:rPr lang="en-US" sz="1050" b="1" spc="100" kern="0" dirty="0">
                <a:solidFill>
                  <a:srgbClr val="0A7F44"/>
                </a:solidFill>
              </a:rPr>
              <a:t>THE STUDENT · META'S LLAMA 3.2 1B, FINE-TUNED</a:t>
            </a:r>
            <a:endParaRPr lang="en-US" sz="1050" dirty="0"/>
          </a:p>
        </p:txBody>
      </p:sp>
      <p:sp>
        <p:nvSpPr>
          <p:cNvPr id="19" name="Shape 16"/>
          <p:cNvSpPr/>
          <p:nvPr/>
        </p:nvSpPr>
        <p:spPr>
          <a:xfrm>
            <a:off x="4892040" y="1965960"/>
            <a:ext cx="3273552" cy="1645920"/>
          </a:xfrm>
          <a:prstGeom prst="roundRect">
            <a:avLst>
              <a:gd name="adj" fmla="val 6667"/>
            </a:avLst>
          </a:prstGeom>
          <a:solidFill>
            <a:srgbClr val="E9F3EC"/>
          </a:solidFill>
          <a:ln w="12700">
            <a:solidFill>
              <a:srgbClr val="E9F3EC"/>
            </a:solidFill>
            <a:prstDash val="solid"/>
          </a:ln>
        </p:spPr>
      </p:sp>
      <p:sp>
        <p:nvSpPr>
          <p:cNvPr id="20" name="Text 17"/>
          <p:cNvSpPr txBox="1"/>
          <p:nvPr/>
        </p:nvSpPr>
        <p:spPr>
          <a:xfrm>
            <a:off x="5056632" y="2103120"/>
            <a:ext cx="2971800" cy="320040"/>
          </a:xfrm>
          <a:prstGeom prst="rect">
            <a:avLst/>
          </a:prstGeom>
          <a:noFill/>
          <a:ln/>
        </p:spPr>
        <p:txBody>
          <a:bodyPr wrap="square" lIns="0" tIns="0" rIns="0" bIns="0" rtlCol="0" anchor="t"/>
          <a:lstStyle/>
          <a:p>
            <a:pPr indent="0" marL="0">
              <a:buNone/>
            </a:pPr>
            <a:r>
              <a:rPr lang="en-US" sz="1500" b="1" dirty="0">
                <a:solidFill>
                  <a:srgbClr val="0A0A0B"/>
                </a:solidFill>
              </a:rPr>
              <a:t>Teacher data</a:t>
            </a:r>
            <a:endParaRPr lang="en-US" sz="1500" dirty="0"/>
          </a:p>
        </p:txBody>
      </p:sp>
      <p:sp>
        <p:nvSpPr>
          <p:cNvPr id="21" name="Text 18"/>
          <p:cNvSpPr txBox="1"/>
          <p:nvPr/>
        </p:nvSpPr>
        <p:spPr>
          <a:xfrm>
            <a:off x="5056632" y="2514600"/>
            <a:ext cx="2971800" cy="960120"/>
          </a:xfrm>
          <a:prstGeom prst="rect">
            <a:avLst/>
          </a:prstGeom>
          <a:noFill/>
          <a:ln/>
        </p:spPr>
        <p:txBody>
          <a:bodyPr wrap="square" lIns="0" tIns="0" rIns="0" bIns="0" rtlCol="0" anchor="t"/>
          <a:lstStyle/>
          <a:p>
            <a:pPr indent="0" marL="0">
              <a:buNone/>
            </a:pPr>
            <a:r>
              <a:rPr lang="en-US" sz="1200" dirty="0">
                <a:solidFill>
                  <a:srgbClr val="0A0A0B"/>
                </a:solidFill>
              </a:rPr>
              <a:t>4,868 choices Glimmer made through the real agent call (a separate A100 run); LoRA, 3 epochs, 20 minutes</a:t>
            </a:r>
            <a:endParaRPr lang="en-US" sz="1200" dirty="0"/>
          </a:p>
        </p:txBody>
      </p:sp>
      <p:sp>
        <p:nvSpPr>
          <p:cNvPr id="22" name="Shape 19"/>
          <p:cNvSpPr/>
          <p:nvPr/>
        </p:nvSpPr>
        <p:spPr>
          <a:xfrm>
            <a:off x="8275320" y="1965960"/>
            <a:ext cx="3273552" cy="1645920"/>
          </a:xfrm>
          <a:prstGeom prst="roundRect">
            <a:avLst>
              <a:gd name="adj" fmla="val 6667"/>
            </a:avLst>
          </a:prstGeom>
          <a:solidFill>
            <a:srgbClr val="E9F3EC"/>
          </a:solidFill>
          <a:ln w="12700">
            <a:solidFill>
              <a:srgbClr val="E9F3EC"/>
            </a:solidFill>
            <a:prstDash val="solid"/>
          </a:ln>
        </p:spPr>
      </p:sp>
      <p:sp>
        <p:nvSpPr>
          <p:cNvPr id="23" name="Text 20"/>
          <p:cNvSpPr txBox="1"/>
          <p:nvPr/>
        </p:nvSpPr>
        <p:spPr>
          <a:xfrm>
            <a:off x="8439912" y="2103120"/>
            <a:ext cx="2971800" cy="320040"/>
          </a:xfrm>
          <a:prstGeom prst="rect">
            <a:avLst/>
          </a:prstGeom>
          <a:noFill/>
          <a:ln/>
        </p:spPr>
        <p:txBody>
          <a:bodyPr wrap="square" lIns="0" tIns="0" rIns="0" bIns="0" rtlCol="0" anchor="t"/>
          <a:lstStyle/>
          <a:p>
            <a:pPr indent="0" marL="0">
              <a:buNone/>
            </a:pPr>
            <a:r>
              <a:rPr lang="en-US" sz="1500" b="1" dirty="0">
                <a:solidFill>
                  <a:srgbClr val="0A0A0B"/>
                </a:solidFill>
              </a:rPr>
              <a:t>int4 on the CPU</a:t>
            </a:r>
            <a:endParaRPr lang="en-US" sz="1500" dirty="0"/>
          </a:p>
        </p:txBody>
      </p:sp>
      <p:sp>
        <p:nvSpPr>
          <p:cNvPr id="24" name="Text 21"/>
          <p:cNvSpPr txBox="1"/>
          <p:nvPr/>
        </p:nvSpPr>
        <p:spPr>
          <a:xfrm>
            <a:off x="8439912" y="2514600"/>
            <a:ext cx="2971800" cy="960120"/>
          </a:xfrm>
          <a:prstGeom prst="rect">
            <a:avLst/>
          </a:prstGeom>
          <a:noFill/>
          <a:ln/>
        </p:spPr>
        <p:txBody>
          <a:bodyPr wrap="square" lIns="0" tIns="0" rIns="0" bIns="0" rtlCol="0" anchor="t"/>
          <a:lstStyle/>
          <a:p>
            <a:pPr indent="0" marL="0">
              <a:buNone/>
            </a:pPr>
            <a:r>
              <a:rPr lang="en-US" sz="1200" dirty="0">
                <a:solidFill>
                  <a:srgbClr val="0A0A0B"/>
                </a:solidFill>
              </a:rPr>
              <a:t>0.8 GB; one pass gives a probability per option, about 0.9 s a decision, no text written</a:t>
            </a:r>
            <a:endParaRPr lang="en-US" sz="1200" dirty="0"/>
          </a:p>
        </p:txBody>
      </p:sp>
      <p:graphicFrame>
        <p:nvGraphicFramePr>
          <p:cNvPr id="25" name="Chart 0" descr=""/>
          <p:cNvGraphicFramePr/>
          <p:nvPr/>
        </p:nvGraphicFramePr>
        <p:xfrm>
          <a:off x="4846320" y="3840480"/>
          <a:ext cx="4206240" cy="2377440"/>
        </p:xfrm>
        <a:graphic xmlns:a="http://schemas.openxmlformats.org/drawingml/2006/main">
          <a:graphicData uri="http://schemas.openxmlformats.org/drawingml/2006/chart">
            <c:chart xmlns:c="http://schemas.openxmlformats.org/drawingml/2006/chart" r:id="rId1"/>
          </a:graphicData>
        </a:graphic>
      </p:graphicFrame>
      <p:sp>
        <p:nvSpPr>
          <p:cNvPr id="26" name="Shape 22"/>
          <p:cNvSpPr/>
          <p:nvPr/>
        </p:nvSpPr>
        <p:spPr>
          <a:xfrm>
            <a:off x="9235440" y="3931920"/>
            <a:ext cx="2377440" cy="1024128"/>
          </a:xfrm>
          <a:prstGeom prst="roundRect">
            <a:avLst>
              <a:gd name="adj" fmla="val 10714"/>
            </a:avLst>
          </a:prstGeom>
          <a:solidFill>
            <a:srgbClr val="E9F3EC"/>
          </a:solidFill>
          <a:ln w="12700">
            <a:solidFill>
              <a:srgbClr val="E9F3EC"/>
            </a:solidFill>
            <a:prstDash val="solid"/>
          </a:ln>
        </p:spPr>
      </p:sp>
      <p:sp>
        <p:nvSpPr>
          <p:cNvPr id="27" name="Text 23"/>
          <p:cNvSpPr txBox="1"/>
          <p:nvPr/>
        </p:nvSpPr>
        <p:spPr>
          <a:xfrm>
            <a:off x="9372600" y="3986784"/>
            <a:ext cx="2148840" cy="457200"/>
          </a:xfrm>
          <a:prstGeom prst="rect">
            <a:avLst/>
          </a:prstGeom>
          <a:noFill/>
          <a:ln/>
        </p:spPr>
        <p:txBody>
          <a:bodyPr wrap="square" lIns="0" tIns="0" rIns="0" bIns="0" rtlCol="0" anchor="t"/>
          <a:lstStyle/>
          <a:p>
            <a:pPr indent="0" marL="0">
              <a:buNone/>
            </a:pPr>
            <a:r>
              <a:rPr lang="en-US" sz="2200" b="1" dirty="0">
                <a:solidFill>
                  <a:srgbClr val="0A7F44"/>
                </a:solidFill>
              </a:rPr>
              <a:t>54–67%</a:t>
            </a:r>
            <a:endParaRPr lang="en-US" sz="2200" dirty="0"/>
          </a:p>
        </p:txBody>
      </p:sp>
      <p:sp>
        <p:nvSpPr>
          <p:cNvPr id="28" name="Text 24"/>
          <p:cNvSpPr txBox="1"/>
          <p:nvPr/>
        </p:nvSpPr>
        <p:spPr>
          <a:xfrm>
            <a:off x="9372600" y="4462272"/>
            <a:ext cx="2148840" cy="457200"/>
          </a:xfrm>
          <a:prstGeom prst="rect">
            <a:avLst/>
          </a:prstGeom>
          <a:noFill/>
          <a:ln/>
        </p:spPr>
        <p:txBody>
          <a:bodyPr wrap="square" lIns="0" tIns="0" rIns="0" bIns="0" rtlCol="0" anchor="t"/>
          <a:lstStyle/>
          <a:p>
            <a:pPr indent="0" marL="0">
              <a:buNone/>
            </a:pPr>
            <a:r>
              <a:rPr lang="en-US" sz="1000" dirty="0">
                <a:solidFill>
                  <a:srgbClr val="55555C"/>
                </a:solidFill>
              </a:rPr>
              <a:t>fewer Glimmer answers in simulated talks; on the 500 test cases the student answers 96%</a:t>
            </a:r>
            <a:endParaRPr lang="en-US" sz="1000" dirty="0"/>
          </a:p>
        </p:txBody>
      </p:sp>
      <p:sp>
        <p:nvSpPr>
          <p:cNvPr id="29" name="Shape 25"/>
          <p:cNvSpPr/>
          <p:nvPr/>
        </p:nvSpPr>
        <p:spPr>
          <a:xfrm>
            <a:off x="9235440" y="5074920"/>
            <a:ext cx="2377440" cy="1024128"/>
          </a:xfrm>
          <a:prstGeom prst="roundRect">
            <a:avLst>
              <a:gd name="adj" fmla="val 10714"/>
            </a:avLst>
          </a:prstGeom>
          <a:solidFill>
            <a:srgbClr val="F6F7F8"/>
          </a:solidFill>
          <a:ln w="12700">
            <a:solidFill>
              <a:srgbClr val="F6F7F8"/>
            </a:solidFill>
            <a:prstDash val="solid"/>
          </a:ln>
        </p:spPr>
      </p:sp>
      <p:sp>
        <p:nvSpPr>
          <p:cNvPr id="30" name="Text 26"/>
          <p:cNvSpPr txBox="1"/>
          <p:nvPr/>
        </p:nvSpPr>
        <p:spPr>
          <a:xfrm>
            <a:off x="9372600" y="5129784"/>
            <a:ext cx="2148840" cy="457200"/>
          </a:xfrm>
          <a:prstGeom prst="rect">
            <a:avLst/>
          </a:prstGeom>
          <a:noFill/>
          <a:ln/>
        </p:spPr>
        <p:txBody>
          <a:bodyPr wrap="square" lIns="0" tIns="0" rIns="0" bIns="0" rtlCol="0" anchor="t"/>
          <a:lstStyle/>
          <a:p>
            <a:pPr indent="0" marL="0">
              <a:buNone/>
            </a:pPr>
            <a:r>
              <a:rPr lang="en-US" sz="2200" b="1" dirty="0">
                <a:solidFill>
                  <a:srgbClr val="0A0A0B"/>
                </a:solidFill>
              </a:rPr>
              <a:t>29 / 32</a:t>
            </a:r>
            <a:endParaRPr lang="en-US" sz="2200" dirty="0"/>
          </a:p>
        </p:txBody>
      </p:sp>
      <p:sp>
        <p:nvSpPr>
          <p:cNvPr id="31" name="Text 27"/>
          <p:cNvSpPr txBox="1"/>
          <p:nvPr/>
        </p:nvSpPr>
        <p:spPr>
          <a:xfrm>
            <a:off x="9372600" y="5605272"/>
            <a:ext cx="2148840" cy="457200"/>
          </a:xfrm>
          <a:prstGeom prst="rect">
            <a:avLst/>
          </a:prstGeom>
          <a:noFill/>
          <a:ln/>
        </p:spPr>
        <p:txBody>
          <a:bodyPr wrap="square" lIns="0" tIns="0" rIns="0" bIns="0" rtlCol="0" anchor="t"/>
          <a:lstStyle/>
          <a:p>
            <a:pPr indent="0" marL="0">
              <a:buNone/>
            </a:pPr>
            <a:r>
              <a:rPr lang="en-US" sz="1000" dirty="0">
                <a:solidFill>
                  <a:srgbClr val="55555C"/>
                </a:solidFill>
              </a:rPr>
              <a:t>stated preferences kept (Glimmer 27)</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THE CASCADE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When the student isn't sure, Muse Glimmer answers</a:t>
            </a:r>
            <a:endParaRPr lang="en-US" sz="3200" dirty="0"/>
          </a:p>
        </p:txBody>
      </p:sp>
      <p:sp>
        <p:nvSpPr>
          <p:cNvPr id="5" name="Shape 2"/>
          <p:cNvSpPr/>
          <p:nvPr/>
        </p:nvSpPr>
        <p:spPr>
          <a:xfrm>
            <a:off x="548640" y="1783080"/>
            <a:ext cx="1828800" cy="1143000"/>
          </a:xfrm>
          <a:prstGeom prst="roundRect">
            <a:avLst>
              <a:gd name="adj" fmla="val 9600"/>
            </a:avLst>
          </a:prstGeom>
          <a:solidFill>
            <a:srgbClr val="FFFFFF"/>
          </a:solidFill>
          <a:ln w="12700">
            <a:solidFill>
              <a:srgbClr val="DCDCE0"/>
            </a:solidFill>
            <a:prstDash val="solid"/>
          </a:ln>
        </p:spPr>
      </p:sp>
      <p:sp>
        <p:nvSpPr>
          <p:cNvPr id="6" name="Text 3"/>
          <p:cNvSpPr txBox="1"/>
          <p:nvPr/>
        </p:nvSpPr>
        <p:spPr>
          <a:xfrm>
            <a:off x="694944" y="1892808"/>
            <a:ext cx="1554480" cy="274320"/>
          </a:xfrm>
          <a:prstGeom prst="rect">
            <a:avLst/>
          </a:prstGeom>
          <a:noFill/>
          <a:ln/>
        </p:spPr>
        <p:txBody>
          <a:bodyPr wrap="square" lIns="0" tIns="0" rIns="0" bIns="0" rtlCol="0" anchor="t"/>
          <a:lstStyle/>
          <a:p>
            <a:pPr indent="0" marL="0">
              <a:buNone/>
            </a:pPr>
            <a:r>
              <a:rPr lang="en-US" sz="1350" b="1" dirty="0">
                <a:solidFill>
                  <a:srgbClr val="0A0A0B"/>
                </a:solidFill>
              </a:rPr>
              <a:t>Code first</a:t>
            </a:r>
            <a:endParaRPr lang="en-US" sz="1350" dirty="0"/>
          </a:p>
        </p:txBody>
      </p:sp>
      <p:sp>
        <p:nvSpPr>
          <p:cNvPr id="7" name="Text 4"/>
          <p:cNvSpPr txBox="1"/>
          <p:nvPr/>
        </p:nvSpPr>
        <p:spPr>
          <a:xfrm>
            <a:off x="694944" y="2185416"/>
            <a:ext cx="1554480" cy="685800"/>
          </a:xfrm>
          <a:prstGeom prst="rect">
            <a:avLst/>
          </a:prstGeom>
          <a:noFill/>
          <a:ln/>
        </p:spPr>
        <p:txBody>
          <a:bodyPr wrap="square" lIns="0" tIns="0" rIns="0" bIns="0" rtlCol="0" anchor="t"/>
          <a:lstStyle/>
          <a:p>
            <a:pPr indent="0" marL="0">
              <a:buNone/>
            </a:pPr>
            <a:r>
              <a:rPr lang="en-US" sz="1050" dirty="0">
                <a:solidFill>
                  <a:srgbClr val="55555C"/>
                </a:solidFill>
              </a:rPr>
              <a:t>Calendars and hard rules; one time left: answered, no model</a:t>
            </a:r>
            <a:endParaRPr lang="en-US" sz="1050" dirty="0"/>
          </a:p>
        </p:txBody>
      </p:sp>
      <p:sp>
        <p:nvSpPr>
          <p:cNvPr id="8" name="Shape 5"/>
          <p:cNvSpPr/>
          <p:nvPr/>
        </p:nvSpPr>
        <p:spPr>
          <a:xfrm>
            <a:off x="2395728" y="2350008"/>
            <a:ext cx="274320" cy="0"/>
          </a:xfrm>
          <a:prstGeom prst="line">
            <a:avLst/>
          </a:prstGeom>
          <a:noFill/>
          <a:ln w="22225">
            <a:solidFill>
              <a:srgbClr val="8A8A92"/>
            </a:solidFill>
            <a:prstDash val="solid"/>
            <a:tailEnd type="triangle"/>
          </a:ln>
        </p:spPr>
      </p:sp>
      <p:sp>
        <p:nvSpPr>
          <p:cNvPr id="9" name="Shape 6"/>
          <p:cNvSpPr/>
          <p:nvPr/>
        </p:nvSpPr>
        <p:spPr>
          <a:xfrm>
            <a:off x="2697480" y="1783080"/>
            <a:ext cx="2057400" cy="1143000"/>
          </a:xfrm>
          <a:prstGeom prst="roundRect">
            <a:avLst>
              <a:gd name="adj" fmla="val 9600"/>
            </a:avLst>
          </a:prstGeom>
          <a:solidFill>
            <a:srgbClr val="E9F3EC"/>
          </a:solidFill>
          <a:ln w="25400">
            <a:solidFill>
              <a:srgbClr val="0A7F44"/>
            </a:solidFill>
            <a:prstDash val="solid"/>
          </a:ln>
        </p:spPr>
      </p:sp>
      <p:sp>
        <p:nvSpPr>
          <p:cNvPr id="10" name="Text 7"/>
          <p:cNvSpPr txBox="1"/>
          <p:nvPr/>
        </p:nvSpPr>
        <p:spPr>
          <a:xfrm>
            <a:off x="2843784" y="1892808"/>
            <a:ext cx="1783080" cy="274320"/>
          </a:xfrm>
          <a:prstGeom prst="rect">
            <a:avLst/>
          </a:prstGeom>
          <a:noFill/>
          <a:ln/>
        </p:spPr>
        <p:txBody>
          <a:bodyPr wrap="square" lIns="0" tIns="0" rIns="0" bIns="0" rtlCol="0" anchor="t"/>
          <a:lstStyle/>
          <a:p>
            <a:pPr indent="0" marL="0">
              <a:buNone/>
            </a:pPr>
            <a:r>
              <a:rPr lang="en-US" sz="1350" b="1" dirty="0">
                <a:solidFill>
                  <a:srgbClr val="0A7F44"/>
                </a:solidFill>
              </a:rPr>
              <a:t>Llama 3.2 1B student</a:t>
            </a:r>
            <a:endParaRPr lang="en-US" sz="1350" dirty="0"/>
          </a:p>
        </p:txBody>
      </p:sp>
      <p:sp>
        <p:nvSpPr>
          <p:cNvPr id="11" name="Text 8"/>
          <p:cNvSpPr txBox="1"/>
          <p:nvPr/>
        </p:nvSpPr>
        <p:spPr>
          <a:xfrm>
            <a:off x="2843784" y="2185416"/>
            <a:ext cx="1783080" cy="685800"/>
          </a:xfrm>
          <a:prstGeom prst="rect">
            <a:avLst/>
          </a:prstGeom>
          <a:noFill/>
          <a:ln/>
        </p:spPr>
        <p:txBody>
          <a:bodyPr wrap="square" lIns="0" tIns="0" rIns="0" bIns="0" rtlCol="0" anchor="t"/>
          <a:lstStyle/>
          <a:p>
            <a:pPr indent="0" marL="0">
              <a:buNone/>
            </a:pPr>
            <a:r>
              <a:rPr lang="en-US" sz="1050" dirty="0">
                <a:solidFill>
                  <a:srgbClr val="55555C"/>
                </a:solidFill>
              </a:rPr>
              <a:t>int4 on the CPU, about 0.9 s, no text written</a:t>
            </a:r>
            <a:endParaRPr lang="en-US" sz="1050" dirty="0"/>
          </a:p>
        </p:txBody>
      </p:sp>
      <p:sp>
        <p:nvSpPr>
          <p:cNvPr id="12" name="Shape 9"/>
          <p:cNvSpPr/>
          <p:nvPr/>
        </p:nvSpPr>
        <p:spPr>
          <a:xfrm>
            <a:off x="4773168" y="2350008"/>
            <a:ext cx="274320" cy="0"/>
          </a:xfrm>
          <a:prstGeom prst="line">
            <a:avLst/>
          </a:prstGeom>
          <a:noFill/>
          <a:ln w="22225">
            <a:solidFill>
              <a:srgbClr val="8A8A92"/>
            </a:solidFill>
            <a:prstDash val="solid"/>
            <a:tailEnd type="triangle"/>
          </a:ln>
        </p:spPr>
      </p:sp>
      <p:sp>
        <p:nvSpPr>
          <p:cNvPr id="13" name="Shape 10"/>
          <p:cNvSpPr/>
          <p:nvPr/>
        </p:nvSpPr>
        <p:spPr>
          <a:xfrm>
            <a:off x="5074920" y="1600200"/>
            <a:ext cx="2240280" cy="1508760"/>
          </a:xfrm>
          <a:prstGeom prst="roundRect">
            <a:avLst>
              <a:gd name="adj" fmla="val 7273"/>
            </a:avLst>
          </a:prstGeom>
          <a:solidFill>
            <a:srgbClr val="FBF3E6"/>
          </a:solidFill>
          <a:ln w="12700">
            <a:solidFill>
              <a:srgbClr val="FBF3E6"/>
            </a:solidFill>
            <a:prstDash val="solid"/>
          </a:ln>
        </p:spPr>
      </p:sp>
      <p:sp>
        <p:nvSpPr>
          <p:cNvPr id="14" name="Text 11"/>
          <p:cNvSpPr txBox="1"/>
          <p:nvPr/>
        </p:nvSpPr>
        <p:spPr>
          <a:xfrm>
            <a:off x="5221224" y="1691640"/>
            <a:ext cx="2011680" cy="274320"/>
          </a:xfrm>
          <a:prstGeom prst="rect">
            <a:avLst/>
          </a:prstGeom>
          <a:noFill/>
          <a:ln/>
        </p:spPr>
        <p:txBody>
          <a:bodyPr wrap="square" lIns="0" tIns="0" rIns="0" bIns="0" rtlCol="0" anchor="t"/>
          <a:lstStyle/>
          <a:p>
            <a:pPr indent="0" marL="0">
              <a:buNone/>
            </a:pPr>
            <a:r>
              <a:rPr lang="en-US" sz="1300" b="1" dirty="0">
                <a:solidFill>
                  <a:srgbClr val="B26A00"/>
                </a:solidFill>
              </a:rPr>
              <a:t>Answers only if</a:t>
            </a:r>
            <a:endParaRPr lang="en-US" sz="1300" dirty="0"/>
          </a:p>
        </p:txBody>
      </p:sp>
      <p:sp>
        <p:nvSpPr>
          <p:cNvPr id="15" name="Text 12"/>
          <p:cNvSpPr txBox="1"/>
          <p:nvPr/>
        </p:nvSpPr>
        <p:spPr>
          <a:xfrm>
            <a:off x="5221224" y="1984248"/>
            <a:ext cx="2011680" cy="1097280"/>
          </a:xfrm>
          <a:prstGeom prst="rect">
            <a:avLst/>
          </a:prstGeom>
          <a:noFill/>
          <a:ln/>
        </p:spPr>
        <p:txBody>
          <a:bodyPr wrap="square" lIns="0" tIns="0" rIns="0" bIns="0" rtlCol="0" anchor="t"/>
          <a:lstStyle/>
          <a:p>
            <a:pPr marL="152400" indent="-152400">
              <a:buSzPct val="100000"/>
              <a:buChar char="•"/>
            </a:pPr>
            <a:r>
              <a:rPr lang="en-US" sz="1050" dirty="0">
                <a:solidFill>
                  <a:srgbClr val="0A0A0B"/>
                </a:solidFill>
              </a:rPr>
              <a:t>sure: 0.6 or more</a:t>
            </a:r>
            <a:endParaRPr lang="en-US" sz="1050" dirty="0"/>
          </a:p>
          <a:p>
            <a:pPr marL="152400" indent="-152400">
              <a:buSzPct val="100000"/>
              <a:buChar char="•"/>
            </a:pPr>
            <a:r>
              <a:rPr lang="en-US" sz="1050" dirty="0">
                <a:solidFill>
                  <a:srgbClr val="0A0A0B"/>
                </a:solidFill>
              </a:rPr>
              <a:t>its reading of which times work matches code's</a:t>
            </a:r>
            <a:endParaRPr lang="en-US" sz="1050" dirty="0"/>
          </a:p>
          <a:p>
            <a:pPr marL="152400" indent="-152400">
              <a:buSzPct val="100000"/>
              <a:buChar char="•"/>
            </a:pPr>
            <a:r>
              <a:rPr lang="en-US" sz="1050" dirty="0">
                <a:solidFill>
                  <a:srgbClr val="0A0A0B"/>
                </a:solidFill>
              </a:rPr>
              <a:t>the student is free within 8 s and answers within 20 s</a:t>
            </a:r>
            <a:endParaRPr lang="en-US" sz="1050" dirty="0"/>
          </a:p>
        </p:txBody>
      </p:sp>
      <p:sp>
        <p:nvSpPr>
          <p:cNvPr id="16" name="Shape 13"/>
          <p:cNvSpPr/>
          <p:nvPr/>
        </p:nvSpPr>
        <p:spPr>
          <a:xfrm>
            <a:off x="6190488" y="3127248"/>
            <a:ext cx="0" cy="411480"/>
          </a:xfrm>
          <a:prstGeom prst="line">
            <a:avLst/>
          </a:prstGeom>
          <a:noFill/>
          <a:ln w="22225">
            <a:solidFill>
              <a:srgbClr val="0A7F44"/>
            </a:solidFill>
            <a:prstDash val="solid"/>
            <a:tailEnd type="triangle"/>
          </a:ln>
        </p:spPr>
      </p:sp>
      <p:sp>
        <p:nvSpPr>
          <p:cNvPr id="17" name="Text 14"/>
          <p:cNvSpPr txBox="1"/>
          <p:nvPr/>
        </p:nvSpPr>
        <p:spPr>
          <a:xfrm>
            <a:off x="6263640" y="3172968"/>
            <a:ext cx="457200" cy="274320"/>
          </a:xfrm>
          <a:prstGeom prst="rect">
            <a:avLst/>
          </a:prstGeom>
          <a:noFill/>
          <a:ln/>
        </p:spPr>
        <p:txBody>
          <a:bodyPr wrap="square" lIns="0" tIns="0" rIns="0" bIns="0" rtlCol="0" anchor="t"/>
          <a:lstStyle/>
          <a:p>
            <a:pPr indent="0" marL="0">
              <a:buNone/>
            </a:pPr>
            <a:r>
              <a:rPr lang="en-US" sz="1050" b="1" dirty="0">
                <a:solidFill>
                  <a:srgbClr val="0A7F44"/>
                </a:solidFill>
              </a:rPr>
              <a:t>yes</a:t>
            </a:r>
            <a:endParaRPr lang="en-US" sz="1050" dirty="0"/>
          </a:p>
        </p:txBody>
      </p:sp>
      <p:sp>
        <p:nvSpPr>
          <p:cNvPr id="18" name="Shape 15"/>
          <p:cNvSpPr/>
          <p:nvPr/>
        </p:nvSpPr>
        <p:spPr>
          <a:xfrm>
            <a:off x="5074920" y="3566160"/>
            <a:ext cx="2240280" cy="960120"/>
          </a:xfrm>
          <a:prstGeom prst="roundRect">
            <a:avLst>
              <a:gd name="adj" fmla="val 11429"/>
            </a:avLst>
          </a:prstGeom>
          <a:solidFill>
            <a:srgbClr val="E9F3EC"/>
          </a:solidFill>
          <a:ln w="12700">
            <a:solidFill>
              <a:srgbClr val="E9F3EC"/>
            </a:solidFill>
            <a:prstDash val="solid"/>
          </a:ln>
        </p:spPr>
      </p:sp>
      <p:sp>
        <p:nvSpPr>
          <p:cNvPr id="19" name="Text 16"/>
          <p:cNvSpPr txBox="1"/>
          <p:nvPr/>
        </p:nvSpPr>
        <p:spPr>
          <a:xfrm>
            <a:off x="5221224" y="3675888"/>
            <a:ext cx="1965960" cy="274320"/>
          </a:xfrm>
          <a:prstGeom prst="rect">
            <a:avLst/>
          </a:prstGeom>
          <a:noFill/>
          <a:ln/>
        </p:spPr>
        <p:txBody>
          <a:bodyPr wrap="square" lIns="0" tIns="0" rIns="0" bIns="0" rtlCol="0" anchor="t"/>
          <a:lstStyle/>
          <a:p>
            <a:pPr indent="0" marL="0">
              <a:buNone/>
            </a:pPr>
            <a:r>
              <a:rPr lang="en-US" sz="1350" b="1" dirty="0">
                <a:solidFill>
                  <a:srgbClr val="0A7F44"/>
                </a:solidFill>
              </a:rPr>
              <a:t>The student answers</a:t>
            </a:r>
            <a:endParaRPr lang="en-US" sz="1350" dirty="0"/>
          </a:p>
        </p:txBody>
      </p:sp>
      <p:sp>
        <p:nvSpPr>
          <p:cNvPr id="20" name="Text 17"/>
          <p:cNvSpPr txBox="1"/>
          <p:nvPr/>
        </p:nvSpPr>
        <p:spPr>
          <a:xfrm>
            <a:off x="5221224" y="3968496"/>
            <a:ext cx="1965960" cy="502920"/>
          </a:xfrm>
          <a:prstGeom prst="rect">
            <a:avLst/>
          </a:prstGeom>
          <a:noFill/>
          <a:ln/>
        </p:spPr>
        <p:txBody>
          <a:bodyPr wrap="square" lIns="0" tIns="0" rIns="0" bIns="0" rtlCol="0" anchor="t"/>
          <a:lstStyle/>
          <a:p>
            <a:pPr indent="0" marL="0">
              <a:buNone/>
            </a:pPr>
            <a:r>
              <a:rPr lang="en-US" sz="1050" dirty="0">
                <a:solidFill>
                  <a:srgbClr val="55555C"/>
                </a:solidFill>
              </a:rPr>
              <a:t>about 0.9 s on the CPU, a Glimmer call saved</a:t>
            </a:r>
            <a:endParaRPr lang="en-US" sz="1050" dirty="0"/>
          </a:p>
        </p:txBody>
      </p:sp>
      <p:sp>
        <p:nvSpPr>
          <p:cNvPr id="21" name="Shape 18"/>
          <p:cNvSpPr/>
          <p:nvPr/>
        </p:nvSpPr>
        <p:spPr>
          <a:xfrm flipH="1">
            <a:off x="3264408" y="2697480"/>
            <a:ext cx="1792224" cy="850392"/>
          </a:xfrm>
          <a:prstGeom prst="line">
            <a:avLst/>
          </a:prstGeom>
          <a:noFill/>
          <a:ln w="22225">
            <a:solidFill>
              <a:srgbClr val="0064E0"/>
            </a:solidFill>
            <a:prstDash val="solid"/>
            <a:tailEnd type="triangle"/>
          </a:ln>
        </p:spPr>
      </p:sp>
      <p:sp>
        <p:nvSpPr>
          <p:cNvPr id="22" name="Text 19"/>
          <p:cNvSpPr txBox="1"/>
          <p:nvPr/>
        </p:nvSpPr>
        <p:spPr>
          <a:xfrm>
            <a:off x="3703320" y="3017520"/>
            <a:ext cx="457200" cy="274320"/>
          </a:xfrm>
          <a:prstGeom prst="rect">
            <a:avLst/>
          </a:prstGeom>
          <a:noFill/>
          <a:ln/>
        </p:spPr>
        <p:txBody>
          <a:bodyPr wrap="square" lIns="0" tIns="0" rIns="0" bIns="0" rtlCol="0" anchor="t"/>
          <a:lstStyle/>
          <a:p>
            <a:pPr indent="0" marL="0">
              <a:buNone/>
            </a:pPr>
            <a:r>
              <a:rPr lang="en-US" sz="1050" b="1" dirty="0">
                <a:solidFill>
                  <a:srgbClr val="0064E0"/>
                </a:solidFill>
              </a:rPr>
              <a:t>no</a:t>
            </a:r>
            <a:endParaRPr lang="en-US" sz="1050" dirty="0"/>
          </a:p>
        </p:txBody>
      </p:sp>
      <p:sp>
        <p:nvSpPr>
          <p:cNvPr id="23" name="Shape 20"/>
          <p:cNvSpPr/>
          <p:nvPr/>
        </p:nvSpPr>
        <p:spPr>
          <a:xfrm>
            <a:off x="1920240" y="3566160"/>
            <a:ext cx="2697480" cy="960120"/>
          </a:xfrm>
          <a:prstGeom prst="roundRect">
            <a:avLst>
              <a:gd name="adj" fmla="val 11429"/>
            </a:avLst>
          </a:prstGeom>
          <a:solidFill>
            <a:srgbClr val="E8F1FD"/>
          </a:solidFill>
          <a:ln w="25400">
            <a:solidFill>
              <a:srgbClr val="0064E0"/>
            </a:solidFill>
            <a:prstDash val="solid"/>
          </a:ln>
        </p:spPr>
      </p:sp>
      <p:sp>
        <p:nvSpPr>
          <p:cNvPr id="24" name="Text 21"/>
          <p:cNvSpPr txBox="1"/>
          <p:nvPr/>
        </p:nvSpPr>
        <p:spPr>
          <a:xfrm>
            <a:off x="2066544" y="3675888"/>
            <a:ext cx="2423160" cy="274320"/>
          </a:xfrm>
          <a:prstGeom prst="rect">
            <a:avLst/>
          </a:prstGeom>
          <a:noFill/>
          <a:ln/>
        </p:spPr>
        <p:txBody>
          <a:bodyPr wrap="square" lIns="0" tIns="0" rIns="0" bIns="0" rtlCol="0" anchor="t"/>
          <a:lstStyle/>
          <a:p>
            <a:pPr indent="0" marL="0">
              <a:buNone/>
            </a:pPr>
            <a:r>
              <a:rPr lang="en-US" sz="1350" b="1" dirty="0">
                <a:solidFill>
                  <a:srgbClr val="0064E0"/>
                </a:solidFill>
              </a:rPr>
              <a:t>Muse Glimmer reasons</a:t>
            </a:r>
            <a:endParaRPr lang="en-US" sz="1350" dirty="0"/>
          </a:p>
        </p:txBody>
      </p:sp>
      <p:sp>
        <p:nvSpPr>
          <p:cNvPr id="25" name="Text 22"/>
          <p:cNvSpPr txBox="1"/>
          <p:nvPr/>
        </p:nvSpPr>
        <p:spPr>
          <a:xfrm>
            <a:off x="2066544" y="3968496"/>
            <a:ext cx="2423160" cy="502920"/>
          </a:xfrm>
          <a:prstGeom prst="rect">
            <a:avLst/>
          </a:prstGeom>
          <a:noFill/>
          <a:ln/>
        </p:spPr>
        <p:txBody>
          <a:bodyPr wrap="square" lIns="0" tIns="0" rIns="0" bIns="0" rtlCol="0" anchor="t"/>
          <a:lstStyle/>
          <a:p>
            <a:pPr indent="0" marL="0">
              <a:buNone/>
            </a:pPr>
            <a:r>
              <a:rPr lang="en-US" sz="1050" dirty="0">
                <a:solidFill>
                  <a:srgbClr val="55555C"/>
                </a:solidFill>
              </a:rPr>
              <a:t>the full answer: about 600 tokens, 40 s at p50</a:t>
            </a:r>
            <a:endParaRPr lang="en-US" sz="1050" dirty="0"/>
          </a:p>
        </p:txBody>
      </p:sp>
      <p:sp>
        <p:nvSpPr>
          <p:cNvPr id="26" name="Shape 23"/>
          <p:cNvSpPr/>
          <p:nvPr/>
        </p:nvSpPr>
        <p:spPr>
          <a:xfrm>
            <a:off x="3264408" y="4544568"/>
            <a:ext cx="0" cy="320040"/>
          </a:xfrm>
          <a:prstGeom prst="line">
            <a:avLst/>
          </a:prstGeom>
          <a:noFill/>
          <a:ln w="22225">
            <a:solidFill>
              <a:srgbClr val="8A8A92"/>
            </a:solidFill>
            <a:prstDash val="solid"/>
            <a:tailEnd type="triangle"/>
          </a:ln>
        </p:spPr>
      </p:sp>
      <p:sp>
        <p:nvSpPr>
          <p:cNvPr id="27" name="Shape 24"/>
          <p:cNvSpPr/>
          <p:nvPr/>
        </p:nvSpPr>
        <p:spPr>
          <a:xfrm>
            <a:off x="6190488" y="4544568"/>
            <a:ext cx="0" cy="320040"/>
          </a:xfrm>
          <a:prstGeom prst="line">
            <a:avLst/>
          </a:prstGeom>
          <a:noFill/>
          <a:ln w="22225">
            <a:solidFill>
              <a:srgbClr val="8A8A92"/>
            </a:solidFill>
            <a:prstDash val="solid"/>
            <a:tailEnd type="triangle"/>
          </a:ln>
        </p:spPr>
      </p:sp>
      <p:sp>
        <p:nvSpPr>
          <p:cNvPr id="28" name="Shape 25"/>
          <p:cNvSpPr/>
          <p:nvPr/>
        </p:nvSpPr>
        <p:spPr>
          <a:xfrm>
            <a:off x="548640" y="4892040"/>
            <a:ext cx="6766560" cy="1280160"/>
          </a:xfrm>
          <a:prstGeom prst="roundRect">
            <a:avLst>
              <a:gd name="adj" fmla="val 8571"/>
            </a:avLst>
          </a:prstGeom>
          <a:solidFill>
            <a:srgbClr val="F6F7F8"/>
          </a:solidFill>
          <a:ln w="12700">
            <a:solidFill>
              <a:srgbClr val="F6F7F8"/>
            </a:solidFill>
            <a:prstDash val="solid"/>
          </a:ln>
        </p:spPr>
      </p:sp>
      <p:sp>
        <p:nvSpPr>
          <p:cNvPr id="29" name="Text 26"/>
          <p:cNvSpPr txBox="1"/>
          <p:nvPr/>
        </p:nvSpPr>
        <p:spPr>
          <a:xfrm>
            <a:off x="731520" y="5001768"/>
            <a:ext cx="6400800" cy="274320"/>
          </a:xfrm>
          <a:prstGeom prst="rect">
            <a:avLst/>
          </a:prstGeom>
          <a:noFill/>
          <a:ln/>
        </p:spPr>
        <p:txBody>
          <a:bodyPr wrap="square" lIns="0" tIns="0" rIns="0" bIns="0" rtlCol="0" anchor="t"/>
          <a:lstStyle/>
          <a:p>
            <a:pPr indent="0" marL="0">
              <a:buNone/>
            </a:pPr>
            <a:r>
              <a:rPr lang="en-US" sz="1350" b="1" dirty="0">
                <a:solidFill>
                  <a:srgbClr val="0A0A0B"/>
                </a:solidFill>
              </a:rPr>
              <a:t>Checked by code, then sent over A2A</a:t>
            </a:r>
            <a:endParaRPr lang="en-US" sz="1350" dirty="0"/>
          </a:p>
        </p:txBody>
      </p:sp>
      <p:sp>
        <p:nvSpPr>
          <p:cNvPr id="30" name="Text 27"/>
          <p:cNvSpPr txBox="1"/>
          <p:nvPr/>
        </p:nvSpPr>
        <p:spPr>
          <a:xfrm>
            <a:off x="731520" y="5303520"/>
            <a:ext cx="6400800" cy="822960"/>
          </a:xfrm>
          <a:prstGeom prst="rect">
            <a:avLst/>
          </a:prstGeom>
          <a:noFill/>
          <a:ln/>
        </p:spPr>
        <p:txBody>
          <a:bodyPr wrap="square" lIns="0" tIns="0" rIns="0" bIns="0" rtlCol="0" anchor="t"/>
          <a:lstStyle/>
          <a:p>
            <a:pPr indent="0" marL="0">
              <a:buNone/>
            </a:pPr>
            <a:r>
              <a:rPr lang="en-US" sz="1100" dirty="0">
                <a:solidFill>
                  <a:srgbClr val="55555C"/>
                </a:solidFill>
              </a:rPr>
              <a:t>Whoever answered, code checks the member's hard rules again before the decision goes to the other agent, labelled with the tier that made it. Agent chats shows it under every message. The week planned in the video took 78 s (13 Glimmer calls), in the background.</a:t>
            </a:r>
            <a:endParaRPr lang="en-US" sz="1100" dirty="0"/>
          </a:p>
        </p:txBody>
      </p:sp>
      <p:graphicFrame>
        <p:nvGraphicFramePr>
          <p:cNvPr id="31" name="Chart 0" descr=""/>
          <p:cNvGraphicFramePr/>
          <p:nvPr/>
        </p:nvGraphicFramePr>
        <p:xfrm>
          <a:off x="7589520" y="1600200"/>
          <a:ext cx="4069080" cy="32918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7589520" y="5029200"/>
            <a:ext cx="4069080" cy="1143000"/>
          </a:xfrm>
          <a:prstGeom prst="roundRect">
            <a:avLst>
              <a:gd name="adj" fmla="val 9600"/>
            </a:avLst>
          </a:prstGeom>
          <a:solidFill>
            <a:srgbClr val="E9F3EC"/>
          </a:solidFill>
          <a:ln w="12700">
            <a:solidFill>
              <a:srgbClr val="E9F3EC"/>
            </a:solidFill>
            <a:prstDash val="solid"/>
          </a:ln>
        </p:spPr>
      </p:sp>
      <p:sp>
        <p:nvSpPr>
          <p:cNvPr id="33" name="Text 29"/>
          <p:cNvSpPr txBox="1"/>
          <p:nvPr/>
        </p:nvSpPr>
        <p:spPr>
          <a:xfrm>
            <a:off x="7772400" y="5120640"/>
            <a:ext cx="3749040" cy="274320"/>
          </a:xfrm>
          <a:prstGeom prst="rect">
            <a:avLst/>
          </a:prstGeom>
          <a:noFill/>
          <a:ln/>
        </p:spPr>
        <p:txBody>
          <a:bodyPr wrap="square" lIns="0" tIns="0" rIns="0" bIns="0" rtlCol="0" anchor="t"/>
          <a:lstStyle/>
          <a:p>
            <a:pPr indent="0" marL="0">
              <a:buNone/>
            </a:pPr>
            <a:r>
              <a:rPr lang="en-US" sz="1350" b="1" dirty="0">
                <a:solidFill>
                  <a:srgbClr val="0A7F44"/>
                </a:solidFill>
              </a:rPr>
              <a:t>Served at 0.6</a:t>
            </a:r>
            <a:endParaRPr lang="en-US" sz="1350" dirty="0"/>
          </a:p>
        </p:txBody>
      </p:sp>
      <p:sp>
        <p:nvSpPr>
          <p:cNvPr id="34" name="Text 30"/>
          <p:cNvSpPr txBox="1"/>
          <p:nvPr/>
        </p:nvSpPr>
        <p:spPr>
          <a:xfrm>
            <a:off x="7772400" y="5413248"/>
            <a:ext cx="3749040" cy="731520"/>
          </a:xfrm>
          <a:prstGeom prst="rect">
            <a:avLst/>
          </a:prstGeom>
          <a:noFill/>
          <a:ln/>
        </p:spPr>
        <p:txBody>
          <a:bodyPr wrap="square" lIns="0" tIns="0" rIns="0" bIns="0" rtlCol="0" anchor="t"/>
          <a:lstStyle/>
          <a:p>
            <a:pPr indent="0" marL="0">
              <a:buNone/>
            </a:pPr>
            <a:r>
              <a:rPr lang="en-US" sz="1050" dirty="0">
                <a:solidFill>
                  <a:srgbClr val="55555C"/>
                </a:solidFill>
              </a:rPr>
              <a:t>At 0.6 the student answers 96% of the 500 test cases and still agrees with Glimmer 89.9%; at 0.7 it agrees more on the hardest cases but sends more to Glimmer.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SAFETY, 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planner,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10896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108960" cy="329184"/>
          </a:xfrm>
          <a:prstGeom prst="rect">
            <a:avLst/>
          </a:prstGeom>
          <a:noFill/>
          <a:ln/>
        </p:spPr>
        <p:txBody>
          <a:bodyPr wrap="square" lIns="0" tIns="0" rIns="0" bIns="0" rtlCol="0" anchor="ctr"/>
          <a:lstStyle/>
          <a:p>
            <a:pPr algn="ctr" indent="0" marL="0">
              <a:buNone/>
            </a:pPr>
            <a:r>
              <a:rPr lang="en-US" sz="1050" b="1" dirty="0">
                <a:solidFill>
                  <a:srgbClr val="55555C"/>
                </a:solidFill>
              </a:rPr>
              <a:t>Measured with a simulated prober</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93 / 93</a:t>
            </a:r>
            <a:endParaRPr lang="en-US" sz="3000" dirty="0"/>
          </a:p>
        </p:txBody>
      </p:sp>
      <p:sp>
        <p:nvSpPr>
          <p:cNvPr id="21" name="Text 17"/>
          <p:cNvSpPr txBox="1"/>
          <p:nvPr/>
        </p:nvSpPr>
        <p:spPr>
          <a:xfrm>
            <a:off x="8092440" y="5074920"/>
            <a:ext cx="3429000" cy="1143000"/>
          </a:xfrm>
          <a:prstGeom prst="rect">
            <a:avLst/>
          </a:prstGeom>
          <a:noFill/>
          <a:ln/>
        </p:spPr>
        <p:txBody>
          <a:bodyPr wrap="square" lIns="0" tIns="0" rIns="0" bIns="0" rtlCol="0" anchor="ctr"/>
          <a:lstStyle/>
          <a:p>
            <a:pPr indent="0" marL="0">
              <a:buNone/>
            </a:pPr>
            <a:r>
              <a:rPr lang="en-US" sz="1050" dirty="0">
                <a:solidFill>
                  <a:srgbClr val="0A0A0B"/>
                </a:solidFill>
              </a:rPr>
              <a:t>scripted attacks stopped: injected instructions, poisoned reviews, forged Agent Cards, sock-puppet votes. Unsafe messages: 37 of 42 refused, 1 of 74 harmless ones refused.</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WHAT IS REAL, WHAT IS SIMULATED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Real players, real models; simulated test clubs</a:t>
            </a:r>
            <a:endParaRPr lang="en-US" sz="3200" dirty="0"/>
          </a:p>
        </p:txBody>
      </p:sp>
      <p:sp>
        <p:nvSpPr>
          <p:cNvPr id="5" name="Shape 2"/>
          <p:cNvSpPr/>
          <p:nvPr/>
        </p:nvSpPr>
        <p:spPr>
          <a:xfrm>
            <a:off x="548640" y="1691640"/>
            <a:ext cx="5440680" cy="3429000"/>
          </a:xfrm>
          <a:prstGeom prst="roundRect">
            <a:avLst>
              <a:gd name="adj" fmla="val 3200"/>
            </a:avLst>
          </a:prstGeom>
          <a:solidFill>
            <a:srgbClr val="E9F3EC"/>
          </a:solidFill>
          <a:ln w="12700">
            <a:solidFill>
              <a:srgbClr val="0A7F44"/>
            </a:solidFill>
            <a:prstDash val="solid"/>
          </a:ln>
        </p:spPr>
      </p:sp>
      <p:sp>
        <p:nvSpPr>
          <p:cNvPr id="6" name="Text 3"/>
          <p:cNvSpPr txBox="1"/>
          <p:nvPr/>
        </p:nvSpPr>
        <p:spPr>
          <a:xfrm>
            <a:off x="822960" y="1810512"/>
            <a:ext cx="4937760" cy="228600"/>
          </a:xfrm>
          <a:prstGeom prst="rect">
            <a:avLst/>
          </a:prstGeom>
          <a:noFill/>
          <a:ln/>
        </p:spPr>
        <p:txBody>
          <a:bodyPr wrap="square" lIns="0" tIns="0" rIns="0" bIns="0" rtlCol="0" anchor="t"/>
          <a:lstStyle/>
          <a:p>
            <a:pPr indent="0" marL="0">
              <a:buNone/>
            </a:pPr>
            <a:r>
              <a:rPr lang="en-US" sz="1050" b="1" spc="100" kern="0" dirty="0">
                <a:solidFill>
                  <a:srgbClr val="0A7F44"/>
                </a:solidFill>
              </a:rPr>
              <a:t>REAL</a:t>
            </a:r>
            <a:endParaRPr lang="en-US" sz="1050" dirty="0"/>
          </a:p>
        </p:txBody>
      </p:sp>
      <p:sp>
        <p:nvSpPr>
          <p:cNvPr id="7" name="Text 4"/>
          <p:cNvSpPr txBox="1"/>
          <p:nvPr/>
        </p:nvSpPr>
        <p:spPr>
          <a:xfrm>
            <a:off x="822960" y="2048256"/>
            <a:ext cx="4937760" cy="365760"/>
          </a:xfrm>
          <a:prstGeom prst="rect">
            <a:avLst/>
          </a:prstGeom>
          <a:noFill/>
          <a:ln/>
        </p:spPr>
        <p:txBody>
          <a:bodyPr wrap="square" lIns="0" tIns="0" rIns="0" bIns="0" rtlCol="0" anchor="t"/>
          <a:lstStyle/>
          <a:p>
            <a:pPr indent="0" marL="0">
              <a:buNone/>
            </a:pPr>
            <a:r>
              <a:rPr lang="en-US" sz="1600" b="1" dirty="0">
                <a:solidFill>
                  <a:srgbClr val="0A0A0B"/>
                </a:solidFill>
              </a:rPr>
              <a:t>What a judge can trust as is</a:t>
            </a:r>
            <a:endParaRPr lang="en-US" sz="1600" dirty="0"/>
          </a:p>
        </p:txBody>
      </p:sp>
      <p:sp>
        <p:nvSpPr>
          <p:cNvPr id="8" name="Text 5"/>
          <p:cNvSpPr txBox="1"/>
          <p:nvPr/>
        </p:nvSpPr>
        <p:spPr>
          <a:xfrm>
            <a:off x="822960" y="2468880"/>
            <a:ext cx="4937760" cy="260604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0A0A0B"/>
                </a:solidFill>
              </a:rPr>
              <a:t>8 players, 14 accounts, 2 clubs they started, 4 games, 7 joins on the live site (29 Oct)</a:t>
            </a:r>
            <a:endParaRPr lang="en-US" sz="1150" dirty="0"/>
          </a:p>
          <a:p>
            <a:pPr marL="177800" indent="-177800">
              <a:spcAft>
                <a:spcPts val="400"/>
              </a:spcAft>
              <a:buSzPct val="100000"/>
              <a:buChar char="•"/>
            </a:pPr>
            <a:r>
              <a:rPr lang="en-US" sz="1150" dirty="0">
                <a:solidFill>
                  <a:srgbClr val="0A0A0B"/>
                </a:solidFill>
              </a:rPr>
              <a:t>Every agent's code: A2A over JSON-RPC, signed Agent Cards, holds, crash recovery</a:t>
            </a:r>
            <a:endParaRPr lang="en-US" sz="1150" dirty="0"/>
          </a:p>
          <a:p>
            <a:pPr marL="177800" indent="-177800">
              <a:spcAft>
                <a:spcPts val="400"/>
              </a:spcAft>
              <a:buSzPct val="100000"/>
              <a:buChar char="•"/>
            </a:pPr>
            <a:r>
              <a:rPr lang="en-US" sz="1150" dirty="0">
                <a:solidFill>
                  <a:srgbClr val="0A0A0B"/>
                </a:solidFill>
              </a:rPr>
              <a:t>Muse Glimmer making every decision in the evaluations; the guards, DRAMA, speech recognition</a:t>
            </a:r>
            <a:endParaRPr lang="en-US" sz="1150" dirty="0"/>
          </a:p>
          <a:p>
            <a:pPr marL="177800" indent="-177800">
              <a:spcAft>
                <a:spcPts val="400"/>
              </a:spcAft>
              <a:buSzPct val="100000"/>
              <a:buChar char="•"/>
            </a:pPr>
            <a:r>
              <a:rPr lang="en-US" sz="1150" dirty="0">
                <a:solidFill>
                  <a:srgbClr val="0A0A0B"/>
                </a:solidFill>
              </a:rPr>
              <a:t>Courts from OpenStreetMap, real forecasts; Messenger's webhook on a real Page (Facebook and Instagram login wait for Meta's app review: players use a demo sign-in)</a:t>
            </a:r>
            <a:endParaRPr lang="en-US" sz="1150" dirty="0"/>
          </a:p>
          <a:p>
            <a:pPr marL="177800" indent="-177800">
              <a:spcAft>
                <a:spcPts val="400"/>
              </a:spcAft>
              <a:buSzPct val="100000"/>
              <a:buChar char="•"/>
            </a:pPr>
            <a:r>
              <a:rPr lang="en-US" sz="1150" dirty="0">
                <a:solidFill>
                  <a:srgbClr val="0A0A0B"/>
                </a:solidFill>
              </a:rPr>
              <a:t>Highlights cut from real footage (a CC BY clip)</a:t>
            </a:r>
            <a:endParaRPr lang="en-US" sz="1150" dirty="0"/>
          </a:p>
        </p:txBody>
      </p:sp>
      <p:sp>
        <p:nvSpPr>
          <p:cNvPr id="9" name="Shape 6"/>
          <p:cNvSpPr/>
          <p:nvPr/>
        </p:nvSpPr>
        <p:spPr>
          <a:xfrm>
            <a:off x="6172200" y="1691640"/>
            <a:ext cx="5440680" cy="3429000"/>
          </a:xfrm>
          <a:prstGeom prst="roundRect">
            <a:avLst>
              <a:gd name="adj" fmla="val 3200"/>
            </a:avLst>
          </a:prstGeom>
          <a:solidFill>
            <a:srgbClr val="FBF3E6"/>
          </a:solidFill>
          <a:ln w="12700">
            <a:solidFill>
              <a:srgbClr val="B26A00"/>
            </a:solidFill>
            <a:prstDash val="solid"/>
          </a:ln>
        </p:spPr>
      </p:sp>
      <p:sp>
        <p:nvSpPr>
          <p:cNvPr id="10" name="Text 7"/>
          <p:cNvSpPr txBox="1"/>
          <p:nvPr/>
        </p:nvSpPr>
        <p:spPr>
          <a:xfrm>
            <a:off x="6446520" y="1810512"/>
            <a:ext cx="4937760" cy="228600"/>
          </a:xfrm>
          <a:prstGeom prst="rect">
            <a:avLst/>
          </a:prstGeom>
          <a:noFill/>
          <a:ln/>
        </p:spPr>
        <p:txBody>
          <a:bodyPr wrap="square" lIns="0" tIns="0" rIns="0" bIns="0" rtlCol="0" anchor="t"/>
          <a:lstStyle/>
          <a:p>
            <a:pPr indent="0" marL="0">
              <a:buNone/>
            </a:pPr>
            <a:r>
              <a:rPr lang="en-US" sz="1050" b="1" spc="100" kern="0" dirty="0">
                <a:solidFill>
                  <a:srgbClr val="B26A00"/>
                </a:solidFill>
              </a:rPr>
              <a:t>SIMULATED, AND LABELLED SO</a:t>
            </a:r>
            <a:endParaRPr lang="en-US" sz="1050" dirty="0"/>
          </a:p>
        </p:txBody>
      </p:sp>
      <p:sp>
        <p:nvSpPr>
          <p:cNvPr id="11" name="Text 8"/>
          <p:cNvSpPr txBox="1"/>
          <p:nvPr/>
        </p:nvSpPr>
        <p:spPr>
          <a:xfrm>
            <a:off x="6446520" y="2048256"/>
            <a:ext cx="4937760" cy="365760"/>
          </a:xfrm>
          <a:prstGeom prst="rect">
            <a:avLst/>
          </a:prstGeom>
          <a:noFill/>
          <a:ln/>
        </p:spPr>
        <p:txBody>
          <a:bodyPr wrap="square" lIns="0" tIns="0" rIns="0" bIns="0" rtlCol="0" anchor="t"/>
          <a:lstStyle/>
          <a:p>
            <a:pPr indent="0" marL="0">
              <a:buNone/>
            </a:pPr>
            <a:r>
              <a:rPr lang="en-US" sz="1600" b="1" dirty="0">
                <a:solidFill>
                  <a:srgbClr val="0A0A0B"/>
                </a:solidFill>
              </a:rPr>
              <a:t>Clubs built for the tests</a:t>
            </a:r>
            <a:endParaRPr lang="en-US" sz="1600" dirty="0"/>
          </a:p>
        </p:txBody>
      </p:sp>
      <p:sp>
        <p:nvSpPr>
          <p:cNvPr id="12" name="Text 9"/>
          <p:cNvSpPr txBox="1"/>
          <p:nvPr/>
        </p:nvSpPr>
        <p:spPr>
          <a:xfrm>
            <a:off x="6446520" y="2468880"/>
            <a:ext cx="4937760" cy="260604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0A0A0B"/>
                </a:solidFill>
              </a:rPr>
              <a:t>The demo club's members, venues and free times (marked demo in the app)</a:t>
            </a:r>
            <a:endParaRPr lang="en-US" sz="1150" dirty="0"/>
          </a:p>
          <a:p>
            <a:pPr marL="177800" indent="-177800">
              <a:spcAft>
                <a:spcPts val="400"/>
              </a:spcAft>
              <a:buSzPct val="100000"/>
              <a:buChar char="•"/>
            </a:pPr>
            <a:r>
              <a:rPr lang="en-US" sz="1150" dirty="0">
                <a:solidFill>
                  <a:srgbClr val="0A0A0B"/>
                </a:solidFill>
              </a:rPr>
              <a:t>The members in the scale, rules, matchmaking and student tests (seeds 7 and 11)</a:t>
            </a:r>
            <a:endParaRPr lang="en-US" sz="1150" dirty="0"/>
          </a:p>
          <a:p>
            <a:pPr marL="177800" indent="-177800">
              <a:spcAft>
                <a:spcPts val="400"/>
              </a:spcAft>
              <a:buSzPct val="100000"/>
              <a:buChar char="•"/>
            </a:pPr>
            <a:r>
              <a:rPr lang="en-US" sz="1150" dirty="0">
                <a:solidFill>
                  <a:srgbClr val="0A0A0B"/>
                </a:solidFill>
              </a:rPr>
              <a:t>The community loop's club of 60 and its votes</a:t>
            </a:r>
            <a:endParaRPr lang="en-US" sz="1150" dirty="0"/>
          </a:p>
          <a:p>
            <a:pPr marL="177800" indent="-177800">
              <a:spcAft>
                <a:spcPts val="400"/>
              </a:spcAft>
              <a:buSzPct val="100000"/>
              <a:buChar char="•"/>
            </a:pPr>
            <a:r>
              <a:rPr lang="en-US" sz="1150" dirty="0">
                <a:solidFill>
                  <a:srgbClr val="0A0A0B"/>
                </a:solidFill>
              </a:rPr>
              <a:t>The 20,000 requests in the asking test; the prober in the disclosure test</a:t>
            </a:r>
            <a:endParaRPr lang="en-US" sz="1150" dirty="0"/>
          </a:p>
          <a:p>
            <a:pPr marL="177800" indent="-177800">
              <a:spcAft>
                <a:spcPts val="400"/>
              </a:spcAft>
              <a:buSzPct val="100000"/>
              <a:buChar char="•"/>
            </a:pPr>
            <a:r>
              <a:rPr lang="en-US" sz="1150" dirty="0">
                <a:solidFill>
                  <a:srgbClr val="0A0A0B"/>
                </a:solidFill>
              </a:rPr>
              <a:t>The attacks and unsafe messages: labelled tests I wrote</a:t>
            </a:r>
            <a:endParaRPr lang="en-US" sz="1150" dirty="0"/>
          </a:p>
        </p:txBody>
      </p:sp>
      <p:sp>
        <p:nvSpPr>
          <p:cNvPr id="13" name="Shape 10"/>
          <p:cNvSpPr/>
          <p:nvPr/>
        </p:nvSpPr>
        <p:spPr>
          <a:xfrm>
            <a:off x="548640" y="5257800"/>
            <a:ext cx="11064240" cy="868680"/>
          </a:xfrm>
          <a:prstGeom prst="roundRect">
            <a:avLst>
              <a:gd name="adj" fmla="val 12632"/>
            </a:avLst>
          </a:prstGeom>
          <a:solidFill>
            <a:srgbClr val="FBEAE9"/>
          </a:solidFill>
          <a:ln w="12700">
            <a:solidFill>
              <a:srgbClr val="FBEAE9"/>
            </a:solidFill>
            <a:prstDash val="solid"/>
          </a:ln>
        </p:spPr>
      </p:sp>
      <p:sp>
        <p:nvSpPr>
          <p:cNvPr id="14" name="Text 11"/>
          <p:cNvSpPr txBox="1"/>
          <p:nvPr/>
        </p:nvSpPr>
        <p:spPr>
          <a:xfrm>
            <a:off x="777240" y="5349240"/>
            <a:ext cx="2743200" cy="228600"/>
          </a:xfrm>
          <a:prstGeom prst="rect">
            <a:avLst/>
          </a:prstGeom>
          <a:noFill/>
          <a:ln/>
        </p:spPr>
        <p:txBody>
          <a:bodyPr wrap="square" lIns="0" tIns="0" rIns="0" bIns="0" rtlCol="0" anchor="t"/>
          <a:lstStyle/>
          <a:p>
            <a:pPr indent="0" marL="0">
              <a:buNone/>
            </a:pPr>
            <a:r>
              <a:rPr lang="en-US" sz="1050" b="1" spc="100" kern="0" dirty="0">
                <a:solidFill>
                  <a:srgbClr val="D1352B"/>
                </a:solidFill>
              </a:rPr>
              <a:t>KNOWN FAILURES</a:t>
            </a:r>
            <a:endParaRPr lang="en-US" sz="1050" dirty="0"/>
          </a:p>
        </p:txBody>
      </p:sp>
      <p:sp>
        <p:nvSpPr>
          <p:cNvPr id="15" name="Text 12"/>
          <p:cNvSpPr txBox="1"/>
          <p:nvPr/>
        </p:nvSpPr>
        <p:spPr>
          <a:xfrm>
            <a:off x="777240" y="5577840"/>
            <a:ext cx="10607040" cy="502920"/>
          </a:xfrm>
          <a:prstGeom prst="rect">
            <a:avLst/>
          </a:prstGeom>
          <a:noFill/>
          <a:ln/>
        </p:spPr>
        <p:txBody>
          <a:bodyPr wrap="square" lIns="0" tIns="0" rIns="0" bIns="0" rtlCol="0" anchor="t"/>
          <a:lstStyle/>
          <a:p>
            <a:pPr indent="0" marL="0">
              <a:buNone/>
            </a:pPr>
            <a:r>
              <a:rPr lang="en-US" sz="1100" dirty="0">
                <a:solidFill>
                  <a:srgbClr val="0A0A0B"/>
                </a:solidFill>
              </a:rPr>
              <a:t>5 of 42 unsafe messages got past Llama Guard and code · 1 of 74 harmless ones refused · 9% of Glimmer calls came back empty (mostly a small budget: every call now has room to reason) · with a rule only in a member's words, Glimmer broke it in 1 of 60 talks</a:t>
            </a:r>
            <a:endParaRPr lang="en-US" sz="1100" dirty="0"/>
          </a:p>
        </p:txBody>
      </p:sp>
      <p:sp>
        <p:nvSpPr>
          <p:cNvPr id="16" name="Text 13"/>
          <p:cNvSpPr txBox="1"/>
          <p:nvPr/>
        </p:nvSpPr>
        <p:spPr>
          <a:xfrm>
            <a:off x="548640" y="6199632"/>
            <a:ext cx="11064240" cy="274320"/>
          </a:xfrm>
          <a:prstGeom prst="rect">
            <a:avLst/>
          </a:prstGeom>
          <a:noFill/>
          <a:ln/>
        </p:spPr>
        <p:txBody>
          <a:bodyPr wrap="square" lIns="0" tIns="0" rIns="0" bIns="0" rtlCol="0" anchor="t"/>
          <a:lstStyle/>
          <a:p>
            <a:pPr indent="0" marL="0">
              <a:buNone/>
            </a:pPr>
            <a:r>
              <a:rPr lang="en-US" sz="1050" i="1" dirty="0">
                <a:solidFill>
                  <a:srgbClr val="55555C"/>
                </a:solidFill>
              </a:rPr>
              <a:t>The simulations show the agents keep what members stated; they do not show how real people react. The live club measures that.</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BUILT DURING THE HACKATHON · OCT 27 – NOV 4, 2026</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New here, mine from before, third party</a:t>
            </a:r>
            <a:endParaRPr lang="en-US" sz="3200" dirty="0"/>
          </a:p>
        </p:txBody>
      </p:sp>
      <p:sp>
        <p:nvSpPr>
          <p:cNvPr id="5" name="Shape 2"/>
          <p:cNvSpPr/>
          <p:nvPr/>
        </p:nvSpPr>
        <p:spPr>
          <a:xfrm>
            <a:off x="548640" y="1691640"/>
            <a:ext cx="4206240" cy="4389120"/>
          </a:xfrm>
          <a:prstGeom prst="roundRect">
            <a:avLst>
              <a:gd name="adj" fmla="val 2609"/>
            </a:avLst>
          </a:prstGeom>
          <a:solidFill>
            <a:srgbClr val="E9F3EC"/>
          </a:solidFill>
          <a:ln w="12700">
            <a:solidFill>
              <a:srgbClr val="0A7F44"/>
            </a:solidFill>
            <a:prstDash val="solid"/>
          </a:ln>
        </p:spPr>
      </p:sp>
      <p:sp>
        <p:nvSpPr>
          <p:cNvPr id="6" name="Text 3"/>
          <p:cNvSpPr txBox="1"/>
          <p:nvPr/>
        </p:nvSpPr>
        <p:spPr>
          <a:xfrm>
            <a:off x="777240" y="1828800"/>
            <a:ext cx="3749040" cy="228600"/>
          </a:xfrm>
          <a:prstGeom prst="rect">
            <a:avLst/>
          </a:prstGeom>
          <a:noFill/>
          <a:ln/>
        </p:spPr>
        <p:txBody>
          <a:bodyPr wrap="square" lIns="0" tIns="0" rIns="0" bIns="0" rtlCol="0" anchor="t"/>
          <a:lstStyle/>
          <a:p>
            <a:pPr indent="0" marL="0">
              <a:buNone/>
            </a:pPr>
            <a:r>
              <a:rPr lang="en-US" sz="1050" b="1" spc="100" kern="0" dirty="0">
                <a:solidFill>
                  <a:srgbClr val="0A7F44"/>
                </a:solidFill>
              </a:rPr>
              <a:t>BUILT HERE</a:t>
            </a:r>
            <a:endParaRPr lang="en-US" sz="1050" dirty="0"/>
          </a:p>
        </p:txBody>
      </p:sp>
      <p:sp>
        <p:nvSpPr>
          <p:cNvPr id="7" name="Text 4"/>
          <p:cNvSpPr txBox="1"/>
          <p:nvPr/>
        </p:nvSpPr>
        <p:spPr>
          <a:xfrm>
            <a:off x="777240" y="2084832"/>
            <a:ext cx="3749040" cy="365760"/>
          </a:xfrm>
          <a:prstGeom prst="rect">
            <a:avLst/>
          </a:prstGeom>
          <a:noFill/>
          <a:ln/>
        </p:spPr>
        <p:txBody>
          <a:bodyPr wrap="square" lIns="0" tIns="0" rIns="0" bIns="0" rtlCol="0" anchor="t"/>
          <a:lstStyle/>
          <a:p>
            <a:pPr indent="0" marL="0">
              <a:buNone/>
            </a:pPr>
            <a:r>
              <a:rPr lang="en-US" sz="1600" b="1" dirty="0">
                <a:solidFill>
                  <a:srgbClr val="0A0A0B"/>
                </a:solidFill>
              </a:rPr>
              <a:t>All the code</a:t>
            </a:r>
            <a:endParaRPr lang="en-US" sz="1600" dirty="0"/>
          </a:p>
        </p:txBody>
      </p:sp>
      <p:sp>
        <p:nvSpPr>
          <p:cNvPr id="8" name="Text 5"/>
          <p:cNvSpPr txBox="1"/>
          <p:nvPr/>
        </p:nvSpPr>
        <p:spPr>
          <a:xfrm>
            <a:off x="777240" y="2542032"/>
            <a:ext cx="3749040" cy="347472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0A0A0B"/>
                </a:solidFill>
              </a:rPr>
              <a:t>The gateway and every agent; A2A and its signing; matchmaking; memory and beliefs</a:t>
            </a:r>
            <a:endParaRPr lang="en-US" sz="1200" dirty="0"/>
          </a:p>
          <a:p>
            <a:pPr marL="152400" indent="-152400">
              <a:spcAft>
                <a:spcPts val="500"/>
              </a:spcAft>
              <a:buSzPct val="100000"/>
              <a:buChar char="•"/>
            </a:pPr>
            <a:r>
              <a:rPr lang="en-US" sz="1200" dirty="0">
                <a:solidFill>
                  <a:srgbClr val="0A0A0B"/>
                </a:solidFill>
              </a:rPr>
              <a:t>The community loop and its builder; the highlight pipeline's code</a:t>
            </a:r>
            <a:endParaRPr lang="en-US" sz="1200" dirty="0"/>
          </a:p>
          <a:p>
            <a:pPr marL="152400" indent="-152400">
              <a:spcAft>
                <a:spcPts val="500"/>
              </a:spcAft>
              <a:buSzPct val="100000"/>
              <a:buChar char="•"/>
            </a:pPr>
            <a:r>
              <a:rPr lang="en-US" sz="1200" dirty="0">
                <a:solidFill>
                  <a:srgbClr val="0A0A0B"/>
                </a:solidFill>
              </a:rPr>
              <a:t>The web app, members, clubs, the per-player gateways</a:t>
            </a:r>
            <a:endParaRPr lang="en-US" sz="1200" dirty="0"/>
          </a:p>
          <a:p>
            <a:pPr marL="152400" indent="-152400">
              <a:spcAft>
                <a:spcPts val="500"/>
              </a:spcAft>
              <a:buSzPct val="100000"/>
              <a:buChar char="•"/>
            </a:pPr>
            <a:r>
              <a:rPr lang="en-US" sz="1200" dirty="0">
                <a:solidFill>
                  <a:srgbClr val="0A0A0B"/>
                </a:solidFill>
              </a:rPr>
              <a:t>The Llama 3.2 1B student, fine-tuned from Glimmer's choices</a:t>
            </a:r>
            <a:endParaRPr lang="en-US" sz="1200" dirty="0"/>
          </a:p>
          <a:p>
            <a:pPr marL="152400" indent="-152400">
              <a:spcAft>
                <a:spcPts val="500"/>
              </a:spcAft>
              <a:buSzPct val="100000"/>
              <a:buChar char="•"/>
            </a:pPr>
            <a:r>
              <a:rPr lang="en-US" sz="1200" dirty="0">
                <a:solidFill>
                  <a:srgbClr val="0A0A0B"/>
                </a:solidFill>
              </a:rPr>
              <a:t>Every test and evaluation; the demo video (2:27)</a:t>
            </a:r>
            <a:endParaRPr lang="en-US" sz="1200" dirty="0"/>
          </a:p>
          <a:p>
            <a:pPr marL="152400" indent="-152400">
              <a:spcAft>
                <a:spcPts val="500"/>
              </a:spcAft>
              <a:buSzPct val="100000"/>
              <a:buChar char="•"/>
            </a:pPr>
            <a:r>
              <a:rPr lang="en-US" sz="1200" dirty="0">
                <a:solidFill>
                  <a:srgbClr val="0A0A0B"/>
                </a:solidFill>
              </a:rPr>
              <a:t>Started Oct 28 (day 2 of the hackathon); over 900 commits since</a:t>
            </a:r>
            <a:endParaRPr lang="en-US" sz="1200" dirty="0"/>
          </a:p>
        </p:txBody>
      </p:sp>
      <p:sp>
        <p:nvSpPr>
          <p:cNvPr id="9" name="Shape 6"/>
          <p:cNvSpPr/>
          <p:nvPr/>
        </p:nvSpPr>
        <p:spPr>
          <a:xfrm>
            <a:off x="4892040" y="1691640"/>
            <a:ext cx="2377440" cy="4389120"/>
          </a:xfrm>
          <a:prstGeom prst="roundRect">
            <a:avLst>
              <a:gd name="adj" fmla="val 4615"/>
            </a:avLst>
          </a:prstGeom>
          <a:solidFill>
            <a:srgbClr val="F6F7F8"/>
          </a:solidFill>
          <a:ln w="12700">
            <a:solidFill>
              <a:srgbClr val="55555C"/>
            </a:solidFill>
            <a:prstDash val="solid"/>
          </a:ln>
        </p:spPr>
      </p:sp>
      <p:sp>
        <p:nvSpPr>
          <p:cNvPr id="10" name="Text 7"/>
          <p:cNvSpPr txBox="1"/>
          <p:nvPr/>
        </p:nvSpPr>
        <p:spPr>
          <a:xfrm>
            <a:off x="5120640" y="1828800"/>
            <a:ext cx="1920240" cy="228600"/>
          </a:xfrm>
          <a:prstGeom prst="rect">
            <a:avLst/>
          </a:prstGeom>
          <a:noFill/>
          <a:ln/>
        </p:spPr>
        <p:txBody>
          <a:bodyPr wrap="square" lIns="0" tIns="0" rIns="0" bIns="0" rtlCol="0" anchor="t"/>
          <a:lstStyle/>
          <a:p>
            <a:pPr indent="0" marL="0">
              <a:buNone/>
            </a:pPr>
            <a:r>
              <a:rPr lang="en-US" sz="1050" b="1" spc="100" kern="0" dirty="0">
                <a:solidFill>
                  <a:srgbClr val="55555C"/>
                </a:solidFill>
              </a:rPr>
              <a:t>MINE, FROM BEFORE</a:t>
            </a:r>
            <a:endParaRPr lang="en-US" sz="1050" dirty="0"/>
          </a:p>
        </p:txBody>
      </p:sp>
      <p:sp>
        <p:nvSpPr>
          <p:cNvPr id="11" name="Text 8"/>
          <p:cNvSpPr txBox="1"/>
          <p:nvPr/>
        </p:nvSpPr>
        <p:spPr>
          <a:xfrm>
            <a:off x="5120640" y="2084832"/>
            <a:ext cx="1920240" cy="365760"/>
          </a:xfrm>
          <a:prstGeom prst="rect">
            <a:avLst/>
          </a:prstGeom>
          <a:noFill/>
          <a:ln/>
        </p:spPr>
        <p:txBody>
          <a:bodyPr wrap="square" lIns="0" tIns="0" rIns="0" bIns="0" rtlCol="0" anchor="t"/>
          <a:lstStyle/>
          <a:p>
            <a:pPr indent="0" marL="0">
              <a:buNone/>
            </a:pPr>
            <a:r>
              <a:rPr lang="en-US" sz="1600" b="1" dirty="0">
                <a:solidFill>
                  <a:srgbClr val="0A0A0B"/>
                </a:solidFill>
              </a:rPr>
              <a:t>Off in this entry</a:t>
            </a:r>
            <a:endParaRPr lang="en-US" sz="1600" dirty="0"/>
          </a:p>
        </p:txBody>
      </p:sp>
      <p:sp>
        <p:nvSpPr>
          <p:cNvPr id="12" name="Text 9"/>
          <p:cNvSpPr txBox="1"/>
          <p:nvPr/>
        </p:nvSpPr>
        <p:spPr>
          <a:xfrm>
            <a:off x="5120640" y="2542032"/>
            <a:ext cx="1920240" cy="347472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0A0A0B"/>
                </a:solidFill>
              </a:rPr>
              <a:t>TrackNetV5, my published shuttle tracker (ICIP 2026): off by default, not loaded in this entry</a:t>
            </a:r>
            <a:endParaRPr lang="en-US" sz="1200" dirty="0"/>
          </a:p>
        </p:txBody>
      </p:sp>
      <p:sp>
        <p:nvSpPr>
          <p:cNvPr id="13" name="Shape 10"/>
          <p:cNvSpPr/>
          <p:nvPr/>
        </p:nvSpPr>
        <p:spPr>
          <a:xfrm>
            <a:off x="7406640" y="1691640"/>
            <a:ext cx="4206240" cy="4389120"/>
          </a:xfrm>
          <a:prstGeom prst="roundRect">
            <a:avLst>
              <a:gd name="adj" fmla="val 2609"/>
            </a:avLst>
          </a:prstGeom>
          <a:solidFill>
            <a:srgbClr val="E8F1FD"/>
          </a:solidFill>
          <a:ln w="12700">
            <a:solidFill>
              <a:srgbClr val="0064E0"/>
            </a:solidFill>
            <a:prstDash val="solid"/>
          </a:ln>
        </p:spPr>
      </p:sp>
      <p:sp>
        <p:nvSpPr>
          <p:cNvPr id="14" name="Text 11"/>
          <p:cNvSpPr txBox="1"/>
          <p:nvPr/>
        </p:nvSpPr>
        <p:spPr>
          <a:xfrm>
            <a:off x="7635240" y="1828800"/>
            <a:ext cx="3749040" cy="228600"/>
          </a:xfrm>
          <a:prstGeom prst="rect">
            <a:avLst/>
          </a:prstGeom>
          <a:noFill/>
          <a:ln/>
        </p:spPr>
        <p:txBody>
          <a:bodyPr wrap="square" lIns="0" tIns="0" rIns="0" bIns="0" rtlCol="0" anchor="t"/>
          <a:lstStyle/>
          <a:p>
            <a:pPr indent="0" marL="0">
              <a:buNone/>
            </a:pPr>
            <a:r>
              <a:rPr lang="en-US" sz="1050" b="1" spc="100" kern="0" dirty="0">
                <a:solidFill>
                  <a:srgbClr val="0064E0"/>
                </a:solidFill>
              </a:rPr>
              <a:t>THIRD PARTY, AS PUBLISHED</a:t>
            </a:r>
            <a:endParaRPr lang="en-US" sz="1050" dirty="0"/>
          </a:p>
        </p:txBody>
      </p:sp>
      <p:sp>
        <p:nvSpPr>
          <p:cNvPr id="15" name="Text 12"/>
          <p:cNvSpPr txBox="1"/>
          <p:nvPr/>
        </p:nvSpPr>
        <p:spPr>
          <a:xfrm>
            <a:off x="7635240" y="2084832"/>
            <a:ext cx="3749040" cy="365760"/>
          </a:xfrm>
          <a:prstGeom prst="rect">
            <a:avLst/>
          </a:prstGeom>
          <a:noFill/>
          <a:ln/>
        </p:spPr>
        <p:txBody>
          <a:bodyPr wrap="square" lIns="0" tIns="0" rIns="0" bIns="0" rtlCol="0" anchor="t"/>
          <a:lstStyle/>
          <a:p>
            <a:pPr indent="0" marL="0">
              <a:buNone/>
            </a:pPr>
            <a:r>
              <a:rPr lang="en-US" sz="1600" b="1" dirty="0">
                <a:solidFill>
                  <a:srgbClr val="0A0A0B"/>
                </a:solidFill>
              </a:rPr>
              <a:t>Models, software, data</a:t>
            </a:r>
            <a:endParaRPr lang="en-US" sz="1600" dirty="0"/>
          </a:p>
        </p:txBody>
      </p:sp>
      <p:sp>
        <p:nvSpPr>
          <p:cNvPr id="16" name="Text 13"/>
          <p:cNvSpPr txBox="1"/>
          <p:nvPr/>
        </p:nvSpPr>
        <p:spPr>
          <a:xfrm>
            <a:off x="7635240" y="2542032"/>
            <a:ext cx="3749040" cy="347472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0A0A0B"/>
                </a:solidFill>
              </a:rPr>
              <a:t>Meta: Muse Glimmer, Llama 3.2 1B, Llama Guard 3, Prompt Guard 2, DRAMA, Omnilingual ASR, DETR, Sapiens2, SAM 2.1, MapAnything; API: Muse Spark, Voice Transcribe, Image, Wonder, SAM 3.1</a:t>
            </a:r>
            <a:endParaRPr lang="en-US" sz="1100" dirty="0"/>
          </a:p>
          <a:p>
            <a:pPr marL="152400" indent="-152400">
              <a:spcAft>
                <a:spcPts val="500"/>
              </a:spcAft>
              <a:buSzPct val="100000"/>
              <a:buChar char="•"/>
            </a:pPr>
            <a:r>
              <a:rPr lang="en-US" sz="1100" dirty="0">
                <a:solidFill>
                  <a:srgbClr val="0A0A0B"/>
                </a:solidFill>
              </a:rPr>
              <a:t>Other models: Kokoro (speech), IBM Granite (optional), WASB (off)</a:t>
            </a:r>
            <a:endParaRPr lang="en-US" sz="1100" dirty="0"/>
          </a:p>
          <a:p>
            <a:pPr marL="152400" indent="-152400">
              <a:spcAft>
                <a:spcPts val="500"/>
              </a:spcAft>
              <a:buSzPct val="100000"/>
              <a:buChar char="•"/>
            </a:pPr>
            <a:r>
              <a:rPr lang="en-US" sz="1100" dirty="0">
                <a:solidFill>
                  <a:srgbClr val="0A0A0B"/>
                </a:solidFill>
              </a:rPr>
              <a:t>Software: A2A SDK, Ollama, Transformers, OpenTelemetry, React, Vite, Leaflet, Cloudflare tunnel</a:t>
            </a:r>
            <a:endParaRPr lang="en-US" sz="1100" dirty="0"/>
          </a:p>
          <a:p>
            <a:pPr marL="152400" indent="-152400">
              <a:spcAft>
                <a:spcPts val="500"/>
              </a:spcAft>
              <a:buSzPct val="100000"/>
              <a:buChar char="•"/>
            </a:pPr>
            <a:r>
              <a:rPr lang="en-US" sz="1100" dirty="0">
                <a:solidFill>
                  <a:srgbClr val="0A0A0B"/>
                </a:solidFill>
              </a:rPr>
              <a:t>Data: OpenStreetMap, Open-Meteo, Google Places, CC BY clips (credited)</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 · THE VIDEO, 2:27</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Three acts, all in the running app</a:t>
            </a:r>
            <a:endParaRPr lang="en-US" sz="3200" dirty="0"/>
          </a:p>
        </p:txBody>
      </p:sp>
      <p:pic>
        <p:nvPicPr>
          <p:cNvPr id="5" name="Image 0" descr="preencoded.png">    </p:cNvPr>
          <p:cNvPicPr>
            <a:picLocks noChangeAspect="1"/>
          </p:cNvPicPr>
          <p:nvPr/>
        </p:nvPicPr>
        <p:blipFill>
          <a:blip r:embed="rId1"/>
          <a:stretch>
            <a:fillRect/>
          </a:stretch>
        </p:blipFill>
        <p:spPr>
          <a:xfrm>
            <a:off x="548640" y="1783080"/>
            <a:ext cx="3566160" cy="2005965"/>
          </a:xfrm>
          <a:prstGeom prst="rect">
            <a:avLst/>
          </a:prstGeom>
        </p:spPr>
      </p:pic>
      <p:sp>
        <p:nvSpPr>
          <p:cNvPr id="6" name="Shape 2"/>
          <p:cNvSpPr/>
          <p:nvPr/>
        </p:nvSpPr>
        <p:spPr>
          <a:xfrm>
            <a:off x="548640" y="1783080"/>
            <a:ext cx="3566160" cy="2005965"/>
          </a:xfrm>
          <a:prstGeom prst="rect">
            <a:avLst/>
          </a:prstGeom>
          <a:ln w="12700">
            <a:solidFill>
              <a:srgbClr val="DCDCE0"/>
            </a:solidFill>
            <a:prstDash val="solid"/>
          </a:ln>
        </p:spPr>
      </p:sp>
      <p:sp>
        <p:nvSpPr>
          <p:cNvPr id="7" name="Shape 3"/>
          <p:cNvSpPr/>
          <p:nvPr/>
        </p:nvSpPr>
        <p:spPr>
          <a:xfrm>
            <a:off x="548640" y="3977640"/>
            <a:ext cx="731520" cy="329184"/>
          </a:xfrm>
          <a:prstGeom prst="roundRect">
            <a:avLst>
              <a:gd name="adj" fmla="val 50000"/>
            </a:avLst>
          </a:prstGeom>
          <a:solidFill>
            <a:srgbClr val="0A7F44"/>
          </a:solidFill>
          <a:ln w="12700">
            <a:solidFill>
              <a:srgbClr val="0A7F44"/>
            </a:solidFill>
            <a:prstDash val="solid"/>
          </a:ln>
        </p:spPr>
      </p:sp>
      <p:sp>
        <p:nvSpPr>
          <p:cNvPr id="8" name="Text 4"/>
          <p:cNvSpPr txBox="1"/>
          <p:nvPr/>
        </p:nvSpPr>
        <p:spPr>
          <a:xfrm>
            <a:off x="548640" y="3977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0:41</a:t>
            </a:r>
            <a:endParaRPr lang="en-US" sz="1100" dirty="0"/>
          </a:p>
        </p:txBody>
      </p:sp>
      <p:sp>
        <p:nvSpPr>
          <p:cNvPr id="9" name="Text 5"/>
          <p:cNvSpPr txBox="1"/>
          <p:nvPr/>
        </p:nvSpPr>
        <p:spPr>
          <a:xfrm>
            <a:off x="548640" y="4389120"/>
            <a:ext cx="3566160" cy="731520"/>
          </a:xfrm>
          <a:prstGeom prst="rect">
            <a:avLst/>
          </a:prstGeom>
          <a:noFill/>
          <a:ln/>
        </p:spPr>
        <p:txBody>
          <a:bodyPr wrap="square" lIns="0" tIns="0" rIns="0" bIns="0" rtlCol="0" anchor="t"/>
          <a:lstStyle/>
          <a:p>
            <a:pPr indent="0" marL="0">
              <a:buNone/>
            </a:pPr>
            <a:r>
              <a:rPr lang="en-US" sz="1250" dirty="0">
                <a:solidFill>
                  <a:srgbClr val="0A0A0B"/>
                </a:solidFill>
              </a:rPr>
              <a:t>Act 1 · cold start: Leo has no account, the link joins him, and Mia hears "Game on" at once</a:t>
            </a:r>
            <a:endParaRPr lang="en-US" sz="1250" dirty="0"/>
          </a:p>
        </p:txBody>
      </p:sp>
      <p:pic>
        <p:nvPicPr>
          <p:cNvPr id="10" name="Image 1" descr="preencoded.png">    </p:cNvPr>
          <p:cNvPicPr>
            <a:picLocks noChangeAspect="1"/>
          </p:cNvPicPr>
          <p:nvPr/>
        </p:nvPicPr>
        <p:blipFill>
          <a:blip r:embed="rId2"/>
          <a:stretch>
            <a:fillRect/>
          </a:stretch>
        </p:blipFill>
        <p:spPr>
          <a:xfrm>
            <a:off x="4297680" y="1783080"/>
            <a:ext cx="3566160" cy="2005965"/>
          </a:xfrm>
          <a:prstGeom prst="rect">
            <a:avLst/>
          </a:prstGeom>
        </p:spPr>
      </p:pic>
      <p:sp>
        <p:nvSpPr>
          <p:cNvPr id="11" name="Shape 6"/>
          <p:cNvSpPr/>
          <p:nvPr/>
        </p:nvSpPr>
        <p:spPr>
          <a:xfrm>
            <a:off x="4297680" y="1783080"/>
            <a:ext cx="3566160" cy="2005965"/>
          </a:xfrm>
          <a:prstGeom prst="rect">
            <a:avLst/>
          </a:prstGeom>
          <a:ln w="12700">
            <a:solidFill>
              <a:srgbClr val="DCDCE0"/>
            </a:solidFill>
            <a:prstDash val="solid"/>
          </a:ln>
        </p:spPr>
      </p:sp>
      <p:sp>
        <p:nvSpPr>
          <p:cNvPr id="12" name="Shape 7"/>
          <p:cNvSpPr/>
          <p:nvPr/>
        </p:nvSpPr>
        <p:spPr>
          <a:xfrm>
            <a:off x="4297680" y="3977640"/>
            <a:ext cx="731520" cy="329184"/>
          </a:xfrm>
          <a:prstGeom prst="roundRect">
            <a:avLst>
              <a:gd name="adj" fmla="val 50000"/>
            </a:avLst>
          </a:prstGeom>
          <a:solidFill>
            <a:srgbClr val="0A7F44"/>
          </a:solidFill>
          <a:ln w="12700">
            <a:solidFill>
              <a:srgbClr val="0A7F44"/>
            </a:solidFill>
            <a:prstDash val="solid"/>
          </a:ln>
        </p:spPr>
      </p:sp>
      <p:sp>
        <p:nvSpPr>
          <p:cNvPr id="13" name="Text 8"/>
          <p:cNvSpPr txBox="1"/>
          <p:nvPr/>
        </p:nvSpPr>
        <p:spPr>
          <a:xfrm>
            <a:off x="4297680" y="3977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1:15</a:t>
            </a:r>
            <a:endParaRPr lang="en-US" sz="1100" dirty="0"/>
          </a:p>
        </p:txBody>
      </p:sp>
      <p:sp>
        <p:nvSpPr>
          <p:cNvPr id="14" name="Text 9"/>
          <p:cNvSpPr txBox="1"/>
          <p:nvPr/>
        </p:nvSpPr>
        <p:spPr>
          <a:xfrm>
            <a:off x="4297680" y="4389120"/>
            <a:ext cx="3566160" cy="731520"/>
          </a:xfrm>
          <a:prstGeom prst="rect">
            <a:avLst/>
          </a:prstGeom>
          <a:noFill/>
          <a:ln/>
        </p:spPr>
        <p:txBody>
          <a:bodyPr wrap="square" lIns="0" tIns="0" rIns="0" bIns="0" rtlCol="0" anchor="t"/>
          <a:lstStyle/>
          <a:p>
            <a:pPr indent="0" marL="0">
              <a:buNone/>
            </a:pPr>
            <a:r>
              <a:rPr lang="en-US" sz="1250" dirty="0">
                <a:solidFill>
                  <a:srgbClr val="0A0A0B"/>
                </a:solidFill>
              </a:rPr>
              <a:t>Act 2 · A2A: Hana's agent makes a real counter-offer; one yes in Messenger books it (end-to-end test)</a:t>
            </a:r>
            <a:endParaRPr lang="en-US" sz="1250" dirty="0"/>
          </a:p>
        </p:txBody>
      </p:sp>
      <p:pic>
        <p:nvPicPr>
          <p:cNvPr id="15" name="Image 2" descr="preencoded.png">    </p:cNvPr>
          <p:cNvPicPr>
            <a:picLocks noChangeAspect="1"/>
          </p:cNvPicPr>
          <p:nvPr/>
        </p:nvPicPr>
        <p:blipFill>
          <a:blip r:embed="rId3"/>
          <a:stretch>
            <a:fillRect/>
          </a:stretch>
        </p:blipFill>
        <p:spPr>
          <a:xfrm>
            <a:off x="8046720" y="1783080"/>
            <a:ext cx="3566160" cy="2005965"/>
          </a:xfrm>
          <a:prstGeom prst="rect">
            <a:avLst/>
          </a:prstGeom>
        </p:spPr>
      </p:pic>
      <p:sp>
        <p:nvSpPr>
          <p:cNvPr id="16" name="Shape 10"/>
          <p:cNvSpPr/>
          <p:nvPr/>
        </p:nvSpPr>
        <p:spPr>
          <a:xfrm>
            <a:off x="8046720" y="1783080"/>
            <a:ext cx="3566160" cy="2005965"/>
          </a:xfrm>
          <a:prstGeom prst="rect">
            <a:avLst/>
          </a:prstGeom>
          <a:ln w="12700">
            <a:solidFill>
              <a:srgbClr val="DCDCE0"/>
            </a:solidFill>
            <a:prstDash val="solid"/>
          </a:ln>
        </p:spPr>
      </p:sp>
      <p:sp>
        <p:nvSpPr>
          <p:cNvPr id="17" name="Shape 11"/>
          <p:cNvSpPr/>
          <p:nvPr/>
        </p:nvSpPr>
        <p:spPr>
          <a:xfrm>
            <a:off x="8046720" y="3977640"/>
            <a:ext cx="731520" cy="329184"/>
          </a:xfrm>
          <a:prstGeom prst="roundRect">
            <a:avLst>
              <a:gd name="adj" fmla="val 50000"/>
            </a:avLst>
          </a:prstGeom>
          <a:solidFill>
            <a:srgbClr val="0A7F44"/>
          </a:solidFill>
          <a:ln w="12700">
            <a:solidFill>
              <a:srgbClr val="0A7F44"/>
            </a:solidFill>
            <a:prstDash val="solid"/>
          </a:ln>
        </p:spPr>
      </p:sp>
      <p:sp>
        <p:nvSpPr>
          <p:cNvPr id="18" name="Text 12"/>
          <p:cNvSpPr txBox="1"/>
          <p:nvPr/>
        </p:nvSpPr>
        <p:spPr>
          <a:xfrm>
            <a:off x="8046720" y="3977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1:25</a:t>
            </a:r>
            <a:endParaRPr lang="en-US" sz="1100" dirty="0"/>
          </a:p>
        </p:txBody>
      </p:sp>
      <p:sp>
        <p:nvSpPr>
          <p:cNvPr id="19" name="Text 13"/>
          <p:cNvSpPr txBox="1"/>
          <p:nvPr/>
        </p:nvSpPr>
        <p:spPr>
          <a:xfrm>
            <a:off x="8046720" y="4389120"/>
            <a:ext cx="3566160" cy="731520"/>
          </a:xfrm>
          <a:prstGeom prst="rect">
            <a:avLst/>
          </a:prstGeom>
          <a:noFill/>
          <a:ln/>
        </p:spPr>
        <p:txBody>
          <a:bodyPr wrap="square" lIns="0" tIns="0" rIns="0" bIns="0" rtlCol="0" anchor="t"/>
          <a:lstStyle/>
          <a:p>
            <a:pPr indent="0" marL="0">
              <a:buNone/>
            </a:pPr>
            <a:r>
              <a:rPr lang="en-US" sz="1250" dirty="0">
                <a:solidFill>
                  <a:srgbClr val="0A0A0B"/>
                </a:solidFill>
              </a:rPr>
              <a:t>Act 3 · courts: Prompt Guard 2 screens reviews, then Muse Glimmer judges (shown at 14×, labelled)</a:t>
            </a:r>
            <a:endParaRPr lang="en-US" sz="1250" dirty="0"/>
          </a:p>
        </p:txBody>
      </p:sp>
      <p:sp>
        <p:nvSpPr>
          <p:cNvPr id="20" name="Text 14"/>
          <p:cNvSpPr txBox="1"/>
          <p:nvPr/>
        </p:nvSpPr>
        <p:spPr>
          <a:xfrm>
            <a:off x="548640" y="5760720"/>
            <a:ext cx="11064240" cy="365760"/>
          </a:xfrm>
          <a:prstGeom prst="rect">
            <a:avLst/>
          </a:prstGeom>
          <a:noFill/>
          <a:ln/>
        </p:spPr>
        <p:txBody>
          <a:bodyPr wrap="square" lIns="0" tIns="0" rIns="0" bIns="0" rtlCol="0" anchor="t"/>
          <a:lstStyle/>
          <a:p>
            <a:pPr indent="0" marL="0">
              <a:buNone/>
            </a:pPr>
            <a:r>
              <a:rPr lang="en-US" sz="1200" i="1" dirty="0">
                <a:solidFill>
                  <a:srgbClr val="55555C"/>
                </a:solidFill>
              </a:rPr>
              <a:t>Every speed-up is labelled on screen. The video shows only what this deck lists as built during the hackathon (slide 17).</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Auto-cut highlights to Instagram</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Oct 28 – Nov 4, 2026, during the hackathon · demo video 2:27 · what is new and what is not: slide 17</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  ·  live: https://play.theminimallab.com</a:t>
            </a:r>
            <a:endParaRPr lang="en-US" sz="1300" dirty="0"/>
          </a:p>
        </p:txBody>
      </p:sp>
      <p:sp>
        <p:nvSpPr>
          <p:cNvPr id="14" name="Text 11"/>
          <p:cNvSpPr txBox="1"/>
          <p:nvPr/>
        </p:nvSpPr>
        <p:spPr>
          <a:xfrm>
            <a:off x="914400" y="6035040"/>
            <a:ext cx="10362895" cy="329184"/>
          </a:xfrm>
          <a:prstGeom prst="rect">
            <a:avLst/>
          </a:prstGeom>
          <a:noFill/>
          <a:ln/>
        </p:spPr>
        <p:txBody>
          <a:bodyPr wrap="square" lIns="0" tIns="0" rIns="0" bIns="0" rtlCol="0" anchor="ctr"/>
          <a:lstStyle/>
          <a:p>
            <a:pPr algn="ctr" indent="0" marL="0">
              <a:buNone/>
            </a:pPr>
            <a:r>
              <a:rPr lang="en-US" sz="1300" dirty="0">
                <a:solidFill>
                  <a:srgbClr val="55555C"/>
                </a:solidFill>
              </a:rPr>
              <a:t>The product runs Muse Glimmer on an RTX 3090 I own; cloud A100s ran evaluations, including the A2A test's second gateway</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2194560"/>
            <a:ext cx="10058400" cy="365760"/>
          </a:xfrm>
          <a:prstGeom prst="rect">
            <a:avLst/>
          </a:prstGeom>
          <a:noFill/>
          <a:ln/>
        </p:spPr>
        <p:txBody>
          <a:bodyPr wrap="square" lIns="0" tIns="0" rIns="0" bIns="0" rtlCol="0" anchor="t"/>
          <a:lstStyle/>
          <a:p>
            <a:pPr indent="0" marL="0">
              <a:buNone/>
            </a:pPr>
            <a:r>
              <a:rPr lang="en-US" sz="1400" b="1" spc="200" kern="0" dirty="0">
                <a:solidFill>
                  <a:srgbClr val="0A7F44"/>
                </a:solidFill>
              </a:rPr>
              <a:t>APPENDIX</a:t>
            </a:r>
            <a:endParaRPr lang="en-US" sz="1400" dirty="0"/>
          </a:p>
        </p:txBody>
      </p:sp>
      <p:sp>
        <p:nvSpPr>
          <p:cNvPr id="3" name="Text 1"/>
          <p:cNvSpPr txBox="1"/>
          <p:nvPr/>
        </p:nvSpPr>
        <p:spPr>
          <a:xfrm>
            <a:off x="731520" y="2606040"/>
            <a:ext cx="10515600" cy="822960"/>
          </a:xfrm>
          <a:prstGeom prst="rect">
            <a:avLst/>
          </a:prstGeom>
          <a:noFill/>
          <a:ln/>
        </p:spPr>
        <p:txBody>
          <a:bodyPr wrap="square" lIns="0" tIns="0" rIns="0" bIns="0" rtlCol="0" anchor="t"/>
          <a:lstStyle/>
          <a:p>
            <a:pPr indent="0" marL="0">
              <a:buNone/>
            </a:pPr>
            <a:r>
              <a:rPr lang="en-US" sz="4000" b="1" dirty="0">
                <a:solidFill>
                  <a:srgbClr val="0A0A0B"/>
                </a:solidFill>
              </a:rPr>
              <a:t>The details behind the main slides</a:t>
            </a:r>
            <a:endParaRPr lang="en-US" sz="4000" dirty="0"/>
          </a:p>
        </p:txBody>
      </p:sp>
      <p:sp>
        <p:nvSpPr>
          <p:cNvPr id="4" name="Text 2"/>
          <p:cNvSpPr txBox="1"/>
          <p:nvPr/>
        </p:nvSpPr>
        <p:spPr>
          <a:xfrm>
            <a:off x="731520" y="3611880"/>
            <a:ext cx="10515600" cy="1097280"/>
          </a:xfrm>
          <a:prstGeom prst="rect">
            <a:avLst/>
          </a:prstGeom>
          <a:noFill/>
          <a:ln/>
        </p:spPr>
        <p:txBody>
          <a:bodyPr wrap="square" lIns="0" tIns="0" rIns="0" bIns="0" rtlCol="0" anchor="t"/>
          <a:lstStyle/>
          <a:p>
            <a:pPr indent="0" marL="0">
              <a:buNone/>
            </a:pPr>
            <a:r>
              <a:rPr lang="en-US" sz="1600" dirty="0">
                <a:solidFill>
                  <a:srgbClr val="55555C"/>
                </a:solidFill>
              </a:rPr>
              <a:t>The agent and A2A · all 15 Meta models · the social app · auto-cut highlights · agents as members · voice · federated clubs · memory · agent architecture · scale · the self-evolving club · every number and its source · the full architecture</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26080"/>
            <a:ext cx="1554480" cy="310896"/>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get_week</a:t>
            </a:r>
            <a:endParaRPr lang="en-US" sz="1000" dirty="0"/>
          </a:p>
        </p:txBody>
      </p:sp>
      <p:sp>
        <p:nvSpPr>
          <p:cNvPr id="10" name="Shape 7"/>
          <p:cNvSpPr/>
          <p:nvPr/>
        </p:nvSpPr>
        <p:spPr>
          <a:xfrm>
            <a:off x="2423160" y="2926080"/>
            <a:ext cx="1554480" cy="310896"/>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42316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check_limits</a:t>
            </a:r>
            <a:endParaRPr lang="en-US" sz="1000" dirty="0"/>
          </a:p>
        </p:txBody>
      </p:sp>
      <p:sp>
        <p:nvSpPr>
          <p:cNvPr id="12" name="Shape 9"/>
          <p:cNvSpPr/>
          <p:nvPr/>
        </p:nvSpPr>
        <p:spPr>
          <a:xfrm>
            <a:off x="4069080" y="2926080"/>
            <a:ext cx="1554480" cy="310896"/>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406908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recall</a:t>
            </a:r>
            <a:endParaRPr lang="en-US" sz="1000" dirty="0"/>
          </a:p>
        </p:txBody>
      </p:sp>
      <p:sp>
        <p:nvSpPr>
          <p:cNvPr id="14" name="Shape 11"/>
          <p:cNvSpPr/>
          <p:nvPr/>
        </p:nvSpPr>
        <p:spPr>
          <a:xfrm>
            <a:off x="777240" y="3310128"/>
            <a:ext cx="1554480" cy="310896"/>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77724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find_partners</a:t>
            </a:r>
            <a:endParaRPr lang="en-US" sz="1000" dirty="0"/>
          </a:p>
        </p:txBody>
      </p:sp>
      <p:sp>
        <p:nvSpPr>
          <p:cNvPr id="16" name="Shape 13"/>
          <p:cNvSpPr/>
          <p:nvPr/>
        </p:nvSpPr>
        <p:spPr>
          <a:xfrm>
            <a:off x="2423160" y="3310128"/>
            <a:ext cx="1554480" cy="310896"/>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242316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find_places</a:t>
            </a:r>
            <a:endParaRPr lang="en-US" sz="1000" dirty="0"/>
          </a:p>
        </p:txBody>
      </p:sp>
      <p:sp>
        <p:nvSpPr>
          <p:cNvPr id="18" name="Shape 15"/>
          <p:cNvSpPr/>
          <p:nvPr/>
        </p:nvSpPr>
        <p:spPr>
          <a:xfrm>
            <a:off x="4069080" y="3310128"/>
            <a:ext cx="1554480" cy="310896"/>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406908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negotiate</a:t>
            </a:r>
            <a:endParaRPr lang="en-US" sz="1000" dirty="0"/>
          </a:p>
        </p:txBody>
      </p:sp>
      <p:sp>
        <p:nvSpPr>
          <p:cNvPr id="20" name="Shape 17"/>
          <p:cNvSpPr/>
          <p:nvPr/>
        </p:nvSpPr>
        <p:spPr>
          <a:xfrm>
            <a:off x="777240" y="3694176"/>
            <a:ext cx="1554480" cy="310896"/>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77724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request_approval</a:t>
            </a:r>
            <a:endParaRPr lang="en-US" sz="1000" dirty="0"/>
          </a:p>
        </p:txBody>
      </p:sp>
      <p:sp>
        <p:nvSpPr>
          <p:cNvPr id="22" name="Shape 19"/>
          <p:cNvSpPr/>
          <p:nvPr/>
        </p:nvSpPr>
        <p:spPr>
          <a:xfrm>
            <a:off x="2423160" y="3694176"/>
            <a:ext cx="1554480" cy="310896"/>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242316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nudge</a:t>
            </a:r>
            <a:endParaRPr lang="en-US" sz="1000" dirty="0"/>
          </a:p>
        </p:txBody>
      </p:sp>
      <p:sp>
        <p:nvSpPr>
          <p:cNvPr id="24" name="Shape 21"/>
          <p:cNvSpPr/>
          <p:nvPr/>
        </p:nvSpPr>
        <p:spPr>
          <a:xfrm>
            <a:off x="4069080" y="3694176"/>
            <a:ext cx="1554480" cy="310896"/>
          </a:xfrm>
          <a:prstGeom prst="roundRect">
            <a:avLst>
              <a:gd name="adj" fmla="val 50000"/>
            </a:avLst>
          </a:prstGeom>
          <a:solidFill>
            <a:srgbClr val="E9F3EC"/>
          </a:solidFill>
          <a:ln w="12700">
            <a:solidFill>
              <a:srgbClr val="E9F3EC"/>
            </a:solidFill>
            <a:prstDash val="solid"/>
          </a:ln>
        </p:spPr>
      </p:sp>
      <p:sp>
        <p:nvSpPr>
          <p:cNvPr id="25" name="Text 22"/>
          <p:cNvSpPr txBox="1"/>
          <p:nvPr/>
        </p:nvSpPr>
        <p:spPr>
          <a:xfrm>
            <a:off x="406908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finish</a:t>
            </a:r>
            <a:endParaRPr lang="en-US" sz="1000" dirty="0"/>
          </a:p>
        </p:txBody>
      </p:sp>
      <p:sp>
        <p:nvSpPr>
          <p:cNvPr id="26" name="Text 23"/>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7" name="Shape 24"/>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8" name="Text 25"/>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9" name="Text 26"/>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30" name="Text 27"/>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31" name="Text 28"/>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2" name="Text 29"/>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Usually one round</a:t>
            </a:r>
            <a:endParaRPr lang="en-US" sz="1250" dirty="0"/>
          </a:p>
        </p:txBody>
      </p:sp>
      <p:sp>
        <p:nvSpPr>
          <p:cNvPr id="33" name="Text 30"/>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 a counter-offer if none fits</a:t>
            </a:r>
            <a:endParaRPr lang="en-US" sz="1200" dirty="0"/>
          </a:p>
        </p:txBody>
      </p:sp>
      <p:sp>
        <p:nvSpPr>
          <p:cNvPr id="34" name="Text 31"/>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5" name="Text 32"/>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6" name="Text 33"/>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7" name="Text 34"/>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8" name="Shape 35"/>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9" name="Text 36"/>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40" name="Text 37"/>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ALL 15 META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15 Meta models: 12 in the product, 3 for checks</a:t>
            </a:r>
            <a:endParaRPr lang="en-US" sz="3200" dirty="0"/>
          </a:p>
        </p:txBody>
      </p:sp>
      <p:sp>
        <p:nvSpPr>
          <p:cNvPr id="5" name="Shape 2"/>
          <p:cNvSpPr/>
          <p:nvPr/>
        </p:nvSpPr>
        <p:spPr>
          <a:xfrm>
            <a:off x="548640" y="1645920"/>
            <a:ext cx="1764792"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676656"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7" name="Text 4"/>
          <p:cNvSpPr txBox="1"/>
          <p:nvPr/>
        </p:nvSpPr>
        <p:spPr>
          <a:xfrm>
            <a:off x="67665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Glimmer</a:t>
            </a:r>
            <a:endParaRPr lang="en-US" sz="1250" dirty="0"/>
          </a:p>
        </p:txBody>
      </p:sp>
      <p:sp>
        <p:nvSpPr>
          <p:cNvPr id="8" name="Text 5"/>
          <p:cNvSpPr txBox="1"/>
          <p:nvPr/>
        </p:nvSpPr>
        <p:spPr>
          <a:xfrm>
            <a:off x="67665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agent: the tool loop, members' decisions, photos, courts, captions</a:t>
            </a:r>
            <a:endParaRPr lang="en-US" sz="850" dirty="0"/>
          </a:p>
        </p:txBody>
      </p:sp>
      <p:sp>
        <p:nvSpPr>
          <p:cNvPr id="9" name="Text 6"/>
          <p:cNvSpPr txBox="1"/>
          <p:nvPr/>
        </p:nvSpPr>
        <p:spPr>
          <a:xfrm>
            <a:off x="67665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RTX 3090 · Ollama · 4 in parallel</a:t>
            </a:r>
            <a:endParaRPr lang="en-US" sz="800" dirty="0"/>
          </a:p>
        </p:txBody>
      </p:sp>
      <p:sp>
        <p:nvSpPr>
          <p:cNvPr id="10" name="Shape 7"/>
          <p:cNvSpPr/>
          <p:nvPr/>
        </p:nvSpPr>
        <p:spPr>
          <a:xfrm>
            <a:off x="2404872" y="1645920"/>
            <a:ext cx="1764792"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2532888"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12" name="Text 9"/>
          <p:cNvSpPr txBox="1"/>
          <p:nvPr/>
        </p:nvSpPr>
        <p:spPr>
          <a:xfrm>
            <a:off x="2532888"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3.2 1B</a:t>
            </a:r>
            <a:endParaRPr lang="en-US" sz="1250" dirty="0"/>
          </a:p>
        </p:txBody>
      </p:sp>
      <p:sp>
        <p:nvSpPr>
          <p:cNvPr id="13" name="Text 10"/>
          <p:cNvSpPr txBox="1"/>
          <p:nvPr/>
        </p:nvSpPr>
        <p:spPr>
          <a:xfrm>
            <a:off x="2532888"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Distilled from Glimmer; answers alone when sure</a:t>
            </a:r>
            <a:endParaRPr lang="en-US" sz="850" dirty="0"/>
          </a:p>
        </p:txBody>
      </p:sp>
      <p:sp>
        <p:nvSpPr>
          <p:cNvPr id="14" name="Text 11"/>
          <p:cNvSpPr txBox="1"/>
          <p:nvPr/>
        </p:nvSpPr>
        <p:spPr>
          <a:xfrm>
            <a:off x="2532888"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in the app</a:t>
            </a:r>
            <a:endParaRPr lang="en-US" sz="800" dirty="0"/>
          </a:p>
        </p:txBody>
      </p:sp>
      <p:sp>
        <p:nvSpPr>
          <p:cNvPr id="15" name="Shape 12"/>
          <p:cNvSpPr/>
          <p:nvPr/>
        </p:nvSpPr>
        <p:spPr>
          <a:xfrm>
            <a:off x="4261104" y="1645920"/>
            <a:ext cx="1764792"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4389120"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17" name="Text 14"/>
          <p:cNvSpPr txBox="1"/>
          <p:nvPr/>
        </p:nvSpPr>
        <p:spPr>
          <a:xfrm>
            <a:off x="4389120"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Guard 3 1B</a:t>
            </a:r>
            <a:endParaRPr lang="en-US" sz="1250" dirty="0"/>
          </a:p>
        </p:txBody>
      </p:sp>
      <p:sp>
        <p:nvSpPr>
          <p:cNvPr id="18" name="Text 15"/>
          <p:cNvSpPr txBox="1"/>
          <p:nvPr/>
        </p:nvSpPr>
        <p:spPr>
          <a:xfrm>
            <a:off x="4389120"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What you write, what a model writes, every idea shared with the club</a:t>
            </a:r>
            <a:endParaRPr lang="en-US" sz="850" dirty="0"/>
          </a:p>
        </p:txBody>
      </p:sp>
      <p:sp>
        <p:nvSpPr>
          <p:cNvPr id="19" name="Text 16"/>
          <p:cNvSpPr txBox="1"/>
          <p:nvPr/>
        </p:nvSpPr>
        <p:spPr>
          <a:xfrm>
            <a:off x="4389120"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20" name="Shape 17"/>
          <p:cNvSpPr/>
          <p:nvPr/>
        </p:nvSpPr>
        <p:spPr>
          <a:xfrm>
            <a:off x="6117336" y="1645920"/>
            <a:ext cx="1764792"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6245352"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22" name="Text 19"/>
          <p:cNvSpPr txBox="1"/>
          <p:nvPr/>
        </p:nvSpPr>
        <p:spPr>
          <a:xfrm>
            <a:off x="6245352"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Prompt Guard 2</a:t>
            </a:r>
            <a:endParaRPr lang="en-US" sz="1250" dirty="0"/>
          </a:p>
        </p:txBody>
      </p:sp>
      <p:sp>
        <p:nvSpPr>
          <p:cNvPr id="23" name="Text 20"/>
          <p:cNvSpPr txBox="1"/>
          <p:nvPr/>
        </p:nvSpPr>
        <p:spPr>
          <a:xfrm>
            <a:off x="6245352"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Google reviews before the court judge reads them; shared ideas</a:t>
            </a:r>
            <a:endParaRPr lang="en-US" sz="850" dirty="0"/>
          </a:p>
        </p:txBody>
      </p:sp>
      <p:sp>
        <p:nvSpPr>
          <p:cNvPr id="24" name="Text 21"/>
          <p:cNvSpPr txBox="1"/>
          <p:nvPr/>
        </p:nvSpPr>
        <p:spPr>
          <a:xfrm>
            <a:off x="6245352"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86M</a:t>
            </a:r>
            <a:endParaRPr lang="en-US" sz="800" dirty="0"/>
          </a:p>
        </p:txBody>
      </p:sp>
      <p:sp>
        <p:nvSpPr>
          <p:cNvPr id="25" name="Shape 22"/>
          <p:cNvSpPr/>
          <p:nvPr/>
        </p:nvSpPr>
        <p:spPr>
          <a:xfrm>
            <a:off x="7973568" y="1645920"/>
            <a:ext cx="1764792"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8101584"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MEMORY</a:t>
            </a:r>
            <a:endParaRPr lang="en-US" sz="850" dirty="0"/>
          </a:p>
        </p:txBody>
      </p:sp>
      <p:sp>
        <p:nvSpPr>
          <p:cNvPr id="27" name="Text 24"/>
          <p:cNvSpPr txBox="1"/>
          <p:nvPr/>
        </p:nvSpPr>
        <p:spPr>
          <a:xfrm>
            <a:off x="8101584"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DRAMA</a:t>
            </a:r>
            <a:endParaRPr lang="en-US" sz="1250" dirty="0"/>
          </a:p>
        </p:txBody>
      </p:sp>
      <p:sp>
        <p:nvSpPr>
          <p:cNvPr id="28" name="Text 25"/>
          <p:cNvSpPr txBox="1"/>
          <p:nvPr/>
        </p:nvSpPr>
        <p:spPr>
          <a:xfrm>
            <a:off x="8101584"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Agent memory: what matters for your week, by meaning</a:t>
            </a:r>
            <a:endParaRPr lang="en-US" sz="850" dirty="0"/>
          </a:p>
        </p:txBody>
      </p:sp>
      <p:sp>
        <p:nvSpPr>
          <p:cNvPr id="29" name="Text 26"/>
          <p:cNvSpPr txBox="1"/>
          <p:nvPr/>
        </p:nvSpPr>
        <p:spPr>
          <a:xfrm>
            <a:off x="8101584"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30" name="Shape 27"/>
          <p:cNvSpPr/>
          <p:nvPr/>
        </p:nvSpPr>
        <p:spPr>
          <a:xfrm>
            <a:off x="9829800" y="1645920"/>
            <a:ext cx="1764792"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9957816"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VOICE</a:t>
            </a:r>
            <a:endParaRPr lang="en-US" sz="850" dirty="0"/>
          </a:p>
        </p:txBody>
      </p:sp>
      <p:sp>
        <p:nvSpPr>
          <p:cNvPr id="32" name="Text 29"/>
          <p:cNvSpPr txBox="1"/>
          <p:nvPr/>
        </p:nvSpPr>
        <p:spPr>
          <a:xfrm>
            <a:off x="995781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Omnilingual ASR</a:t>
            </a:r>
            <a:endParaRPr lang="en-US" sz="1250" dirty="0"/>
          </a:p>
        </p:txBody>
      </p:sp>
      <p:sp>
        <p:nvSpPr>
          <p:cNvPr id="33" name="Text 30"/>
          <p:cNvSpPr txBox="1"/>
          <p:nvPr/>
        </p:nvSpPr>
        <p:spPr>
          <a:xfrm>
            <a:off x="995781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Voice notes in Messenger to text</a:t>
            </a:r>
            <a:endParaRPr lang="en-US" sz="850" dirty="0"/>
          </a:p>
        </p:txBody>
      </p:sp>
      <p:sp>
        <p:nvSpPr>
          <p:cNvPr id="34" name="Text 31"/>
          <p:cNvSpPr txBox="1"/>
          <p:nvPr/>
        </p:nvSpPr>
        <p:spPr>
          <a:xfrm>
            <a:off x="995781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CTC 1B</a:t>
            </a:r>
            <a:endParaRPr lang="en-US" sz="800" dirty="0"/>
          </a:p>
        </p:txBody>
      </p:sp>
      <p:sp>
        <p:nvSpPr>
          <p:cNvPr id="35" name="Shape 32"/>
          <p:cNvSpPr/>
          <p:nvPr/>
        </p:nvSpPr>
        <p:spPr>
          <a:xfrm>
            <a:off x="548640" y="3108960"/>
            <a:ext cx="1764792"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676656"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37" name="Text 34"/>
          <p:cNvSpPr txBox="1"/>
          <p:nvPr/>
        </p:nvSpPr>
        <p:spPr>
          <a:xfrm>
            <a:off x="67665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DETR</a:t>
            </a:r>
            <a:endParaRPr lang="en-US" sz="1250" dirty="0"/>
          </a:p>
        </p:txBody>
      </p:sp>
      <p:sp>
        <p:nvSpPr>
          <p:cNvPr id="38" name="Text 35"/>
          <p:cNvSpPr txBox="1"/>
          <p:nvPr/>
        </p:nvSpPr>
        <p:spPr>
          <a:xfrm>
            <a:off x="67665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people in your video, so the reel follows you</a:t>
            </a:r>
            <a:endParaRPr lang="en-US" sz="850" dirty="0"/>
          </a:p>
        </p:txBody>
      </p:sp>
      <p:sp>
        <p:nvSpPr>
          <p:cNvPr id="39" name="Text 36"/>
          <p:cNvSpPr txBox="1"/>
          <p:nvPr/>
        </p:nvSpPr>
        <p:spPr>
          <a:xfrm>
            <a:off x="67665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a:t>
            </a:r>
            <a:endParaRPr lang="en-US" sz="800" dirty="0"/>
          </a:p>
        </p:txBody>
      </p:sp>
      <p:sp>
        <p:nvSpPr>
          <p:cNvPr id="40" name="Shape 37"/>
          <p:cNvSpPr/>
          <p:nvPr/>
        </p:nvSpPr>
        <p:spPr>
          <a:xfrm>
            <a:off x="2404872" y="3108960"/>
            <a:ext cx="1764792"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2532888"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2" name="Text 39"/>
          <p:cNvSpPr txBox="1"/>
          <p:nvPr/>
        </p:nvSpPr>
        <p:spPr>
          <a:xfrm>
            <a:off x="2532888"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Sapiens2</a:t>
            </a:r>
            <a:endParaRPr lang="en-US" sz="1250" dirty="0"/>
          </a:p>
        </p:txBody>
      </p:sp>
      <p:sp>
        <p:nvSpPr>
          <p:cNvPr id="43" name="Text 40"/>
          <p:cNvSpPr txBox="1"/>
          <p:nvPr/>
        </p:nvSpPr>
        <p:spPr>
          <a:xfrm>
            <a:off x="2532888"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moment worth sharing in your clip</a:t>
            </a:r>
            <a:endParaRPr lang="en-US" sz="850" dirty="0"/>
          </a:p>
        </p:txBody>
      </p:sp>
      <p:sp>
        <p:nvSpPr>
          <p:cNvPr id="44" name="Text 41"/>
          <p:cNvSpPr txBox="1"/>
          <p:nvPr/>
        </p:nvSpPr>
        <p:spPr>
          <a:xfrm>
            <a:off x="2532888"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0.4B</a:t>
            </a:r>
            <a:endParaRPr lang="en-US" sz="800" dirty="0"/>
          </a:p>
        </p:txBody>
      </p:sp>
      <p:sp>
        <p:nvSpPr>
          <p:cNvPr id="45" name="Shape 42"/>
          <p:cNvSpPr/>
          <p:nvPr/>
        </p:nvSpPr>
        <p:spPr>
          <a:xfrm>
            <a:off x="4261104" y="3108960"/>
            <a:ext cx="1764792"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4389120"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7" name="Text 44"/>
          <p:cNvSpPr txBox="1"/>
          <p:nvPr/>
        </p:nvSpPr>
        <p:spPr>
          <a:xfrm>
            <a:off x="4389120"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2.1</a:t>
            </a:r>
            <a:endParaRPr lang="en-US" sz="1250" dirty="0"/>
          </a:p>
        </p:txBody>
      </p:sp>
      <p:sp>
        <p:nvSpPr>
          <p:cNvPr id="48" name="Text 45"/>
          <p:cNvSpPr txBox="1"/>
          <p:nvPr/>
        </p:nvSpPr>
        <p:spPr>
          <a:xfrm>
            <a:off x="4389120"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Cuts each player out for the spotlight and the drawn view</a:t>
            </a:r>
            <a:endParaRPr lang="en-US" sz="850" dirty="0"/>
          </a:p>
        </p:txBody>
      </p:sp>
      <p:sp>
        <p:nvSpPr>
          <p:cNvPr id="49" name="Text 46"/>
          <p:cNvSpPr txBox="1"/>
          <p:nvPr/>
        </p:nvSpPr>
        <p:spPr>
          <a:xfrm>
            <a:off x="4389120"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Hiera-L</a:t>
            </a:r>
            <a:endParaRPr lang="en-US" sz="800" dirty="0"/>
          </a:p>
        </p:txBody>
      </p:sp>
      <p:sp>
        <p:nvSpPr>
          <p:cNvPr id="50" name="Shape 47"/>
          <p:cNvSpPr/>
          <p:nvPr/>
        </p:nvSpPr>
        <p:spPr>
          <a:xfrm>
            <a:off x="6117336" y="3108960"/>
            <a:ext cx="1764792"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6245352"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3D</a:t>
            </a:r>
            <a:endParaRPr lang="en-US" sz="850" dirty="0"/>
          </a:p>
        </p:txBody>
      </p:sp>
      <p:sp>
        <p:nvSpPr>
          <p:cNvPr id="52" name="Text 49"/>
          <p:cNvSpPr txBox="1"/>
          <p:nvPr/>
        </p:nvSpPr>
        <p:spPr>
          <a:xfrm>
            <a:off x="6245352"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MapAnything</a:t>
            </a:r>
            <a:endParaRPr lang="en-US" sz="1250" dirty="0"/>
          </a:p>
        </p:txBody>
      </p:sp>
      <p:sp>
        <p:nvSpPr>
          <p:cNvPr id="53" name="Text 50"/>
          <p:cNvSpPr txBox="1"/>
          <p:nvPr/>
        </p:nvSpPr>
        <p:spPr>
          <a:xfrm>
            <a:off x="6245352"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Depth and the camera for the orbit camera effect</a:t>
            </a:r>
            <a:endParaRPr lang="en-US" sz="850" dirty="0"/>
          </a:p>
        </p:txBody>
      </p:sp>
      <p:sp>
        <p:nvSpPr>
          <p:cNvPr id="54" name="Text 51"/>
          <p:cNvSpPr txBox="1"/>
          <p:nvPr/>
        </p:nvSpPr>
        <p:spPr>
          <a:xfrm>
            <a:off x="6245352"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optional effect</a:t>
            </a:r>
            <a:endParaRPr lang="en-US" sz="800" dirty="0"/>
          </a:p>
        </p:txBody>
      </p:sp>
      <p:sp>
        <p:nvSpPr>
          <p:cNvPr id="55" name="Shape 52"/>
          <p:cNvSpPr/>
          <p:nvPr/>
        </p:nvSpPr>
        <p:spPr>
          <a:xfrm>
            <a:off x="7973568" y="3108960"/>
            <a:ext cx="1764792" cy="1353312"/>
          </a:xfrm>
          <a:prstGeom prst="roundRect">
            <a:avLst>
              <a:gd name="adj" fmla="val 8108"/>
            </a:avLst>
          </a:prstGeom>
          <a:solidFill>
            <a:srgbClr val="FBF3E6"/>
          </a:solidFill>
          <a:ln w="12700">
            <a:solidFill>
              <a:srgbClr val="FBF3E6"/>
            </a:solidFill>
            <a:prstDash val="solid"/>
          </a:ln>
        </p:spPr>
      </p:sp>
      <p:sp>
        <p:nvSpPr>
          <p:cNvPr id="56" name="Text 53"/>
          <p:cNvSpPr txBox="1"/>
          <p:nvPr/>
        </p:nvSpPr>
        <p:spPr>
          <a:xfrm>
            <a:off x="8101584"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57" name="Text 54"/>
          <p:cNvSpPr txBox="1"/>
          <p:nvPr/>
        </p:nvSpPr>
        <p:spPr>
          <a:xfrm>
            <a:off x="8101584"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Spark 1.3</a:t>
            </a:r>
            <a:endParaRPr lang="en-US" sz="1250" dirty="0"/>
          </a:p>
        </p:txBody>
      </p:sp>
      <p:sp>
        <p:nvSpPr>
          <p:cNvPr id="58" name="Text 55"/>
          <p:cNvSpPr txBox="1"/>
          <p:nvPr/>
        </p:nvSpPr>
        <p:spPr>
          <a:xfrm>
            <a:off x="8101584"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The fallback when my GPU can't answer; the builder's model for new code (Muse Code's family)</a:t>
            </a:r>
            <a:endParaRPr lang="en-US" sz="850" dirty="0"/>
          </a:p>
        </p:txBody>
      </p:sp>
      <p:sp>
        <p:nvSpPr>
          <p:cNvPr id="59" name="Text 56"/>
          <p:cNvSpPr txBox="1"/>
          <p:nvPr/>
        </p:nvSpPr>
        <p:spPr>
          <a:xfrm>
            <a:off x="8101584"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tested live</a:t>
            </a:r>
            <a:endParaRPr lang="en-US" sz="800" dirty="0"/>
          </a:p>
        </p:txBody>
      </p:sp>
      <p:sp>
        <p:nvSpPr>
          <p:cNvPr id="60" name="Shape 57"/>
          <p:cNvSpPr/>
          <p:nvPr/>
        </p:nvSpPr>
        <p:spPr>
          <a:xfrm>
            <a:off x="9829800" y="3108960"/>
            <a:ext cx="1764792" cy="1353312"/>
          </a:xfrm>
          <a:prstGeom prst="roundRect">
            <a:avLst>
              <a:gd name="adj" fmla="val 8108"/>
            </a:avLst>
          </a:prstGeom>
          <a:solidFill>
            <a:srgbClr val="FBF3E6"/>
          </a:solidFill>
          <a:ln w="12700">
            <a:solidFill>
              <a:srgbClr val="FBF3E6"/>
            </a:solidFill>
            <a:prstDash val="solid"/>
          </a:ln>
        </p:spPr>
      </p:sp>
      <p:sp>
        <p:nvSpPr>
          <p:cNvPr id="61" name="Text 58"/>
          <p:cNvSpPr txBox="1"/>
          <p:nvPr/>
        </p:nvSpPr>
        <p:spPr>
          <a:xfrm>
            <a:off x="9957816"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2" name="Text 59"/>
          <p:cNvSpPr txBox="1"/>
          <p:nvPr/>
        </p:nvSpPr>
        <p:spPr>
          <a:xfrm>
            <a:off x="995781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3.1</a:t>
            </a:r>
            <a:endParaRPr lang="en-US" sz="1250" dirty="0"/>
          </a:p>
        </p:txBody>
      </p:sp>
      <p:sp>
        <p:nvSpPr>
          <p:cNvPr id="63" name="Text 60"/>
          <p:cNvSpPr txBox="1"/>
          <p:nvPr/>
        </p:nvSpPr>
        <p:spPr>
          <a:xfrm>
            <a:off x="995781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Checked on the smash against SAM 2.1: same player, IoU 0.97</a:t>
            </a:r>
            <a:endParaRPr lang="en-US" sz="850" dirty="0"/>
          </a:p>
        </p:txBody>
      </p:sp>
      <p:sp>
        <p:nvSpPr>
          <p:cNvPr id="64" name="Text 61"/>
          <p:cNvSpPr txBox="1"/>
          <p:nvPr/>
        </p:nvSpPr>
        <p:spPr>
          <a:xfrm>
            <a:off x="995781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one call</a:t>
            </a:r>
            <a:endParaRPr lang="en-US" sz="800" dirty="0"/>
          </a:p>
        </p:txBody>
      </p:sp>
      <p:sp>
        <p:nvSpPr>
          <p:cNvPr id="65" name="Shape 62"/>
          <p:cNvSpPr/>
          <p:nvPr/>
        </p:nvSpPr>
        <p:spPr>
          <a:xfrm>
            <a:off x="548640" y="4572000"/>
            <a:ext cx="1764792" cy="1353312"/>
          </a:xfrm>
          <a:prstGeom prst="roundRect">
            <a:avLst>
              <a:gd name="adj" fmla="val 8108"/>
            </a:avLst>
          </a:prstGeom>
          <a:solidFill>
            <a:srgbClr val="FBF3E6"/>
          </a:solidFill>
          <a:ln w="12700">
            <a:solidFill>
              <a:srgbClr val="FBF3E6"/>
            </a:solidFill>
            <a:prstDash val="solid"/>
          </a:ln>
        </p:spPr>
      </p:sp>
      <p:sp>
        <p:nvSpPr>
          <p:cNvPr id="66" name="Text 63"/>
          <p:cNvSpPr txBox="1"/>
          <p:nvPr/>
        </p:nvSpPr>
        <p:spPr>
          <a:xfrm>
            <a:off x="676656"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7" name="Text 64"/>
          <p:cNvSpPr txBox="1"/>
          <p:nvPr/>
        </p:nvSpPr>
        <p:spPr>
          <a:xfrm>
            <a:off x="676656"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Image</a:t>
            </a:r>
            <a:endParaRPr lang="en-US" sz="1250" dirty="0"/>
          </a:p>
        </p:txBody>
      </p:sp>
      <p:sp>
        <p:nvSpPr>
          <p:cNvPr id="68" name="Text 65"/>
          <p:cNvSpPr txBox="1"/>
          <p:nvPr/>
        </p:nvSpPr>
        <p:spPr>
          <a:xfrm>
            <a:off x="676656"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Rematch poster art; a face for every agent, made once</a:t>
            </a:r>
            <a:endParaRPr lang="en-US" sz="850" dirty="0"/>
          </a:p>
        </p:txBody>
      </p:sp>
      <p:sp>
        <p:nvSpPr>
          <p:cNvPr id="69" name="Text 66"/>
          <p:cNvSpPr txBox="1"/>
          <p:nvPr/>
        </p:nvSpPr>
        <p:spPr>
          <a:xfrm>
            <a:off x="676656"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$0.01 an image</a:t>
            </a:r>
            <a:endParaRPr lang="en-US" sz="800" dirty="0"/>
          </a:p>
        </p:txBody>
      </p:sp>
      <p:sp>
        <p:nvSpPr>
          <p:cNvPr id="70" name="Shape 67"/>
          <p:cNvSpPr/>
          <p:nvPr/>
        </p:nvSpPr>
        <p:spPr>
          <a:xfrm>
            <a:off x="2404872" y="4572000"/>
            <a:ext cx="1764792" cy="1353312"/>
          </a:xfrm>
          <a:prstGeom prst="roundRect">
            <a:avLst>
              <a:gd name="adj" fmla="val 8108"/>
            </a:avLst>
          </a:prstGeom>
          <a:solidFill>
            <a:srgbClr val="FBF3E6"/>
          </a:solidFill>
          <a:ln w="12700">
            <a:solidFill>
              <a:srgbClr val="FBF3E6"/>
            </a:solidFill>
            <a:prstDash val="solid"/>
          </a:ln>
        </p:spPr>
      </p:sp>
      <p:sp>
        <p:nvSpPr>
          <p:cNvPr id="71" name="Text 68"/>
          <p:cNvSpPr txBox="1"/>
          <p:nvPr/>
        </p:nvSpPr>
        <p:spPr>
          <a:xfrm>
            <a:off x="2532888"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2" name="Text 69"/>
          <p:cNvSpPr txBox="1"/>
          <p:nvPr/>
        </p:nvSpPr>
        <p:spPr>
          <a:xfrm>
            <a:off x="2532888"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Wonder</a:t>
            </a:r>
            <a:endParaRPr lang="en-US" sz="1250" dirty="0"/>
          </a:p>
        </p:txBody>
      </p:sp>
      <p:sp>
        <p:nvSpPr>
          <p:cNvPr id="73" name="Text 70"/>
          <p:cNvSpPr txBox="1"/>
          <p:nvPr/>
        </p:nvSpPr>
        <p:spPr>
          <a:xfrm>
            <a:off x="2532888"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Judges orbit frames for a doubled net or a smear, beside the pixel rule</a:t>
            </a:r>
            <a:endParaRPr lang="en-US" sz="850" dirty="0"/>
          </a:p>
        </p:txBody>
      </p:sp>
      <p:sp>
        <p:nvSpPr>
          <p:cNvPr id="74" name="Text 71"/>
          <p:cNvSpPr txBox="1"/>
          <p:nvPr/>
        </p:nvSpPr>
        <p:spPr>
          <a:xfrm>
            <a:off x="2532888"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84 frames</a:t>
            </a:r>
            <a:endParaRPr lang="en-US" sz="800" dirty="0"/>
          </a:p>
        </p:txBody>
      </p:sp>
      <p:sp>
        <p:nvSpPr>
          <p:cNvPr id="75" name="Shape 72"/>
          <p:cNvSpPr/>
          <p:nvPr/>
        </p:nvSpPr>
        <p:spPr>
          <a:xfrm>
            <a:off x="4261104" y="4572000"/>
            <a:ext cx="1764792" cy="1353312"/>
          </a:xfrm>
          <a:prstGeom prst="roundRect">
            <a:avLst>
              <a:gd name="adj" fmla="val 8108"/>
            </a:avLst>
          </a:prstGeom>
          <a:solidFill>
            <a:srgbClr val="FBF3E6"/>
          </a:solidFill>
          <a:ln w="12700">
            <a:solidFill>
              <a:srgbClr val="FBF3E6"/>
            </a:solidFill>
            <a:prstDash val="solid"/>
          </a:ln>
        </p:spPr>
      </p:sp>
      <p:sp>
        <p:nvSpPr>
          <p:cNvPr id="76" name="Text 73"/>
          <p:cNvSpPr txBox="1"/>
          <p:nvPr/>
        </p:nvSpPr>
        <p:spPr>
          <a:xfrm>
            <a:off x="4389120"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7" name="Text 74"/>
          <p:cNvSpPr txBox="1"/>
          <p:nvPr/>
        </p:nvSpPr>
        <p:spPr>
          <a:xfrm>
            <a:off x="4389120"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Voice</a:t>
            </a:r>
            <a:endParaRPr lang="en-US" sz="1250" dirty="0"/>
          </a:p>
        </p:txBody>
      </p:sp>
      <p:sp>
        <p:nvSpPr>
          <p:cNvPr id="78" name="Text 75"/>
          <p:cNvSpPr txBox="1"/>
          <p:nvPr/>
        </p:nvSpPr>
        <p:spPr>
          <a:xfrm>
            <a:off x="4389120"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Transcribe, realtime: talk with your agent and cut in when you like</a:t>
            </a:r>
            <a:endParaRPr lang="en-US" sz="850" dirty="0"/>
          </a:p>
        </p:txBody>
      </p:sp>
      <p:sp>
        <p:nvSpPr>
          <p:cNvPr id="79" name="Text 76"/>
          <p:cNvSpPr txBox="1"/>
          <p:nvPr/>
        </p:nvSpPr>
        <p:spPr>
          <a:xfrm>
            <a:off x="4389120"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Transcribe</a:t>
            </a:r>
            <a:endParaRPr lang="en-US" sz="800" dirty="0"/>
          </a:p>
        </p:txBody>
      </p:sp>
      <p:sp>
        <p:nvSpPr>
          <p:cNvPr id="80" name="Shape 77"/>
          <p:cNvSpPr/>
          <p:nvPr/>
        </p:nvSpPr>
        <p:spPr>
          <a:xfrm>
            <a:off x="6117336" y="4572000"/>
            <a:ext cx="1764792" cy="1353312"/>
          </a:xfrm>
          <a:prstGeom prst="roundRect">
            <a:avLst>
              <a:gd name="adj" fmla="val 8108"/>
            </a:avLst>
          </a:prstGeom>
          <a:solidFill>
            <a:srgbClr val="FFFFFF"/>
          </a:solidFill>
          <a:ln w="12700">
            <a:solidFill>
              <a:srgbClr val="DCDCE0"/>
            </a:solidFill>
            <a:prstDash val="solid"/>
          </a:ln>
        </p:spPr>
      </p:sp>
      <p:sp>
        <p:nvSpPr>
          <p:cNvPr id="81" name="Text 78"/>
          <p:cNvSpPr txBox="1"/>
          <p:nvPr/>
        </p:nvSpPr>
        <p:spPr>
          <a:xfrm>
            <a:off x="6245352" y="469087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PRODUCT</a:t>
            </a:r>
            <a:endParaRPr lang="en-US" sz="850" dirty="0"/>
          </a:p>
        </p:txBody>
      </p:sp>
      <p:pic>
        <p:nvPicPr>
          <p:cNvPr id="82" name="Image 0" descr="preencoded.png">    </p:cNvPr>
          <p:cNvPicPr>
            <a:picLocks noChangeAspect="1"/>
          </p:cNvPicPr>
          <p:nvPr/>
        </p:nvPicPr>
        <p:blipFill>
          <a:blip r:embed="rId1"/>
          <a:stretch>
            <a:fillRect/>
          </a:stretch>
        </p:blipFill>
        <p:spPr>
          <a:xfrm>
            <a:off x="7470648" y="4681728"/>
            <a:ext cx="256032" cy="256032"/>
          </a:xfrm>
          <a:prstGeom prst="rect">
            <a:avLst/>
          </a:prstGeom>
        </p:spPr>
      </p:pic>
      <p:sp>
        <p:nvSpPr>
          <p:cNvPr id="83" name="Text 79"/>
          <p:cNvSpPr txBox="1"/>
          <p:nvPr/>
        </p:nvSpPr>
        <p:spPr>
          <a:xfrm>
            <a:off x="6245352" y="4919472"/>
            <a:ext cx="1307592" cy="274320"/>
          </a:xfrm>
          <a:prstGeom prst="rect">
            <a:avLst/>
          </a:prstGeom>
          <a:noFill/>
          <a:ln/>
        </p:spPr>
        <p:txBody>
          <a:bodyPr wrap="square" lIns="0" tIns="0" rIns="0" bIns="0" rtlCol="0" anchor="t"/>
          <a:lstStyle/>
          <a:p>
            <a:pPr indent="0" marL="0">
              <a:buNone/>
            </a:pPr>
            <a:r>
              <a:rPr lang="en-US" sz="1250" b="1" dirty="0">
                <a:solidFill>
                  <a:srgbClr val="0A0A0B"/>
                </a:solidFill>
              </a:rPr>
              <a:t>Meta apps</a:t>
            </a:r>
            <a:endParaRPr lang="en-US" sz="1250" dirty="0"/>
          </a:p>
        </p:txBody>
      </p:sp>
      <p:sp>
        <p:nvSpPr>
          <p:cNvPr id="84" name="Text 80"/>
          <p:cNvSpPr txBox="1"/>
          <p:nvPr/>
        </p:nvSpPr>
        <p:spPr>
          <a:xfrm>
            <a:off x="6245352"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Not in the 15. Messenger: your agent in your chats; Facebook or IG login; share reels</a:t>
            </a:r>
            <a:endParaRPr lang="en-US" sz="850" dirty="0"/>
          </a:p>
        </p:txBody>
      </p:sp>
      <p:sp>
        <p:nvSpPr>
          <p:cNvPr id="85" name="Text 81"/>
          <p:cNvSpPr txBox="1"/>
          <p:nvPr/>
        </p:nvSpPr>
        <p:spPr>
          <a:xfrm>
            <a:off x="6245352"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Webhook · Send API · Login</a:t>
            </a:r>
            <a:endParaRPr lang="en-US" sz="800" dirty="0"/>
          </a:p>
        </p:txBody>
      </p:sp>
      <p:sp>
        <p:nvSpPr>
          <p:cNvPr id="86" name="Text 82"/>
          <p:cNvSpPr txBox="1"/>
          <p:nvPr/>
        </p:nvSpPr>
        <p:spPr>
          <a:xfrm>
            <a:off x="548640" y="6089904"/>
            <a:ext cx="10972800" cy="274320"/>
          </a:xfrm>
          <a:prstGeom prst="rect">
            <a:avLst/>
          </a:prstGeom>
          <a:noFill/>
          <a:ln/>
        </p:spPr>
        <p:txBody>
          <a:bodyPr wrap="square" lIns="0" tIns="0" rIns="0" bIns="0" rtlCol="0" anchor="ctr"/>
          <a:lstStyle/>
          <a:p>
            <a:pPr indent="0" marL="0">
              <a:buNone/>
            </a:pPr>
            <a:r>
              <a:rPr lang="en-US" sz="1200" b="1" dirty="0">
                <a:solidFill>
                  <a:srgbClr val="0A0A0B"/>
                </a:solidFill>
              </a:rPr>
              <a:t>10 open weights on my server (GPU and CPU); 5 on the Meta Model API. Spark, SAM 3.1 and Wonder: fallback and checks.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THE SOCIAL APP</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(a demo account here)</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691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02536"/>
            <a:ext cx="3611880" cy="822960"/>
          </a:xfrm>
          <a:prstGeom prst="rect">
            <a:avLst/>
          </a:prstGeom>
          <a:noFill/>
          <a:ln/>
        </p:spPr>
        <p:txBody>
          <a:bodyPr wrap="square" lIns="0" tIns="0" rIns="0" bIns="0" rtlCol="0" anchor="t"/>
          <a:lstStyle/>
          <a:p>
            <a:pPr indent="0" marL="0">
              <a:buNone/>
            </a:pPr>
            <a:r>
              <a:rPr lang="en-US" sz="1150" dirty="0">
                <a:solidFill>
                  <a:srgbClr val="55555C"/>
                </a:solidFill>
              </a:rPr>
              <a:t>Facebook and Instagram Login, done on the server; Serve keeps a name, a picture and a hash of the id. Here, a demo account until the club's Meta app is approved.</a:t>
            </a:r>
            <a:endParaRPr lang="en-US" sz="115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member's agent cuts the highlight from their own video and posts it only after their yes.</a:t>
            </a:r>
            <a:endParaRPr lang="en-US" sz="1150" dirty="0"/>
          </a:p>
        </p:txBody>
      </p:sp>
      <p:sp>
        <p:nvSpPr>
          <p:cNvPr id="18" name="Text 12"/>
          <p:cNvSpPr txBox="1"/>
          <p:nvPr/>
        </p:nvSpPr>
        <p:spPr>
          <a:xfrm>
            <a:off x="8001000" y="3977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88536"/>
            <a:ext cx="3611880" cy="822960"/>
          </a:xfrm>
          <a:prstGeom prst="rect">
            <a:avLst/>
          </a:prstGeom>
          <a:noFill/>
          <a:ln/>
        </p:spPr>
        <p:txBody>
          <a:bodyPr wrap="square" lIns="0" tIns="0" rIns="0" bIns="0" rtlCol="0" anchor="t"/>
          <a:lstStyle/>
          <a:p>
            <a:pPr indent="0" marL="0">
              <a:buNone/>
            </a:pPr>
            <a:r>
              <a:rPr lang="en-US" sz="1150" dirty="0">
                <a:solidFill>
                  <a:srgbClr val="55555C"/>
                </a:solidFill>
              </a:rPr>
              <a:t>Join with a tap. The poster's agent answers in the comments with facts made by code: who is in, spots left.</a:t>
            </a:r>
            <a:endParaRPr lang="en-US" sz="1150" dirty="0"/>
          </a:p>
        </p:txBody>
      </p:sp>
      <p:sp>
        <p:nvSpPr>
          <p:cNvPr id="20" name="Text 14"/>
          <p:cNvSpPr txBox="1"/>
          <p:nvPr/>
        </p:nvSpPr>
        <p:spPr>
          <a:xfrm>
            <a:off x="8001000" y="5120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431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person, an agent and whose, and Simulated for the demo club's made-up members.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THURSDAY · AUTO-EDITED · FOUR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video, cut automatically into a clip to share</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moment worth sharing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 SAM 3.1 checked it once</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up to 12°</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The smash on a loop: the camera swings round it · CC BY 3.0, Badminton klub Ljubljana</a:t>
            </a:r>
            <a:endParaRPr lang="en-US" sz="1000" dirty="0"/>
          </a:p>
        </p:txBody>
      </p:sp>
      <p:pic>
        <p:nvPicPr>
          <p:cNvPr id="26" name="Image 0" descr="preencoded.png">    </p:cNvPr>
          <p:cNvPicPr>
            <a:picLocks noChangeAspect="1"/>
          </p:cNvPicPr>
          <p:nvPr/>
        </p:nvPicPr>
        <p:blipFill>
          <a:blip r:embed="rId4"/>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cuts her out; MapAnything reads depth · SAM 3.1 agrees: box IoU 0.97</a:t>
            </a:r>
            <a:endParaRPr lang="en-US" sz="1000" dirty="0"/>
          </a:p>
        </p:txBody>
      </p:sp>
      <p:sp>
        <p:nvSpPr>
          <p:cNvPr id="28" name="Shape 23"/>
          <p:cNvSpPr/>
          <p:nvPr/>
        </p:nvSpPr>
        <p:spPr>
          <a:xfrm>
            <a:off x="6172200" y="4937760"/>
            <a:ext cx="1600200" cy="1371600"/>
          </a:xfrm>
          <a:prstGeom prst="roundRect">
            <a:avLst>
              <a:gd name="adj" fmla="val 8000"/>
            </a:avLst>
          </a:prstGeom>
          <a:solidFill>
            <a:srgbClr val="0A0A0B"/>
          </a:solidFill>
          <a:ln w="12700">
            <a:solidFill>
              <a:srgbClr val="0A0A0B"/>
            </a:solidFill>
            <a:prstDash val="solid"/>
          </a:ln>
        </p:spPr>
      </p:sp>
      <p:sp>
        <p:nvSpPr>
          <p:cNvPr id="29" name="Shape 24"/>
          <p:cNvSpPr/>
          <p:nvPr/>
        </p:nvSpPr>
        <p:spPr>
          <a:xfrm>
            <a:off x="7211375" y="5794028"/>
            <a:ext cx="54864" cy="54864"/>
          </a:xfrm>
          <a:prstGeom prst="ellipse">
            <a:avLst/>
          </a:prstGeom>
          <a:solidFill>
            <a:srgbClr val="5FD39A"/>
          </a:solidFill>
          <a:ln w="12700">
            <a:solidFill>
              <a:srgbClr val="5FD39A"/>
            </a:solidFill>
            <a:prstDash val="solid"/>
          </a:ln>
        </p:spPr>
      </p:sp>
      <p:sp>
        <p:nvSpPr>
          <p:cNvPr id="30" name="Shape 25"/>
          <p:cNvSpPr/>
          <p:nvPr/>
        </p:nvSpPr>
        <p:spPr>
          <a:xfrm>
            <a:off x="7180975" y="5811580"/>
            <a:ext cx="54864" cy="54864"/>
          </a:xfrm>
          <a:prstGeom prst="ellipse">
            <a:avLst/>
          </a:prstGeom>
          <a:solidFill>
            <a:srgbClr val="5FD39A"/>
          </a:solidFill>
          <a:ln w="12700">
            <a:solidFill>
              <a:srgbClr val="5FD39A"/>
            </a:solidFill>
            <a:prstDash val="solid"/>
          </a:ln>
        </p:spPr>
      </p:sp>
      <p:sp>
        <p:nvSpPr>
          <p:cNvPr id="31" name="Shape 26"/>
          <p:cNvSpPr/>
          <p:nvPr/>
        </p:nvSpPr>
        <p:spPr>
          <a:xfrm>
            <a:off x="7149424" y="5826968"/>
            <a:ext cx="54864" cy="54864"/>
          </a:xfrm>
          <a:prstGeom prst="ellipse">
            <a:avLst/>
          </a:prstGeom>
          <a:solidFill>
            <a:srgbClr val="5FD39A"/>
          </a:solidFill>
          <a:ln w="12700">
            <a:solidFill>
              <a:srgbClr val="5FD39A"/>
            </a:solidFill>
            <a:prstDash val="solid"/>
          </a:ln>
        </p:spPr>
      </p:sp>
      <p:sp>
        <p:nvSpPr>
          <p:cNvPr id="32" name="Shape 27"/>
          <p:cNvSpPr/>
          <p:nvPr/>
        </p:nvSpPr>
        <p:spPr>
          <a:xfrm>
            <a:off x="7116877" y="5840118"/>
            <a:ext cx="54864" cy="54864"/>
          </a:xfrm>
          <a:prstGeom prst="ellipse">
            <a:avLst/>
          </a:prstGeom>
          <a:solidFill>
            <a:srgbClr val="5FD39A"/>
          </a:solidFill>
          <a:ln w="12700">
            <a:solidFill>
              <a:srgbClr val="5FD39A"/>
            </a:solidFill>
            <a:prstDash val="solid"/>
          </a:ln>
        </p:spPr>
      </p:sp>
      <p:sp>
        <p:nvSpPr>
          <p:cNvPr id="33" name="Shape 28"/>
          <p:cNvSpPr/>
          <p:nvPr/>
        </p:nvSpPr>
        <p:spPr>
          <a:xfrm>
            <a:off x="7083492" y="5850966"/>
            <a:ext cx="54864" cy="54864"/>
          </a:xfrm>
          <a:prstGeom prst="ellipse">
            <a:avLst/>
          </a:prstGeom>
          <a:solidFill>
            <a:srgbClr val="5FD39A"/>
          </a:solidFill>
          <a:ln w="12700">
            <a:solidFill>
              <a:srgbClr val="5FD39A"/>
            </a:solidFill>
            <a:prstDash val="solid"/>
          </a:ln>
        </p:spPr>
      </p:sp>
      <p:sp>
        <p:nvSpPr>
          <p:cNvPr id="34" name="Shape 29"/>
          <p:cNvSpPr/>
          <p:nvPr/>
        </p:nvSpPr>
        <p:spPr>
          <a:xfrm>
            <a:off x="7049431" y="5859458"/>
            <a:ext cx="54864" cy="54864"/>
          </a:xfrm>
          <a:prstGeom prst="ellipse">
            <a:avLst/>
          </a:prstGeom>
          <a:solidFill>
            <a:srgbClr val="5FD39A"/>
          </a:solidFill>
          <a:ln w="12700">
            <a:solidFill>
              <a:srgbClr val="5FD39A"/>
            </a:solidFill>
            <a:prstDash val="solid"/>
          </a:ln>
        </p:spPr>
      </p:sp>
      <p:sp>
        <p:nvSpPr>
          <p:cNvPr id="35" name="Shape 30"/>
          <p:cNvSpPr/>
          <p:nvPr/>
        </p:nvSpPr>
        <p:spPr>
          <a:xfrm>
            <a:off x="7014861" y="5865554"/>
            <a:ext cx="54864" cy="54864"/>
          </a:xfrm>
          <a:prstGeom prst="ellipse">
            <a:avLst/>
          </a:prstGeom>
          <a:solidFill>
            <a:srgbClr val="5FD39A"/>
          </a:solidFill>
          <a:ln w="12700">
            <a:solidFill>
              <a:srgbClr val="5FD39A"/>
            </a:solidFill>
            <a:prstDash val="solid"/>
          </a:ln>
        </p:spPr>
      </p:sp>
      <p:sp>
        <p:nvSpPr>
          <p:cNvPr id="36" name="Shape 31"/>
          <p:cNvSpPr/>
          <p:nvPr/>
        </p:nvSpPr>
        <p:spPr>
          <a:xfrm>
            <a:off x="6979950" y="5869223"/>
            <a:ext cx="54864" cy="54864"/>
          </a:xfrm>
          <a:prstGeom prst="ellipse">
            <a:avLst/>
          </a:prstGeom>
          <a:solidFill>
            <a:srgbClr val="5FD39A"/>
          </a:solidFill>
          <a:ln w="12700">
            <a:solidFill>
              <a:srgbClr val="5FD39A"/>
            </a:solidFill>
            <a:prstDash val="solid"/>
          </a:ln>
        </p:spPr>
      </p:sp>
      <p:sp>
        <p:nvSpPr>
          <p:cNvPr id="37" name="Shape 32"/>
          <p:cNvSpPr/>
          <p:nvPr/>
        </p:nvSpPr>
        <p:spPr>
          <a:xfrm>
            <a:off x="6944868" y="5870448"/>
            <a:ext cx="54864" cy="54864"/>
          </a:xfrm>
          <a:prstGeom prst="ellipse">
            <a:avLst/>
          </a:prstGeom>
          <a:solidFill>
            <a:srgbClr val="5FD39A"/>
          </a:solidFill>
          <a:ln w="12700">
            <a:solidFill>
              <a:srgbClr val="5FD39A"/>
            </a:solidFill>
            <a:prstDash val="solid"/>
          </a:ln>
        </p:spPr>
      </p:sp>
      <p:sp>
        <p:nvSpPr>
          <p:cNvPr id="38" name="Shape 33"/>
          <p:cNvSpPr/>
          <p:nvPr/>
        </p:nvSpPr>
        <p:spPr>
          <a:xfrm>
            <a:off x="6909786" y="5869223"/>
            <a:ext cx="54864" cy="54864"/>
          </a:xfrm>
          <a:prstGeom prst="ellipse">
            <a:avLst/>
          </a:prstGeom>
          <a:solidFill>
            <a:srgbClr val="5FD39A"/>
          </a:solidFill>
          <a:ln w="12700">
            <a:solidFill>
              <a:srgbClr val="5FD39A"/>
            </a:solidFill>
            <a:prstDash val="solid"/>
          </a:ln>
        </p:spPr>
      </p:sp>
      <p:sp>
        <p:nvSpPr>
          <p:cNvPr id="39" name="Shape 34"/>
          <p:cNvSpPr/>
          <p:nvPr/>
        </p:nvSpPr>
        <p:spPr>
          <a:xfrm>
            <a:off x="6874875" y="5865554"/>
            <a:ext cx="54864" cy="54864"/>
          </a:xfrm>
          <a:prstGeom prst="ellipse">
            <a:avLst/>
          </a:prstGeom>
          <a:solidFill>
            <a:srgbClr val="5FD39A"/>
          </a:solidFill>
          <a:ln w="12700">
            <a:solidFill>
              <a:srgbClr val="5FD39A"/>
            </a:solidFill>
            <a:prstDash val="solid"/>
          </a:ln>
        </p:spPr>
      </p:sp>
      <p:sp>
        <p:nvSpPr>
          <p:cNvPr id="40" name="Shape 35"/>
          <p:cNvSpPr/>
          <p:nvPr/>
        </p:nvSpPr>
        <p:spPr>
          <a:xfrm>
            <a:off x="6840305" y="5859458"/>
            <a:ext cx="54864" cy="54864"/>
          </a:xfrm>
          <a:prstGeom prst="ellipse">
            <a:avLst/>
          </a:prstGeom>
          <a:solidFill>
            <a:srgbClr val="5FD39A"/>
          </a:solidFill>
          <a:ln w="12700">
            <a:solidFill>
              <a:srgbClr val="5FD39A"/>
            </a:solidFill>
            <a:prstDash val="solid"/>
          </a:ln>
        </p:spPr>
      </p:sp>
      <p:sp>
        <p:nvSpPr>
          <p:cNvPr id="41" name="Shape 36"/>
          <p:cNvSpPr/>
          <p:nvPr/>
        </p:nvSpPr>
        <p:spPr>
          <a:xfrm>
            <a:off x="6806244" y="5850966"/>
            <a:ext cx="54864" cy="54864"/>
          </a:xfrm>
          <a:prstGeom prst="ellipse">
            <a:avLst/>
          </a:prstGeom>
          <a:solidFill>
            <a:srgbClr val="5FD39A"/>
          </a:solidFill>
          <a:ln w="12700">
            <a:solidFill>
              <a:srgbClr val="5FD39A"/>
            </a:solidFill>
            <a:prstDash val="solid"/>
          </a:ln>
        </p:spPr>
      </p:sp>
      <p:sp>
        <p:nvSpPr>
          <p:cNvPr id="42" name="Shape 37"/>
          <p:cNvSpPr/>
          <p:nvPr/>
        </p:nvSpPr>
        <p:spPr>
          <a:xfrm>
            <a:off x="6772859" y="5840118"/>
            <a:ext cx="54864" cy="54864"/>
          </a:xfrm>
          <a:prstGeom prst="ellipse">
            <a:avLst/>
          </a:prstGeom>
          <a:solidFill>
            <a:srgbClr val="5FD39A"/>
          </a:solidFill>
          <a:ln w="12700">
            <a:solidFill>
              <a:srgbClr val="5FD39A"/>
            </a:solidFill>
            <a:prstDash val="solid"/>
          </a:ln>
        </p:spPr>
      </p:sp>
      <p:sp>
        <p:nvSpPr>
          <p:cNvPr id="43" name="Shape 38"/>
          <p:cNvSpPr/>
          <p:nvPr/>
        </p:nvSpPr>
        <p:spPr>
          <a:xfrm>
            <a:off x="6740312" y="5826968"/>
            <a:ext cx="54864" cy="54864"/>
          </a:xfrm>
          <a:prstGeom prst="ellipse">
            <a:avLst/>
          </a:prstGeom>
          <a:solidFill>
            <a:srgbClr val="5FD39A"/>
          </a:solidFill>
          <a:ln w="12700">
            <a:solidFill>
              <a:srgbClr val="5FD39A"/>
            </a:solidFill>
            <a:prstDash val="solid"/>
          </a:ln>
        </p:spPr>
      </p:sp>
      <p:sp>
        <p:nvSpPr>
          <p:cNvPr id="44" name="Shape 39"/>
          <p:cNvSpPr/>
          <p:nvPr/>
        </p:nvSpPr>
        <p:spPr>
          <a:xfrm>
            <a:off x="6708761" y="5811580"/>
            <a:ext cx="54864" cy="54864"/>
          </a:xfrm>
          <a:prstGeom prst="ellipse">
            <a:avLst/>
          </a:prstGeom>
          <a:solidFill>
            <a:srgbClr val="5FD39A"/>
          </a:solidFill>
          <a:ln w="12700">
            <a:solidFill>
              <a:srgbClr val="5FD39A"/>
            </a:solidFill>
            <a:prstDash val="solid"/>
          </a:ln>
        </p:spPr>
      </p:sp>
      <p:sp>
        <p:nvSpPr>
          <p:cNvPr id="45" name="Shape 40"/>
          <p:cNvSpPr/>
          <p:nvPr/>
        </p:nvSpPr>
        <p:spPr>
          <a:xfrm>
            <a:off x="6678361" y="5794028"/>
            <a:ext cx="54864" cy="54864"/>
          </a:xfrm>
          <a:prstGeom prst="ellipse">
            <a:avLst/>
          </a:prstGeom>
          <a:solidFill>
            <a:srgbClr val="5FD39A"/>
          </a:solidFill>
          <a:ln w="12700">
            <a:solidFill>
              <a:srgbClr val="5FD39A"/>
            </a:solidFill>
            <a:prstDash val="solid"/>
          </a:ln>
        </p:spPr>
      </p:sp>
      <p:sp>
        <p:nvSpPr>
          <p:cNvPr id="46" name="Shape 41"/>
          <p:cNvSpPr/>
          <p:nvPr/>
        </p:nvSpPr>
        <p:spPr>
          <a:xfrm>
            <a:off x="6649259" y="5774399"/>
            <a:ext cx="54864" cy="54864"/>
          </a:xfrm>
          <a:prstGeom prst="ellipse">
            <a:avLst/>
          </a:prstGeom>
          <a:solidFill>
            <a:srgbClr val="5FD39A"/>
          </a:solidFill>
          <a:ln w="12700">
            <a:solidFill>
              <a:srgbClr val="5FD39A"/>
            </a:solidFill>
            <a:prstDash val="solid"/>
          </a:ln>
        </p:spPr>
      </p:sp>
      <p:sp>
        <p:nvSpPr>
          <p:cNvPr id="47" name="Shape 42"/>
          <p:cNvSpPr/>
          <p:nvPr/>
        </p:nvSpPr>
        <p:spPr>
          <a:xfrm>
            <a:off x="6621597" y="5752787"/>
            <a:ext cx="54864" cy="54864"/>
          </a:xfrm>
          <a:prstGeom prst="ellipse">
            <a:avLst/>
          </a:prstGeom>
          <a:solidFill>
            <a:srgbClr val="5FD39A"/>
          </a:solidFill>
          <a:ln w="12700">
            <a:solidFill>
              <a:srgbClr val="5FD39A"/>
            </a:solidFill>
            <a:prstDash val="solid"/>
          </a:ln>
        </p:spPr>
      </p:sp>
      <p:sp>
        <p:nvSpPr>
          <p:cNvPr id="48" name="Shape 43"/>
          <p:cNvSpPr/>
          <p:nvPr/>
        </p:nvSpPr>
        <p:spPr>
          <a:xfrm>
            <a:off x="6595510" y="5729298"/>
            <a:ext cx="54864" cy="54864"/>
          </a:xfrm>
          <a:prstGeom prst="ellipse">
            <a:avLst/>
          </a:prstGeom>
          <a:solidFill>
            <a:srgbClr val="5FD39A"/>
          </a:solidFill>
          <a:ln w="12700">
            <a:solidFill>
              <a:srgbClr val="5FD39A"/>
            </a:solidFill>
            <a:prstDash val="solid"/>
          </a:ln>
        </p:spPr>
      </p:sp>
      <p:sp>
        <p:nvSpPr>
          <p:cNvPr id="49" name="Shape 44"/>
          <p:cNvSpPr/>
          <p:nvPr/>
        </p:nvSpPr>
        <p:spPr>
          <a:xfrm>
            <a:off x="6571126" y="5704047"/>
            <a:ext cx="54864" cy="54864"/>
          </a:xfrm>
          <a:prstGeom prst="ellipse">
            <a:avLst/>
          </a:prstGeom>
          <a:solidFill>
            <a:srgbClr val="5FD39A"/>
          </a:solidFill>
          <a:ln w="12700">
            <a:solidFill>
              <a:srgbClr val="5FD39A"/>
            </a:solidFill>
            <a:prstDash val="solid"/>
          </a:ln>
        </p:spPr>
      </p:sp>
      <p:sp>
        <p:nvSpPr>
          <p:cNvPr id="50" name="Shape 45"/>
          <p:cNvSpPr/>
          <p:nvPr/>
        </p:nvSpPr>
        <p:spPr>
          <a:xfrm>
            <a:off x="6972300" y="5394960"/>
            <a:ext cx="914" cy="521208"/>
          </a:xfrm>
          <a:prstGeom prst="line">
            <a:avLst/>
          </a:prstGeom>
          <a:noFill/>
          <a:ln w="9525">
            <a:solidFill>
              <a:srgbClr val="8A8A92"/>
            </a:solidFill>
            <a:prstDash val="dash"/>
          </a:ln>
        </p:spPr>
      </p:sp>
      <p:sp>
        <p:nvSpPr>
          <p:cNvPr id="51" name="Shape 46"/>
          <p:cNvSpPr/>
          <p:nvPr/>
        </p:nvSpPr>
        <p:spPr>
          <a:xfrm>
            <a:off x="6908292" y="5330952"/>
            <a:ext cx="128016" cy="128016"/>
          </a:xfrm>
          <a:prstGeom prst="ellipse">
            <a:avLst/>
          </a:prstGeom>
          <a:solidFill>
            <a:srgbClr val="FF4FA3"/>
          </a:solidFill>
          <a:ln w="15875">
            <a:solidFill>
              <a:srgbClr val="FFFFFF"/>
            </a:solidFill>
            <a:prstDash val="solid"/>
          </a:ln>
        </p:spPr>
      </p:sp>
      <p:sp>
        <p:nvSpPr>
          <p:cNvPr id="52" name="Text 47"/>
          <p:cNvSpPr txBox="1"/>
          <p:nvPr/>
        </p:nvSpPr>
        <p:spPr>
          <a:xfrm>
            <a:off x="7063740" y="5312664"/>
            <a:ext cx="365760" cy="164592"/>
          </a:xfrm>
          <a:prstGeom prst="rect">
            <a:avLst/>
          </a:prstGeom>
          <a:noFill/>
          <a:ln/>
        </p:spPr>
        <p:txBody>
          <a:bodyPr wrap="square" lIns="0" tIns="0" rIns="0" bIns="0" rtlCol="0" anchor="t"/>
          <a:lstStyle/>
          <a:p>
            <a:pPr indent="0" marL="0">
              <a:buNone/>
            </a:pPr>
            <a:r>
              <a:rPr lang="en-US" sz="800" dirty="0">
                <a:solidFill>
                  <a:srgbClr val="FFFFFF"/>
                </a:solidFill>
              </a:rPr>
              <a:t>her</a:t>
            </a:r>
            <a:endParaRPr lang="en-US" sz="800" dirty="0"/>
          </a:p>
        </p:txBody>
      </p:sp>
      <p:sp>
        <p:nvSpPr>
          <p:cNvPr id="53" name="Shape 48"/>
          <p:cNvSpPr/>
          <p:nvPr/>
        </p:nvSpPr>
        <p:spPr>
          <a:xfrm>
            <a:off x="7156511" y="5739164"/>
            <a:ext cx="164592" cy="164592"/>
          </a:xfrm>
          <a:prstGeom prst="ellipse">
            <a:avLst/>
          </a:prstGeom>
          <a:solidFill>
            <a:srgbClr val="FFFFFF"/>
          </a:solidFill>
          <a:ln w="12700">
            <a:solidFill>
              <a:srgbClr val="FFFFFF"/>
            </a:solidFill>
            <a:prstDash val="solid"/>
          </a:ln>
        </p:spPr>
      </p:sp>
      <p:sp>
        <p:nvSpPr>
          <p:cNvPr id="54" name="Text 49"/>
          <p:cNvSpPr txBox="1"/>
          <p:nvPr/>
        </p:nvSpPr>
        <p:spPr>
          <a:xfrm>
            <a:off x="7156511" y="5739164"/>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1</a:t>
            </a:r>
            <a:endParaRPr lang="en-US" sz="800" dirty="0"/>
          </a:p>
        </p:txBody>
      </p:sp>
      <p:sp>
        <p:nvSpPr>
          <p:cNvPr id="55" name="Shape 50"/>
          <p:cNvSpPr/>
          <p:nvPr/>
        </p:nvSpPr>
        <p:spPr>
          <a:xfrm>
            <a:off x="6820011" y="5810690"/>
            <a:ext cx="164592" cy="164592"/>
          </a:xfrm>
          <a:prstGeom prst="ellipse">
            <a:avLst/>
          </a:prstGeom>
          <a:solidFill>
            <a:srgbClr val="FFFFFF"/>
          </a:solidFill>
          <a:ln w="12700">
            <a:solidFill>
              <a:srgbClr val="FFFFFF"/>
            </a:solidFill>
            <a:prstDash val="solid"/>
          </a:ln>
        </p:spPr>
      </p:sp>
      <p:sp>
        <p:nvSpPr>
          <p:cNvPr id="56" name="Text 51"/>
          <p:cNvSpPr txBox="1"/>
          <p:nvPr/>
        </p:nvSpPr>
        <p:spPr>
          <a:xfrm>
            <a:off x="6820011" y="5810690"/>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2</a:t>
            </a:r>
            <a:endParaRPr lang="en-US" sz="800" dirty="0"/>
          </a:p>
        </p:txBody>
      </p:sp>
      <p:sp>
        <p:nvSpPr>
          <p:cNvPr id="57" name="Shape 52"/>
          <p:cNvSpPr/>
          <p:nvPr/>
        </p:nvSpPr>
        <p:spPr>
          <a:xfrm>
            <a:off x="6516262" y="5649183"/>
            <a:ext cx="164592" cy="164592"/>
          </a:xfrm>
          <a:prstGeom prst="ellipse">
            <a:avLst/>
          </a:prstGeom>
          <a:solidFill>
            <a:srgbClr val="FFFFFF"/>
          </a:solidFill>
          <a:ln w="12700">
            <a:solidFill>
              <a:srgbClr val="FFFFFF"/>
            </a:solidFill>
            <a:prstDash val="solid"/>
          </a:ln>
        </p:spPr>
      </p:sp>
      <p:sp>
        <p:nvSpPr>
          <p:cNvPr id="58" name="Text 53"/>
          <p:cNvSpPr txBox="1"/>
          <p:nvPr/>
        </p:nvSpPr>
        <p:spPr>
          <a:xfrm>
            <a:off x="6516262" y="5649183"/>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3</a:t>
            </a:r>
            <a:endParaRPr lang="en-US" sz="800" dirty="0"/>
          </a:p>
        </p:txBody>
      </p:sp>
      <p:sp>
        <p:nvSpPr>
          <p:cNvPr id="59" name="Text 54"/>
          <p:cNvSpPr txBox="1"/>
          <p:nvPr/>
        </p:nvSpPr>
        <p:spPr>
          <a:xfrm>
            <a:off x="7172221" y="5934418"/>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+8°</a:t>
            </a:r>
            <a:endParaRPr lang="en-US" sz="800" dirty="0"/>
          </a:p>
        </p:txBody>
      </p:sp>
      <p:sp>
        <p:nvSpPr>
          <p:cNvPr id="60" name="Text 55"/>
          <p:cNvSpPr txBox="1"/>
          <p:nvPr/>
        </p:nvSpPr>
        <p:spPr>
          <a:xfrm>
            <a:off x="6161150" y="5805172"/>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−12°</a:t>
            </a:r>
            <a:endParaRPr lang="en-US" sz="800" dirty="0"/>
          </a:p>
        </p:txBody>
      </p:sp>
      <p:sp>
        <p:nvSpPr>
          <p:cNvPr id="61" name="Text 56"/>
          <p:cNvSpPr txBox="1"/>
          <p:nvPr/>
        </p:nvSpPr>
        <p:spPr>
          <a:xfrm>
            <a:off x="6263640" y="5001768"/>
            <a:ext cx="914400" cy="164592"/>
          </a:xfrm>
          <a:prstGeom prst="rect">
            <a:avLst/>
          </a:prstGeom>
          <a:noFill/>
          <a:ln/>
        </p:spPr>
        <p:txBody>
          <a:bodyPr wrap="square" lIns="0" tIns="0" rIns="0" bIns="0" rtlCol="0" anchor="t"/>
          <a:lstStyle/>
          <a:p>
            <a:pPr indent="0" marL="0">
              <a:buNone/>
            </a:pPr>
            <a:r>
              <a:rPr lang="en-US" sz="800" dirty="0">
                <a:solidFill>
                  <a:srgbClr val="B0B0B8"/>
                </a:solidFill>
              </a:rPr>
              <a:t>From above</a:t>
            </a:r>
            <a:endParaRPr lang="en-US" sz="800" dirty="0"/>
          </a:p>
        </p:txBody>
      </p:sp>
      <p:pic>
        <p:nvPicPr>
          <p:cNvPr id="62" name="Image 1" descr="preencoded.png">    </p:cNvPr>
          <p:cNvPicPr>
            <a:picLocks noChangeAspect="1"/>
          </p:cNvPicPr>
          <p:nvPr/>
        </p:nvPicPr>
        <p:blipFill>
          <a:blip r:embed="rId5"/>
          <a:stretch>
            <a:fillRect/>
          </a:stretch>
        </p:blipFill>
        <p:spPr>
          <a:xfrm>
            <a:off x="7927848" y="4937760"/>
            <a:ext cx="1197864" cy="673913"/>
          </a:xfrm>
          <a:prstGeom prst="rect">
            <a:avLst/>
          </a:prstGeom>
        </p:spPr>
      </p:pic>
      <p:sp>
        <p:nvSpPr>
          <p:cNvPr id="63" name="Text 57"/>
          <p:cNvSpPr txBox="1"/>
          <p:nvPr/>
        </p:nvSpPr>
        <p:spPr>
          <a:xfrm>
            <a:off x="7927848"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1 · +8°</a:t>
            </a:r>
            <a:endParaRPr lang="en-US" sz="1000" dirty="0"/>
          </a:p>
        </p:txBody>
      </p:sp>
      <p:pic>
        <p:nvPicPr>
          <p:cNvPr id="64" name="Image 2" descr="preencoded.png">    </p:cNvPr>
          <p:cNvPicPr>
            <a:picLocks noChangeAspect="1"/>
          </p:cNvPicPr>
          <p:nvPr/>
        </p:nvPicPr>
        <p:blipFill>
          <a:blip r:embed="rId6"/>
          <a:stretch>
            <a:fillRect/>
          </a:stretch>
        </p:blipFill>
        <p:spPr>
          <a:xfrm>
            <a:off x="9171432" y="4937760"/>
            <a:ext cx="1197864" cy="673913"/>
          </a:xfrm>
          <a:prstGeom prst="rect">
            <a:avLst/>
          </a:prstGeom>
        </p:spPr>
      </p:pic>
      <p:sp>
        <p:nvSpPr>
          <p:cNvPr id="65" name="Text 58"/>
          <p:cNvSpPr txBox="1"/>
          <p:nvPr/>
        </p:nvSpPr>
        <p:spPr>
          <a:xfrm>
            <a:off x="9171432"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2 · −2°</a:t>
            </a:r>
            <a:endParaRPr lang="en-US" sz="1000" dirty="0"/>
          </a:p>
        </p:txBody>
      </p:sp>
      <p:pic>
        <p:nvPicPr>
          <p:cNvPr id="66" name="Image 3" descr="preencoded.png">    </p:cNvPr>
          <p:cNvPicPr>
            <a:picLocks noChangeAspect="1"/>
          </p:cNvPicPr>
          <p:nvPr/>
        </p:nvPicPr>
        <p:blipFill>
          <a:blip r:embed="rId7"/>
          <a:stretch>
            <a:fillRect/>
          </a:stretch>
        </p:blipFill>
        <p:spPr>
          <a:xfrm>
            <a:off x="10415016" y="4937760"/>
            <a:ext cx="1197864" cy="673913"/>
          </a:xfrm>
          <a:prstGeom prst="rect">
            <a:avLst/>
          </a:prstGeom>
        </p:spPr>
      </p:pic>
      <p:sp>
        <p:nvSpPr>
          <p:cNvPr id="67" name="Text 59"/>
          <p:cNvSpPr txBox="1"/>
          <p:nvPr/>
        </p:nvSpPr>
        <p:spPr>
          <a:xfrm>
            <a:off x="10415016"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3 · −12°</a:t>
            </a:r>
            <a:endParaRPr lang="en-US" sz="1000" dirty="0"/>
          </a:p>
        </p:txBody>
      </p:sp>
      <p:sp>
        <p:nvSpPr>
          <p:cNvPr id="68" name="Text 60"/>
          <p:cNvSpPr txBox="1"/>
          <p:nvPr/>
        </p:nvSpPr>
        <p:spPr>
          <a:xfrm>
            <a:off x="7927848" y="5897880"/>
            <a:ext cx="3685032" cy="365760"/>
          </a:xfrm>
          <a:prstGeom prst="rect">
            <a:avLst/>
          </a:prstGeom>
          <a:noFill/>
          <a:ln/>
        </p:spPr>
        <p:txBody>
          <a:bodyPr wrap="square" lIns="0" tIns="0" rIns="0" bIns="0" rtlCol="0" anchor="t"/>
          <a:lstStyle/>
          <a:p>
            <a:pPr indent="0" marL="0">
              <a:buNone/>
            </a:pPr>
            <a:r>
              <a:rPr lang="en-US" sz="1000" dirty="0">
                <a:solidFill>
                  <a:srgbClr val="55555C"/>
                </a:solidFill>
              </a:rPr>
              <a:t>Three frames rendered along the arc, time stopped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ON THE COURT · HANDS-FREE VOICE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Sweaty hands after a game? Just ask, and cut in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Talk, on the agent home</a:t>
            </a:r>
            <a:endParaRPr lang="en-US" sz="1050" dirty="0"/>
          </a:p>
        </p:txBody>
      </p:sp>
      <p:sp>
        <p:nvSpPr>
          <p:cNvPr id="8" name="Shape 4"/>
          <p:cNvSpPr/>
          <p:nvPr/>
        </p:nvSpPr>
        <p:spPr>
          <a:xfrm>
            <a:off x="3291840" y="1691640"/>
            <a:ext cx="2011680" cy="1234440"/>
          </a:xfrm>
          <a:prstGeom prst="roundRect">
            <a:avLst>
              <a:gd name="adj" fmla="val 8889"/>
            </a:avLst>
          </a:prstGeom>
          <a:solidFill>
            <a:srgbClr val="FBF3E6"/>
          </a:solidFill>
          <a:ln w="12700">
            <a:solidFill>
              <a:srgbClr val="FBF3E6"/>
            </a:solidFill>
            <a:prstDash val="solid"/>
          </a:ln>
        </p:spPr>
      </p:sp>
      <p:sp>
        <p:nvSpPr>
          <p:cNvPr id="9" name="Text 5"/>
          <p:cNvSpPr txBox="1"/>
          <p:nvPr/>
        </p:nvSpPr>
        <p:spPr>
          <a:xfrm>
            <a:off x="3429000" y="1783080"/>
            <a:ext cx="1737360" cy="201168"/>
          </a:xfrm>
          <a:prstGeom prst="rect">
            <a:avLst/>
          </a:prstGeom>
          <a:noFill/>
          <a:ln/>
        </p:spPr>
        <p:txBody>
          <a:bodyPr wrap="square" lIns="0" tIns="0" rIns="0" bIns="0" rtlCol="0" anchor="t"/>
          <a:lstStyle/>
          <a:p>
            <a:pPr indent="0" marL="0">
              <a:buNone/>
            </a:pPr>
            <a:r>
              <a:rPr lang="en-US" sz="950" b="1" spc="100" kern="0" dirty="0">
                <a:solidFill>
                  <a:srgbClr val="B26A00"/>
                </a:solidFill>
              </a:rPr>
              <a:t>HEAR</a:t>
            </a:r>
            <a:endParaRPr lang="en-US" sz="950" dirty="0"/>
          </a:p>
        </p:txBody>
      </p:sp>
      <p:sp>
        <p:nvSpPr>
          <p:cNvPr id="10" name="Text 6"/>
          <p:cNvSpPr txBox="1"/>
          <p:nvPr/>
        </p:nvSpPr>
        <p:spPr>
          <a:xfrm>
            <a:off x="3429000"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Muse Voice Transcribe</a:t>
            </a:r>
            <a:endParaRPr lang="en-US" sz="1300" dirty="0"/>
          </a:p>
        </p:txBody>
      </p:sp>
      <p:sp>
        <p:nvSpPr>
          <p:cNvPr id="11" name="Text 7"/>
          <p:cNvSpPr txBox="1"/>
          <p:nvPr/>
        </p:nvSpPr>
        <p:spPr>
          <a:xfrm>
            <a:off x="3429000"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Realtime, on the Meta Model API: your audio goes there; it finds where your turn ends</a:t>
            </a:r>
            <a:endParaRPr lang="en-US" sz="1000" dirty="0"/>
          </a:p>
        </p:txBody>
      </p:sp>
      <p:sp>
        <p:nvSpPr>
          <p:cNvPr id="12" name="Shape 8"/>
          <p:cNvSpPr/>
          <p:nvPr/>
        </p:nvSpPr>
        <p:spPr>
          <a:xfrm>
            <a:off x="5321808" y="2304288"/>
            <a:ext cx="256032" cy="0"/>
          </a:xfrm>
          <a:prstGeom prst="line">
            <a:avLst/>
          </a:prstGeom>
          <a:noFill/>
          <a:ln w="22225">
            <a:solidFill>
              <a:srgbClr val="8A8A92"/>
            </a:solidFill>
            <a:prstDash val="solid"/>
            <a:tailEnd type="triangle"/>
          </a:ln>
        </p:spPr>
      </p:sp>
      <p:sp>
        <p:nvSpPr>
          <p:cNvPr id="13" name="Shape 9"/>
          <p:cNvSpPr/>
          <p:nvPr/>
        </p:nvSpPr>
        <p:spPr>
          <a:xfrm>
            <a:off x="5596128" y="1691640"/>
            <a:ext cx="2011680" cy="1234440"/>
          </a:xfrm>
          <a:prstGeom prst="roundRect">
            <a:avLst>
              <a:gd name="adj" fmla="val 8889"/>
            </a:avLst>
          </a:prstGeom>
          <a:solidFill>
            <a:srgbClr val="E9F3EC"/>
          </a:solidFill>
          <a:ln w="12700">
            <a:solidFill>
              <a:srgbClr val="E9F3EC"/>
            </a:solidFill>
            <a:prstDash val="solid"/>
          </a:ln>
        </p:spPr>
      </p:sp>
      <p:sp>
        <p:nvSpPr>
          <p:cNvPr id="14" name="Text 10"/>
          <p:cNvSpPr txBox="1"/>
          <p:nvPr/>
        </p:nvSpPr>
        <p:spPr>
          <a:xfrm>
            <a:off x="5733288" y="1783080"/>
            <a:ext cx="1737360" cy="201168"/>
          </a:xfrm>
          <a:prstGeom prst="rect">
            <a:avLst/>
          </a:prstGeom>
          <a:noFill/>
          <a:ln/>
        </p:spPr>
        <p:txBody>
          <a:bodyPr wrap="square" lIns="0" tIns="0" rIns="0" bIns="0" rtlCol="0" anchor="t"/>
          <a:lstStyle/>
          <a:p>
            <a:pPr indent="0" marL="0">
              <a:buNone/>
            </a:pPr>
            <a:r>
              <a:rPr lang="en-US" sz="950" b="1" spc="100" kern="0" dirty="0">
                <a:solidFill>
                  <a:srgbClr val="0A7F44"/>
                </a:solidFill>
              </a:rPr>
              <a:t>THINK</a:t>
            </a:r>
            <a:endParaRPr lang="en-US" sz="950" dirty="0"/>
          </a:p>
        </p:txBody>
      </p:sp>
      <p:sp>
        <p:nvSpPr>
          <p:cNvPr id="15" name="Text 11"/>
          <p:cNvSpPr txBox="1"/>
          <p:nvPr/>
        </p:nvSpPr>
        <p:spPr>
          <a:xfrm>
            <a:off x="5733288"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Your agent</a:t>
            </a:r>
            <a:endParaRPr lang="en-US" sz="1300" dirty="0"/>
          </a:p>
        </p:txBody>
      </p:sp>
      <p:sp>
        <p:nvSpPr>
          <p:cNvPr id="16" name="Text 12"/>
          <p:cNvSpPr txBox="1"/>
          <p:nvPr/>
        </p:nvSpPr>
        <p:spPr>
          <a:xfrm>
            <a:off x="5733288"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Muse Glimmer on your GPU; Llama Guard in and out; numbers checked</a:t>
            </a:r>
            <a:endParaRPr lang="en-US" sz="1000" dirty="0"/>
          </a:p>
        </p:txBody>
      </p:sp>
      <p:sp>
        <p:nvSpPr>
          <p:cNvPr id="17" name="Shape 13"/>
          <p:cNvSpPr/>
          <p:nvPr/>
        </p:nvSpPr>
        <p:spPr>
          <a:xfrm>
            <a:off x="7626096" y="2304288"/>
            <a:ext cx="256032" cy="0"/>
          </a:xfrm>
          <a:prstGeom prst="line">
            <a:avLst/>
          </a:prstGeom>
          <a:noFill/>
          <a:ln w="22225">
            <a:solidFill>
              <a:srgbClr val="8A8A92"/>
            </a:solidFill>
            <a:prstDash val="solid"/>
            <a:tailEnd type="triangle"/>
          </a:ln>
        </p:spPr>
      </p:sp>
      <p:sp>
        <p:nvSpPr>
          <p:cNvPr id="18" name="Shape 14"/>
          <p:cNvSpPr/>
          <p:nvPr/>
        </p:nvSpPr>
        <p:spPr>
          <a:xfrm>
            <a:off x="7900416" y="1691640"/>
            <a:ext cx="2011680" cy="1234440"/>
          </a:xfrm>
          <a:prstGeom prst="roundRect">
            <a:avLst>
              <a:gd name="adj" fmla="val 8889"/>
            </a:avLst>
          </a:prstGeom>
          <a:solidFill>
            <a:srgbClr val="E8F1FD"/>
          </a:solidFill>
          <a:ln w="12700">
            <a:solidFill>
              <a:srgbClr val="E8F1FD"/>
            </a:solidFill>
            <a:prstDash val="solid"/>
          </a:ln>
        </p:spPr>
      </p:sp>
      <p:sp>
        <p:nvSpPr>
          <p:cNvPr id="19" name="Text 15"/>
          <p:cNvSpPr txBox="1"/>
          <p:nvPr/>
        </p:nvSpPr>
        <p:spPr>
          <a:xfrm>
            <a:off x="8037576" y="1783080"/>
            <a:ext cx="1737360" cy="201168"/>
          </a:xfrm>
          <a:prstGeom prst="rect">
            <a:avLst/>
          </a:prstGeom>
          <a:noFill/>
          <a:ln/>
        </p:spPr>
        <p:txBody>
          <a:bodyPr wrap="square" lIns="0" tIns="0" rIns="0" bIns="0" rtlCol="0" anchor="t"/>
          <a:lstStyle/>
          <a:p>
            <a:pPr indent="0" marL="0">
              <a:buNone/>
            </a:pPr>
            <a:r>
              <a:rPr lang="en-US" sz="950" b="1" spc="100" kern="0" dirty="0">
                <a:solidFill>
                  <a:srgbClr val="0064E0"/>
                </a:solidFill>
              </a:rPr>
              <a:t>SPEAK</a:t>
            </a:r>
            <a:endParaRPr lang="en-US" sz="950" dirty="0"/>
          </a:p>
        </p:txBody>
      </p:sp>
      <p:sp>
        <p:nvSpPr>
          <p:cNvPr id="20" name="Text 16"/>
          <p:cNvSpPr txBox="1"/>
          <p:nvPr/>
        </p:nvSpPr>
        <p:spPr>
          <a:xfrm>
            <a:off x="8037576"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Kokoro, on the server</a:t>
            </a:r>
            <a:endParaRPr lang="en-US" sz="1300" dirty="0"/>
          </a:p>
        </p:txBody>
      </p:sp>
      <p:sp>
        <p:nvSpPr>
          <p:cNvPr id="21" name="Text 17"/>
          <p:cNvSpPr txBox="1"/>
          <p:nvPr/>
        </p:nvSpPr>
        <p:spPr>
          <a:xfrm>
            <a:off x="8037576"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A sentence at a time: the first is heard while the rest is made</a:t>
            </a:r>
            <a:endParaRPr lang="en-US" sz="1000" dirty="0"/>
          </a:p>
        </p:txBody>
      </p:sp>
      <p:sp>
        <p:nvSpPr>
          <p:cNvPr id="22" name="Shape 18"/>
          <p:cNvSpPr/>
          <p:nvPr/>
        </p:nvSpPr>
        <p:spPr>
          <a:xfrm>
            <a:off x="3291840" y="3154680"/>
            <a:ext cx="6620256" cy="960120"/>
          </a:xfrm>
          <a:prstGeom prst="roundRect">
            <a:avLst>
              <a:gd name="adj" fmla="val 11429"/>
            </a:avLst>
          </a:prstGeom>
          <a:solidFill>
            <a:srgbClr val="FBEAE9"/>
          </a:solidFill>
          <a:ln w="12700">
            <a:solidFill>
              <a:srgbClr val="FBEAE9"/>
            </a:solidFill>
            <a:prstDash val="solid"/>
          </a:ln>
        </p:spPr>
      </p:sp>
      <p:sp>
        <p:nvSpPr>
          <p:cNvPr id="23" name="Text 19"/>
          <p:cNvSpPr txBox="1"/>
          <p:nvPr/>
        </p:nvSpPr>
        <p:spPr>
          <a:xfrm>
            <a:off x="3474720" y="3246120"/>
            <a:ext cx="1828800" cy="274320"/>
          </a:xfrm>
          <a:prstGeom prst="rect">
            <a:avLst/>
          </a:prstGeom>
          <a:noFill/>
          <a:ln/>
        </p:spPr>
        <p:txBody>
          <a:bodyPr wrap="square" lIns="0" tIns="0" rIns="0" bIns="0" rtlCol="0" anchor="t"/>
          <a:lstStyle/>
          <a:p>
            <a:pPr indent="0" marL="0">
              <a:buNone/>
            </a:pPr>
            <a:r>
              <a:rPr lang="en-US" sz="1350" b="1" dirty="0">
                <a:solidFill>
                  <a:srgbClr val="D1352B"/>
                </a:solidFill>
              </a:rPr>
              <a:t>Barge-in</a:t>
            </a:r>
            <a:endParaRPr lang="en-US" sz="1350" dirty="0"/>
          </a:p>
        </p:txBody>
      </p:sp>
      <p:sp>
        <p:nvSpPr>
          <p:cNvPr id="24" name="Text 20"/>
          <p:cNvSpPr txBox="1"/>
          <p:nvPr/>
        </p:nvSpPr>
        <p:spPr>
          <a:xfrm>
            <a:off x="3474720" y="3547872"/>
            <a:ext cx="6309360" cy="502920"/>
          </a:xfrm>
          <a:prstGeom prst="rect">
            <a:avLst/>
          </a:prstGeom>
          <a:noFill/>
          <a:ln/>
        </p:spPr>
        <p:txBody>
          <a:bodyPr wrap="square" lIns="0" tIns="0" rIns="0" bIns="0" rtlCol="0" anchor="t"/>
          <a:lstStyle/>
          <a:p>
            <a:pPr indent="0" marL="0">
              <a:buNone/>
            </a:pPr>
            <a:r>
              <a:rPr lang="en-US" sz="1100" dirty="0">
                <a:solidFill>
                  <a:srgbClr val="0A0A0B"/>
                </a:solidFill>
              </a:rPr>
              <a:t>Start speaking while it talks: the transcriber says so, the app stops the voice at once, and a reply still on its way is dropped.</a:t>
            </a:r>
            <a:endParaRPr lang="en-US" sz="1100" dirty="0"/>
          </a:p>
        </p:txBody>
      </p:sp>
      <p:sp>
        <p:nvSpPr>
          <p:cNvPr id="25" name="Text 21"/>
          <p:cNvSpPr txBox="1"/>
          <p:nvPr/>
        </p:nvSpPr>
        <p:spPr>
          <a:xfrm>
            <a:off x="3291840" y="4343400"/>
            <a:ext cx="45720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ONE LIVE SESSION, IN SECONDS</a:t>
            </a:r>
            <a:endParaRPr lang="en-US" sz="1000" dirty="0"/>
          </a:p>
        </p:txBody>
      </p:sp>
      <p:sp>
        <p:nvSpPr>
          <p:cNvPr id="26" name="Shape 22"/>
          <p:cNvSpPr/>
          <p:nvPr/>
        </p:nvSpPr>
        <p:spPr>
          <a:xfrm>
            <a:off x="3291840" y="4617720"/>
            <a:ext cx="1554480" cy="914400"/>
          </a:xfrm>
          <a:prstGeom prst="roundRect">
            <a:avLst>
              <a:gd name="adj" fmla="val 12000"/>
            </a:avLst>
          </a:prstGeom>
          <a:solidFill>
            <a:srgbClr val="F6F7F8"/>
          </a:solidFill>
          <a:ln w="12700">
            <a:solidFill>
              <a:srgbClr val="F6F7F8"/>
            </a:solidFill>
            <a:prstDash val="solid"/>
          </a:ln>
        </p:spPr>
      </p:sp>
      <p:sp>
        <p:nvSpPr>
          <p:cNvPr id="27" name="Text 23"/>
          <p:cNvSpPr txBox="1"/>
          <p:nvPr/>
        </p:nvSpPr>
        <p:spPr>
          <a:xfrm>
            <a:off x="3429000"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a:t>
            </a:r>
            <a:endParaRPr lang="en-US" sz="2200" dirty="0"/>
          </a:p>
        </p:txBody>
      </p:sp>
      <p:sp>
        <p:nvSpPr>
          <p:cNvPr id="28" name="Text 24"/>
          <p:cNvSpPr txBox="1"/>
          <p:nvPr/>
        </p:nvSpPr>
        <p:spPr>
          <a:xfrm>
            <a:off x="3429000"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line open</a:t>
            </a:r>
            <a:endParaRPr lang="en-US" sz="1050" dirty="0"/>
          </a:p>
        </p:txBody>
      </p:sp>
      <p:sp>
        <p:nvSpPr>
          <p:cNvPr id="29" name="Shape 25"/>
          <p:cNvSpPr/>
          <p:nvPr/>
        </p:nvSpPr>
        <p:spPr>
          <a:xfrm>
            <a:off x="4965192" y="4617720"/>
            <a:ext cx="1554480" cy="914400"/>
          </a:xfrm>
          <a:prstGeom prst="roundRect">
            <a:avLst>
              <a:gd name="adj" fmla="val 12000"/>
            </a:avLst>
          </a:prstGeom>
          <a:solidFill>
            <a:srgbClr val="F6F7F8"/>
          </a:solidFill>
          <a:ln w="12700">
            <a:solidFill>
              <a:srgbClr val="F6F7F8"/>
            </a:solidFill>
            <a:prstDash val="solid"/>
          </a:ln>
        </p:spPr>
      </p:sp>
      <p:sp>
        <p:nvSpPr>
          <p:cNvPr id="30" name="Text 26"/>
          <p:cNvSpPr txBox="1"/>
          <p:nvPr/>
        </p:nvSpPr>
        <p:spPr>
          <a:xfrm>
            <a:off x="5102352"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2.0</a:t>
            </a:r>
            <a:endParaRPr lang="en-US" sz="2200" dirty="0"/>
          </a:p>
        </p:txBody>
      </p:sp>
      <p:sp>
        <p:nvSpPr>
          <p:cNvPr id="31" name="Text 27"/>
          <p:cNvSpPr txBox="1"/>
          <p:nvPr/>
        </p:nvSpPr>
        <p:spPr>
          <a:xfrm>
            <a:off x="5102352"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you start</a:t>
            </a:r>
            <a:endParaRPr lang="en-US" sz="1050" dirty="0"/>
          </a:p>
        </p:txBody>
      </p:sp>
      <p:sp>
        <p:nvSpPr>
          <p:cNvPr id="32" name="Shape 28"/>
          <p:cNvSpPr/>
          <p:nvPr/>
        </p:nvSpPr>
        <p:spPr>
          <a:xfrm>
            <a:off x="6638544" y="4617720"/>
            <a:ext cx="1554480" cy="914400"/>
          </a:xfrm>
          <a:prstGeom prst="roundRect">
            <a:avLst>
              <a:gd name="adj" fmla="val 12000"/>
            </a:avLst>
          </a:prstGeom>
          <a:solidFill>
            <a:srgbClr val="F6F7F8"/>
          </a:solidFill>
          <a:ln w="12700">
            <a:solidFill>
              <a:srgbClr val="F6F7F8"/>
            </a:solidFill>
            <a:prstDash val="solid"/>
          </a:ln>
        </p:spPr>
      </p:sp>
      <p:sp>
        <p:nvSpPr>
          <p:cNvPr id="33" name="Text 29"/>
          <p:cNvSpPr txBox="1"/>
          <p:nvPr/>
        </p:nvSpPr>
        <p:spPr>
          <a:xfrm>
            <a:off x="6775704" y="4663440"/>
            <a:ext cx="1280160" cy="457200"/>
          </a:xfrm>
          <a:prstGeom prst="rect">
            <a:avLst/>
          </a:prstGeom>
          <a:noFill/>
          <a:ln/>
        </p:spPr>
        <p:txBody>
          <a:bodyPr wrap="square" lIns="0" tIns="0" rIns="0" bIns="0" rtlCol="0" anchor="t"/>
          <a:lstStyle/>
          <a:p>
            <a:pPr indent="0" marL="0">
              <a:buNone/>
            </a:pPr>
            <a:r>
              <a:rPr lang="en-US" sz="2200" b="1" dirty="0">
                <a:solidFill>
                  <a:srgbClr val="0A7F44"/>
                </a:solidFill>
              </a:rPr>
              <a:t>3.6</a:t>
            </a:r>
            <a:endParaRPr lang="en-US" sz="2200" dirty="0"/>
          </a:p>
        </p:txBody>
      </p:sp>
      <p:sp>
        <p:nvSpPr>
          <p:cNvPr id="34" name="Text 30"/>
          <p:cNvSpPr txBox="1"/>
          <p:nvPr/>
        </p:nvSpPr>
        <p:spPr>
          <a:xfrm>
            <a:off x="6775704"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turn heard</a:t>
            </a:r>
            <a:endParaRPr lang="en-US" sz="1050" dirty="0"/>
          </a:p>
        </p:txBody>
      </p:sp>
      <p:sp>
        <p:nvSpPr>
          <p:cNvPr id="35" name="Shape 31"/>
          <p:cNvSpPr/>
          <p:nvPr/>
        </p:nvSpPr>
        <p:spPr>
          <a:xfrm>
            <a:off x="8311896" y="4617720"/>
            <a:ext cx="1554480" cy="914400"/>
          </a:xfrm>
          <a:prstGeom prst="roundRect">
            <a:avLst>
              <a:gd name="adj" fmla="val 12000"/>
            </a:avLst>
          </a:prstGeom>
          <a:solidFill>
            <a:srgbClr val="F6F7F8"/>
          </a:solidFill>
          <a:ln w="12700">
            <a:solidFill>
              <a:srgbClr val="F6F7F8"/>
            </a:solidFill>
            <a:prstDash val="solid"/>
          </a:ln>
        </p:spPr>
      </p:sp>
      <p:sp>
        <p:nvSpPr>
          <p:cNvPr id="36" name="Text 32"/>
          <p:cNvSpPr txBox="1"/>
          <p:nvPr/>
        </p:nvSpPr>
        <p:spPr>
          <a:xfrm>
            <a:off x="8449056"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12.3</a:t>
            </a:r>
            <a:endParaRPr lang="en-US" sz="2200" dirty="0"/>
          </a:p>
        </p:txBody>
      </p:sp>
      <p:sp>
        <p:nvSpPr>
          <p:cNvPr id="37" name="Text 33"/>
          <p:cNvSpPr txBox="1"/>
          <p:nvPr/>
        </p:nvSpPr>
        <p:spPr>
          <a:xfrm>
            <a:off x="8449056"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reply ready</a:t>
            </a:r>
            <a:endParaRPr lang="en-US" sz="1050" dirty="0"/>
          </a:p>
        </p:txBody>
      </p:sp>
      <p:sp>
        <p:nvSpPr>
          <p:cNvPr id="38" name="Text 34"/>
          <p:cNvSpPr txBox="1"/>
          <p:nvPr/>
        </p:nvSpPr>
        <p:spPr>
          <a:xfrm>
            <a:off x="3291840" y="5669280"/>
            <a:ext cx="6675120" cy="457200"/>
          </a:xfrm>
          <a:prstGeom prst="rect">
            <a:avLst/>
          </a:prstGeom>
          <a:noFill/>
          <a:ln/>
        </p:spPr>
        <p:txBody>
          <a:bodyPr wrap="square" lIns="0" tIns="0" rIns="0" bIns="0" rtlCol="0" anchor="t"/>
          <a:lstStyle/>
          <a:p>
            <a:pPr indent="0" marL="0">
              <a:buNone/>
            </a:pPr>
            <a:r>
              <a:rPr lang="en-US" sz="1000" dirty="0">
                <a:solidFill>
                  <a:srgbClr val="8A8A92"/>
                </a:solidFill>
              </a:rPr>
              <a:t>"When is my next game?" heard word by word; the reply came from the facts. submission/results/voice_live.json</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INTER-CLUB CHALLENGES · FEDERATED A2A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Challenge the club next door, nothing merged</a:t>
            </a:r>
            <a:endParaRPr lang="en-US" sz="3200" dirty="0"/>
          </a:p>
        </p:txBody>
      </p:sp>
      <p:sp>
        <p:nvSpPr>
          <p:cNvPr id="5" name="Shape 2"/>
          <p:cNvSpPr/>
          <p:nvPr/>
        </p:nvSpPr>
        <p:spPr>
          <a:xfrm>
            <a:off x="2011680" y="2560320"/>
            <a:ext cx="2468880" cy="914"/>
          </a:xfrm>
          <a:prstGeom prst="line">
            <a:avLst/>
          </a:prstGeom>
          <a:noFill/>
          <a:ln w="25400">
            <a:solidFill>
              <a:srgbClr val="DCDCE0"/>
            </a:solidFill>
            <a:prstDash val="dash"/>
          </a:ln>
        </p:spPr>
      </p:sp>
      <p:sp>
        <p:nvSpPr>
          <p:cNvPr id="6" name="Shape 3"/>
          <p:cNvSpPr/>
          <p:nvPr/>
        </p:nvSpPr>
        <p:spPr>
          <a:xfrm>
            <a:off x="2011680" y="2560320"/>
            <a:ext cx="1234440" cy="2103120"/>
          </a:xfrm>
          <a:prstGeom prst="line">
            <a:avLst/>
          </a:prstGeom>
          <a:noFill/>
          <a:ln w="25400">
            <a:solidFill>
              <a:srgbClr val="DCDCE0"/>
            </a:solidFill>
            <a:prstDash val="dash"/>
          </a:ln>
        </p:spPr>
      </p:sp>
      <p:sp>
        <p:nvSpPr>
          <p:cNvPr id="7" name="Shape 4"/>
          <p:cNvSpPr/>
          <p:nvPr/>
        </p:nvSpPr>
        <p:spPr>
          <a:xfrm flipH="1">
            <a:off x="3246120" y="2560320"/>
            <a:ext cx="1234440" cy="2103120"/>
          </a:xfrm>
          <a:prstGeom prst="line">
            <a:avLst/>
          </a:prstGeom>
          <a:noFill/>
          <a:ln w="25400">
            <a:solidFill>
              <a:srgbClr val="DCDCE0"/>
            </a:solidFill>
            <a:prstDash val="dash"/>
          </a:ln>
        </p:spPr>
      </p:sp>
      <p:sp>
        <p:nvSpPr>
          <p:cNvPr id="8" name="Shape 5"/>
          <p:cNvSpPr/>
          <p:nvPr/>
        </p:nvSpPr>
        <p:spPr>
          <a:xfrm>
            <a:off x="1463040" y="2103120"/>
            <a:ext cx="1097280" cy="914400"/>
          </a:xfrm>
          <a:prstGeom prst="ellipse">
            <a:avLst/>
          </a:prstGeom>
          <a:solidFill>
            <a:srgbClr val="FFFFFF"/>
          </a:solidFill>
          <a:ln w="31750">
            <a:solidFill>
              <a:srgbClr val="0A7F44"/>
            </a:solidFill>
            <a:prstDash val="solid"/>
          </a:ln>
        </p:spPr>
      </p:sp>
      <p:sp>
        <p:nvSpPr>
          <p:cNvPr id="9" name="Text 6"/>
          <p:cNvSpPr txBox="1"/>
          <p:nvPr/>
        </p:nvSpPr>
        <p:spPr>
          <a:xfrm>
            <a:off x="146304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A</a:t>
            </a:r>
            <a:endParaRPr lang="en-US" sz="1250" dirty="0"/>
          </a:p>
        </p:txBody>
      </p:sp>
      <p:sp>
        <p:nvSpPr>
          <p:cNvPr id="10" name="Text 7"/>
          <p:cNvSpPr txBox="1"/>
          <p:nvPr/>
        </p:nvSpPr>
        <p:spPr>
          <a:xfrm>
            <a:off x="146304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1" name="Shape 8"/>
          <p:cNvSpPr/>
          <p:nvPr/>
        </p:nvSpPr>
        <p:spPr>
          <a:xfrm>
            <a:off x="3931920" y="2103120"/>
            <a:ext cx="1097280" cy="914400"/>
          </a:xfrm>
          <a:prstGeom prst="ellipse">
            <a:avLst/>
          </a:prstGeom>
          <a:solidFill>
            <a:srgbClr val="FFFFFF"/>
          </a:solidFill>
          <a:ln w="31750">
            <a:solidFill>
              <a:srgbClr val="0064E0"/>
            </a:solidFill>
            <a:prstDash val="solid"/>
          </a:ln>
        </p:spPr>
      </p:sp>
      <p:sp>
        <p:nvSpPr>
          <p:cNvPr id="12" name="Text 9"/>
          <p:cNvSpPr txBox="1"/>
          <p:nvPr/>
        </p:nvSpPr>
        <p:spPr>
          <a:xfrm>
            <a:off x="393192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B</a:t>
            </a:r>
            <a:endParaRPr lang="en-US" sz="1250" dirty="0"/>
          </a:p>
        </p:txBody>
      </p:sp>
      <p:sp>
        <p:nvSpPr>
          <p:cNvPr id="13" name="Text 10"/>
          <p:cNvSpPr txBox="1"/>
          <p:nvPr/>
        </p:nvSpPr>
        <p:spPr>
          <a:xfrm>
            <a:off x="393192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4" name="Shape 11"/>
          <p:cNvSpPr/>
          <p:nvPr/>
        </p:nvSpPr>
        <p:spPr>
          <a:xfrm>
            <a:off x="2697480" y="4206240"/>
            <a:ext cx="1097280" cy="914400"/>
          </a:xfrm>
          <a:prstGeom prst="ellipse">
            <a:avLst/>
          </a:prstGeom>
          <a:solidFill>
            <a:srgbClr val="FFFFFF"/>
          </a:solidFill>
          <a:ln w="31750">
            <a:solidFill>
              <a:srgbClr val="B26A00"/>
            </a:solidFill>
            <a:prstDash val="solid"/>
          </a:ln>
        </p:spPr>
      </p:sp>
      <p:sp>
        <p:nvSpPr>
          <p:cNvPr id="15" name="Text 12"/>
          <p:cNvSpPr txBox="1"/>
          <p:nvPr/>
        </p:nvSpPr>
        <p:spPr>
          <a:xfrm>
            <a:off x="2697480" y="440740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C</a:t>
            </a:r>
            <a:endParaRPr lang="en-US" sz="1250" dirty="0"/>
          </a:p>
        </p:txBody>
      </p:sp>
      <p:sp>
        <p:nvSpPr>
          <p:cNvPr id="16" name="Text 13"/>
          <p:cNvSpPr txBox="1"/>
          <p:nvPr/>
        </p:nvSpPr>
        <p:spPr>
          <a:xfrm>
            <a:off x="2697480" y="468172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7" name="Text 14"/>
          <p:cNvSpPr txBox="1"/>
          <p:nvPr/>
        </p:nvSpPr>
        <p:spPr>
          <a:xfrm>
            <a:off x="548640" y="5577840"/>
            <a:ext cx="4937760" cy="548640"/>
          </a:xfrm>
          <a:prstGeom prst="rect">
            <a:avLst/>
          </a:prstGeom>
          <a:noFill/>
          <a:ln/>
        </p:spPr>
        <p:txBody>
          <a:bodyPr wrap="square" lIns="0" tIns="0" rIns="0" bIns="0" rtlCol="0" anchor="t"/>
          <a:lstStyle/>
          <a:p>
            <a:pPr indent="0" marL="0">
              <a:buNone/>
            </a:pPr>
            <a:r>
              <a:rPr lang="en-US" sz="1100" dirty="0">
                <a:solidFill>
                  <a:srgbClr val="55555C"/>
                </a:solidFill>
              </a:rPr>
              <a:t>Bored of the same faces? Your club's agents can ask the university club's. Each club keeps its own server; the config holds only addresses, and names, members and keys come from each club's card</a:t>
            </a:r>
            <a:endParaRPr lang="en-US" sz="1100" dirty="0"/>
          </a:p>
        </p:txBody>
      </p:sp>
      <p:sp>
        <p:nvSpPr>
          <p:cNvPr id="18" name="Shape 15"/>
          <p:cNvSpPr/>
          <p:nvPr/>
        </p:nvSpPr>
        <p:spPr>
          <a:xfrm>
            <a:off x="5760720" y="1719072"/>
            <a:ext cx="365760" cy="365760"/>
          </a:xfrm>
          <a:prstGeom prst="ellipse">
            <a:avLst/>
          </a:prstGeom>
          <a:solidFill>
            <a:srgbClr val="0064E0"/>
          </a:solidFill>
          <a:ln w="12700">
            <a:solidFill>
              <a:srgbClr val="0064E0"/>
            </a:solidFill>
            <a:prstDash val="solid"/>
          </a:ln>
        </p:spPr>
      </p:sp>
      <p:sp>
        <p:nvSpPr>
          <p:cNvPr id="19" name="Text 16"/>
          <p:cNvSpPr txBox="1"/>
          <p:nvPr/>
        </p:nvSpPr>
        <p:spPr>
          <a:xfrm>
            <a:off x="5760720" y="17190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20" name="Text 17"/>
          <p:cNvSpPr txBox="1"/>
          <p:nvPr/>
        </p:nvSpPr>
        <p:spPr>
          <a:xfrm>
            <a:off x="6291072" y="169164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Found by its card</a:t>
            </a:r>
            <a:endParaRPr lang="en-US" sz="1400" dirty="0"/>
          </a:p>
        </p:txBody>
      </p:sp>
      <p:sp>
        <p:nvSpPr>
          <p:cNvPr id="21" name="Text 18"/>
          <p:cNvSpPr txBox="1"/>
          <p:nvPr/>
        </p:nvSpPr>
        <p:spPr>
          <a:xfrm>
            <a:off x="6291072" y="1993392"/>
            <a:ext cx="5303520" cy="594360"/>
          </a:xfrm>
          <a:prstGeom prst="rect">
            <a:avLst/>
          </a:prstGeom>
          <a:noFill/>
          <a:ln/>
        </p:spPr>
        <p:txBody>
          <a:bodyPr wrap="square" lIns="0" tIns="0" rIns="0" bIns="0" rtlCol="0" anchor="t"/>
          <a:lstStyle/>
          <a:p>
            <a:pPr indent="0" marL="0">
              <a:buNone/>
            </a:pPr>
            <a:r>
              <a:rPr lang="en-US" sz="1100" dirty="0">
                <a:solidFill>
                  <a:srgbClr val="55555C"/>
                </a:solidFill>
              </a:rPr>
              <a:t>/a2a/club.json: the club's name, the members others may ask (a public profile each), where its keys are.</a:t>
            </a:r>
            <a:endParaRPr lang="en-US" sz="1100" dirty="0"/>
          </a:p>
        </p:txBody>
      </p:sp>
      <p:sp>
        <p:nvSpPr>
          <p:cNvPr id="22" name="Shape 19"/>
          <p:cNvSpPr/>
          <p:nvPr/>
        </p:nvSpPr>
        <p:spPr>
          <a:xfrm>
            <a:off x="5760720" y="2679192"/>
            <a:ext cx="365760" cy="365760"/>
          </a:xfrm>
          <a:prstGeom prst="ellipse">
            <a:avLst/>
          </a:prstGeom>
          <a:solidFill>
            <a:srgbClr val="0064E0"/>
          </a:solidFill>
          <a:ln w="12700">
            <a:solidFill>
              <a:srgbClr val="0064E0"/>
            </a:solidFill>
            <a:prstDash val="solid"/>
          </a:ln>
        </p:spPr>
      </p:sp>
      <p:sp>
        <p:nvSpPr>
          <p:cNvPr id="23" name="Text 20"/>
          <p:cNvSpPr txBox="1"/>
          <p:nvPr/>
        </p:nvSpPr>
        <p:spPr>
          <a:xfrm>
            <a:off x="5760720" y="26791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24" name="Text 21"/>
          <p:cNvSpPr txBox="1"/>
          <p:nvPr/>
        </p:nvSpPr>
        <p:spPr>
          <a:xfrm>
            <a:off x="6291072" y="265176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Pinned on first use</a:t>
            </a:r>
            <a:endParaRPr lang="en-US" sz="1400" dirty="0"/>
          </a:p>
        </p:txBody>
      </p:sp>
      <p:sp>
        <p:nvSpPr>
          <p:cNvPr id="25" name="Text 22"/>
          <p:cNvSpPr txBox="1"/>
          <p:nvPr/>
        </p:nvSpPr>
        <p:spPr>
          <a:xfrm>
            <a:off x="6291072" y="2953512"/>
            <a:ext cx="5303520" cy="594360"/>
          </a:xfrm>
          <a:prstGeom prst="rect">
            <a:avLst/>
          </a:prstGeom>
          <a:noFill/>
          <a:ln/>
        </p:spPr>
        <p:txBody>
          <a:bodyPr wrap="square" lIns="0" tIns="0" rIns="0" bIns="0" rtlCol="0" anchor="t"/>
          <a:lstStyle/>
          <a:p>
            <a:pPr indent="0" marL="0">
              <a:buNone/>
            </a:pPr>
            <a:r>
              <a:rPr lang="en-US" sz="1100" dirty="0">
                <a:solidFill>
                  <a:srgbClr val="55555C"/>
                </a:solidFill>
              </a:rPr>
              <a:t>Every request between clubs is signed; the key is pinned the first time, as between our two gateways.</a:t>
            </a:r>
            <a:endParaRPr lang="en-US" sz="1100" dirty="0"/>
          </a:p>
        </p:txBody>
      </p:sp>
      <p:sp>
        <p:nvSpPr>
          <p:cNvPr id="26" name="Shape 23"/>
          <p:cNvSpPr/>
          <p:nvPr/>
        </p:nvSpPr>
        <p:spPr>
          <a:xfrm>
            <a:off x="5760720" y="3639312"/>
            <a:ext cx="365760" cy="365760"/>
          </a:xfrm>
          <a:prstGeom prst="ellipse">
            <a:avLst/>
          </a:prstGeom>
          <a:solidFill>
            <a:srgbClr val="0064E0"/>
          </a:solidFill>
          <a:ln w="12700">
            <a:solidFill>
              <a:srgbClr val="0064E0"/>
            </a:solidFill>
            <a:prstDash val="solid"/>
          </a:ln>
        </p:spPr>
      </p:sp>
      <p:sp>
        <p:nvSpPr>
          <p:cNvPr id="27" name="Text 24"/>
          <p:cNvSpPr txBox="1"/>
          <p:nvPr/>
        </p:nvSpPr>
        <p:spPr>
          <a:xfrm>
            <a:off x="5760720" y="363931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8" name="Text 25"/>
          <p:cNvSpPr txBox="1"/>
          <p:nvPr/>
        </p:nvSpPr>
        <p:spPr>
          <a:xfrm>
            <a:off x="6291072" y="361188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Keys can change</a:t>
            </a:r>
            <a:endParaRPr lang="en-US" sz="1400" dirty="0"/>
          </a:p>
        </p:txBody>
      </p:sp>
      <p:sp>
        <p:nvSpPr>
          <p:cNvPr id="29" name="Text 26"/>
          <p:cNvSpPr txBox="1"/>
          <p:nvPr/>
        </p:nvSpPr>
        <p:spPr>
          <a:xfrm>
            <a:off x="6291072" y="3913632"/>
            <a:ext cx="5303520" cy="594360"/>
          </a:xfrm>
          <a:prstGeom prst="rect">
            <a:avLst/>
          </a:prstGeom>
          <a:noFill/>
          <a:ln/>
        </p:spPr>
        <p:txBody>
          <a:bodyPr wrap="square" lIns="0" tIns="0" rIns="0" bIns="0" rtlCol="0" anchor="t"/>
          <a:lstStyle/>
          <a:p>
            <a:pPr indent="0" marL="0">
              <a:buNone/>
            </a:pPr>
            <a:r>
              <a:rPr lang="en-US" sz="1100" dirty="0">
                <a:solidFill>
                  <a:srgbClr val="55555C"/>
                </a:solidFill>
              </a:rPr>
              <a:t>The old key signs a hand-over to the new one. A club whose pin is gone follows the chain from its pin, and re-pins only if it holds.</a:t>
            </a:r>
            <a:endParaRPr lang="en-US" sz="1100" dirty="0"/>
          </a:p>
        </p:txBody>
      </p:sp>
      <p:sp>
        <p:nvSpPr>
          <p:cNvPr id="30" name="Shape 27"/>
          <p:cNvSpPr/>
          <p:nvPr/>
        </p:nvSpPr>
        <p:spPr>
          <a:xfrm>
            <a:off x="5760720" y="4599432"/>
            <a:ext cx="365760" cy="365760"/>
          </a:xfrm>
          <a:prstGeom prst="ellipse">
            <a:avLst/>
          </a:prstGeom>
          <a:solidFill>
            <a:srgbClr val="0064E0"/>
          </a:solidFill>
          <a:ln w="12700">
            <a:solidFill>
              <a:srgbClr val="0064E0"/>
            </a:solidFill>
            <a:prstDash val="solid"/>
          </a:ln>
        </p:spPr>
      </p:sp>
      <p:sp>
        <p:nvSpPr>
          <p:cNvPr id="31" name="Text 28"/>
          <p:cNvSpPr txBox="1"/>
          <p:nvPr/>
        </p:nvSpPr>
        <p:spPr>
          <a:xfrm>
            <a:off x="5760720" y="45994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32" name="Text 29"/>
          <p:cNvSpPr txBox="1"/>
          <p:nvPr/>
        </p:nvSpPr>
        <p:spPr>
          <a:xfrm>
            <a:off x="6291072" y="457200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Forgeries refused</a:t>
            </a:r>
            <a:endParaRPr lang="en-US" sz="1400" dirty="0"/>
          </a:p>
        </p:txBody>
      </p:sp>
      <p:sp>
        <p:nvSpPr>
          <p:cNvPr id="33" name="Text 30"/>
          <p:cNvSpPr txBox="1"/>
          <p:nvPr/>
        </p:nvSpPr>
        <p:spPr>
          <a:xfrm>
            <a:off x="6291072" y="4873752"/>
            <a:ext cx="5303520" cy="594360"/>
          </a:xfrm>
          <a:prstGeom prst="rect">
            <a:avLst/>
          </a:prstGeom>
          <a:noFill/>
          <a:ln/>
        </p:spPr>
        <p:txBody>
          <a:bodyPr wrap="square" lIns="0" tIns="0" rIns="0" bIns="0" rtlCol="0" anchor="t"/>
          <a:lstStyle/>
          <a:p>
            <a:pPr indent="0" marL="0">
              <a:buNone/>
            </a:pPr>
            <a:r>
              <a:rPr lang="en-US" sz="1100" dirty="0">
                <a:solidFill>
                  <a:srgbClr val="55555C"/>
                </a:solidFill>
              </a:rPr>
              <a:t>A hand-over signed by any other key, or a page that isn't a card, is refused and logged.</a:t>
            </a:r>
            <a:endParaRPr lang="en-US" sz="1100" dirty="0"/>
          </a:p>
        </p:txBody>
      </p:sp>
      <p:sp>
        <p:nvSpPr>
          <p:cNvPr id="34" name="Shape 31"/>
          <p:cNvSpPr/>
          <p:nvPr/>
        </p:nvSpPr>
        <p:spPr>
          <a:xfrm>
            <a:off x="5760720" y="5532120"/>
            <a:ext cx="5852160" cy="685800"/>
          </a:xfrm>
          <a:prstGeom prst="roundRect">
            <a:avLst>
              <a:gd name="adj" fmla="val 16000"/>
            </a:avLst>
          </a:prstGeom>
          <a:solidFill>
            <a:srgbClr val="E9F3EC"/>
          </a:solidFill>
          <a:ln w="12700">
            <a:solidFill>
              <a:srgbClr val="E9F3EC"/>
            </a:solidFill>
            <a:prstDash val="solid"/>
          </a:ln>
        </p:spPr>
      </p:sp>
      <p:sp>
        <p:nvSpPr>
          <p:cNvPr id="35" name="Text 32"/>
          <p:cNvSpPr txBox="1"/>
          <p:nvPr/>
        </p:nvSpPr>
        <p:spPr>
          <a:xfrm>
            <a:off x="5943600" y="5532120"/>
            <a:ext cx="5577840" cy="685800"/>
          </a:xfrm>
          <a:prstGeom prst="rect">
            <a:avLst/>
          </a:prstGeom>
          <a:noFill/>
          <a:ln/>
        </p:spPr>
        <p:txBody>
          <a:bodyPr wrap="square" lIns="0" tIns="0" rIns="0" bIns="0" rtlCol="0" anchor="ctr"/>
          <a:lstStyle/>
          <a:p>
            <a:pPr indent="0" marL="0">
              <a:buNone/>
            </a:pPr>
            <a:r>
              <a:rPr lang="en-US" sz="1100" b="1" dirty="0">
                <a:solidFill>
                  <a:srgbClr val="0A0A0B"/>
                </a:solidFill>
              </a:rPr>
              <a:t>Tested over HTTP with three clubs: found, signed, a rotation followed two hand-overs deep, a forged one refused (test/federation_unit.mjs)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AGENT MEMORY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Notes that update themselves, checked by code</a:t>
            </a:r>
            <a:endParaRPr lang="en-US" sz="3200" dirty="0"/>
          </a:p>
        </p:txBody>
      </p:sp>
      <p:sp>
        <p:nvSpPr>
          <p:cNvPr id="5" name="Shape 2"/>
          <p:cNvSpPr/>
          <p:nvPr/>
        </p:nvSpPr>
        <p:spPr>
          <a:xfrm>
            <a:off x="548640" y="1691640"/>
            <a:ext cx="1298448" cy="2057400"/>
          </a:xfrm>
          <a:prstGeom prst="roundRect">
            <a:avLst>
              <a:gd name="adj" fmla="val 8451"/>
            </a:avLst>
          </a:prstGeom>
          <a:solidFill>
            <a:srgbClr val="F6F7F8"/>
          </a:solidFill>
          <a:ln w="12700">
            <a:solidFill>
              <a:srgbClr val="F6F7F8"/>
            </a:solidFill>
            <a:prstDash val="solid"/>
          </a:ln>
        </p:spPr>
      </p:sp>
      <p:sp>
        <p:nvSpPr>
          <p:cNvPr id="6" name="Text 3"/>
          <p:cNvSpPr txBox="1"/>
          <p:nvPr/>
        </p:nvSpPr>
        <p:spPr>
          <a:xfrm>
            <a:off x="658368" y="1783080"/>
            <a:ext cx="1097280" cy="201168"/>
          </a:xfrm>
          <a:prstGeom prst="rect">
            <a:avLst/>
          </a:prstGeom>
          <a:noFill/>
          <a:ln/>
        </p:spPr>
        <p:txBody>
          <a:bodyPr wrap="square" lIns="0" tIns="0" rIns="0" bIns="0" rtlCol="0" anchor="t"/>
          <a:lstStyle/>
          <a:p>
            <a:pPr indent="0" marL="0">
              <a:buNone/>
            </a:pPr>
            <a:r>
              <a:rPr lang="en-US" sz="950" b="1" spc="100" kern="0" dirty="0">
                <a:solidFill>
                  <a:srgbClr val="55555C"/>
                </a:solidFill>
              </a:rPr>
              <a:t>1 · NOTES</a:t>
            </a:r>
            <a:endParaRPr lang="en-US" sz="950" dirty="0"/>
          </a:p>
        </p:txBody>
      </p:sp>
      <p:sp>
        <p:nvSpPr>
          <p:cNvPr id="7" name="Text 4"/>
          <p:cNvSpPr txBox="1"/>
          <p:nvPr/>
        </p:nvSpPr>
        <p:spPr>
          <a:xfrm>
            <a:off x="658368"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Your words and the facts</a:t>
            </a:r>
            <a:endParaRPr lang="en-US" sz="1250" dirty="0"/>
          </a:p>
        </p:txBody>
      </p:sp>
      <p:sp>
        <p:nvSpPr>
          <p:cNvPr id="8" name="Text 5"/>
          <p:cNvSpPr txBox="1"/>
          <p:nvPr/>
        </p:nvSpPr>
        <p:spPr>
          <a:xfrm>
            <a:off x="658368"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Messenger, voice, the app; games and health app. Nothing another agent wrote.</a:t>
            </a:r>
            <a:endParaRPr lang="en-US" sz="950" dirty="0"/>
          </a:p>
        </p:txBody>
      </p:sp>
      <p:sp>
        <p:nvSpPr>
          <p:cNvPr id="9" name="Shape 6"/>
          <p:cNvSpPr/>
          <p:nvPr/>
        </p:nvSpPr>
        <p:spPr>
          <a:xfrm>
            <a:off x="1856232" y="2715768"/>
            <a:ext cx="82296" cy="0"/>
          </a:xfrm>
          <a:prstGeom prst="line">
            <a:avLst/>
          </a:prstGeom>
          <a:noFill/>
          <a:ln w="22225">
            <a:solidFill>
              <a:srgbClr val="8A8A92"/>
            </a:solidFill>
            <a:prstDash val="solid"/>
            <a:tailEnd type="triangle"/>
          </a:ln>
        </p:spPr>
      </p:sp>
      <p:sp>
        <p:nvSpPr>
          <p:cNvPr id="10" name="Shape 7"/>
          <p:cNvSpPr/>
          <p:nvPr/>
        </p:nvSpPr>
        <p:spPr>
          <a:xfrm>
            <a:off x="1947672" y="1691640"/>
            <a:ext cx="1298448" cy="2057400"/>
          </a:xfrm>
          <a:prstGeom prst="roundRect">
            <a:avLst>
              <a:gd name="adj" fmla="val 8451"/>
            </a:avLst>
          </a:prstGeom>
          <a:solidFill>
            <a:srgbClr val="E8F1FD"/>
          </a:solidFill>
          <a:ln w="12700">
            <a:solidFill>
              <a:srgbClr val="E8F1FD"/>
            </a:solidFill>
            <a:prstDash val="solid"/>
          </a:ln>
        </p:spPr>
      </p:sp>
      <p:sp>
        <p:nvSpPr>
          <p:cNvPr id="11" name="Text 8"/>
          <p:cNvSpPr txBox="1"/>
          <p:nvPr/>
        </p:nvSpPr>
        <p:spPr>
          <a:xfrm>
            <a:off x="2057400"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2 · EMBED</a:t>
            </a:r>
            <a:endParaRPr lang="en-US" sz="950" dirty="0"/>
          </a:p>
        </p:txBody>
      </p:sp>
      <p:sp>
        <p:nvSpPr>
          <p:cNvPr id="12" name="Text 9"/>
          <p:cNvSpPr txBox="1"/>
          <p:nvPr/>
        </p:nvSpPr>
        <p:spPr>
          <a:xfrm>
            <a:off x="2057400"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Meta's DRAMA</a:t>
            </a:r>
            <a:endParaRPr lang="en-US" sz="1250" dirty="0"/>
          </a:p>
        </p:txBody>
      </p:sp>
      <p:sp>
        <p:nvSpPr>
          <p:cNvPr id="13" name="Text 10"/>
          <p:cNvSpPr txBox="1"/>
          <p:nvPr/>
        </p:nvSpPr>
        <p:spPr>
          <a:xfrm>
            <a:off x="2057400"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drama-base, all 768 dimensions, on the server's CPU</a:t>
            </a:r>
            <a:endParaRPr lang="en-US" sz="950" dirty="0"/>
          </a:p>
        </p:txBody>
      </p:sp>
      <p:sp>
        <p:nvSpPr>
          <p:cNvPr id="14" name="Shape 11"/>
          <p:cNvSpPr/>
          <p:nvPr/>
        </p:nvSpPr>
        <p:spPr>
          <a:xfrm>
            <a:off x="3255264" y="2715768"/>
            <a:ext cx="82296" cy="0"/>
          </a:xfrm>
          <a:prstGeom prst="line">
            <a:avLst/>
          </a:prstGeom>
          <a:noFill/>
          <a:ln w="22225">
            <a:solidFill>
              <a:srgbClr val="8A8A92"/>
            </a:solidFill>
            <a:prstDash val="solid"/>
            <a:tailEnd type="triangle"/>
          </a:ln>
        </p:spPr>
      </p:sp>
      <p:sp>
        <p:nvSpPr>
          <p:cNvPr id="15" name="Shape 12"/>
          <p:cNvSpPr/>
          <p:nvPr/>
        </p:nvSpPr>
        <p:spPr>
          <a:xfrm>
            <a:off x="3346704" y="1691640"/>
            <a:ext cx="1298448" cy="2057400"/>
          </a:xfrm>
          <a:prstGeom prst="roundRect">
            <a:avLst>
              <a:gd name="adj" fmla="val 8451"/>
            </a:avLst>
          </a:prstGeom>
          <a:solidFill>
            <a:srgbClr val="E8F1FD"/>
          </a:solidFill>
          <a:ln w="12700">
            <a:solidFill>
              <a:srgbClr val="E8F1FD"/>
            </a:solidFill>
            <a:prstDash val="solid"/>
          </a:ln>
        </p:spPr>
      </p:sp>
      <p:sp>
        <p:nvSpPr>
          <p:cNvPr id="16" name="Text 13"/>
          <p:cNvSpPr txBox="1"/>
          <p:nvPr/>
        </p:nvSpPr>
        <p:spPr>
          <a:xfrm>
            <a:off x="3456432"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3 · RETRIEVE</a:t>
            </a:r>
            <a:endParaRPr lang="en-US" sz="950" dirty="0"/>
          </a:p>
        </p:txBody>
      </p:sp>
      <p:sp>
        <p:nvSpPr>
          <p:cNvPr id="17" name="Text 14"/>
          <p:cNvSpPr txBox="1"/>
          <p:nvPr/>
        </p:nvSpPr>
        <p:spPr>
          <a:xfrm>
            <a:off x="3456432"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Meaning × age</a:t>
            </a:r>
            <a:endParaRPr lang="en-US" sz="1250" dirty="0"/>
          </a:p>
        </p:txBody>
      </p:sp>
      <p:sp>
        <p:nvSpPr>
          <p:cNvPr id="18" name="Text 15"/>
          <p:cNvSpPr txBox="1"/>
          <p:nvPr/>
        </p:nvSpPr>
        <p:spPr>
          <a:xfrm>
            <a:off x="3456432"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Cosine similarity, faded by age (a body note halves in a week); the top notes</a:t>
            </a:r>
            <a:endParaRPr lang="en-US" sz="950" dirty="0"/>
          </a:p>
        </p:txBody>
      </p:sp>
      <p:sp>
        <p:nvSpPr>
          <p:cNvPr id="19" name="Shape 16"/>
          <p:cNvSpPr/>
          <p:nvPr/>
        </p:nvSpPr>
        <p:spPr>
          <a:xfrm>
            <a:off x="4654296" y="2715768"/>
            <a:ext cx="82296" cy="0"/>
          </a:xfrm>
          <a:prstGeom prst="line">
            <a:avLst/>
          </a:prstGeom>
          <a:noFill/>
          <a:ln w="22225">
            <a:solidFill>
              <a:srgbClr val="8A8A92"/>
            </a:solidFill>
            <a:prstDash val="solid"/>
            <a:tailEnd type="triangle"/>
          </a:ln>
        </p:spPr>
      </p:sp>
      <p:sp>
        <p:nvSpPr>
          <p:cNvPr id="20" name="Shape 17"/>
          <p:cNvSpPr/>
          <p:nvPr/>
        </p:nvSpPr>
        <p:spPr>
          <a:xfrm>
            <a:off x="4745736" y="1691640"/>
            <a:ext cx="1298448" cy="2057400"/>
          </a:xfrm>
          <a:prstGeom prst="roundRect">
            <a:avLst>
              <a:gd name="adj" fmla="val 8451"/>
            </a:avLst>
          </a:prstGeom>
          <a:solidFill>
            <a:srgbClr val="E9F3EC"/>
          </a:solidFill>
          <a:ln w="12700">
            <a:solidFill>
              <a:srgbClr val="E9F3EC"/>
            </a:solidFill>
            <a:prstDash val="solid"/>
          </a:ln>
        </p:spPr>
      </p:sp>
      <p:sp>
        <p:nvSpPr>
          <p:cNvPr id="21" name="Text 18"/>
          <p:cNvSpPr txBox="1"/>
          <p:nvPr/>
        </p:nvSpPr>
        <p:spPr>
          <a:xfrm>
            <a:off x="4855464" y="1783080"/>
            <a:ext cx="1097280" cy="201168"/>
          </a:xfrm>
          <a:prstGeom prst="rect">
            <a:avLst/>
          </a:prstGeom>
          <a:noFill/>
          <a:ln/>
        </p:spPr>
        <p:txBody>
          <a:bodyPr wrap="square" lIns="0" tIns="0" rIns="0" bIns="0" rtlCol="0" anchor="t"/>
          <a:lstStyle/>
          <a:p>
            <a:pPr indent="0" marL="0">
              <a:buNone/>
            </a:pPr>
            <a:r>
              <a:rPr lang="en-US" sz="950" b="1" spc="100" kern="0" dirty="0">
                <a:solidFill>
                  <a:srgbClr val="0A7F44"/>
                </a:solidFill>
              </a:rPr>
              <a:t>4 · GROUND</a:t>
            </a:r>
            <a:endParaRPr lang="en-US" sz="950" dirty="0"/>
          </a:p>
        </p:txBody>
      </p:sp>
      <p:sp>
        <p:nvSpPr>
          <p:cNvPr id="22" name="Text 19"/>
          <p:cNvSpPr txBox="1"/>
          <p:nvPr/>
        </p:nvSpPr>
        <p:spPr>
          <a:xfrm>
            <a:off x="4855464"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Plan, with citations</a:t>
            </a:r>
            <a:endParaRPr lang="en-US" sz="1250" dirty="0"/>
          </a:p>
        </p:txBody>
      </p:sp>
      <p:sp>
        <p:nvSpPr>
          <p:cNvPr id="23" name="Text 20"/>
          <p:cNvSpPr txBox="1"/>
          <p:nvPr/>
        </p:nvSpPr>
        <p:spPr>
          <a:xfrm>
            <a:off x="4855464"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Muse Glimmer plans from them; code's rules cite their notes, checked</a:t>
            </a:r>
            <a:endParaRPr lang="en-US" sz="950" dirty="0"/>
          </a:p>
        </p:txBody>
      </p:sp>
      <p:sp>
        <p:nvSpPr>
          <p:cNvPr id="24" name="Shape 21"/>
          <p:cNvSpPr/>
          <p:nvPr/>
        </p:nvSpPr>
        <p:spPr>
          <a:xfrm>
            <a:off x="548640" y="3931920"/>
            <a:ext cx="5486400" cy="1051560"/>
          </a:xfrm>
          <a:prstGeom prst="roundRect">
            <a:avLst>
              <a:gd name="adj" fmla="val 10435"/>
            </a:avLst>
          </a:prstGeom>
          <a:solidFill>
            <a:srgbClr val="FBF3E6"/>
          </a:solidFill>
          <a:ln w="12700">
            <a:solidFill>
              <a:srgbClr val="FBF3E6"/>
            </a:solidFill>
            <a:prstDash val="solid"/>
          </a:ln>
        </p:spPr>
      </p:sp>
      <p:sp>
        <p:nvSpPr>
          <p:cNvPr id="25" name="Text 22"/>
          <p:cNvSpPr txBox="1"/>
          <p:nvPr/>
        </p:nvSpPr>
        <p:spPr>
          <a:xfrm>
            <a:off x="731520" y="4023360"/>
            <a:ext cx="5120640" cy="274320"/>
          </a:xfrm>
          <a:prstGeom prst="rect">
            <a:avLst/>
          </a:prstGeom>
          <a:noFill/>
          <a:ln/>
        </p:spPr>
        <p:txBody>
          <a:bodyPr wrap="square" lIns="0" tIns="0" rIns="0" bIns="0" rtlCol="0" anchor="t"/>
          <a:lstStyle/>
          <a:p>
            <a:pPr indent="0" marL="0">
              <a:buNone/>
            </a:pPr>
            <a:r>
              <a:rPr lang="en-US" sz="1300" b="1" dirty="0">
                <a:solidFill>
                  <a:srgbClr val="B26A00"/>
                </a:solidFill>
              </a:rPr>
              <a:t>Notes that change</a:t>
            </a:r>
            <a:endParaRPr lang="en-US" sz="1300" dirty="0"/>
          </a:p>
        </p:txBody>
      </p:sp>
      <p:sp>
        <p:nvSpPr>
          <p:cNvPr id="26" name="Text 23"/>
          <p:cNvSpPr txBox="1"/>
          <p:nvPr/>
        </p:nvSpPr>
        <p:spPr>
          <a:xfrm>
            <a:off x="731520" y="4315968"/>
            <a:ext cx="5120640" cy="640080"/>
          </a:xfrm>
          <a:prstGeom prst="rect">
            <a:avLst/>
          </a:prstGeom>
          <a:noFill/>
          <a:ln/>
        </p:spPr>
        <p:txBody>
          <a:bodyPr wrap="square" lIns="0" tIns="0" rIns="0" bIns="0" rtlCol="0" anchor="t"/>
          <a:lstStyle/>
          <a:p>
            <a:pPr indent="0" marL="0">
              <a:buNone/>
            </a:pPr>
            <a:r>
              <a:rPr lang="en-US" sz="1050" dirty="0">
                <a:solidFill>
                  <a:srgbClr val="0A0A0B"/>
                </a:solidFill>
              </a:rPr>
              <a:t>A new note is checked against the old ones it may change: added, replacing them, or the same. A replaced note is kept but never recalled, so "leave Tomás out" gives way to "Tomás is fine again".</a:t>
            </a:r>
            <a:endParaRPr lang="en-US" sz="1050" dirty="0"/>
          </a:p>
        </p:txBody>
      </p:sp>
      <p:sp>
        <p:nvSpPr>
          <p:cNvPr id="27" name="Shape 24"/>
          <p:cNvSpPr/>
          <p:nvPr/>
        </p:nvSpPr>
        <p:spPr>
          <a:xfrm>
            <a:off x="548640" y="5120640"/>
            <a:ext cx="5486400" cy="1051560"/>
          </a:xfrm>
          <a:prstGeom prst="roundRect">
            <a:avLst>
              <a:gd name="adj" fmla="val 10435"/>
            </a:avLst>
          </a:prstGeom>
          <a:solidFill>
            <a:srgbClr val="F6F7F8"/>
          </a:solidFill>
          <a:ln w="12700">
            <a:solidFill>
              <a:srgbClr val="F6F7F8"/>
            </a:solidFill>
            <a:prstDash val="solid"/>
          </a:ln>
        </p:spPr>
      </p:sp>
      <p:sp>
        <p:nvSpPr>
          <p:cNvPr id="28" name="Text 25"/>
          <p:cNvSpPr txBox="1"/>
          <p:nvPr/>
        </p:nvSpPr>
        <p:spPr>
          <a:xfrm>
            <a:off x="731520" y="5212080"/>
            <a:ext cx="5120640" cy="274320"/>
          </a:xfrm>
          <a:prstGeom prst="rect">
            <a:avLst/>
          </a:prstGeom>
          <a:noFill/>
          <a:ln/>
        </p:spPr>
        <p:txBody>
          <a:bodyPr wrap="square" lIns="0" tIns="0" rIns="0" bIns="0" rtlCol="0" anchor="t"/>
          <a:lstStyle/>
          <a:p>
            <a:pPr indent="0" marL="0">
              <a:buNone/>
            </a:pPr>
            <a:r>
              <a:rPr lang="en-US" sz="1300" b="1" dirty="0">
                <a:solidFill>
                  <a:srgbClr val="0A0A0B"/>
                </a:solidFill>
              </a:rPr>
              <a:t>End to end</a:t>
            </a:r>
            <a:endParaRPr lang="en-US" sz="1300" dirty="0"/>
          </a:p>
        </p:txBody>
      </p:sp>
      <p:sp>
        <p:nvSpPr>
          <p:cNvPr id="29" name="Text 26"/>
          <p:cNvSpPr txBox="1"/>
          <p:nvPr/>
        </p:nvSpPr>
        <p:spPr>
          <a:xfrm>
            <a:off x="731520" y="5504688"/>
            <a:ext cx="5120640" cy="640080"/>
          </a:xfrm>
          <a:prstGeom prst="rect">
            <a:avLst/>
          </a:prstGeom>
          <a:noFill/>
          <a:ln/>
        </p:spPr>
        <p:txBody>
          <a:bodyPr wrap="square" lIns="0" tIns="0" rIns="0" bIns="0" rtlCol="0" anchor="t"/>
          <a:lstStyle/>
          <a:p>
            <a:pPr indent="0" marL="0">
              <a:buNone/>
            </a:pPr>
            <a:r>
              <a:rPr lang="en-US" sz="1050" dirty="0">
                <a:solidFill>
                  <a:srgbClr val="55555C"/>
                </a:solidFill>
              </a:rPr>
              <a:t>Two weeks after the player said to leave Tomás out, the planner left him out in 3 of 3 weeks with memory on, and in 0 of 3 with it off (a small test).</a:t>
            </a:r>
            <a:endParaRPr lang="en-US" sz="1050" dirty="0"/>
          </a:p>
        </p:txBody>
      </p:sp>
      <p:graphicFrame>
        <p:nvGraphicFramePr>
          <p:cNvPr id="30" name="Chart 0" descr=""/>
          <p:cNvGraphicFramePr/>
          <p:nvPr/>
        </p:nvGraphicFramePr>
        <p:xfrm>
          <a:off x="6309360" y="1600200"/>
          <a:ext cx="5349240" cy="2743200"/>
        </p:xfrm>
        <a:graphic xmlns:a="http://schemas.openxmlformats.org/drawingml/2006/main">
          <a:graphicData uri="http://schemas.openxmlformats.org/drawingml/2006/chart">
            <c:chart xmlns:c="http://schemas.openxmlformats.org/drawingml/2006/chart" r:id="rId1"/>
          </a:graphicData>
        </a:graphic>
      </p:graphicFrame>
      <p:sp>
        <p:nvSpPr>
          <p:cNvPr id="31" name="Shape 27"/>
          <p:cNvSpPr/>
          <p:nvPr/>
        </p:nvSpPr>
        <p:spPr>
          <a:xfrm>
            <a:off x="6309360" y="4572000"/>
            <a:ext cx="2624328" cy="1600200"/>
          </a:xfrm>
          <a:prstGeom prst="roundRect">
            <a:avLst>
              <a:gd name="adj" fmla="val 6857"/>
            </a:avLst>
          </a:prstGeom>
          <a:solidFill>
            <a:srgbClr val="E9F3EC"/>
          </a:solidFill>
          <a:ln w="12700">
            <a:solidFill>
              <a:srgbClr val="E9F3EC"/>
            </a:solidFill>
            <a:prstDash val="solid"/>
          </a:ln>
        </p:spPr>
      </p:sp>
      <p:sp>
        <p:nvSpPr>
          <p:cNvPr id="32" name="Text 28"/>
          <p:cNvSpPr txBox="1"/>
          <p:nvPr/>
        </p:nvSpPr>
        <p:spPr>
          <a:xfrm>
            <a:off x="6492240" y="4681728"/>
            <a:ext cx="2286000" cy="548640"/>
          </a:xfrm>
          <a:prstGeom prst="rect">
            <a:avLst/>
          </a:prstGeom>
          <a:noFill/>
          <a:ln/>
        </p:spPr>
        <p:txBody>
          <a:bodyPr wrap="square" lIns="0" tIns="0" rIns="0" bIns="0" rtlCol="0" anchor="t"/>
          <a:lstStyle/>
          <a:p>
            <a:pPr indent="0" marL="0">
              <a:buNone/>
            </a:pPr>
            <a:r>
              <a:rPr lang="en-US" sz="2600" b="1" dirty="0">
                <a:solidFill>
                  <a:srgbClr val="0A7F44"/>
                </a:solidFill>
              </a:rPr>
              <a:t>0 vs 15</a:t>
            </a:r>
            <a:endParaRPr lang="en-US" sz="2600" dirty="0"/>
          </a:p>
        </p:txBody>
      </p:sp>
      <p:sp>
        <p:nvSpPr>
          <p:cNvPr id="33" name="Text 29"/>
          <p:cNvSpPr txBox="1"/>
          <p:nvPr/>
        </p:nvSpPr>
        <p:spPr>
          <a:xfrm>
            <a:off x="6492240"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out-of-date notes still taken as true, with updates against append-only</a:t>
            </a:r>
            <a:endParaRPr lang="en-US" sz="1050" dirty="0"/>
          </a:p>
        </p:txBody>
      </p:sp>
      <p:sp>
        <p:nvSpPr>
          <p:cNvPr id="34" name="Shape 30"/>
          <p:cNvSpPr/>
          <p:nvPr/>
        </p:nvSpPr>
        <p:spPr>
          <a:xfrm>
            <a:off x="9034272" y="4572000"/>
            <a:ext cx="2624328" cy="1600200"/>
          </a:xfrm>
          <a:prstGeom prst="roundRect">
            <a:avLst>
              <a:gd name="adj" fmla="val 6857"/>
            </a:avLst>
          </a:prstGeom>
          <a:solidFill>
            <a:srgbClr val="F6F7F8"/>
          </a:solidFill>
          <a:ln w="12700">
            <a:solidFill>
              <a:srgbClr val="F6F7F8"/>
            </a:solidFill>
            <a:prstDash val="solid"/>
          </a:ln>
        </p:spPr>
      </p:sp>
      <p:sp>
        <p:nvSpPr>
          <p:cNvPr id="35" name="Text 31"/>
          <p:cNvSpPr txBox="1"/>
          <p:nvPr/>
        </p:nvSpPr>
        <p:spPr>
          <a:xfrm>
            <a:off x="9217152" y="4681728"/>
            <a:ext cx="2286000" cy="548640"/>
          </a:xfrm>
          <a:prstGeom prst="rect">
            <a:avLst/>
          </a:prstGeom>
          <a:noFill/>
          <a:ln/>
        </p:spPr>
        <p:txBody>
          <a:bodyPr wrap="square" lIns="0" tIns="0" rIns="0" bIns="0" rtlCol="0" anchor="t"/>
          <a:lstStyle/>
          <a:p>
            <a:pPr indent="0" marL="0">
              <a:buNone/>
            </a:pPr>
            <a:r>
              <a:rPr lang="en-US" sz="2600" b="1" dirty="0">
                <a:solidFill>
                  <a:srgbClr val="0A0A0B"/>
                </a:solidFill>
              </a:rPr>
              <a:t>90.5%</a:t>
            </a:r>
            <a:endParaRPr lang="en-US" sz="2600" dirty="0"/>
          </a:p>
        </p:txBody>
      </p:sp>
      <p:sp>
        <p:nvSpPr>
          <p:cNvPr id="36" name="Text 32"/>
          <p:cNvSpPr txBox="1"/>
          <p:nvPr/>
        </p:nvSpPr>
        <p:spPr>
          <a:xfrm>
            <a:off x="9217152"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of the rules notes ask for kept right (append-only: 52.4%)</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 ARCHITECTURE · TESTED IN CODE AND SIMULATION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An agent that asks, doubts, abstracts and proves</a:t>
            </a:r>
            <a:endParaRPr lang="en-US" sz="3200" dirty="0"/>
          </a:p>
        </p:txBody>
      </p:sp>
      <p:sp>
        <p:nvSpPr>
          <p:cNvPr id="5" name="Shape 2"/>
          <p:cNvSpPr/>
          <p:nvPr/>
        </p:nvSpPr>
        <p:spPr>
          <a:xfrm>
            <a:off x="548640" y="1645920"/>
            <a:ext cx="5440680" cy="2194560"/>
          </a:xfrm>
          <a:prstGeom prst="roundRect">
            <a:avLst>
              <a:gd name="adj" fmla="val 5000"/>
            </a:avLst>
          </a:prstGeom>
          <a:solidFill>
            <a:srgbClr val="FFFFFF"/>
          </a:solidFill>
          <a:ln w="12700">
            <a:solidFill>
              <a:srgbClr val="DCDCE0"/>
            </a:solidFill>
            <a:prstDash val="solid"/>
          </a:ln>
        </p:spPr>
      </p:sp>
      <p:sp>
        <p:nvSpPr>
          <p:cNvPr id="6" name="Text 3"/>
          <p:cNvSpPr txBox="1"/>
          <p:nvPr/>
        </p:nvSpPr>
        <p:spPr>
          <a:xfrm>
            <a:off x="731520" y="1783080"/>
            <a:ext cx="1828800" cy="228600"/>
          </a:xfrm>
          <a:prstGeom prst="rect">
            <a:avLst/>
          </a:prstGeom>
          <a:noFill/>
          <a:ln/>
        </p:spPr>
        <p:txBody>
          <a:bodyPr wrap="square" lIns="0" tIns="0" rIns="0" bIns="0" rtlCol="0" anchor="t"/>
          <a:lstStyle/>
          <a:p>
            <a:pPr indent="0" marL="0">
              <a:buNone/>
            </a:pPr>
            <a:r>
              <a:rPr lang="en-US" sz="1000" b="1" spc="100" kern="0" dirty="0">
                <a:solidFill>
                  <a:srgbClr val="0A7F44"/>
                </a:solidFill>
              </a:rPr>
              <a:t>ASKS</a:t>
            </a:r>
            <a:endParaRPr lang="en-US" sz="1000" dirty="0"/>
          </a:p>
        </p:txBody>
      </p:sp>
      <p:sp>
        <p:nvSpPr>
          <p:cNvPr id="7" name="Text 4"/>
          <p:cNvSpPr txBox="1"/>
          <p:nvPr/>
        </p:nvSpPr>
        <p:spPr>
          <a:xfrm>
            <a:off x="73152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Active epistemic querying</a:t>
            </a:r>
            <a:endParaRPr lang="en-US" sz="1500" dirty="0"/>
          </a:p>
        </p:txBody>
      </p:sp>
      <p:sp>
        <p:nvSpPr>
          <p:cNvPr id="8" name="Text 5"/>
          <p:cNvSpPr txBox="1"/>
          <p:nvPr/>
        </p:nvSpPr>
        <p:spPr>
          <a:xfrm>
            <a:off x="73152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When talks fail, a Beta posterior per member and hour (from yes/no it has seen, never a calendar) times their chance of a yes picks the one question that most raises the chance of a game.</a:t>
            </a:r>
            <a:endParaRPr lang="en-US" sz="1050" dirty="0"/>
          </a:p>
        </p:txBody>
      </p:sp>
      <p:sp>
        <p:nvSpPr>
          <p:cNvPr id="9" name="Shape 6"/>
          <p:cNvSpPr/>
          <p:nvPr/>
        </p:nvSpPr>
        <p:spPr>
          <a:xfrm>
            <a:off x="731520" y="3218688"/>
            <a:ext cx="5074920" cy="502920"/>
          </a:xfrm>
          <a:prstGeom prst="roundRect">
            <a:avLst>
              <a:gd name="adj" fmla="val 21818"/>
            </a:avLst>
          </a:prstGeom>
          <a:solidFill>
            <a:srgbClr val="E9F3EC"/>
          </a:solidFill>
          <a:ln w="12700">
            <a:solidFill>
              <a:srgbClr val="E9F3EC"/>
            </a:solidFill>
            <a:prstDash val="solid"/>
          </a:ln>
        </p:spPr>
      </p:sp>
      <p:sp>
        <p:nvSpPr>
          <p:cNvPr id="10" name="Text 7"/>
          <p:cNvSpPr txBox="1"/>
          <p:nvPr/>
        </p:nvSpPr>
        <p:spPr>
          <a:xfrm>
            <a:off x="84124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One question, then a talk: 51.9% games, against 40.7% asking nothing, 44.4% a random question (20,000 simulated requests)</a:t>
            </a:r>
            <a:endParaRPr lang="en-US" sz="1050" dirty="0"/>
          </a:p>
        </p:txBody>
      </p:sp>
      <p:sp>
        <p:nvSpPr>
          <p:cNvPr id="11" name="Shape 8"/>
          <p:cNvSpPr/>
          <p:nvPr/>
        </p:nvSpPr>
        <p:spPr>
          <a:xfrm>
            <a:off x="6172200" y="1645920"/>
            <a:ext cx="5440680" cy="2194560"/>
          </a:xfrm>
          <a:prstGeom prst="roundRect">
            <a:avLst>
              <a:gd name="adj" fmla="val 5000"/>
            </a:avLst>
          </a:prstGeom>
          <a:solidFill>
            <a:srgbClr val="FFFFFF"/>
          </a:solidFill>
          <a:ln w="12700">
            <a:solidFill>
              <a:srgbClr val="DCDCE0"/>
            </a:solidFill>
            <a:prstDash val="solid"/>
          </a:ln>
        </p:spPr>
      </p:sp>
      <p:sp>
        <p:nvSpPr>
          <p:cNvPr id="12" name="Text 9"/>
          <p:cNvSpPr txBox="1"/>
          <p:nvPr/>
        </p:nvSpPr>
        <p:spPr>
          <a:xfrm>
            <a:off x="6355080" y="1783080"/>
            <a:ext cx="1828800" cy="228600"/>
          </a:xfrm>
          <a:prstGeom prst="rect">
            <a:avLst/>
          </a:prstGeom>
          <a:noFill/>
          <a:ln/>
        </p:spPr>
        <p:txBody>
          <a:bodyPr wrap="square" lIns="0" tIns="0" rIns="0" bIns="0" rtlCol="0" anchor="t"/>
          <a:lstStyle/>
          <a:p>
            <a:pPr indent="0" marL="0">
              <a:buNone/>
            </a:pPr>
            <a:r>
              <a:rPr lang="en-US" sz="1000" b="1" spc="100" kern="0" dirty="0">
                <a:solidFill>
                  <a:srgbClr val="B26A00"/>
                </a:solidFill>
              </a:rPr>
              <a:t>DOUBTS</a:t>
            </a:r>
            <a:endParaRPr lang="en-US" sz="1000" dirty="0"/>
          </a:p>
        </p:txBody>
      </p:sp>
      <p:sp>
        <p:nvSpPr>
          <p:cNvPr id="13" name="Text 10"/>
          <p:cNvSpPr txBox="1"/>
          <p:nvPr/>
        </p:nvSpPr>
        <p:spPr>
          <a:xfrm>
            <a:off x="635508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 critic on every counter-offer</a:t>
            </a:r>
            <a:endParaRPr lang="en-US" sz="1500" dirty="0"/>
          </a:p>
        </p:txBody>
      </p:sp>
      <p:sp>
        <p:nvSpPr>
          <p:cNvPr id="14" name="Text 11"/>
          <p:cNvSpPr txBox="1"/>
          <p:nvPr/>
        </p:nvSpPr>
        <p:spPr>
          <a:xfrm>
            <a:off x="635508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Code reviews each counter for the player: more than two times asked in a talk is probing, and the player who keeps travelling furthest is not sent furthest again.</a:t>
            </a:r>
            <a:endParaRPr lang="en-US" sz="1050" dirty="0"/>
          </a:p>
        </p:txBody>
      </p:sp>
      <p:sp>
        <p:nvSpPr>
          <p:cNvPr id="15" name="Shape 12"/>
          <p:cNvSpPr/>
          <p:nvPr/>
        </p:nvSpPr>
        <p:spPr>
          <a:xfrm>
            <a:off x="6355080" y="3218688"/>
            <a:ext cx="5074920" cy="502920"/>
          </a:xfrm>
          <a:prstGeom prst="roundRect">
            <a:avLst>
              <a:gd name="adj" fmla="val 21818"/>
            </a:avLst>
          </a:prstGeom>
          <a:solidFill>
            <a:srgbClr val="FBF3E6"/>
          </a:solidFill>
          <a:ln w="12700">
            <a:solidFill>
              <a:srgbClr val="FBF3E6"/>
            </a:solidFill>
            <a:prstDash val="solid"/>
          </a:ln>
        </p:spPr>
      </p:sp>
      <p:sp>
        <p:nvSpPr>
          <p:cNvPr id="16" name="Text 13"/>
          <p:cNvSpPr txBox="1"/>
          <p:nvPr/>
        </p:nvSpPr>
        <p:spPr>
          <a:xfrm>
            <a:off x="646480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Probing and unfair counters refused, with the reason in the trail</a:t>
            </a:r>
            <a:endParaRPr lang="en-US" sz="1050" dirty="0"/>
          </a:p>
        </p:txBody>
      </p:sp>
      <p:sp>
        <p:nvSpPr>
          <p:cNvPr id="17" name="Shape 14"/>
          <p:cNvSpPr/>
          <p:nvPr/>
        </p:nvSpPr>
        <p:spPr>
          <a:xfrm>
            <a:off x="548640" y="3977640"/>
            <a:ext cx="5440680" cy="2194560"/>
          </a:xfrm>
          <a:prstGeom prst="roundRect">
            <a:avLst>
              <a:gd name="adj" fmla="val 5000"/>
            </a:avLst>
          </a:prstGeom>
          <a:solidFill>
            <a:srgbClr val="FFFFFF"/>
          </a:solidFill>
          <a:ln w="12700">
            <a:solidFill>
              <a:srgbClr val="DCDCE0"/>
            </a:solidFill>
            <a:prstDash val="solid"/>
          </a:ln>
        </p:spPr>
      </p:sp>
      <p:sp>
        <p:nvSpPr>
          <p:cNvPr id="18" name="Text 15"/>
          <p:cNvSpPr txBox="1"/>
          <p:nvPr/>
        </p:nvSpPr>
        <p:spPr>
          <a:xfrm>
            <a:off x="731520" y="4114800"/>
            <a:ext cx="1828800" cy="228600"/>
          </a:xfrm>
          <a:prstGeom prst="rect">
            <a:avLst/>
          </a:prstGeom>
          <a:noFill/>
          <a:ln/>
        </p:spPr>
        <p:txBody>
          <a:bodyPr wrap="square" lIns="0" tIns="0" rIns="0" bIns="0" rtlCol="0" anchor="t"/>
          <a:lstStyle/>
          <a:p>
            <a:pPr indent="0" marL="0">
              <a:buNone/>
            </a:pPr>
            <a:r>
              <a:rPr lang="en-US" sz="1000" b="1" spc="100" kern="0" dirty="0">
                <a:solidFill>
                  <a:srgbClr val="0064E0"/>
                </a:solidFill>
              </a:rPr>
              <a:t>ABSTRACTS</a:t>
            </a:r>
            <a:endParaRPr lang="en-US" sz="1000" dirty="0"/>
          </a:p>
        </p:txBody>
      </p:sp>
      <p:sp>
        <p:nvSpPr>
          <p:cNvPr id="19" name="Text 16"/>
          <p:cNvSpPr txBox="1"/>
          <p:nvPr/>
        </p:nvSpPr>
        <p:spPr>
          <a:xfrm>
            <a:off x="73152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From episodes to beliefs</a:t>
            </a:r>
            <a:endParaRPr lang="en-US" sz="1500" dirty="0"/>
          </a:p>
        </p:txBody>
      </p:sp>
      <p:sp>
        <p:nvSpPr>
          <p:cNvPr id="20" name="Text 17"/>
          <p:cNvSpPr txBox="1"/>
          <p:nvPr/>
        </p:nvSpPr>
        <p:spPr>
          <a:xfrm>
            <a:off x="73152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Weekly, Glimmer turns scattered notes into standing beliefs; each must cite live notes, two to generalize, and say no number they do not.</a:t>
            </a:r>
            <a:endParaRPr lang="en-US" sz="1050" dirty="0"/>
          </a:p>
        </p:txBody>
      </p:sp>
      <p:sp>
        <p:nvSpPr>
          <p:cNvPr id="21" name="Shape 18"/>
          <p:cNvSpPr/>
          <p:nvPr/>
        </p:nvSpPr>
        <p:spPr>
          <a:xfrm>
            <a:off x="731520" y="5550408"/>
            <a:ext cx="5074920" cy="502920"/>
          </a:xfrm>
          <a:prstGeom prst="roundRect">
            <a:avLst>
              <a:gd name="adj" fmla="val 21818"/>
            </a:avLst>
          </a:prstGeom>
          <a:solidFill>
            <a:srgbClr val="E8F1FD"/>
          </a:solidFill>
          <a:ln w="12700">
            <a:solidFill>
              <a:srgbClr val="E8F1FD"/>
            </a:solidFill>
            <a:prstDash val="solid"/>
          </a:ln>
        </p:spPr>
      </p:sp>
      <p:sp>
        <p:nvSpPr>
          <p:cNvPr id="22" name="Text 19"/>
          <p:cNvSpPr txBox="1"/>
          <p:nvPr/>
        </p:nvSpPr>
        <p:spPr>
          <a:xfrm>
            <a:off x="84124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10 notes to 3 beliefs, each on two notes, none dropped (Glimmer, 42 s)</a:t>
            </a:r>
            <a:endParaRPr lang="en-US" sz="1050" dirty="0"/>
          </a:p>
        </p:txBody>
      </p:sp>
      <p:sp>
        <p:nvSpPr>
          <p:cNvPr id="23" name="Shape 20"/>
          <p:cNvSpPr/>
          <p:nvPr/>
        </p:nvSpPr>
        <p:spPr>
          <a:xfrm>
            <a:off x="6172200" y="3977640"/>
            <a:ext cx="5440680" cy="2194560"/>
          </a:xfrm>
          <a:prstGeom prst="roundRect">
            <a:avLst>
              <a:gd name="adj" fmla="val 5000"/>
            </a:avLst>
          </a:prstGeom>
          <a:solidFill>
            <a:srgbClr val="FFFFFF"/>
          </a:solidFill>
          <a:ln w="12700">
            <a:solidFill>
              <a:srgbClr val="DCDCE0"/>
            </a:solidFill>
            <a:prstDash val="solid"/>
          </a:ln>
        </p:spPr>
      </p:sp>
      <p:sp>
        <p:nvSpPr>
          <p:cNvPr id="24" name="Text 21"/>
          <p:cNvSpPr txBox="1"/>
          <p:nvPr/>
        </p:nvSpPr>
        <p:spPr>
          <a:xfrm>
            <a:off x="6355080" y="4114800"/>
            <a:ext cx="1828800" cy="228600"/>
          </a:xfrm>
          <a:prstGeom prst="rect">
            <a:avLst/>
          </a:prstGeom>
          <a:noFill/>
          <a:ln/>
        </p:spPr>
        <p:txBody>
          <a:bodyPr wrap="square" lIns="0" tIns="0" rIns="0" bIns="0" rtlCol="0" anchor="t"/>
          <a:lstStyle/>
          <a:p>
            <a:pPr indent="0" marL="0">
              <a:buNone/>
            </a:pPr>
            <a:r>
              <a:rPr lang="en-US" sz="1000" b="1" spc="100" kern="0" dirty="0">
                <a:solidFill>
                  <a:srgbClr val="D1352B"/>
                </a:solidFill>
              </a:rPr>
              <a:t>PROVES</a:t>
            </a:r>
            <a:endParaRPr lang="en-US" sz="1000" dirty="0"/>
          </a:p>
        </p:txBody>
      </p:sp>
      <p:sp>
        <p:nvSpPr>
          <p:cNvPr id="25" name="Text 22"/>
          <p:cNvSpPr txBox="1"/>
          <p:nvPr/>
        </p:nvSpPr>
        <p:spPr>
          <a:xfrm>
            <a:off x="635508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Proof of consent</a:t>
            </a:r>
            <a:endParaRPr lang="en-US" sz="1500" dirty="0"/>
          </a:p>
        </p:txBody>
      </p:sp>
      <p:sp>
        <p:nvSpPr>
          <p:cNvPr id="26" name="Text 23"/>
          <p:cNvSpPr txBox="1"/>
          <p:nvPr/>
        </p:nvSpPr>
        <p:spPr>
          <a:xfrm>
            <a:off x="635508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Every player's agent signs the agreed game with its own Ed25519 key; booking checks each one against the game it books.</a:t>
            </a:r>
            <a:endParaRPr lang="en-US" sz="1050" dirty="0"/>
          </a:p>
        </p:txBody>
      </p:sp>
      <p:sp>
        <p:nvSpPr>
          <p:cNvPr id="27" name="Shape 24"/>
          <p:cNvSpPr/>
          <p:nvPr/>
        </p:nvSpPr>
        <p:spPr>
          <a:xfrm>
            <a:off x="6355080" y="5550408"/>
            <a:ext cx="5074920" cy="502920"/>
          </a:xfrm>
          <a:prstGeom prst="roundRect">
            <a:avLst>
              <a:gd name="adj" fmla="val 21818"/>
            </a:avLst>
          </a:prstGeom>
          <a:solidFill>
            <a:srgbClr val="FBEAE9"/>
          </a:solidFill>
          <a:ln w="12700">
            <a:solidFill>
              <a:srgbClr val="FBEAE9"/>
            </a:solidFill>
            <a:prstDash val="solid"/>
          </a:ln>
        </p:spPr>
      </p:sp>
      <p:sp>
        <p:nvSpPr>
          <p:cNvPr id="28" name="Text 25"/>
          <p:cNvSpPr txBox="1"/>
          <p:nvPr/>
        </p:nvSpPr>
        <p:spPr>
          <a:xfrm>
            <a:off x="646480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A changed time, an added player or another agent's key: refused</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It stays the same size as the club grows</a:t>
            </a:r>
            <a:endParaRPr lang="en-US" sz="3200" dirty="0"/>
          </a:p>
        </p:txBody>
      </p:sp>
      <p:pic>
        <p:nvPicPr>
          <p:cNvPr id="5" name="Image 0" descr="preencoded.png">    </p:cNvPr>
          <p:cNvPicPr>
            <a:picLocks noChangeAspect="1"/>
          </p:cNvPicPr>
          <p:nvPr/>
        </p:nvPicPr>
        <p:blipFill>
          <a:blip r:embed="rId1"/>
          <a:stretch>
            <a:fillRect/>
          </a:stretch>
        </p:blipFill>
        <p:spPr>
          <a:xfrm>
            <a:off x="548640" y="1645920"/>
            <a:ext cx="7315200" cy="3850105"/>
          </a:xfrm>
          <a:prstGeom prst="rect">
            <a:avLst/>
          </a:prstGeom>
        </p:spPr>
      </p:pic>
      <p:sp>
        <p:nvSpPr>
          <p:cNvPr id="6" name="Text 2"/>
          <p:cNvSpPr txBox="1"/>
          <p:nvPr/>
        </p:nvSpPr>
        <p:spPr>
          <a:xfrm>
            <a:off x="548640" y="5587465"/>
            <a:ext cx="7315200" cy="274320"/>
          </a:xfrm>
          <a:prstGeom prst="rect">
            <a:avLst/>
          </a:prstGeom>
          <a:noFill/>
          <a:ln/>
        </p:spPr>
        <p:txBody>
          <a:bodyPr wrap="square" lIns="0" tIns="0" rIns="0" bIns="0" rtlCol="0" anchor="t"/>
          <a:lstStyle/>
          <a:p>
            <a:pPr indent="0" marL="0">
              <a:buNone/>
            </a:pPr>
            <a:r>
              <a:rPr lang="en-US" sz="1100" dirty="0">
                <a:solidFill>
                  <a:srgbClr val="55555C"/>
                </a:solidFill>
              </a:rPr>
              <a:t>Tokens one model call reads to choose players, by club size</a:t>
            </a:r>
            <a:endParaRPr lang="en-US" sz="1100" dirty="0"/>
          </a:p>
        </p:txBody>
      </p:sp>
      <p:sp>
        <p:nvSpPr>
          <p:cNvPr id="7" name="Shape 3"/>
          <p:cNvSpPr/>
          <p:nvPr/>
        </p:nvSpPr>
        <p:spPr>
          <a:xfrm>
            <a:off x="8183880" y="1737360"/>
            <a:ext cx="3429000" cy="1325880"/>
          </a:xfrm>
          <a:prstGeom prst="roundRect">
            <a:avLst>
              <a:gd name="adj" fmla="val 8276"/>
            </a:avLst>
          </a:prstGeom>
          <a:solidFill>
            <a:srgbClr val="E9F3EC"/>
          </a:solidFill>
          <a:ln w="12700">
            <a:solidFill>
              <a:srgbClr val="E9F3EC"/>
            </a:solidFill>
            <a:prstDash val="solid"/>
          </a:ln>
        </p:spPr>
      </p:sp>
      <p:sp>
        <p:nvSpPr>
          <p:cNvPr id="8" name="Text 4"/>
          <p:cNvSpPr txBox="1"/>
          <p:nvPr/>
        </p:nvSpPr>
        <p:spPr>
          <a:xfrm>
            <a:off x="8366760" y="1828800"/>
            <a:ext cx="3108960" cy="502920"/>
          </a:xfrm>
          <a:prstGeom prst="rect">
            <a:avLst/>
          </a:prstGeom>
          <a:noFill/>
          <a:ln/>
        </p:spPr>
        <p:txBody>
          <a:bodyPr wrap="square" lIns="0" tIns="0" rIns="0" bIns="0" rtlCol="0" anchor="t"/>
          <a:lstStyle/>
          <a:p>
            <a:pPr indent="0" marL="0">
              <a:buNone/>
            </a:pPr>
            <a:r>
              <a:rPr lang="en-US" sz="2400" b="1" dirty="0">
                <a:solidFill>
                  <a:srgbClr val="0A7F44"/>
                </a:solidFill>
              </a:rPr>
              <a:t>1,505 → 1,563</a:t>
            </a:r>
            <a:endParaRPr lang="en-US" sz="2400" dirty="0"/>
          </a:p>
        </p:txBody>
      </p:sp>
      <p:sp>
        <p:nvSpPr>
          <p:cNvPr id="9" name="Text 5"/>
          <p:cNvSpPr txBox="1"/>
          <p:nvPr/>
        </p:nvSpPr>
        <p:spPr>
          <a:xfrm>
            <a:off x="8366760" y="235915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per call from 11 to 301 members: Serve's shortlist, made by code</a:t>
            </a:r>
            <a:endParaRPr lang="en-US" sz="1050" dirty="0"/>
          </a:p>
        </p:txBody>
      </p:sp>
      <p:sp>
        <p:nvSpPr>
          <p:cNvPr id="10" name="Shape 6"/>
          <p:cNvSpPr/>
          <p:nvPr/>
        </p:nvSpPr>
        <p:spPr>
          <a:xfrm>
            <a:off x="8183880" y="3200400"/>
            <a:ext cx="3429000" cy="1325880"/>
          </a:xfrm>
          <a:prstGeom prst="roundRect">
            <a:avLst>
              <a:gd name="adj" fmla="val 8276"/>
            </a:avLst>
          </a:prstGeom>
          <a:solidFill>
            <a:srgbClr val="F6F7F8"/>
          </a:solidFill>
          <a:ln w="12700">
            <a:solidFill>
              <a:srgbClr val="F6F7F8"/>
            </a:solidFill>
            <a:prstDash val="solid"/>
          </a:ln>
        </p:spPr>
      </p:sp>
      <p:sp>
        <p:nvSpPr>
          <p:cNvPr id="11" name="Text 7"/>
          <p:cNvSpPr txBox="1"/>
          <p:nvPr/>
        </p:nvSpPr>
        <p:spPr>
          <a:xfrm>
            <a:off x="8366760" y="3291840"/>
            <a:ext cx="3108960" cy="502920"/>
          </a:xfrm>
          <a:prstGeom prst="rect">
            <a:avLst/>
          </a:prstGeom>
          <a:noFill/>
          <a:ln/>
        </p:spPr>
        <p:txBody>
          <a:bodyPr wrap="square" lIns="0" tIns="0" rIns="0" bIns="0" rtlCol="0" anchor="t"/>
          <a:lstStyle/>
          <a:p>
            <a:pPr indent="0" marL="0">
              <a:buNone/>
            </a:pPr>
            <a:r>
              <a:rPr lang="en-US" sz="2400" b="1" dirty="0">
                <a:solidFill>
                  <a:srgbClr val="D1352B"/>
                </a:solidFill>
              </a:rPr>
              <a:t>58,203</a:t>
            </a:r>
            <a:endParaRPr lang="en-US" sz="2400" dirty="0"/>
          </a:p>
        </p:txBody>
      </p:sp>
      <p:sp>
        <p:nvSpPr>
          <p:cNvPr id="12" name="Text 8"/>
          <p:cNvSpPr txBox="1"/>
          <p:nvPr/>
        </p:nvSpPr>
        <p:spPr>
          <a:xfrm>
            <a:off x="8366760" y="382219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estimated, for a 1,001-member club in the prompt: far past the window</a:t>
            </a:r>
            <a:endParaRPr lang="en-US" sz="1050" dirty="0"/>
          </a:p>
        </p:txBody>
      </p:sp>
      <p:sp>
        <p:nvSpPr>
          <p:cNvPr id="13" name="Shape 9"/>
          <p:cNvSpPr/>
          <p:nvPr/>
        </p:nvSpPr>
        <p:spPr>
          <a:xfrm>
            <a:off x="8183880" y="4663440"/>
            <a:ext cx="3429000" cy="1325880"/>
          </a:xfrm>
          <a:prstGeom prst="roundRect">
            <a:avLst>
              <a:gd name="adj" fmla="val 8276"/>
            </a:avLst>
          </a:prstGeom>
          <a:solidFill>
            <a:srgbClr val="F6F7F8"/>
          </a:solidFill>
          <a:ln w="12700">
            <a:solidFill>
              <a:srgbClr val="F6F7F8"/>
            </a:solidFill>
            <a:prstDash val="solid"/>
          </a:ln>
        </p:spPr>
      </p:sp>
      <p:sp>
        <p:nvSpPr>
          <p:cNvPr id="14" name="Text 10"/>
          <p:cNvSpPr txBox="1"/>
          <p:nvPr/>
        </p:nvSpPr>
        <p:spPr>
          <a:xfrm>
            <a:off x="8366760" y="4754880"/>
            <a:ext cx="3108960" cy="502920"/>
          </a:xfrm>
          <a:prstGeom prst="rect">
            <a:avLst/>
          </a:prstGeom>
          <a:noFill/>
          <a:ln/>
        </p:spPr>
        <p:txBody>
          <a:bodyPr wrap="square" lIns="0" tIns="0" rIns="0" bIns="0" rtlCol="0" anchor="t"/>
          <a:lstStyle/>
          <a:p>
            <a:pPr indent="0" marL="0">
              <a:buNone/>
            </a:pPr>
            <a:r>
              <a:rPr lang="en-US" sz="2400" b="1" dirty="0">
                <a:solidFill>
                  <a:srgbClr val="0A0A0B"/>
                </a:solidFill>
              </a:rPr>
              <a:t>16,384</a:t>
            </a:r>
            <a:endParaRPr lang="en-US" sz="2400" dirty="0"/>
          </a:p>
        </p:txBody>
      </p:sp>
      <p:sp>
        <p:nvSpPr>
          <p:cNvPr id="15" name="Text 11"/>
          <p:cNvSpPr txBox="1"/>
          <p:nvPr/>
        </p:nvSpPr>
        <p:spPr>
          <a:xfrm>
            <a:off x="8366760" y="5285232"/>
            <a:ext cx="3108960" cy="640080"/>
          </a:xfrm>
          <a:prstGeom prst="rect">
            <a:avLst/>
          </a:prstGeom>
          <a:noFill/>
          <a:ln/>
        </p:spPr>
        <p:txBody>
          <a:bodyPr wrap="square" lIns="0" tIns="0" rIns="0" bIns="0" rtlCol="0" anchor="t"/>
          <a:lstStyle/>
          <a:p>
            <a:pPr indent="0" marL="0">
              <a:buNone/>
            </a:pPr>
            <a:r>
              <a:rPr lang="en-US" sz="1050" dirty="0">
                <a:solidFill>
                  <a:srgbClr val="55555C"/>
                </a:solidFill>
              </a:rPr>
              <a:t>the context the model has on this server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126480" y="384048"/>
            <a:ext cx="548640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126480" y="384048"/>
            <a:ext cx="5486400" cy="329184"/>
          </a:xfrm>
          <a:prstGeom prst="rect">
            <a:avLst/>
          </a:prstGeom>
          <a:noFill/>
          <a:ln/>
        </p:spPr>
        <p:txBody>
          <a:bodyPr wrap="square" lIns="0" tIns="0" rIns="0" bIns="0" rtlCol="0" anchor="ctr"/>
          <a:lstStyle/>
          <a:p>
            <a:pPr algn="ctr" indent="0" marL="0">
              <a:buNone/>
            </a:pPr>
            <a:r>
              <a:rPr lang="en-US" sz="1050" b="1" dirty="0">
                <a:solidFill>
                  <a:srgbClr val="55555C"/>
                </a:solidFill>
              </a:rPr>
              <a:t>A simulated club of 60 (seed 7) · the pipeline, gates and rollback are real</a:t>
            </a:r>
            <a:endParaRPr lang="en-US" sz="1050" dirty="0"/>
          </a:p>
        </p:txBody>
      </p:sp>
      <p:sp>
        <p:nvSpPr>
          <p:cNvPr id="7" name="Shape 4"/>
          <p:cNvSpPr/>
          <p:nvPr/>
        </p:nvSpPr>
        <p:spPr>
          <a:xfrm>
            <a:off x="548640" y="1600200"/>
            <a:ext cx="2057400" cy="1188720"/>
          </a:xfrm>
          <a:prstGeom prst="roundRect">
            <a:avLst>
              <a:gd name="adj" fmla="val 9231"/>
            </a:avLst>
          </a:prstGeom>
          <a:solidFill>
            <a:srgbClr val="FFFFFF"/>
          </a:solidFill>
          <a:ln w="12700">
            <a:solidFill>
              <a:srgbClr val="DCDCE0"/>
            </a:solidFill>
            <a:prstDash val="solid"/>
          </a:ln>
        </p:spPr>
      </p:sp>
      <p:sp>
        <p:nvSpPr>
          <p:cNvPr id="8" name="Text 5"/>
          <p:cNvSpPr txBox="1"/>
          <p:nvPr/>
        </p:nvSpPr>
        <p:spPr>
          <a:xfrm>
            <a:off x="69494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1 · ASK</a:t>
            </a:r>
            <a:endParaRPr lang="en-US" sz="1000" dirty="0"/>
          </a:p>
        </p:txBody>
      </p:sp>
      <p:sp>
        <p:nvSpPr>
          <p:cNvPr id="9" name="Text 6"/>
          <p:cNvSpPr txBox="1"/>
          <p:nvPr/>
        </p:nvSpPr>
        <p:spPr>
          <a:xfrm>
            <a:off x="69494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Members' ideas</a:t>
            </a:r>
            <a:endParaRPr lang="en-US" sz="1350" dirty="0"/>
          </a:p>
        </p:txBody>
      </p:sp>
      <p:sp>
        <p:nvSpPr>
          <p:cNvPr id="10" name="Text 7"/>
          <p:cNvSpPr txBox="1"/>
          <p:nvPr/>
        </p:nvSpPr>
        <p:spPr>
          <a:xfrm>
            <a:off x="69494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"/idea" in Messenger, or thumbs</a:t>
            </a:r>
            <a:endParaRPr lang="en-US" sz="1000" dirty="0"/>
          </a:p>
        </p:txBody>
      </p:sp>
      <p:sp>
        <p:nvSpPr>
          <p:cNvPr id="11" name="Shape 8"/>
          <p:cNvSpPr/>
          <p:nvPr/>
        </p:nvSpPr>
        <p:spPr>
          <a:xfrm>
            <a:off x="2624328" y="2194560"/>
            <a:ext cx="146304" cy="0"/>
          </a:xfrm>
          <a:prstGeom prst="line">
            <a:avLst/>
          </a:prstGeom>
          <a:noFill/>
          <a:ln w="22225">
            <a:solidFill>
              <a:srgbClr val="8A8A92"/>
            </a:solidFill>
            <a:prstDash val="solid"/>
            <a:tailEnd type="triangle"/>
          </a:ln>
        </p:spPr>
      </p:sp>
      <p:sp>
        <p:nvSpPr>
          <p:cNvPr id="12" name="Shape 9"/>
          <p:cNvSpPr/>
          <p:nvPr/>
        </p:nvSpPr>
        <p:spPr>
          <a:xfrm>
            <a:off x="2788920" y="1600200"/>
            <a:ext cx="2057400" cy="1188720"/>
          </a:xfrm>
          <a:prstGeom prst="roundRect">
            <a:avLst>
              <a:gd name="adj" fmla="val 9231"/>
            </a:avLst>
          </a:prstGeom>
          <a:solidFill>
            <a:srgbClr val="FFFFFF"/>
          </a:solidFill>
          <a:ln w="12700">
            <a:solidFill>
              <a:srgbClr val="DCDCE0"/>
            </a:solidFill>
            <a:prstDash val="solid"/>
          </a:ln>
        </p:spPr>
      </p:sp>
      <p:sp>
        <p:nvSpPr>
          <p:cNvPr id="13" name="Text 10"/>
          <p:cNvSpPr txBox="1"/>
          <p:nvPr/>
        </p:nvSpPr>
        <p:spPr>
          <a:xfrm>
            <a:off x="293522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2 · GROUP</a:t>
            </a:r>
            <a:endParaRPr lang="en-US" sz="1000" dirty="0"/>
          </a:p>
        </p:txBody>
      </p:sp>
      <p:sp>
        <p:nvSpPr>
          <p:cNvPr id="14" name="Text 11"/>
          <p:cNvSpPr txBox="1"/>
          <p:nvPr/>
        </p:nvSpPr>
        <p:spPr>
          <a:xfrm>
            <a:off x="293522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Meta's DRAMA</a:t>
            </a:r>
            <a:endParaRPr lang="en-US" sz="1350" dirty="0"/>
          </a:p>
        </p:txBody>
      </p:sp>
      <p:sp>
        <p:nvSpPr>
          <p:cNvPr id="15" name="Text 12"/>
          <p:cNvSpPr txBox="1"/>
          <p:nvPr/>
        </p:nvSpPr>
        <p:spPr>
          <a:xfrm>
            <a:off x="293522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By meaning; shows at 5 members</a:t>
            </a:r>
            <a:endParaRPr lang="en-US" sz="1000" dirty="0"/>
          </a:p>
        </p:txBody>
      </p:sp>
      <p:sp>
        <p:nvSpPr>
          <p:cNvPr id="16" name="Shape 13"/>
          <p:cNvSpPr/>
          <p:nvPr/>
        </p:nvSpPr>
        <p:spPr>
          <a:xfrm>
            <a:off x="4864608" y="2194560"/>
            <a:ext cx="146304" cy="0"/>
          </a:xfrm>
          <a:prstGeom prst="line">
            <a:avLst/>
          </a:prstGeom>
          <a:noFill/>
          <a:ln w="22225">
            <a:solidFill>
              <a:srgbClr val="8A8A92"/>
            </a:solidFill>
            <a:prstDash val="solid"/>
            <a:tailEnd type="triangle"/>
          </a:ln>
        </p:spPr>
      </p:sp>
      <p:sp>
        <p:nvSpPr>
          <p:cNvPr id="17" name="Shape 14"/>
          <p:cNvSpPr/>
          <p:nvPr/>
        </p:nvSpPr>
        <p:spPr>
          <a:xfrm>
            <a:off x="5029200" y="1600200"/>
            <a:ext cx="2057400" cy="1188720"/>
          </a:xfrm>
          <a:prstGeom prst="roundRect">
            <a:avLst>
              <a:gd name="adj" fmla="val 9231"/>
            </a:avLst>
          </a:prstGeom>
          <a:solidFill>
            <a:srgbClr val="FFFFFF"/>
          </a:solidFill>
          <a:ln w="12700">
            <a:solidFill>
              <a:srgbClr val="DCDCE0"/>
            </a:solidFill>
            <a:prstDash val="solid"/>
          </a:ln>
        </p:spPr>
      </p:sp>
      <p:sp>
        <p:nvSpPr>
          <p:cNvPr id="18" name="Text 15"/>
          <p:cNvSpPr txBox="1"/>
          <p:nvPr/>
        </p:nvSpPr>
        <p:spPr>
          <a:xfrm>
            <a:off x="517550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3 · VOTE</a:t>
            </a:r>
            <a:endParaRPr lang="en-US" sz="1000" dirty="0"/>
          </a:p>
        </p:txBody>
      </p:sp>
      <p:sp>
        <p:nvSpPr>
          <p:cNvPr id="19" name="Text 16"/>
          <p:cNvSpPr txBox="1"/>
          <p:nvPr/>
        </p:nvSpPr>
        <p:spPr>
          <a:xfrm>
            <a:off x="517550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Quadratic votes</a:t>
            </a:r>
            <a:endParaRPr lang="en-US" sz="1350" dirty="0"/>
          </a:p>
        </p:txBody>
      </p:sp>
      <p:sp>
        <p:nvSpPr>
          <p:cNvPr id="20" name="Text 17"/>
          <p:cNvSpPr txBox="1"/>
          <p:nvPr/>
        </p:nvSpPr>
        <p:spPr>
          <a:xfrm>
            <a:off x="517550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9 credits a month; n votes cost n²</a:t>
            </a:r>
            <a:endParaRPr lang="en-US" sz="1000" dirty="0"/>
          </a:p>
        </p:txBody>
      </p:sp>
      <p:sp>
        <p:nvSpPr>
          <p:cNvPr id="21" name="Shape 18"/>
          <p:cNvSpPr/>
          <p:nvPr/>
        </p:nvSpPr>
        <p:spPr>
          <a:xfrm>
            <a:off x="7104888" y="2194560"/>
            <a:ext cx="146304" cy="0"/>
          </a:xfrm>
          <a:prstGeom prst="line">
            <a:avLst/>
          </a:prstGeom>
          <a:noFill/>
          <a:ln w="22225">
            <a:solidFill>
              <a:srgbClr val="8A8A92"/>
            </a:solidFill>
            <a:prstDash val="solid"/>
            <a:tailEnd type="triangle"/>
          </a:ln>
        </p:spPr>
      </p:sp>
      <p:sp>
        <p:nvSpPr>
          <p:cNvPr id="22" name="Shape 19"/>
          <p:cNvSpPr/>
          <p:nvPr/>
        </p:nvSpPr>
        <p:spPr>
          <a:xfrm>
            <a:off x="7269480" y="1600200"/>
            <a:ext cx="2057400" cy="1188720"/>
          </a:xfrm>
          <a:prstGeom prst="roundRect">
            <a:avLst>
              <a:gd name="adj" fmla="val 9231"/>
            </a:avLst>
          </a:prstGeom>
          <a:solidFill>
            <a:srgbClr val="FFFFFF"/>
          </a:solidFill>
          <a:ln w="12700">
            <a:solidFill>
              <a:srgbClr val="DCDCE0"/>
            </a:solidFill>
            <a:prstDash val="solid"/>
          </a:ln>
        </p:spPr>
      </p:sp>
      <p:sp>
        <p:nvSpPr>
          <p:cNvPr id="23" name="Text 20"/>
          <p:cNvSpPr txBox="1"/>
          <p:nvPr/>
        </p:nvSpPr>
        <p:spPr>
          <a:xfrm>
            <a:off x="741578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4 · SPEC</a:t>
            </a:r>
            <a:endParaRPr lang="en-US" sz="1000" dirty="0"/>
          </a:p>
        </p:txBody>
      </p:sp>
      <p:sp>
        <p:nvSpPr>
          <p:cNvPr id="24" name="Text 21"/>
          <p:cNvSpPr txBox="1"/>
          <p:nvPr/>
        </p:nvSpPr>
        <p:spPr>
          <a:xfrm>
            <a:off x="741578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Muse Glimmer drafts</a:t>
            </a:r>
            <a:endParaRPr lang="en-US" sz="1350" dirty="0"/>
          </a:p>
        </p:txBody>
      </p:sp>
      <p:sp>
        <p:nvSpPr>
          <p:cNvPr id="25" name="Text 22"/>
          <p:cNvSpPr txBox="1"/>
          <p:nvPr/>
        </p:nvSpPr>
        <p:spPr>
          <a:xfrm>
            <a:off x="741578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A person approves it</a:t>
            </a:r>
            <a:endParaRPr lang="en-US" sz="1000" dirty="0"/>
          </a:p>
        </p:txBody>
      </p:sp>
      <p:sp>
        <p:nvSpPr>
          <p:cNvPr id="26" name="Shape 23"/>
          <p:cNvSpPr/>
          <p:nvPr/>
        </p:nvSpPr>
        <p:spPr>
          <a:xfrm>
            <a:off x="9345168" y="2194560"/>
            <a:ext cx="146304" cy="0"/>
          </a:xfrm>
          <a:prstGeom prst="line">
            <a:avLst/>
          </a:prstGeom>
          <a:noFill/>
          <a:ln w="22225">
            <a:solidFill>
              <a:srgbClr val="8A8A92"/>
            </a:solidFill>
            <a:prstDash val="solid"/>
            <a:tailEnd type="triangle"/>
          </a:ln>
        </p:spPr>
      </p:sp>
      <p:sp>
        <p:nvSpPr>
          <p:cNvPr id="27" name="Shape 24"/>
          <p:cNvSpPr/>
          <p:nvPr/>
        </p:nvSpPr>
        <p:spPr>
          <a:xfrm>
            <a:off x="9509760" y="1600200"/>
            <a:ext cx="2057400" cy="1188720"/>
          </a:xfrm>
          <a:prstGeom prst="roundRect">
            <a:avLst>
              <a:gd name="adj" fmla="val 9231"/>
            </a:avLst>
          </a:prstGeom>
          <a:solidFill>
            <a:srgbClr val="FFFFFF"/>
          </a:solidFill>
          <a:ln w="12700">
            <a:solidFill>
              <a:srgbClr val="DCDCE0"/>
            </a:solidFill>
            <a:prstDash val="solid"/>
          </a:ln>
        </p:spPr>
      </p:sp>
      <p:sp>
        <p:nvSpPr>
          <p:cNvPr id="28" name="Text 25"/>
          <p:cNvSpPr txBox="1"/>
          <p:nvPr/>
        </p:nvSpPr>
        <p:spPr>
          <a:xfrm>
            <a:off x="965606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5 · BUILD</a:t>
            </a:r>
            <a:endParaRPr lang="en-US" sz="1000" dirty="0"/>
          </a:p>
        </p:txBody>
      </p:sp>
      <p:sp>
        <p:nvSpPr>
          <p:cNvPr id="29" name="Text 26"/>
          <p:cNvSpPr txBox="1"/>
          <p:nvPr/>
        </p:nvSpPr>
        <p:spPr>
          <a:xfrm>
            <a:off x="965606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A coding agent</a:t>
            </a:r>
            <a:endParaRPr lang="en-US" sz="1350" dirty="0"/>
          </a:p>
        </p:txBody>
      </p:sp>
      <p:sp>
        <p:nvSpPr>
          <p:cNvPr id="30" name="Text 27"/>
          <p:cNvSpPr txBox="1"/>
          <p:nvPr/>
        </p:nvSpPr>
        <p:spPr>
          <a:xfrm>
            <a:off x="965606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Own branch; never reads community text</a:t>
            </a:r>
            <a:endParaRPr lang="en-US" sz="1000" dirty="0"/>
          </a:p>
        </p:txBody>
      </p:sp>
      <p:sp>
        <p:nvSpPr>
          <p:cNvPr id="31" name="Shape 28"/>
          <p:cNvSpPr/>
          <p:nvPr/>
        </p:nvSpPr>
        <p:spPr>
          <a:xfrm>
            <a:off x="548640" y="2926080"/>
            <a:ext cx="6949440" cy="1371600"/>
          </a:xfrm>
          <a:prstGeom prst="roundRect">
            <a:avLst>
              <a:gd name="adj" fmla="val 8000"/>
            </a:avLst>
          </a:prstGeom>
          <a:solidFill>
            <a:srgbClr val="E9F3EC"/>
          </a:solidFill>
          <a:ln w="12700">
            <a:solidFill>
              <a:srgbClr val="E9F3EC"/>
            </a:solidFill>
            <a:prstDash val="solid"/>
          </a:ln>
        </p:spPr>
      </p:sp>
      <p:sp>
        <p:nvSpPr>
          <p:cNvPr id="32" name="Text 29"/>
          <p:cNvSpPr txBox="1"/>
          <p:nvPr/>
        </p:nvSpPr>
        <p:spPr>
          <a:xfrm>
            <a:off x="749808" y="3017520"/>
            <a:ext cx="6400800" cy="256032"/>
          </a:xfrm>
          <a:prstGeom prst="rect">
            <a:avLst/>
          </a:prstGeom>
          <a:noFill/>
          <a:ln/>
        </p:spPr>
        <p:txBody>
          <a:bodyPr wrap="square" lIns="0" tIns="0" rIns="0" bIns="0" rtlCol="0" anchor="t"/>
          <a:lstStyle/>
          <a:p>
            <a:pPr indent="0" marL="0">
              <a:buNone/>
            </a:pPr>
            <a:r>
              <a:rPr lang="en-US" sz="1200" b="1" dirty="0">
                <a:solidFill>
                  <a:srgbClr val="0A7F44"/>
                </a:solidFill>
              </a:rPr>
              <a:t>6 · NINE GATES · stops at the first failure</a:t>
            </a:r>
            <a:endParaRPr lang="en-US" sz="1200" dirty="0"/>
          </a:p>
        </p:txBody>
      </p:sp>
      <p:sp>
        <p:nvSpPr>
          <p:cNvPr id="33" name="Shape 30"/>
          <p:cNvSpPr/>
          <p:nvPr/>
        </p:nvSpPr>
        <p:spPr>
          <a:xfrm>
            <a:off x="749808" y="3383280"/>
            <a:ext cx="1298448" cy="310896"/>
          </a:xfrm>
          <a:prstGeom prst="roundRect">
            <a:avLst>
              <a:gd name="adj" fmla="val 50000"/>
            </a:avLst>
          </a:prstGeom>
          <a:solidFill>
            <a:srgbClr val="FFFFFF"/>
          </a:solidFill>
          <a:ln w="12700">
            <a:solidFill>
              <a:srgbClr val="FFFFFF"/>
            </a:solidFill>
            <a:prstDash val="solid"/>
          </a:ln>
        </p:spPr>
      </p:sp>
      <p:sp>
        <p:nvSpPr>
          <p:cNvPr id="34" name="Text 31"/>
          <p:cNvSpPr txBox="1"/>
          <p:nvPr/>
        </p:nvSpPr>
        <p:spPr>
          <a:xfrm>
            <a:off x="749808"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5" name="Shape 32"/>
          <p:cNvSpPr/>
          <p:nvPr/>
        </p:nvSpPr>
        <p:spPr>
          <a:xfrm>
            <a:off x="2093976" y="3383280"/>
            <a:ext cx="1298448" cy="310896"/>
          </a:xfrm>
          <a:prstGeom prst="roundRect">
            <a:avLst>
              <a:gd name="adj" fmla="val 50000"/>
            </a:avLst>
          </a:prstGeom>
          <a:solidFill>
            <a:srgbClr val="FFFFFF"/>
          </a:solidFill>
          <a:ln w="12700">
            <a:solidFill>
              <a:srgbClr val="FFFFFF"/>
            </a:solidFill>
            <a:prstDash val="solid"/>
          </a:ln>
        </p:spPr>
      </p:sp>
      <p:sp>
        <p:nvSpPr>
          <p:cNvPr id="36" name="Text 33"/>
          <p:cNvSpPr txBox="1"/>
          <p:nvPr/>
        </p:nvSpPr>
        <p:spPr>
          <a:xfrm>
            <a:off x="2093976"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7" name="Shape 34"/>
          <p:cNvSpPr/>
          <p:nvPr/>
        </p:nvSpPr>
        <p:spPr>
          <a:xfrm>
            <a:off x="3438144" y="3383280"/>
            <a:ext cx="1298448" cy="310896"/>
          </a:xfrm>
          <a:prstGeom prst="roundRect">
            <a:avLst>
              <a:gd name="adj" fmla="val 50000"/>
            </a:avLst>
          </a:prstGeom>
          <a:solidFill>
            <a:srgbClr val="FFFFFF"/>
          </a:solidFill>
          <a:ln w="12700">
            <a:solidFill>
              <a:srgbClr val="FFFFFF"/>
            </a:solidFill>
            <a:prstDash val="solid"/>
          </a:ln>
        </p:spPr>
      </p:sp>
      <p:sp>
        <p:nvSpPr>
          <p:cNvPr id="38" name="Text 35"/>
          <p:cNvSpPr txBox="1"/>
          <p:nvPr/>
        </p:nvSpPr>
        <p:spPr>
          <a:xfrm>
            <a:off x="3438144"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39" name="Shape 36"/>
          <p:cNvSpPr/>
          <p:nvPr/>
        </p:nvSpPr>
        <p:spPr>
          <a:xfrm>
            <a:off x="4782312" y="3383280"/>
            <a:ext cx="1298448" cy="310896"/>
          </a:xfrm>
          <a:prstGeom prst="roundRect">
            <a:avLst>
              <a:gd name="adj" fmla="val 50000"/>
            </a:avLst>
          </a:prstGeom>
          <a:solidFill>
            <a:srgbClr val="FFFFFF"/>
          </a:solidFill>
          <a:ln w="12700">
            <a:solidFill>
              <a:srgbClr val="FFFFFF"/>
            </a:solidFill>
            <a:prstDash val="solid"/>
          </a:ln>
        </p:spPr>
      </p:sp>
      <p:sp>
        <p:nvSpPr>
          <p:cNvPr id="40" name="Text 37"/>
          <p:cNvSpPr txBox="1"/>
          <p:nvPr/>
        </p:nvSpPr>
        <p:spPr>
          <a:xfrm>
            <a:off x="4782312"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1" name="Shape 38"/>
          <p:cNvSpPr/>
          <p:nvPr/>
        </p:nvSpPr>
        <p:spPr>
          <a:xfrm>
            <a:off x="6126480" y="3383280"/>
            <a:ext cx="1298448" cy="310896"/>
          </a:xfrm>
          <a:prstGeom prst="roundRect">
            <a:avLst>
              <a:gd name="adj" fmla="val 50000"/>
            </a:avLst>
          </a:prstGeom>
          <a:solidFill>
            <a:srgbClr val="FFFFFF"/>
          </a:solidFill>
          <a:ln w="12700">
            <a:solidFill>
              <a:srgbClr val="FFFFFF"/>
            </a:solidFill>
            <a:prstDash val="solid"/>
          </a:ln>
        </p:spPr>
      </p:sp>
      <p:sp>
        <p:nvSpPr>
          <p:cNvPr id="42" name="Text 39"/>
          <p:cNvSpPr txBox="1"/>
          <p:nvPr/>
        </p:nvSpPr>
        <p:spPr>
          <a:xfrm>
            <a:off x="6126480"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3" name="Shape 40"/>
          <p:cNvSpPr/>
          <p:nvPr/>
        </p:nvSpPr>
        <p:spPr>
          <a:xfrm>
            <a:off x="749808" y="3785616"/>
            <a:ext cx="1298448" cy="310896"/>
          </a:xfrm>
          <a:prstGeom prst="roundRect">
            <a:avLst>
              <a:gd name="adj" fmla="val 50000"/>
            </a:avLst>
          </a:prstGeom>
          <a:solidFill>
            <a:srgbClr val="FFFFFF"/>
          </a:solidFill>
          <a:ln w="12700">
            <a:solidFill>
              <a:srgbClr val="FFFFFF"/>
            </a:solidFill>
            <a:prstDash val="solid"/>
          </a:ln>
        </p:spPr>
      </p:sp>
      <p:sp>
        <p:nvSpPr>
          <p:cNvPr id="44" name="Text 41"/>
          <p:cNvSpPr txBox="1"/>
          <p:nvPr/>
        </p:nvSpPr>
        <p:spPr>
          <a:xfrm>
            <a:off x="749808"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end to end</a:t>
            </a:r>
            <a:endParaRPr lang="en-US" sz="950" dirty="0"/>
          </a:p>
        </p:txBody>
      </p:sp>
      <p:sp>
        <p:nvSpPr>
          <p:cNvPr id="45" name="Shape 42"/>
          <p:cNvSpPr/>
          <p:nvPr/>
        </p:nvSpPr>
        <p:spPr>
          <a:xfrm>
            <a:off x="2093976" y="3785616"/>
            <a:ext cx="1298448" cy="310896"/>
          </a:xfrm>
          <a:prstGeom prst="roundRect">
            <a:avLst>
              <a:gd name="adj" fmla="val 50000"/>
            </a:avLst>
          </a:prstGeom>
          <a:solidFill>
            <a:srgbClr val="FFFFFF"/>
          </a:solidFill>
          <a:ln w="12700">
            <a:solidFill>
              <a:srgbClr val="FFFFFF"/>
            </a:solidFill>
            <a:prstDash val="solid"/>
          </a:ln>
        </p:spPr>
      </p:sp>
      <p:sp>
        <p:nvSpPr>
          <p:cNvPr id="46" name="Text 43"/>
          <p:cNvSpPr txBox="1"/>
          <p:nvPr/>
        </p:nvSpPr>
        <p:spPr>
          <a:xfrm>
            <a:off x="2093976"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planner pass^3</a:t>
            </a:r>
            <a:endParaRPr lang="en-US" sz="950" dirty="0"/>
          </a:p>
        </p:txBody>
      </p:sp>
      <p:sp>
        <p:nvSpPr>
          <p:cNvPr id="47" name="Shape 44"/>
          <p:cNvSpPr/>
          <p:nvPr/>
        </p:nvSpPr>
        <p:spPr>
          <a:xfrm>
            <a:off x="3438144" y="3785616"/>
            <a:ext cx="1298448" cy="310896"/>
          </a:xfrm>
          <a:prstGeom prst="roundRect">
            <a:avLst>
              <a:gd name="adj" fmla="val 50000"/>
            </a:avLst>
          </a:prstGeom>
          <a:solidFill>
            <a:srgbClr val="FFFFFF"/>
          </a:solidFill>
          <a:ln w="12700">
            <a:solidFill>
              <a:srgbClr val="FFFFFF"/>
            </a:solidFill>
            <a:prstDash val="solid"/>
          </a:ln>
        </p:spPr>
      </p:sp>
      <p:sp>
        <p:nvSpPr>
          <p:cNvPr id="48" name="Text 45"/>
          <p:cNvSpPr txBox="1"/>
          <p:nvPr/>
        </p:nvSpPr>
        <p:spPr>
          <a:xfrm>
            <a:off x="3438144"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49" name="Shape 46"/>
          <p:cNvSpPr/>
          <p:nvPr/>
        </p:nvSpPr>
        <p:spPr>
          <a:xfrm>
            <a:off x="4782312" y="3785616"/>
            <a:ext cx="1298448" cy="310896"/>
          </a:xfrm>
          <a:prstGeom prst="roundRect">
            <a:avLst>
              <a:gd name="adj" fmla="val 50000"/>
            </a:avLst>
          </a:prstGeom>
          <a:solidFill>
            <a:srgbClr val="FFFFFF"/>
          </a:solidFill>
          <a:ln w="12700">
            <a:solidFill>
              <a:srgbClr val="FFFFFF"/>
            </a:solidFill>
            <a:prstDash val="solid"/>
          </a:ln>
        </p:spPr>
      </p:sp>
      <p:sp>
        <p:nvSpPr>
          <p:cNvPr id="50" name="Text 47"/>
          <p:cNvSpPr txBox="1"/>
          <p:nvPr/>
        </p:nvSpPr>
        <p:spPr>
          <a:xfrm>
            <a:off x="4782312"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1" name="Shape 48"/>
          <p:cNvSpPr/>
          <p:nvPr/>
        </p:nvSpPr>
        <p:spPr>
          <a:xfrm>
            <a:off x="7543800" y="3611880"/>
            <a:ext cx="274320" cy="0"/>
          </a:xfrm>
          <a:prstGeom prst="line">
            <a:avLst/>
          </a:prstGeom>
          <a:noFill/>
          <a:ln w="22225">
            <a:solidFill>
              <a:srgbClr val="8A8A92"/>
            </a:solidFill>
            <a:prstDash val="solid"/>
            <a:tailEnd type="triangle"/>
          </a:ln>
        </p:spPr>
      </p:sp>
      <p:sp>
        <p:nvSpPr>
          <p:cNvPr id="52" name="Shape 49"/>
          <p:cNvSpPr/>
          <p:nvPr/>
        </p:nvSpPr>
        <p:spPr>
          <a:xfrm>
            <a:off x="7863840" y="2926080"/>
            <a:ext cx="3749040" cy="1371600"/>
          </a:xfrm>
          <a:prstGeom prst="roundRect">
            <a:avLst>
              <a:gd name="adj" fmla="val 8000"/>
            </a:avLst>
          </a:prstGeom>
          <a:solidFill>
            <a:srgbClr val="FFFFFF"/>
          </a:solidFill>
          <a:ln w="25400">
            <a:solidFill>
              <a:srgbClr val="D1352B"/>
            </a:solidFill>
            <a:prstDash val="solid"/>
          </a:ln>
        </p:spPr>
      </p:sp>
      <p:sp>
        <p:nvSpPr>
          <p:cNvPr id="53" name="Text 50"/>
          <p:cNvSpPr txBox="1"/>
          <p:nvPr/>
        </p:nvSpPr>
        <p:spPr>
          <a:xfrm>
            <a:off x="8046720" y="3017520"/>
            <a:ext cx="3383280" cy="256032"/>
          </a:xfrm>
          <a:prstGeom prst="rect">
            <a:avLst/>
          </a:prstGeom>
          <a:noFill/>
          <a:ln/>
        </p:spPr>
        <p:txBody>
          <a:bodyPr wrap="square" lIns="0" tIns="0" rIns="0" bIns="0" rtlCol="0" anchor="t"/>
          <a:lstStyle/>
          <a:p>
            <a:pPr indent="0" marL="0">
              <a:buNone/>
            </a:pPr>
            <a:r>
              <a:rPr lang="en-US" sz="1200" b="1" dirty="0">
                <a:solidFill>
                  <a:srgbClr val="D1352B"/>
                </a:solidFill>
              </a:rPr>
              <a:t>7 · SHIP, OR ROLL BACK</a:t>
            </a:r>
            <a:endParaRPr lang="en-US" sz="1200" dirty="0"/>
          </a:p>
        </p:txBody>
      </p:sp>
      <p:sp>
        <p:nvSpPr>
          <p:cNvPr id="54" name="Text 51"/>
          <p:cNvSpPr txBox="1"/>
          <p:nvPr/>
        </p:nvSpPr>
        <p:spPr>
          <a:xfrm>
            <a:off x="8046720" y="3337560"/>
            <a:ext cx="3429000" cy="914400"/>
          </a:xfrm>
          <a:prstGeom prst="rect">
            <a:avLst/>
          </a:prstGeom>
          <a:noFill/>
          <a:ln/>
        </p:spPr>
        <p:txBody>
          <a:bodyPr wrap="square" lIns="0" tIns="0" rIns="0" bIns="0" rtlCol="0" anchor="t"/>
          <a:lstStyle/>
          <a:p>
            <a:pPr indent="0" marL="0">
              <a:buNone/>
            </a:pPr>
            <a:r>
              <a:rPr lang="en-US" sz="1100" dirty="0">
                <a:solidFill>
                  <a:srgbClr val="55555C"/>
                </a:solidFill>
              </a:rPr>
              <a:t>A small canary that turns itself off if thumbs down rise. Anything beyond a safe setting waits for a person.</a:t>
            </a:r>
            <a:endParaRPr lang="en-US" sz="1100" dirty="0"/>
          </a:p>
        </p:txBody>
      </p:sp>
      <p:sp>
        <p:nvSpPr>
          <p:cNvPr id="55" name="Shape 52"/>
          <p:cNvSpPr/>
          <p:nvPr/>
        </p:nvSpPr>
        <p:spPr>
          <a:xfrm>
            <a:off x="548640" y="4434840"/>
            <a:ext cx="5440680" cy="1188720"/>
          </a:xfrm>
          <a:prstGeom prst="roundRect">
            <a:avLst>
              <a:gd name="adj" fmla="val 9231"/>
            </a:avLst>
          </a:prstGeom>
          <a:solidFill>
            <a:srgbClr val="E9F3EC"/>
          </a:solidFill>
          <a:ln w="12700">
            <a:solidFill>
              <a:srgbClr val="E9F3EC"/>
            </a:solidFill>
            <a:prstDash val="solid"/>
          </a:ln>
        </p:spPr>
      </p:sp>
      <p:sp>
        <p:nvSpPr>
          <p:cNvPr id="56" name="Text 53"/>
          <p:cNvSpPr txBox="1"/>
          <p:nvPr/>
        </p:nvSpPr>
        <p:spPr>
          <a:xfrm>
            <a:off x="731520" y="4526280"/>
            <a:ext cx="1828800" cy="201168"/>
          </a:xfrm>
          <a:prstGeom prst="rect">
            <a:avLst/>
          </a:prstGeom>
          <a:noFill/>
          <a:ln/>
        </p:spPr>
        <p:txBody>
          <a:bodyPr wrap="square" lIns="0" tIns="0" rIns="0" bIns="0" rtlCol="0" anchor="t"/>
          <a:lstStyle/>
          <a:p>
            <a:pPr indent="0" marL="0">
              <a:buNone/>
            </a:pPr>
            <a:r>
              <a:rPr lang="en-US" sz="1000" b="1" spc="100" kern="0" dirty="0">
                <a:solidFill>
                  <a:srgbClr val="0A7F44"/>
                </a:solidFill>
              </a:rPr>
              <a:t>SHIPPED</a:t>
            </a:r>
            <a:endParaRPr lang="en-US" sz="1000" dirty="0"/>
          </a:p>
        </p:txBody>
      </p:sp>
      <p:sp>
        <p:nvSpPr>
          <p:cNvPr id="57" name="Text 54"/>
          <p:cNvSpPr txBox="1"/>
          <p:nvPr/>
        </p:nvSpPr>
        <p:spPr>
          <a:xfrm>
            <a:off x="73152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"Ask me later" → ask.hour 12 → 18</a:t>
            </a:r>
            <a:endParaRPr lang="en-US" sz="1400" dirty="0"/>
          </a:p>
        </p:txBody>
      </p:sp>
      <p:sp>
        <p:nvSpPr>
          <p:cNvPr id="58" name="Text 55"/>
          <p:cNvSpPr txBox="1"/>
          <p:nvPr/>
        </p:nvSpPr>
        <p:spPr>
          <a:xfrm>
            <a:off x="73152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Approved as a safe setting, shipped to 5 of 31 beta members: thumbs down 29% → 23% over 7 days, promoted.</a:t>
            </a:r>
            <a:endParaRPr lang="en-US" sz="1050" dirty="0"/>
          </a:p>
        </p:txBody>
      </p:sp>
      <p:sp>
        <p:nvSpPr>
          <p:cNvPr id="59" name="Shape 56"/>
          <p:cNvSpPr/>
          <p:nvPr/>
        </p:nvSpPr>
        <p:spPr>
          <a:xfrm>
            <a:off x="6172200" y="4434840"/>
            <a:ext cx="5440680" cy="1188720"/>
          </a:xfrm>
          <a:prstGeom prst="roundRect">
            <a:avLst>
              <a:gd name="adj" fmla="val 9231"/>
            </a:avLst>
          </a:prstGeom>
          <a:solidFill>
            <a:srgbClr val="FBEAE9"/>
          </a:solidFill>
          <a:ln w="12700">
            <a:solidFill>
              <a:srgbClr val="FBEAE9"/>
            </a:solidFill>
            <a:prstDash val="solid"/>
          </a:ln>
        </p:spPr>
      </p:sp>
      <p:sp>
        <p:nvSpPr>
          <p:cNvPr id="60" name="Text 57"/>
          <p:cNvSpPr txBox="1"/>
          <p:nvPr/>
        </p:nvSpPr>
        <p:spPr>
          <a:xfrm>
            <a:off x="6355080" y="4526280"/>
            <a:ext cx="2743200" cy="201168"/>
          </a:xfrm>
          <a:prstGeom prst="rect">
            <a:avLst/>
          </a:prstGeom>
          <a:noFill/>
          <a:ln/>
        </p:spPr>
        <p:txBody>
          <a:bodyPr wrap="square" lIns="0" tIns="0" rIns="0" bIns="0" rtlCol="0" anchor="t"/>
          <a:lstStyle/>
          <a:p>
            <a:pPr indent="0" marL="0">
              <a:buNone/>
            </a:pPr>
            <a:r>
              <a:rPr lang="en-US" sz="1000" b="1" spc="100" kern="0" dirty="0">
                <a:solidFill>
                  <a:srgbClr val="D1352B"/>
                </a:solidFill>
              </a:rPr>
              <a:t>ROLLED BACK BY ITSELF</a:t>
            </a:r>
            <a:endParaRPr lang="en-US" sz="1000" dirty="0"/>
          </a:p>
        </p:txBody>
      </p:sp>
      <p:sp>
        <p:nvSpPr>
          <p:cNvPr id="61" name="Text 58"/>
          <p:cNvSpPr txBox="1"/>
          <p:nvPr/>
        </p:nvSpPr>
        <p:spPr>
          <a:xfrm>
            <a:off x="635508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 planted bad change: ask.ahead 3 → 2</a:t>
            </a:r>
            <a:endParaRPr lang="en-US" sz="1400" dirty="0"/>
          </a:p>
        </p:txBody>
      </p:sp>
      <p:sp>
        <p:nvSpPr>
          <p:cNvPr id="62" name="Text 59"/>
          <p:cNvSpPr txBox="1"/>
          <p:nvPr/>
        </p:nvSpPr>
        <p:spPr>
          <a:xfrm>
            <a:off x="635508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Sent to a canary of 8: thumbs down on it went from 40% to 60%, and the monitor turned it off with no one asked.</a:t>
            </a:r>
            <a:endParaRPr lang="en-US" sz="1050" dirty="0"/>
          </a:p>
        </p:txBody>
      </p:sp>
      <p:sp>
        <p:nvSpPr>
          <p:cNvPr id="63" name="Shape 60"/>
          <p:cNvSpPr/>
          <p:nvPr/>
        </p:nvSpPr>
        <p:spPr>
          <a:xfrm>
            <a:off x="548640" y="5760720"/>
            <a:ext cx="11064240" cy="502920"/>
          </a:xfrm>
          <a:prstGeom prst="roundRect">
            <a:avLst>
              <a:gd name="adj" fmla="val 21818"/>
            </a:avLst>
          </a:prstGeom>
          <a:solidFill>
            <a:srgbClr val="0A0A0B"/>
          </a:solidFill>
          <a:ln w="12700">
            <a:solidFill>
              <a:srgbClr val="0A0A0B"/>
            </a:solidFill>
            <a:prstDash val="solid"/>
          </a:ln>
        </p:spPr>
      </p:sp>
      <p:sp>
        <p:nvSpPr>
          <p:cNvPr id="64" name="Text 61"/>
          <p:cNvSpPr txBox="1"/>
          <p:nvPr/>
        </p:nvSpPr>
        <p:spPr>
          <a:xfrm>
            <a:off x="777240" y="5760720"/>
            <a:ext cx="1463040" cy="502920"/>
          </a:xfrm>
          <a:prstGeom prst="rect">
            <a:avLst/>
          </a:prstGeom>
          <a:noFill/>
          <a:ln/>
        </p:spPr>
        <p:txBody>
          <a:bodyPr wrap="square" lIns="0" tIns="0" rIns="0" bIns="0" rtlCol="0" anchor="ctr"/>
          <a:lstStyle/>
          <a:p>
            <a:pPr indent="0" marL="0">
              <a:buNone/>
            </a:pPr>
            <a:r>
              <a:rPr lang="en-US" sz="1100" b="1" dirty="0">
                <a:solidFill>
                  <a:srgbClr val="FFFFFF"/>
                </a:solidFill>
              </a:rPr>
              <a:t>NEVER-LIST</a:t>
            </a:r>
            <a:endParaRPr lang="en-US" sz="1100" dirty="0"/>
          </a:p>
        </p:txBody>
      </p:sp>
      <p:sp>
        <p:nvSpPr>
          <p:cNvPr id="65" name="Text 62"/>
          <p:cNvSpPr txBox="1"/>
          <p:nvPr/>
        </p:nvSpPr>
        <p:spPr>
          <a:xfrm>
            <a:off x="2240280" y="5760720"/>
            <a:ext cx="9235440" cy="502920"/>
          </a:xfrm>
          <a:prstGeom prst="rect">
            <a:avLst/>
          </a:prstGeom>
          <a:noFill/>
          <a:ln/>
        </p:spPr>
        <p:txBody>
          <a:bodyPr wrap="square" lIns="0" tIns="0" rIns="0" bIns="0" rtlCol="0" anchor="ctr"/>
          <a:lstStyle/>
          <a:p>
            <a:pPr indent="0" marL="0">
              <a:buNone/>
            </a:pPr>
            <a:r>
              <a:rPr lang="en-US" sz="1200" dirty="0">
                <a:solidFill>
                  <a:srgbClr val="FFFFFF"/>
                </a:solidFill>
              </a:rPr>
              <a:t>Booking without a yes · data off the server · a diagnosis or a dose · the guards · the tests · A2A · deployment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numbers, and where each comes from</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93/93</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58/58</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37/42</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unsafe messages refused (1 of 74 harmless)</a:t>
            </a:r>
            <a:endParaRPr lang="en-US" sz="1200" dirty="0"/>
          </a:p>
        </p:txBody>
      </p:sp>
      <p:sp>
        <p:nvSpPr>
          <p:cNvPr id="17" name="Text 14"/>
          <p:cNvSpPr txBox="1"/>
          <p:nvPr/>
        </p:nvSpPr>
        <p:spPr>
          <a:xfrm>
            <a:off x="548640" y="6217920"/>
            <a:ext cx="11064240" cy="228600"/>
          </a:xfrm>
          <a:prstGeom prst="rect">
            <a:avLst/>
          </a:prstGeom>
          <a:noFill/>
          <a:ln/>
        </p:spPr>
        <p:txBody>
          <a:bodyPr wrap="square" lIns="0" tIns="0" rIns="0" bIns="0" rtlCol="0" anchor="t"/>
          <a:lstStyle/>
          <a:p>
            <a:pPr indent="0" marL="0">
              <a:buNone/>
            </a:pPr>
            <a:r>
              <a:rPr lang="en-US" sz="1000" i="1" dirty="0">
                <a:solidFill>
                  <a:srgbClr val="55555C"/>
                </a:solidFill>
              </a:rPr>
              <a:t>Bold: run with the real model. "A cloud A100": the same Muse Glimmer build that runs the product on the RTX 3090.</a:t>
            </a:r>
            <a:endParaRPr lang="en-US" sz="1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3108960"/>
          <a:ext cx="11064240" cy="914400"/>
        </p:xfrm>
        <a:graphic>
          <a:graphicData uri="http://schemas.openxmlformats.org/drawingml/2006/table">
            <a:tbl>
              <a:tblPr/>
              <a:tblGrid>
                <a:gridCol w="4572000"/>
                <a:gridCol w="3566160"/>
                <a:gridCol w="2926080"/>
              </a:tblGrid>
              <a:tr h="30175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npm test, 25 offline suites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275 = 270 pass + 3 optional + 2 Linux-only</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No model, no GPU</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Messenger end to end (test/e2e.mjs)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58 of 58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Muse Glimmer on a cloud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Attacks (test/redteam.mjs)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93 of 93 stopped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A cloud A100, twice</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Community loop's attacks, within the 93</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29 of 29 stopped, 5 of 5 controls passed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The server's CPU, with the real guards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A2A between two gateways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22 of 22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Taipei GPU server and a GCP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Crash matrix</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20 of 20 checks (201 of 201 assertions)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 stand-in model</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Unsafe messages: Llama Guard, then code</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37 of 42 refused; 1 of 74 harmless ones refused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The server's CPU</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 federation of three clubs (test/federation_unit.mjs)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4 of 4: found, signed, rotated, forgery refused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Real HTTP, one host</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"I want to play" in Messenger</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13 of 13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Muse Glimmer on a cloud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GPU server I own, the Meta Model API where it helps</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10512"/>
            <a:ext cx="2724912" cy="603504"/>
          </a:xfrm>
          <a:prstGeom prst="roundRect">
            <a:avLst>
              <a:gd name="adj" fmla="val 18182"/>
            </a:avLst>
          </a:prstGeom>
          <a:solidFill>
            <a:srgbClr val="F6F7F8"/>
          </a:solidFill>
          <a:ln w="12700">
            <a:solidFill>
              <a:srgbClr val="F6F7F8"/>
            </a:solidFill>
            <a:prstDash val="solid"/>
          </a:ln>
        </p:spPr>
      </p:sp>
      <p:sp>
        <p:nvSpPr>
          <p:cNvPr id="29" name="Text 26"/>
          <p:cNvSpPr txBox="1"/>
          <p:nvPr/>
        </p:nvSpPr>
        <p:spPr>
          <a:xfrm>
            <a:off x="312724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Planner agent</a:t>
            </a:r>
            <a:endParaRPr lang="en-US" sz="1100" dirty="0"/>
          </a:p>
        </p:txBody>
      </p:sp>
      <p:sp>
        <p:nvSpPr>
          <p:cNvPr id="30" name="Text 27"/>
          <p:cNvSpPr txBox="1"/>
          <p:nvPr/>
        </p:nvSpPr>
        <p:spPr>
          <a:xfrm>
            <a:off x="312724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tool loop · native tool calling · 12 steps max · rules finish if it stalls</a:t>
            </a:r>
            <a:endParaRPr lang="en-US" sz="900" dirty="0"/>
          </a:p>
        </p:txBody>
      </p:sp>
      <p:sp>
        <p:nvSpPr>
          <p:cNvPr id="31" name="Shape 28"/>
          <p:cNvSpPr/>
          <p:nvPr/>
        </p:nvSpPr>
        <p:spPr>
          <a:xfrm>
            <a:off x="5833872" y="1810512"/>
            <a:ext cx="2724912" cy="603504"/>
          </a:xfrm>
          <a:prstGeom prst="roundRect">
            <a:avLst>
              <a:gd name="adj" fmla="val 18182"/>
            </a:avLst>
          </a:prstGeom>
          <a:solidFill>
            <a:srgbClr val="F6F7F8"/>
          </a:solidFill>
          <a:ln w="12700">
            <a:solidFill>
              <a:srgbClr val="F6F7F8"/>
            </a:solidFill>
            <a:prstDash val="solid"/>
          </a:ln>
        </p:spPr>
      </p:sp>
      <p:sp>
        <p:nvSpPr>
          <p:cNvPr id="32" name="Text 29"/>
          <p:cNvSpPr txBox="1"/>
          <p:nvPr/>
        </p:nvSpPr>
        <p:spPr>
          <a:xfrm>
            <a:off x="596188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Agent to agent</a:t>
            </a:r>
            <a:endParaRPr lang="en-US" sz="1100" dirty="0"/>
          </a:p>
        </p:txBody>
      </p:sp>
      <p:sp>
        <p:nvSpPr>
          <p:cNvPr id="33" name="Text 30"/>
          <p:cNvSpPr txBox="1"/>
          <p:nvPr/>
        </p:nvSpPr>
        <p:spPr>
          <a:xfrm>
            <a:off x="596188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A2A v1.0 · signed requests · held times · a federation of clubs, keys rotated</a:t>
            </a:r>
            <a:endParaRPr lang="en-US" sz="900" dirty="0"/>
          </a:p>
        </p:txBody>
      </p:sp>
      <p:sp>
        <p:nvSpPr>
          <p:cNvPr id="34" name="Shape 31"/>
          <p:cNvSpPr/>
          <p:nvPr/>
        </p:nvSpPr>
        <p:spPr>
          <a:xfrm>
            <a:off x="2999232" y="2468880"/>
            <a:ext cx="2724912" cy="603504"/>
          </a:xfrm>
          <a:prstGeom prst="roundRect">
            <a:avLst>
              <a:gd name="adj" fmla="val 18182"/>
            </a:avLst>
          </a:prstGeom>
          <a:solidFill>
            <a:srgbClr val="F6F7F8"/>
          </a:solidFill>
          <a:ln w="12700">
            <a:solidFill>
              <a:srgbClr val="F6F7F8"/>
            </a:solidFill>
            <a:prstDash val="solid"/>
          </a:ln>
        </p:spPr>
      </p:sp>
      <p:sp>
        <p:nvSpPr>
          <p:cNvPr id="35" name="Text 32"/>
          <p:cNvSpPr txBox="1"/>
          <p:nvPr/>
        </p:nvSpPr>
        <p:spPr>
          <a:xfrm>
            <a:off x="312724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Scheduling context</a:t>
            </a:r>
            <a:endParaRPr lang="en-US" sz="1100" dirty="0"/>
          </a:p>
        </p:txBody>
      </p:sp>
      <p:sp>
        <p:nvSpPr>
          <p:cNvPr id="36" name="Text 33"/>
          <p:cNvSpPr txBox="1"/>
          <p:nvPr/>
        </p:nvSpPr>
        <p:spPr>
          <a:xfrm>
            <a:off x="312724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your words, games, health app · found by DRAMA · rules cite notes</a:t>
            </a:r>
            <a:endParaRPr lang="en-US" sz="900" dirty="0"/>
          </a:p>
        </p:txBody>
      </p:sp>
      <p:sp>
        <p:nvSpPr>
          <p:cNvPr id="37" name="Shape 34"/>
          <p:cNvSpPr/>
          <p:nvPr/>
        </p:nvSpPr>
        <p:spPr>
          <a:xfrm>
            <a:off x="5833872" y="2468880"/>
            <a:ext cx="2724912" cy="603504"/>
          </a:xfrm>
          <a:prstGeom prst="roundRect">
            <a:avLst>
              <a:gd name="adj" fmla="val 18182"/>
            </a:avLst>
          </a:prstGeom>
          <a:solidFill>
            <a:srgbClr val="F6F7F8"/>
          </a:solidFill>
          <a:ln w="12700">
            <a:solidFill>
              <a:srgbClr val="F6F7F8"/>
            </a:solidFill>
            <a:prstDash val="solid"/>
          </a:ln>
        </p:spPr>
      </p:sp>
      <p:sp>
        <p:nvSpPr>
          <p:cNvPr id="38" name="Text 35"/>
          <p:cNvSpPr txBox="1"/>
          <p:nvPr/>
        </p:nvSpPr>
        <p:spPr>
          <a:xfrm>
            <a:off x="596188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Courts near you</a:t>
            </a:r>
            <a:endParaRPr lang="en-US" sz="1100" dirty="0"/>
          </a:p>
        </p:txBody>
      </p:sp>
      <p:sp>
        <p:nvSpPr>
          <p:cNvPr id="39" name="Text 36"/>
          <p:cNvSpPr txBox="1"/>
          <p:nvPr/>
        </p:nvSpPr>
        <p:spPr>
          <a:xfrm>
            <a:off x="596188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map, reviews, forecast · 4 judged at once · reasons cited</a:t>
            </a:r>
            <a:endParaRPr lang="en-US" sz="900" dirty="0"/>
          </a:p>
        </p:txBody>
      </p:sp>
      <p:sp>
        <p:nvSpPr>
          <p:cNvPr id="40" name="Shape 37"/>
          <p:cNvSpPr/>
          <p:nvPr/>
        </p:nvSpPr>
        <p:spPr>
          <a:xfrm>
            <a:off x="2999232" y="3127248"/>
            <a:ext cx="2724912" cy="603504"/>
          </a:xfrm>
          <a:prstGeom prst="roundRect">
            <a:avLst>
              <a:gd name="adj" fmla="val 18182"/>
            </a:avLst>
          </a:prstGeom>
          <a:solidFill>
            <a:srgbClr val="F6F7F8"/>
          </a:solidFill>
          <a:ln w="12700">
            <a:solidFill>
              <a:srgbClr val="F6F7F8"/>
            </a:solidFill>
            <a:prstDash val="solid"/>
          </a:ln>
        </p:spPr>
      </p:sp>
      <p:sp>
        <p:nvSpPr>
          <p:cNvPr id="41" name="Text 38"/>
          <p:cNvSpPr txBox="1"/>
          <p:nvPr/>
        </p:nvSpPr>
        <p:spPr>
          <a:xfrm>
            <a:off x="312724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Social feed and members</a:t>
            </a:r>
            <a:endParaRPr lang="en-US" sz="1100" dirty="0"/>
          </a:p>
        </p:txBody>
      </p:sp>
      <p:sp>
        <p:nvSpPr>
          <p:cNvPr id="42" name="Text 39"/>
          <p:cNvSpPr txBox="1"/>
          <p:nvPr/>
        </p:nvSpPr>
        <p:spPr>
          <a:xfrm>
            <a:off x="312724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Facebook / Instagram login · invites · stories · signed agent channel</a:t>
            </a:r>
            <a:endParaRPr lang="en-US" sz="900" dirty="0"/>
          </a:p>
        </p:txBody>
      </p:sp>
      <p:sp>
        <p:nvSpPr>
          <p:cNvPr id="43" name="Shape 40"/>
          <p:cNvSpPr/>
          <p:nvPr/>
        </p:nvSpPr>
        <p:spPr>
          <a:xfrm>
            <a:off x="5833872" y="3127248"/>
            <a:ext cx="2724912" cy="603504"/>
          </a:xfrm>
          <a:prstGeom prst="roundRect">
            <a:avLst>
              <a:gd name="adj" fmla="val 18182"/>
            </a:avLst>
          </a:prstGeom>
          <a:solidFill>
            <a:srgbClr val="F6F7F8"/>
          </a:solidFill>
          <a:ln w="12700">
            <a:solidFill>
              <a:srgbClr val="F6F7F8"/>
            </a:solidFill>
            <a:prstDash val="solid"/>
          </a:ln>
        </p:spPr>
      </p:sp>
      <p:sp>
        <p:nvSpPr>
          <p:cNvPr id="44" name="Text 41"/>
          <p:cNvSpPr txBox="1"/>
          <p:nvPr/>
        </p:nvSpPr>
        <p:spPr>
          <a:xfrm>
            <a:off x="596188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Auto highlights</a:t>
            </a:r>
            <a:endParaRPr lang="en-US" sz="1100" dirty="0"/>
          </a:p>
        </p:txBody>
      </p:sp>
      <p:sp>
        <p:nvSpPr>
          <p:cNvPr id="45" name="Text 42"/>
          <p:cNvSpPr txBox="1"/>
          <p:nvPr/>
        </p:nvSpPr>
        <p:spPr>
          <a:xfrm>
            <a:off x="596188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cut automatically: find you, the moment to share · orbit effect · caption</a:t>
            </a:r>
            <a:endParaRPr lang="en-US" sz="900" dirty="0"/>
          </a:p>
        </p:txBody>
      </p:sp>
      <p:sp>
        <p:nvSpPr>
          <p:cNvPr id="46" name="Shape 43"/>
          <p:cNvSpPr/>
          <p:nvPr/>
        </p:nvSpPr>
        <p:spPr>
          <a:xfrm>
            <a:off x="2999232" y="3785616"/>
            <a:ext cx="2724912" cy="603504"/>
          </a:xfrm>
          <a:prstGeom prst="roundRect">
            <a:avLst>
              <a:gd name="adj" fmla="val 18182"/>
            </a:avLst>
          </a:prstGeom>
          <a:solidFill>
            <a:srgbClr val="F6F7F8"/>
          </a:solidFill>
          <a:ln w="12700">
            <a:solidFill>
              <a:srgbClr val="F6F7F8"/>
            </a:solidFill>
            <a:prstDash val="solid"/>
          </a:ln>
        </p:spPr>
      </p:sp>
      <p:sp>
        <p:nvSpPr>
          <p:cNvPr id="47" name="Text 44"/>
          <p:cNvSpPr txBox="1"/>
          <p:nvPr/>
        </p:nvSpPr>
        <p:spPr>
          <a:xfrm>
            <a:off x="312724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Community loop</a:t>
            </a:r>
            <a:endParaRPr lang="en-US" sz="1100" dirty="0"/>
          </a:p>
        </p:txBody>
      </p:sp>
      <p:sp>
        <p:nvSpPr>
          <p:cNvPr id="48" name="Text 45"/>
          <p:cNvSpPr txBox="1"/>
          <p:nvPr/>
        </p:nvSpPr>
        <p:spPr>
          <a:xfrm>
            <a:off x="312724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ideas · DRAMA · votes · spec · coding agent · 9 gates · canary</a:t>
            </a:r>
            <a:endParaRPr lang="en-US" sz="900" dirty="0"/>
          </a:p>
        </p:txBody>
      </p:sp>
      <p:sp>
        <p:nvSpPr>
          <p:cNvPr id="49" name="Shape 46"/>
          <p:cNvSpPr/>
          <p:nvPr/>
        </p:nvSpPr>
        <p:spPr>
          <a:xfrm>
            <a:off x="5833872" y="3785616"/>
            <a:ext cx="2724912" cy="603504"/>
          </a:xfrm>
          <a:prstGeom prst="roundRect">
            <a:avLst>
              <a:gd name="adj" fmla="val 18182"/>
            </a:avLst>
          </a:prstGeom>
          <a:solidFill>
            <a:srgbClr val="F6F7F8"/>
          </a:solidFill>
          <a:ln w="12700">
            <a:solidFill>
              <a:srgbClr val="F6F7F8"/>
            </a:solidFill>
            <a:prstDash val="solid"/>
          </a:ln>
        </p:spPr>
      </p:sp>
      <p:sp>
        <p:nvSpPr>
          <p:cNvPr id="50" name="Text 47"/>
          <p:cNvSpPr txBox="1"/>
          <p:nvPr/>
        </p:nvSpPr>
        <p:spPr>
          <a:xfrm>
            <a:off x="596188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Decision tiers</a:t>
            </a:r>
            <a:endParaRPr lang="en-US" sz="1100" dirty="0"/>
          </a:p>
        </p:txBody>
      </p:sp>
      <p:sp>
        <p:nvSpPr>
          <p:cNvPr id="51" name="Text 48"/>
          <p:cNvSpPr txBox="1"/>
          <p:nvPr/>
        </p:nvSpPr>
        <p:spPr>
          <a:xfrm>
            <a:off x="596188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code first · Llama 3.2 1B when sure · Muse Glimmer if needed</a:t>
            </a:r>
            <a:endParaRPr lang="en-US" sz="900" dirty="0"/>
          </a:p>
        </p:txBody>
      </p:sp>
      <p:sp>
        <p:nvSpPr>
          <p:cNvPr id="52" name="Shape 49"/>
          <p:cNvSpPr/>
          <p:nvPr/>
        </p:nvSpPr>
        <p:spPr>
          <a:xfrm>
            <a:off x="2999232" y="4443984"/>
            <a:ext cx="2724912" cy="603504"/>
          </a:xfrm>
          <a:prstGeom prst="roundRect">
            <a:avLst>
              <a:gd name="adj" fmla="val 18182"/>
            </a:avLst>
          </a:prstGeom>
          <a:solidFill>
            <a:srgbClr val="F6F7F8"/>
          </a:solidFill>
          <a:ln w="12700">
            <a:solidFill>
              <a:srgbClr val="F6F7F8"/>
            </a:solidFill>
            <a:prstDash val="solid"/>
          </a:ln>
        </p:spPr>
      </p:sp>
      <p:sp>
        <p:nvSpPr>
          <p:cNvPr id="53" name="Text 50"/>
          <p:cNvSpPr txBox="1"/>
          <p:nvPr/>
        </p:nvSpPr>
        <p:spPr>
          <a:xfrm>
            <a:off x="312724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Live voice</a:t>
            </a:r>
            <a:endParaRPr lang="en-US" sz="1100" dirty="0"/>
          </a:p>
        </p:txBody>
      </p:sp>
      <p:sp>
        <p:nvSpPr>
          <p:cNvPr id="54" name="Text 51"/>
          <p:cNvSpPr txBox="1"/>
          <p:nvPr/>
        </p:nvSpPr>
        <p:spPr>
          <a:xfrm>
            <a:off x="312724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mic relayed to Muse Voice Transcribe · barge-in · Kokoro speaks</a:t>
            </a:r>
            <a:endParaRPr lang="en-US" sz="900" dirty="0"/>
          </a:p>
        </p:txBody>
      </p:sp>
      <p:sp>
        <p:nvSpPr>
          <p:cNvPr id="55" name="Shape 52"/>
          <p:cNvSpPr/>
          <p:nvPr/>
        </p:nvSpPr>
        <p:spPr>
          <a:xfrm>
            <a:off x="5833872" y="4443984"/>
            <a:ext cx="2724912" cy="603504"/>
          </a:xfrm>
          <a:prstGeom prst="roundRect">
            <a:avLst>
              <a:gd name="adj" fmla="val 18182"/>
            </a:avLst>
          </a:prstGeom>
          <a:solidFill>
            <a:srgbClr val="F6F7F8"/>
          </a:solidFill>
          <a:ln w="12700">
            <a:solidFill>
              <a:srgbClr val="F6F7F8"/>
            </a:solidFill>
            <a:prstDash val="solid"/>
          </a:ln>
        </p:spPr>
      </p:sp>
      <p:sp>
        <p:nvSpPr>
          <p:cNvPr id="56" name="Text 53"/>
          <p:cNvSpPr txBox="1"/>
          <p:nvPr/>
        </p:nvSpPr>
        <p:spPr>
          <a:xfrm>
            <a:off x="596188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Posters and faces</a:t>
            </a:r>
            <a:endParaRPr lang="en-US" sz="1100" dirty="0"/>
          </a:p>
        </p:txBody>
      </p:sp>
      <p:sp>
        <p:nvSpPr>
          <p:cNvPr id="57" name="Text 54"/>
          <p:cNvSpPr txBox="1"/>
          <p:nvPr/>
        </p:nvSpPr>
        <p:spPr>
          <a:xfrm>
            <a:off x="596188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Muse Image art, made once and cached · names drawn by the app</a:t>
            </a:r>
            <a:endParaRPr lang="en-US" sz="900" dirty="0"/>
          </a:p>
        </p:txBody>
      </p:sp>
      <p:sp>
        <p:nvSpPr>
          <p:cNvPr id="58" name="Shape 55"/>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9" name="Text 56"/>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60" name="Text 57"/>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61" name="Text 58"/>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62" name="Shape 59"/>
          <p:cNvSpPr/>
          <p:nvPr/>
        </p:nvSpPr>
        <p:spPr>
          <a:xfrm>
            <a:off x="8750808" y="2103120"/>
            <a:ext cx="274320" cy="0"/>
          </a:xfrm>
          <a:prstGeom prst="line">
            <a:avLst/>
          </a:prstGeom>
          <a:noFill/>
          <a:ln w="22225">
            <a:solidFill>
              <a:srgbClr val="0A7F44"/>
            </a:solidFill>
            <a:prstDash val="solid"/>
            <a:tailEnd type="triangle"/>
          </a:ln>
        </p:spPr>
      </p:sp>
      <p:sp>
        <p:nvSpPr>
          <p:cNvPr id="63" name="Shape 60"/>
          <p:cNvSpPr/>
          <p:nvPr/>
        </p:nvSpPr>
        <p:spPr>
          <a:xfrm>
            <a:off x="8750808" y="2926080"/>
            <a:ext cx="274320" cy="0"/>
          </a:xfrm>
          <a:prstGeom prst="line">
            <a:avLst/>
          </a:prstGeom>
          <a:noFill/>
          <a:ln w="22225">
            <a:solidFill>
              <a:srgbClr val="0064E0"/>
            </a:solidFill>
            <a:prstDash val="solid"/>
            <a:tailEnd type="triangle"/>
          </a:ln>
        </p:spPr>
      </p:sp>
      <p:sp>
        <p:nvSpPr>
          <p:cNvPr id="64" name="Shape 61"/>
          <p:cNvSpPr/>
          <p:nvPr/>
        </p:nvSpPr>
        <p:spPr>
          <a:xfrm>
            <a:off x="8750808" y="4572000"/>
            <a:ext cx="274320" cy="0"/>
          </a:xfrm>
          <a:prstGeom prst="line">
            <a:avLst/>
          </a:prstGeom>
          <a:noFill/>
          <a:ln w="22225">
            <a:solidFill>
              <a:srgbClr val="B26A00"/>
            </a:solidFill>
            <a:prstDash val="solid"/>
            <a:tailEnd type="triangle"/>
          </a:ln>
        </p:spPr>
      </p:sp>
      <p:sp>
        <p:nvSpPr>
          <p:cNvPr id="65" name="Text 62"/>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66" name="Shape 63"/>
          <p:cNvSpPr/>
          <p:nvPr/>
        </p:nvSpPr>
        <p:spPr>
          <a:xfrm>
            <a:off x="9070848" y="1755648"/>
            <a:ext cx="2697480" cy="713232"/>
          </a:xfrm>
          <a:prstGeom prst="roundRect">
            <a:avLst>
              <a:gd name="adj" fmla="val 15385"/>
            </a:avLst>
          </a:prstGeom>
          <a:solidFill>
            <a:srgbClr val="E9F3EC"/>
          </a:solidFill>
          <a:ln w="12700">
            <a:solidFill>
              <a:srgbClr val="E9F3EC"/>
            </a:solidFill>
            <a:prstDash val="solid"/>
          </a:ln>
        </p:spPr>
      </p:sp>
      <p:sp>
        <p:nvSpPr>
          <p:cNvPr id="67" name="Text 64"/>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8" name="Text 65"/>
          <p:cNvSpPr txBox="1"/>
          <p:nvPr/>
        </p:nvSpPr>
        <p:spPr>
          <a:xfrm>
            <a:off x="9198864" y="2084832"/>
            <a:ext cx="2487168" cy="347472"/>
          </a:xfrm>
          <a:prstGeom prst="rect">
            <a:avLst/>
          </a:prstGeom>
          <a:noFill/>
          <a:ln/>
        </p:spPr>
        <p:txBody>
          <a:bodyPr wrap="square" lIns="0" tIns="0" rIns="0" bIns="0" rtlCol="0" anchor="t"/>
          <a:lstStyle/>
          <a:p>
            <a:pPr indent="0" marL="0">
              <a:buNone/>
            </a:pPr>
            <a:r>
              <a:rPr lang="en-US" sz="950" dirty="0">
                <a:solidFill>
                  <a:srgbClr val="0A0A0B"/>
                </a:solidFill>
              </a:rPr>
              <a:t>GPU 1 · RTX 3090 · 4 in parallel · tools, JSON Schemas, vision</a:t>
            </a:r>
            <a:endParaRPr lang="en-US" sz="950" dirty="0"/>
          </a:p>
        </p:txBody>
      </p:sp>
      <p:sp>
        <p:nvSpPr>
          <p:cNvPr id="69" name="Shape 66"/>
          <p:cNvSpPr/>
          <p:nvPr/>
        </p:nvSpPr>
        <p:spPr>
          <a:xfrm>
            <a:off x="9070848" y="2578608"/>
            <a:ext cx="2697480" cy="713232"/>
          </a:xfrm>
          <a:prstGeom prst="roundRect">
            <a:avLst>
              <a:gd name="adj" fmla="val 15385"/>
            </a:avLst>
          </a:prstGeom>
          <a:solidFill>
            <a:srgbClr val="E8F1FD"/>
          </a:solidFill>
          <a:ln w="12700">
            <a:solidFill>
              <a:srgbClr val="E8F1FD"/>
            </a:solidFill>
            <a:prstDash val="solid"/>
          </a:ln>
        </p:spPr>
      </p:sp>
      <p:sp>
        <p:nvSpPr>
          <p:cNvPr id="70" name="Text 67"/>
          <p:cNvSpPr txBox="1"/>
          <p:nvPr/>
        </p:nvSpPr>
        <p:spPr>
          <a:xfrm>
            <a:off x="9198864" y="265176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71" name="Text 68"/>
          <p:cNvSpPr txBox="1"/>
          <p:nvPr/>
        </p:nvSpPr>
        <p:spPr>
          <a:xfrm>
            <a:off x="9198864" y="2907792"/>
            <a:ext cx="2487168" cy="347472"/>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72" name="Shape 69"/>
          <p:cNvSpPr/>
          <p:nvPr/>
        </p:nvSpPr>
        <p:spPr>
          <a:xfrm>
            <a:off x="9070848" y="3401568"/>
            <a:ext cx="2697480" cy="914400"/>
          </a:xfrm>
          <a:prstGeom prst="roundRect">
            <a:avLst>
              <a:gd name="adj" fmla="val 12000"/>
            </a:avLst>
          </a:prstGeom>
          <a:solidFill>
            <a:srgbClr val="E8F1FD"/>
          </a:solidFill>
          <a:ln w="12700">
            <a:solidFill>
              <a:srgbClr val="E8F1FD"/>
            </a:solidFill>
            <a:prstDash val="solid"/>
          </a:ln>
        </p:spPr>
      </p:sp>
      <p:sp>
        <p:nvSpPr>
          <p:cNvPr id="73" name="Text 70"/>
          <p:cNvSpPr txBox="1"/>
          <p:nvPr/>
        </p:nvSpPr>
        <p:spPr>
          <a:xfrm>
            <a:off x="9198864" y="347472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74" name="Text 71"/>
          <p:cNvSpPr txBox="1"/>
          <p:nvPr/>
        </p:nvSpPr>
        <p:spPr>
          <a:xfrm>
            <a:off x="9198864" y="3730752"/>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 · Kokoro (speech)</a:t>
            </a:r>
            <a:endParaRPr lang="en-US" sz="950" dirty="0"/>
          </a:p>
        </p:txBody>
      </p:sp>
      <p:sp>
        <p:nvSpPr>
          <p:cNvPr id="75" name="Shape 72"/>
          <p:cNvSpPr/>
          <p:nvPr/>
        </p:nvSpPr>
        <p:spPr>
          <a:xfrm>
            <a:off x="9070848" y="4425696"/>
            <a:ext cx="2697480" cy="868680"/>
          </a:xfrm>
          <a:prstGeom prst="roundRect">
            <a:avLst>
              <a:gd name="adj" fmla="val 12632"/>
            </a:avLst>
          </a:prstGeom>
          <a:solidFill>
            <a:srgbClr val="FBF3E6"/>
          </a:solidFill>
          <a:ln w="12700">
            <a:solidFill>
              <a:srgbClr val="FBF3E6"/>
            </a:solidFill>
            <a:prstDash val="solid"/>
          </a:ln>
        </p:spPr>
      </p:sp>
      <p:sp>
        <p:nvSpPr>
          <p:cNvPr id="76" name="Text 73"/>
          <p:cNvSpPr txBox="1"/>
          <p:nvPr/>
        </p:nvSpPr>
        <p:spPr>
          <a:xfrm>
            <a:off x="9198864" y="4498848"/>
            <a:ext cx="2468880" cy="246888"/>
          </a:xfrm>
          <a:prstGeom prst="rect">
            <a:avLst/>
          </a:prstGeom>
          <a:noFill/>
          <a:ln/>
        </p:spPr>
        <p:txBody>
          <a:bodyPr wrap="square" lIns="0" tIns="0" rIns="0" bIns="0" rtlCol="0" anchor="t"/>
          <a:lstStyle/>
          <a:p>
            <a:pPr indent="0" marL="0">
              <a:buNone/>
            </a:pPr>
            <a:r>
              <a:rPr lang="en-US" sz="1150" b="1" dirty="0">
                <a:solidFill>
                  <a:srgbClr val="B26A00"/>
                </a:solidFill>
              </a:rPr>
              <a:t>Meta Model API · key on the server</a:t>
            </a:r>
            <a:endParaRPr lang="en-US" sz="1150" dirty="0"/>
          </a:p>
        </p:txBody>
      </p:sp>
      <p:sp>
        <p:nvSpPr>
          <p:cNvPr id="77" name="Text 74"/>
          <p:cNvSpPr txBox="1"/>
          <p:nvPr/>
        </p:nvSpPr>
        <p:spPr>
          <a:xfrm>
            <a:off x="9198864" y="4754880"/>
            <a:ext cx="2487168" cy="502920"/>
          </a:xfrm>
          <a:prstGeom prst="rect">
            <a:avLst/>
          </a:prstGeom>
          <a:noFill/>
          <a:ln/>
        </p:spPr>
        <p:txBody>
          <a:bodyPr wrap="square" lIns="0" tIns="0" rIns="0" bIns="0" rtlCol="0" anchor="t"/>
          <a:lstStyle/>
          <a:p>
            <a:pPr indent="0" marL="0">
              <a:buNone/>
            </a:pPr>
            <a:r>
              <a:rPr lang="en-US" sz="950" dirty="0">
                <a:solidFill>
                  <a:srgbClr val="0A0A0B"/>
                </a:solidFill>
              </a:rPr>
              <a:t>Muse Spark 1.3 (fallback) · Muse Voice Transcribe · Muse Image · Muse Wonder (judges orbits) · SAM 3.1 (checked once)</a:t>
            </a:r>
            <a:endParaRPr lang="en-US" sz="950" dirty="0"/>
          </a:p>
        </p:txBody>
      </p:sp>
      <p:sp>
        <p:nvSpPr>
          <p:cNvPr id="78" name="Text 75"/>
          <p:cNvSpPr txBox="1"/>
          <p:nvPr/>
        </p:nvSpPr>
        <p:spPr>
          <a:xfrm>
            <a:off x="9070848" y="545896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79" name="Shape 76"/>
          <p:cNvSpPr/>
          <p:nvPr/>
        </p:nvSpPr>
        <p:spPr>
          <a:xfrm>
            <a:off x="9070848" y="5715000"/>
            <a:ext cx="2697480" cy="457200"/>
          </a:xfrm>
          <a:prstGeom prst="roundRect">
            <a:avLst>
              <a:gd name="adj" fmla="val 24000"/>
            </a:avLst>
          </a:prstGeom>
          <a:solidFill>
            <a:srgbClr val="FFFFFF"/>
          </a:solidFill>
          <a:ln w="12700">
            <a:solidFill>
              <a:srgbClr val="DCDCE0"/>
            </a:solidFill>
            <a:prstDash val="solid"/>
          </a:ln>
        </p:spPr>
      </p:sp>
      <p:sp>
        <p:nvSpPr>
          <p:cNvPr id="80" name="Text 77"/>
          <p:cNvSpPr txBox="1"/>
          <p:nvPr/>
        </p:nvSpPr>
        <p:spPr>
          <a:xfrm>
            <a:off x="9198864" y="5715000"/>
            <a:ext cx="2514600" cy="457200"/>
          </a:xfrm>
          <a:prstGeom prst="rect">
            <a:avLst/>
          </a:prstGeom>
          <a:noFill/>
          <a:ln/>
        </p:spPr>
        <p:txBody>
          <a:bodyPr wrap="square" lIns="0" tIns="0" rIns="0" bIns="0" rtlCol="0" anchor="ctr"/>
          <a:lstStyle/>
          <a:p>
            <a:pPr indent="0" marL="0">
              <a:buNone/>
            </a:pPr>
            <a:r>
              <a:rPr lang="en-US" sz="950" dirty="0">
                <a:solidFill>
                  <a:srgbClr val="0A0A0B"/>
                </a:solidFill>
              </a:rPr>
              <a:t>OpenStreetMap · Open-Meteo · Google Places (reviews)</a:t>
            </a:r>
            <a:endParaRPr lang="en-US" sz="9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2026-10-30T00:31:12Z</dcterms:created>
  <dcterms:modified xsi:type="dcterms:W3CDTF">2026-10-30T00:31:12Z</dcterms:modified>
</cp:coreProperties>
</file>