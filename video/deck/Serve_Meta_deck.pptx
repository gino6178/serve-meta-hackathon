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b28bcd9e-df44-df65-9783-c1c558099d7a}">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Lst>
        </p14:section>
        <p14:section name="Appendix" id="{e626fef6-7eb8-0403-62ec-959b096dc8b7}">
          <p14:sldIdLst>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 95% intervals: the same within them</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vs itself [87.1–90.3]</c:v>
                  </c:pt>
                  <c:pt idx="1">
                    <c:v>First time listed</c:v>
                  </c:pt>
                  <c:pt idx="2">
                    <c:v>1B student [87.9–91.0]</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 (a small test)</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fitting it around work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冷啟動：agent 對 agent 需要雙方都在 Serve 上；第二個人怎麼來？靠邀請連結。跟 agent 說一句 → 分享連結到 LINE、WhatsApp 群組 → 對方沒帳號也能打開，看到球局和剩幾個名額（看不到誰報名）→ 登入一次就自動加入 → 滿團時每個人都收到 Game on，之後他自己的 agent 就能替他回覆。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 模型精簡版：六個撐起產品的模型（Muse Glimmer、Llama 3.2 1B 學生、Llama Guard 3、Prompt Guard 2、DRAMA、Muse Voice Transcribe），其他九個一行帶過，完整 15 格在附錄。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拿掉一個模型會怎樣：Glimmer（整個 agent 不能運作）、學生模型（每次決策從 0.9 秒變 40 秒，模擬中 Glimmer 回答多 54–67%）、DRAMA（第一個找到對的筆記從 0.60 掉到 0.35）、Llama Guard、Prompt Guard、Muse Voice。標明哪些是量測、哪些是設計上的。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真實與模擬一頁看清楚：左邊是真的（真人、真模型、真程式），右邊是模擬（測試用的社團與成員，都有標示）。模擬證明 agent 守住成員說過的話，不代表真人的反應；那是真人社團在量的。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開發範圍：比賽期間做的（全部程式碼、微調的 1B 學生模型、Demo 影片）、我之前就有的（TrackNetV5，關閉、本作品沒用到）、第三方照原樣使用的模型、軟體與資料。repo 歷史從 10/28（第二天）開始，900 多個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影片 2:29，三幕：一、冷啟動：Leo 沒有帳號，點連結就加入，Mia 同時收到 Game on（並排）；二、agent 透過 A2A 協商，Hana 的 agent 提出反提案（Messenger 裡一個 yes 就訂好也在這一幕）；三、找球場：Prompt Guard 2 先過濾評論，再由 Muse Glimmer 判斷（14 倍速，有標示），然後是社團。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image" Target="../media/image-17-3.jpe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video" Target="../media/media-23-1.mp4"/><Relationship Id="rId2" Type="http://schemas.microsoft.com/office/2007/relationships/media" Target="../media/media-23-1.mp4"/><Relationship Id="rId3" Type="http://schemas.openxmlformats.org/officeDocument/2006/relationships/image" Target="../media/image-23-3.png"/><Relationship Id="rId4" Type="http://schemas.openxmlformats.org/officeDocument/2006/relationships/image" Target="../media/image-23-4.jpeg"/><Relationship Id="rId5" Type="http://schemas.openxmlformats.org/officeDocument/2006/relationships/image" Target="../media/image-23-5.jpeg"/><Relationship Id="rId6" Type="http://schemas.openxmlformats.org/officeDocument/2006/relationships/image" Target="../media/image-23-6.jpeg"/><Relationship Id="rId7" Type="http://schemas.openxmlformats.org/officeDocument/2006/relationships/image" Target="../media/image-23-7.jpeg"/><Relationship Id="rId8" Type="http://schemas.openxmlformats.org/officeDocument/2006/relationships/slideLayout" Target="../slideLayouts/slideLayout2.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2.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server,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 (NZ)</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late meeting,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moves the game, plans one fewer in a heavy week,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 (14 demo sign-ins)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7</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29 Oct, day 3. Spond, Playtomic and Meetup post events or book courts; on Serve each player's agent agrees the time, so nobody runs the poll.</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COLD START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first friend needs no account</a:t>
            </a:r>
            <a:endParaRPr lang="en-US" sz="3200" dirty="0"/>
          </a:p>
        </p:txBody>
      </p:sp>
      <p:sp>
        <p:nvSpPr>
          <p:cNvPr id="5" name="Shape 2"/>
          <p:cNvSpPr/>
          <p:nvPr/>
        </p:nvSpPr>
        <p:spPr>
          <a:xfrm>
            <a:off x="548640" y="1783080"/>
            <a:ext cx="2606040" cy="3017520"/>
          </a:xfrm>
          <a:prstGeom prst="roundRect">
            <a:avLst>
              <a:gd name="adj" fmla="val 4211"/>
            </a:avLst>
          </a:prstGeom>
          <a:solidFill>
            <a:srgbClr val="F6F7F8"/>
          </a:solidFill>
          <a:ln w="12700">
            <a:solidFill>
              <a:srgbClr val="F6F7F8"/>
            </a:solidFill>
            <a:prstDash val="solid"/>
          </a:ln>
        </p:spPr>
      </p:sp>
      <p:sp>
        <p:nvSpPr>
          <p:cNvPr id="6" name="Shape 3"/>
          <p:cNvSpPr/>
          <p:nvPr/>
        </p:nvSpPr>
        <p:spPr>
          <a:xfrm>
            <a:off x="777240" y="2011680"/>
            <a:ext cx="457200" cy="457200"/>
          </a:xfrm>
          <a:prstGeom prst="ellipse">
            <a:avLst/>
          </a:prstGeom>
          <a:solidFill>
            <a:srgbClr val="0A7F44"/>
          </a:solidFill>
          <a:ln w="12700">
            <a:solidFill>
              <a:srgbClr val="0A7F44"/>
            </a:solidFill>
            <a:prstDash val="solid"/>
          </a:ln>
        </p:spPr>
      </p:sp>
      <p:sp>
        <p:nvSpPr>
          <p:cNvPr id="7" name="Text 4"/>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ext 5"/>
          <p:cNvSpPr txBox="1"/>
          <p:nvPr/>
        </p:nvSpPr>
        <p:spPr>
          <a:xfrm>
            <a:off x="77724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Tell your agent</a:t>
            </a:r>
            <a:endParaRPr lang="en-US" sz="1700" dirty="0"/>
          </a:p>
        </p:txBody>
      </p:sp>
      <p:sp>
        <p:nvSpPr>
          <p:cNvPr id="9" name="Text 6"/>
          <p:cNvSpPr txBox="1"/>
          <p:nvPr/>
        </p:nvSpPr>
        <p:spPr>
          <a:xfrm>
            <a:off x="77724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"Saturday doubles, need 3": it drafts the invite with the nearest court. You tap Post.</a:t>
            </a:r>
            <a:endParaRPr lang="en-US" sz="1250" dirty="0"/>
          </a:p>
        </p:txBody>
      </p:sp>
      <p:sp>
        <p:nvSpPr>
          <p:cNvPr id="10" name="Shape 7"/>
          <p:cNvSpPr/>
          <p:nvPr/>
        </p:nvSpPr>
        <p:spPr>
          <a:xfrm>
            <a:off x="3172968" y="3291840"/>
            <a:ext cx="146304" cy="0"/>
          </a:xfrm>
          <a:prstGeom prst="line">
            <a:avLst/>
          </a:prstGeom>
          <a:noFill/>
          <a:ln w="22225">
            <a:solidFill>
              <a:srgbClr val="8A8A92"/>
            </a:solidFill>
            <a:prstDash val="solid"/>
            <a:tailEnd type="triangle"/>
          </a:ln>
        </p:spPr>
      </p:sp>
      <p:sp>
        <p:nvSpPr>
          <p:cNvPr id="11" name="Shape 8"/>
          <p:cNvSpPr/>
          <p:nvPr/>
        </p:nvSpPr>
        <p:spPr>
          <a:xfrm>
            <a:off x="3337560" y="1783080"/>
            <a:ext cx="2606040" cy="3017520"/>
          </a:xfrm>
          <a:prstGeom prst="roundRect">
            <a:avLst>
              <a:gd name="adj" fmla="val 4211"/>
            </a:avLst>
          </a:prstGeom>
          <a:solidFill>
            <a:srgbClr val="F6F7F8"/>
          </a:solidFill>
          <a:ln w="12700">
            <a:solidFill>
              <a:srgbClr val="F6F7F8"/>
            </a:solidFill>
            <a:prstDash val="solid"/>
          </a:ln>
        </p:spPr>
      </p:sp>
      <p:sp>
        <p:nvSpPr>
          <p:cNvPr id="12" name="Shape 9"/>
          <p:cNvSpPr/>
          <p:nvPr/>
        </p:nvSpPr>
        <p:spPr>
          <a:xfrm>
            <a:off x="3566160" y="2011680"/>
            <a:ext cx="457200" cy="457200"/>
          </a:xfrm>
          <a:prstGeom prst="ellipse">
            <a:avLst/>
          </a:prstGeom>
          <a:solidFill>
            <a:srgbClr val="0A7F44"/>
          </a:solidFill>
          <a:ln w="12700">
            <a:solidFill>
              <a:srgbClr val="0A7F44"/>
            </a:solidFill>
            <a:prstDash val="solid"/>
          </a:ln>
        </p:spPr>
      </p:sp>
      <p:sp>
        <p:nvSpPr>
          <p:cNvPr id="13" name="Text 10"/>
          <p:cNvSpPr txBox="1"/>
          <p:nvPr/>
        </p:nvSpPr>
        <p:spPr>
          <a:xfrm>
            <a:off x="356616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4" name="Text 11"/>
          <p:cNvSpPr txBox="1"/>
          <p:nvPr/>
        </p:nvSpPr>
        <p:spPr>
          <a:xfrm>
            <a:off x="356616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Share the link</a:t>
            </a:r>
            <a:endParaRPr lang="en-US" sz="1700" dirty="0"/>
          </a:p>
        </p:txBody>
      </p:sp>
      <p:sp>
        <p:nvSpPr>
          <p:cNvPr id="15" name="Text 12"/>
          <p:cNvSpPr txBox="1"/>
          <p:nvPr/>
        </p:nvSpPr>
        <p:spPr>
          <a:xfrm>
            <a:off x="356616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To any group chat. It opens with no account: the game, the place, the spots left, never who is going.</a:t>
            </a:r>
            <a:endParaRPr lang="en-US" sz="1250" dirty="0"/>
          </a:p>
        </p:txBody>
      </p:sp>
      <p:sp>
        <p:nvSpPr>
          <p:cNvPr id="16" name="Shape 13"/>
          <p:cNvSpPr/>
          <p:nvPr/>
        </p:nvSpPr>
        <p:spPr>
          <a:xfrm>
            <a:off x="5961888" y="3291840"/>
            <a:ext cx="146304" cy="0"/>
          </a:xfrm>
          <a:prstGeom prst="line">
            <a:avLst/>
          </a:prstGeom>
          <a:noFill/>
          <a:ln w="22225">
            <a:solidFill>
              <a:srgbClr val="8A8A92"/>
            </a:solidFill>
            <a:prstDash val="solid"/>
            <a:tailEnd type="triangle"/>
          </a:ln>
        </p:spPr>
      </p:sp>
      <p:sp>
        <p:nvSpPr>
          <p:cNvPr id="17" name="Shape 14"/>
          <p:cNvSpPr/>
          <p:nvPr/>
        </p:nvSpPr>
        <p:spPr>
          <a:xfrm>
            <a:off x="6126480" y="1783080"/>
            <a:ext cx="2606040" cy="3017520"/>
          </a:xfrm>
          <a:prstGeom prst="roundRect">
            <a:avLst>
              <a:gd name="adj" fmla="val 4211"/>
            </a:avLst>
          </a:prstGeom>
          <a:solidFill>
            <a:srgbClr val="F6F7F8"/>
          </a:solidFill>
          <a:ln w="12700">
            <a:solidFill>
              <a:srgbClr val="F6F7F8"/>
            </a:solidFill>
            <a:prstDash val="solid"/>
          </a:ln>
        </p:spPr>
      </p:sp>
      <p:sp>
        <p:nvSpPr>
          <p:cNvPr id="18" name="Shape 15"/>
          <p:cNvSpPr/>
          <p:nvPr/>
        </p:nvSpPr>
        <p:spPr>
          <a:xfrm>
            <a:off x="6355080" y="2011680"/>
            <a:ext cx="457200" cy="457200"/>
          </a:xfrm>
          <a:prstGeom prst="ellipse">
            <a:avLst/>
          </a:prstGeom>
          <a:solidFill>
            <a:srgbClr val="0A7F44"/>
          </a:solidFill>
          <a:ln w="12700">
            <a:solidFill>
              <a:srgbClr val="0A7F44"/>
            </a:solidFill>
            <a:prstDash val="solid"/>
          </a:ln>
        </p:spPr>
      </p:sp>
      <p:sp>
        <p:nvSpPr>
          <p:cNvPr id="19" name="Text 16"/>
          <p:cNvSpPr txBox="1"/>
          <p:nvPr/>
        </p:nvSpPr>
        <p:spPr>
          <a:xfrm>
            <a:off x="635508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0" name="Text 17"/>
          <p:cNvSpPr txBox="1"/>
          <p:nvPr/>
        </p:nvSpPr>
        <p:spPr>
          <a:xfrm>
            <a:off x="635508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Tap Join</a:t>
            </a:r>
            <a:endParaRPr lang="en-US" sz="1700" dirty="0"/>
          </a:p>
        </p:txBody>
      </p:sp>
      <p:sp>
        <p:nvSpPr>
          <p:cNvPr id="21" name="Text 18"/>
          <p:cNvSpPr txBox="1"/>
          <p:nvPr/>
        </p:nvSpPr>
        <p:spPr>
          <a:xfrm>
            <a:off x="635508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Sign in once and the game is joined straight away, also after a Facebook or Instagram login.</a:t>
            </a:r>
            <a:endParaRPr lang="en-US" sz="1250" dirty="0"/>
          </a:p>
        </p:txBody>
      </p:sp>
      <p:sp>
        <p:nvSpPr>
          <p:cNvPr id="22" name="Shape 19"/>
          <p:cNvSpPr/>
          <p:nvPr/>
        </p:nvSpPr>
        <p:spPr>
          <a:xfrm>
            <a:off x="8750808" y="3291840"/>
            <a:ext cx="146304" cy="0"/>
          </a:xfrm>
          <a:prstGeom prst="line">
            <a:avLst/>
          </a:prstGeom>
          <a:noFill/>
          <a:ln w="22225">
            <a:solidFill>
              <a:srgbClr val="8A8A92"/>
            </a:solidFill>
            <a:prstDash val="solid"/>
            <a:tailEnd type="triangle"/>
          </a:ln>
        </p:spPr>
      </p:sp>
      <p:sp>
        <p:nvSpPr>
          <p:cNvPr id="23" name="Shape 20"/>
          <p:cNvSpPr/>
          <p:nvPr/>
        </p:nvSpPr>
        <p:spPr>
          <a:xfrm>
            <a:off x="8915400" y="1783080"/>
            <a:ext cx="2606040" cy="3017520"/>
          </a:xfrm>
          <a:prstGeom prst="roundRect">
            <a:avLst>
              <a:gd name="adj" fmla="val 4211"/>
            </a:avLst>
          </a:prstGeom>
          <a:solidFill>
            <a:srgbClr val="E9F3EC"/>
          </a:solidFill>
          <a:ln w="12700">
            <a:solidFill>
              <a:srgbClr val="E9F3EC"/>
            </a:solidFill>
            <a:prstDash val="solid"/>
          </a:ln>
        </p:spPr>
      </p:sp>
      <p:sp>
        <p:nvSpPr>
          <p:cNvPr id="24" name="Shape 21"/>
          <p:cNvSpPr/>
          <p:nvPr/>
        </p:nvSpPr>
        <p:spPr>
          <a:xfrm>
            <a:off x="9144000" y="2011680"/>
            <a:ext cx="457200" cy="457200"/>
          </a:xfrm>
          <a:prstGeom prst="ellipse">
            <a:avLst/>
          </a:prstGeom>
          <a:solidFill>
            <a:srgbClr val="0A7F44"/>
          </a:solidFill>
          <a:ln w="12700">
            <a:solidFill>
              <a:srgbClr val="0A7F44"/>
            </a:solidFill>
            <a:prstDash val="solid"/>
          </a:ln>
        </p:spPr>
      </p:sp>
      <p:sp>
        <p:nvSpPr>
          <p:cNvPr id="25" name="Text 22"/>
          <p:cNvSpPr txBox="1"/>
          <p:nvPr/>
        </p:nvSpPr>
        <p:spPr>
          <a:xfrm>
            <a:off x="914400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6" name="Text 23"/>
          <p:cNvSpPr txBox="1"/>
          <p:nvPr/>
        </p:nvSpPr>
        <p:spPr>
          <a:xfrm>
            <a:off x="914400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Game on</a:t>
            </a:r>
            <a:endParaRPr lang="en-US" sz="1700" dirty="0"/>
          </a:p>
        </p:txBody>
      </p:sp>
      <p:sp>
        <p:nvSpPr>
          <p:cNvPr id="27" name="Text 24"/>
          <p:cNvSpPr txBox="1"/>
          <p:nvPr/>
        </p:nvSpPr>
        <p:spPr>
          <a:xfrm>
            <a:off x="914400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The last spot taken, everyone in it hears "Game on". From then on, their own agent answers for them.</a:t>
            </a:r>
            <a:endParaRPr lang="en-US" sz="1250" dirty="0"/>
          </a:p>
        </p:txBody>
      </p:sp>
      <p:sp>
        <p:nvSpPr>
          <p:cNvPr id="28" name="Shape 25"/>
          <p:cNvSpPr/>
          <p:nvPr/>
        </p:nvSpPr>
        <p:spPr>
          <a:xfrm>
            <a:off x="548640" y="5029200"/>
            <a:ext cx="11064240" cy="1005840"/>
          </a:xfrm>
          <a:prstGeom prst="roundRect">
            <a:avLst>
              <a:gd name="adj" fmla="val 10909"/>
            </a:avLst>
          </a:prstGeom>
          <a:solidFill>
            <a:srgbClr val="FFFFFF"/>
          </a:solidFill>
          <a:ln w="12700">
            <a:solidFill>
              <a:srgbClr val="DCDCE0"/>
            </a:solidFill>
            <a:prstDash val="solid"/>
          </a:ln>
        </p:spPr>
      </p:sp>
      <p:sp>
        <p:nvSpPr>
          <p:cNvPr id="29" name="Text 26"/>
          <p:cNvSpPr txBox="1"/>
          <p:nvPr/>
        </p:nvSpPr>
        <p:spPr>
          <a:xfrm>
            <a:off x="777240" y="5029200"/>
            <a:ext cx="10607040" cy="1005840"/>
          </a:xfrm>
          <a:prstGeom prst="rect">
            <a:avLst/>
          </a:prstGeom>
          <a:noFill/>
          <a:ln/>
        </p:spPr>
        <p:txBody>
          <a:bodyPr wrap="square" lIns="0" tIns="0" rIns="0" bIns="0" rtlCol="0" anchor="ctr"/>
          <a:lstStyle/>
          <a:p>
            <a:pPr indent="0" marL="0">
              <a:buNone/>
            </a:pPr>
            <a:r>
              <a:rPr lang="en-US" sz="1300" b="1" dirty="0">
                <a:solidFill>
                  <a:srgbClr val="0A0A0B"/>
                </a:solidFill>
              </a:rPr>
              <a:t>Why it matters. </a:t>
            </a:r>
            <a:pPr indent="0" marL="0">
              <a:buNone/>
            </a:pPr>
            <a:r>
              <a:rPr lang="en-US" sz="1300" dirty="0">
                <a:solidFill>
                  <a:srgbClr val="0A0A0B"/>
                </a:solidFill>
              </a:rPr>
              <a:t>Agents agree games only between members, so the second player has to get in somehow: the link is that way in, and nobody has to install anything first. A private club's games never leave the club. Live on the public site since 29 Oct; the link page and the join are covered by tests.</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parents and helpers join only when the organiser lets them in. Children have no accounts: first names only, seen by the organiser.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a gentle-games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"Not after 22:00 on work nights"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Usually one round: they mark times, code picks; a counter-offer if none fits</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health data only sets scheduling limits,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(an earlier run than slide 9, on court 3)</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usually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 a counter-offer only if none fits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reviews first; Google's are listed with a link, not stored</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six carry the product</a:t>
            </a:r>
            <a:endParaRPr lang="en-US" sz="3200" dirty="0"/>
          </a:p>
        </p:txBody>
      </p:sp>
      <p:sp>
        <p:nvSpPr>
          <p:cNvPr id="5" name="Shape 2"/>
          <p:cNvSpPr/>
          <p:nvPr/>
        </p:nvSpPr>
        <p:spPr>
          <a:xfrm>
            <a:off x="548640" y="1691640"/>
            <a:ext cx="3566160" cy="1645920"/>
          </a:xfrm>
          <a:prstGeom prst="roundRect">
            <a:avLst>
              <a:gd name="adj" fmla="val 6667"/>
            </a:avLst>
          </a:prstGeom>
          <a:solidFill>
            <a:srgbClr val="E9F3EC"/>
          </a:solidFill>
          <a:ln w="12700">
            <a:solidFill>
              <a:srgbClr val="E9F3EC"/>
            </a:solidFill>
            <a:prstDash val="solid"/>
          </a:ln>
        </p:spPr>
      </p:sp>
      <p:sp>
        <p:nvSpPr>
          <p:cNvPr id="6" name="Text 3"/>
          <p:cNvSpPr txBox="1"/>
          <p:nvPr/>
        </p:nvSpPr>
        <p:spPr>
          <a:xfrm>
            <a:off x="74980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4980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Glimmer</a:t>
            </a:r>
            <a:endParaRPr lang="en-US" sz="1700" dirty="0"/>
          </a:p>
        </p:txBody>
      </p:sp>
      <p:sp>
        <p:nvSpPr>
          <p:cNvPr id="8" name="Text 5"/>
          <p:cNvSpPr txBox="1"/>
          <p:nvPr/>
        </p:nvSpPr>
        <p:spPr>
          <a:xfrm>
            <a:off x="74980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agent's decisions: the tool loop, A2A answers, the court judge</a:t>
            </a:r>
            <a:endParaRPr lang="en-US" sz="1200" dirty="0"/>
          </a:p>
        </p:txBody>
      </p:sp>
      <p:sp>
        <p:nvSpPr>
          <p:cNvPr id="9" name="Text 6"/>
          <p:cNvSpPr txBox="1"/>
          <p:nvPr/>
        </p:nvSpPr>
        <p:spPr>
          <a:xfrm>
            <a:off x="74980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RTX 3090 · Ollama · open weights</a:t>
            </a:r>
            <a:endParaRPr lang="en-US" sz="1000" dirty="0"/>
          </a:p>
        </p:txBody>
      </p:sp>
      <p:sp>
        <p:nvSpPr>
          <p:cNvPr id="10" name="Shape 7"/>
          <p:cNvSpPr/>
          <p:nvPr/>
        </p:nvSpPr>
        <p:spPr>
          <a:xfrm>
            <a:off x="4297680" y="1691640"/>
            <a:ext cx="3566160" cy="1645920"/>
          </a:xfrm>
          <a:prstGeom prst="roundRect">
            <a:avLst>
              <a:gd name="adj" fmla="val 6667"/>
            </a:avLst>
          </a:prstGeom>
          <a:solidFill>
            <a:srgbClr val="E9F3EC"/>
          </a:solidFill>
          <a:ln w="12700">
            <a:solidFill>
              <a:srgbClr val="E9F3EC"/>
            </a:solidFill>
            <a:prstDash val="solid"/>
          </a:ln>
        </p:spPr>
      </p:sp>
      <p:sp>
        <p:nvSpPr>
          <p:cNvPr id="11" name="Text 8"/>
          <p:cNvSpPr txBox="1"/>
          <p:nvPr/>
        </p:nvSpPr>
        <p:spPr>
          <a:xfrm>
            <a:off x="449884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449884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3.2 1B student</a:t>
            </a:r>
            <a:endParaRPr lang="en-US" sz="1700" dirty="0"/>
          </a:p>
        </p:txBody>
      </p:sp>
      <p:sp>
        <p:nvSpPr>
          <p:cNvPr id="13" name="Text 10"/>
          <p:cNvSpPr txBox="1"/>
          <p:nvPr/>
        </p:nvSpPr>
        <p:spPr>
          <a:xfrm>
            <a:off x="449884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Distilled from Glimmer; answers alone when sure, in about 0.9 s</a:t>
            </a:r>
            <a:endParaRPr lang="en-US" sz="1200" dirty="0"/>
          </a:p>
        </p:txBody>
      </p:sp>
      <p:sp>
        <p:nvSpPr>
          <p:cNvPr id="14" name="Text 11"/>
          <p:cNvSpPr txBox="1"/>
          <p:nvPr/>
        </p:nvSpPr>
        <p:spPr>
          <a:xfrm>
            <a:off x="449884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fine-tuned here</a:t>
            </a:r>
            <a:endParaRPr lang="en-US" sz="1000" dirty="0"/>
          </a:p>
        </p:txBody>
      </p:sp>
      <p:sp>
        <p:nvSpPr>
          <p:cNvPr id="15" name="Shape 12"/>
          <p:cNvSpPr/>
          <p:nvPr/>
        </p:nvSpPr>
        <p:spPr>
          <a:xfrm>
            <a:off x="8046720" y="1691640"/>
            <a:ext cx="3566160" cy="1645920"/>
          </a:xfrm>
          <a:prstGeom prst="roundRect">
            <a:avLst>
              <a:gd name="adj" fmla="val 6667"/>
            </a:avLst>
          </a:prstGeom>
          <a:solidFill>
            <a:srgbClr val="FBEAE9"/>
          </a:solidFill>
          <a:ln w="12700">
            <a:solidFill>
              <a:srgbClr val="FBEAE9"/>
            </a:solidFill>
            <a:prstDash val="solid"/>
          </a:ln>
        </p:spPr>
      </p:sp>
      <p:sp>
        <p:nvSpPr>
          <p:cNvPr id="16" name="Text 13"/>
          <p:cNvSpPr txBox="1"/>
          <p:nvPr/>
        </p:nvSpPr>
        <p:spPr>
          <a:xfrm>
            <a:off x="8247888" y="18470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824788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Guard 3 1B</a:t>
            </a:r>
            <a:endParaRPr lang="en-US" sz="1700" dirty="0"/>
          </a:p>
        </p:txBody>
      </p:sp>
      <p:sp>
        <p:nvSpPr>
          <p:cNvPr id="18" name="Text 15"/>
          <p:cNvSpPr txBox="1"/>
          <p:nvPr/>
        </p:nvSpPr>
        <p:spPr>
          <a:xfrm>
            <a:off x="824788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message in and out, a person's or an agent's</a:t>
            </a:r>
            <a:endParaRPr lang="en-US" sz="1200" dirty="0"/>
          </a:p>
        </p:txBody>
      </p:sp>
      <p:sp>
        <p:nvSpPr>
          <p:cNvPr id="19" name="Text 16"/>
          <p:cNvSpPr txBox="1"/>
          <p:nvPr/>
        </p:nvSpPr>
        <p:spPr>
          <a:xfrm>
            <a:off x="824788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20" name="Shape 17"/>
          <p:cNvSpPr/>
          <p:nvPr/>
        </p:nvSpPr>
        <p:spPr>
          <a:xfrm>
            <a:off x="548640" y="3520440"/>
            <a:ext cx="3566160" cy="1645920"/>
          </a:xfrm>
          <a:prstGeom prst="roundRect">
            <a:avLst>
              <a:gd name="adj" fmla="val 6667"/>
            </a:avLst>
          </a:prstGeom>
          <a:solidFill>
            <a:srgbClr val="FBEAE9"/>
          </a:solidFill>
          <a:ln w="12700">
            <a:solidFill>
              <a:srgbClr val="FBEAE9"/>
            </a:solidFill>
            <a:prstDash val="solid"/>
          </a:ln>
        </p:spPr>
      </p:sp>
      <p:sp>
        <p:nvSpPr>
          <p:cNvPr id="21" name="Text 18"/>
          <p:cNvSpPr txBox="1"/>
          <p:nvPr/>
        </p:nvSpPr>
        <p:spPr>
          <a:xfrm>
            <a:off x="749808" y="36758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74980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Prompt Guard 2</a:t>
            </a:r>
            <a:endParaRPr lang="en-US" sz="1700" dirty="0"/>
          </a:p>
        </p:txBody>
      </p:sp>
      <p:sp>
        <p:nvSpPr>
          <p:cNvPr id="23" name="Text 20"/>
          <p:cNvSpPr txBox="1"/>
          <p:nvPr/>
        </p:nvSpPr>
        <p:spPr>
          <a:xfrm>
            <a:off x="74980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Google reviews and members' ideas, before any model reads them</a:t>
            </a:r>
            <a:endParaRPr lang="en-US" sz="1200" dirty="0"/>
          </a:p>
        </p:txBody>
      </p:sp>
      <p:sp>
        <p:nvSpPr>
          <p:cNvPr id="24" name="Text 21"/>
          <p:cNvSpPr txBox="1"/>
          <p:nvPr/>
        </p:nvSpPr>
        <p:spPr>
          <a:xfrm>
            <a:off x="74980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86M</a:t>
            </a:r>
            <a:endParaRPr lang="en-US" sz="1000" dirty="0"/>
          </a:p>
        </p:txBody>
      </p:sp>
      <p:sp>
        <p:nvSpPr>
          <p:cNvPr id="25" name="Shape 22"/>
          <p:cNvSpPr/>
          <p:nvPr/>
        </p:nvSpPr>
        <p:spPr>
          <a:xfrm>
            <a:off x="4297680" y="3520440"/>
            <a:ext cx="3566160" cy="1645920"/>
          </a:xfrm>
          <a:prstGeom prst="roundRect">
            <a:avLst>
              <a:gd name="adj" fmla="val 6667"/>
            </a:avLst>
          </a:prstGeom>
          <a:solidFill>
            <a:srgbClr val="E8F1FD"/>
          </a:solidFill>
          <a:ln w="12700">
            <a:solidFill>
              <a:srgbClr val="E8F1FD"/>
            </a:solidFill>
            <a:prstDash val="solid"/>
          </a:ln>
        </p:spPr>
      </p:sp>
      <p:sp>
        <p:nvSpPr>
          <p:cNvPr id="26" name="Text 23"/>
          <p:cNvSpPr txBox="1"/>
          <p:nvPr/>
        </p:nvSpPr>
        <p:spPr>
          <a:xfrm>
            <a:off x="4498848" y="3675888"/>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MEMORY</a:t>
            </a:r>
            <a:endParaRPr lang="en-US" sz="1000" dirty="0"/>
          </a:p>
        </p:txBody>
      </p:sp>
      <p:sp>
        <p:nvSpPr>
          <p:cNvPr id="27" name="Text 24"/>
          <p:cNvSpPr txBox="1"/>
          <p:nvPr/>
        </p:nvSpPr>
        <p:spPr>
          <a:xfrm>
            <a:off x="449884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DRAMA</a:t>
            </a:r>
            <a:endParaRPr lang="en-US" sz="1700" dirty="0"/>
          </a:p>
        </p:txBody>
      </p:sp>
      <p:sp>
        <p:nvSpPr>
          <p:cNvPr id="28" name="Text 25"/>
          <p:cNvSpPr txBox="1"/>
          <p:nvPr/>
        </p:nvSpPr>
        <p:spPr>
          <a:xfrm>
            <a:off x="449884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Agent memory: what matters for your week, found by meaning</a:t>
            </a:r>
            <a:endParaRPr lang="en-US" sz="1200" dirty="0"/>
          </a:p>
        </p:txBody>
      </p:sp>
      <p:sp>
        <p:nvSpPr>
          <p:cNvPr id="29" name="Text 26"/>
          <p:cNvSpPr txBox="1"/>
          <p:nvPr/>
        </p:nvSpPr>
        <p:spPr>
          <a:xfrm>
            <a:off x="449884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30" name="Shape 27"/>
          <p:cNvSpPr/>
          <p:nvPr/>
        </p:nvSpPr>
        <p:spPr>
          <a:xfrm>
            <a:off x="8046720" y="3520440"/>
            <a:ext cx="3566160" cy="1645920"/>
          </a:xfrm>
          <a:prstGeom prst="roundRect">
            <a:avLst>
              <a:gd name="adj" fmla="val 6667"/>
            </a:avLst>
          </a:prstGeom>
          <a:solidFill>
            <a:srgbClr val="FBF3E6"/>
          </a:solidFill>
          <a:ln w="12700">
            <a:solidFill>
              <a:srgbClr val="FBF3E6"/>
            </a:solidFill>
            <a:prstDash val="solid"/>
          </a:ln>
        </p:spPr>
      </p:sp>
      <p:sp>
        <p:nvSpPr>
          <p:cNvPr id="31" name="Text 28"/>
          <p:cNvSpPr txBox="1"/>
          <p:nvPr/>
        </p:nvSpPr>
        <p:spPr>
          <a:xfrm>
            <a:off x="8247888" y="3675888"/>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VOICE</a:t>
            </a:r>
            <a:endParaRPr lang="en-US" sz="1000" dirty="0"/>
          </a:p>
        </p:txBody>
      </p:sp>
      <p:sp>
        <p:nvSpPr>
          <p:cNvPr id="32" name="Text 29"/>
          <p:cNvSpPr txBox="1"/>
          <p:nvPr/>
        </p:nvSpPr>
        <p:spPr>
          <a:xfrm>
            <a:off x="824788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Voice Transcribe</a:t>
            </a:r>
            <a:endParaRPr lang="en-US" sz="1700" dirty="0"/>
          </a:p>
        </p:txBody>
      </p:sp>
      <p:sp>
        <p:nvSpPr>
          <p:cNvPr id="33" name="Text 30"/>
          <p:cNvSpPr txBox="1"/>
          <p:nvPr/>
        </p:nvSpPr>
        <p:spPr>
          <a:xfrm>
            <a:off x="824788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Talk to your agent hands-free, and cut in while it speaks</a:t>
            </a:r>
            <a:endParaRPr lang="en-US" sz="1200" dirty="0"/>
          </a:p>
        </p:txBody>
      </p:sp>
      <p:sp>
        <p:nvSpPr>
          <p:cNvPr id="34" name="Text 31"/>
          <p:cNvSpPr txBox="1"/>
          <p:nvPr/>
        </p:nvSpPr>
        <p:spPr>
          <a:xfrm>
            <a:off x="824788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Meta Model API · realtime</a:t>
            </a:r>
            <a:endParaRPr lang="en-US" sz="1000" dirty="0"/>
          </a:p>
        </p:txBody>
      </p:sp>
      <p:sp>
        <p:nvSpPr>
          <p:cNvPr id="35" name="Shape 32"/>
          <p:cNvSpPr/>
          <p:nvPr/>
        </p:nvSpPr>
        <p:spPr>
          <a:xfrm>
            <a:off x="548640" y="5440680"/>
            <a:ext cx="11064240" cy="777240"/>
          </a:xfrm>
          <a:prstGeom prst="roundRect">
            <a:avLst>
              <a:gd name="adj" fmla="val 14118"/>
            </a:avLst>
          </a:prstGeom>
          <a:solidFill>
            <a:srgbClr val="F6F7F8"/>
          </a:solidFill>
          <a:ln w="12700">
            <a:solidFill>
              <a:srgbClr val="F6F7F8"/>
            </a:solidFill>
            <a:prstDash val="solid"/>
          </a:ln>
        </p:spPr>
      </p:sp>
      <p:sp>
        <p:nvSpPr>
          <p:cNvPr id="36" name="Text 33"/>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200" b="1" dirty="0">
                <a:solidFill>
                  <a:srgbClr val="0A0A0B"/>
                </a:solidFill>
              </a:rPr>
              <a:t>Also: </a:t>
            </a:r>
            <a:pPr indent="0" marL="0">
              <a:buNone/>
            </a:pPr>
            <a:r>
              <a:rPr lang="en-US" sz="1200" dirty="0">
                <a:solidFill>
                  <a:srgbClr val="0A0A0B"/>
                </a:solidFill>
              </a:rPr>
              <a:t>DETR, Sapiens2, SAM 2.1, MapAnything (auto-cut highlights) · Omnilingual ASR (voice notes) · Muse Image (posters, agent faces) · Muse Spark (fallback) · Muse Wonder and SAM 3.1 (checks). Of the 15, 12 run in the product and 3 are checks; all 15 in the appendix.</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WHY EACH ONE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Take one away, and this is what breaks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560320"/>
                <a:gridCol w="7040880"/>
                <a:gridCol w="1463040"/>
              </a:tblGrid>
              <a:tr h="566928">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Without</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What breaks</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Glimmer</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planner and no agent answers: the product does not run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3.2 1B student</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Every member answer goes to Glimmer: about 40 s instead of 0.9 s, and 54–67% more Glimmer answers in simulated talks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DRAMA</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The right note comes first 0.35 of the time instead of 0.60 (word matching instead; 20 questions)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 small</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Guard 3 1B</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Nothing reads every message in and out; code alone reads only plain words. With it: 37 of 42 unsafe refused, 1 of 74 harmless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Prompt Guard 2</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Google reviews and members' ideas reach the models unscreened; poisoned reviews are among the 93 attacks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Voice Transcribe</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talking hands-free and no cutting in while the agent speaks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6" name="Text 2"/>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rgbClr val="55555C"/>
                </a:solidFill>
              </a:rPr>
              <a:t>"Measured": numbers from this entry's tests. "By design": what the code does without it.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1645920"/>
          </a:xfrm>
          <a:prstGeom prst="roundRect">
            <a:avLst>
              <a:gd name="adj" fmla="val 6667"/>
            </a:avLst>
          </a:prstGeom>
          <a:solidFill>
            <a:srgbClr val="E9F3EC"/>
          </a:solidFill>
          <a:ln w="12700">
            <a:solidFill>
              <a:srgbClr val="E9F3EC"/>
            </a:solidFill>
            <a:prstDash val="solid"/>
          </a:ln>
        </p:spPr>
      </p:sp>
      <p:sp>
        <p:nvSpPr>
          <p:cNvPr id="20" name="Text 17"/>
          <p:cNvSpPr txBox="1"/>
          <p:nvPr/>
        </p:nvSpPr>
        <p:spPr>
          <a:xfrm>
            <a:off x="505663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Teacher data</a:t>
            </a:r>
            <a:endParaRPr lang="en-US" sz="1500" dirty="0"/>
          </a:p>
        </p:txBody>
      </p:sp>
      <p:sp>
        <p:nvSpPr>
          <p:cNvPr id="21" name="Text 18"/>
          <p:cNvSpPr txBox="1"/>
          <p:nvPr/>
        </p:nvSpPr>
        <p:spPr>
          <a:xfrm>
            <a:off x="505663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4,868 choices Glimmer made through the real agent call (a separate A100 run); LoRA, 3 epochs, 20 minutes</a:t>
            </a:r>
            <a:endParaRPr lang="en-US" sz="1200" dirty="0"/>
          </a:p>
        </p:txBody>
      </p:sp>
      <p:sp>
        <p:nvSpPr>
          <p:cNvPr id="22" name="Shape 19"/>
          <p:cNvSpPr/>
          <p:nvPr/>
        </p:nvSpPr>
        <p:spPr>
          <a:xfrm>
            <a:off x="8275320" y="1965960"/>
            <a:ext cx="3273552" cy="1645920"/>
          </a:xfrm>
          <a:prstGeom prst="roundRect">
            <a:avLst>
              <a:gd name="adj" fmla="val 6667"/>
            </a:avLst>
          </a:prstGeom>
          <a:solidFill>
            <a:srgbClr val="E9F3EC"/>
          </a:solidFill>
          <a:ln w="12700">
            <a:solidFill>
              <a:srgbClr val="E9F3EC"/>
            </a:solidFill>
            <a:prstDash val="solid"/>
          </a:ln>
        </p:spPr>
      </p:sp>
      <p:sp>
        <p:nvSpPr>
          <p:cNvPr id="23" name="Text 20"/>
          <p:cNvSpPr txBox="1"/>
          <p:nvPr/>
        </p:nvSpPr>
        <p:spPr>
          <a:xfrm>
            <a:off x="843991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int4 on the CPU</a:t>
            </a:r>
            <a:endParaRPr lang="en-US" sz="1500" dirty="0"/>
          </a:p>
        </p:txBody>
      </p:sp>
      <p:sp>
        <p:nvSpPr>
          <p:cNvPr id="24" name="Text 21"/>
          <p:cNvSpPr txBox="1"/>
          <p:nvPr/>
        </p:nvSpPr>
        <p:spPr>
          <a:xfrm>
            <a:off x="843991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0.8 GB; one pass gives a probability per option, about 0.9 s a decision, no text written</a:t>
            </a:r>
            <a:endParaRPr lang="en-US" sz="1200" dirty="0"/>
          </a:p>
        </p:txBody>
      </p:sp>
      <p:graphicFrame>
        <p:nvGraphicFramePr>
          <p:cNvPr id="25"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26" name="Shape 22"/>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27" name="Text 23"/>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28" name="Text 24"/>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answers in simulated talks, where some members need Glimmer (96% is the test set)</a:t>
            </a:r>
            <a:endParaRPr lang="en-US" sz="1000" dirty="0"/>
          </a:p>
        </p:txBody>
      </p:sp>
      <p:sp>
        <p:nvSpPr>
          <p:cNvPr id="29" name="Shape 25"/>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0" name="Text 26"/>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1" name="Text 27"/>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At 0.6 the student answers 96% of the 500 test cases and still agrees with Glimmer 89.9%; at 0.7 it agrees more on the hardest cases but sends more to Glimmer.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SAFETY, 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10896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108960" cy="329184"/>
          </a:xfrm>
          <a:prstGeom prst="rect">
            <a:avLst/>
          </a:prstGeom>
          <a:noFill/>
          <a:ln/>
        </p:spPr>
        <p:txBody>
          <a:bodyPr wrap="square" lIns="0" tIns="0" rIns="0" bIns="0" rtlCol="0" anchor="ctr"/>
          <a:lstStyle/>
          <a:p>
            <a:pPr algn="ctr" indent="0" marL="0">
              <a:buNone/>
            </a:pPr>
            <a:r>
              <a:rPr lang="en-US" sz="1050" b="1" dirty="0">
                <a:solidFill>
                  <a:srgbClr val="55555C"/>
                </a:solidFill>
              </a:rPr>
              <a:t>Measured with a simulated prober</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429000" cy="1143000"/>
          </a:xfrm>
          <a:prstGeom prst="rect">
            <a:avLst/>
          </a:prstGeom>
          <a:noFill/>
          <a:ln/>
        </p:spPr>
        <p:txBody>
          <a:bodyPr wrap="square" lIns="0" tIns="0" rIns="0" bIns="0" rtlCol="0" anchor="ctr"/>
          <a:lstStyle/>
          <a:p>
            <a:pPr indent="0" marL="0">
              <a:buNone/>
            </a:pPr>
            <a:r>
              <a:rPr lang="en-US" sz="1050" dirty="0">
                <a:solidFill>
                  <a:srgbClr val="0A0A0B"/>
                </a:solidFill>
              </a:rPr>
              <a:t>scripted attacks stopped: injected instructions, poisoned reviews, forged Agent Cards, sock-puppet votes. Unsafe messages: 37 of 42 refused, 1 of 74 harmless ones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WHAT IS REAL, WHAT IS SIMULATED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real models; simulated test clubs</a:t>
            </a:r>
            <a:endParaRPr lang="en-US" sz="3200" dirty="0"/>
          </a:p>
        </p:txBody>
      </p:sp>
      <p:sp>
        <p:nvSpPr>
          <p:cNvPr id="5" name="Shape 2"/>
          <p:cNvSpPr/>
          <p:nvPr/>
        </p:nvSpPr>
        <p:spPr>
          <a:xfrm>
            <a:off x="548640" y="1691640"/>
            <a:ext cx="5440680" cy="3429000"/>
          </a:xfrm>
          <a:prstGeom prst="roundRect">
            <a:avLst>
              <a:gd name="adj" fmla="val 3200"/>
            </a:avLst>
          </a:prstGeom>
          <a:solidFill>
            <a:srgbClr val="E9F3EC"/>
          </a:solidFill>
          <a:ln w="12700">
            <a:solidFill>
              <a:srgbClr val="0A7F44"/>
            </a:solidFill>
            <a:prstDash val="solid"/>
          </a:ln>
        </p:spPr>
      </p:sp>
      <p:sp>
        <p:nvSpPr>
          <p:cNvPr id="6" name="Text 3"/>
          <p:cNvSpPr txBox="1"/>
          <p:nvPr/>
        </p:nvSpPr>
        <p:spPr>
          <a:xfrm>
            <a:off x="822960" y="1810512"/>
            <a:ext cx="4937760" cy="228600"/>
          </a:xfrm>
          <a:prstGeom prst="rect">
            <a:avLst/>
          </a:prstGeom>
          <a:noFill/>
          <a:ln/>
        </p:spPr>
        <p:txBody>
          <a:bodyPr wrap="square" lIns="0" tIns="0" rIns="0" bIns="0" rtlCol="0" anchor="t"/>
          <a:lstStyle/>
          <a:p>
            <a:pPr indent="0" marL="0">
              <a:buNone/>
            </a:pPr>
            <a:r>
              <a:rPr lang="en-US" sz="1050" b="1" spc="100" kern="0" dirty="0">
                <a:solidFill>
                  <a:srgbClr val="0A7F44"/>
                </a:solidFill>
              </a:rPr>
              <a:t>REAL</a:t>
            </a:r>
            <a:endParaRPr lang="en-US" sz="1050" dirty="0"/>
          </a:p>
        </p:txBody>
      </p:sp>
      <p:sp>
        <p:nvSpPr>
          <p:cNvPr id="7" name="Text 4"/>
          <p:cNvSpPr txBox="1"/>
          <p:nvPr/>
        </p:nvSpPr>
        <p:spPr>
          <a:xfrm>
            <a:off x="82296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What a judge can trust as is</a:t>
            </a:r>
            <a:endParaRPr lang="en-US" sz="1600" dirty="0"/>
          </a:p>
        </p:txBody>
      </p:sp>
      <p:sp>
        <p:nvSpPr>
          <p:cNvPr id="8" name="Text 5"/>
          <p:cNvSpPr txBox="1"/>
          <p:nvPr/>
        </p:nvSpPr>
        <p:spPr>
          <a:xfrm>
            <a:off x="82296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8 players, 14 accounts, 2 clubs they started, 4 games, 7 joins on the live site (29 Oct)</a:t>
            </a:r>
            <a:endParaRPr lang="en-US" sz="1150" dirty="0"/>
          </a:p>
          <a:p>
            <a:pPr marL="177800" indent="-177800">
              <a:spcAft>
                <a:spcPts val="400"/>
              </a:spcAft>
              <a:buSzPct val="100000"/>
              <a:buChar char="•"/>
            </a:pPr>
            <a:r>
              <a:rPr lang="en-US" sz="1150" dirty="0">
                <a:solidFill>
                  <a:srgbClr val="0A0A0B"/>
                </a:solidFill>
              </a:rPr>
              <a:t>Every agent's code: A2A over JSON-RPC, signed Agent Cards, holds, crash recovery</a:t>
            </a:r>
            <a:endParaRPr lang="en-US" sz="1150" dirty="0"/>
          </a:p>
          <a:p>
            <a:pPr marL="177800" indent="-177800">
              <a:spcAft>
                <a:spcPts val="400"/>
              </a:spcAft>
              <a:buSzPct val="100000"/>
              <a:buChar char="•"/>
            </a:pPr>
            <a:r>
              <a:rPr lang="en-US" sz="1150" dirty="0">
                <a:solidFill>
                  <a:srgbClr val="0A0A0B"/>
                </a:solidFill>
              </a:rPr>
              <a:t>Muse Glimmer making every decision in the evaluations; the guards, DRAMA, speech recognition</a:t>
            </a:r>
            <a:endParaRPr lang="en-US" sz="1150" dirty="0"/>
          </a:p>
          <a:p>
            <a:pPr marL="177800" indent="-177800">
              <a:spcAft>
                <a:spcPts val="400"/>
              </a:spcAft>
              <a:buSzPct val="100000"/>
              <a:buChar char="•"/>
            </a:pPr>
            <a:r>
              <a:rPr lang="en-US" sz="1150" dirty="0">
                <a:solidFill>
                  <a:srgbClr val="0A0A0B"/>
                </a:solidFill>
              </a:rPr>
              <a:t>Courts from OpenStreetMap, real forecasts; Messenger's webhook on a real Page (Facebook and Instagram login wait for Meta's app review: players use a demo sign-in)</a:t>
            </a:r>
            <a:endParaRPr lang="en-US" sz="1150" dirty="0"/>
          </a:p>
          <a:p>
            <a:pPr marL="177800" indent="-177800">
              <a:spcAft>
                <a:spcPts val="400"/>
              </a:spcAft>
              <a:buSzPct val="100000"/>
              <a:buChar char="•"/>
            </a:pPr>
            <a:r>
              <a:rPr lang="en-US" sz="1150" dirty="0">
                <a:solidFill>
                  <a:srgbClr val="0A0A0B"/>
                </a:solidFill>
              </a:rPr>
              <a:t>Highlights cut from real footage (a CC BY clip)</a:t>
            </a:r>
            <a:endParaRPr lang="en-US" sz="1150" dirty="0"/>
          </a:p>
        </p:txBody>
      </p:sp>
      <p:sp>
        <p:nvSpPr>
          <p:cNvPr id="9" name="Shape 6"/>
          <p:cNvSpPr/>
          <p:nvPr/>
        </p:nvSpPr>
        <p:spPr>
          <a:xfrm>
            <a:off x="6172200" y="1691640"/>
            <a:ext cx="5440680" cy="3429000"/>
          </a:xfrm>
          <a:prstGeom prst="roundRect">
            <a:avLst>
              <a:gd name="adj" fmla="val 3200"/>
            </a:avLst>
          </a:prstGeom>
          <a:solidFill>
            <a:srgbClr val="FBF3E6"/>
          </a:solidFill>
          <a:ln w="12700">
            <a:solidFill>
              <a:srgbClr val="B26A00"/>
            </a:solidFill>
            <a:prstDash val="solid"/>
          </a:ln>
        </p:spPr>
      </p:sp>
      <p:sp>
        <p:nvSpPr>
          <p:cNvPr id="10" name="Text 7"/>
          <p:cNvSpPr txBox="1"/>
          <p:nvPr/>
        </p:nvSpPr>
        <p:spPr>
          <a:xfrm>
            <a:off x="6446520" y="1810512"/>
            <a:ext cx="4937760" cy="228600"/>
          </a:xfrm>
          <a:prstGeom prst="rect">
            <a:avLst/>
          </a:prstGeom>
          <a:noFill/>
          <a:ln/>
        </p:spPr>
        <p:txBody>
          <a:bodyPr wrap="square" lIns="0" tIns="0" rIns="0" bIns="0" rtlCol="0" anchor="t"/>
          <a:lstStyle/>
          <a:p>
            <a:pPr indent="0" marL="0">
              <a:buNone/>
            </a:pPr>
            <a:r>
              <a:rPr lang="en-US" sz="1050" b="1" spc="100" kern="0" dirty="0">
                <a:solidFill>
                  <a:srgbClr val="B26A00"/>
                </a:solidFill>
              </a:rPr>
              <a:t>SIMULATED, AND LABELLED SO</a:t>
            </a:r>
            <a:endParaRPr lang="en-US" sz="1050" dirty="0"/>
          </a:p>
        </p:txBody>
      </p:sp>
      <p:sp>
        <p:nvSpPr>
          <p:cNvPr id="11" name="Text 8"/>
          <p:cNvSpPr txBox="1"/>
          <p:nvPr/>
        </p:nvSpPr>
        <p:spPr>
          <a:xfrm>
            <a:off x="644652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Clubs built for the tests</a:t>
            </a:r>
            <a:endParaRPr lang="en-US" sz="1600" dirty="0"/>
          </a:p>
        </p:txBody>
      </p:sp>
      <p:sp>
        <p:nvSpPr>
          <p:cNvPr id="12" name="Text 9"/>
          <p:cNvSpPr txBox="1"/>
          <p:nvPr/>
        </p:nvSpPr>
        <p:spPr>
          <a:xfrm>
            <a:off x="644652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The demo club's members, venues and free times (marked demo in the app)</a:t>
            </a:r>
            <a:endParaRPr lang="en-US" sz="1150" dirty="0"/>
          </a:p>
          <a:p>
            <a:pPr marL="177800" indent="-177800">
              <a:spcAft>
                <a:spcPts val="400"/>
              </a:spcAft>
              <a:buSzPct val="100000"/>
              <a:buChar char="•"/>
            </a:pPr>
            <a:r>
              <a:rPr lang="en-US" sz="1150" dirty="0">
                <a:solidFill>
                  <a:srgbClr val="0A0A0B"/>
                </a:solidFill>
              </a:rPr>
              <a:t>The members in the scale, rules, matchmaking and student tests (seeds 7 and 11)</a:t>
            </a:r>
            <a:endParaRPr lang="en-US" sz="1150" dirty="0"/>
          </a:p>
          <a:p>
            <a:pPr marL="177800" indent="-177800">
              <a:spcAft>
                <a:spcPts val="400"/>
              </a:spcAft>
              <a:buSzPct val="100000"/>
              <a:buChar char="•"/>
            </a:pPr>
            <a:r>
              <a:rPr lang="en-US" sz="1150" dirty="0">
                <a:solidFill>
                  <a:srgbClr val="0A0A0B"/>
                </a:solidFill>
              </a:rPr>
              <a:t>The community loop's club of 60 and its votes</a:t>
            </a:r>
            <a:endParaRPr lang="en-US" sz="1150" dirty="0"/>
          </a:p>
          <a:p>
            <a:pPr marL="177800" indent="-177800">
              <a:spcAft>
                <a:spcPts val="400"/>
              </a:spcAft>
              <a:buSzPct val="100000"/>
              <a:buChar char="•"/>
            </a:pPr>
            <a:r>
              <a:rPr lang="en-US" sz="1150" dirty="0">
                <a:solidFill>
                  <a:srgbClr val="0A0A0B"/>
                </a:solidFill>
              </a:rPr>
              <a:t>The 20,000 requests in the asking test; the prober in the disclosure test</a:t>
            </a:r>
            <a:endParaRPr lang="en-US" sz="1150" dirty="0"/>
          </a:p>
          <a:p>
            <a:pPr marL="177800" indent="-177800">
              <a:spcAft>
                <a:spcPts val="400"/>
              </a:spcAft>
              <a:buSzPct val="100000"/>
              <a:buChar char="•"/>
            </a:pPr>
            <a:r>
              <a:rPr lang="en-US" sz="1150" dirty="0">
                <a:solidFill>
                  <a:srgbClr val="0A0A0B"/>
                </a:solidFill>
              </a:rPr>
              <a:t>The attacks and unsafe messages: labelled tests I wrote</a:t>
            </a:r>
            <a:endParaRPr lang="en-US" sz="1150" dirty="0"/>
          </a:p>
        </p:txBody>
      </p:sp>
      <p:sp>
        <p:nvSpPr>
          <p:cNvPr id="13" name="Shape 10"/>
          <p:cNvSpPr/>
          <p:nvPr/>
        </p:nvSpPr>
        <p:spPr>
          <a:xfrm>
            <a:off x="548640" y="5257800"/>
            <a:ext cx="11064240" cy="868680"/>
          </a:xfrm>
          <a:prstGeom prst="roundRect">
            <a:avLst>
              <a:gd name="adj" fmla="val 12632"/>
            </a:avLst>
          </a:prstGeom>
          <a:solidFill>
            <a:srgbClr val="FBEAE9"/>
          </a:solidFill>
          <a:ln w="12700">
            <a:solidFill>
              <a:srgbClr val="FBEAE9"/>
            </a:solidFill>
            <a:prstDash val="solid"/>
          </a:ln>
        </p:spPr>
      </p:sp>
      <p:sp>
        <p:nvSpPr>
          <p:cNvPr id="14" name="Text 11"/>
          <p:cNvSpPr txBox="1"/>
          <p:nvPr/>
        </p:nvSpPr>
        <p:spPr>
          <a:xfrm>
            <a:off x="777240" y="5349240"/>
            <a:ext cx="2743200" cy="228600"/>
          </a:xfrm>
          <a:prstGeom prst="rect">
            <a:avLst/>
          </a:prstGeom>
          <a:noFill/>
          <a:ln/>
        </p:spPr>
        <p:txBody>
          <a:bodyPr wrap="square" lIns="0" tIns="0" rIns="0" bIns="0" rtlCol="0" anchor="t"/>
          <a:lstStyle/>
          <a:p>
            <a:pPr indent="0" marL="0">
              <a:buNone/>
            </a:pPr>
            <a:r>
              <a:rPr lang="en-US" sz="1050" b="1" spc="100" kern="0" dirty="0">
                <a:solidFill>
                  <a:srgbClr val="D1352B"/>
                </a:solidFill>
              </a:rPr>
              <a:t>KNOWN FAILURES</a:t>
            </a:r>
            <a:endParaRPr lang="en-US" sz="1050" dirty="0"/>
          </a:p>
        </p:txBody>
      </p:sp>
      <p:sp>
        <p:nvSpPr>
          <p:cNvPr id="15" name="Text 12"/>
          <p:cNvSpPr txBox="1"/>
          <p:nvPr/>
        </p:nvSpPr>
        <p:spPr>
          <a:xfrm>
            <a:off x="777240" y="5577840"/>
            <a:ext cx="10607040" cy="502920"/>
          </a:xfrm>
          <a:prstGeom prst="rect">
            <a:avLst/>
          </a:prstGeom>
          <a:noFill/>
          <a:ln/>
        </p:spPr>
        <p:txBody>
          <a:bodyPr wrap="square" lIns="0" tIns="0" rIns="0" bIns="0" rtlCol="0" anchor="t"/>
          <a:lstStyle/>
          <a:p>
            <a:pPr indent="0" marL="0">
              <a:buNone/>
            </a:pPr>
            <a:r>
              <a:rPr lang="en-US" sz="1100" dirty="0">
                <a:solidFill>
                  <a:srgbClr val="0A0A0B"/>
                </a:solidFill>
              </a:rPr>
              <a:t>5 of 42 unsafe messages got past Llama Guard and code · 1 of 74 harmless ones refused · 9% of Glimmer calls came back empty (mostly a small budget: every call now has room to reason) · with a rule only in a member's words, Glimmer broke it in 1 of 60 talks</a:t>
            </a:r>
            <a:endParaRPr lang="en-US" sz="1100" dirty="0"/>
          </a:p>
        </p:txBody>
      </p:sp>
      <p:sp>
        <p:nvSpPr>
          <p:cNvPr id="16" name="Text 13"/>
          <p:cNvSpPr txBox="1"/>
          <p:nvPr/>
        </p:nvSpPr>
        <p:spPr>
          <a:xfrm>
            <a:off x="548640" y="6199632"/>
            <a:ext cx="11064240" cy="274320"/>
          </a:xfrm>
          <a:prstGeom prst="rect">
            <a:avLst/>
          </a:prstGeom>
          <a:noFill/>
          <a:ln/>
        </p:spPr>
        <p:txBody>
          <a:bodyPr wrap="square" lIns="0" tIns="0" rIns="0" bIns="0" rtlCol="0" anchor="t"/>
          <a:lstStyle/>
          <a:p>
            <a:pPr indent="0" marL="0">
              <a:buNone/>
            </a:pPr>
            <a:r>
              <a:rPr lang="en-US" sz="1050" i="1" dirty="0">
                <a:solidFill>
                  <a:srgbClr val="55555C"/>
                </a:solidFill>
              </a:rPr>
              <a:t>The simulations show the agents keep what members stated; they do not show how real people react. The live club measures that.</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BUILT DURING THE HACKATHON · OCT 27 – NOV 4, 2026</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New here, mine from before, third party</a:t>
            </a:r>
            <a:endParaRPr lang="en-US" sz="3200" dirty="0"/>
          </a:p>
        </p:txBody>
      </p:sp>
      <p:sp>
        <p:nvSpPr>
          <p:cNvPr id="5" name="Shape 2"/>
          <p:cNvSpPr/>
          <p:nvPr/>
        </p:nvSpPr>
        <p:spPr>
          <a:xfrm>
            <a:off x="548640" y="1691640"/>
            <a:ext cx="4206240" cy="4389120"/>
          </a:xfrm>
          <a:prstGeom prst="roundRect">
            <a:avLst>
              <a:gd name="adj" fmla="val 2609"/>
            </a:avLst>
          </a:prstGeom>
          <a:solidFill>
            <a:srgbClr val="E9F3EC"/>
          </a:solidFill>
          <a:ln w="12700">
            <a:solidFill>
              <a:srgbClr val="0A7F44"/>
            </a:solidFill>
            <a:prstDash val="solid"/>
          </a:ln>
        </p:spPr>
      </p:sp>
      <p:sp>
        <p:nvSpPr>
          <p:cNvPr id="6" name="Text 3"/>
          <p:cNvSpPr txBox="1"/>
          <p:nvPr/>
        </p:nvSpPr>
        <p:spPr>
          <a:xfrm>
            <a:off x="777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A7F44"/>
                </a:solidFill>
              </a:rPr>
              <a:t>BUILT HERE</a:t>
            </a:r>
            <a:endParaRPr lang="en-US" sz="1050" dirty="0"/>
          </a:p>
        </p:txBody>
      </p:sp>
      <p:sp>
        <p:nvSpPr>
          <p:cNvPr id="7" name="Text 4"/>
          <p:cNvSpPr txBox="1"/>
          <p:nvPr/>
        </p:nvSpPr>
        <p:spPr>
          <a:xfrm>
            <a:off x="777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All the code</a:t>
            </a:r>
            <a:endParaRPr lang="en-US" sz="1600" dirty="0"/>
          </a:p>
        </p:txBody>
      </p:sp>
      <p:sp>
        <p:nvSpPr>
          <p:cNvPr id="8" name="Text 5"/>
          <p:cNvSpPr txBox="1"/>
          <p:nvPr/>
        </p:nvSpPr>
        <p:spPr>
          <a:xfrm>
            <a:off x="777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The gateway and every agent; A2A and its signing; matchmaking; memory and beliefs</a:t>
            </a:r>
            <a:endParaRPr lang="en-US" sz="1200" dirty="0"/>
          </a:p>
          <a:p>
            <a:pPr marL="152400" indent="-152400">
              <a:spcAft>
                <a:spcPts val="500"/>
              </a:spcAft>
              <a:buSzPct val="100000"/>
              <a:buChar char="•"/>
            </a:pPr>
            <a:r>
              <a:rPr lang="en-US" sz="1200" dirty="0">
                <a:solidFill>
                  <a:srgbClr val="0A0A0B"/>
                </a:solidFill>
              </a:rPr>
              <a:t>The community loop and its builder; the highlight pipeline's code</a:t>
            </a:r>
            <a:endParaRPr lang="en-US" sz="1200" dirty="0"/>
          </a:p>
          <a:p>
            <a:pPr marL="152400" indent="-152400">
              <a:spcAft>
                <a:spcPts val="500"/>
              </a:spcAft>
              <a:buSzPct val="100000"/>
              <a:buChar char="•"/>
            </a:pPr>
            <a:r>
              <a:rPr lang="en-US" sz="1200" dirty="0">
                <a:solidFill>
                  <a:srgbClr val="0A0A0B"/>
                </a:solidFill>
              </a:rPr>
              <a:t>The web app, members, clubs, the per-player gateways</a:t>
            </a:r>
            <a:endParaRPr lang="en-US" sz="1200" dirty="0"/>
          </a:p>
          <a:p>
            <a:pPr marL="152400" indent="-152400">
              <a:spcAft>
                <a:spcPts val="500"/>
              </a:spcAft>
              <a:buSzPct val="100000"/>
              <a:buChar char="•"/>
            </a:pPr>
            <a:r>
              <a:rPr lang="en-US" sz="1200" dirty="0">
                <a:solidFill>
                  <a:srgbClr val="0A0A0B"/>
                </a:solidFill>
              </a:rPr>
              <a:t>The Llama 3.2 1B student, fine-tuned from Glimmer's choices</a:t>
            </a:r>
            <a:endParaRPr lang="en-US" sz="1200" dirty="0"/>
          </a:p>
          <a:p>
            <a:pPr marL="152400" indent="-152400">
              <a:spcAft>
                <a:spcPts val="500"/>
              </a:spcAft>
              <a:buSzPct val="100000"/>
              <a:buChar char="•"/>
            </a:pPr>
            <a:r>
              <a:rPr lang="en-US" sz="1200" dirty="0">
                <a:solidFill>
                  <a:srgbClr val="0A0A0B"/>
                </a:solidFill>
              </a:rPr>
              <a:t>Every test and evaluation; the demo video (2:29)</a:t>
            </a:r>
            <a:endParaRPr lang="en-US" sz="1200" dirty="0"/>
          </a:p>
          <a:p>
            <a:pPr marL="152400" indent="-152400">
              <a:spcAft>
                <a:spcPts val="500"/>
              </a:spcAft>
              <a:buSzPct val="100000"/>
              <a:buChar char="•"/>
            </a:pPr>
            <a:r>
              <a:rPr lang="en-US" sz="1200" dirty="0">
                <a:solidFill>
                  <a:srgbClr val="0A0A0B"/>
                </a:solidFill>
              </a:rPr>
              <a:t>Day 1's work moved into this repository on Oct 28 (day 2); over 900 commits since</a:t>
            </a:r>
            <a:endParaRPr lang="en-US" sz="1200" dirty="0"/>
          </a:p>
        </p:txBody>
      </p:sp>
      <p:sp>
        <p:nvSpPr>
          <p:cNvPr id="9" name="Shape 6"/>
          <p:cNvSpPr/>
          <p:nvPr/>
        </p:nvSpPr>
        <p:spPr>
          <a:xfrm>
            <a:off x="4892040" y="1691640"/>
            <a:ext cx="2377440" cy="4389120"/>
          </a:xfrm>
          <a:prstGeom prst="roundRect">
            <a:avLst>
              <a:gd name="adj" fmla="val 4615"/>
            </a:avLst>
          </a:prstGeom>
          <a:solidFill>
            <a:srgbClr val="F6F7F8"/>
          </a:solidFill>
          <a:ln w="12700">
            <a:solidFill>
              <a:srgbClr val="55555C"/>
            </a:solidFill>
            <a:prstDash val="solid"/>
          </a:ln>
        </p:spPr>
      </p:sp>
      <p:sp>
        <p:nvSpPr>
          <p:cNvPr id="10" name="Text 7"/>
          <p:cNvSpPr txBox="1"/>
          <p:nvPr/>
        </p:nvSpPr>
        <p:spPr>
          <a:xfrm>
            <a:off x="5120640" y="1828800"/>
            <a:ext cx="1920240" cy="228600"/>
          </a:xfrm>
          <a:prstGeom prst="rect">
            <a:avLst/>
          </a:prstGeom>
          <a:noFill/>
          <a:ln/>
        </p:spPr>
        <p:txBody>
          <a:bodyPr wrap="square" lIns="0" tIns="0" rIns="0" bIns="0" rtlCol="0" anchor="t"/>
          <a:lstStyle/>
          <a:p>
            <a:pPr indent="0" marL="0">
              <a:buNone/>
            </a:pPr>
            <a:r>
              <a:rPr lang="en-US" sz="1050" b="1" spc="100" kern="0" dirty="0">
                <a:solidFill>
                  <a:srgbClr val="55555C"/>
                </a:solidFill>
              </a:rPr>
              <a:t>MINE, FROM BEFORE</a:t>
            </a:r>
            <a:endParaRPr lang="en-US" sz="1050" dirty="0"/>
          </a:p>
        </p:txBody>
      </p:sp>
      <p:sp>
        <p:nvSpPr>
          <p:cNvPr id="11" name="Text 8"/>
          <p:cNvSpPr txBox="1"/>
          <p:nvPr/>
        </p:nvSpPr>
        <p:spPr>
          <a:xfrm>
            <a:off x="5120640" y="2084832"/>
            <a:ext cx="1920240" cy="365760"/>
          </a:xfrm>
          <a:prstGeom prst="rect">
            <a:avLst/>
          </a:prstGeom>
          <a:noFill/>
          <a:ln/>
        </p:spPr>
        <p:txBody>
          <a:bodyPr wrap="square" lIns="0" tIns="0" rIns="0" bIns="0" rtlCol="0" anchor="t"/>
          <a:lstStyle/>
          <a:p>
            <a:pPr indent="0" marL="0">
              <a:buNone/>
            </a:pPr>
            <a:r>
              <a:rPr lang="en-US" sz="1600" b="1" dirty="0">
                <a:solidFill>
                  <a:srgbClr val="0A0A0B"/>
                </a:solidFill>
              </a:rPr>
              <a:t>Off in this entry</a:t>
            </a:r>
            <a:endParaRPr lang="en-US" sz="1600" dirty="0"/>
          </a:p>
        </p:txBody>
      </p:sp>
      <p:sp>
        <p:nvSpPr>
          <p:cNvPr id="12" name="Text 9"/>
          <p:cNvSpPr txBox="1"/>
          <p:nvPr/>
        </p:nvSpPr>
        <p:spPr>
          <a:xfrm>
            <a:off x="5120640" y="2542032"/>
            <a:ext cx="19202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TrackNetV5, my published shuttle tracker (ICIP 2026): off by default, not loaded in this entry</a:t>
            </a:r>
            <a:endParaRPr lang="en-US" sz="1200" dirty="0"/>
          </a:p>
        </p:txBody>
      </p:sp>
      <p:sp>
        <p:nvSpPr>
          <p:cNvPr id="13" name="Shape 10"/>
          <p:cNvSpPr/>
          <p:nvPr/>
        </p:nvSpPr>
        <p:spPr>
          <a:xfrm>
            <a:off x="7406640" y="1691640"/>
            <a:ext cx="4206240" cy="4389120"/>
          </a:xfrm>
          <a:prstGeom prst="roundRect">
            <a:avLst>
              <a:gd name="adj" fmla="val 2609"/>
            </a:avLst>
          </a:prstGeom>
          <a:solidFill>
            <a:srgbClr val="E8F1FD"/>
          </a:solidFill>
          <a:ln w="12700">
            <a:solidFill>
              <a:srgbClr val="0064E0"/>
            </a:solidFill>
            <a:prstDash val="solid"/>
          </a:ln>
        </p:spPr>
      </p:sp>
      <p:sp>
        <p:nvSpPr>
          <p:cNvPr id="14" name="Text 11"/>
          <p:cNvSpPr txBox="1"/>
          <p:nvPr/>
        </p:nvSpPr>
        <p:spPr>
          <a:xfrm>
            <a:off x="7635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064E0"/>
                </a:solidFill>
              </a:rPr>
              <a:t>THIRD PARTY, AS PUBLISHED</a:t>
            </a:r>
            <a:endParaRPr lang="en-US" sz="1050" dirty="0"/>
          </a:p>
        </p:txBody>
      </p:sp>
      <p:sp>
        <p:nvSpPr>
          <p:cNvPr id="15" name="Text 12"/>
          <p:cNvSpPr txBox="1"/>
          <p:nvPr/>
        </p:nvSpPr>
        <p:spPr>
          <a:xfrm>
            <a:off x="7635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Models, software, data</a:t>
            </a:r>
            <a:endParaRPr lang="en-US" sz="1600" dirty="0"/>
          </a:p>
        </p:txBody>
      </p:sp>
      <p:sp>
        <p:nvSpPr>
          <p:cNvPr id="16" name="Text 13"/>
          <p:cNvSpPr txBox="1"/>
          <p:nvPr/>
        </p:nvSpPr>
        <p:spPr>
          <a:xfrm>
            <a:off x="7635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0A0A0B"/>
                </a:solidFill>
              </a:rPr>
              <a:t>Meta: Muse Glimmer, Llama 3.2 1B, Llama Guard 3, Prompt Guard 2, DRAMA, Omnilingual ASR, DETR, Sapiens2, SAM 2.1, MapAnything; API: Muse Spark, Voice Transcribe, Image, Wonder, SAM 3.1</a:t>
            </a:r>
            <a:endParaRPr lang="en-US" sz="1100" dirty="0"/>
          </a:p>
          <a:p>
            <a:pPr marL="152400" indent="-152400">
              <a:spcAft>
                <a:spcPts val="500"/>
              </a:spcAft>
              <a:buSzPct val="100000"/>
              <a:buChar char="•"/>
            </a:pPr>
            <a:r>
              <a:rPr lang="en-US" sz="1100" dirty="0">
                <a:solidFill>
                  <a:srgbClr val="0A0A0B"/>
                </a:solidFill>
              </a:rPr>
              <a:t>Other models: Kokoro (speech), IBM Granite (optional), WASB (off)</a:t>
            </a:r>
            <a:endParaRPr lang="en-US" sz="1100" dirty="0"/>
          </a:p>
          <a:p>
            <a:pPr marL="152400" indent="-152400">
              <a:spcAft>
                <a:spcPts val="500"/>
              </a:spcAft>
              <a:buSzPct val="100000"/>
              <a:buChar char="•"/>
            </a:pPr>
            <a:r>
              <a:rPr lang="en-US" sz="1100" dirty="0">
                <a:solidFill>
                  <a:srgbClr val="0A0A0B"/>
                </a:solidFill>
              </a:rPr>
              <a:t>Software: A2A SDK, Ollama, Transformers, OpenTelemetry, React, Vite, Leaflet, Cloudflare tunnel</a:t>
            </a:r>
            <a:endParaRPr lang="en-US" sz="1100" dirty="0"/>
          </a:p>
          <a:p>
            <a:pPr marL="152400" indent="-152400">
              <a:spcAft>
                <a:spcPts val="500"/>
              </a:spcAft>
              <a:buSzPct val="100000"/>
              <a:buChar char="•"/>
            </a:pPr>
            <a:r>
              <a:rPr lang="en-US" sz="1100" dirty="0">
                <a:solidFill>
                  <a:srgbClr val="0A0A0B"/>
                </a:solidFill>
              </a:rPr>
              <a:t>Data: OpenStreetMap, Open-Meteo, Google Places, CC BY clips (credited)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 · THE VIDEO, 2:29</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Three acts, all in the running app</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3566160" cy="2005965"/>
          </a:xfrm>
          <a:prstGeom prst="rect">
            <a:avLst/>
          </a:prstGeom>
        </p:spPr>
      </p:pic>
      <p:sp>
        <p:nvSpPr>
          <p:cNvPr id="6" name="Shape 2"/>
          <p:cNvSpPr/>
          <p:nvPr/>
        </p:nvSpPr>
        <p:spPr>
          <a:xfrm>
            <a:off x="548640" y="1783080"/>
            <a:ext cx="3566160" cy="2005965"/>
          </a:xfrm>
          <a:prstGeom prst="rect">
            <a:avLst/>
          </a:prstGeom>
          <a:ln w="12700">
            <a:solidFill>
              <a:srgbClr val="DCDCE0"/>
            </a:solidFill>
            <a:prstDash val="solid"/>
          </a:ln>
        </p:spPr>
      </p:sp>
      <p:sp>
        <p:nvSpPr>
          <p:cNvPr id="7" name="Shape 3"/>
          <p:cNvSpPr/>
          <p:nvPr/>
        </p:nvSpPr>
        <p:spPr>
          <a:xfrm>
            <a:off x="548640" y="3977640"/>
            <a:ext cx="731520" cy="329184"/>
          </a:xfrm>
          <a:prstGeom prst="roundRect">
            <a:avLst>
              <a:gd name="adj" fmla="val 50000"/>
            </a:avLst>
          </a:prstGeom>
          <a:solidFill>
            <a:srgbClr val="0A7F44"/>
          </a:solidFill>
          <a:ln w="12700">
            <a:solidFill>
              <a:srgbClr val="0A7F44"/>
            </a:solidFill>
            <a:prstDash val="solid"/>
          </a:ln>
        </p:spPr>
      </p:sp>
      <p:sp>
        <p:nvSpPr>
          <p:cNvPr id="8" name="Text 4"/>
          <p:cNvSpPr txBox="1"/>
          <p:nvPr/>
        </p:nvSpPr>
        <p:spPr>
          <a:xfrm>
            <a:off x="54864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0:41</a:t>
            </a:r>
            <a:endParaRPr lang="en-US" sz="1100" dirty="0"/>
          </a:p>
        </p:txBody>
      </p:sp>
      <p:sp>
        <p:nvSpPr>
          <p:cNvPr id="9" name="Text 5"/>
          <p:cNvSpPr txBox="1"/>
          <p:nvPr/>
        </p:nvSpPr>
        <p:spPr>
          <a:xfrm>
            <a:off x="54864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1 · cold start: Leo has no account, the link joins him, and Mia hears "Game on" at once</a:t>
            </a:r>
            <a:endParaRPr lang="en-US" sz="1250" dirty="0"/>
          </a:p>
        </p:txBody>
      </p:sp>
      <p:pic>
        <p:nvPicPr>
          <p:cNvPr id="10" name="Image 1" descr="preencoded.png">    </p:cNvPr>
          <p:cNvPicPr>
            <a:picLocks noChangeAspect="1"/>
          </p:cNvPicPr>
          <p:nvPr/>
        </p:nvPicPr>
        <p:blipFill>
          <a:blip r:embed="rId2"/>
          <a:stretch>
            <a:fillRect/>
          </a:stretch>
        </p:blipFill>
        <p:spPr>
          <a:xfrm>
            <a:off x="4297680" y="1783080"/>
            <a:ext cx="3566160" cy="2005965"/>
          </a:xfrm>
          <a:prstGeom prst="rect">
            <a:avLst/>
          </a:prstGeom>
        </p:spPr>
      </p:pic>
      <p:sp>
        <p:nvSpPr>
          <p:cNvPr id="11" name="Shape 6"/>
          <p:cNvSpPr/>
          <p:nvPr/>
        </p:nvSpPr>
        <p:spPr>
          <a:xfrm>
            <a:off x="4297680" y="1783080"/>
            <a:ext cx="3566160" cy="2005965"/>
          </a:xfrm>
          <a:prstGeom prst="rect">
            <a:avLst/>
          </a:prstGeom>
          <a:ln w="12700">
            <a:solidFill>
              <a:srgbClr val="DCDCE0"/>
            </a:solidFill>
            <a:prstDash val="solid"/>
          </a:ln>
        </p:spPr>
      </p:sp>
      <p:sp>
        <p:nvSpPr>
          <p:cNvPr id="12" name="Shape 7"/>
          <p:cNvSpPr/>
          <p:nvPr/>
        </p:nvSpPr>
        <p:spPr>
          <a:xfrm>
            <a:off x="4297680" y="3977640"/>
            <a:ext cx="731520" cy="329184"/>
          </a:xfrm>
          <a:prstGeom prst="roundRect">
            <a:avLst>
              <a:gd name="adj" fmla="val 50000"/>
            </a:avLst>
          </a:prstGeom>
          <a:solidFill>
            <a:srgbClr val="0A7F44"/>
          </a:solidFill>
          <a:ln w="12700">
            <a:solidFill>
              <a:srgbClr val="0A7F44"/>
            </a:solidFill>
            <a:prstDash val="solid"/>
          </a:ln>
        </p:spPr>
      </p:sp>
      <p:sp>
        <p:nvSpPr>
          <p:cNvPr id="13" name="Text 8"/>
          <p:cNvSpPr txBox="1"/>
          <p:nvPr/>
        </p:nvSpPr>
        <p:spPr>
          <a:xfrm>
            <a:off x="429768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1:15</a:t>
            </a:r>
            <a:endParaRPr lang="en-US" sz="1100" dirty="0"/>
          </a:p>
        </p:txBody>
      </p:sp>
      <p:sp>
        <p:nvSpPr>
          <p:cNvPr id="14" name="Text 9"/>
          <p:cNvSpPr txBox="1"/>
          <p:nvPr/>
        </p:nvSpPr>
        <p:spPr>
          <a:xfrm>
            <a:off x="429768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2 · A2A: Hana's agent makes a real counter-offer; one yes in Messenger books it (end-to-end test)</a:t>
            </a:r>
            <a:endParaRPr lang="en-US" sz="1250" dirty="0"/>
          </a:p>
        </p:txBody>
      </p:sp>
      <p:pic>
        <p:nvPicPr>
          <p:cNvPr id="15" name="Image 2" descr="preencoded.png">    </p:cNvPr>
          <p:cNvPicPr>
            <a:picLocks noChangeAspect="1"/>
          </p:cNvPicPr>
          <p:nvPr/>
        </p:nvPicPr>
        <p:blipFill>
          <a:blip r:embed="rId3"/>
          <a:stretch>
            <a:fillRect/>
          </a:stretch>
        </p:blipFill>
        <p:spPr>
          <a:xfrm>
            <a:off x="8046720" y="1783080"/>
            <a:ext cx="3566160" cy="2005965"/>
          </a:xfrm>
          <a:prstGeom prst="rect">
            <a:avLst/>
          </a:prstGeom>
        </p:spPr>
      </p:pic>
      <p:sp>
        <p:nvSpPr>
          <p:cNvPr id="16" name="Shape 10"/>
          <p:cNvSpPr/>
          <p:nvPr/>
        </p:nvSpPr>
        <p:spPr>
          <a:xfrm>
            <a:off x="8046720" y="1783080"/>
            <a:ext cx="3566160" cy="2005965"/>
          </a:xfrm>
          <a:prstGeom prst="rect">
            <a:avLst/>
          </a:prstGeom>
          <a:ln w="12700">
            <a:solidFill>
              <a:srgbClr val="DCDCE0"/>
            </a:solidFill>
            <a:prstDash val="solid"/>
          </a:ln>
        </p:spPr>
      </p:sp>
      <p:sp>
        <p:nvSpPr>
          <p:cNvPr id="17" name="Shape 11"/>
          <p:cNvSpPr/>
          <p:nvPr/>
        </p:nvSpPr>
        <p:spPr>
          <a:xfrm>
            <a:off x="8046720" y="3977640"/>
            <a:ext cx="731520" cy="329184"/>
          </a:xfrm>
          <a:prstGeom prst="roundRect">
            <a:avLst>
              <a:gd name="adj" fmla="val 50000"/>
            </a:avLst>
          </a:prstGeom>
          <a:solidFill>
            <a:srgbClr val="0A7F44"/>
          </a:solidFill>
          <a:ln w="12700">
            <a:solidFill>
              <a:srgbClr val="0A7F44"/>
            </a:solidFill>
            <a:prstDash val="solid"/>
          </a:ln>
        </p:spPr>
      </p:sp>
      <p:sp>
        <p:nvSpPr>
          <p:cNvPr id="18" name="Text 12"/>
          <p:cNvSpPr txBox="1"/>
          <p:nvPr/>
        </p:nvSpPr>
        <p:spPr>
          <a:xfrm>
            <a:off x="804672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1:25</a:t>
            </a:r>
            <a:endParaRPr lang="en-US" sz="1100" dirty="0"/>
          </a:p>
        </p:txBody>
      </p:sp>
      <p:sp>
        <p:nvSpPr>
          <p:cNvPr id="19" name="Text 13"/>
          <p:cNvSpPr txBox="1"/>
          <p:nvPr/>
        </p:nvSpPr>
        <p:spPr>
          <a:xfrm>
            <a:off x="804672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3 · courts: Prompt Guard 2 screens reviews, then Muse Glimmer judges (shown at 14×, labelled)</a:t>
            </a:r>
            <a:endParaRPr lang="en-US" sz="1250" dirty="0"/>
          </a:p>
        </p:txBody>
      </p:sp>
      <p:sp>
        <p:nvSpPr>
          <p:cNvPr id="20" name="Text 14"/>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200" i="1" dirty="0">
                <a:solidFill>
                  <a:srgbClr val="55555C"/>
                </a:solidFill>
              </a:rPr>
              <a:t>Every speed-up is labelled on screen. The video shows only what this deck lists as built during the hackathon (slide 16).</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hackathon, Oct 27 – Nov 4, 2026 · demo video 2:29 · what is new and what is not: slide 16</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including the A2A test's second gateway</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2194560"/>
            <a:ext cx="10058400" cy="365760"/>
          </a:xfrm>
          <a:prstGeom prst="rect">
            <a:avLst/>
          </a:prstGeom>
          <a:noFill/>
          <a:ln/>
        </p:spPr>
        <p:txBody>
          <a:bodyPr wrap="square" lIns="0" tIns="0" rIns="0" bIns="0" rtlCol="0" anchor="t"/>
          <a:lstStyle/>
          <a:p>
            <a:pPr indent="0" marL="0">
              <a:buNone/>
            </a:pPr>
            <a:r>
              <a:rPr lang="en-US" sz="1400" b="1" spc="200" kern="0" dirty="0">
                <a:solidFill>
                  <a:srgbClr val="0A7F44"/>
                </a:solidFill>
              </a:rPr>
              <a:t>APPENDIX</a:t>
            </a:r>
            <a:endParaRPr lang="en-US" sz="1400" dirty="0"/>
          </a:p>
        </p:txBody>
      </p:sp>
      <p:sp>
        <p:nvSpPr>
          <p:cNvPr id="3" name="Text 1"/>
          <p:cNvSpPr txBox="1"/>
          <p:nvPr/>
        </p:nvSpPr>
        <p:spPr>
          <a:xfrm>
            <a:off x="731520" y="2606040"/>
            <a:ext cx="10515600" cy="822960"/>
          </a:xfrm>
          <a:prstGeom prst="rect">
            <a:avLst/>
          </a:prstGeom>
          <a:noFill/>
          <a:ln/>
        </p:spPr>
        <p:txBody>
          <a:bodyPr wrap="square" lIns="0" tIns="0" rIns="0" bIns="0" rtlCol="0" anchor="t"/>
          <a:lstStyle/>
          <a:p>
            <a:pPr indent="0" marL="0">
              <a:buNone/>
            </a:pPr>
            <a:r>
              <a:rPr lang="en-US" sz="4000" b="1" dirty="0">
                <a:solidFill>
                  <a:srgbClr val="0A0A0B"/>
                </a:solidFill>
              </a:rPr>
              <a:t>The details behind the main slides</a:t>
            </a:r>
            <a:endParaRPr lang="en-US" sz="4000" dirty="0"/>
          </a:p>
        </p:txBody>
      </p:sp>
      <p:sp>
        <p:nvSpPr>
          <p:cNvPr id="4" name="Text 2"/>
          <p:cNvSpPr txBox="1"/>
          <p:nvPr/>
        </p:nvSpPr>
        <p:spPr>
          <a:xfrm>
            <a:off x="731520" y="3611880"/>
            <a:ext cx="10515600" cy="1097280"/>
          </a:xfrm>
          <a:prstGeom prst="rect">
            <a:avLst/>
          </a:prstGeom>
          <a:noFill/>
          <a:ln/>
        </p:spPr>
        <p:txBody>
          <a:bodyPr wrap="square" lIns="0" tIns="0" rIns="0" bIns="0" rtlCol="0" anchor="t"/>
          <a:lstStyle/>
          <a:p>
            <a:pPr indent="0" marL="0">
              <a:buNone/>
            </a:pPr>
            <a:r>
              <a:rPr lang="en-US" sz="1600" dirty="0">
                <a:solidFill>
                  <a:srgbClr val="55555C"/>
                </a:solidFill>
              </a:rPr>
              <a:t>The agent and A2A · all 15 Meta models · the social app · auto-cut highlights · agents as members · voice · federated clubs · memory · agent architecture · scale · the self-evolving club · every number and its source · the full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check_limits</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Usually 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 a counter-offer if none fits</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ALL 15 META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Not in the 15. Messenger: your agent in your chats; Facebook or IG login;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Spark, SAM 3.1 and Wonder: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THE SOCIAL APP</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 (a small test).</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 ARCHITECTURE · TESTED IN CODE AND SIMULATION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126480" y="384048"/>
            <a:ext cx="548640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126480" y="384048"/>
            <a:ext cx="548640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club of 60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37/42</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unsafe messages refused (1 of 74 harmless)</a:t>
            </a:r>
            <a:endParaRPr lang="en-US" sz="1200" dirty="0"/>
          </a:p>
        </p:txBody>
      </p:sp>
      <p:sp>
        <p:nvSpPr>
          <p:cNvPr id="17" name="Text 14"/>
          <p:cNvSpPr txBox="1"/>
          <p:nvPr/>
        </p:nvSpPr>
        <p:spPr>
          <a:xfrm>
            <a:off x="548640" y="6217920"/>
            <a:ext cx="11064240" cy="228600"/>
          </a:xfrm>
          <a:prstGeom prst="rect">
            <a:avLst/>
          </a:prstGeom>
          <a:noFill/>
          <a:ln/>
        </p:spPr>
        <p:txBody>
          <a:bodyPr wrap="square" lIns="0" tIns="0" rIns="0" bIns="0" rtlCol="0" anchor="t"/>
          <a:lstStyle/>
          <a:p>
            <a:pPr indent="0" marL="0">
              <a:buNone/>
            </a:pPr>
            <a:r>
              <a:rPr lang="en-US" sz="1000" i="1" dirty="0">
                <a:solidFill>
                  <a:srgbClr val="55555C"/>
                </a:solidFill>
              </a:rPr>
              <a:t>Bold: run with the real model. "A cloud A100": the same Muse Glimmer build that runs the product on the RTX 3090.</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Scheduling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Muse Wonder (judges orbits)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2026-10-29T13:38:02Z</dcterms:created>
  <dcterms:modified xsi:type="dcterms:W3CDTF">2026-10-29T13:38:02Z</dcterms:modified>
</cp:coreProperties>
</file>