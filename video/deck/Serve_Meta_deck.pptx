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81021a7-b662-5939-0865-03dabb81d078}">
          <p14:sldIdLst>
            <p14:sldId id="256"/>
            <p14:sldId id="257"/>
          </p14:sldIdLst>
        </p14:section>
        <p14:section name="Impact" id="{2d39f4d6-d4ec-77ea-565b-8e8eff07c096}">
          <p14:sldIdLst>
            <p14:sldId id="258"/>
            <p14:sldId id="259"/>
          </p14:sldIdLst>
        </p14:section>
        <p14:section name="Demo" id="{abb7d388-9c87-5992-1007-226da73bab6d}">
          <p14:sldIdLst>
            <p14:sldId id="260"/>
          </p14:sldIdLst>
        </p14:section>
        <p14:section name="Use of Meta AI" id="{f2ff4854-f34a-0a9f-6d0e-7510ec0b37f4}">
          <p14:sldIdLst>
            <p14:sldId id="261"/>
            <p14:sldId id="262"/>
            <p14:sldId id="263"/>
          </p14:sldIdLst>
        </p14:section>
        <p14:section name="Technical depth" id="{6255a1aa-f037-eab2-2e4f-3952eedb483a}">
          <p14:sldIdLst>
            <p14:sldId id="264"/>
            <p14:sldId id="265"/>
            <p14:sldId id="266"/>
            <p14:sldId id="267"/>
          </p14:sldIdLst>
        </p14:section>
        <p14:section name="Architecture" id="{fe35f096-a234-18b0-9711-10ed63d0cadc}">
          <p14:sldIdLst>
            <p14:sldId id="268"/>
          </p14:sldIdLst>
        </p14:section>
        <p14:section name="Close" id="{31df80b6-2374-54fc-5008-35a4a2133a7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Weekdays pinned down</c:v>
                </c:pt>
              </c:strCache>
            </c:strRef>
          </c:tx>
          <c:spPr>
            <a:solidFill>
              <a:srgbClr val="D13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0A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35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7F4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Without a budget</c:v>
                  </c:pt>
                  <c:pt idx="1">
                    <c:v>With the budget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97.6</c:v>
                </c:pt>
                <c:pt idx="1">
                  <c:v>32.4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A0A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0A0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封面：先交代比賽（Meta Global AI Developer Hackathon 2026、Indie Developer、Build for Your World），停 3 秒再轉到 Serve。
影片：cover.html，白底點陣，3.2 秒後淡入 Serve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 的封面：Play more. Manage less.
旁白：So for this hackathon, I built Serve. Not an AI coach. A club where your agent sorts things out with your friends' agents, and only asks you for one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痛點：不是不愛打球，是約不成。
旁白：Most people don't quit sports because they stopped loving the game. They quit because matching four calendars, finding a court and working around a sore knee takes too much group chat.
影片：pain.html，群組約球失敗，蓋上 No game this week。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一頁架構圖（給一般觀眾）：你只在 Messenger 或 app 按一次 yes；你的 agent（Muse Glimmer）用工具排好一週，跟朋友的 agent 透過 A2A 談好時間；球場、精華、社團都在同一台伺服器上；所有東西給人看之前都先被程式檢查。
旁白重點：Agents only mark which times work; code picks from the overlap. Nothing is booked until I say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段落（影片 0:30–1:34）：照一週的順序走，每個 Meta 模型出場時左上角都有標籤。
週一：膝蓋 → 身體紀錄。Autopilot 排一週＋A2A 談判。找球場。週四：上傳影片 → highlight（時間暫停、鏡頭轉 20°）。賽後：記分板照片 → 排名。
旁白開頭：Here's a live run of my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這頁讓評審一眼看到用了哪些 Meta 的東西：10 個 Meta 模型（全部開放權重、在我自己的伺服器上跑）＋ Messenger、Instagram/Facebook，再加上 Meta 的 Agents Rule of Two 框架。
說法：Muse Glimmer 是大腦；1B 學生模型分擔簡單決策；兩個 guard 把關進出；DRAMA 是記憶；四個視覺模型做 highlight；Messenger 是入口。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Autopilot：Muse Glimmer 用原生 tool calling 一步一步叫工具，被拒絕的呼叫會變成事實回來，它重新規劃。A2A：每個會員一個 agent、簽章的 Agent Card、一輪就談完、談好的時間先鎖 30 分鐘、每輪存檔可續跑。兩台機器（台北的 GPU 伺服器 + GCP A100）跨網路 22/22 項檢查通過。
旁白：Autopilot takes over… Then it negotiates with three friends' agents at once, over A2A.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管線：DETR 找人 → Sapiens2 讀姿勢、找最快的揮拍 → SAM 2.1 把你切出來 → MapAnything 算深度和相機，時間暫停、鏡頭繞 20° → Muse Glimmer 寫說明，程式核對 → 一鍵分享到 Instagram。影片不離開伺服器。
旁白：Thursday, game done. I upload a phone clip… With MapAnything, time stops and the camera turns around the smash.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Glimmer 的帳本：記錄 2,755 次呼叫，84% 的 token 是推理；就算關掉 thinking，它還是在隱藏通道推理，預算不夠時 9% 回空白。所以每次呼叫用 think:"low" 並留推理空間。再來是三層決策：能用程式就用程式 → 1B 學生模型有把握才答（54–67%）→ 真的需要才叫 Glimmer。
旁白：Logging 2,755 calls, I found that 84% of Glimmer's tokens are reasoning…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安全：每個 agent 都遵守 Meta 的 Agents Rule of Two（不可信輸入、私人資料、行動能力，最多同時兩個）。揭露預算：一直約球的 agent 能拼出你一週的行程，有預算時從 97.6% 降到 32.4%（模擬的探測者）。65 個攻擊全部擋下。
旁白：Every agent follows Meta's Agents Rule of Two. And a disclosure budget cuts how much of your week a snooping agent can pin down, from 97.6% to 32.4%.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自我演化的社團：會員在 Messenger 打 /idea 或按讚 → DRAMA 依語意分群，5 人提到才出現 → 二次方投票 → Muse Glimmer 寫規格、人工核准 → coding agent 在自己的分支上實作（從不讀社群文字）→ 九道關卡，第一個失敗就停 → 小規模上線，倒讚變多就自己關掉。永遠不能改的清單。這段是模擬社團（seed 7），但管線、關卡和回滾是真的。
旁白：And the club evolves itself…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證據頁：每個數字都有 log。e2e、攻擊測試在雲端 A100 上用同一個 Muse Glimmer（同一個 model digest）跑。可以快速帶過，或只在影片片尾字卡出現。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完整技術架構（放最後給想深入的評審）：左邊是使用者的入口；中間是 Node.js gateway 上的各個模組；右邊是 Meta 模型實際跑在哪（GPU 1 Muse Glimmer、GPU 0 視覺、CPU 上的小模型），以及外部開放資料。底下是「給人看之前先由程式檢查」與帳本/追蹤。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片尾：Play more, manage less. 黑客松期間開發聲明（TrackNetV5 除外）、repo 連結、Built on Muse Glimmer。
旁白：That's Serve. Play more, manage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0A7F44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A0A0B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2"/>
                </a:solidFill>
              </a:rPr>
              <a:t>Serve · Meta Global AI Developer Hackathon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image" Target="../media/image-5-4.jpeg"/><Relationship Id="rId5" Type="http://schemas.openxmlformats.org/officeDocument/2006/relationships/image" Target="../media/image-5-5.jpe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7132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</a:rPr>
              <a:t>Meta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64E0"/>
                </a:solidFill>
              </a:rPr>
              <a:t>Submitted to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60604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0A0A0B"/>
                </a:solidFill>
              </a:rPr>
              <a:t>Meta Global AI</a:t>
            </a:r>
            <a:endParaRPr lang="en-US" sz="58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0A0A0B"/>
                </a:solidFill>
              </a:rPr>
              <a:t>Developer Hackathon 2026</a:t>
            </a:r>
            <a:endParaRPr lang="en-US" sz="5800" dirty="0"/>
          </a:p>
        </p:txBody>
      </p:sp>
      <p:sp>
        <p:nvSpPr>
          <p:cNvPr id="6" name="Shape 3"/>
          <p:cNvSpPr/>
          <p:nvPr/>
        </p:nvSpPr>
        <p:spPr>
          <a:xfrm>
            <a:off x="731520" y="489204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0064E0"/>
          </a:solidFill>
          <a:ln w="12700">
            <a:solidFill>
              <a:srgbClr val="0064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Indie Developer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971800" y="489204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71800" y="4892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Build for Your World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0" y="489204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Oct 27 – Nov 4, 2026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897880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7008" y="589788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serve  ·  Play more. Manage less.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IMPACT · 30%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People don't quit the game. They quit organizing it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291840" cy="4434840"/>
          </a:xfrm>
          <a:prstGeom prst="roundRect">
            <a:avLst>
              <a:gd name="adj" fmla="val 3333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A7F44"/>
                </a:solidFill>
              </a:rPr>
              <a:t>31%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0A0B"/>
                </a:solidFill>
              </a:rPr>
              <a:t>of adults worldwide did not get enough physical activity in 2022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World Health Organization, 2024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709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For anyone who plays a ball sport for fun: badminton, tennis, pickleball, table tennis, basketball, volleyball, soccer.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1352B"/>
                </a:solidFill>
              </a:rPr>
              <a:t>THE PAIN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WHAT SERVE DOES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06240" y="20574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8912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Playing takes organizing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253288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A time that suits four people, a free court, somewhere everyone can reach. The group chat goes quiet.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90688" y="2679192"/>
            <a:ext cx="18288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001000" y="2057400"/>
            <a:ext cx="3611880" cy="1234440"/>
          </a:xfrm>
          <a:prstGeom prst="roundRect">
            <a:avLst>
              <a:gd name="adj" fmla="val 8889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22199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Autopilot lines up the week and agrees every game with the other players' agents. You approve once.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06240" y="34290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8912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Nobody pushes you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389120" y="390448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One missed week becomes a month. Apps count steps; none books your next game.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90688" y="4050792"/>
            <a:ext cx="18288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01000" y="3429000"/>
            <a:ext cx="3611880" cy="1234440"/>
          </a:xfrm>
          <a:prstGeom prst="roundRect">
            <a:avLst>
              <a:gd name="adj" fmla="val 8889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83880" y="359359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When your usual time is open and your partner is free, it asks: "Thursday 19:00: Leo is free. Want a game?"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206240" y="48006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Life gets in the way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0" y="527608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A sore knee, a heavy week, rain on an outdoor court.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90688" y="5422392"/>
            <a:ext cx="18288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001000" y="4800600"/>
            <a:ext cx="3611880" cy="1234440"/>
          </a:xfrm>
          <a:prstGeom prst="roundRect">
            <a:avLst>
              <a:gd name="adj" fmla="val 8889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83880" y="496519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It plans doubles or one game fewer, checks in two days later, and checks the map, reviews and forecast.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HOW IT WORKS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One yes from you. Agents do the rest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B"/>
                </a:solidFill>
              </a:rPr>
              <a:t>You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560320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2560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Messenger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9232"/>
            <a:ext cx="329184" cy="32918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29992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Serve app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approve with one tap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2834640" y="2926080"/>
            <a:ext cx="5029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headEnd type="triangle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383280" y="1691640"/>
            <a:ext cx="4343400" cy="2468880"/>
          </a:xfrm>
          <a:prstGeom prst="roundRect">
            <a:avLst>
              <a:gd name="adj" fmla="val 4444"/>
            </a:avLst>
          </a:prstGeom>
          <a:solidFill>
            <a:srgbClr val="E9F3EC"/>
          </a:solidFill>
          <a:ln w="25400">
            <a:solidFill>
              <a:srgbClr val="0A7F4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611880" y="1874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B"/>
                </a:solidFill>
              </a:rPr>
              <a:t>Your agent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611880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7F44"/>
                </a:solidFill>
              </a:rPr>
              <a:t>Autopilot · Muse Glimmer on my RTX 3090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3611880" y="263347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A0A0B"/>
                </a:solidFill>
              </a:rPr>
              <a:t>Picks one tool at a time; code runs it and hands back the facts, until the week is planned.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3611880" y="3291840"/>
            <a:ext cx="12344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721608" y="3355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Body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3721608" y="363016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limits from what hurts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937760" y="3291840"/>
            <a:ext cx="12344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047488" y="3355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Match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047488" y="363016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"want a game?"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263640" y="3291840"/>
            <a:ext cx="12344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73368" y="3355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Talk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373368" y="363016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agrees with their agents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772400" y="2926080"/>
            <a:ext cx="868680" cy="0"/>
          </a:xfrm>
          <a:prstGeom prst="line">
            <a:avLst/>
          </a:prstGeom>
          <a:noFill/>
          <a:ln w="22225">
            <a:solidFill>
              <a:srgbClr val="0064E0"/>
            </a:solidFill>
            <a:prstDash val="solid"/>
            <a:headEnd type="triangle"/>
            <a:tailEnd type="triangle"/>
          </a:ln>
        </p:spPr>
      </p:sp>
      <p:sp>
        <p:nvSpPr>
          <p:cNvPr id="27" name="Text 22"/>
          <p:cNvSpPr txBox="1"/>
          <p:nvPr/>
        </p:nvSpPr>
        <p:spPr>
          <a:xfrm>
            <a:off x="7772400" y="25786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E0"/>
                </a:solidFill>
              </a:rPr>
              <a:t>A2A v1.0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772400" y="3017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facts only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8686800" y="1691640"/>
            <a:ext cx="2926080" cy="2468880"/>
          </a:xfrm>
          <a:prstGeom prst="roundRect">
            <a:avLst>
              <a:gd name="adj" fmla="val 4444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915400" y="18745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B"/>
                </a:solidFill>
              </a:rPr>
              <a:t>Friends' agents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8961120" y="23317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4E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96112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E0"/>
                </a:solidFill>
              </a:rPr>
              <a:t>L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9464040" y="23317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Leo's agent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8961120" y="27889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4E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611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E0"/>
                </a:solidFill>
              </a:rPr>
              <a:t>H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464040" y="27889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Hana's agent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896112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64E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611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E0"/>
                </a:solidFill>
              </a:rPr>
              <a:t>T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9464040" y="3246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Tomás's agent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8915400" y="373075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They mark which times work; code picks from the overlap.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3383280" y="45262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566160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B"/>
                </a:solidFill>
              </a:rPr>
              <a:t>Courts near you</a:t>
            </a:r>
            <a:endParaRPr lang="en-US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3566160" y="495604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OpenStreetMap, Google reviews, the forecast; judged by Muse Glimmer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6144768" y="45262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327648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B"/>
                </a:solidFill>
              </a:rPr>
              <a:t>Highlights</a:t>
            </a:r>
            <a:endParaRPr lang="en-US" sz="1400" dirty="0"/>
          </a:p>
        </p:txBody>
      </p:sp>
      <p:sp>
        <p:nvSpPr>
          <p:cNvPr id="46" name="Text 41"/>
          <p:cNvSpPr txBox="1"/>
          <p:nvPr/>
        </p:nvSpPr>
        <p:spPr>
          <a:xfrm>
            <a:off x="6327648" y="495604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Your phone clip, read by Meta's vision models; one tap to Instagram</a:t>
            </a:r>
            <a:endParaRPr lang="en-US" sz="1100" dirty="0"/>
          </a:p>
        </p:txBody>
      </p:sp>
      <p:sp>
        <p:nvSpPr>
          <p:cNvPr id="47" name="Shape 42"/>
          <p:cNvSpPr/>
          <p:nvPr/>
        </p:nvSpPr>
        <p:spPr>
          <a:xfrm>
            <a:off x="8906256" y="45262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9089136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B"/>
                </a:solidFill>
              </a:rPr>
              <a:t>Club</a:t>
            </a:r>
            <a:endParaRPr lang="en-US" sz="1400" dirty="0"/>
          </a:p>
        </p:txBody>
      </p:sp>
      <p:sp>
        <p:nvSpPr>
          <p:cNvPr id="49" name="Text 44"/>
          <p:cNvSpPr txBox="1"/>
          <p:nvPr/>
        </p:nvSpPr>
        <p:spPr>
          <a:xfrm>
            <a:off x="9089136" y="495604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A scoreboard photo, checked by code; rankings and challenges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5550408" y="4187952"/>
            <a:ext cx="0" cy="310896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51" name="Shape 46"/>
          <p:cNvSpPr/>
          <p:nvPr/>
        </p:nvSpPr>
        <p:spPr>
          <a:xfrm>
            <a:off x="548640" y="5788152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FBF3E6"/>
          </a:solidFill>
          <a:ln w="12700">
            <a:solidFill>
              <a:srgbClr val="FBF3E6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777240" y="5788152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</a:rPr>
              <a:t>Checked by code before anyone sees it  ·  nothing is booked without your yes  ·  video and health data stay on the server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DEMO · 25%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A week with Serve, live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103120" cy="13167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737360"/>
            <a:ext cx="2103120" cy="1316736"/>
          </a:xfrm>
          <a:prstGeom prst="rect">
            <a:avLst/>
          </a:prstGeom>
          <a:ln w="12700">
            <a:solidFill>
              <a:srgbClr val="DCDCE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246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MONDAY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"My right knee is sore"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Muse Glimmer files it on your body and turns it into a rule: doubles first, one game fewer.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88920" y="1737360"/>
            <a:ext cx="2103120" cy="131673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788920" y="1737360"/>
            <a:ext cx="2103120" cy="1316736"/>
          </a:xfrm>
          <a:prstGeom prst="rect">
            <a:avLst/>
          </a:prstGeom>
          <a:ln w="12700">
            <a:solidFill>
              <a:srgbClr val="DCDCE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788920" y="3246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TUESDAY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278892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Autopilot plans the week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78892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One tool at a time, then three friends' agents at once, over A2A. Nothing booked until you say yes.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0" y="1737360"/>
            <a:ext cx="2103120" cy="131673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029200" y="1737360"/>
            <a:ext cx="2103120" cy="1316736"/>
          </a:xfrm>
          <a:prstGeom prst="rect">
            <a:avLst/>
          </a:prstGeom>
          <a:ln w="12700">
            <a:solidFill>
              <a:srgbClr val="DCDCE0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029200" y="3246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WEDNESDAY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502920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A court in any ball sport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02920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Prompt Guard 2 screens the reviews; Glimmer judges four courts at once, citing its sources.</a:t>
            </a:r>
            <a:endParaRPr lang="en-US" sz="12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69480" y="1737360"/>
            <a:ext cx="2103120" cy="1316736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269480" y="1737360"/>
            <a:ext cx="2103120" cy="1316736"/>
          </a:xfrm>
          <a:prstGeom prst="rect">
            <a:avLst/>
          </a:prstGeom>
          <a:ln w="12700">
            <a:solidFill>
              <a:srgbClr val="DCDCE0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269480" y="3246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THURSDAY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726948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Your highlight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26948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DETR, Sapiens2 and SAM 2.1 find your moment; MapAnything turns the camera round it.</a:t>
            </a:r>
            <a:endParaRPr lang="en-US" sz="12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09760" y="1737360"/>
            <a:ext cx="2103120" cy="13167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509760" y="1737360"/>
            <a:ext cx="2103120" cy="1316736"/>
          </a:xfrm>
          <a:prstGeom prst="rect">
            <a:avLst/>
          </a:prstGeom>
          <a:ln w="12700">
            <a:solidFill>
              <a:srgbClr val="DCDCE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9509760" y="3246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AFTER THE GAME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9509760" y="35204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A scoreboard photo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9509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Glimmer reads 21–17, 19–21, 21–15; code checks it against the rules; your ranking moves.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05856"/>
            <a:ext cx="347472" cy="34747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61872" y="55321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All of it also works from Messenger: "Line up my week" → On it → Lined up [Book it] → Booked. Real replies from the end-to-end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USE OF META AI · 25%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Ten Meta models and two Meta products, each with a job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1764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7F44"/>
                </a:solidFill>
              </a:rPr>
              <a:t>REASONING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19933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Muse Glimmer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3042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Every agent: the tool loop, members' decisions, photos, courts, captions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73405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RTX 3090 · Ollama · 4 in parallel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46704" y="164592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11296" y="1764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7F44"/>
                </a:solidFill>
              </a:rPr>
              <a:t>REASONING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3511296" y="19933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Llama 3.2 1B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11296" y="23042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Distilled from Glimmer; answers 54–67% of members' decisions when sure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511296" y="273405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CPU · simulated club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44768" y="164592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BEAE9"/>
          </a:solidFill>
          <a:ln w="12700">
            <a:solidFill>
              <a:srgbClr val="FBEAE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09360" y="1764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1352B"/>
                </a:solidFill>
              </a:rPr>
              <a:t>SAFETY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19933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Llama Guard 3 1B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3042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What you write, what a model writes, every idea shared with the club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73405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CPU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942832" y="164592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BEAE9"/>
          </a:solidFill>
          <a:ln w="12700">
            <a:solidFill>
              <a:srgbClr val="FBEAE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07424" y="1764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1352B"/>
                </a:solidFill>
              </a:rPr>
              <a:t>SAFETY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107424" y="19933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Prompt Guard 2 86M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07424" y="23042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Google reviews before the court judge reads them; shared ideas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107424" y="273405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CPU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8640" y="310896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" y="3227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MEMORY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34564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DRAMA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Memory by meaning for the Autopilot; groups the club's ideas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13232" y="41970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CPU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346704" y="310896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11296" y="3227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VOICE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511296" y="34564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Omnilingual ASR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3511296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Voice notes in Messenger to text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511296" y="41970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CPU · CTC 1B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144768" y="310896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09360" y="3227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VISION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6309360" y="34564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DETR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309360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Finds the people in your video, so the reel follows you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41970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GPU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8942832" y="310896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07424" y="3227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VISION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9107424" y="345643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Sapiens2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9107424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Every player's pose on every frame; finds the moment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9107424" y="41970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GPU · 0.4B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48640" y="457200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13232" y="46908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VISION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713232" y="491947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SAM 2.1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713232" y="5230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Cuts each player out for the spotlight and the drawn view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" y="566013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GPU · Hiera-L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3346704" y="457200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11296" y="46908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3D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3511296" y="491947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MapAnything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511296" y="5230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Depth and the camera for the orbit camera effect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3511296" y="566013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GPU · optional effect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6144768" y="457200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09360" y="46908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PRODUCT</a:t>
            </a:r>
            <a:endParaRPr lang="en-US" sz="1000" dirty="0"/>
          </a:p>
        </p:txBody>
      </p:sp>
      <p:pic>
        <p:nvPicPr>
          <p:cNvPr id="5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36" y="4681728"/>
            <a:ext cx="256032" cy="256032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6309360" y="491947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Messenger Platform</a:t>
            </a:r>
            <a:endParaRPr lang="en-US" sz="1500" dirty="0"/>
          </a:p>
        </p:txBody>
      </p:sp>
      <p:sp>
        <p:nvSpPr>
          <p:cNvPr id="59" name="Text 55"/>
          <p:cNvSpPr txBox="1"/>
          <p:nvPr/>
        </p:nvSpPr>
        <p:spPr>
          <a:xfrm>
            <a:off x="6309360" y="5230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Your agent in your chats: plans, a tap to approve, check-ins</a:t>
            </a:r>
            <a:endParaRPr lang="en-US" sz="1050" dirty="0"/>
          </a:p>
        </p:txBody>
      </p:sp>
      <p:sp>
        <p:nvSpPr>
          <p:cNvPr id="60" name="Text 56"/>
          <p:cNvSpPr txBox="1"/>
          <p:nvPr/>
        </p:nvSpPr>
        <p:spPr>
          <a:xfrm>
            <a:off x="6309360" y="566013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Signed webhook · Send API</a:t>
            </a:r>
            <a:endParaRPr lang="en-US" sz="1000" dirty="0"/>
          </a:p>
        </p:txBody>
      </p:sp>
      <p:sp>
        <p:nvSpPr>
          <p:cNvPr id="61" name="Shape 57"/>
          <p:cNvSpPr/>
          <p:nvPr/>
        </p:nvSpPr>
        <p:spPr>
          <a:xfrm>
            <a:off x="8942832" y="4572000"/>
            <a:ext cx="2670048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9107424" y="46908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4E0"/>
                </a:solidFill>
              </a:rPr>
              <a:t>PRODUCT</a:t>
            </a:r>
            <a:endParaRPr lang="en-US" sz="1000" dirty="0"/>
          </a:p>
        </p:txBody>
      </p:sp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681728"/>
            <a:ext cx="256032" cy="256032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9107424" y="491947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Instagram · Facebook</a:t>
            </a:r>
            <a:endParaRPr lang="en-US" sz="1500" dirty="0"/>
          </a:p>
        </p:txBody>
      </p:sp>
      <p:sp>
        <p:nvSpPr>
          <p:cNvPr id="65" name="Text 60"/>
          <p:cNvSpPr txBox="1"/>
          <p:nvPr/>
        </p:nvSpPr>
        <p:spPr>
          <a:xfrm>
            <a:off x="9107424" y="5230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A0A0B"/>
                </a:solidFill>
              </a:rPr>
              <a:t>Your reel and its caption, shared by you</a:t>
            </a:r>
            <a:endParaRPr lang="en-US" sz="1050" dirty="0"/>
          </a:p>
        </p:txBody>
      </p:sp>
      <p:sp>
        <p:nvSpPr>
          <p:cNvPr id="66" name="Text 61"/>
          <p:cNvSpPr txBox="1"/>
          <p:nvPr/>
        </p:nvSpPr>
        <p:spPr>
          <a:xfrm>
            <a:off x="9107424" y="566013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The phone's share sheet</a:t>
            </a:r>
            <a:endParaRPr lang="en-US" sz="1000" dirty="0"/>
          </a:p>
        </p:txBody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089904"/>
            <a:ext cx="274320" cy="274320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914400" y="6089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All ten models are open weights, on hardware I own. Every agent follows Meta's Agents Rule of Two.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AN AGENT, NOT A CHATBOT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Glimmer plans, agents agree, code decides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34924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74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B"/>
                </a:solidFill>
              </a:rPr>
              <a:t>Autopilot · a tool loop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55C"/>
                </a:solidFill>
              </a:rPr>
              <a:t>Muse Glimmer picks the next tool; code runs it with checked arguments and hands back the facts.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29718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9718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get_week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20824" y="29718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20824" y="29718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check_body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29718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64408" y="29718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find_partners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07992" y="29718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7992" y="29718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find_places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7240" y="34290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negotiate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020824" y="34290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20824" y="34290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request_approval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264408" y="34290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64408" y="34290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nudge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07992" y="342900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07992" y="342900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finish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0690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12 steps at most; rules finish the week if it stalls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A refused call (a day outside the week, a member who isn't free) comes back as a fact, and it re-plans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Replies in JSON Schemas, checked again in code; a reply that never fits is no answer, never a yes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172200" y="169164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B"/>
                </a:solidFill>
              </a:rPr>
              <a:t>Agent to agent · A2A v1.0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55C"/>
                </a:solidFill>
              </a:rPr>
              <a:t>On the official SDK. One negotiation is one A2A context, and one trace.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0A0B"/>
                </a:solidFill>
              </a:rPr>
              <a:t>Signed Agent Cards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29260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Ed25519, checked before your agent talks to it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4930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0A0B"/>
                </a:solidFill>
              </a:rPr>
              <a:t>One round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349300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Each agent marks the times that work; code picks from the overlap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5993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0A0B"/>
                </a:solidFill>
              </a:rPr>
              <a:t>Held, all or nothing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0599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A 30-minute hold, so two talks never agree the same member twice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400800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0A0B"/>
                </a:solidFill>
              </a:rPr>
              <a:t>Survives a crash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321040" y="462686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Killed at each of five steps: booked exactly once every time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00800" y="5257800"/>
            <a:ext cx="4983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83680" y="5257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4E0"/>
                </a:solidFill>
              </a:rPr>
              <a:t>22 / 22</a:t>
            </a:r>
            <a:endParaRPr lang="en-US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8092440" y="5257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checks across two machines: my GPU server in Taipei and a gateway on a cloud A100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HIGHLIGHTS · FOUR META VISION MODELS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Your phone clip becomes your moment, on my GPU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1810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E0"/>
                </a:solidFill>
              </a:rPr>
              <a:t>DETR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finds the players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578608" y="2258568"/>
            <a:ext cx="19202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788920" y="16916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953512" y="1810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E0"/>
                </a:solidFill>
              </a:rPr>
              <a:t>Sapiens2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953512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reads the pose, finds the fastest swing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818888" y="2258568"/>
            <a:ext cx="19202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029200" y="16916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93792" y="1810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E0"/>
                </a:solidFill>
              </a:rPr>
              <a:t>SAM 2.1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193792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cuts you out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59168" y="2258568"/>
            <a:ext cx="19202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269480" y="16916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34072" y="1810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E0"/>
                </a:solidFill>
              </a:rPr>
              <a:t>MapAnything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434072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depth and camera: time stops, the camera turns 20°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299448" y="2258568"/>
            <a:ext cx="19202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509760" y="16916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674352" y="1810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7F44"/>
                </a:solidFill>
              </a:rPr>
              <a:t>Muse Glimmer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74352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writes the caption, checked by code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08960"/>
            <a:ext cx="5394960" cy="303580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6181344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A CC BY 3.0 clip from Wikimedia Commons, as filmed</a:t>
            </a:r>
            <a:endParaRPr lang="en-US" sz="10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108960"/>
            <a:ext cx="5440680" cy="152704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172200" y="4663440"/>
            <a:ext cx="5440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SAM 2.1 cut-out and MapAnything depth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172200" y="502920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355080" y="5138928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Any ball sport; batched, bf16, about 0.3 s a frame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The orbit is an optional camera effect in the app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A0A0B"/>
                </a:solidFill>
              </a:rPr>
              <a:t>Your video is read on the server and nowhere else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TECHNICAL DEPTH · 20%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What running Muse Glimmer taught me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B"/>
                </a:solidFill>
              </a:rPr>
              <a:t>2,755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91640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calls logged in the evaluations' ledgers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9748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7F44"/>
                </a:solidFill>
              </a:rPr>
              <a:t>84%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697480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of the tokens it wrote were reasoning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70332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0332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1352B"/>
                </a:solidFill>
              </a:rPr>
              <a:t>9%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3703320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B"/>
                </a:solidFill>
              </a:rPr>
              <a:t>came back empty: a small budget ran out mid-thought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7548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892040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A0A0B"/>
                </a:solidFill>
              </a:rPr>
              <a:t>Thinking switched off? It still reasoned in a hidden channel. </a:t>
            </a:r>
            <a:pPr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So every call asks for think: "low" and leaves room to think.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93776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A7F44"/>
                </a:solidFill>
              </a:rPr>
              <a:t>WHO DECIDES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937760" y="2057400"/>
            <a:ext cx="667512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38928" y="2194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FIRST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138928" y="24414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Code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13892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55C"/>
                </a:solidFill>
              </a:rPr>
              <a:t>Every fact and every hard rule: free times, trips, limits. No model call when the facts decide.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275320" y="3273552"/>
            <a:ext cx="0" cy="146304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937760" y="3429000"/>
            <a:ext cx="6675120" cy="1207008"/>
          </a:xfrm>
          <a:prstGeom prst="roundRect">
            <a:avLst>
              <a:gd name="adj" fmla="val 9091"/>
            </a:avLst>
          </a:prstGeom>
          <a:solidFill>
            <a:srgbClr val="E9F3EC"/>
          </a:solidFill>
          <a:ln w="25400">
            <a:solidFill>
              <a:srgbClr val="0A7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8928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THEN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38928" y="3813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Llama 3.2 1B, distilled from Glimmer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138928" y="4160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55C"/>
                </a:solidFill>
              </a:rPr>
              <a:t>On the CPU. Answers only when sure, and only from times that keep every rule.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955548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A7F44"/>
                </a:solidFill>
              </a:rPr>
              <a:t>54–67%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4114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of members' answers, no rule broken (simulated club)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275320" y="4645152"/>
            <a:ext cx="0" cy="146304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937760" y="4800600"/>
            <a:ext cx="667512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138928" y="4937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ONLY IF NEEDED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138928" y="5184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Muse Glimmer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5138928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55C"/>
                </a:solidFill>
              </a:rPr>
              <a:t>The real choices: planning the week, judging courts, reading photos, writing.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4937760" y="6126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A92"/>
                </a:solidFill>
              </a:rPr>
              <a:t>submission/results/glimmer_in_practice.json · technical report 3.12, 5.10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SAFE BY DESIGN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No agent holds all three at once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2286000" cy="2286000"/>
          </a:xfrm>
          <a:prstGeom prst="ellipse">
            <a:avLst/>
          </a:prstGeom>
          <a:solidFill>
            <a:srgbClr val="FBEAE9">
              <a:alpha val="65000"/>
            </a:srgbClr>
          </a:solidFill>
          <a:ln w="25400">
            <a:solidFill>
              <a:srgbClr val="D1352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606040" y="1737360"/>
            <a:ext cx="2286000" cy="2286000"/>
          </a:xfrm>
          <a:prstGeom prst="ellipse">
            <a:avLst/>
          </a:prstGeom>
          <a:solidFill>
            <a:srgbClr val="E8F1FD">
              <a:alpha val="65000"/>
            </a:srgbClr>
          </a:solidFill>
          <a:ln w="25400">
            <a:solidFill>
              <a:srgbClr val="0064E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19072" y="3246120"/>
            <a:ext cx="2286000" cy="2286000"/>
          </a:xfrm>
          <a:prstGeom prst="ellipse">
            <a:avLst/>
          </a:prstGeom>
          <a:solidFill>
            <a:srgbClr val="E9F3EC">
              <a:alpha val="65000"/>
            </a:srgbClr>
          </a:solidFill>
          <a:ln w="25400">
            <a:solidFill>
              <a:srgbClr val="0A7F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2331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Untrusted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input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2331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Private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data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221992" y="4617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The power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to act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2032" y="2971800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135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42032" y="29718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1352B"/>
                </a:solidFill>
              </a:rPr>
              <a:t>×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715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Meta's Agents Rule of Two, on every agent: the Autopilot, members' agents, the photo reader and the community loop.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B"/>
                </a:solidFill>
              </a:rPr>
              <a:t>A disclosure budget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21031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55C"/>
                </a:solidFill>
              </a:rPr>
              <a:t>An agent that keeps asking for games can map out your week. How many of your weekdays it pins down exactly:</a:t>
            </a:r>
            <a:endParaRPr lang="en-US" sz="12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080760" y="2697480"/>
          <a:ext cx="557784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3"/>
          <p:cNvSpPr/>
          <p:nvPr/>
        </p:nvSpPr>
        <p:spPr>
          <a:xfrm>
            <a:off x="6172200" y="45537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45537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555C"/>
                </a:solidFill>
              </a:rPr>
              <a:t>Simulated prober · technical report 3.13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172200" y="507492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507492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7F44"/>
                </a:solidFill>
              </a:rPr>
              <a:t>65 / 65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8092440" y="507492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B"/>
                </a:solidFill>
              </a:rPr>
              <a:t>attacks stopped: injected instructions, poisoned reviews, forged Agent Cards, sock-puppet votes, diffs that book without a yes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SELF-EVOLVING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The club makes itself better, safely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0" y="384048"/>
            <a:ext cx="5212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3840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555C"/>
                </a:solidFill>
              </a:rPr>
              <a:t>Simulated club (seed 7) · the pipeline, gates and rollback are real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28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1 · ASK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08483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Members' ideas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6517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"/idea" in Messenger, or thumbs up and down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624328" y="2487168"/>
            <a:ext cx="14630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53512" y="1828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2 · GROUP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08483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Meta's DRAMA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53512" y="26517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Groups ideas by meaning; an idea shows at 5 members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64608" y="2487168"/>
            <a:ext cx="14630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2920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93792" y="1828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3 · VOTE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193792" y="208483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Quadratic votes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193792" y="26517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9 credits a month; n votes cost n²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104888" y="2487168"/>
            <a:ext cx="14630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26948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34072" y="1828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4 · SPEC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08483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Muse Glimmer drafts it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434072" y="26517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A person approves the spec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9345168" y="2487168"/>
            <a:ext cx="146304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50976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74352" y="1828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5 · BUILD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674352" y="208483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</a:rPr>
              <a:t>A coding agent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674352" y="26517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55C"/>
                </a:solidFill>
              </a:rPr>
              <a:t>On its own branch; it never reads community text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8640" y="3566160"/>
            <a:ext cx="6949440" cy="1783080"/>
          </a:xfrm>
          <a:prstGeom prst="roundRect">
            <a:avLst>
              <a:gd name="adj" fmla="val 6154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9808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A7F44"/>
                </a:solidFill>
              </a:rPr>
              <a:t>6 · NINE GATES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39502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Stops at the first failure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49808" y="44348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9808" y="44348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policy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2093976" y="44348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93976" y="44348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code scan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438144" y="44348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38144" y="44348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unit tests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782312" y="44348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782312" y="44348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crash matrix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126480" y="443484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26480" y="443484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red team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749808" y="4855464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49808" y="485546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Messenger end to end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2093976" y="4855464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93976" y="485546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Autopilot pass^3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3438144" y="4855464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3438144" y="485546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oracle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782312" y="4855464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782312" y="485546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44"/>
                </a:solidFill>
              </a:rPr>
              <a:t>privacy canary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543800" y="4453128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7863840" y="3566160"/>
            <a:ext cx="37490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1352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65008" y="37033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1352B"/>
                </a:solidFill>
              </a:rPr>
              <a:t>7 · SHIP, OR ROLL BACK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065008" y="39502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B"/>
                </a:solidFill>
              </a:rPr>
              <a:t>A small canary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8065008" y="437083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Turns itself off if thumbs down rise. Anything beyond a safe setting waits for a person.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0A0A0B"/>
          </a:solidFill>
          <a:ln w="12700">
            <a:solidFill>
              <a:srgbClr val="0A0A0B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77240" y="55778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NEVER-LIST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2240280" y="557784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Booking without a yes · data off the server · a diagnosis or a dose · the guards · the tests · A2A · deployment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MEASURED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Every claim has a log behind it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2670048" cy="1234440"/>
          </a:xfrm>
          <a:prstGeom prst="roundRect">
            <a:avLst>
              <a:gd name="adj" fmla="val 8889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7F44"/>
                </a:solidFill>
              </a:rPr>
              <a:t>65/65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attacks stopped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46704" y="1691640"/>
            <a:ext cx="2670048" cy="1234440"/>
          </a:xfrm>
          <a:prstGeom prst="roundRect">
            <a:avLst>
              <a:gd name="adj" fmla="val 8889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47872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0A0B"/>
                </a:solidFill>
              </a:rPr>
              <a:t>52/52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Messenger end-to-end checks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44768" y="1691640"/>
            <a:ext cx="2670048" cy="1234440"/>
          </a:xfrm>
          <a:prstGeom prst="roundRect">
            <a:avLst>
              <a:gd name="adj" fmla="val 8889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45936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0A0B"/>
                </a:solidFill>
              </a:rPr>
              <a:t>22/22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345936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A2A checks across two machines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2832" y="1691640"/>
            <a:ext cx="2670048" cy="1234440"/>
          </a:xfrm>
          <a:prstGeom prst="roundRect">
            <a:avLst>
              <a:gd name="adj" fmla="val 8889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0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0A0B"/>
                </a:solidFill>
              </a:rPr>
              <a:t>20/20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C"/>
                </a:solidFill>
              </a:rPr>
              <a:t>crash-matrix checks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3291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555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Suite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555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555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Where it ran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npm test, seventeen offline suites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239 of 240, 1 skipped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model, no GPU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Messenger end to end (test/e2e.mjs)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52 of 52 checks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Muse Glimmer on a cloud A100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Attacks (test/redteam.mjs)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65 of 65 stopped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cloud A100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Community loop's attacks, within the 65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 of 29 stopped, 5 of 5 controls passed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server's CPU, with the real guards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A2A between two gateways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 of 22 checks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Taipei GPU server and a GCP A100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Crash matrix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 of 20 checks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stand-in model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"I want to play" in Messenger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of 13 checks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A0A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Muse Glimmer on a cloud A100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A7F44"/>
                </a:solidFill>
              </a:rPr>
              <a:t>FULL TECHNICAL ARCHITECTURE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0A0B"/>
                </a:solidFill>
              </a:rPr>
              <a:t>Everything runs on one GPU server I own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14813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YOU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11480" y="1755648"/>
            <a:ext cx="205740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47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Serve app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396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React · phone to desktop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87168" y="214884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11480" y="2670048"/>
            <a:ext cx="2057400" cy="786384"/>
          </a:xfrm>
          <a:prstGeom prst="roundRect">
            <a:avLst>
              <a:gd name="adj" fmla="val 13953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Messenger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0540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your agent in your chats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487168" y="306324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11480" y="3584448"/>
            <a:ext cx="205740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Health export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9684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Apple Health, Google Fit, GPX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487168" y="397764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11480" y="4498848"/>
            <a:ext cx="205740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590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Your video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82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any ball sport, from a phone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487168" y="489204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11480" y="5413248"/>
            <a:ext cx="2057400" cy="786384"/>
          </a:xfrm>
          <a:prstGeom prst="roundRect">
            <a:avLst>
              <a:gd name="adj" fmla="val 13953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504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0A0B"/>
                </a:solidFill>
              </a:rPr>
              <a:t>Instagram · Facebook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7972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C"/>
                </a:solidFill>
              </a:rPr>
              <a:t>your reel, shared by you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 flipH="1">
            <a:off x="2487168" y="580644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816352" y="1463040"/>
            <a:ext cx="5916168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2700">
            <a:solidFill>
              <a:srgbClr val="8A8A92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2999232" y="15361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SERVE GATEWAY · NODE.JS · STREAMS EACH STEP TO THE APP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999232" y="182880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7248" y="189280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Autopilot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3127248" y="21488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tool loop · native tool calling · 12 steps max · rules finish if it stalls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833872" y="182880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961888" y="189280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Agent to agent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5961888" y="21488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A2A v1.0 · signed Agent Cards · one round · held times · checkpoints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999232" y="265176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127248" y="271576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Body log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3127248" y="29718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what hurts, by a tool call · health app linked to games · check-ins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833872" y="265176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961888" y="271576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Courts near you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961888" y="29718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map, reviews, forecast · 4 judged at once · reasons cited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999232" y="347472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127248" y="353872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Club and Play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3127248" y="37947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scoreboard photo · leaderboard · challenges · best match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833872" y="347472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961888" y="353872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Highlights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5961888" y="37947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find you, read your pose, cut you out · orbit effect · caption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2999232" y="429768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3127248" y="436168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Community loop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3127248" y="46177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ideas · DRAMA · votes · spec · coding agent · 9 gates · canary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833872" y="4297680"/>
            <a:ext cx="2724912" cy="73152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F6F7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961888" y="436168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0A0B"/>
                </a:solidFill>
              </a:rPr>
              <a:t>Decision tiers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5961888" y="46177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code first · Llama 3.2 1B when sure · Muse Glimmer if needed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2999232" y="5138928"/>
            <a:ext cx="5559552" cy="749808"/>
          </a:xfrm>
          <a:prstGeom prst="roundRect">
            <a:avLst>
              <a:gd name="adj" fmla="val 14634"/>
            </a:avLst>
          </a:prstGeom>
          <a:solidFill>
            <a:srgbClr val="FBF3E6"/>
          </a:solidFill>
          <a:ln w="12700">
            <a:solidFill>
              <a:srgbClr val="FBF3E6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27248" y="5193792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26A00"/>
                </a:solidFill>
              </a:rPr>
              <a:t>Checked by code before anyone sees it</a:t>
            </a:r>
            <a:endParaRPr lang="en-US" sz="1150" dirty="0"/>
          </a:p>
        </p:txBody>
      </p:sp>
      <p:sp>
        <p:nvSpPr>
          <p:cNvPr id="54" name="Text 51"/>
          <p:cNvSpPr txBox="1"/>
          <p:nvPr/>
        </p:nvSpPr>
        <p:spPr>
          <a:xfrm>
            <a:off x="3127248" y="5449824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0A0B"/>
                </a:solidFill>
              </a:rPr>
              <a:t>Llama Guard 3 in and out · Prompt Guard 2 on reviews and ideas · numbers must be in the facts · JSON Schemas · facts, not prose, between agents · nothing booked without a yes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2999232" y="596188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Token ledger per call site · OpenTelemetry GenAI traces across agents · disclosure budget · tokens on every API call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8750808" y="2468880"/>
            <a:ext cx="274320" cy="0"/>
          </a:xfrm>
          <a:prstGeom prst="line">
            <a:avLst/>
          </a:prstGeom>
          <a:noFill/>
          <a:ln w="22225">
            <a:solidFill>
              <a:srgbClr val="0A7F44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8750808" y="3794760"/>
            <a:ext cx="274320" cy="0"/>
          </a:xfrm>
          <a:prstGeom prst="line">
            <a:avLst/>
          </a:prstGeom>
          <a:noFill/>
          <a:ln w="22225">
            <a:solidFill>
              <a:srgbClr val="0064E0"/>
            </a:solidFill>
            <a:prstDash val="solid"/>
            <a:tailEnd type="triangle"/>
          </a:ln>
        </p:spPr>
      </p:sp>
      <p:sp>
        <p:nvSpPr>
          <p:cNvPr id="58" name="Text 55"/>
          <p:cNvSpPr txBox="1"/>
          <p:nvPr/>
        </p:nvSpPr>
        <p:spPr>
          <a:xfrm>
            <a:off x="9070848" y="1481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META MODELS ON MY SERVER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9070848" y="1755648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E9F3EC"/>
          </a:solidFill>
          <a:ln w="12700">
            <a:solidFill>
              <a:srgbClr val="E9F3E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198864" y="1828800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7F44"/>
                </a:solidFill>
              </a:rPr>
              <a:t>Muse Glimmer</a:t>
            </a:r>
            <a:endParaRPr lang="en-US" sz="1150" dirty="0"/>
          </a:p>
        </p:txBody>
      </p:sp>
      <p:sp>
        <p:nvSpPr>
          <p:cNvPr id="61" name="Text 58"/>
          <p:cNvSpPr txBox="1"/>
          <p:nvPr/>
        </p:nvSpPr>
        <p:spPr>
          <a:xfrm>
            <a:off x="9198864" y="208483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0A0B"/>
                </a:solidFill>
              </a:rPr>
              <a:t>GPU 1 · RTX 3090 · Ollama · 4 requests in parallel · tools, JSON Schemas, vision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9070848" y="2779776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198864" y="285292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64E0"/>
                </a:solidFill>
              </a:rPr>
              <a:t>Vision · GPU 0</a:t>
            </a:r>
            <a:endParaRPr lang="en-US" sz="1150" dirty="0"/>
          </a:p>
        </p:txBody>
      </p:sp>
      <p:sp>
        <p:nvSpPr>
          <p:cNvPr id="64" name="Text 61"/>
          <p:cNvSpPr txBox="1"/>
          <p:nvPr/>
        </p:nvSpPr>
        <p:spPr>
          <a:xfrm>
            <a:off x="9198864" y="310896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0A0B"/>
                </a:solidFill>
              </a:rPr>
              <a:t>DETR · Sapiens2 · SAM 2.1 (batched, bf16) · MapAnything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9070848" y="3666744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9198864" y="37398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64E0"/>
                </a:solidFill>
              </a:rPr>
              <a:t>On the CPU</a:t>
            </a:r>
            <a:endParaRPr lang="en-US" sz="1150" dirty="0"/>
          </a:p>
        </p:txBody>
      </p:sp>
      <p:sp>
        <p:nvSpPr>
          <p:cNvPr id="67" name="Text 64"/>
          <p:cNvSpPr txBox="1"/>
          <p:nvPr/>
        </p:nvSpPr>
        <p:spPr>
          <a:xfrm>
            <a:off x="9198864" y="3995928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0A0B"/>
                </a:solidFill>
              </a:rPr>
              <a:t>Llama 3.2 1B student · Llama Guard 3 1B · Prompt Guard 2 86M · DRAMA · Omnilingual ASR</a:t>
            </a:r>
            <a:endParaRPr lang="en-US" sz="950" dirty="0"/>
          </a:p>
        </p:txBody>
      </p:sp>
      <p:sp>
        <p:nvSpPr>
          <p:cNvPr id="68" name="Text 65"/>
          <p:cNvSpPr txBox="1"/>
          <p:nvPr/>
        </p:nvSpPr>
        <p:spPr>
          <a:xfrm>
            <a:off x="9070848" y="47457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5555C"/>
                </a:solidFill>
              </a:rPr>
              <a:t>OPEN DATA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9070848" y="5020056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198864" y="50200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B"/>
                </a:solidFill>
              </a:rPr>
              <a:t>OpenStreetMap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10515600" y="5020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courts, maps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9070848" y="5477256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198864" y="5477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B"/>
                </a:solidFill>
              </a:rPr>
              <a:t>Open-Meteo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10515600" y="54772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the forecast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9070848" y="5934456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198864" y="59344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B"/>
                </a:solidFill>
              </a:rPr>
              <a:t>Google Places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10515600" y="59344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555C"/>
                </a:solidFill>
              </a:rPr>
              <a:t>reviews, keyed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8750808" y="5440680"/>
            <a:ext cx="274320" cy="0"/>
          </a:xfrm>
          <a:prstGeom prst="line">
            <a:avLst/>
          </a:prstGeom>
          <a:noFill/>
          <a:ln w="22225">
            <a:solidFill>
              <a:srgbClr val="8A8A9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1430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257800" y="10972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A0A0B"/>
                </a:solidFill>
              </a:rPr>
              <a:t>serve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51460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Play more. </a:t>
            </a:r>
            <a:pPr algn="ctr" indent="0" marL="0">
              <a:buNone/>
            </a:pPr>
            <a:r>
              <a:rPr lang="en-US" sz="4000" b="1" dirty="0">
                <a:solidFill>
                  <a:srgbClr val="0A7F44"/>
                </a:solidFill>
              </a:rPr>
              <a:t>Manage less.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2918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555C"/>
                </a:solidFill>
              </a:rPr>
              <a:t>The agent that gets you playing, in any ball sport.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325880" y="406908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258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Your week, agreed agent to agent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80560" y="406908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80560" y="4069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Your agent in Messenger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269480" y="4069080"/>
            <a:ext cx="36118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C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69480" y="40690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Highlights to Instagram and Facebook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9377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B"/>
                </a:solidFill>
              </a:rPr>
              <a:t>Built during the Meta Global AI Developer Hackathon, Oct 27 – Nov 4, 2026: everything except the TrackNetV5 library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5285232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4E0"/>
                </a:solidFill>
              </a:rPr>
              <a:t>github.com/gino6178/serve-meta-hackathon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6035040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346704" y="60350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C"/>
                </a:solidFill>
              </a:rPr>
              <a:t>Built on Muse Glimmer, Meta's open-weights model, on hardware you own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 · Meta Global AI Developer Hackathon 2026</dc:title>
  <dc:subject>PptxGenJS Presentation</dc:subject>
  <dc:creator>gino6178</dc:creator>
  <cp:lastModifiedBy>gino6178</cp:lastModifiedBy>
  <cp:revision>1</cp:revision>
  <dcterms:created xsi:type="dcterms:W3CDTF">2026-10-28T23:54:11Z</dcterms:created>
  <dcterms:modified xsi:type="dcterms:W3CDTF">2026-10-28T23:54:11Z</dcterms:modified>
</cp:coreProperties>
</file>