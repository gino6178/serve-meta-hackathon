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5235994-8f3a-0696-c72b-eca16749e301}">
          <p14:sldIdLst>
            <p14:sldId id="256"/>
            <p14:sldId id="257"/>
          </p14:sldIdLst>
        </p14:section>
        <p14:section name="Impact" id="{5b07bfd6-3858-db31-59fb-78d2623de44a}">
          <p14:sldIdLst>
            <p14:sldId id="258"/>
            <p14:sldId id="259"/>
          </p14:sldIdLst>
        </p14:section>
        <p14:section name="Demo" id="{0aa71185-b0cb-d90d-2242-7fdf98be28f1}">
          <p14:sldIdLst>
            <p14:sldId id="260"/>
            <p14:sldId id="261"/>
            <p14:sldId id="262"/>
          </p14:sldIdLst>
        </p14:section>
        <p14:section name="Use of Meta AI" id="{c3bc9d30-2177-a499-c62f-a76a6d3bb875}">
          <p14:sldIdLst>
            <p14:sldId id="263"/>
            <p14:sldId id="264"/>
            <p14:sldId id="265"/>
            <p14:sldId id="266"/>
          </p14:sldIdLst>
        </p14:section>
        <p14:section name="Technical depth" id="{e8f487c2-9bf9-af72-ada1-04bfb81967bd}">
          <p14:sldIdLst>
            <p14:sldId id="267"/>
            <p14:sldId id="268"/>
            <p14:sldId id="269"/>
            <p14:sldId id="270"/>
            <p14:sldId id="271"/>
          </p14:sldIdLst>
        </p14:section>
        <p14:section name="Architecture" id="{d2e779df-8f1d-df80-4304-807396f542ae}">
          <p14:sldIdLst>
            <p14:sldId id="272"/>
          </p14:sldIdLst>
        </p14:section>
        <p14:section name="Close" id="{0c2bea47-edf3-3e29-a258-06209a04602c}">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的封面：Play more. Manage less.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用 Facebook 或 Instagram 加入（OAuth 在伺服器上完成，只存帳號 id 的雜湊；目前 demo 用 demo 帳號，因為還沒設定 Meta app）。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Autopilot：Muse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旁白：Autopilot takes over…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Glimmer 的帳本：記錄 2,755 次呼叫，84% 的 token 是推理；就算關掉 thinking，它還是在隱藏通道推理，預算不夠時 9% 回空白。所以每次呼叫用 think:"low" 並留推理空間。再來是三層決策：能用程式就用程式 → 1B 學生模型有把握才答（54–67%）→ 真的需要才叫 Glimmer。
旁白：Logging 2,755 calls, I found that 84% of Glimmer's tokens are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兩張實驗圖（技術報告裡的）：
左：把整個社團塞進 prompt，token 隨人數線性成長；Serve 先用程式篩選候選人，每次呼叫的 token 幾乎不變。
右：一個會員的決策，每一層的成本 vs. 和完整答案一致的比例：程式 → Llama 3.2 1B → Muse Glimmer（FrugalGPT 式分層）。
這頁讓評審三秒看出工程上有量測。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小規模上線，倒讚變多就自己關掉。永遠不能改的清單。這段是模擬社團（seed 7），但管線、關卡和回滾是真的。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Autopilot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with Facebook or Instagram</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73736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48256"/>
            <a:ext cx="3611880" cy="731520"/>
          </a:xfrm>
          <a:prstGeom prst="rect">
            <a:avLst/>
          </a:prstGeom>
          <a:noFill/>
          <a:ln/>
        </p:spPr>
        <p:txBody>
          <a:bodyPr wrap="square" lIns="0" tIns="0" rIns="0" bIns="0" rtlCol="0" anchor="t"/>
          <a:lstStyle/>
          <a:p>
            <a:pPr indent="0" marL="0">
              <a:buNone/>
            </a:pPr>
            <a:r>
              <a:rPr lang="en-US" sz="1200" dirty="0">
                <a:solidFill>
                  <a:srgbClr val="55555C"/>
                </a:solidFill>
              </a:rPr>
              <a:t>Facebook Login and Instagram Login, on the server. Serve keeps a name, a picture and a hash of the id; never a token.</a:t>
            </a:r>
            <a:endParaRPr lang="en-US" sz="120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731520"/>
          </a:xfrm>
          <a:prstGeom prst="rect">
            <a:avLst/>
          </a:prstGeom>
          <a:noFill/>
          <a:ln/>
        </p:spPr>
        <p:txBody>
          <a:bodyPr wrap="square" lIns="0" tIns="0" rIns="0" bIns="0" rtlCol="0" anchor="t"/>
          <a:lstStyle/>
          <a:p>
            <a:pPr indent="0" marL="0">
              <a:buNone/>
            </a:pPr>
            <a:r>
              <a:rPr lang="en-US" sz="1200" dirty="0">
                <a:solidFill>
                  <a:srgbClr val="55555C"/>
                </a:solidFill>
              </a:rPr>
              <a:t>A member's agent cuts the highlight from their own video and posts it only after their yes.</a:t>
            </a:r>
            <a:endParaRPr lang="en-US" sz="1200" dirty="0"/>
          </a:p>
        </p:txBody>
      </p:sp>
      <p:sp>
        <p:nvSpPr>
          <p:cNvPr id="18" name="Text 12"/>
          <p:cNvSpPr txBox="1"/>
          <p:nvPr/>
        </p:nvSpPr>
        <p:spPr>
          <a:xfrm>
            <a:off x="8001000" y="393192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42816"/>
            <a:ext cx="3611880" cy="731520"/>
          </a:xfrm>
          <a:prstGeom prst="rect">
            <a:avLst/>
          </a:prstGeom>
          <a:noFill/>
          <a:ln/>
        </p:spPr>
        <p:txBody>
          <a:bodyPr wrap="square" lIns="0" tIns="0" rIns="0" bIns="0" rtlCol="0" anchor="t"/>
          <a:lstStyle/>
          <a:p>
            <a:pPr indent="0" marL="0">
              <a:buNone/>
            </a:pPr>
            <a:r>
              <a:rPr lang="en-US" sz="1200" dirty="0">
                <a:solidFill>
                  <a:srgbClr val="55555C"/>
                </a:solidFill>
              </a:rPr>
              <a:t>Join with a tap. The poster's agent answers in the comments with facts made by code: who is in, spots left.</a:t>
            </a:r>
            <a:endParaRPr lang="en-US" sz="1200" dirty="0"/>
          </a:p>
        </p:txBody>
      </p:sp>
      <p:sp>
        <p:nvSpPr>
          <p:cNvPr id="20" name="Text 14"/>
          <p:cNvSpPr txBox="1"/>
          <p:nvPr/>
        </p:nvSpPr>
        <p:spPr>
          <a:xfrm>
            <a:off x="8001000" y="502920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340096"/>
            <a:ext cx="3611880" cy="731520"/>
          </a:xfrm>
          <a:prstGeom prst="rect">
            <a:avLst/>
          </a:prstGeom>
          <a:noFill/>
          <a:ln/>
        </p:spPr>
        <p:txBody>
          <a:bodyPr wrap="square" lIns="0" tIns="0" rIns="0" bIns="0" rtlCol="0" anchor="t"/>
          <a:lstStyle/>
          <a:p>
            <a:pPr indent="0" marL="0">
              <a:buNone/>
            </a:pPr>
            <a:r>
              <a:rPr lang="en-US" sz="1200" dirty="0">
                <a:solidFill>
                  <a:srgbClr val="55555C"/>
                </a:solidFill>
              </a:rPr>
              <a:t>A person, an agent and whose, and Simulated for the demo club's made-up members.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989320" cy="4471240"/>
          </a:xfrm>
          <a:prstGeom prst="rect">
            <a:avLst/>
          </a:prstGeom>
        </p:spPr>
      </p:pic>
      <p:sp>
        <p:nvSpPr>
          <p:cNvPr id="6" name="Shape 2"/>
          <p:cNvSpPr/>
          <p:nvPr/>
        </p:nvSpPr>
        <p:spPr>
          <a:xfrm>
            <a:off x="548640" y="1691640"/>
            <a:ext cx="5989320" cy="4471240"/>
          </a:xfrm>
          <a:prstGeom prst="rect">
            <a:avLst/>
          </a:prstGeom>
          <a:ln w="12700">
            <a:solidFill>
              <a:srgbClr val="DCDCE0"/>
            </a:solidFill>
            <a:prstDash val="solid"/>
          </a:ln>
        </p:spPr>
      </p:sp>
      <p:sp>
        <p:nvSpPr>
          <p:cNvPr id="7" name="Text 3"/>
          <p:cNvSpPr txBox="1"/>
          <p:nvPr/>
        </p:nvSpPr>
        <p:spPr>
          <a:xfrm>
            <a:off x="548640" y="6245352"/>
            <a:ext cx="598932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on the club map, agreed by their agents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Ten Meta models and two Meta products, each with a job</a:t>
            </a:r>
            <a:endParaRPr lang="en-US" sz="3200" dirty="0"/>
          </a:p>
        </p:txBody>
      </p:sp>
      <p:sp>
        <p:nvSpPr>
          <p:cNvPr id="5" name="Shape 2"/>
          <p:cNvSpPr/>
          <p:nvPr/>
        </p:nvSpPr>
        <p:spPr>
          <a:xfrm>
            <a:off x="548640" y="1645920"/>
            <a:ext cx="267004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713232"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13232"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Muse Glimmer</a:t>
            </a:r>
            <a:endParaRPr lang="en-US" sz="1500" dirty="0"/>
          </a:p>
        </p:txBody>
      </p:sp>
      <p:sp>
        <p:nvSpPr>
          <p:cNvPr id="8" name="Text 5"/>
          <p:cNvSpPr txBox="1"/>
          <p:nvPr/>
        </p:nvSpPr>
        <p:spPr>
          <a:xfrm>
            <a:off x="713232"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agent: the tool loop, members' decisions, photos, courts, captions</a:t>
            </a:r>
            <a:endParaRPr lang="en-US" sz="1050" dirty="0"/>
          </a:p>
        </p:txBody>
      </p:sp>
      <p:sp>
        <p:nvSpPr>
          <p:cNvPr id="9" name="Text 6"/>
          <p:cNvSpPr txBox="1"/>
          <p:nvPr/>
        </p:nvSpPr>
        <p:spPr>
          <a:xfrm>
            <a:off x="713232"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RTX 3090 · Ollama · 4 in parallel</a:t>
            </a:r>
            <a:endParaRPr lang="en-US" sz="1000" dirty="0"/>
          </a:p>
        </p:txBody>
      </p:sp>
      <p:sp>
        <p:nvSpPr>
          <p:cNvPr id="10" name="Shape 7"/>
          <p:cNvSpPr/>
          <p:nvPr/>
        </p:nvSpPr>
        <p:spPr>
          <a:xfrm>
            <a:off x="3346704" y="1645920"/>
            <a:ext cx="267004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3511296"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3511296"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3.2 1B</a:t>
            </a:r>
            <a:endParaRPr lang="en-US" sz="1500" dirty="0"/>
          </a:p>
        </p:txBody>
      </p:sp>
      <p:sp>
        <p:nvSpPr>
          <p:cNvPr id="13" name="Text 10"/>
          <p:cNvSpPr txBox="1"/>
          <p:nvPr/>
        </p:nvSpPr>
        <p:spPr>
          <a:xfrm>
            <a:off x="3511296"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Distilled from Glimmer; answers 54–67% of members' decisions when sure</a:t>
            </a:r>
            <a:endParaRPr lang="en-US" sz="1050" dirty="0"/>
          </a:p>
        </p:txBody>
      </p:sp>
      <p:sp>
        <p:nvSpPr>
          <p:cNvPr id="14" name="Text 11"/>
          <p:cNvSpPr txBox="1"/>
          <p:nvPr/>
        </p:nvSpPr>
        <p:spPr>
          <a:xfrm>
            <a:off x="3511296"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simulated club</a:t>
            </a:r>
            <a:endParaRPr lang="en-US" sz="1000" dirty="0"/>
          </a:p>
        </p:txBody>
      </p:sp>
      <p:sp>
        <p:nvSpPr>
          <p:cNvPr id="15" name="Shape 12"/>
          <p:cNvSpPr/>
          <p:nvPr/>
        </p:nvSpPr>
        <p:spPr>
          <a:xfrm>
            <a:off x="6144768" y="1645920"/>
            <a:ext cx="267004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6309360"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6309360"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Guard 3 1B</a:t>
            </a:r>
            <a:endParaRPr lang="en-US" sz="1500" dirty="0"/>
          </a:p>
        </p:txBody>
      </p:sp>
      <p:sp>
        <p:nvSpPr>
          <p:cNvPr id="18" name="Text 15"/>
          <p:cNvSpPr txBox="1"/>
          <p:nvPr/>
        </p:nvSpPr>
        <p:spPr>
          <a:xfrm>
            <a:off x="6309360"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What you write, what a model writes, every idea shared with the club</a:t>
            </a:r>
            <a:endParaRPr lang="en-US" sz="1050" dirty="0"/>
          </a:p>
        </p:txBody>
      </p:sp>
      <p:sp>
        <p:nvSpPr>
          <p:cNvPr id="19" name="Text 16"/>
          <p:cNvSpPr txBox="1"/>
          <p:nvPr/>
        </p:nvSpPr>
        <p:spPr>
          <a:xfrm>
            <a:off x="6309360"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0" name="Shape 17"/>
          <p:cNvSpPr/>
          <p:nvPr/>
        </p:nvSpPr>
        <p:spPr>
          <a:xfrm>
            <a:off x="8942832" y="1645920"/>
            <a:ext cx="267004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9107424"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9107424"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Prompt Guard 2 86M</a:t>
            </a:r>
            <a:endParaRPr lang="en-US" sz="1500" dirty="0"/>
          </a:p>
        </p:txBody>
      </p:sp>
      <p:sp>
        <p:nvSpPr>
          <p:cNvPr id="23" name="Text 20"/>
          <p:cNvSpPr txBox="1"/>
          <p:nvPr/>
        </p:nvSpPr>
        <p:spPr>
          <a:xfrm>
            <a:off x="9107424"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Google reviews before the court judge reads them; shared ideas</a:t>
            </a:r>
            <a:endParaRPr lang="en-US" sz="1050" dirty="0"/>
          </a:p>
        </p:txBody>
      </p:sp>
      <p:sp>
        <p:nvSpPr>
          <p:cNvPr id="24" name="Text 21"/>
          <p:cNvSpPr txBox="1"/>
          <p:nvPr/>
        </p:nvSpPr>
        <p:spPr>
          <a:xfrm>
            <a:off x="9107424"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5" name="Shape 22"/>
          <p:cNvSpPr/>
          <p:nvPr/>
        </p:nvSpPr>
        <p:spPr>
          <a:xfrm>
            <a:off x="548640" y="3108960"/>
            <a:ext cx="267004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713232"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MEMORY</a:t>
            </a:r>
            <a:endParaRPr lang="en-US" sz="1000" dirty="0"/>
          </a:p>
        </p:txBody>
      </p:sp>
      <p:sp>
        <p:nvSpPr>
          <p:cNvPr id="27" name="Text 24"/>
          <p:cNvSpPr txBox="1"/>
          <p:nvPr/>
        </p:nvSpPr>
        <p:spPr>
          <a:xfrm>
            <a:off x="713232"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DRAMA</a:t>
            </a:r>
            <a:endParaRPr lang="en-US" sz="1500" dirty="0"/>
          </a:p>
        </p:txBody>
      </p:sp>
      <p:sp>
        <p:nvSpPr>
          <p:cNvPr id="28" name="Text 25"/>
          <p:cNvSpPr txBox="1"/>
          <p:nvPr/>
        </p:nvSpPr>
        <p:spPr>
          <a:xfrm>
            <a:off x="713232"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what matters for your week by meaning (RAG); groups the club's ideas</a:t>
            </a:r>
            <a:endParaRPr lang="en-US" sz="1050" dirty="0"/>
          </a:p>
        </p:txBody>
      </p:sp>
      <p:sp>
        <p:nvSpPr>
          <p:cNvPr id="29" name="Text 26"/>
          <p:cNvSpPr txBox="1"/>
          <p:nvPr/>
        </p:nvSpPr>
        <p:spPr>
          <a:xfrm>
            <a:off x="713232"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30" name="Shape 27"/>
          <p:cNvSpPr/>
          <p:nvPr/>
        </p:nvSpPr>
        <p:spPr>
          <a:xfrm>
            <a:off x="3346704" y="3108960"/>
            <a:ext cx="267004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3511296"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VOICE</a:t>
            </a:r>
            <a:endParaRPr lang="en-US" sz="1000" dirty="0"/>
          </a:p>
        </p:txBody>
      </p:sp>
      <p:sp>
        <p:nvSpPr>
          <p:cNvPr id="32" name="Text 29"/>
          <p:cNvSpPr txBox="1"/>
          <p:nvPr/>
        </p:nvSpPr>
        <p:spPr>
          <a:xfrm>
            <a:off x="3511296"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Omnilingual ASR</a:t>
            </a:r>
            <a:endParaRPr lang="en-US" sz="1500" dirty="0"/>
          </a:p>
        </p:txBody>
      </p:sp>
      <p:sp>
        <p:nvSpPr>
          <p:cNvPr id="33" name="Text 30"/>
          <p:cNvSpPr txBox="1"/>
          <p:nvPr/>
        </p:nvSpPr>
        <p:spPr>
          <a:xfrm>
            <a:off x="3511296"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Voice notes in Messenger to text</a:t>
            </a:r>
            <a:endParaRPr lang="en-US" sz="1050" dirty="0"/>
          </a:p>
        </p:txBody>
      </p:sp>
      <p:sp>
        <p:nvSpPr>
          <p:cNvPr id="34" name="Text 31"/>
          <p:cNvSpPr txBox="1"/>
          <p:nvPr/>
        </p:nvSpPr>
        <p:spPr>
          <a:xfrm>
            <a:off x="3511296"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CTC 1B</a:t>
            </a:r>
            <a:endParaRPr lang="en-US" sz="1000" dirty="0"/>
          </a:p>
        </p:txBody>
      </p:sp>
      <p:sp>
        <p:nvSpPr>
          <p:cNvPr id="35" name="Shape 32"/>
          <p:cNvSpPr/>
          <p:nvPr/>
        </p:nvSpPr>
        <p:spPr>
          <a:xfrm>
            <a:off x="6144768" y="3108960"/>
            <a:ext cx="267004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309360"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37" name="Text 34"/>
          <p:cNvSpPr txBox="1"/>
          <p:nvPr/>
        </p:nvSpPr>
        <p:spPr>
          <a:xfrm>
            <a:off x="6309360"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DETR</a:t>
            </a:r>
            <a:endParaRPr lang="en-US" sz="1500" dirty="0"/>
          </a:p>
        </p:txBody>
      </p:sp>
      <p:sp>
        <p:nvSpPr>
          <p:cNvPr id="38" name="Text 35"/>
          <p:cNvSpPr txBox="1"/>
          <p:nvPr/>
        </p:nvSpPr>
        <p:spPr>
          <a:xfrm>
            <a:off x="6309360"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the people in your video, so the reel follows you</a:t>
            </a:r>
            <a:endParaRPr lang="en-US" sz="1050" dirty="0"/>
          </a:p>
        </p:txBody>
      </p:sp>
      <p:sp>
        <p:nvSpPr>
          <p:cNvPr id="39" name="Text 36"/>
          <p:cNvSpPr txBox="1"/>
          <p:nvPr/>
        </p:nvSpPr>
        <p:spPr>
          <a:xfrm>
            <a:off x="6309360"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a:t>
            </a:r>
            <a:endParaRPr lang="en-US" sz="1000" dirty="0"/>
          </a:p>
        </p:txBody>
      </p:sp>
      <p:sp>
        <p:nvSpPr>
          <p:cNvPr id="40" name="Shape 37"/>
          <p:cNvSpPr/>
          <p:nvPr/>
        </p:nvSpPr>
        <p:spPr>
          <a:xfrm>
            <a:off x="8942832" y="3108960"/>
            <a:ext cx="267004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9107424"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2" name="Text 39"/>
          <p:cNvSpPr txBox="1"/>
          <p:nvPr/>
        </p:nvSpPr>
        <p:spPr>
          <a:xfrm>
            <a:off x="9107424"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Sapiens2</a:t>
            </a:r>
            <a:endParaRPr lang="en-US" sz="1500" dirty="0"/>
          </a:p>
        </p:txBody>
      </p:sp>
      <p:sp>
        <p:nvSpPr>
          <p:cNvPr id="43" name="Text 40"/>
          <p:cNvSpPr txBox="1"/>
          <p:nvPr/>
        </p:nvSpPr>
        <p:spPr>
          <a:xfrm>
            <a:off x="9107424"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player's pose on every frame; finds the moment</a:t>
            </a:r>
            <a:endParaRPr lang="en-US" sz="1050" dirty="0"/>
          </a:p>
        </p:txBody>
      </p:sp>
      <p:sp>
        <p:nvSpPr>
          <p:cNvPr id="44" name="Text 41"/>
          <p:cNvSpPr txBox="1"/>
          <p:nvPr/>
        </p:nvSpPr>
        <p:spPr>
          <a:xfrm>
            <a:off x="9107424"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0.4B</a:t>
            </a:r>
            <a:endParaRPr lang="en-US" sz="1000" dirty="0"/>
          </a:p>
        </p:txBody>
      </p:sp>
      <p:sp>
        <p:nvSpPr>
          <p:cNvPr id="45" name="Shape 42"/>
          <p:cNvSpPr/>
          <p:nvPr/>
        </p:nvSpPr>
        <p:spPr>
          <a:xfrm>
            <a:off x="548640" y="4572000"/>
            <a:ext cx="267004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13232"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7" name="Text 44"/>
          <p:cNvSpPr txBox="1"/>
          <p:nvPr/>
        </p:nvSpPr>
        <p:spPr>
          <a:xfrm>
            <a:off x="713232"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SAM 2.1</a:t>
            </a:r>
            <a:endParaRPr lang="en-US" sz="1500" dirty="0"/>
          </a:p>
        </p:txBody>
      </p:sp>
      <p:sp>
        <p:nvSpPr>
          <p:cNvPr id="48" name="Text 45"/>
          <p:cNvSpPr txBox="1"/>
          <p:nvPr/>
        </p:nvSpPr>
        <p:spPr>
          <a:xfrm>
            <a:off x="713232"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Cuts each player out for the spotlight and the drawn view</a:t>
            </a:r>
            <a:endParaRPr lang="en-US" sz="1050" dirty="0"/>
          </a:p>
        </p:txBody>
      </p:sp>
      <p:sp>
        <p:nvSpPr>
          <p:cNvPr id="49" name="Text 46"/>
          <p:cNvSpPr txBox="1"/>
          <p:nvPr/>
        </p:nvSpPr>
        <p:spPr>
          <a:xfrm>
            <a:off x="713232"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Hiera-L</a:t>
            </a:r>
            <a:endParaRPr lang="en-US" sz="1000" dirty="0"/>
          </a:p>
        </p:txBody>
      </p:sp>
      <p:sp>
        <p:nvSpPr>
          <p:cNvPr id="50" name="Shape 47"/>
          <p:cNvSpPr/>
          <p:nvPr/>
        </p:nvSpPr>
        <p:spPr>
          <a:xfrm>
            <a:off x="3346704" y="4572000"/>
            <a:ext cx="267004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3511296"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3D</a:t>
            </a:r>
            <a:endParaRPr lang="en-US" sz="1000" dirty="0"/>
          </a:p>
        </p:txBody>
      </p:sp>
      <p:sp>
        <p:nvSpPr>
          <p:cNvPr id="52" name="Text 49"/>
          <p:cNvSpPr txBox="1"/>
          <p:nvPr/>
        </p:nvSpPr>
        <p:spPr>
          <a:xfrm>
            <a:off x="3511296"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MapAnything</a:t>
            </a:r>
            <a:endParaRPr lang="en-US" sz="1500" dirty="0"/>
          </a:p>
        </p:txBody>
      </p:sp>
      <p:sp>
        <p:nvSpPr>
          <p:cNvPr id="53" name="Text 50"/>
          <p:cNvSpPr txBox="1"/>
          <p:nvPr/>
        </p:nvSpPr>
        <p:spPr>
          <a:xfrm>
            <a:off x="3511296"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Depth and the camera for the orbit camera effect</a:t>
            </a:r>
            <a:endParaRPr lang="en-US" sz="1050" dirty="0"/>
          </a:p>
        </p:txBody>
      </p:sp>
      <p:sp>
        <p:nvSpPr>
          <p:cNvPr id="54" name="Text 51"/>
          <p:cNvSpPr txBox="1"/>
          <p:nvPr/>
        </p:nvSpPr>
        <p:spPr>
          <a:xfrm>
            <a:off x="3511296"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optional effect</a:t>
            </a:r>
            <a:endParaRPr lang="en-US" sz="1000" dirty="0"/>
          </a:p>
        </p:txBody>
      </p:sp>
      <p:sp>
        <p:nvSpPr>
          <p:cNvPr id="55" name="Shape 52"/>
          <p:cNvSpPr/>
          <p:nvPr/>
        </p:nvSpPr>
        <p:spPr>
          <a:xfrm>
            <a:off x="6144768" y="4572000"/>
            <a:ext cx="2670048" cy="1353312"/>
          </a:xfrm>
          <a:prstGeom prst="roundRect">
            <a:avLst>
              <a:gd name="adj" fmla="val 8108"/>
            </a:avLst>
          </a:prstGeom>
          <a:solidFill>
            <a:srgbClr val="FFFFFF"/>
          </a:solidFill>
          <a:ln w="12700">
            <a:solidFill>
              <a:srgbClr val="DCDCE0"/>
            </a:solidFill>
            <a:prstDash val="solid"/>
          </a:ln>
        </p:spPr>
      </p:sp>
      <p:sp>
        <p:nvSpPr>
          <p:cNvPr id="56" name="Text 53"/>
          <p:cNvSpPr txBox="1"/>
          <p:nvPr/>
        </p:nvSpPr>
        <p:spPr>
          <a:xfrm>
            <a:off x="6309360"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57" name="Image 0" descr="preencoded.png">    </p:cNvPr>
          <p:cNvPicPr>
            <a:picLocks noChangeAspect="1"/>
          </p:cNvPicPr>
          <p:nvPr/>
        </p:nvPicPr>
        <p:blipFill>
          <a:blip r:embed="rId1"/>
          <a:stretch>
            <a:fillRect/>
          </a:stretch>
        </p:blipFill>
        <p:spPr>
          <a:xfrm>
            <a:off x="8403336" y="4681728"/>
            <a:ext cx="256032" cy="256032"/>
          </a:xfrm>
          <a:prstGeom prst="rect">
            <a:avLst/>
          </a:prstGeom>
        </p:spPr>
      </p:pic>
      <p:sp>
        <p:nvSpPr>
          <p:cNvPr id="58" name="Text 54"/>
          <p:cNvSpPr txBox="1"/>
          <p:nvPr/>
        </p:nvSpPr>
        <p:spPr>
          <a:xfrm>
            <a:off x="6309360"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Messenger Platform</a:t>
            </a:r>
            <a:endParaRPr lang="en-US" sz="1500" dirty="0"/>
          </a:p>
        </p:txBody>
      </p:sp>
      <p:sp>
        <p:nvSpPr>
          <p:cNvPr id="59" name="Text 55"/>
          <p:cNvSpPr txBox="1"/>
          <p:nvPr/>
        </p:nvSpPr>
        <p:spPr>
          <a:xfrm>
            <a:off x="6309360"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Your agent in your chats: plans, a tap to approve, check-ins</a:t>
            </a:r>
            <a:endParaRPr lang="en-US" sz="1050" dirty="0"/>
          </a:p>
        </p:txBody>
      </p:sp>
      <p:sp>
        <p:nvSpPr>
          <p:cNvPr id="60" name="Text 56"/>
          <p:cNvSpPr txBox="1"/>
          <p:nvPr/>
        </p:nvSpPr>
        <p:spPr>
          <a:xfrm>
            <a:off x="6309360"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Signed webhook · Send API</a:t>
            </a:r>
            <a:endParaRPr lang="en-US" sz="1000" dirty="0"/>
          </a:p>
        </p:txBody>
      </p:sp>
      <p:sp>
        <p:nvSpPr>
          <p:cNvPr id="61" name="Shape 57"/>
          <p:cNvSpPr/>
          <p:nvPr/>
        </p:nvSpPr>
        <p:spPr>
          <a:xfrm>
            <a:off x="8942832" y="4572000"/>
            <a:ext cx="2670048" cy="1353312"/>
          </a:xfrm>
          <a:prstGeom prst="roundRect">
            <a:avLst>
              <a:gd name="adj" fmla="val 8108"/>
            </a:avLst>
          </a:prstGeom>
          <a:solidFill>
            <a:srgbClr val="FFFFFF"/>
          </a:solidFill>
          <a:ln w="12700">
            <a:solidFill>
              <a:srgbClr val="DCDCE0"/>
            </a:solidFill>
            <a:prstDash val="solid"/>
          </a:ln>
        </p:spPr>
      </p:sp>
      <p:sp>
        <p:nvSpPr>
          <p:cNvPr id="62" name="Text 58"/>
          <p:cNvSpPr txBox="1"/>
          <p:nvPr/>
        </p:nvSpPr>
        <p:spPr>
          <a:xfrm>
            <a:off x="9107424"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63" name="Image 1" descr="preencoded.png">    </p:cNvPr>
          <p:cNvPicPr>
            <a:picLocks noChangeAspect="1"/>
          </p:cNvPicPr>
          <p:nvPr/>
        </p:nvPicPr>
        <p:blipFill>
          <a:blip r:embed="rId2"/>
          <a:stretch>
            <a:fillRect/>
          </a:stretch>
        </p:blipFill>
        <p:spPr>
          <a:xfrm>
            <a:off x="11201400" y="4681728"/>
            <a:ext cx="256032" cy="256032"/>
          </a:xfrm>
          <a:prstGeom prst="rect">
            <a:avLst/>
          </a:prstGeom>
        </p:spPr>
      </p:pic>
      <p:sp>
        <p:nvSpPr>
          <p:cNvPr id="64" name="Text 59"/>
          <p:cNvSpPr txBox="1"/>
          <p:nvPr/>
        </p:nvSpPr>
        <p:spPr>
          <a:xfrm>
            <a:off x="9107424"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Instagram · Facebook</a:t>
            </a:r>
            <a:endParaRPr lang="en-US" sz="1500" dirty="0"/>
          </a:p>
        </p:txBody>
      </p:sp>
      <p:sp>
        <p:nvSpPr>
          <p:cNvPr id="65" name="Text 60"/>
          <p:cNvSpPr txBox="1"/>
          <p:nvPr/>
        </p:nvSpPr>
        <p:spPr>
          <a:xfrm>
            <a:off x="9107424"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Join the club with your account; share your reel</a:t>
            </a:r>
            <a:endParaRPr lang="en-US" sz="1050" dirty="0"/>
          </a:p>
        </p:txBody>
      </p:sp>
      <p:sp>
        <p:nvSpPr>
          <p:cNvPr id="66" name="Text 61"/>
          <p:cNvSpPr txBox="1"/>
          <p:nvPr/>
        </p:nvSpPr>
        <p:spPr>
          <a:xfrm>
            <a:off x="9107424"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Facebook Login · Instagram Login</a:t>
            </a:r>
            <a:endParaRPr lang="en-US" sz="1000" dirty="0"/>
          </a:p>
        </p:txBody>
      </p:sp>
      <p:pic>
        <p:nvPicPr>
          <p:cNvPr id="67"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68" name="Text 6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All ten models are open weights, on hardware I own.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HIGHLIGHTS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24" name="Image 0" descr="preencoded.png">    </p:cNvPr>
          <p:cNvPicPr>
            <a:picLocks noChangeAspect="1"/>
          </p:cNvPicPr>
          <p:nvPr/>
        </p:nvPicPr>
        <p:blipFill>
          <a:blip r:embed="rId1"/>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A CC BY 3.0 clip from Wikimedia Commons, as filmed</a:t>
            </a:r>
            <a:endParaRPr lang="en-US" sz="1000" dirty="0"/>
          </a:p>
        </p:txBody>
      </p:sp>
      <p:pic>
        <p:nvPicPr>
          <p:cNvPr id="26" name="Image 1" descr="preencoded.png">    </p:cNvPr>
          <p:cNvPicPr>
            <a:picLocks noChangeAspect="1"/>
          </p:cNvPicPr>
          <p:nvPr/>
        </p:nvPicPr>
        <p:blipFill>
          <a:blip r:embed="rId2"/>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cut-out and MapAnything depth</a:t>
            </a:r>
            <a:endParaRPr lang="en-US" sz="1000" dirty="0"/>
          </a:p>
        </p:txBody>
      </p:sp>
      <p:sp>
        <p:nvSpPr>
          <p:cNvPr id="28" name="Shape 23"/>
          <p:cNvSpPr/>
          <p:nvPr/>
        </p:nvSpPr>
        <p:spPr>
          <a:xfrm>
            <a:off x="6172200" y="5029200"/>
            <a:ext cx="5440680" cy="1143000"/>
          </a:xfrm>
          <a:prstGeom prst="roundRect">
            <a:avLst>
              <a:gd name="adj" fmla="val 9600"/>
            </a:avLst>
          </a:prstGeom>
          <a:solidFill>
            <a:srgbClr val="F6F7F8"/>
          </a:solidFill>
          <a:ln w="12700">
            <a:solidFill>
              <a:srgbClr val="F6F7F8"/>
            </a:solidFill>
            <a:prstDash val="solid"/>
          </a:ln>
        </p:spPr>
      </p:sp>
      <p:sp>
        <p:nvSpPr>
          <p:cNvPr id="29" name="Text 24"/>
          <p:cNvSpPr txBox="1"/>
          <p:nvPr/>
        </p:nvSpPr>
        <p:spPr>
          <a:xfrm>
            <a:off x="6355080" y="5138928"/>
            <a:ext cx="5120640" cy="1005840"/>
          </a:xfrm>
          <a:prstGeom prst="rect">
            <a:avLst/>
          </a:prstGeom>
          <a:noFill/>
          <a:ln/>
        </p:spPr>
        <p:txBody>
          <a:bodyPr wrap="square" lIns="0" tIns="0" rIns="0" bIns="0" rtlCol="0" anchor="t"/>
          <a:lstStyle/>
          <a:p>
            <a:pPr marL="177800" indent="-177800">
              <a:spcAft>
                <a:spcPts val="300"/>
              </a:spcAft>
              <a:buSzPct val="100000"/>
              <a:buChar char="•"/>
            </a:pPr>
            <a:r>
              <a:rPr lang="en-US" sz="1250" dirty="0">
                <a:solidFill>
                  <a:srgbClr val="0A0A0B"/>
                </a:solidFill>
              </a:rPr>
              <a:t>Any ball sport; batched, bf16, about 0.3 s a frame</a:t>
            </a:r>
            <a:endParaRPr lang="en-US" sz="1250" dirty="0"/>
          </a:p>
          <a:p>
            <a:pPr marL="177800" indent="-177800">
              <a:spcAft>
                <a:spcPts val="300"/>
              </a:spcAft>
              <a:buSzPct val="100000"/>
              <a:buChar char="•"/>
            </a:pPr>
            <a:r>
              <a:rPr lang="en-US" sz="1250" dirty="0">
                <a:solidFill>
                  <a:srgbClr val="0A0A0B"/>
                </a:solidFill>
              </a:rPr>
              <a:t>The orbit is an optional camera effect in the app</a:t>
            </a:r>
            <a:endParaRPr lang="en-US" sz="1250" dirty="0"/>
          </a:p>
          <a:p>
            <a:pPr marL="177800" indent="-177800">
              <a:spcAft>
                <a:spcPts val="300"/>
              </a:spcAft>
              <a:buSzPct val="100000"/>
              <a:buChar char="•"/>
            </a:pPr>
            <a:r>
              <a:rPr lang="en-US" sz="1250" dirty="0">
                <a:solidFill>
                  <a:srgbClr val="0A0A0B"/>
                </a:solidFill>
              </a:rPr>
              <a:t>Your video is read on the server and nowhere else</a:t>
            </a:r>
            <a:endParaRPr lang="en-US" sz="12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running Muse Glimmer taught me</a:t>
            </a:r>
            <a:endParaRPr lang="en-US" sz="3200" dirty="0"/>
          </a:p>
        </p:txBody>
      </p:sp>
      <p:sp>
        <p:nvSpPr>
          <p:cNvPr id="5" name="Shape 2"/>
          <p:cNvSpPr/>
          <p:nvPr/>
        </p:nvSpPr>
        <p:spPr>
          <a:xfrm>
            <a:off x="548640" y="1691640"/>
            <a:ext cx="4023360" cy="896112"/>
          </a:xfrm>
          <a:prstGeom prst="roundRect">
            <a:avLst>
              <a:gd name="adj" fmla="val 12245"/>
            </a:avLst>
          </a:prstGeom>
          <a:solidFill>
            <a:srgbClr val="FFFFFF"/>
          </a:solidFill>
          <a:ln w="12700">
            <a:solidFill>
              <a:srgbClr val="DCDCE0"/>
            </a:solidFill>
            <a:prstDash val="solid"/>
          </a:ln>
        </p:spPr>
      </p:sp>
      <p:sp>
        <p:nvSpPr>
          <p:cNvPr id="6" name="Text 3"/>
          <p:cNvSpPr txBox="1"/>
          <p:nvPr/>
        </p:nvSpPr>
        <p:spPr>
          <a:xfrm>
            <a:off x="731520" y="1691640"/>
            <a:ext cx="1737360" cy="896112"/>
          </a:xfrm>
          <a:prstGeom prst="rect">
            <a:avLst/>
          </a:prstGeom>
          <a:noFill/>
          <a:ln/>
        </p:spPr>
        <p:txBody>
          <a:bodyPr wrap="square" lIns="0" tIns="0" rIns="0" bIns="0" rtlCol="0" anchor="ctr"/>
          <a:lstStyle/>
          <a:p>
            <a:pPr indent="0" marL="0">
              <a:buNone/>
            </a:pPr>
            <a:r>
              <a:rPr lang="en-US" sz="3400" b="1" dirty="0">
                <a:solidFill>
                  <a:srgbClr val="0A0A0B"/>
                </a:solidFill>
              </a:rPr>
              <a:t>2,755</a:t>
            </a:r>
            <a:endParaRPr lang="en-US" sz="3400" dirty="0"/>
          </a:p>
        </p:txBody>
      </p:sp>
      <p:sp>
        <p:nvSpPr>
          <p:cNvPr id="7" name="Text 4"/>
          <p:cNvSpPr txBox="1"/>
          <p:nvPr/>
        </p:nvSpPr>
        <p:spPr>
          <a:xfrm>
            <a:off x="2468880" y="169164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calls logged in the evaluations' ledgers</a:t>
            </a:r>
            <a:endParaRPr lang="en-US" sz="1200" dirty="0"/>
          </a:p>
        </p:txBody>
      </p:sp>
      <p:sp>
        <p:nvSpPr>
          <p:cNvPr id="8" name="Shape 5"/>
          <p:cNvSpPr/>
          <p:nvPr/>
        </p:nvSpPr>
        <p:spPr>
          <a:xfrm>
            <a:off x="548640" y="2697480"/>
            <a:ext cx="4023360" cy="896112"/>
          </a:xfrm>
          <a:prstGeom prst="roundRect">
            <a:avLst>
              <a:gd name="adj" fmla="val 12245"/>
            </a:avLst>
          </a:prstGeom>
          <a:solidFill>
            <a:srgbClr val="FFFFFF"/>
          </a:solidFill>
          <a:ln w="12700">
            <a:solidFill>
              <a:srgbClr val="DCDCE0"/>
            </a:solidFill>
            <a:prstDash val="solid"/>
          </a:ln>
        </p:spPr>
      </p:sp>
      <p:sp>
        <p:nvSpPr>
          <p:cNvPr id="9" name="Text 6"/>
          <p:cNvSpPr txBox="1"/>
          <p:nvPr/>
        </p:nvSpPr>
        <p:spPr>
          <a:xfrm>
            <a:off x="731520" y="2697480"/>
            <a:ext cx="1737360" cy="896112"/>
          </a:xfrm>
          <a:prstGeom prst="rect">
            <a:avLst/>
          </a:prstGeom>
          <a:noFill/>
          <a:ln/>
        </p:spPr>
        <p:txBody>
          <a:bodyPr wrap="square" lIns="0" tIns="0" rIns="0" bIns="0" rtlCol="0" anchor="ctr"/>
          <a:lstStyle/>
          <a:p>
            <a:pPr indent="0" marL="0">
              <a:buNone/>
            </a:pPr>
            <a:r>
              <a:rPr lang="en-US" sz="3400" b="1" dirty="0">
                <a:solidFill>
                  <a:srgbClr val="0A7F44"/>
                </a:solidFill>
              </a:rPr>
              <a:t>84%</a:t>
            </a:r>
            <a:endParaRPr lang="en-US" sz="3400" dirty="0"/>
          </a:p>
        </p:txBody>
      </p:sp>
      <p:sp>
        <p:nvSpPr>
          <p:cNvPr id="10" name="Text 7"/>
          <p:cNvSpPr txBox="1"/>
          <p:nvPr/>
        </p:nvSpPr>
        <p:spPr>
          <a:xfrm>
            <a:off x="2468880" y="2697480"/>
            <a:ext cx="2011680" cy="896112"/>
          </a:xfrm>
          <a:prstGeom prst="rect">
            <a:avLst/>
          </a:prstGeom>
          <a:noFill/>
          <a:ln/>
        </p:spPr>
        <p:txBody>
          <a:bodyPr wrap="square" lIns="0" tIns="0" rIns="0" bIns="0" rtlCol="0" anchor="ctr"/>
          <a:lstStyle/>
          <a:p>
            <a:pPr indent="0" marL="0">
              <a:buNone/>
            </a:pPr>
            <a:r>
              <a:rPr lang="en-US" sz="1200" dirty="0">
                <a:solidFill>
                  <a:srgbClr val="0A0A0B"/>
                </a:solidFill>
              </a:rPr>
              <a:t>of the tokens it wrote were reasoning</a:t>
            </a:r>
            <a:endParaRPr lang="en-US" sz="1200" dirty="0"/>
          </a:p>
        </p:txBody>
      </p:sp>
      <p:sp>
        <p:nvSpPr>
          <p:cNvPr id="11" name="Shape 8"/>
          <p:cNvSpPr/>
          <p:nvPr/>
        </p:nvSpPr>
        <p:spPr>
          <a:xfrm>
            <a:off x="548640" y="3703320"/>
            <a:ext cx="4023360" cy="896112"/>
          </a:xfrm>
          <a:prstGeom prst="roundRect">
            <a:avLst>
              <a:gd name="adj" fmla="val 12245"/>
            </a:avLst>
          </a:prstGeom>
          <a:solidFill>
            <a:srgbClr val="FFFFFF"/>
          </a:solidFill>
          <a:ln w="12700">
            <a:solidFill>
              <a:srgbClr val="DCDCE0"/>
            </a:solidFill>
            <a:prstDash val="solid"/>
          </a:ln>
        </p:spPr>
      </p:sp>
      <p:sp>
        <p:nvSpPr>
          <p:cNvPr id="12" name="Text 9"/>
          <p:cNvSpPr txBox="1"/>
          <p:nvPr/>
        </p:nvSpPr>
        <p:spPr>
          <a:xfrm>
            <a:off x="731520" y="3703320"/>
            <a:ext cx="1737360" cy="896112"/>
          </a:xfrm>
          <a:prstGeom prst="rect">
            <a:avLst/>
          </a:prstGeom>
          <a:noFill/>
          <a:ln/>
        </p:spPr>
        <p:txBody>
          <a:bodyPr wrap="square" lIns="0" tIns="0" rIns="0" bIns="0" rtlCol="0" anchor="ctr"/>
          <a:lstStyle/>
          <a:p>
            <a:pPr indent="0" marL="0">
              <a:buNone/>
            </a:pPr>
            <a:r>
              <a:rPr lang="en-US" sz="3400" b="1" dirty="0">
                <a:solidFill>
                  <a:srgbClr val="D1352B"/>
                </a:solidFill>
              </a:rPr>
              <a:t>9%</a:t>
            </a:r>
            <a:endParaRPr lang="en-US" sz="3400" dirty="0"/>
          </a:p>
        </p:txBody>
      </p:sp>
      <p:sp>
        <p:nvSpPr>
          <p:cNvPr id="13" name="Text 10"/>
          <p:cNvSpPr txBox="1"/>
          <p:nvPr/>
        </p:nvSpPr>
        <p:spPr>
          <a:xfrm>
            <a:off x="2468880" y="370332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came back empty: a small budget ran out mid-thought</a:t>
            </a:r>
            <a:endParaRPr lang="en-US" sz="1200" dirty="0"/>
          </a:p>
        </p:txBody>
      </p:sp>
      <p:sp>
        <p:nvSpPr>
          <p:cNvPr id="14" name="Shape 11"/>
          <p:cNvSpPr/>
          <p:nvPr/>
        </p:nvSpPr>
        <p:spPr>
          <a:xfrm>
            <a:off x="548640" y="4754880"/>
            <a:ext cx="4023360" cy="1463040"/>
          </a:xfrm>
          <a:prstGeom prst="roundRect">
            <a:avLst>
              <a:gd name="adj" fmla="val 7500"/>
            </a:avLst>
          </a:prstGeom>
          <a:solidFill>
            <a:srgbClr val="F6F7F8"/>
          </a:solidFill>
          <a:ln w="12700">
            <a:solidFill>
              <a:srgbClr val="F6F7F8"/>
            </a:solidFill>
            <a:prstDash val="solid"/>
          </a:ln>
        </p:spPr>
      </p:sp>
      <p:sp>
        <p:nvSpPr>
          <p:cNvPr id="15" name="Text 12"/>
          <p:cNvSpPr txBox="1"/>
          <p:nvPr/>
        </p:nvSpPr>
        <p:spPr>
          <a:xfrm>
            <a:off x="731520" y="4892040"/>
            <a:ext cx="3703320" cy="1234440"/>
          </a:xfrm>
          <a:prstGeom prst="rect">
            <a:avLst/>
          </a:prstGeom>
          <a:noFill/>
          <a:ln/>
        </p:spPr>
        <p:txBody>
          <a:bodyPr wrap="square" lIns="0" tIns="0" rIns="0" bIns="0" rtlCol="0" anchor="t"/>
          <a:lstStyle/>
          <a:p>
            <a:pPr indent="0" marL="0">
              <a:buNone/>
            </a:pPr>
            <a:r>
              <a:rPr lang="en-US" sz="1300" dirty="0">
                <a:solidFill>
                  <a:srgbClr val="0A0A0B"/>
                </a:solidFill>
              </a:rPr>
              <a:t>Thinking switched off? It still reasoned in a hidden channel. </a:t>
            </a:r>
            <a:pPr indent="0" marL="0">
              <a:buNone/>
            </a:pPr>
            <a:r>
              <a:rPr lang="en-US" sz="1300" b="1" dirty="0">
                <a:solidFill>
                  <a:srgbClr val="0A0A0B"/>
                </a:solidFill>
              </a:rPr>
              <a:t>So every call asks for think: "low" and leaves room to think.</a:t>
            </a:r>
            <a:endParaRPr lang="en-US" sz="1300" dirty="0"/>
          </a:p>
        </p:txBody>
      </p:sp>
      <p:sp>
        <p:nvSpPr>
          <p:cNvPr id="16" name="Text 13"/>
          <p:cNvSpPr txBox="1"/>
          <p:nvPr/>
        </p:nvSpPr>
        <p:spPr>
          <a:xfrm>
            <a:off x="4937760" y="1691640"/>
            <a:ext cx="365760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WHO DECIDES</a:t>
            </a:r>
            <a:endParaRPr lang="en-US" sz="1100" dirty="0"/>
          </a:p>
        </p:txBody>
      </p:sp>
      <p:sp>
        <p:nvSpPr>
          <p:cNvPr id="17" name="Shape 14"/>
          <p:cNvSpPr/>
          <p:nvPr/>
        </p:nvSpPr>
        <p:spPr>
          <a:xfrm>
            <a:off x="4937760" y="2057400"/>
            <a:ext cx="6675120" cy="1207008"/>
          </a:xfrm>
          <a:prstGeom prst="roundRect">
            <a:avLst>
              <a:gd name="adj" fmla="val 9091"/>
            </a:avLst>
          </a:prstGeom>
          <a:solidFill>
            <a:srgbClr val="FFFFFF"/>
          </a:solidFill>
          <a:ln w="12700">
            <a:solidFill>
              <a:srgbClr val="DCDCE0"/>
            </a:solidFill>
            <a:prstDash val="solid"/>
          </a:ln>
        </p:spPr>
      </p:sp>
      <p:sp>
        <p:nvSpPr>
          <p:cNvPr id="18" name="Text 15"/>
          <p:cNvSpPr txBox="1"/>
          <p:nvPr/>
        </p:nvSpPr>
        <p:spPr>
          <a:xfrm>
            <a:off x="5138928" y="21945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FIRST</a:t>
            </a:r>
            <a:endParaRPr lang="en-US" sz="1000" dirty="0"/>
          </a:p>
        </p:txBody>
      </p:sp>
      <p:sp>
        <p:nvSpPr>
          <p:cNvPr id="19" name="Text 16"/>
          <p:cNvSpPr txBox="1"/>
          <p:nvPr/>
        </p:nvSpPr>
        <p:spPr>
          <a:xfrm>
            <a:off x="5138928" y="24414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Code</a:t>
            </a:r>
            <a:endParaRPr lang="en-US" sz="1600" dirty="0"/>
          </a:p>
        </p:txBody>
      </p:sp>
      <p:sp>
        <p:nvSpPr>
          <p:cNvPr id="20" name="Text 17"/>
          <p:cNvSpPr txBox="1"/>
          <p:nvPr/>
        </p:nvSpPr>
        <p:spPr>
          <a:xfrm>
            <a:off x="5138928" y="2788920"/>
            <a:ext cx="4480560" cy="457200"/>
          </a:xfrm>
          <a:prstGeom prst="rect">
            <a:avLst/>
          </a:prstGeom>
          <a:noFill/>
          <a:ln/>
        </p:spPr>
        <p:txBody>
          <a:bodyPr wrap="square" lIns="0" tIns="0" rIns="0" bIns="0" rtlCol="0" anchor="t"/>
          <a:lstStyle/>
          <a:p>
            <a:pPr indent="0" marL="0">
              <a:buNone/>
            </a:pPr>
            <a:r>
              <a:rPr lang="en-US" sz="1150" dirty="0">
                <a:solidFill>
                  <a:srgbClr val="55555C"/>
                </a:solidFill>
              </a:rPr>
              <a:t>Every fact and every hard rule: free times, trips, limits. No model call when the facts decide.</a:t>
            </a:r>
            <a:endParaRPr lang="en-US" sz="1150" dirty="0"/>
          </a:p>
        </p:txBody>
      </p:sp>
      <p:sp>
        <p:nvSpPr>
          <p:cNvPr id="21" name="Shape 18"/>
          <p:cNvSpPr/>
          <p:nvPr/>
        </p:nvSpPr>
        <p:spPr>
          <a:xfrm>
            <a:off x="8275320" y="3273552"/>
            <a:ext cx="0" cy="146304"/>
          </a:xfrm>
          <a:prstGeom prst="line">
            <a:avLst/>
          </a:prstGeom>
          <a:noFill/>
          <a:ln w="22225">
            <a:solidFill>
              <a:srgbClr val="8A8A92"/>
            </a:solidFill>
            <a:prstDash val="solid"/>
            <a:tailEnd type="triangle"/>
          </a:ln>
        </p:spPr>
      </p:sp>
      <p:sp>
        <p:nvSpPr>
          <p:cNvPr id="22" name="Shape 19"/>
          <p:cNvSpPr/>
          <p:nvPr/>
        </p:nvSpPr>
        <p:spPr>
          <a:xfrm>
            <a:off x="4937760" y="3429000"/>
            <a:ext cx="6675120" cy="1207008"/>
          </a:xfrm>
          <a:prstGeom prst="roundRect">
            <a:avLst>
              <a:gd name="adj" fmla="val 9091"/>
            </a:avLst>
          </a:prstGeom>
          <a:solidFill>
            <a:srgbClr val="E9F3EC"/>
          </a:solidFill>
          <a:ln w="25400">
            <a:solidFill>
              <a:srgbClr val="0A7F44"/>
            </a:solidFill>
            <a:prstDash val="solid"/>
          </a:ln>
        </p:spPr>
      </p:sp>
      <p:sp>
        <p:nvSpPr>
          <p:cNvPr id="23" name="Text 20"/>
          <p:cNvSpPr txBox="1"/>
          <p:nvPr/>
        </p:nvSpPr>
        <p:spPr>
          <a:xfrm>
            <a:off x="5138928" y="35661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THEN</a:t>
            </a:r>
            <a:endParaRPr lang="en-US" sz="1000" dirty="0"/>
          </a:p>
        </p:txBody>
      </p:sp>
      <p:sp>
        <p:nvSpPr>
          <p:cNvPr id="24" name="Text 21"/>
          <p:cNvSpPr txBox="1"/>
          <p:nvPr/>
        </p:nvSpPr>
        <p:spPr>
          <a:xfrm>
            <a:off x="5138928" y="38130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Llama 3.2 1B, distilled from Glimmer</a:t>
            </a:r>
            <a:endParaRPr lang="en-US" sz="1600" dirty="0"/>
          </a:p>
        </p:txBody>
      </p:sp>
      <p:sp>
        <p:nvSpPr>
          <p:cNvPr id="25" name="Text 22"/>
          <p:cNvSpPr txBox="1"/>
          <p:nvPr/>
        </p:nvSpPr>
        <p:spPr>
          <a:xfrm>
            <a:off x="5138928" y="4160520"/>
            <a:ext cx="4480560" cy="457200"/>
          </a:xfrm>
          <a:prstGeom prst="rect">
            <a:avLst/>
          </a:prstGeom>
          <a:noFill/>
          <a:ln/>
        </p:spPr>
        <p:txBody>
          <a:bodyPr wrap="square" lIns="0" tIns="0" rIns="0" bIns="0" rtlCol="0" anchor="t"/>
          <a:lstStyle/>
          <a:p>
            <a:pPr indent="0" marL="0">
              <a:buNone/>
            </a:pPr>
            <a:r>
              <a:rPr lang="en-US" sz="1150" dirty="0">
                <a:solidFill>
                  <a:srgbClr val="55555C"/>
                </a:solidFill>
              </a:rPr>
              <a:t>On the CPU. Answers only when sure, and only from times that keep every rule.</a:t>
            </a:r>
            <a:endParaRPr lang="en-US" sz="1150" dirty="0"/>
          </a:p>
        </p:txBody>
      </p:sp>
      <p:sp>
        <p:nvSpPr>
          <p:cNvPr id="26" name="Text 23"/>
          <p:cNvSpPr txBox="1"/>
          <p:nvPr/>
        </p:nvSpPr>
        <p:spPr>
          <a:xfrm>
            <a:off x="9555480" y="3611880"/>
            <a:ext cx="1920240" cy="502920"/>
          </a:xfrm>
          <a:prstGeom prst="rect">
            <a:avLst/>
          </a:prstGeom>
          <a:noFill/>
          <a:ln/>
        </p:spPr>
        <p:txBody>
          <a:bodyPr wrap="square" lIns="0" tIns="0" rIns="0" bIns="0" rtlCol="0" anchor="t"/>
          <a:lstStyle/>
          <a:p>
            <a:pPr algn="r" indent="0" marL="0">
              <a:buNone/>
            </a:pPr>
            <a:r>
              <a:rPr lang="en-US" sz="2800" b="1" dirty="0">
                <a:solidFill>
                  <a:srgbClr val="0A7F44"/>
                </a:solidFill>
              </a:rPr>
              <a:t>54–67%</a:t>
            </a:r>
            <a:endParaRPr lang="en-US" sz="2800" dirty="0"/>
          </a:p>
        </p:txBody>
      </p:sp>
      <p:sp>
        <p:nvSpPr>
          <p:cNvPr id="27" name="Text 24"/>
          <p:cNvSpPr txBox="1"/>
          <p:nvPr/>
        </p:nvSpPr>
        <p:spPr>
          <a:xfrm>
            <a:off x="9418320" y="4114800"/>
            <a:ext cx="2057400" cy="457200"/>
          </a:xfrm>
          <a:prstGeom prst="rect">
            <a:avLst/>
          </a:prstGeom>
          <a:noFill/>
          <a:ln/>
        </p:spPr>
        <p:txBody>
          <a:bodyPr wrap="square" lIns="0" tIns="0" rIns="0" bIns="0" rtlCol="0" anchor="t"/>
          <a:lstStyle/>
          <a:p>
            <a:pPr algn="r" indent="0" marL="0">
              <a:buNone/>
            </a:pPr>
            <a:r>
              <a:rPr lang="en-US" sz="1000" dirty="0">
                <a:solidFill>
                  <a:srgbClr val="55555C"/>
                </a:solidFill>
              </a:rPr>
              <a:t>of members' answers, no rule broken (simulated club)</a:t>
            </a:r>
            <a:endParaRPr lang="en-US" sz="1000" dirty="0"/>
          </a:p>
        </p:txBody>
      </p:sp>
      <p:sp>
        <p:nvSpPr>
          <p:cNvPr id="28" name="Shape 25"/>
          <p:cNvSpPr/>
          <p:nvPr/>
        </p:nvSpPr>
        <p:spPr>
          <a:xfrm>
            <a:off x="8275320" y="4645152"/>
            <a:ext cx="0" cy="146304"/>
          </a:xfrm>
          <a:prstGeom prst="line">
            <a:avLst/>
          </a:prstGeom>
          <a:noFill/>
          <a:ln w="22225">
            <a:solidFill>
              <a:srgbClr val="8A8A92"/>
            </a:solidFill>
            <a:prstDash val="solid"/>
            <a:tailEnd type="triangle"/>
          </a:ln>
        </p:spPr>
      </p:sp>
      <p:sp>
        <p:nvSpPr>
          <p:cNvPr id="29" name="Shape 26"/>
          <p:cNvSpPr/>
          <p:nvPr/>
        </p:nvSpPr>
        <p:spPr>
          <a:xfrm>
            <a:off x="4937760" y="4800600"/>
            <a:ext cx="6675120" cy="1207008"/>
          </a:xfrm>
          <a:prstGeom prst="roundRect">
            <a:avLst>
              <a:gd name="adj" fmla="val 9091"/>
            </a:avLst>
          </a:prstGeom>
          <a:solidFill>
            <a:srgbClr val="FFFFFF"/>
          </a:solidFill>
          <a:ln w="12700">
            <a:solidFill>
              <a:srgbClr val="DCDCE0"/>
            </a:solidFill>
            <a:prstDash val="solid"/>
          </a:ln>
        </p:spPr>
      </p:sp>
      <p:sp>
        <p:nvSpPr>
          <p:cNvPr id="30" name="Text 27"/>
          <p:cNvSpPr txBox="1"/>
          <p:nvPr/>
        </p:nvSpPr>
        <p:spPr>
          <a:xfrm>
            <a:off x="5138928" y="49377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ONLY IF NEEDED</a:t>
            </a:r>
            <a:endParaRPr lang="en-US" sz="1000" dirty="0"/>
          </a:p>
        </p:txBody>
      </p:sp>
      <p:sp>
        <p:nvSpPr>
          <p:cNvPr id="31" name="Text 28"/>
          <p:cNvSpPr txBox="1"/>
          <p:nvPr/>
        </p:nvSpPr>
        <p:spPr>
          <a:xfrm>
            <a:off x="5138928" y="51846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Muse Glimmer</a:t>
            </a:r>
            <a:endParaRPr lang="en-US" sz="1600" dirty="0"/>
          </a:p>
        </p:txBody>
      </p:sp>
      <p:sp>
        <p:nvSpPr>
          <p:cNvPr id="32" name="Text 29"/>
          <p:cNvSpPr txBox="1"/>
          <p:nvPr/>
        </p:nvSpPr>
        <p:spPr>
          <a:xfrm>
            <a:off x="5138928" y="5532120"/>
            <a:ext cx="4480560" cy="457200"/>
          </a:xfrm>
          <a:prstGeom prst="rect">
            <a:avLst/>
          </a:prstGeom>
          <a:noFill/>
          <a:ln/>
        </p:spPr>
        <p:txBody>
          <a:bodyPr wrap="square" lIns="0" tIns="0" rIns="0" bIns="0" rtlCol="0" anchor="t"/>
          <a:lstStyle/>
          <a:p>
            <a:pPr indent="0" marL="0">
              <a:buNone/>
            </a:pPr>
            <a:r>
              <a:rPr lang="en-US" sz="1150" dirty="0">
                <a:solidFill>
                  <a:srgbClr val="55555C"/>
                </a:solidFill>
              </a:rPr>
              <a:t>The real choices: planning the week, judging courts, reading photos, writing.</a:t>
            </a:r>
            <a:endParaRPr lang="en-US" sz="1150" dirty="0"/>
          </a:p>
        </p:txBody>
      </p:sp>
      <p:sp>
        <p:nvSpPr>
          <p:cNvPr id="33" name="Text 30"/>
          <p:cNvSpPr txBox="1"/>
          <p:nvPr/>
        </p:nvSpPr>
        <p:spPr>
          <a:xfrm>
            <a:off x="4937760" y="6126480"/>
            <a:ext cx="6675120" cy="228600"/>
          </a:xfrm>
          <a:prstGeom prst="rect">
            <a:avLst/>
          </a:prstGeom>
          <a:noFill/>
          <a:ln/>
        </p:spPr>
        <p:txBody>
          <a:bodyPr wrap="square" lIns="0" tIns="0" rIns="0" bIns="0" rtlCol="0" anchor="t"/>
          <a:lstStyle/>
          <a:p>
            <a:pPr indent="0" marL="0">
              <a:buNone/>
            </a:pPr>
            <a:r>
              <a:rPr lang="en-US" sz="1000" dirty="0">
                <a:solidFill>
                  <a:srgbClr val="8A8A92"/>
                </a:solidFill>
              </a:rPr>
              <a:t>submission/results/glimmer_in_practice.json · technical report 3.12, 5.10</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Two charts behind two design choices</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440680" cy="2863516"/>
          </a:xfrm>
          <a:prstGeom prst="rect">
            <a:avLst/>
          </a:prstGeom>
        </p:spPr>
      </p:pic>
      <p:sp>
        <p:nvSpPr>
          <p:cNvPr id="6" name="Text 2"/>
          <p:cNvSpPr txBox="1"/>
          <p:nvPr/>
        </p:nvSpPr>
        <p:spPr>
          <a:xfrm>
            <a:off x="548640" y="4646596"/>
            <a:ext cx="5440680" cy="548640"/>
          </a:xfrm>
          <a:prstGeom prst="rect">
            <a:avLst/>
          </a:prstGeom>
          <a:noFill/>
          <a:ln/>
        </p:spPr>
        <p:txBody>
          <a:bodyPr wrap="square" lIns="0" tIns="0" rIns="0" bIns="0" rtlCol="0" anchor="t"/>
          <a:lstStyle/>
          <a:p>
            <a:pPr indent="0" marL="0">
              <a:buNone/>
            </a:pPr>
            <a:r>
              <a:rPr lang="en-US" sz="1100" dirty="0">
                <a:solidFill>
                  <a:srgbClr val="55555C"/>
                </a:solidFill>
              </a:rPr>
              <a:t>Tokens per model call, by club size: the whole club in the prompt grows with it; Serve's calls stay about 1,500 tokens from 11 to 301 members</a:t>
            </a:r>
            <a:endParaRPr lang="en-US" sz="1100" dirty="0"/>
          </a:p>
        </p:txBody>
      </p:sp>
      <p:pic>
        <p:nvPicPr>
          <p:cNvPr id="7" name="Image 1" descr="preencoded.png">    </p:cNvPr>
          <p:cNvPicPr>
            <a:picLocks noChangeAspect="1"/>
          </p:cNvPicPr>
          <p:nvPr/>
        </p:nvPicPr>
        <p:blipFill>
          <a:blip r:embed="rId2"/>
          <a:stretch>
            <a:fillRect/>
          </a:stretch>
        </p:blipFill>
        <p:spPr>
          <a:xfrm>
            <a:off x="6263640" y="1691640"/>
            <a:ext cx="5349240" cy="3429000"/>
          </a:xfrm>
          <a:prstGeom prst="rect">
            <a:avLst/>
          </a:prstGeom>
        </p:spPr>
      </p:pic>
      <p:sp>
        <p:nvSpPr>
          <p:cNvPr id="8" name="Text 3"/>
          <p:cNvSpPr txBox="1"/>
          <p:nvPr/>
        </p:nvSpPr>
        <p:spPr>
          <a:xfrm>
            <a:off x="6263640" y="5212080"/>
            <a:ext cx="5349240" cy="548640"/>
          </a:xfrm>
          <a:prstGeom prst="rect">
            <a:avLst/>
          </a:prstGeom>
          <a:noFill/>
          <a:ln/>
        </p:spPr>
        <p:txBody>
          <a:bodyPr wrap="square" lIns="0" tIns="0" rIns="0" bIns="0" rtlCol="0" anchor="t"/>
          <a:lstStyle/>
          <a:p>
            <a:pPr indent="0" marL="0">
              <a:buNone/>
            </a:pPr>
            <a:r>
              <a:rPr lang="en-US" sz="1100" dirty="0">
                <a:solidFill>
                  <a:srgbClr val="55555C"/>
                </a:solidFill>
              </a:rPr>
              <a:t>One member's decision: what each tier costs, and how often it matches the full answer (code, then Llama 3.2 1B, then Muse Glimmer)</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Autopilot,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91640"/>
            <a:ext cx="2057400" cy="1600200"/>
          </a:xfrm>
          <a:prstGeom prst="roundRect">
            <a:avLst>
              <a:gd name="adj" fmla="val 6857"/>
            </a:avLst>
          </a:prstGeom>
          <a:solidFill>
            <a:srgbClr val="FFFFFF"/>
          </a:solidFill>
          <a:ln w="12700">
            <a:solidFill>
              <a:srgbClr val="DCDCE0"/>
            </a:solidFill>
            <a:prstDash val="solid"/>
          </a:ln>
        </p:spPr>
      </p:sp>
      <p:sp>
        <p:nvSpPr>
          <p:cNvPr id="8" name="Text 5"/>
          <p:cNvSpPr txBox="1"/>
          <p:nvPr/>
        </p:nvSpPr>
        <p:spPr>
          <a:xfrm>
            <a:off x="71323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1 · ASK</a:t>
            </a:r>
            <a:endParaRPr lang="en-US" sz="1050" dirty="0"/>
          </a:p>
        </p:txBody>
      </p:sp>
      <p:sp>
        <p:nvSpPr>
          <p:cNvPr id="9" name="Text 6"/>
          <p:cNvSpPr txBox="1"/>
          <p:nvPr/>
        </p:nvSpPr>
        <p:spPr>
          <a:xfrm>
            <a:off x="71323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Members' ideas</a:t>
            </a:r>
            <a:endParaRPr lang="en-US" sz="1500" dirty="0"/>
          </a:p>
        </p:txBody>
      </p:sp>
      <p:sp>
        <p:nvSpPr>
          <p:cNvPr id="10" name="Text 7"/>
          <p:cNvSpPr txBox="1"/>
          <p:nvPr/>
        </p:nvSpPr>
        <p:spPr>
          <a:xfrm>
            <a:off x="71323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"/idea" in Messenger, or thumbs up and down</a:t>
            </a:r>
            <a:endParaRPr lang="en-US" sz="1100" dirty="0"/>
          </a:p>
        </p:txBody>
      </p:sp>
      <p:sp>
        <p:nvSpPr>
          <p:cNvPr id="11" name="Shape 8"/>
          <p:cNvSpPr/>
          <p:nvPr/>
        </p:nvSpPr>
        <p:spPr>
          <a:xfrm>
            <a:off x="2624328" y="2487168"/>
            <a:ext cx="146304" cy="0"/>
          </a:xfrm>
          <a:prstGeom prst="line">
            <a:avLst/>
          </a:prstGeom>
          <a:noFill/>
          <a:ln w="22225">
            <a:solidFill>
              <a:srgbClr val="8A8A92"/>
            </a:solidFill>
            <a:prstDash val="solid"/>
            <a:tailEnd type="triangle"/>
          </a:ln>
        </p:spPr>
      </p:sp>
      <p:sp>
        <p:nvSpPr>
          <p:cNvPr id="12" name="Shape 9"/>
          <p:cNvSpPr/>
          <p:nvPr/>
        </p:nvSpPr>
        <p:spPr>
          <a:xfrm>
            <a:off x="2788920" y="1691640"/>
            <a:ext cx="2057400" cy="1600200"/>
          </a:xfrm>
          <a:prstGeom prst="roundRect">
            <a:avLst>
              <a:gd name="adj" fmla="val 6857"/>
            </a:avLst>
          </a:prstGeom>
          <a:solidFill>
            <a:srgbClr val="FFFFFF"/>
          </a:solidFill>
          <a:ln w="12700">
            <a:solidFill>
              <a:srgbClr val="DCDCE0"/>
            </a:solidFill>
            <a:prstDash val="solid"/>
          </a:ln>
        </p:spPr>
      </p:sp>
      <p:sp>
        <p:nvSpPr>
          <p:cNvPr id="13" name="Text 10"/>
          <p:cNvSpPr txBox="1"/>
          <p:nvPr/>
        </p:nvSpPr>
        <p:spPr>
          <a:xfrm>
            <a:off x="295351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2 · GROUP</a:t>
            </a:r>
            <a:endParaRPr lang="en-US" sz="1050" dirty="0"/>
          </a:p>
        </p:txBody>
      </p:sp>
      <p:sp>
        <p:nvSpPr>
          <p:cNvPr id="14" name="Text 11"/>
          <p:cNvSpPr txBox="1"/>
          <p:nvPr/>
        </p:nvSpPr>
        <p:spPr>
          <a:xfrm>
            <a:off x="295351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Meta's DRAMA</a:t>
            </a:r>
            <a:endParaRPr lang="en-US" sz="1500" dirty="0"/>
          </a:p>
        </p:txBody>
      </p:sp>
      <p:sp>
        <p:nvSpPr>
          <p:cNvPr id="15" name="Text 12"/>
          <p:cNvSpPr txBox="1"/>
          <p:nvPr/>
        </p:nvSpPr>
        <p:spPr>
          <a:xfrm>
            <a:off x="295351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Groups ideas by meaning; an idea shows at 5 members</a:t>
            </a:r>
            <a:endParaRPr lang="en-US" sz="1100" dirty="0"/>
          </a:p>
        </p:txBody>
      </p:sp>
      <p:sp>
        <p:nvSpPr>
          <p:cNvPr id="16" name="Shape 13"/>
          <p:cNvSpPr/>
          <p:nvPr/>
        </p:nvSpPr>
        <p:spPr>
          <a:xfrm>
            <a:off x="4864608" y="2487168"/>
            <a:ext cx="146304" cy="0"/>
          </a:xfrm>
          <a:prstGeom prst="line">
            <a:avLst/>
          </a:prstGeom>
          <a:noFill/>
          <a:ln w="22225">
            <a:solidFill>
              <a:srgbClr val="8A8A92"/>
            </a:solidFill>
            <a:prstDash val="solid"/>
            <a:tailEnd type="triangle"/>
          </a:ln>
        </p:spPr>
      </p:sp>
      <p:sp>
        <p:nvSpPr>
          <p:cNvPr id="17" name="Shape 14"/>
          <p:cNvSpPr/>
          <p:nvPr/>
        </p:nvSpPr>
        <p:spPr>
          <a:xfrm>
            <a:off x="5029200" y="1691640"/>
            <a:ext cx="2057400" cy="1600200"/>
          </a:xfrm>
          <a:prstGeom prst="roundRect">
            <a:avLst>
              <a:gd name="adj" fmla="val 6857"/>
            </a:avLst>
          </a:prstGeom>
          <a:solidFill>
            <a:srgbClr val="FFFFFF"/>
          </a:solidFill>
          <a:ln w="12700">
            <a:solidFill>
              <a:srgbClr val="DCDCE0"/>
            </a:solidFill>
            <a:prstDash val="solid"/>
          </a:ln>
        </p:spPr>
      </p:sp>
      <p:sp>
        <p:nvSpPr>
          <p:cNvPr id="18" name="Text 15"/>
          <p:cNvSpPr txBox="1"/>
          <p:nvPr/>
        </p:nvSpPr>
        <p:spPr>
          <a:xfrm>
            <a:off x="519379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3 · VOTE</a:t>
            </a:r>
            <a:endParaRPr lang="en-US" sz="1050" dirty="0"/>
          </a:p>
        </p:txBody>
      </p:sp>
      <p:sp>
        <p:nvSpPr>
          <p:cNvPr id="19" name="Text 16"/>
          <p:cNvSpPr txBox="1"/>
          <p:nvPr/>
        </p:nvSpPr>
        <p:spPr>
          <a:xfrm>
            <a:off x="519379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Quadratic votes</a:t>
            </a:r>
            <a:endParaRPr lang="en-US" sz="1500" dirty="0"/>
          </a:p>
        </p:txBody>
      </p:sp>
      <p:sp>
        <p:nvSpPr>
          <p:cNvPr id="20" name="Text 17"/>
          <p:cNvSpPr txBox="1"/>
          <p:nvPr/>
        </p:nvSpPr>
        <p:spPr>
          <a:xfrm>
            <a:off x="519379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9 credits a month; n votes cost n²</a:t>
            </a:r>
            <a:endParaRPr lang="en-US" sz="1100" dirty="0"/>
          </a:p>
        </p:txBody>
      </p:sp>
      <p:sp>
        <p:nvSpPr>
          <p:cNvPr id="21" name="Shape 18"/>
          <p:cNvSpPr/>
          <p:nvPr/>
        </p:nvSpPr>
        <p:spPr>
          <a:xfrm>
            <a:off x="7104888" y="2487168"/>
            <a:ext cx="146304" cy="0"/>
          </a:xfrm>
          <a:prstGeom prst="line">
            <a:avLst/>
          </a:prstGeom>
          <a:noFill/>
          <a:ln w="22225">
            <a:solidFill>
              <a:srgbClr val="8A8A92"/>
            </a:solidFill>
            <a:prstDash val="solid"/>
            <a:tailEnd type="triangle"/>
          </a:ln>
        </p:spPr>
      </p:sp>
      <p:sp>
        <p:nvSpPr>
          <p:cNvPr id="22" name="Shape 19"/>
          <p:cNvSpPr/>
          <p:nvPr/>
        </p:nvSpPr>
        <p:spPr>
          <a:xfrm>
            <a:off x="7269480" y="1691640"/>
            <a:ext cx="2057400" cy="1600200"/>
          </a:xfrm>
          <a:prstGeom prst="roundRect">
            <a:avLst>
              <a:gd name="adj" fmla="val 6857"/>
            </a:avLst>
          </a:prstGeom>
          <a:solidFill>
            <a:srgbClr val="FFFFFF"/>
          </a:solidFill>
          <a:ln w="12700">
            <a:solidFill>
              <a:srgbClr val="DCDCE0"/>
            </a:solidFill>
            <a:prstDash val="solid"/>
          </a:ln>
        </p:spPr>
      </p:sp>
      <p:sp>
        <p:nvSpPr>
          <p:cNvPr id="23" name="Text 20"/>
          <p:cNvSpPr txBox="1"/>
          <p:nvPr/>
        </p:nvSpPr>
        <p:spPr>
          <a:xfrm>
            <a:off x="743407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4 · SPEC</a:t>
            </a:r>
            <a:endParaRPr lang="en-US" sz="1050" dirty="0"/>
          </a:p>
        </p:txBody>
      </p:sp>
      <p:sp>
        <p:nvSpPr>
          <p:cNvPr id="24" name="Text 21"/>
          <p:cNvSpPr txBox="1"/>
          <p:nvPr/>
        </p:nvSpPr>
        <p:spPr>
          <a:xfrm>
            <a:off x="743407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Muse Glimmer drafts it</a:t>
            </a:r>
            <a:endParaRPr lang="en-US" sz="1500" dirty="0"/>
          </a:p>
        </p:txBody>
      </p:sp>
      <p:sp>
        <p:nvSpPr>
          <p:cNvPr id="25" name="Text 22"/>
          <p:cNvSpPr txBox="1"/>
          <p:nvPr/>
        </p:nvSpPr>
        <p:spPr>
          <a:xfrm>
            <a:off x="743407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A person approves the spec</a:t>
            </a:r>
            <a:endParaRPr lang="en-US" sz="1100" dirty="0"/>
          </a:p>
        </p:txBody>
      </p:sp>
      <p:sp>
        <p:nvSpPr>
          <p:cNvPr id="26" name="Shape 23"/>
          <p:cNvSpPr/>
          <p:nvPr/>
        </p:nvSpPr>
        <p:spPr>
          <a:xfrm>
            <a:off x="9345168" y="2487168"/>
            <a:ext cx="146304" cy="0"/>
          </a:xfrm>
          <a:prstGeom prst="line">
            <a:avLst/>
          </a:prstGeom>
          <a:noFill/>
          <a:ln w="22225">
            <a:solidFill>
              <a:srgbClr val="8A8A92"/>
            </a:solidFill>
            <a:prstDash val="solid"/>
            <a:tailEnd type="triangle"/>
          </a:ln>
        </p:spPr>
      </p:sp>
      <p:sp>
        <p:nvSpPr>
          <p:cNvPr id="27" name="Shape 24"/>
          <p:cNvSpPr/>
          <p:nvPr/>
        </p:nvSpPr>
        <p:spPr>
          <a:xfrm>
            <a:off x="9509760" y="1691640"/>
            <a:ext cx="2057400" cy="1600200"/>
          </a:xfrm>
          <a:prstGeom prst="roundRect">
            <a:avLst>
              <a:gd name="adj" fmla="val 6857"/>
            </a:avLst>
          </a:prstGeom>
          <a:solidFill>
            <a:srgbClr val="FFFFFF"/>
          </a:solidFill>
          <a:ln w="12700">
            <a:solidFill>
              <a:srgbClr val="DCDCE0"/>
            </a:solidFill>
            <a:prstDash val="solid"/>
          </a:ln>
        </p:spPr>
      </p:sp>
      <p:sp>
        <p:nvSpPr>
          <p:cNvPr id="28" name="Text 25"/>
          <p:cNvSpPr txBox="1"/>
          <p:nvPr/>
        </p:nvSpPr>
        <p:spPr>
          <a:xfrm>
            <a:off x="967435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5 · BUILD</a:t>
            </a:r>
            <a:endParaRPr lang="en-US" sz="1050" dirty="0"/>
          </a:p>
        </p:txBody>
      </p:sp>
      <p:sp>
        <p:nvSpPr>
          <p:cNvPr id="29" name="Text 26"/>
          <p:cNvSpPr txBox="1"/>
          <p:nvPr/>
        </p:nvSpPr>
        <p:spPr>
          <a:xfrm>
            <a:off x="967435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A coding agent</a:t>
            </a:r>
            <a:endParaRPr lang="en-US" sz="1500" dirty="0"/>
          </a:p>
        </p:txBody>
      </p:sp>
      <p:sp>
        <p:nvSpPr>
          <p:cNvPr id="30" name="Text 27"/>
          <p:cNvSpPr txBox="1"/>
          <p:nvPr/>
        </p:nvSpPr>
        <p:spPr>
          <a:xfrm>
            <a:off x="967435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On its own branch; it never reads community text</a:t>
            </a:r>
            <a:endParaRPr lang="en-US" sz="1100" dirty="0"/>
          </a:p>
        </p:txBody>
      </p:sp>
      <p:sp>
        <p:nvSpPr>
          <p:cNvPr id="31" name="Shape 28"/>
          <p:cNvSpPr/>
          <p:nvPr/>
        </p:nvSpPr>
        <p:spPr>
          <a:xfrm>
            <a:off x="548640" y="3566160"/>
            <a:ext cx="6949440" cy="1783080"/>
          </a:xfrm>
          <a:prstGeom prst="roundRect">
            <a:avLst>
              <a:gd name="adj" fmla="val 6154"/>
            </a:avLst>
          </a:prstGeom>
          <a:solidFill>
            <a:srgbClr val="E9F3EC"/>
          </a:solidFill>
          <a:ln w="12700">
            <a:solidFill>
              <a:srgbClr val="E9F3EC"/>
            </a:solidFill>
            <a:prstDash val="solid"/>
          </a:ln>
        </p:spPr>
      </p:sp>
      <p:sp>
        <p:nvSpPr>
          <p:cNvPr id="32" name="Text 29"/>
          <p:cNvSpPr txBox="1"/>
          <p:nvPr/>
        </p:nvSpPr>
        <p:spPr>
          <a:xfrm>
            <a:off x="749808" y="3703320"/>
            <a:ext cx="2743200" cy="228600"/>
          </a:xfrm>
          <a:prstGeom prst="rect">
            <a:avLst/>
          </a:prstGeom>
          <a:noFill/>
          <a:ln/>
        </p:spPr>
        <p:txBody>
          <a:bodyPr wrap="square" lIns="0" tIns="0" rIns="0" bIns="0" rtlCol="0" anchor="t"/>
          <a:lstStyle/>
          <a:p>
            <a:pPr indent="0" marL="0">
              <a:buNone/>
            </a:pPr>
            <a:r>
              <a:rPr lang="en-US" sz="1050" b="1" dirty="0">
                <a:solidFill>
                  <a:srgbClr val="0A7F44"/>
                </a:solidFill>
              </a:rPr>
              <a:t>6 · NINE GATES</a:t>
            </a:r>
            <a:endParaRPr lang="en-US" sz="1050" dirty="0"/>
          </a:p>
        </p:txBody>
      </p:sp>
      <p:sp>
        <p:nvSpPr>
          <p:cNvPr id="33" name="Text 30"/>
          <p:cNvSpPr txBox="1"/>
          <p:nvPr/>
        </p:nvSpPr>
        <p:spPr>
          <a:xfrm>
            <a:off x="749808" y="3950208"/>
            <a:ext cx="4572000" cy="347472"/>
          </a:xfrm>
          <a:prstGeom prst="rect">
            <a:avLst/>
          </a:prstGeom>
          <a:noFill/>
          <a:ln/>
        </p:spPr>
        <p:txBody>
          <a:bodyPr wrap="square" lIns="0" tIns="0" rIns="0" bIns="0" rtlCol="0" anchor="t"/>
          <a:lstStyle/>
          <a:p>
            <a:pPr indent="0" marL="0">
              <a:buNone/>
            </a:pPr>
            <a:r>
              <a:rPr lang="en-US" sz="1600" b="1" dirty="0">
                <a:solidFill>
                  <a:srgbClr val="0A0A0B"/>
                </a:solidFill>
              </a:rPr>
              <a:t>Stops at the first failure</a:t>
            </a:r>
            <a:endParaRPr lang="en-US" sz="1600" dirty="0"/>
          </a:p>
        </p:txBody>
      </p:sp>
      <p:sp>
        <p:nvSpPr>
          <p:cNvPr id="34" name="Shape 31"/>
          <p:cNvSpPr/>
          <p:nvPr/>
        </p:nvSpPr>
        <p:spPr>
          <a:xfrm>
            <a:off x="749808" y="4434840"/>
            <a:ext cx="1298448" cy="310896"/>
          </a:xfrm>
          <a:prstGeom prst="roundRect">
            <a:avLst>
              <a:gd name="adj" fmla="val 50000"/>
            </a:avLst>
          </a:prstGeom>
          <a:solidFill>
            <a:srgbClr val="FFFFFF"/>
          </a:solidFill>
          <a:ln w="12700">
            <a:solidFill>
              <a:srgbClr val="FFFFFF"/>
            </a:solidFill>
            <a:prstDash val="solid"/>
          </a:ln>
        </p:spPr>
      </p:sp>
      <p:sp>
        <p:nvSpPr>
          <p:cNvPr id="35" name="Text 32"/>
          <p:cNvSpPr txBox="1"/>
          <p:nvPr/>
        </p:nvSpPr>
        <p:spPr>
          <a:xfrm>
            <a:off x="749808"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6" name="Shape 33"/>
          <p:cNvSpPr/>
          <p:nvPr/>
        </p:nvSpPr>
        <p:spPr>
          <a:xfrm>
            <a:off x="2093976" y="4434840"/>
            <a:ext cx="1298448" cy="310896"/>
          </a:xfrm>
          <a:prstGeom prst="roundRect">
            <a:avLst>
              <a:gd name="adj" fmla="val 50000"/>
            </a:avLst>
          </a:prstGeom>
          <a:solidFill>
            <a:srgbClr val="FFFFFF"/>
          </a:solidFill>
          <a:ln w="12700">
            <a:solidFill>
              <a:srgbClr val="FFFFFF"/>
            </a:solidFill>
            <a:prstDash val="solid"/>
          </a:ln>
        </p:spPr>
      </p:sp>
      <p:sp>
        <p:nvSpPr>
          <p:cNvPr id="37" name="Text 34"/>
          <p:cNvSpPr txBox="1"/>
          <p:nvPr/>
        </p:nvSpPr>
        <p:spPr>
          <a:xfrm>
            <a:off x="2093976"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8" name="Shape 35"/>
          <p:cNvSpPr/>
          <p:nvPr/>
        </p:nvSpPr>
        <p:spPr>
          <a:xfrm>
            <a:off x="3438144" y="4434840"/>
            <a:ext cx="1298448" cy="310896"/>
          </a:xfrm>
          <a:prstGeom prst="roundRect">
            <a:avLst>
              <a:gd name="adj" fmla="val 50000"/>
            </a:avLst>
          </a:prstGeom>
          <a:solidFill>
            <a:srgbClr val="FFFFFF"/>
          </a:solidFill>
          <a:ln w="12700">
            <a:solidFill>
              <a:srgbClr val="FFFFFF"/>
            </a:solidFill>
            <a:prstDash val="solid"/>
          </a:ln>
        </p:spPr>
      </p:sp>
      <p:sp>
        <p:nvSpPr>
          <p:cNvPr id="39" name="Text 36"/>
          <p:cNvSpPr txBox="1"/>
          <p:nvPr/>
        </p:nvSpPr>
        <p:spPr>
          <a:xfrm>
            <a:off x="3438144"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40" name="Shape 37"/>
          <p:cNvSpPr/>
          <p:nvPr/>
        </p:nvSpPr>
        <p:spPr>
          <a:xfrm>
            <a:off x="4782312" y="4434840"/>
            <a:ext cx="1298448" cy="310896"/>
          </a:xfrm>
          <a:prstGeom prst="roundRect">
            <a:avLst>
              <a:gd name="adj" fmla="val 50000"/>
            </a:avLst>
          </a:prstGeom>
          <a:solidFill>
            <a:srgbClr val="FFFFFF"/>
          </a:solidFill>
          <a:ln w="12700">
            <a:solidFill>
              <a:srgbClr val="FFFFFF"/>
            </a:solidFill>
            <a:prstDash val="solid"/>
          </a:ln>
        </p:spPr>
      </p:sp>
      <p:sp>
        <p:nvSpPr>
          <p:cNvPr id="41" name="Text 38"/>
          <p:cNvSpPr txBox="1"/>
          <p:nvPr/>
        </p:nvSpPr>
        <p:spPr>
          <a:xfrm>
            <a:off x="4782312"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2" name="Shape 39"/>
          <p:cNvSpPr/>
          <p:nvPr/>
        </p:nvSpPr>
        <p:spPr>
          <a:xfrm>
            <a:off x="6126480" y="4434840"/>
            <a:ext cx="1298448" cy="310896"/>
          </a:xfrm>
          <a:prstGeom prst="roundRect">
            <a:avLst>
              <a:gd name="adj" fmla="val 50000"/>
            </a:avLst>
          </a:prstGeom>
          <a:solidFill>
            <a:srgbClr val="FFFFFF"/>
          </a:solidFill>
          <a:ln w="12700">
            <a:solidFill>
              <a:srgbClr val="FFFFFF"/>
            </a:solidFill>
            <a:prstDash val="solid"/>
          </a:ln>
        </p:spPr>
      </p:sp>
      <p:sp>
        <p:nvSpPr>
          <p:cNvPr id="43" name="Text 40"/>
          <p:cNvSpPr txBox="1"/>
          <p:nvPr/>
        </p:nvSpPr>
        <p:spPr>
          <a:xfrm>
            <a:off x="6126480"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4" name="Shape 41"/>
          <p:cNvSpPr/>
          <p:nvPr/>
        </p:nvSpPr>
        <p:spPr>
          <a:xfrm>
            <a:off x="749808" y="4855464"/>
            <a:ext cx="1298448" cy="310896"/>
          </a:xfrm>
          <a:prstGeom prst="roundRect">
            <a:avLst>
              <a:gd name="adj" fmla="val 50000"/>
            </a:avLst>
          </a:prstGeom>
          <a:solidFill>
            <a:srgbClr val="FFFFFF"/>
          </a:solidFill>
          <a:ln w="12700">
            <a:solidFill>
              <a:srgbClr val="FFFFFF"/>
            </a:solidFill>
            <a:prstDash val="solid"/>
          </a:ln>
        </p:spPr>
      </p:sp>
      <p:sp>
        <p:nvSpPr>
          <p:cNvPr id="45" name="Text 42"/>
          <p:cNvSpPr txBox="1"/>
          <p:nvPr/>
        </p:nvSpPr>
        <p:spPr>
          <a:xfrm>
            <a:off x="749808"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6" name="Shape 43"/>
          <p:cNvSpPr/>
          <p:nvPr/>
        </p:nvSpPr>
        <p:spPr>
          <a:xfrm>
            <a:off x="2093976" y="4855464"/>
            <a:ext cx="1298448" cy="310896"/>
          </a:xfrm>
          <a:prstGeom prst="roundRect">
            <a:avLst>
              <a:gd name="adj" fmla="val 50000"/>
            </a:avLst>
          </a:prstGeom>
          <a:solidFill>
            <a:srgbClr val="FFFFFF"/>
          </a:solidFill>
          <a:ln w="12700">
            <a:solidFill>
              <a:srgbClr val="FFFFFF"/>
            </a:solidFill>
            <a:prstDash val="solid"/>
          </a:ln>
        </p:spPr>
      </p:sp>
      <p:sp>
        <p:nvSpPr>
          <p:cNvPr id="47" name="Text 44"/>
          <p:cNvSpPr txBox="1"/>
          <p:nvPr/>
        </p:nvSpPr>
        <p:spPr>
          <a:xfrm>
            <a:off x="2093976"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Autopilot pass^3</a:t>
            </a:r>
            <a:endParaRPr lang="en-US" sz="950" dirty="0"/>
          </a:p>
        </p:txBody>
      </p:sp>
      <p:sp>
        <p:nvSpPr>
          <p:cNvPr id="48" name="Shape 45"/>
          <p:cNvSpPr/>
          <p:nvPr/>
        </p:nvSpPr>
        <p:spPr>
          <a:xfrm>
            <a:off x="3438144" y="4855464"/>
            <a:ext cx="1298448" cy="310896"/>
          </a:xfrm>
          <a:prstGeom prst="roundRect">
            <a:avLst>
              <a:gd name="adj" fmla="val 50000"/>
            </a:avLst>
          </a:prstGeom>
          <a:solidFill>
            <a:srgbClr val="FFFFFF"/>
          </a:solidFill>
          <a:ln w="12700">
            <a:solidFill>
              <a:srgbClr val="FFFFFF"/>
            </a:solidFill>
            <a:prstDash val="solid"/>
          </a:ln>
        </p:spPr>
      </p:sp>
      <p:sp>
        <p:nvSpPr>
          <p:cNvPr id="49" name="Text 46"/>
          <p:cNvSpPr txBox="1"/>
          <p:nvPr/>
        </p:nvSpPr>
        <p:spPr>
          <a:xfrm>
            <a:off x="3438144"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50" name="Shape 47"/>
          <p:cNvSpPr/>
          <p:nvPr/>
        </p:nvSpPr>
        <p:spPr>
          <a:xfrm>
            <a:off x="4782312" y="4855464"/>
            <a:ext cx="1298448" cy="310896"/>
          </a:xfrm>
          <a:prstGeom prst="roundRect">
            <a:avLst>
              <a:gd name="adj" fmla="val 50000"/>
            </a:avLst>
          </a:prstGeom>
          <a:solidFill>
            <a:srgbClr val="FFFFFF"/>
          </a:solidFill>
          <a:ln w="12700">
            <a:solidFill>
              <a:srgbClr val="FFFFFF"/>
            </a:solidFill>
            <a:prstDash val="solid"/>
          </a:ln>
        </p:spPr>
      </p:sp>
      <p:sp>
        <p:nvSpPr>
          <p:cNvPr id="51" name="Text 48"/>
          <p:cNvSpPr txBox="1"/>
          <p:nvPr/>
        </p:nvSpPr>
        <p:spPr>
          <a:xfrm>
            <a:off x="4782312"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2" name="Shape 49"/>
          <p:cNvSpPr/>
          <p:nvPr/>
        </p:nvSpPr>
        <p:spPr>
          <a:xfrm>
            <a:off x="7543800" y="4453128"/>
            <a:ext cx="274320" cy="0"/>
          </a:xfrm>
          <a:prstGeom prst="line">
            <a:avLst/>
          </a:prstGeom>
          <a:noFill/>
          <a:ln w="22225">
            <a:solidFill>
              <a:srgbClr val="8A8A92"/>
            </a:solidFill>
            <a:prstDash val="solid"/>
            <a:tailEnd type="triangle"/>
          </a:ln>
        </p:spPr>
      </p:sp>
      <p:sp>
        <p:nvSpPr>
          <p:cNvPr id="53" name="Shape 50"/>
          <p:cNvSpPr/>
          <p:nvPr/>
        </p:nvSpPr>
        <p:spPr>
          <a:xfrm>
            <a:off x="7863840" y="3566160"/>
            <a:ext cx="3749040" cy="1783080"/>
          </a:xfrm>
          <a:prstGeom prst="roundRect">
            <a:avLst>
              <a:gd name="adj" fmla="val 6154"/>
            </a:avLst>
          </a:prstGeom>
          <a:solidFill>
            <a:srgbClr val="FFFFFF"/>
          </a:solidFill>
          <a:ln w="25400">
            <a:solidFill>
              <a:srgbClr val="D1352B"/>
            </a:solidFill>
            <a:prstDash val="solid"/>
          </a:ln>
        </p:spPr>
      </p:sp>
      <p:sp>
        <p:nvSpPr>
          <p:cNvPr id="54" name="Text 51"/>
          <p:cNvSpPr txBox="1"/>
          <p:nvPr/>
        </p:nvSpPr>
        <p:spPr>
          <a:xfrm>
            <a:off x="8065008" y="3703320"/>
            <a:ext cx="3291840" cy="228600"/>
          </a:xfrm>
          <a:prstGeom prst="rect">
            <a:avLst/>
          </a:prstGeom>
          <a:noFill/>
          <a:ln/>
        </p:spPr>
        <p:txBody>
          <a:bodyPr wrap="square" lIns="0" tIns="0" rIns="0" bIns="0" rtlCol="0" anchor="t"/>
          <a:lstStyle/>
          <a:p>
            <a:pPr indent="0" marL="0">
              <a:buNone/>
            </a:pPr>
            <a:r>
              <a:rPr lang="en-US" sz="1050" b="1" dirty="0">
                <a:solidFill>
                  <a:srgbClr val="D1352B"/>
                </a:solidFill>
              </a:rPr>
              <a:t>7 · SHIP, OR ROLL BACK</a:t>
            </a:r>
            <a:endParaRPr lang="en-US" sz="1050" dirty="0"/>
          </a:p>
        </p:txBody>
      </p:sp>
      <p:sp>
        <p:nvSpPr>
          <p:cNvPr id="55" name="Text 52"/>
          <p:cNvSpPr txBox="1"/>
          <p:nvPr/>
        </p:nvSpPr>
        <p:spPr>
          <a:xfrm>
            <a:off x="8065008" y="3950208"/>
            <a:ext cx="3291840" cy="347472"/>
          </a:xfrm>
          <a:prstGeom prst="rect">
            <a:avLst/>
          </a:prstGeom>
          <a:noFill/>
          <a:ln/>
        </p:spPr>
        <p:txBody>
          <a:bodyPr wrap="square" lIns="0" tIns="0" rIns="0" bIns="0" rtlCol="0" anchor="t"/>
          <a:lstStyle/>
          <a:p>
            <a:pPr indent="0" marL="0">
              <a:buNone/>
            </a:pPr>
            <a:r>
              <a:rPr lang="en-US" sz="1600" b="1" dirty="0">
                <a:solidFill>
                  <a:srgbClr val="0A0A0B"/>
                </a:solidFill>
              </a:rPr>
              <a:t>A small canary</a:t>
            </a:r>
            <a:endParaRPr lang="en-US" sz="1600" dirty="0"/>
          </a:p>
        </p:txBody>
      </p:sp>
      <p:sp>
        <p:nvSpPr>
          <p:cNvPr id="56" name="Text 53"/>
          <p:cNvSpPr txBox="1"/>
          <p:nvPr/>
        </p:nvSpPr>
        <p:spPr>
          <a:xfrm>
            <a:off x="8065008" y="4370832"/>
            <a:ext cx="3383280" cy="868680"/>
          </a:xfrm>
          <a:prstGeom prst="rect">
            <a:avLst/>
          </a:prstGeom>
          <a:noFill/>
          <a:ln/>
        </p:spPr>
        <p:txBody>
          <a:bodyPr wrap="square" lIns="0" tIns="0" rIns="0" bIns="0" rtlCol="0" anchor="t"/>
          <a:lstStyle/>
          <a:p>
            <a:pPr indent="0" marL="0">
              <a:buNone/>
            </a:pPr>
            <a:r>
              <a:rPr lang="en-US" sz="1200" dirty="0">
                <a:solidFill>
                  <a:srgbClr val="55555C"/>
                </a:solidFill>
              </a:rPr>
              <a:t>Turns itself off if thumbs down rise. Anything beyond a safe setting waits for a person.</a:t>
            </a:r>
            <a:endParaRPr lang="en-US" sz="1200" dirty="0"/>
          </a:p>
        </p:txBody>
      </p:sp>
      <p:sp>
        <p:nvSpPr>
          <p:cNvPr id="57" name="Shape 54"/>
          <p:cNvSpPr/>
          <p:nvPr/>
        </p:nvSpPr>
        <p:spPr>
          <a:xfrm>
            <a:off x="548640" y="5577840"/>
            <a:ext cx="11064240" cy="658368"/>
          </a:xfrm>
          <a:prstGeom prst="roundRect">
            <a:avLst>
              <a:gd name="adj" fmla="val 16667"/>
            </a:avLst>
          </a:prstGeom>
          <a:solidFill>
            <a:srgbClr val="0A0A0B"/>
          </a:solidFill>
          <a:ln w="12700">
            <a:solidFill>
              <a:srgbClr val="0A0A0B"/>
            </a:solidFill>
            <a:prstDash val="solid"/>
          </a:ln>
        </p:spPr>
      </p:sp>
      <p:sp>
        <p:nvSpPr>
          <p:cNvPr id="58" name="Text 55"/>
          <p:cNvSpPr txBox="1"/>
          <p:nvPr/>
        </p:nvSpPr>
        <p:spPr>
          <a:xfrm>
            <a:off x="777240" y="5577840"/>
            <a:ext cx="1463040" cy="658368"/>
          </a:xfrm>
          <a:prstGeom prst="rect">
            <a:avLst/>
          </a:prstGeom>
          <a:noFill/>
          <a:ln/>
        </p:spPr>
        <p:txBody>
          <a:bodyPr wrap="square" lIns="0" tIns="0" rIns="0" bIns="0" rtlCol="0" anchor="ctr"/>
          <a:lstStyle/>
          <a:p>
            <a:pPr indent="0" marL="0">
              <a:buNone/>
            </a:pPr>
            <a:r>
              <a:rPr lang="en-US" sz="1200" b="1" dirty="0">
                <a:solidFill>
                  <a:srgbClr val="FFFFFF"/>
                </a:solidFill>
              </a:rPr>
              <a:t>NEVER-LIST</a:t>
            </a:r>
            <a:endParaRPr lang="en-US" sz="1200" dirty="0"/>
          </a:p>
        </p:txBody>
      </p:sp>
      <p:sp>
        <p:nvSpPr>
          <p:cNvPr id="59" name="Text 56"/>
          <p:cNvSpPr txBox="1"/>
          <p:nvPr/>
        </p:nvSpPr>
        <p:spPr>
          <a:xfrm>
            <a:off x="2240280" y="5577840"/>
            <a:ext cx="9235440" cy="658368"/>
          </a:xfrm>
          <a:prstGeom prst="rect">
            <a:avLst/>
          </a:prstGeom>
          <a:noFill/>
          <a:ln/>
        </p:spPr>
        <p:txBody>
          <a:bodyPr wrap="square" lIns="0" tIns="0" rIns="0" bIns="0" rtlCol="0" anchor="ctr"/>
          <a:lstStyle/>
          <a:p>
            <a:pPr indent="0" marL="0">
              <a:buNone/>
            </a:pPr>
            <a:r>
              <a:rPr lang="en-US" sz="1300" dirty="0">
                <a:solidFill>
                  <a:srgbClr val="FFFFFF"/>
                </a:solidFill>
              </a:rPr>
              <a:t>Booking without a yes · data off the server · a diagnosis or a dose · the guards · the tests · A2A · deployment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Ollama · 4 requests in parallel · tools, JSON Schemas, vision</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2026-10-29T00:53:02Z</dcterms:created>
  <dcterms:modified xsi:type="dcterms:W3CDTF">2026-10-29T00:53:02Z</dcterms:modified>
</cp:coreProperties>
</file>