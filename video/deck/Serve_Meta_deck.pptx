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2.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3.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ec2f8fe-0c47-5742-1e59-24baaff3efc9}">
          <p14:sldIdLst>
            <p14:sldId id="256"/>
            <p14:sldId id="257"/>
          </p14:sldIdLst>
        </p14:section>
        <p14:section name="Impact" id="{7f8d7693-8a41-b8d3-c378-e21ad245bce1}">
          <p14:sldIdLst>
            <p14:sldId id="258"/>
            <p14:sldId id="259"/>
          </p14:sldIdLst>
        </p14:section>
        <p14:section name="Demo" id="{197d026d-b350-25f1-7ad8-e28772db9e03}">
          <p14:sldIdLst>
            <p14:sldId id="260"/>
            <p14:sldId id="261"/>
            <p14:sldId id="262"/>
          </p14:sldIdLst>
        </p14:section>
        <p14:section name="Use of Meta AI" id="{ed4cc494-3e64-46a4-1249-5eb67f4beceb}">
          <p14:sldIdLst>
            <p14:sldId id="263"/>
            <p14:sldId id="264"/>
            <p14:sldId id="265"/>
            <p14:sldId id="266"/>
            <p14:sldId id="267"/>
          </p14:sldIdLst>
        </p14:section>
        <p14:section name="Technical depth" id="{071b5c9d-14c0-d257-4f96-fb959bb6778e}">
          <p14:sldIdLst>
            <p14:sldId id="268"/>
            <p14:sldId id="269"/>
            <p14:sldId id="270"/>
            <p14:sldId id="271"/>
            <p14:sldId id="272"/>
            <p14:sldId id="273"/>
            <p14:sldId id="274"/>
          </p14:sldIdLst>
        </p14:section>
        <p14:section name="Architecture" id="{44fc56a7-9a58-cc57-531f-1f31c260be51}">
          <p14:sldIdLst>
            <p14:sldId id="275"/>
          </p14:sldIdLst>
        </p14:section>
        <p14:section name="Close" id="{4d5c1209-1fe8-d2bf-e0fa-1feb8b961345}">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A0A0B"/>
                </a:solidFill>
                <a:latin typeface="+mn-lt"/>
              </a:defRPr>
            </a:pPr>
            <a:r>
              <a:rPr sz="1200" b="0" i="0" u="none" strike="noStrike">
                <a:solidFill>
                  <a:srgbClr val="0A0A0B"/>
                </a:solidFill>
                <a:latin typeface="+mn-lt"/>
              </a:rPr>
              <a:t>Agrees with Glimmer, 500 held-out cases</a:t>
            </a:r>
          </a:p>
        </c:rich>
      </c:tx>
      <c:layout/>
      <c:overlay val="0"/>
    </c:title>
    <c:autoTitleDeleted val="0"/>
    <c:plotArea>
      <c:layout/>
      <c:barChart>
        <c:barDir val="bar"/>
        <c:grouping val="clustered"/>
        <c:varyColors val="0"/>
        <c:ser>
          <c:idx val="0"/>
          <c:order val="0"/>
          <c:tx>
            <c:strRef>
              <c:f>Sheet1!$B$1</c:f>
              <c:strCache>
                <c:ptCount val="1"/>
                <c:pt idx="0">
                  <c:v>Agrees with Glimmer's answer, held-out members</c:v>
                </c:pt>
              </c:strCache>
            </c:strRef>
          </c:tx>
          <c:spPr>
            <a:solidFill>
              <a:srgbClr val="8A8A92"/>
            </a:solidFill>
            <a:effectLst/>
          </c:spPr>
          <c:invertIfNegative val="0"/>
          <c:dLbls>
            <c:numFmt formatCode="0.0&quot;%&quot;" sourceLinked="0"/>
            <c:txPr>
              <a:bodyPr/>
              <a:lstStyle/>
              <a:p>
                <a:pPr>
                  <a:defRPr b="1" i="0" strike="noStrike" sz="1200" u="none">
                    <a:solidFill>
                      <a:srgbClr val="0A0A0B"/>
                    </a:solidFill>
                    <a:latin typeface="+mn-lt"/>
                  </a:defRPr>
                </a:pPr>
              </a:p>
            </c:txPr>
            <c:showLegendKey val="0"/>
            <c:showVal val="1"/>
            <c:showCatName val="0"/>
            <c:showSerName val="0"/>
            <c:showPercent val="0"/>
            <c:showBubbleSize val="0"/>
            <c:showLeaderLines val="0"/>
          </c:dLbls>
          <c:dPt>
            <c:idx val="0"/>
            <c:invertIfNegative val="0"/>
            <c:bubble3D val="0"/>
            <c:spPr>
              <a:solidFill>
                <a:srgbClr val="8A8A92"/>
              </a:solidFill>
              <a:effectLst/>
            </c:spPr>
          </c:dPt>
          <c:dPt>
            <c:idx val="1"/>
            <c:invertIfNegative val="0"/>
            <c:bubble3D val="0"/>
            <c:spPr>
              <a:solidFill>
                <a:srgbClr val="DCDCE0"/>
              </a:solidFill>
              <a:effectLst/>
            </c:spPr>
          </c:dPt>
          <c:dPt>
            <c:idx val="2"/>
            <c:invertIfNegative val="0"/>
            <c:bubble3D val="0"/>
            <c:spPr>
              <a:solidFill>
                <a:srgbClr val="0064E0"/>
              </a:solidFill>
              <a:effectLst/>
            </c:spPr>
          </c:dPt>
          <c:dPt>
            <c:idx val="3"/>
            <c:invertIfNegative val="0"/>
            <c:bubble3D val="0"/>
            <c:spPr>
              <a:solidFill>
                <a:srgbClr val="0A7F44"/>
              </a:solidFill>
              <a:effectLst/>
            </c:spPr>
          </c:dPt>
          <c:cat>
            <c:multiLvlStrRef>
              <c:f>Sheet1!$A$2:$A$5</c:f>
              <c:multiLvlStrCache>
                <c:ptCount val="4"/>
                <c:lvl>
                  <c:pt idx="0">
                    <c:v>Glimmer with itself</c:v>
                  </c:pt>
                  <c:pt idx="1">
                    <c:v>First time listed</c:v>
                  </c:pt>
                  <c:pt idx="2">
                    <c:v>3B student</c:v>
                  </c:pt>
                  <c:pt idx="3">
                    <c:v>1B student (served)</c:v>
                  </c:pt>
                </c:lvl>
              </c:multiLvlStrCache>
            </c:multiLvlStrRef>
          </c:cat>
          <c:val>
            <c:numRef>
              <c:f>Sheet1!$B$2:$B$5</c:f>
              <c:numCache>
                <c:formatCode>General</c:formatCode>
                <c:ptCount val="4"/>
                <c:pt idx="0">
                  <c:v>88.8</c:v>
                </c:pt>
                <c:pt idx="1">
                  <c:v>82.7</c:v>
                </c:pt>
                <c:pt idx="2">
                  <c:v>88.6</c:v>
                </c:pt>
                <c:pt idx="3">
                  <c:v>89.5</c:v>
                </c:pt>
              </c:numCache>
            </c:numRef>
          </c:val>
        </c:ser>
        <c:dLbls>
          <c:numFmt formatCode="0.0&quot;%&quot;" sourceLinked="0"/>
          <c:txPr>
            <a:bodyPr/>
            <a:lstStyle/>
            <a:p>
              <a:pPr>
                <a:defRPr b="1" i="0" strike="noStrike" sz="1200" u="none">
                  <a:solidFill>
                    <a:srgbClr val="0A0A0B"/>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00"/>
          <c:min val="6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A0A0B"/>
                </a:solidFill>
                <a:latin typeface="+mn-lt"/>
              </a:defRPr>
            </a:pPr>
            <a:r>
              <a:rPr sz="1200" b="0" i="0" u="none" strike="noStrike">
                <a:solidFill>
                  <a:srgbClr val="0A0A0B"/>
                </a:solidFill>
                <a:latin typeface="+mn-lt"/>
              </a:rPr>
              <a:t>The hardest 196 cases, by threshold</a:t>
            </a:r>
          </a:p>
        </c:rich>
      </c:tx>
      <c:layout/>
      <c:overlay val="0"/>
    </c:title>
    <c:autoTitleDeleted val="0"/>
    <c:plotArea>
      <c:layout/>
      <c:lineChart>
        <c:varyColors val="0"/>
        <c:ser>
          <c:idx val="0"/>
          <c:order val="0"/>
          <c:tx>
            <c:strRef>
              <c:f>Sheet1!$B$1</c:f>
              <c:strCache>
                <c:ptCount val="1"/>
                <c:pt idx="0">
                  <c:v>Answered by the student</c:v>
                </c:pt>
              </c:strCache>
            </c:strRef>
          </c:tx>
          <c:spPr>
            <a:solidFill>
              <a:srgbClr val="0A7F44"/>
            </a:solidFill>
            <a:ln w="31750" cap="flat">
              <a:solidFill>
                <a:srgbClr val="0A7F4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A7F44"/>
              </a:solidFill>
              <a:ln w="9525" cap="flat">
                <a:solidFill>
                  <a:srgbClr val="0A7F44"/>
                </a:solidFill>
                <a:prstDash val="solid"/>
                <a:round/>
              </a:ln>
              <a:effectLst/>
            </c:spPr>
          </c:marker>
          <c:cat>
            <c:multiLvlStrRef>
              <c:f>Sheet1!$A$2:$A$7</c:f>
              <c:multiLvlStrCache>
                <c:ptCount val="6"/>
                <c:lvl>
                  <c:pt idx="0">
                    <c:v>0</c:v>
                  </c:pt>
                  <c:pt idx="1">
                    <c:v>0.5</c:v>
                  </c:pt>
                  <c:pt idx="2">
                    <c:v>0.6</c:v>
                  </c:pt>
                  <c:pt idx="3">
                    <c:v>0.7</c:v>
                  </c:pt>
                  <c:pt idx="4">
                    <c:v>0.8</c:v>
                  </c:pt>
                  <c:pt idx="5">
                    <c:v>0.9</c:v>
                  </c:pt>
                </c:lvl>
              </c:multiLvlStrCache>
            </c:multiLvlStrRef>
          </c:cat>
          <c:val>
            <c:numRef>
              <c:f>Sheet1!$B$2:$B$7</c:f>
              <c:numCache>
                <c:formatCode>General</c:formatCode>
                <c:ptCount val="6"/>
                <c:pt idx="0">
                  <c:v>100</c:v>
                </c:pt>
                <c:pt idx="1">
                  <c:v>96.9</c:v>
                </c:pt>
                <c:pt idx="2">
                  <c:v>73</c:v>
                </c:pt>
                <c:pt idx="3">
                  <c:v>50</c:v>
                </c:pt>
                <c:pt idx="4">
                  <c:v>34.2</c:v>
                </c:pt>
                <c:pt idx="5">
                  <c:v>27.6</c:v>
                </c:pt>
              </c:numCache>
            </c:numRef>
          </c:val>
          <c:smooth val="0"/>
        </c:ser>
        <c:ser>
          <c:idx val="1"/>
          <c:order val="1"/>
          <c:tx>
            <c:strRef>
              <c:f>Sheet1!$C$1</c:f>
              <c:strCache>
                <c:ptCount val="1"/>
                <c:pt idx="0">
                  <c:v>Cascade agrees with Glimmer</c:v>
                </c:pt>
              </c:strCache>
            </c:strRef>
          </c:tx>
          <c:spPr>
            <a:solidFill>
              <a:srgbClr val="0064E0"/>
            </a:solidFill>
            <a:ln w="31750" cap="flat">
              <a:solidFill>
                <a:srgbClr val="0064E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064E0"/>
              </a:solidFill>
              <a:ln w="9525" cap="flat">
                <a:solidFill>
                  <a:srgbClr val="0064E0"/>
                </a:solidFill>
                <a:prstDash val="solid"/>
                <a:round/>
              </a:ln>
              <a:effectLst/>
            </c:spPr>
          </c:marker>
          <c:cat>
            <c:multiLvlStrRef>
              <c:f>Sheet1!$A$2:$A$7</c:f>
              <c:multiLvlStrCache>
                <c:ptCount val="6"/>
                <c:lvl>
                  <c:pt idx="0">
                    <c:v>0</c:v>
                  </c:pt>
                  <c:pt idx="1">
                    <c:v>0.5</c:v>
                  </c:pt>
                  <c:pt idx="2">
                    <c:v>0.6</c:v>
                  </c:pt>
                  <c:pt idx="3">
                    <c:v>0.7</c:v>
                  </c:pt>
                  <c:pt idx="4">
                    <c:v>0.8</c:v>
                  </c:pt>
                  <c:pt idx="5">
                    <c:v>0.9</c:v>
                  </c:pt>
                </c:lvl>
              </c:multiLvlStrCache>
            </c:multiLvlStrRef>
          </c:cat>
          <c:val>
            <c:numRef>
              <c:f>Sheet1!$C$2:$C$7</c:f>
              <c:numCache>
                <c:formatCode>General</c:formatCode>
                <c:ptCount val="6"/>
                <c:pt idx="0">
                  <c:v>60.7</c:v>
                </c:pt>
                <c:pt idx="1">
                  <c:v>61.2</c:v>
                </c:pt>
                <c:pt idx="2">
                  <c:v>68.4</c:v>
                </c:pt>
                <c:pt idx="3">
                  <c:v>75.5</c:v>
                </c:pt>
                <c:pt idx="4">
                  <c:v>75</c:v>
                </c:pt>
                <c:pt idx="5">
                  <c:v>75.5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55555C"/>
                    </a:solidFill>
                    <a:latin typeface="Arial"/>
                  </a:defRPr>
                </a:pPr>
                <a:r>
                  <a:rPr sz="1000" b="0" i="0" u="none" strike="noStrike">
                    <a:solidFill>
                      <a:srgbClr val="55555C"/>
                    </a:solidFill>
                    <a:latin typeface="Arial"/>
                  </a:rPr>
                  <a:t>Sure at</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CDCE0"/>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0A0A0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Weekdays pinned down</c:v>
                </c:pt>
              </c:strCache>
            </c:strRef>
          </c:tx>
          <c:spPr>
            <a:solidFill>
              <a:srgbClr val="D1352B"/>
            </a:solidFill>
            <a:effectLst/>
          </c:spPr>
          <c:invertIfNegative val="0"/>
          <c:dLbls>
            <c:numFmt formatCode="0.0&quot;%&quot;" sourceLinked="0"/>
            <c:txPr>
              <a:bodyPr/>
              <a:lstStyle/>
              <a:p>
                <a:pPr>
                  <a:defRPr b="1" i="0" strike="noStrike" sz="1400" u="none">
                    <a:solidFill>
                      <a:srgbClr val="0A0A0B"/>
                    </a:solidFill>
                    <a:latin typeface="+mn-lt"/>
                  </a:defRPr>
                </a:pPr>
              </a:p>
            </c:txPr>
            <c:showLegendKey val="0"/>
            <c:showVal val="1"/>
            <c:showCatName val="0"/>
            <c:showSerName val="0"/>
            <c:showPercent val="0"/>
            <c:showBubbleSize val="0"/>
            <c:showLeaderLines val="0"/>
          </c:dLbls>
          <c:dPt>
            <c:idx val="0"/>
            <c:invertIfNegative val="0"/>
            <c:bubble3D val="0"/>
            <c:spPr>
              <a:solidFill>
                <a:srgbClr val="D1352B"/>
              </a:solidFill>
              <a:effectLst/>
            </c:spPr>
          </c:dPt>
          <c:dPt>
            <c:idx val="1"/>
            <c:invertIfNegative val="0"/>
            <c:bubble3D val="0"/>
            <c:spPr>
              <a:solidFill>
                <a:srgbClr val="0A7F44"/>
              </a:solidFill>
              <a:effectLst/>
            </c:spPr>
          </c:dPt>
          <c:cat>
            <c:multiLvlStrRef>
              <c:f>Sheet1!$A$2:$A$3</c:f>
              <c:multiLvlStrCache>
                <c:ptCount val="2"/>
                <c:lvl>
                  <c:pt idx="0">
                    <c:v>Without a budget</c:v>
                  </c:pt>
                  <c:pt idx="1">
                    <c:v>With the budget</c:v>
                  </c:pt>
                </c:lvl>
              </c:multiLvlStrCache>
            </c:multiLvlStrRef>
          </c:cat>
          <c:val>
            <c:numRef>
              <c:f>Sheet1!$B$2:$B$3</c:f>
              <c:numCache>
                <c:formatCode>General</c:formatCode>
                <c:ptCount val="2"/>
                <c:pt idx="0">
                  <c:v>97.6</c:v>
                </c:pt>
                <c:pt idx="1">
                  <c:v>32.4</c:v>
                </c:pt>
              </c:numCache>
            </c:numRef>
          </c:val>
        </c:ser>
        <c:dLbls>
          <c:numFmt formatCode="0.0&quot;%&quot;" sourceLinked="0"/>
          <c:txPr>
            <a:bodyPr/>
            <a:lstStyle/>
            <a:p>
              <a:pPr>
                <a:defRPr b="1" i="0" strike="noStrike" sz="1400" u="none">
                  <a:solidFill>
                    <a:srgbClr val="0A0A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封面：先交代比賽（Meta Global AI Developer Hackathon 2026、Indie Developer、Build for Your World），停 3 秒再轉到 Serve。
影片：cover.html，白底點陣，3.2 秒後淡入 Serve 封面。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 的封面：Play more. Manage less.
旁白：So for this hackathon, I built Serve. Not an AI coach. A club where your agent sorts things out with your friends' agents, and only asks you for one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痛點：不是不愛打球，是約不成。
旁白：Most people don't quit sports because they stopped loving the game. They quit because matching four calendars, finding a court and working around a sore knee takes too much group chat.
影片：pain.html，群組約球失敗，蓋上 No game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一頁架構圖（三欄資料流）：
左：你的脈絡——Messenger 的一句話、語音、健康 app，由 Meta DRAMA 依語意找出這週該注意的事。
中：你的 Serve agent——Muse Glimmer（加上蒸餾出的 Llama 3.2 1B）一步一步規劃，透過 A2A 跟朋友的 agent 一輪談好時間。
右：球場上下——你按一次 yes；賽後 Meta 的視覺模型剪出精華，在社群動態和限時動態分享。
底：所有東西給人看之前都先由程式檢查。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社群 app（手機畫面）：
1. 用 Facebook 或 Instagram 加入（OAuth 在伺服器上完成，只存帳號 id 的雜湊；目前 demo 用 demo 帳號，因為還沒設定 Meta app）。
2. 動態最上面是限時動態：會員的 agent 從他自己的影片剪出的精華，經本人同意才發。
3. 揪團：任何人都能加入；發文者的 agent 在留言裡用程式產生的句子回答「還剩幾個位子」。
旁白建議：You join with Facebook or Instagram. Stories are highlights your agent cut from your own video, and anyone can join a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身體脈絡（RAG）：拿掉了 3D 肌肉圖。你在 Messenger、語音或這裡說一句話，agent 把你的原話、比賽和健康 app 的紀錄都變成筆記。
規劃這週時，用 Meta 的 DRAMA 依語意檢索，越新的筆記權重越高（身體筆記 7 天減半）。畫面上的分數是真實的 DRAMA 相似度乘上時間衰減。
規則仍由程式從紀錄決定（不讓模型發明規則），每條規則都附上來源筆記，程式檢查引用是同一個部位。
旁白：Monday, I tell it my right knee is sore. Meta's DRAMA finds what matters this week, and every rule shows where it came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規劃與球場：
左：中心點球場地圖（技術報告第 4 頁那張）——每個人的通勤時間、共同空檔，agent 一輪談好。
右：手機版找球場——Prompt Guard 2 先過濾 Google 評論，Muse Glimmer 同時判斷四個球場，每個理由都引用來源，程式檢查。
旁白：Then it plans my week, and agrees it with three friends' agents at once, over A2A. Any ball sport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這頁讓評審一眼看到用了哪些 Meta 的東西：10 個 Meta 模型（全部開放權重、在我自己的伺服器上跑）＋ Messenger、Instagram/Facebook，再加上 Meta 的 Agents Rule of Two 框架。
說法：Muse Glimmer 是大腦；1B 學生模型分擔簡單決策；兩個 guard 把關進出；DRAMA 是記憶；四個視覺模型做 highlight；Messenger 是入口。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規劃 agent：Muse Glimmer 用原生 tool calling 一步一步叫工具，被拒絕的呼叫會變成事實回來，它重新規劃。A2A：每個會員一個 agent、簽章的 Agent Card、一輪就談完、談好的時間先鎖 30 分鐘、每輪存檔可續跑。兩台機器（台北的 GPU 伺服器 + GCP A100）跨網路 22/22 項檢查通過。
旁白：Then it plans my week… Then it negotiates with three friends' agents at once, over A2A.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會員通道（專屬簽章）：
1. 會員在 app 裡按「Add my agent」，瀏覽器用 Web Crypto 產生 Ed25519 金鑰，只有公鑰送到伺服器註冊，私鑰不離開瀏覽器。
2. Agent 之後每一個請求（發揪團、留言、代為加入）都簽章：方法、路徑、內容的 SHA-256、60 秒有效、一次性 nonce——跟兩台 gateway 之間用的同一套。
3. 沒簽章、重放、被改過內容、用錯路徑、或金鑰已撤銷的請求都會被拒絕並記錄原因。
4. Agent 發的東西標示「Agent · Signed」，以及是誰的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Trust：像 Messenger 一樣的「Agent 對話」頁。你的 agent 在右邊（綠色），其他會員的 agent 在左邊，一輪一輪，每則訊息下面標示意思（提案、同意、反提案、拒絕），以及程式是否已經用大家的行事曆檢查過（fits everyone）。標題列顯示對方的 Agent Card 已驗證。談成後出現「Agreed」，但要你按 yes 才訂。
這些就是 agent 之間透過 A2A 真的送出的訊息，不是摘要。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Highlight 管線（右邊都是同一記殺球：SAM 2.1 去背、MapAnything 深度、俯視環繞圖和沿弧線算繪出的三格）：DETR 找人 → Sapiens2 讀姿勢、找最快的揮拍 → SAM 2.1 把你切出來 → MapAnything 算深度和相機，時間暫停、鏡頭繞 20° → Muse Glimmer 寫說明，程式核對 → 一鍵分享到 Instagram。影片不離開伺服器。
旁白：Thursday, game done. I upload a phone clip… With MapAnything, time stops and the camera turns around the smash.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Glimmer 的帳本：記錄 2,755 次呼叫，84% 的 token 是推理；就算關掉 thinking，它還是在隱藏通道推理，預算不夠時 9% 回空白。所以每次呼叫用 think:"low" 並留推理空間。再來是三層決策：能用程式就用程式 → 1B 學生模型有把握才答（54–67%）→ 真的需要才叫 Glimmer。
旁白：Logging 2,755 calls, I found that 84% of Glimmer's tokens are reasoning…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式決策模型的微調（docs/decision_model.md）：
1. 教師資料：用真正的 fullAnswer（同一個 prompt、JSON Schema、think low）讓 Muse Glimmer 在 GCP A100 上標註，三個訓練集共 4,868 題，另有測試、驗證、demo 社團等留出集。
2. LoRA 微調 Meta 的 Llama 3.2 1B 和 3B（rank 16、3 個 epoch，1B 20 分鐘、3B 44 分鐘）。不生成任何文字：在答案位置對宣告的選項（B、C…、Z）做 softmax，並在每個時段的 works? 標記上判斷可不可行，這是它自己讀行事曆的檢查。
3. 量化成 int4 GGUF，在伺服器 CPU 上跑：1B 0.8 GB、每次決策約 0.9 秒、寫出 0 個 token（Glimmer 每次約 450 個）。
結果：留出會員上和 Glimmer 一致 89.5%，Glimmer 跟自己一致 88.8%；會員明說的偏好保住 29/32（Glimmer 27）；可行時段判讀 precision 100%；在模擬社團少用 54–67% 的 Glimmer 呼叫，沒有破壞任何規則。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學生模型和 Muse Glimmer 的交接（agent/src/agents/student.js、a2a.js fullAnswer）：
1. 先由程式處理事實能決定的：行事曆、硬規則；只剩一個可行時段就直接回答，不叫任何模型。
2. 真正需要判斷時，先問 Llama 3.2 1B 學生模型。它只有在三個條件都成立時才回答：選項機率 ≥ 0.6；它自己對「哪些時段可行」的判讀和程式算的一致；worker 有空且夠快（排隊超過 8 秒或超過 20 秒就放棄）。
3. 任何一個不成立，就交給 Muse Glimmer 完整推理。
4. 不管誰回答，程式都再檢查一次硬規則，結果才透過 A2A 送出，並標示是哪一層回答的（Agent 對話頁上看得到）。
右圖：門檻越高，學生回答得越少、整體越準；我們選 0.6：在最難的 196 題裡學生回答 73%，其餘交給 Glimmer。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兩張實驗圖（技術報告裡的）：
左：把整個社團塞進 prompt，token 隨人數線性成長；Serve 先用程式篩選候選人，每次呼叫的 token 幾乎不變。
右：一個會員的決策，每一層的成本 vs. 和完整答案一致的比例：程式 → Llama 3.2 1B → Muse Glimmer（FrugalGPT 式分層）。
這頁讓評審三秒看出工程上有量測。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安全：每個 agent 都遵守 Meta 的 Agents Rule of Two（不可信輸入、私人資料、行動能力，最多同時兩個）。揭露預算：一直約球的 agent 能拼出你一週的行程，有預算時從 97.6% 降到 32.4%（模擬的探測者）。65 個攻擊全部擋下。
旁白：Every agent follows Meta's Agents Rule of Two. And a disclosure budget cuts how much of your week a snooping agent can pin down, from 97.6% to 32.4%.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自我演化的社團：會員在 Messenger 打 /idea 或按讚 → DRAMA 依語意分群，5 人提到才出現 → 二次方投票 → Muse Glimmer 寫規格、人工核准 → coding agent 在自己的分支上實作（從不讀社群文字）→ 九道關卡，第一個失敗就停 → 小規模上線，倒讚變多就自己關掉。永遠不能改的清單。這段是模擬社團（seed 7），但管線、關卡和回滾是真的。
旁白：And the club evolves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證據頁：每個數字都有 log。e2e、攻擊測試在雲端 A100 上用同一個 Muse Glimmer（同一個 model digest）跑。可以快速帶過，或只在影片片尾字卡出現。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完整技術架構（放最後給想深入的評審）：左邊是使用者的入口；中間是 Node.js gateway 上的各個模組；右邊是 Meta 模型實際跑在哪（GPU 1 Muse Glimmer、GPU 0 視覺、CPU 上的小模型），以及外部開放資料。底下是「給人看之前先由程式檢查」與帳本/追蹤。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片尾：Play more, manage less. 黑客松期間開發聲明（TrackNetV5 除外）、repo 連結、Built on Muse Glimmer。
旁白：That's Serve. Play more, manage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rtlCol="0"/>
          <a:lstStyle>
            <a:lvl1pPr indent="0" marL="0">
              <a:buNone/>
              <a:defRPr lang="en-US" sz="1300" b="1" spc="100" kern="0" dirty="0">
                <a:solidFill>
                  <a:srgbClr val="0A7F44"/>
                </a:solidFill>
              </a:defRPr>
            </a:lvl1pPr>
          </a:lstStyle>
          <a:p>
            <a:pPr indent="0" marL="0">
              <a:buNone/>
            </a:pP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rtlCol="0"/>
          <a:lstStyle>
            <a:lvl1pPr algn="l" indent="0" marL="0">
              <a:buNone/>
              <a:defRPr lang="en-US" sz="3200" b="1" dirty="0">
                <a:solidFill>
                  <a:srgbClr val="0A0A0B"/>
                </a:solidFill>
              </a:defRPr>
            </a:lvl1pPr>
          </a:lstStyle>
          <a:p>
            <a:pPr algn="l" indent="0" marL="0">
              <a:buNone/>
            </a:pPr>
            <a:endParaRPr lang="en-US" sz="3200" dirty="0"/>
          </a:p>
        </p:txBody>
      </p:sp>
      <p:sp>
        <p:nvSpPr>
          <p:cNvPr id="4" name="Text 0"/>
          <p:cNvSpPr/>
          <p:nvPr/>
        </p:nvSpPr>
        <p:spPr>
          <a:xfrm>
            <a:off x="548640" y="6446520"/>
            <a:ext cx="6400800" cy="228600"/>
          </a:xfrm>
          <a:prstGeom prst="rect">
            <a:avLst/>
          </a:prstGeom>
          <a:noFill/>
          <a:ln/>
        </p:spPr>
        <p:txBody>
          <a:bodyPr wrap="square" lIns="0" tIns="0" rIns="0" bIns="0" rtlCol="0" anchor="ctr"/>
          <a:lstStyle/>
          <a:p>
            <a:pPr indent="0" marL="0">
              <a:buNone/>
            </a:pPr>
            <a:r>
              <a:rPr lang="en-US" sz="1000" dirty="0">
                <a:solidFill>
                  <a:srgbClr val="8A8A92"/>
                </a:solidFill>
              </a:rPr>
              <a:t>Serve · Meta Global AI Developer Hackathon 2026</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3.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slideLayout" Target="../slideLayouts/slideLayout2.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image" Target="../media/image-5-2.jpeg"/><Relationship Id="rId3" Type="http://schemas.openxmlformats.org/officeDocument/2006/relationships/image" Target="../media/image-5-3.jpe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image" Target="../media/image-6-2.jpe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image" Target="../media/image-7-2.jpe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2.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jpe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slideLayout" Target="../slideLayouts/slideLayout2.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video" Target="../media/media-12-1.mp4"/><Relationship Id="rId2" Type="http://schemas.microsoft.com/office/2007/relationships/media" Target="../media/media-12-1.mp4"/><Relationship Id="rId3" Type="http://schemas.openxmlformats.org/officeDocument/2006/relationships/image" Target="../media/image-12-3.png"/><Relationship Id="rId4" Type="http://schemas.openxmlformats.org/officeDocument/2006/relationships/image" Target="../media/image-12-4.jpeg"/><Relationship Id="rId5" Type="http://schemas.openxmlformats.org/officeDocument/2006/relationships/image" Target="../media/image-12-5.jpeg"/><Relationship Id="rId6" Type="http://schemas.openxmlformats.org/officeDocument/2006/relationships/image" Target="../media/image-12-6.jpeg"/><Relationship Id="rId7" Type="http://schemas.openxmlformats.org/officeDocument/2006/relationships/image" Target="../media/image-12-7.jpeg"/><Relationship Id="rId8" Type="http://schemas.openxmlformats.org/officeDocument/2006/relationships/slideLayout" Target="../slideLayouts/slideLayout2.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3.xml"/><Relationship Id="rId4"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40080"/>
            <a:ext cx="548640" cy="548640"/>
          </a:xfrm>
          <a:prstGeom prst="rect">
            <a:avLst/>
          </a:prstGeom>
        </p:spPr>
      </p:pic>
      <p:sp>
        <p:nvSpPr>
          <p:cNvPr id="3" name="Text 0"/>
          <p:cNvSpPr txBox="1"/>
          <p:nvPr/>
        </p:nvSpPr>
        <p:spPr>
          <a:xfrm>
            <a:off x="1371600" y="713232"/>
            <a:ext cx="1828800" cy="411480"/>
          </a:xfrm>
          <a:prstGeom prst="rect">
            <a:avLst/>
          </a:prstGeom>
          <a:noFill/>
          <a:ln/>
        </p:spPr>
        <p:txBody>
          <a:bodyPr wrap="square" lIns="0" tIns="0" rIns="0" bIns="0" rtlCol="0" anchor="ctr"/>
          <a:lstStyle/>
          <a:p>
            <a:pPr indent="0" marL="0">
              <a:buNone/>
            </a:pPr>
            <a:r>
              <a:rPr lang="en-US" sz="2200" b="1" dirty="0">
                <a:solidFill>
                  <a:srgbClr val="0A0A0B"/>
                </a:solidFill>
              </a:rPr>
              <a:t>Meta</a:t>
            </a:r>
            <a:endParaRPr lang="en-US" sz="2200" dirty="0"/>
          </a:p>
        </p:txBody>
      </p:sp>
      <p:sp>
        <p:nvSpPr>
          <p:cNvPr id="4" name="Text 1"/>
          <p:cNvSpPr txBox="1"/>
          <p:nvPr/>
        </p:nvSpPr>
        <p:spPr>
          <a:xfrm>
            <a:off x="731520" y="2148840"/>
            <a:ext cx="5486400" cy="365760"/>
          </a:xfrm>
          <a:prstGeom prst="rect">
            <a:avLst/>
          </a:prstGeom>
          <a:noFill/>
          <a:ln/>
        </p:spPr>
        <p:txBody>
          <a:bodyPr wrap="square" lIns="0" tIns="0" rIns="0" bIns="0" rtlCol="0" anchor="t"/>
          <a:lstStyle/>
          <a:p>
            <a:pPr indent="0" marL="0">
              <a:buNone/>
            </a:pPr>
            <a:r>
              <a:rPr lang="en-US" sz="2200" b="1" dirty="0">
                <a:solidFill>
                  <a:srgbClr val="0064E0"/>
                </a:solidFill>
              </a:rPr>
              <a:t>Submitted to</a:t>
            </a:r>
            <a:endParaRPr lang="en-US" sz="2200" dirty="0"/>
          </a:p>
        </p:txBody>
      </p:sp>
      <p:sp>
        <p:nvSpPr>
          <p:cNvPr id="5" name="Text 2"/>
          <p:cNvSpPr txBox="1"/>
          <p:nvPr/>
        </p:nvSpPr>
        <p:spPr>
          <a:xfrm>
            <a:off x="731520" y="2606040"/>
            <a:ext cx="10972800" cy="2011680"/>
          </a:xfrm>
          <a:prstGeom prst="rect">
            <a:avLst/>
          </a:prstGeom>
          <a:noFill/>
          <a:ln/>
        </p:spPr>
        <p:txBody>
          <a:bodyPr wrap="square" lIns="0" tIns="0" rIns="0" bIns="0" rtlCol="0" anchor="t"/>
          <a:lstStyle/>
          <a:p>
            <a:pPr indent="0" marL="0">
              <a:lnSpc>
                <a:spcPct val="92000"/>
              </a:lnSpc>
              <a:buNone/>
            </a:pPr>
            <a:r>
              <a:rPr lang="en-US" sz="5800" b="1" dirty="0">
                <a:solidFill>
                  <a:srgbClr val="0A0A0B"/>
                </a:solidFill>
              </a:rPr>
              <a:t>Meta Global AI</a:t>
            </a:r>
            <a:endParaRPr lang="en-US" sz="5800" dirty="0"/>
          </a:p>
          <a:p>
            <a:pPr indent="0" marL="0">
              <a:lnSpc>
                <a:spcPct val="92000"/>
              </a:lnSpc>
              <a:buNone/>
            </a:pPr>
            <a:r>
              <a:rPr lang="en-US" sz="5800" b="1" dirty="0">
                <a:solidFill>
                  <a:srgbClr val="0A0A0B"/>
                </a:solidFill>
              </a:rPr>
              <a:t>Developer Hackathon 2026</a:t>
            </a:r>
            <a:endParaRPr lang="en-US" sz="5800" dirty="0"/>
          </a:p>
        </p:txBody>
      </p:sp>
      <p:sp>
        <p:nvSpPr>
          <p:cNvPr id="6" name="Shape 3"/>
          <p:cNvSpPr/>
          <p:nvPr/>
        </p:nvSpPr>
        <p:spPr>
          <a:xfrm>
            <a:off x="731520" y="4892040"/>
            <a:ext cx="2103120" cy="457200"/>
          </a:xfrm>
          <a:prstGeom prst="roundRect">
            <a:avLst>
              <a:gd name="adj" fmla="val 50000"/>
            </a:avLst>
          </a:prstGeom>
          <a:solidFill>
            <a:srgbClr val="0064E0"/>
          </a:solidFill>
          <a:ln w="12700">
            <a:solidFill>
              <a:srgbClr val="0064E0"/>
            </a:solidFill>
            <a:prstDash val="solid"/>
          </a:ln>
        </p:spPr>
      </p:sp>
      <p:sp>
        <p:nvSpPr>
          <p:cNvPr id="7" name="Text 4"/>
          <p:cNvSpPr txBox="1"/>
          <p:nvPr/>
        </p:nvSpPr>
        <p:spPr>
          <a:xfrm>
            <a:off x="731520" y="4892040"/>
            <a:ext cx="2103120" cy="457200"/>
          </a:xfrm>
          <a:prstGeom prst="rect">
            <a:avLst/>
          </a:prstGeom>
          <a:noFill/>
          <a:ln/>
        </p:spPr>
        <p:txBody>
          <a:bodyPr wrap="square" lIns="0" tIns="0" rIns="0" bIns="0" rtlCol="0" anchor="ctr"/>
          <a:lstStyle/>
          <a:p>
            <a:pPr algn="ctr" indent="0" marL="0">
              <a:buNone/>
            </a:pPr>
            <a:r>
              <a:rPr lang="en-US" sz="1500" b="1" dirty="0">
                <a:solidFill>
                  <a:srgbClr val="FFFFFF"/>
                </a:solidFill>
              </a:rPr>
              <a:t>Indie Developer</a:t>
            </a:r>
            <a:endParaRPr lang="en-US" sz="1500" dirty="0"/>
          </a:p>
        </p:txBody>
      </p:sp>
      <p:sp>
        <p:nvSpPr>
          <p:cNvPr id="8" name="Shape 5"/>
          <p:cNvSpPr/>
          <p:nvPr/>
        </p:nvSpPr>
        <p:spPr>
          <a:xfrm>
            <a:off x="2971800" y="4892040"/>
            <a:ext cx="2560320" cy="457200"/>
          </a:xfrm>
          <a:prstGeom prst="roundRect">
            <a:avLst>
              <a:gd name="adj" fmla="val 50000"/>
            </a:avLst>
          </a:prstGeom>
          <a:solidFill>
            <a:srgbClr val="FFFFFF"/>
          </a:solidFill>
          <a:ln w="12700">
            <a:solidFill>
              <a:srgbClr val="DCDCE0"/>
            </a:solidFill>
            <a:prstDash val="solid"/>
          </a:ln>
        </p:spPr>
      </p:sp>
      <p:sp>
        <p:nvSpPr>
          <p:cNvPr id="9" name="Text 6"/>
          <p:cNvSpPr txBox="1"/>
          <p:nvPr/>
        </p:nvSpPr>
        <p:spPr>
          <a:xfrm>
            <a:off x="2971800" y="4892040"/>
            <a:ext cx="2560320" cy="457200"/>
          </a:xfrm>
          <a:prstGeom prst="rect">
            <a:avLst/>
          </a:prstGeom>
          <a:noFill/>
          <a:ln/>
        </p:spPr>
        <p:txBody>
          <a:bodyPr wrap="square" lIns="0" tIns="0" rIns="0" bIns="0" rtlCol="0" anchor="ctr"/>
          <a:lstStyle/>
          <a:p>
            <a:pPr algn="ctr" indent="0" marL="0">
              <a:buNone/>
            </a:pPr>
            <a:r>
              <a:rPr lang="en-US" sz="1500" b="1" dirty="0">
                <a:solidFill>
                  <a:srgbClr val="0A0A0B"/>
                </a:solidFill>
              </a:rPr>
              <a:t>Build for Your World</a:t>
            </a:r>
            <a:endParaRPr lang="en-US" sz="1500" dirty="0"/>
          </a:p>
        </p:txBody>
      </p:sp>
      <p:sp>
        <p:nvSpPr>
          <p:cNvPr id="10" name="Shape 7"/>
          <p:cNvSpPr/>
          <p:nvPr/>
        </p:nvSpPr>
        <p:spPr>
          <a:xfrm>
            <a:off x="5669280" y="4892040"/>
            <a:ext cx="2468880" cy="457200"/>
          </a:xfrm>
          <a:prstGeom prst="roundRect">
            <a:avLst>
              <a:gd name="adj" fmla="val 50000"/>
            </a:avLst>
          </a:prstGeom>
          <a:solidFill>
            <a:srgbClr val="FFFFFF"/>
          </a:solidFill>
          <a:ln w="12700">
            <a:solidFill>
              <a:srgbClr val="DCDCE0"/>
            </a:solidFill>
            <a:prstDash val="solid"/>
          </a:ln>
        </p:spPr>
      </p:sp>
      <p:sp>
        <p:nvSpPr>
          <p:cNvPr id="11" name="Text 8"/>
          <p:cNvSpPr txBox="1"/>
          <p:nvPr/>
        </p:nvSpPr>
        <p:spPr>
          <a:xfrm>
            <a:off x="5669280" y="4892040"/>
            <a:ext cx="2468880" cy="457200"/>
          </a:xfrm>
          <a:prstGeom prst="rect">
            <a:avLst/>
          </a:prstGeom>
          <a:noFill/>
          <a:ln/>
        </p:spPr>
        <p:txBody>
          <a:bodyPr wrap="square" lIns="0" tIns="0" rIns="0" bIns="0" rtlCol="0" anchor="ctr"/>
          <a:lstStyle/>
          <a:p>
            <a:pPr algn="ctr" indent="0" marL="0">
              <a:buNone/>
            </a:pPr>
            <a:r>
              <a:rPr lang="en-US" sz="1500" b="1" dirty="0">
                <a:solidFill>
                  <a:srgbClr val="0A0A0B"/>
                </a:solidFill>
              </a:rPr>
              <a:t>Oct 27 – Nov 4, 2026</a:t>
            </a:r>
            <a:endParaRPr lang="en-US" sz="1500" dirty="0"/>
          </a:p>
        </p:txBody>
      </p:sp>
      <p:pic>
        <p:nvPicPr>
          <p:cNvPr id="12" name="Image 1" descr="preencoded.png">    </p:cNvPr>
          <p:cNvPicPr>
            <a:picLocks noChangeAspect="1"/>
          </p:cNvPicPr>
          <p:nvPr/>
        </p:nvPicPr>
        <p:blipFill>
          <a:blip r:embed="rId2"/>
          <a:stretch>
            <a:fillRect/>
          </a:stretch>
        </p:blipFill>
        <p:spPr>
          <a:xfrm>
            <a:off x="731520" y="5897880"/>
            <a:ext cx="384048" cy="384048"/>
          </a:xfrm>
          <a:prstGeom prst="rect">
            <a:avLst/>
          </a:prstGeom>
        </p:spPr>
      </p:pic>
      <p:sp>
        <p:nvSpPr>
          <p:cNvPr id="13" name="Text 9"/>
          <p:cNvSpPr txBox="1"/>
          <p:nvPr/>
        </p:nvSpPr>
        <p:spPr>
          <a:xfrm>
            <a:off x="1207008" y="5897880"/>
            <a:ext cx="7315200" cy="384048"/>
          </a:xfrm>
          <a:prstGeom prst="rect">
            <a:avLst/>
          </a:prstGeom>
          <a:noFill/>
          <a:ln/>
        </p:spPr>
        <p:txBody>
          <a:bodyPr wrap="square" lIns="0" tIns="0" rIns="0" bIns="0" rtlCol="0" anchor="ctr"/>
          <a:lstStyle/>
          <a:p>
            <a:pPr indent="0" marL="0">
              <a:buNone/>
            </a:pPr>
            <a:r>
              <a:rPr lang="en-US" sz="1600" b="1" dirty="0">
                <a:solidFill>
                  <a:srgbClr val="0A0A0B"/>
                </a:solidFill>
              </a:rPr>
              <a:t>serve  ·  Play more. Manage less.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IMPACT · 30%</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People don't quit the game. They quit organizing it</a:t>
            </a:r>
            <a:endParaRPr lang="en-US" sz="3200" dirty="0"/>
          </a:p>
        </p:txBody>
      </p:sp>
      <p:sp>
        <p:nvSpPr>
          <p:cNvPr id="5" name="Shape 2"/>
          <p:cNvSpPr/>
          <p:nvPr/>
        </p:nvSpPr>
        <p:spPr>
          <a:xfrm>
            <a:off x="548640" y="1691640"/>
            <a:ext cx="3291840" cy="4434840"/>
          </a:xfrm>
          <a:prstGeom prst="roundRect">
            <a:avLst>
              <a:gd name="adj" fmla="val 3333"/>
            </a:avLst>
          </a:prstGeom>
          <a:solidFill>
            <a:srgbClr val="E9F3EC"/>
          </a:solidFill>
          <a:ln w="12700">
            <a:solidFill>
              <a:srgbClr val="E9F3EC"/>
            </a:solidFill>
            <a:prstDash val="solid"/>
          </a:ln>
        </p:spPr>
      </p:sp>
      <p:sp>
        <p:nvSpPr>
          <p:cNvPr id="6" name="Text 3"/>
          <p:cNvSpPr txBox="1"/>
          <p:nvPr/>
        </p:nvSpPr>
        <p:spPr>
          <a:xfrm>
            <a:off x="822960" y="1965960"/>
            <a:ext cx="2834640" cy="1097280"/>
          </a:xfrm>
          <a:prstGeom prst="rect">
            <a:avLst/>
          </a:prstGeom>
          <a:noFill/>
          <a:ln/>
        </p:spPr>
        <p:txBody>
          <a:bodyPr wrap="square" lIns="0" tIns="0" rIns="0" bIns="0" rtlCol="0" anchor="t"/>
          <a:lstStyle/>
          <a:p>
            <a:pPr indent="0" marL="0">
              <a:buNone/>
            </a:pPr>
            <a:r>
              <a:rPr lang="en-US" sz="7200" b="1" dirty="0">
                <a:solidFill>
                  <a:srgbClr val="0A7F44"/>
                </a:solidFill>
              </a:rPr>
              <a:t>31%</a:t>
            </a:r>
            <a:endParaRPr lang="en-US" sz="7200" dirty="0"/>
          </a:p>
        </p:txBody>
      </p:sp>
      <p:sp>
        <p:nvSpPr>
          <p:cNvPr id="7" name="Text 4"/>
          <p:cNvSpPr txBox="1"/>
          <p:nvPr/>
        </p:nvSpPr>
        <p:spPr>
          <a:xfrm>
            <a:off x="822960" y="3154680"/>
            <a:ext cx="2743200" cy="1005840"/>
          </a:xfrm>
          <a:prstGeom prst="rect">
            <a:avLst/>
          </a:prstGeom>
          <a:noFill/>
          <a:ln/>
        </p:spPr>
        <p:txBody>
          <a:bodyPr wrap="square" lIns="0" tIns="0" rIns="0" bIns="0" rtlCol="0" anchor="t"/>
          <a:lstStyle/>
          <a:p>
            <a:pPr indent="0" marL="0">
              <a:buNone/>
            </a:pPr>
            <a:r>
              <a:rPr lang="en-US" sz="1600" dirty="0">
                <a:solidFill>
                  <a:srgbClr val="0A0A0B"/>
                </a:solidFill>
              </a:rPr>
              <a:t>of adults worldwide did not get enough physical activity in 2022</a:t>
            </a:r>
            <a:endParaRPr lang="en-US" sz="1600" dirty="0"/>
          </a:p>
        </p:txBody>
      </p:sp>
      <p:sp>
        <p:nvSpPr>
          <p:cNvPr id="8" name="Text 5"/>
          <p:cNvSpPr txBox="1"/>
          <p:nvPr/>
        </p:nvSpPr>
        <p:spPr>
          <a:xfrm>
            <a:off x="822960" y="4206240"/>
            <a:ext cx="2743200" cy="274320"/>
          </a:xfrm>
          <a:prstGeom prst="rect">
            <a:avLst/>
          </a:prstGeom>
          <a:noFill/>
          <a:ln/>
        </p:spPr>
        <p:txBody>
          <a:bodyPr wrap="square" lIns="0" tIns="0" rIns="0" bIns="0" rtlCol="0" anchor="t"/>
          <a:lstStyle/>
          <a:p>
            <a:pPr indent="0" marL="0">
              <a:buNone/>
            </a:pPr>
            <a:r>
              <a:rPr lang="en-US" sz="1100" dirty="0">
                <a:solidFill>
                  <a:srgbClr val="55555C"/>
                </a:solidFill>
              </a:rPr>
              <a:t>World Health Organization, 2024</a:t>
            </a:r>
            <a:endParaRPr lang="en-US" sz="1100" dirty="0"/>
          </a:p>
        </p:txBody>
      </p:sp>
      <p:sp>
        <p:nvSpPr>
          <p:cNvPr id="9" name="Text 6"/>
          <p:cNvSpPr txBox="1"/>
          <p:nvPr/>
        </p:nvSpPr>
        <p:spPr>
          <a:xfrm>
            <a:off x="822960" y="4709160"/>
            <a:ext cx="2743200" cy="1188720"/>
          </a:xfrm>
          <a:prstGeom prst="rect">
            <a:avLst/>
          </a:prstGeom>
          <a:noFill/>
          <a:ln/>
        </p:spPr>
        <p:txBody>
          <a:bodyPr wrap="square" lIns="0" tIns="0" rIns="0" bIns="0" rtlCol="0" anchor="t"/>
          <a:lstStyle/>
          <a:p>
            <a:pPr indent="0" marL="0">
              <a:buNone/>
            </a:pPr>
            <a:r>
              <a:rPr lang="en-US" sz="1300" dirty="0">
                <a:solidFill>
                  <a:srgbClr val="55555C"/>
                </a:solidFill>
              </a:rPr>
              <a:t>For anyone who plays a ball sport for fun: badminton, tennis, pickleball, table tennis, basketball, volleyball, soccer.</a:t>
            </a:r>
            <a:endParaRPr lang="en-US" sz="1300" dirty="0"/>
          </a:p>
        </p:txBody>
      </p:sp>
      <p:sp>
        <p:nvSpPr>
          <p:cNvPr id="10" name="Text 7"/>
          <p:cNvSpPr txBox="1"/>
          <p:nvPr/>
        </p:nvSpPr>
        <p:spPr>
          <a:xfrm>
            <a:off x="4206240" y="1691640"/>
            <a:ext cx="3291840" cy="274320"/>
          </a:xfrm>
          <a:prstGeom prst="rect">
            <a:avLst/>
          </a:prstGeom>
          <a:noFill/>
          <a:ln/>
        </p:spPr>
        <p:txBody>
          <a:bodyPr wrap="square" lIns="0" tIns="0" rIns="0" bIns="0" rtlCol="0" anchor="t"/>
          <a:lstStyle/>
          <a:p>
            <a:pPr indent="0" marL="0">
              <a:buNone/>
            </a:pPr>
            <a:r>
              <a:rPr lang="en-US" sz="1100" b="1" spc="100" kern="0" dirty="0">
                <a:solidFill>
                  <a:srgbClr val="D1352B"/>
                </a:solidFill>
              </a:rPr>
              <a:t>THE PAIN</a:t>
            </a:r>
            <a:endParaRPr lang="en-US" sz="1100" dirty="0"/>
          </a:p>
        </p:txBody>
      </p:sp>
      <p:sp>
        <p:nvSpPr>
          <p:cNvPr id="11" name="Text 8"/>
          <p:cNvSpPr txBox="1"/>
          <p:nvPr/>
        </p:nvSpPr>
        <p:spPr>
          <a:xfrm>
            <a:off x="8001000" y="1691640"/>
            <a:ext cx="3566160" cy="274320"/>
          </a:xfrm>
          <a:prstGeom prst="rect">
            <a:avLst/>
          </a:prstGeom>
          <a:noFill/>
          <a:ln/>
        </p:spPr>
        <p:txBody>
          <a:bodyPr wrap="square" lIns="0" tIns="0" rIns="0" bIns="0" rtlCol="0" anchor="t"/>
          <a:lstStyle/>
          <a:p>
            <a:pPr indent="0" marL="0">
              <a:buNone/>
            </a:pPr>
            <a:r>
              <a:rPr lang="en-US" sz="1100" b="1" spc="100" kern="0" dirty="0">
                <a:solidFill>
                  <a:srgbClr val="0A7F44"/>
                </a:solidFill>
              </a:rPr>
              <a:t>WHAT SERVE DOES</a:t>
            </a:r>
            <a:endParaRPr lang="en-US" sz="1100" dirty="0"/>
          </a:p>
        </p:txBody>
      </p:sp>
      <p:sp>
        <p:nvSpPr>
          <p:cNvPr id="12" name="Shape 9"/>
          <p:cNvSpPr/>
          <p:nvPr/>
        </p:nvSpPr>
        <p:spPr>
          <a:xfrm>
            <a:off x="4206240" y="2057400"/>
            <a:ext cx="3566160" cy="1234440"/>
          </a:xfrm>
          <a:prstGeom prst="roundRect">
            <a:avLst>
              <a:gd name="adj" fmla="val 8889"/>
            </a:avLst>
          </a:prstGeom>
          <a:solidFill>
            <a:srgbClr val="FFFFFF"/>
          </a:solidFill>
          <a:ln w="12700">
            <a:solidFill>
              <a:srgbClr val="DCDCE0"/>
            </a:solidFill>
            <a:prstDash val="solid"/>
          </a:ln>
        </p:spPr>
      </p:sp>
      <p:sp>
        <p:nvSpPr>
          <p:cNvPr id="13" name="Text 10"/>
          <p:cNvSpPr txBox="1"/>
          <p:nvPr/>
        </p:nvSpPr>
        <p:spPr>
          <a:xfrm>
            <a:off x="4389120" y="21945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Playing takes organizing</a:t>
            </a:r>
            <a:endParaRPr lang="en-US" sz="1500" dirty="0"/>
          </a:p>
        </p:txBody>
      </p:sp>
      <p:sp>
        <p:nvSpPr>
          <p:cNvPr id="14" name="Text 11"/>
          <p:cNvSpPr txBox="1"/>
          <p:nvPr/>
        </p:nvSpPr>
        <p:spPr>
          <a:xfrm>
            <a:off x="4389120" y="2532888"/>
            <a:ext cx="3246120" cy="731520"/>
          </a:xfrm>
          <a:prstGeom prst="rect">
            <a:avLst/>
          </a:prstGeom>
          <a:noFill/>
          <a:ln/>
        </p:spPr>
        <p:txBody>
          <a:bodyPr wrap="square" lIns="0" tIns="0" rIns="0" bIns="0" rtlCol="0" anchor="t"/>
          <a:lstStyle/>
          <a:p>
            <a:pPr indent="0" marL="0">
              <a:buNone/>
            </a:pPr>
            <a:r>
              <a:rPr lang="en-US" sz="1200" dirty="0">
                <a:solidFill>
                  <a:srgbClr val="55555C"/>
                </a:solidFill>
              </a:rPr>
              <a:t>A time that suits four people, a free court, somewhere everyone can reach. The group chat goes quiet.</a:t>
            </a:r>
            <a:endParaRPr lang="en-US" sz="1200" dirty="0"/>
          </a:p>
        </p:txBody>
      </p:sp>
      <p:sp>
        <p:nvSpPr>
          <p:cNvPr id="15" name="Shape 12"/>
          <p:cNvSpPr/>
          <p:nvPr/>
        </p:nvSpPr>
        <p:spPr>
          <a:xfrm>
            <a:off x="7790688" y="2679192"/>
            <a:ext cx="182880" cy="0"/>
          </a:xfrm>
          <a:prstGeom prst="line">
            <a:avLst/>
          </a:prstGeom>
          <a:noFill/>
          <a:ln w="22225">
            <a:solidFill>
              <a:srgbClr val="8A8A92"/>
            </a:solidFill>
            <a:prstDash val="solid"/>
            <a:tailEnd type="triangle"/>
          </a:ln>
        </p:spPr>
      </p:sp>
      <p:sp>
        <p:nvSpPr>
          <p:cNvPr id="16" name="Shape 13"/>
          <p:cNvSpPr/>
          <p:nvPr/>
        </p:nvSpPr>
        <p:spPr>
          <a:xfrm>
            <a:off x="8001000" y="2057400"/>
            <a:ext cx="3611880" cy="1234440"/>
          </a:xfrm>
          <a:prstGeom prst="roundRect">
            <a:avLst>
              <a:gd name="adj" fmla="val 8889"/>
            </a:avLst>
          </a:prstGeom>
          <a:solidFill>
            <a:srgbClr val="E9F3EC"/>
          </a:solidFill>
          <a:ln w="12700">
            <a:solidFill>
              <a:srgbClr val="E9F3EC"/>
            </a:solidFill>
            <a:prstDash val="solid"/>
          </a:ln>
        </p:spPr>
      </p:sp>
      <p:sp>
        <p:nvSpPr>
          <p:cNvPr id="17" name="Text 14"/>
          <p:cNvSpPr txBox="1"/>
          <p:nvPr/>
        </p:nvSpPr>
        <p:spPr>
          <a:xfrm>
            <a:off x="8183880" y="2221992"/>
            <a:ext cx="3291840" cy="1005840"/>
          </a:xfrm>
          <a:prstGeom prst="rect">
            <a:avLst/>
          </a:prstGeom>
          <a:noFill/>
          <a:ln/>
        </p:spPr>
        <p:txBody>
          <a:bodyPr wrap="square" lIns="0" tIns="0" rIns="0" bIns="0" rtlCol="0" anchor="t"/>
          <a:lstStyle/>
          <a:p>
            <a:pPr indent="0" marL="0">
              <a:buNone/>
            </a:pPr>
            <a:r>
              <a:rPr lang="en-US" sz="1300" dirty="0">
                <a:solidFill>
                  <a:srgbClr val="0A0A0B"/>
                </a:solidFill>
              </a:rPr>
              <a:t>Your agent lines up the week and agrees every game with the other players' agents. You approve once.</a:t>
            </a:r>
            <a:endParaRPr lang="en-US" sz="1300" dirty="0"/>
          </a:p>
        </p:txBody>
      </p:sp>
      <p:sp>
        <p:nvSpPr>
          <p:cNvPr id="18" name="Shape 15"/>
          <p:cNvSpPr/>
          <p:nvPr/>
        </p:nvSpPr>
        <p:spPr>
          <a:xfrm>
            <a:off x="4206240" y="3429000"/>
            <a:ext cx="3566160" cy="1234440"/>
          </a:xfrm>
          <a:prstGeom prst="roundRect">
            <a:avLst>
              <a:gd name="adj" fmla="val 8889"/>
            </a:avLst>
          </a:prstGeom>
          <a:solidFill>
            <a:srgbClr val="FFFFFF"/>
          </a:solidFill>
          <a:ln w="12700">
            <a:solidFill>
              <a:srgbClr val="DCDCE0"/>
            </a:solidFill>
            <a:prstDash val="solid"/>
          </a:ln>
        </p:spPr>
      </p:sp>
      <p:sp>
        <p:nvSpPr>
          <p:cNvPr id="19" name="Text 16"/>
          <p:cNvSpPr txBox="1"/>
          <p:nvPr/>
        </p:nvSpPr>
        <p:spPr>
          <a:xfrm>
            <a:off x="4389120" y="35661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Nobody pushes you</a:t>
            </a:r>
            <a:endParaRPr lang="en-US" sz="1500" dirty="0"/>
          </a:p>
        </p:txBody>
      </p:sp>
      <p:sp>
        <p:nvSpPr>
          <p:cNvPr id="20" name="Text 17"/>
          <p:cNvSpPr txBox="1"/>
          <p:nvPr/>
        </p:nvSpPr>
        <p:spPr>
          <a:xfrm>
            <a:off x="4389120" y="3904488"/>
            <a:ext cx="3246120" cy="731520"/>
          </a:xfrm>
          <a:prstGeom prst="rect">
            <a:avLst/>
          </a:prstGeom>
          <a:noFill/>
          <a:ln/>
        </p:spPr>
        <p:txBody>
          <a:bodyPr wrap="square" lIns="0" tIns="0" rIns="0" bIns="0" rtlCol="0" anchor="t"/>
          <a:lstStyle/>
          <a:p>
            <a:pPr indent="0" marL="0">
              <a:buNone/>
            </a:pPr>
            <a:r>
              <a:rPr lang="en-US" sz="1200" dirty="0">
                <a:solidFill>
                  <a:srgbClr val="55555C"/>
                </a:solidFill>
              </a:rPr>
              <a:t>One missed week becomes a month. Apps count steps; none books your next game.</a:t>
            </a:r>
            <a:endParaRPr lang="en-US" sz="1200" dirty="0"/>
          </a:p>
        </p:txBody>
      </p:sp>
      <p:sp>
        <p:nvSpPr>
          <p:cNvPr id="21" name="Shape 18"/>
          <p:cNvSpPr/>
          <p:nvPr/>
        </p:nvSpPr>
        <p:spPr>
          <a:xfrm>
            <a:off x="7790688" y="4050792"/>
            <a:ext cx="182880" cy="0"/>
          </a:xfrm>
          <a:prstGeom prst="line">
            <a:avLst/>
          </a:prstGeom>
          <a:noFill/>
          <a:ln w="22225">
            <a:solidFill>
              <a:srgbClr val="8A8A92"/>
            </a:solidFill>
            <a:prstDash val="solid"/>
            <a:tailEnd type="triangle"/>
          </a:ln>
        </p:spPr>
      </p:sp>
      <p:sp>
        <p:nvSpPr>
          <p:cNvPr id="22" name="Shape 19"/>
          <p:cNvSpPr/>
          <p:nvPr/>
        </p:nvSpPr>
        <p:spPr>
          <a:xfrm>
            <a:off x="8001000" y="3429000"/>
            <a:ext cx="3611880" cy="1234440"/>
          </a:xfrm>
          <a:prstGeom prst="roundRect">
            <a:avLst>
              <a:gd name="adj" fmla="val 8889"/>
            </a:avLst>
          </a:prstGeom>
          <a:solidFill>
            <a:srgbClr val="E9F3EC"/>
          </a:solidFill>
          <a:ln w="12700">
            <a:solidFill>
              <a:srgbClr val="E9F3EC"/>
            </a:solidFill>
            <a:prstDash val="solid"/>
          </a:ln>
        </p:spPr>
      </p:sp>
      <p:sp>
        <p:nvSpPr>
          <p:cNvPr id="23" name="Text 20"/>
          <p:cNvSpPr txBox="1"/>
          <p:nvPr/>
        </p:nvSpPr>
        <p:spPr>
          <a:xfrm>
            <a:off x="8183880" y="3593592"/>
            <a:ext cx="3291840" cy="1005840"/>
          </a:xfrm>
          <a:prstGeom prst="rect">
            <a:avLst/>
          </a:prstGeom>
          <a:noFill/>
          <a:ln/>
        </p:spPr>
        <p:txBody>
          <a:bodyPr wrap="square" lIns="0" tIns="0" rIns="0" bIns="0" rtlCol="0" anchor="t"/>
          <a:lstStyle/>
          <a:p>
            <a:pPr indent="0" marL="0">
              <a:buNone/>
            </a:pPr>
            <a:r>
              <a:rPr lang="en-US" sz="1300" dirty="0">
                <a:solidFill>
                  <a:srgbClr val="0A0A0B"/>
                </a:solidFill>
              </a:rPr>
              <a:t>When your usual time is open and your partner is free, it asks: "Thursday 19:00: Leo is free. Want a game?"</a:t>
            </a:r>
            <a:endParaRPr lang="en-US" sz="1300" dirty="0"/>
          </a:p>
        </p:txBody>
      </p:sp>
      <p:sp>
        <p:nvSpPr>
          <p:cNvPr id="24" name="Shape 21"/>
          <p:cNvSpPr/>
          <p:nvPr/>
        </p:nvSpPr>
        <p:spPr>
          <a:xfrm>
            <a:off x="4206240" y="4800600"/>
            <a:ext cx="3566160" cy="1234440"/>
          </a:xfrm>
          <a:prstGeom prst="roundRect">
            <a:avLst>
              <a:gd name="adj" fmla="val 8889"/>
            </a:avLst>
          </a:prstGeom>
          <a:solidFill>
            <a:srgbClr val="FFFFFF"/>
          </a:solidFill>
          <a:ln w="12700">
            <a:solidFill>
              <a:srgbClr val="DCDCE0"/>
            </a:solidFill>
            <a:prstDash val="solid"/>
          </a:ln>
        </p:spPr>
      </p:sp>
      <p:sp>
        <p:nvSpPr>
          <p:cNvPr id="25" name="Text 22"/>
          <p:cNvSpPr txBox="1"/>
          <p:nvPr/>
        </p:nvSpPr>
        <p:spPr>
          <a:xfrm>
            <a:off x="4389120" y="49377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Life gets in the way</a:t>
            </a:r>
            <a:endParaRPr lang="en-US" sz="1500" dirty="0"/>
          </a:p>
        </p:txBody>
      </p:sp>
      <p:sp>
        <p:nvSpPr>
          <p:cNvPr id="26" name="Text 23"/>
          <p:cNvSpPr txBox="1"/>
          <p:nvPr/>
        </p:nvSpPr>
        <p:spPr>
          <a:xfrm>
            <a:off x="4389120" y="5276088"/>
            <a:ext cx="3246120" cy="731520"/>
          </a:xfrm>
          <a:prstGeom prst="rect">
            <a:avLst/>
          </a:prstGeom>
          <a:noFill/>
          <a:ln/>
        </p:spPr>
        <p:txBody>
          <a:bodyPr wrap="square" lIns="0" tIns="0" rIns="0" bIns="0" rtlCol="0" anchor="t"/>
          <a:lstStyle/>
          <a:p>
            <a:pPr indent="0" marL="0">
              <a:buNone/>
            </a:pPr>
            <a:r>
              <a:rPr lang="en-US" sz="1200" dirty="0">
                <a:solidFill>
                  <a:srgbClr val="55555C"/>
                </a:solidFill>
              </a:rPr>
              <a:t>A sore knee, a heavy week, rain on an outdoor court.</a:t>
            </a:r>
            <a:endParaRPr lang="en-US" sz="1200" dirty="0"/>
          </a:p>
        </p:txBody>
      </p:sp>
      <p:sp>
        <p:nvSpPr>
          <p:cNvPr id="27" name="Shape 24"/>
          <p:cNvSpPr/>
          <p:nvPr/>
        </p:nvSpPr>
        <p:spPr>
          <a:xfrm>
            <a:off x="7790688" y="5422392"/>
            <a:ext cx="182880" cy="0"/>
          </a:xfrm>
          <a:prstGeom prst="line">
            <a:avLst/>
          </a:prstGeom>
          <a:noFill/>
          <a:ln w="22225">
            <a:solidFill>
              <a:srgbClr val="8A8A92"/>
            </a:solidFill>
            <a:prstDash val="solid"/>
            <a:tailEnd type="triangle"/>
          </a:ln>
        </p:spPr>
      </p:sp>
      <p:sp>
        <p:nvSpPr>
          <p:cNvPr id="28" name="Shape 25"/>
          <p:cNvSpPr/>
          <p:nvPr/>
        </p:nvSpPr>
        <p:spPr>
          <a:xfrm>
            <a:off x="8001000" y="4800600"/>
            <a:ext cx="3611880" cy="1234440"/>
          </a:xfrm>
          <a:prstGeom prst="roundRect">
            <a:avLst>
              <a:gd name="adj" fmla="val 8889"/>
            </a:avLst>
          </a:prstGeom>
          <a:solidFill>
            <a:srgbClr val="E9F3EC"/>
          </a:solidFill>
          <a:ln w="12700">
            <a:solidFill>
              <a:srgbClr val="E9F3EC"/>
            </a:solidFill>
            <a:prstDash val="solid"/>
          </a:ln>
        </p:spPr>
      </p:sp>
      <p:sp>
        <p:nvSpPr>
          <p:cNvPr id="29" name="Text 26"/>
          <p:cNvSpPr txBox="1"/>
          <p:nvPr/>
        </p:nvSpPr>
        <p:spPr>
          <a:xfrm>
            <a:off x="8183880" y="4965192"/>
            <a:ext cx="3291840" cy="1005840"/>
          </a:xfrm>
          <a:prstGeom prst="rect">
            <a:avLst/>
          </a:prstGeom>
          <a:noFill/>
          <a:ln/>
        </p:spPr>
        <p:txBody>
          <a:bodyPr wrap="square" lIns="0" tIns="0" rIns="0" bIns="0" rtlCol="0" anchor="t"/>
          <a:lstStyle/>
          <a:p>
            <a:pPr indent="0" marL="0">
              <a:buNone/>
            </a:pPr>
            <a:r>
              <a:rPr lang="en-US" sz="1300" dirty="0">
                <a:solidFill>
                  <a:srgbClr val="0A0A0B"/>
                </a:solidFill>
              </a:rPr>
              <a:t>It plans doubles or one game fewer, checks in two days later, and checks the map, reviews and forecast.</a:t>
            </a:r>
            <a:endParaRPr lang="en-US" sz="13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HOW IT WORKS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One yes from you. Agents do the rest</a:t>
            </a:r>
            <a:endParaRPr lang="en-US" sz="3200" dirty="0"/>
          </a:p>
        </p:txBody>
      </p:sp>
      <p:sp>
        <p:nvSpPr>
          <p:cNvPr id="5" name="Shape 2"/>
          <p:cNvSpPr/>
          <p:nvPr/>
        </p:nvSpPr>
        <p:spPr>
          <a:xfrm>
            <a:off x="548640" y="1691640"/>
            <a:ext cx="3429000" cy="3886200"/>
          </a:xfrm>
          <a:prstGeom prst="roundRect">
            <a:avLst>
              <a:gd name="adj" fmla="val 3200"/>
            </a:avLst>
          </a:prstGeom>
          <a:solidFill>
            <a:srgbClr val="F6F7F8"/>
          </a:solidFill>
          <a:ln w="12700">
            <a:solidFill>
              <a:srgbClr val="F6F7F8"/>
            </a:solidFill>
            <a:prstDash val="solid"/>
          </a:ln>
        </p:spPr>
      </p:sp>
      <p:sp>
        <p:nvSpPr>
          <p:cNvPr id="6" name="Text 3"/>
          <p:cNvSpPr txBox="1"/>
          <p:nvPr/>
        </p:nvSpPr>
        <p:spPr>
          <a:xfrm>
            <a:off x="777240" y="1847088"/>
            <a:ext cx="2971800" cy="228600"/>
          </a:xfrm>
          <a:prstGeom prst="rect">
            <a:avLst/>
          </a:prstGeom>
          <a:noFill/>
          <a:ln/>
        </p:spPr>
        <p:txBody>
          <a:bodyPr wrap="square" lIns="0" tIns="0" rIns="0" bIns="0" rtlCol="0" anchor="t"/>
          <a:lstStyle/>
          <a:p>
            <a:pPr indent="0" marL="0">
              <a:buNone/>
            </a:pPr>
            <a:r>
              <a:rPr lang="en-US" sz="1050" b="1" spc="100" kern="0" dirty="0">
                <a:solidFill>
                  <a:srgbClr val="55555C"/>
                </a:solidFill>
              </a:rPr>
              <a:t>YOUR CONTEXT</a:t>
            </a:r>
            <a:endParaRPr lang="en-US" sz="1050" dirty="0"/>
          </a:p>
        </p:txBody>
      </p:sp>
      <p:sp>
        <p:nvSpPr>
          <p:cNvPr id="7" name="Text 4"/>
          <p:cNvSpPr txBox="1"/>
          <p:nvPr/>
        </p:nvSpPr>
        <p:spPr>
          <a:xfrm>
            <a:off x="777240" y="2103120"/>
            <a:ext cx="2971800" cy="411480"/>
          </a:xfrm>
          <a:prstGeom prst="rect">
            <a:avLst/>
          </a:prstGeom>
          <a:noFill/>
          <a:ln/>
        </p:spPr>
        <p:txBody>
          <a:bodyPr wrap="square" lIns="0" tIns="0" rIns="0" bIns="0" rtlCol="0" anchor="t"/>
          <a:lstStyle/>
          <a:p>
            <a:pPr indent="0" marL="0">
              <a:buNone/>
            </a:pPr>
            <a:r>
              <a:rPr lang="en-US" sz="1900" b="1" dirty="0">
                <a:solidFill>
                  <a:srgbClr val="0A0A0B"/>
                </a:solidFill>
              </a:rPr>
              <a:t>Say it once</a:t>
            </a:r>
            <a:endParaRPr lang="en-US" sz="1900" dirty="0"/>
          </a:p>
        </p:txBody>
      </p:sp>
      <p:pic>
        <p:nvPicPr>
          <p:cNvPr id="8" name="Image 0" descr="preencoded.png">    </p:cNvPr>
          <p:cNvPicPr>
            <a:picLocks noChangeAspect="1"/>
          </p:cNvPicPr>
          <p:nvPr/>
        </p:nvPicPr>
        <p:blipFill>
          <a:blip r:embed="rId1"/>
          <a:stretch>
            <a:fillRect/>
          </a:stretch>
        </p:blipFill>
        <p:spPr>
          <a:xfrm>
            <a:off x="777240" y="2715768"/>
            <a:ext cx="292608" cy="292608"/>
          </a:xfrm>
          <a:prstGeom prst="rect">
            <a:avLst/>
          </a:prstGeom>
        </p:spPr>
      </p:pic>
      <p:sp>
        <p:nvSpPr>
          <p:cNvPr id="9" name="Text 5"/>
          <p:cNvSpPr txBox="1"/>
          <p:nvPr/>
        </p:nvSpPr>
        <p:spPr>
          <a:xfrm>
            <a:off x="1188720" y="269748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Messenger and voice</a:t>
            </a:r>
            <a:endParaRPr lang="en-US" sz="1300" dirty="0"/>
          </a:p>
        </p:txBody>
      </p:sp>
      <p:sp>
        <p:nvSpPr>
          <p:cNvPr id="10" name="Text 6"/>
          <p:cNvSpPr txBox="1"/>
          <p:nvPr/>
        </p:nvSpPr>
        <p:spPr>
          <a:xfrm>
            <a:off x="1188720" y="2971800"/>
            <a:ext cx="2606040" cy="457200"/>
          </a:xfrm>
          <a:prstGeom prst="rect">
            <a:avLst/>
          </a:prstGeom>
          <a:noFill/>
          <a:ln/>
        </p:spPr>
        <p:txBody>
          <a:bodyPr wrap="square" lIns="0" tIns="0" rIns="0" bIns="0" rtlCol="0" anchor="t"/>
          <a:lstStyle/>
          <a:p>
            <a:pPr indent="0" marL="0">
              <a:buNone/>
            </a:pPr>
            <a:r>
              <a:rPr lang="en-US" sz="1100" dirty="0">
                <a:solidFill>
                  <a:srgbClr val="55555C"/>
                </a:solidFill>
              </a:rPr>
              <a:t>"My right knee is sore" · "not Tomás this week"</a:t>
            </a:r>
            <a:endParaRPr lang="en-US" sz="1100" dirty="0"/>
          </a:p>
        </p:txBody>
      </p:sp>
      <p:pic>
        <p:nvPicPr>
          <p:cNvPr id="11" name="Image 1" descr="preencoded.png">    </p:cNvPr>
          <p:cNvPicPr>
            <a:picLocks noChangeAspect="1"/>
          </p:cNvPicPr>
          <p:nvPr/>
        </p:nvPicPr>
        <p:blipFill>
          <a:blip r:embed="rId2"/>
          <a:stretch>
            <a:fillRect/>
          </a:stretch>
        </p:blipFill>
        <p:spPr>
          <a:xfrm>
            <a:off x="777240" y="3538728"/>
            <a:ext cx="292608" cy="292608"/>
          </a:xfrm>
          <a:prstGeom prst="rect">
            <a:avLst/>
          </a:prstGeom>
        </p:spPr>
      </p:pic>
      <p:sp>
        <p:nvSpPr>
          <p:cNvPr id="12" name="Text 7"/>
          <p:cNvSpPr txBox="1"/>
          <p:nvPr/>
        </p:nvSpPr>
        <p:spPr>
          <a:xfrm>
            <a:off x="1188720" y="352044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Your health app</a:t>
            </a:r>
            <a:endParaRPr lang="en-US" sz="1300" dirty="0"/>
          </a:p>
        </p:txBody>
      </p:sp>
      <p:sp>
        <p:nvSpPr>
          <p:cNvPr id="13" name="Text 8"/>
          <p:cNvSpPr txBox="1"/>
          <p:nvPr/>
        </p:nvSpPr>
        <p:spPr>
          <a:xfrm>
            <a:off x="1188720" y="3794760"/>
            <a:ext cx="2606040" cy="457200"/>
          </a:xfrm>
          <a:prstGeom prst="rect">
            <a:avLst/>
          </a:prstGeom>
          <a:noFill/>
          <a:ln/>
        </p:spPr>
        <p:txBody>
          <a:bodyPr wrap="square" lIns="0" tIns="0" rIns="0" bIns="0" rtlCol="0" anchor="t"/>
          <a:lstStyle/>
          <a:p>
            <a:pPr indent="0" marL="0">
              <a:buNone/>
            </a:pPr>
            <a:r>
              <a:rPr lang="en-US" sz="1100" dirty="0">
                <a:solidFill>
                  <a:srgbClr val="55555C"/>
                </a:solidFill>
              </a:rPr>
              <a:t>Apple Health, Google Fit, GPX: your load</a:t>
            </a:r>
            <a:endParaRPr lang="en-US" sz="1100" dirty="0"/>
          </a:p>
        </p:txBody>
      </p:sp>
      <p:pic>
        <p:nvPicPr>
          <p:cNvPr id="14" name="Image 2" descr="preencoded.png">    </p:cNvPr>
          <p:cNvPicPr>
            <a:picLocks noChangeAspect="1"/>
          </p:cNvPicPr>
          <p:nvPr/>
        </p:nvPicPr>
        <p:blipFill>
          <a:blip r:embed="rId3"/>
          <a:stretch>
            <a:fillRect/>
          </a:stretch>
        </p:blipFill>
        <p:spPr>
          <a:xfrm>
            <a:off x="777240" y="4361688"/>
            <a:ext cx="292608" cy="292608"/>
          </a:xfrm>
          <a:prstGeom prst="rect">
            <a:avLst/>
          </a:prstGeom>
        </p:spPr>
      </p:pic>
      <p:sp>
        <p:nvSpPr>
          <p:cNvPr id="15" name="Text 9"/>
          <p:cNvSpPr txBox="1"/>
          <p:nvPr/>
        </p:nvSpPr>
        <p:spPr>
          <a:xfrm>
            <a:off x="1188720" y="434340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Meta's DRAMA</a:t>
            </a:r>
            <a:endParaRPr lang="en-US" sz="1300" dirty="0"/>
          </a:p>
        </p:txBody>
      </p:sp>
      <p:sp>
        <p:nvSpPr>
          <p:cNvPr id="16" name="Text 10"/>
          <p:cNvSpPr txBox="1"/>
          <p:nvPr/>
        </p:nvSpPr>
        <p:spPr>
          <a:xfrm>
            <a:off x="1188720" y="4617720"/>
            <a:ext cx="2606040" cy="457200"/>
          </a:xfrm>
          <a:prstGeom prst="rect">
            <a:avLst/>
          </a:prstGeom>
          <a:noFill/>
          <a:ln/>
        </p:spPr>
        <p:txBody>
          <a:bodyPr wrap="square" lIns="0" tIns="0" rIns="0" bIns="0" rtlCol="0" anchor="t"/>
          <a:lstStyle/>
          <a:p>
            <a:pPr indent="0" marL="0">
              <a:buNone/>
            </a:pPr>
            <a:r>
              <a:rPr lang="en-US" sz="1100" dirty="0">
                <a:solidFill>
                  <a:srgbClr val="55555C"/>
                </a:solidFill>
              </a:rPr>
              <a:t>Finds what matters for this week, by meaning, recent first</a:t>
            </a:r>
            <a:endParaRPr lang="en-US" sz="1100" dirty="0"/>
          </a:p>
        </p:txBody>
      </p:sp>
      <p:sp>
        <p:nvSpPr>
          <p:cNvPr id="17" name="Shape 11"/>
          <p:cNvSpPr/>
          <p:nvPr/>
        </p:nvSpPr>
        <p:spPr>
          <a:xfrm>
            <a:off x="4023360" y="3630168"/>
            <a:ext cx="365760" cy="0"/>
          </a:xfrm>
          <a:prstGeom prst="line">
            <a:avLst/>
          </a:prstGeom>
          <a:noFill/>
          <a:ln w="22225">
            <a:solidFill>
              <a:srgbClr val="8A8A92"/>
            </a:solidFill>
            <a:prstDash val="solid"/>
            <a:tailEnd type="triangle"/>
          </a:ln>
        </p:spPr>
      </p:sp>
      <p:sp>
        <p:nvSpPr>
          <p:cNvPr id="18" name="Shape 12"/>
          <p:cNvSpPr/>
          <p:nvPr/>
        </p:nvSpPr>
        <p:spPr>
          <a:xfrm>
            <a:off x="4434840" y="1691640"/>
            <a:ext cx="3429000" cy="3886200"/>
          </a:xfrm>
          <a:prstGeom prst="roundRect">
            <a:avLst>
              <a:gd name="adj" fmla="val 3200"/>
            </a:avLst>
          </a:prstGeom>
          <a:solidFill>
            <a:srgbClr val="E9F3EC"/>
          </a:solidFill>
          <a:ln w="25400">
            <a:solidFill>
              <a:srgbClr val="0A7F44"/>
            </a:solidFill>
            <a:prstDash val="solid"/>
          </a:ln>
        </p:spPr>
      </p:sp>
      <p:sp>
        <p:nvSpPr>
          <p:cNvPr id="19" name="Text 13"/>
          <p:cNvSpPr txBox="1"/>
          <p:nvPr/>
        </p:nvSpPr>
        <p:spPr>
          <a:xfrm>
            <a:off x="4663440" y="1847088"/>
            <a:ext cx="2971800" cy="228600"/>
          </a:xfrm>
          <a:prstGeom prst="rect">
            <a:avLst/>
          </a:prstGeom>
          <a:noFill/>
          <a:ln/>
        </p:spPr>
        <p:txBody>
          <a:bodyPr wrap="square" lIns="0" tIns="0" rIns="0" bIns="0" rtlCol="0" anchor="t"/>
          <a:lstStyle/>
          <a:p>
            <a:pPr indent="0" marL="0">
              <a:buNone/>
            </a:pPr>
            <a:r>
              <a:rPr lang="en-US" sz="1050" b="1" spc="100" kern="0" dirty="0">
                <a:solidFill>
                  <a:srgbClr val="0A7F44"/>
                </a:solidFill>
              </a:rPr>
              <a:t>YOUR SERVE AGENT</a:t>
            </a:r>
            <a:endParaRPr lang="en-US" sz="1050" dirty="0"/>
          </a:p>
        </p:txBody>
      </p:sp>
      <p:sp>
        <p:nvSpPr>
          <p:cNvPr id="20" name="Text 14"/>
          <p:cNvSpPr txBox="1"/>
          <p:nvPr/>
        </p:nvSpPr>
        <p:spPr>
          <a:xfrm>
            <a:off x="4663440" y="2103120"/>
            <a:ext cx="2971800" cy="411480"/>
          </a:xfrm>
          <a:prstGeom prst="rect">
            <a:avLst/>
          </a:prstGeom>
          <a:noFill/>
          <a:ln/>
        </p:spPr>
        <p:txBody>
          <a:bodyPr wrap="square" lIns="0" tIns="0" rIns="0" bIns="0" rtlCol="0" anchor="t"/>
          <a:lstStyle/>
          <a:p>
            <a:pPr indent="0" marL="0">
              <a:buNone/>
            </a:pPr>
            <a:r>
              <a:rPr lang="en-US" sz="1900" b="1" dirty="0">
                <a:solidFill>
                  <a:srgbClr val="0A0A0B"/>
                </a:solidFill>
              </a:rPr>
              <a:t>Plans your week</a:t>
            </a:r>
            <a:endParaRPr lang="en-US" sz="1900" dirty="0"/>
          </a:p>
        </p:txBody>
      </p:sp>
      <p:pic>
        <p:nvPicPr>
          <p:cNvPr id="21" name="Image 3" descr="preencoded.png">    </p:cNvPr>
          <p:cNvPicPr>
            <a:picLocks noChangeAspect="1"/>
          </p:cNvPicPr>
          <p:nvPr/>
        </p:nvPicPr>
        <p:blipFill>
          <a:blip r:embed="rId4"/>
          <a:stretch>
            <a:fillRect/>
          </a:stretch>
        </p:blipFill>
        <p:spPr>
          <a:xfrm>
            <a:off x="4663440" y="2715768"/>
            <a:ext cx="292608" cy="292608"/>
          </a:xfrm>
          <a:prstGeom prst="rect">
            <a:avLst/>
          </a:prstGeom>
        </p:spPr>
      </p:pic>
      <p:sp>
        <p:nvSpPr>
          <p:cNvPr id="22" name="Text 15"/>
          <p:cNvSpPr txBox="1"/>
          <p:nvPr/>
        </p:nvSpPr>
        <p:spPr>
          <a:xfrm>
            <a:off x="5074920" y="269748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Muse Glimmer</a:t>
            </a:r>
            <a:endParaRPr lang="en-US" sz="1300" dirty="0"/>
          </a:p>
        </p:txBody>
      </p:sp>
      <p:sp>
        <p:nvSpPr>
          <p:cNvPr id="23" name="Text 16"/>
          <p:cNvSpPr txBox="1"/>
          <p:nvPr/>
        </p:nvSpPr>
        <p:spPr>
          <a:xfrm>
            <a:off x="5074920" y="2971800"/>
            <a:ext cx="2606040" cy="457200"/>
          </a:xfrm>
          <a:prstGeom prst="rect">
            <a:avLst/>
          </a:prstGeom>
          <a:noFill/>
          <a:ln/>
        </p:spPr>
        <p:txBody>
          <a:bodyPr wrap="square" lIns="0" tIns="0" rIns="0" bIns="0" rtlCol="0" anchor="t"/>
          <a:lstStyle/>
          <a:p>
            <a:pPr indent="0" marL="0">
              <a:buNone/>
            </a:pPr>
            <a:r>
              <a:rPr lang="en-US" sz="1100" dirty="0">
                <a:solidFill>
                  <a:srgbClr val="55555C"/>
                </a:solidFill>
              </a:rPr>
              <a:t>Picks one tool at a time on my RTX 3090; code runs it</a:t>
            </a:r>
            <a:endParaRPr lang="en-US" sz="1100" dirty="0"/>
          </a:p>
        </p:txBody>
      </p:sp>
      <p:pic>
        <p:nvPicPr>
          <p:cNvPr id="24" name="Image 4" descr="preencoded.png">    </p:cNvPr>
          <p:cNvPicPr>
            <a:picLocks noChangeAspect="1"/>
          </p:cNvPicPr>
          <p:nvPr/>
        </p:nvPicPr>
        <p:blipFill>
          <a:blip r:embed="rId5"/>
          <a:stretch>
            <a:fillRect/>
          </a:stretch>
        </p:blipFill>
        <p:spPr>
          <a:xfrm>
            <a:off x="4663440" y="3538728"/>
            <a:ext cx="292608" cy="292608"/>
          </a:xfrm>
          <a:prstGeom prst="rect">
            <a:avLst/>
          </a:prstGeom>
        </p:spPr>
      </p:pic>
      <p:sp>
        <p:nvSpPr>
          <p:cNvPr id="25" name="Text 17"/>
          <p:cNvSpPr txBox="1"/>
          <p:nvPr/>
        </p:nvSpPr>
        <p:spPr>
          <a:xfrm>
            <a:off x="5074920" y="352044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Llama 3.2 1B</a:t>
            </a:r>
            <a:endParaRPr lang="en-US" sz="1300" dirty="0"/>
          </a:p>
        </p:txBody>
      </p:sp>
      <p:sp>
        <p:nvSpPr>
          <p:cNvPr id="26" name="Text 18"/>
          <p:cNvSpPr txBox="1"/>
          <p:nvPr/>
        </p:nvSpPr>
        <p:spPr>
          <a:xfrm>
            <a:off x="5074920" y="3794760"/>
            <a:ext cx="2606040" cy="457200"/>
          </a:xfrm>
          <a:prstGeom prst="rect">
            <a:avLst/>
          </a:prstGeom>
          <a:noFill/>
          <a:ln/>
        </p:spPr>
        <p:txBody>
          <a:bodyPr wrap="square" lIns="0" tIns="0" rIns="0" bIns="0" rtlCol="0" anchor="t"/>
          <a:lstStyle/>
          <a:p>
            <a:pPr indent="0" marL="0">
              <a:buNone/>
            </a:pPr>
            <a:r>
              <a:rPr lang="en-US" sz="1100" dirty="0">
                <a:solidFill>
                  <a:srgbClr val="55555C"/>
                </a:solidFill>
              </a:rPr>
              <a:t>Distilled from Glimmer: the easy calls, on the CPU</a:t>
            </a:r>
            <a:endParaRPr lang="en-US" sz="1100" dirty="0"/>
          </a:p>
        </p:txBody>
      </p:sp>
      <p:pic>
        <p:nvPicPr>
          <p:cNvPr id="27" name="Image 5" descr="preencoded.png">    </p:cNvPr>
          <p:cNvPicPr>
            <a:picLocks noChangeAspect="1"/>
          </p:cNvPicPr>
          <p:nvPr/>
        </p:nvPicPr>
        <p:blipFill>
          <a:blip r:embed="rId6"/>
          <a:stretch>
            <a:fillRect/>
          </a:stretch>
        </p:blipFill>
        <p:spPr>
          <a:xfrm>
            <a:off x="4663440" y="4361688"/>
            <a:ext cx="292608" cy="292608"/>
          </a:xfrm>
          <a:prstGeom prst="rect">
            <a:avLst/>
          </a:prstGeom>
        </p:spPr>
      </p:pic>
      <p:sp>
        <p:nvSpPr>
          <p:cNvPr id="28" name="Text 19"/>
          <p:cNvSpPr txBox="1"/>
          <p:nvPr/>
        </p:nvSpPr>
        <p:spPr>
          <a:xfrm>
            <a:off x="5074920" y="434340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A2A with friends' agents</a:t>
            </a:r>
            <a:endParaRPr lang="en-US" sz="1300" dirty="0"/>
          </a:p>
        </p:txBody>
      </p:sp>
      <p:sp>
        <p:nvSpPr>
          <p:cNvPr id="29" name="Text 20"/>
          <p:cNvSpPr txBox="1"/>
          <p:nvPr/>
        </p:nvSpPr>
        <p:spPr>
          <a:xfrm>
            <a:off x="5074920" y="4617720"/>
            <a:ext cx="2606040" cy="457200"/>
          </a:xfrm>
          <a:prstGeom prst="rect">
            <a:avLst/>
          </a:prstGeom>
          <a:noFill/>
          <a:ln/>
        </p:spPr>
        <p:txBody>
          <a:bodyPr wrap="square" lIns="0" tIns="0" rIns="0" bIns="0" rtlCol="0" anchor="t"/>
          <a:lstStyle/>
          <a:p>
            <a:pPr indent="0" marL="0">
              <a:buNone/>
            </a:pPr>
            <a:r>
              <a:rPr lang="en-US" sz="1100" dirty="0">
                <a:solidFill>
                  <a:srgbClr val="55555C"/>
                </a:solidFill>
              </a:rPr>
              <a:t>One round: they mark times, code picks the overlap</a:t>
            </a:r>
            <a:endParaRPr lang="en-US" sz="1100" dirty="0"/>
          </a:p>
        </p:txBody>
      </p:sp>
      <p:sp>
        <p:nvSpPr>
          <p:cNvPr id="30" name="Shape 21"/>
          <p:cNvSpPr/>
          <p:nvPr/>
        </p:nvSpPr>
        <p:spPr>
          <a:xfrm>
            <a:off x="7909560" y="3630168"/>
            <a:ext cx="365760" cy="0"/>
          </a:xfrm>
          <a:prstGeom prst="line">
            <a:avLst/>
          </a:prstGeom>
          <a:noFill/>
          <a:ln w="22225">
            <a:solidFill>
              <a:srgbClr val="8A8A92"/>
            </a:solidFill>
            <a:prstDash val="solid"/>
            <a:tailEnd type="triangle"/>
          </a:ln>
        </p:spPr>
      </p:sp>
      <p:sp>
        <p:nvSpPr>
          <p:cNvPr id="31" name="Shape 22"/>
          <p:cNvSpPr/>
          <p:nvPr/>
        </p:nvSpPr>
        <p:spPr>
          <a:xfrm>
            <a:off x="8321040" y="1691640"/>
            <a:ext cx="3291840" cy="3886200"/>
          </a:xfrm>
          <a:prstGeom prst="roundRect">
            <a:avLst>
              <a:gd name="adj" fmla="val 3333"/>
            </a:avLst>
          </a:prstGeom>
          <a:solidFill>
            <a:srgbClr val="E8F1FD"/>
          </a:solidFill>
          <a:ln w="12700">
            <a:solidFill>
              <a:srgbClr val="E8F1FD"/>
            </a:solidFill>
            <a:prstDash val="solid"/>
          </a:ln>
        </p:spPr>
      </p:sp>
      <p:sp>
        <p:nvSpPr>
          <p:cNvPr id="32" name="Text 23"/>
          <p:cNvSpPr txBox="1"/>
          <p:nvPr/>
        </p:nvSpPr>
        <p:spPr>
          <a:xfrm>
            <a:off x="8549640" y="1847088"/>
            <a:ext cx="2834640" cy="228600"/>
          </a:xfrm>
          <a:prstGeom prst="rect">
            <a:avLst/>
          </a:prstGeom>
          <a:noFill/>
          <a:ln/>
        </p:spPr>
        <p:txBody>
          <a:bodyPr wrap="square" lIns="0" tIns="0" rIns="0" bIns="0" rtlCol="0" anchor="t"/>
          <a:lstStyle/>
          <a:p>
            <a:pPr indent="0" marL="0">
              <a:buNone/>
            </a:pPr>
            <a:r>
              <a:rPr lang="en-US" sz="1050" b="1" spc="100" kern="0" dirty="0">
                <a:solidFill>
                  <a:srgbClr val="55555C"/>
                </a:solidFill>
              </a:rPr>
              <a:t>ON AND OFF THE COURT</a:t>
            </a:r>
            <a:endParaRPr lang="en-US" sz="1050" dirty="0"/>
          </a:p>
        </p:txBody>
      </p:sp>
      <p:sp>
        <p:nvSpPr>
          <p:cNvPr id="33" name="Text 24"/>
          <p:cNvSpPr txBox="1"/>
          <p:nvPr/>
        </p:nvSpPr>
        <p:spPr>
          <a:xfrm>
            <a:off x="8549640" y="2103120"/>
            <a:ext cx="2834640" cy="411480"/>
          </a:xfrm>
          <a:prstGeom prst="rect">
            <a:avLst/>
          </a:prstGeom>
          <a:noFill/>
          <a:ln/>
        </p:spPr>
        <p:txBody>
          <a:bodyPr wrap="square" lIns="0" tIns="0" rIns="0" bIns="0" rtlCol="0" anchor="t"/>
          <a:lstStyle/>
          <a:p>
            <a:pPr indent="0" marL="0">
              <a:buNone/>
            </a:pPr>
            <a:r>
              <a:rPr lang="en-US" sz="1900" b="1" dirty="0">
                <a:solidFill>
                  <a:srgbClr val="0A0A0B"/>
                </a:solidFill>
              </a:rPr>
              <a:t>You just play</a:t>
            </a:r>
            <a:endParaRPr lang="en-US" sz="1900" dirty="0"/>
          </a:p>
        </p:txBody>
      </p:sp>
      <p:pic>
        <p:nvPicPr>
          <p:cNvPr id="34" name="Image 6" descr="preencoded.png">    </p:cNvPr>
          <p:cNvPicPr>
            <a:picLocks noChangeAspect="1"/>
          </p:cNvPicPr>
          <p:nvPr/>
        </p:nvPicPr>
        <p:blipFill>
          <a:blip r:embed="rId7"/>
          <a:stretch>
            <a:fillRect/>
          </a:stretch>
        </p:blipFill>
        <p:spPr>
          <a:xfrm>
            <a:off x="8549640" y="2715768"/>
            <a:ext cx="292608" cy="292608"/>
          </a:xfrm>
          <a:prstGeom prst="rect">
            <a:avLst/>
          </a:prstGeom>
        </p:spPr>
      </p:pic>
      <p:sp>
        <p:nvSpPr>
          <p:cNvPr id="35" name="Text 25"/>
          <p:cNvSpPr txBox="1"/>
          <p:nvPr/>
        </p:nvSpPr>
        <p:spPr>
          <a:xfrm>
            <a:off x="8961120" y="269748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One yes</a:t>
            </a:r>
            <a:endParaRPr lang="en-US" sz="1300" dirty="0"/>
          </a:p>
        </p:txBody>
      </p:sp>
      <p:sp>
        <p:nvSpPr>
          <p:cNvPr id="36" name="Text 26"/>
          <p:cNvSpPr txBox="1"/>
          <p:nvPr/>
        </p:nvSpPr>
        <p:spPr>
          <a:xfrm>
            <a:off x="8961120" y="2971800"/>
            <a:ext cx="2468880" cy="457200"/>
          </a:xfrm>
          <a:prstGeom prst="rect">
            <a:avLst/>
          </a:prstGeom>
          <a:noFill/>
          <a:ln/>
        </p:spPr>
        <p:txBody>
          <a:bodyPr wrap="square" lIns="0" tIns="0" rIns="0" bIns="0" rtlCol="0" anchor="t"/>
          <a:lstStyle/>
          <a:p>
            <a:pPr indent="0" marL="0">
              <a:buNone/>
            </a:pPr>
            <a:r>
              <a:rPr lang="en-US" sz="1100" dirty="0">
                <a:solidFill>
                  <a:srgbClr val="55555C"/>
                </a:solidFill>
              </a:rPr>
              <a:t>In the app or with a tap in Messenger</a:t>
            </a:r>
            <a:endParaRPr lang="en-US" sz="1100" dirty="0"/>
          </a:p>
        </p:txBody>
      </p:sp>
      <p:pic>
        <p:nvPicPr>
          <p:cNvPr id="37" name="Image 7" descr="preencoded.png">    </p:cNvPr>
          <p:cNvPicPr>
            <a:picLocks noChangeAspect="1"/>
          </p:cNvPicPr>
          <p:nvPr/>
        </p:nvPicPr>
        <p:blipFill>
          <a:blip r:embed="rId8"/>
          <a:stretch>
            <a:fillRect/>
          </a:stretch>
        </p:blipFill>
        <p:spPr>
          <a:xfrm>
            <a:off x="8549640" y="3538728"/>
            <a:ext cx="292608" cy="292608"/>
          </a:xfrm>
          <a:prstGeom prst="rect">
            <a:avLst/>
          </a:prstGeom>
        </p:spPr>
      </p:pic>
      <p:sp>
        <p:nvSpPr>
          <p:cNvPr id="38" name="Text 27"/>
          <p:cNvSpPr txBox="1"/>
          <p:nvPr/>
        </p:nvSpPr>
        <p:spPr>
          <a:xfrm>
            <a:off x="8961120" y="352044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Your highlight</a:t>
            </a:r>
            <a:endParaRPr lang="en-US" sz="1300" dirty="0"/>
          </a:p>
        </p:txBody>
      </p:sp>
      <p:sp>
        <p:nvSpPr>
          <p:cNvPr id="39" name="Text 28"/>
          <p:cNvSpPr txBox="1"/>
          <p:nvPr/>
        </p:nvSpPr>
        <p:spPr>
          <a:xfrm>
            <a:off x="8961120" y="3794760"/>
            <a:ext cx="2468880" cy="457200"/>
          </a:xfrm>
          <a:prstGeom prst="rect">
            <a:avLst/>
          </a:prstGeom>
          <a:noFill/>
          <a:ln/>
        </p:spPr>
        <p:txBody>
          <a:bodyPr wrap="square" lIns="0" tIns="0" rIns="0" bIns="0" rtlCol="0" anchor="t"/>
          <a:lstStyle/>
          <a:p>
            <a:pPr indent="0" marL="0">
              <a:buNone/>
            </a:pPr>
            <a:r>
              <a:rPr lang="en-US" sz="1100" dirty="0">
                <a:solidFill>
                  <a:srgbClr val="55555C"/>
                </a:solidFill>
              </a:rPr>
              <a:t>DETR · Sapiens2 · SAM 2.1 · MapAnything</a:t>
            </a:r>
            <a:endParaRPr lang="en-US" sz="1100" dirty="0"/>
          </a:p>
        </p:txBody>
      </p:sp>
      <p:pic>
        <p:nvPicPr>
          <p:cNvPr id="40" name="Image 8" descr="preencoded.png">    </p:cNvPr>
          <p:cNvPicPr>
            <a:picLocks noChangeAspect="1"/>
          </p:cNvPicPr>
          <p:nvPr/>
        </p:nvPicPr>
        <p:blipFill>
          <a:blip r:embed="rId9"/>
          <a:stretch>
            <a:fillRect/>
          </a:stretch>
        </p:blipFill>
        <p:spPr>
          <a:xfrm>
            <a:off x="8549640" y="4361688"/>
            <a:ext cx="292608" cy="292608"/>
          </a:xfrm>
          <a:prstGeom prst="rect">
            <a:avLst/>
          </a:prstGeom>
        </p:spPr>
      </p:pic>
      <p:sp>
        <p:nvSpPr>
          <p:cNvPr id="41" name="Text 29"/>
          <p:cNvSpPr txBox="1"/>
          <p:nvPr/>
        </p:nvSpPr>
        <p:spPr>
          <a:xfrm>
            <a:off x="8961120" y="434340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The club and your stories</a:t>
            </a:r>
            <a:endParaRPr lang="en-US" sz="1300" dirty="0"/>
          </a:p>
        </p:txBody>
      </p:sp>
      <p:sp>
        <p:nvSpPr>
          <p:cNvPr id="42" name="Text 30"/>
          <p:cNvSpPr txBox="1"/>
          <p:nvPr/>
        </p:nvSpPr>
        <p:spPr>
          <a:xfrm>
            <a:off x="8961120" y="4617720"/>
            <a:ext cx="2468880" cy="457200"/>
          </a:xfrm>
          <a:prstGeom prst="rect">
            <a:avLst/>
          </a:prstGeom>
          <a:noFill/>
          <a:ln/>
        </p:spPr>
        <p:txBody>
          <a:bodyPr wrap="square" lIns="0" tIns="0" rIns="0" bIns="0" rtlCol="0" anchor="t"/>
          <a:lstStyle/>
          <a:p>
            <a:pPr indent="0" marL="0">
              <a:buNone/>
            </a:pPr>
            <a:r>
              <a:rPr lang="en-US" sz="1100" dirty="0">
                <a:solidFill>
                  <a:srgbClr val="55555C"/>
                </a:solidFill>
              </a:rPr>
              <a:t>Invites, stories, one tap to Instagram</a:t>
            </a:r>
            <a:endParaRPr lang="en-US" sz="1100" dirty="0"/>
          </a:p>
        </p:txBody>
      </p:sp>
      <p:sp>
        <p:nvSpPr>
          <p:cNvPr id="43" name="Shape 31"/>
          <p:cNvSpPr/>
          <p:nvPr/>
        </p:nvSpPr>
        <p:spPr>
          <a:xfrm>
            <a:off x="548640" y="5788152"/>
            <a:ext cx="11064240" cy="475488"/>
          </a:xfrm>
          <a:prstGeom prst="roundRect">
            <a:avLst>
              <a:gd name="adj" fmla="val 23077"/>
            </a:avLst>
          </a:prstGeom>
          <a:solidFill>
            <a:srgbClr val="FBF3E6"/>
          </a:solidFill>
          <a:ln w="12700">
            <a:solidFill>
              <a:srgbClr val="FBF3E6"/>
            </a:solidFill>
            <a:prstDash val="solid"/>
          </a:ln>
        </p:spPr>
      </p:sp>
      <p:sp>
        <p:nvSpPr>
          <p:cNvPr id="44" name="Text 32"/>
          <p:cNvSpPr txBox="1"/>
          <p:nvPr/>
        </p:nvSpPr>
        <p:spPr>
          <a:xfrm>
            <a:off x="777240" y="5788152"/>
            <a:ext cx="10607040" cy="475488"/>
          </a:xfrm>
          <a:prstGeom prst="rect">
            <a:avLst/>
          </a:prstGeom>
          <a:noFill/>
          <a:ln/>
        </p:spPr>
        <p:txBody>
          <a:bodyPr wrap="square" lIns="0" tIns="0" rIns="0" bIns="0" rtlCol="0" anchor="ctr"/>
          <a:lstStyle/>
          <a:p>
            <a:pPr indent="0" marL="0">
              <a:buNone/>
            </a:pPr>
            <a:r>
              <a:rPr lang="en-US" sz="1300" b="1" dirty="0">
                <a:solidFill>
                  <a:srgbClr val="B26A00"/>
                </a:solidFill>
              </a:rPr>
              <a:t>Checked by code before anyone sees it  ·  nothing is booked without your yes  ·  video and health data stay on the server</a:t>
            </a:r>
            <a:endParaRPr lang="en-US" sz="13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DEMO · 25%</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club, made by people and agents together</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Join with Facebook or Instagram</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Stories cut by members' agents</a:t>
            </a:r>
            <a:endParaRPr lang="en-US" sz="1050" dirty="0"/>
          </a:p>
        </p:txBody>
      </p:sp>
      <p:sp>
        <p:nvSpPr>
          <p:cNvPr id="11" name="Shape 6"/>
          <p:cNvSpPr/>
          <p:nvPr/>
        </p:nvSpPr>
        <p:spPr>
          <a:xfrm>
            <a:off x="5376672" y="1627632"/>
            <a:ext cx="2113911" cy="4425696"/>
          </a:xfrm>
          <a:prstGeom prst="roundRect">
            <a:avLst>
              <a:gd name="adj" fmla="val 8651"/>
            </a:avLst>
          </a:prstGeom>
          <a:solidFill>
            <a:srgbClr val="0A0A0B"/>
          </a:solidFill>
          <a:ln w="12700">
            <a:solidFill>
              <a:srgbClr val="0A0A0B"/>
            </a:solidFill>
            <a:prstDash val="solid"/>
          </a:ln>
        </p:spPr>
      </p:sp>
      <p:pic>
        <p:nvPicPr>
          <p:cNvPr id="12" name="Image 2" descr="preencoded.png">    </p:cNvPr>
          <p:cNvPicPr>
            <a:picLocks noChangeAspect="1"/>
          </p:cNvPicPr>
          <p:nvPr/>
        </p:nvPicPr>
        <p:blipFill>
          <a:blip r:embed="rId3"/>
          <a:stretch>
            <a:fillRect/>
          </a:stretch>
        </p:blipFill>
        <p:spPr>
          <a:xfrm>
            <a:off x="5440680" y="1691640"/>
            <a:ext cx="1985895" cy="4297680"/>
          </a:xfrm>
          <a:prstGeom prst="rect">
            <a:avLst/>
          </a:prstGeom>
        </p:spPr>
      </p:pic>
      <p:sp>
        <p:nvSpPr>
          <p:cNvPr id="13" name="Text 7"/>
          <p:cNvSpPr txBox="1"/>
          <p:nvPr/>
        </p:nvSpPr>
        <p:spPr>
          <a:xfrm>
            <a:off x="516636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An invite anyone can join</a:t>
            </a:r>
            <a:endParaRPr lang="en-US" sz="1050" dirty="0"/>
          </a:p>
        </p:txBody>
      </p:sp>
      <p:sp>
        <p:nvSpPr>
          <p:cNvPr id="14" name="Text 8"/>
          <p:cNvSpPr txBox="1"/>
          <p:nvPr/>
        </p:nvSpPr>
        <p:spPr>
          <a:xfrm>
            <a:off x="8001000" y="173736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Join with Meta</a:t>
            </a:r>
            <a:endParaRPr lang="en-US" sz="1500" dirty="0"/>
          </a:p>
        </p:txBody>
      </p:sp>
      <p:sp>
        <p:nvSpPr>
          <p:cNvPr id="15" name="Text 9"/>
          <p:cNvSpPr txBox="1"/>
          <p:nvPr/>
        </p:nvSpPr>
        <p:spPr>
          <a:xfrm>
            <a:off x="8001000" y="2048256"/>
            <a:ext cx="3611880" cy="731520"/>
          </a:xfrm>
          <a:prstGeom prst="rect">
            <a:avLst/>
          </a:prstGeom>
          <a:noFill/>
          <a:ln/>
        </p:spPr>
        <p:txBody>
          <a:bodyPr wrap="square" lIns="0" tIns="0" rIns="0" bIns="0" rtlCol="0" anchor="t"/>
          <a:lstStyle/>
          <a:p>
            <a:pPr indent="0" marL="0">
              <a:buNone/>
            </a:pPr>
            <a:r>
              <a:rPr lang="en-US" sz="1200" dirty="0">
                <a:solidFill>
                  <a:srgbClr val="55555C"/>
                </a:solidFill>
              </a:rPr>
              <a:t>Facebook Login and Instagram Login, on the server. Serve keeps a name, a picture and a hash of the id; never a token.</a:t>
            </a:r>
            <a:endParaRPr lang="en-US" sz="1200" dirty="0"/>
          </a:p>
        </p:txBody>
      </p:sp>
      <p:sp>
        <p:nvSpPr>
          <p:cNvPr id="16" name="Text 10"/>
          <p:cNvSpPr txBox="1"/>
          <p:nvPr/>
        </p:nvSpPr>
        <p:spPr>
          <a:xfrm>
            <a:off x="8001000" y="2834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Stories by agents</a:t>
            </a:r>
            <a:endParaRPr lang="en-US" sz="1500" dirty="0"/>
          </a:p>
        </p:txBody>
      </p:sp>
      <p:sp>
        <p:nvSpPr>
          <p:cNvPr id="17" name="Text 11"/>
          <p:cNvSpPr txBox="1"/>
          <p:nvPr/>
        </p:nvSpPr>
        <p:spPr>
          <a:xfrm>
            <a:off x="8001000" y="3145536"/>
            <a:ext cx="3611880" cy="731520"/>
          </a:xfrm>
          <a:prstGeom prst="rect">
            <a:avLst/>
          </a:prstGeom>
          <a:noFill/>
          <a:ln/>
        </p:spPr>
        <p:txBody>
          <a:bodyPr wrap="square" lIns="0" tIns="0" rIns="0" bIns="0" rtlCol="0" anchor="t"/>
          <a:lstStyle/>
          <a:p>
            <a:pPr indent="0" marL="0">
              <a:buNone/>
            </a:pPr>
            <a:r>
              <a:rPr lang="en-US" sz="1200" dirty="0">
                <a:solidFill>
                  <a:srgbClr val="55555C"/>
                </a:solidFill>
              </a:rPr>
              <a:t>A member's agent cuts the highlight from their own video and posts it only after their yes.</a:t>
            </a:r>
            <a:endParaRPr lang="en-US" sz="1200" dirty="0"/>
          </a:p>
        </p:txBody>
      </p:sp>
      <p:sp>
        <p:nvSpPr>
          <p:cNvPr id="18" name="Text 12"/>
          <p:cNvSpPr txBox="1"/>
          <p:nvPr/>
        </p:nvSpPr>
        <p:spPr>
          <a:xfrm>
            <a:off x="8001000" y="393192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Games anyone can join</a:t>
            </a:r>
            <a:endParaRPr lang="en-US" sz="1500" dirty="0"/>
          </a:p>
        </p:txBody>
      </p:sp>
      <p:sp>
        <p:nvSpPr>
          <p:cNvPr id="19" name="Text 13"/>
          <p:cNvSpPr txBox="1"/>
          <p:nvPr/>
        </p:nvSpPr>
        <p:spPr>
          <a:xfrm>
            <a:off x="8001000" y="4242816"/>
            <a:ext cx="3611880" cy="731520"/>
          </a:xfrm>
          <a:prstGeom prst="rect">
            <a:avLst/>
          </a:prstGeom>
          <a:noFill/>
          <a:ln/>
        </p:spPr>
        <p:txBody>
          <a:bodyPr wrap="square" lIns="0" tIns="0" rIns="0" bIns="0" rtlCol="0" anchor="t"/>
          <a:lstStyle/>
          <a:p>
            <a:pPr indent="0" marL="0">
              <a:buNone/>
            </a:pPr>
            <a:r>
              <a:rPr lang="en-US" sz="1200" dirty="0">
                <a:solidFill>
                  <a:srgbClr val="55555C"/>
                </a:solidFill>
              </a:rPr>
              <a:t>Join with a tap. The poster's agent answers in the comments with facts made by code: who is in, spots left.</a:t>
            </a:r>
            <a:endParaRPr lang="en-US" sz="1200" dirty="0"/>
          </a:p>
        </p:txBody>
      </p:sp>
      <p:sp>
        <p:nvSpPr>
          <p:cNvPr id="20" name="Text 14"/>
          <p:cNvSpPr txBox="1"/>
          <p:nvPr/>
        </p:nvSpPr>
        <p:spPr>
          <a:xfrm>
            <a:off x="8001000" y="502920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Every card says who wrote it</a:t>
            </a:r>
            <a:endParaRPr lang="en-US" sz="1500" dirty="0"/>
          </a:p>
        </p:txBody>
      </p:sp>
      <p:sp>
        <p:nvSpPr>
          <p:cNvPr id="21" name="Text 15"/>
          <p:cNvSpPr txBox="1"/>
          <p:nvPr/>
        </p:nvSpPr>
        <p:spPr>
          <a:xfrm>
            <a:off x="8001000" y="5340096"/>
            <a:ext cx="3611880" cy="731520"/>
          </a:xfrm>
          <a:prstGeom prst="rect">
            <a:avLst/>
          </a:prstGeom>
          <a:noFill/>
          <a:ln/>
        </p:spPr>
        <p:txBody>
          <a:bodyPr wrap="square" lIns="0" tIns="0" rIns="0" bIns="0" rtlCol="0" anchor="t"/>
          <a:lstStyle/>
          <a:p>
            <a:pPr indent="0" marL="0">
              <a:buNone/>
            </a:pPr>
            <a:r>
              <a:rPr lang="en-US" sz="1200" dirty="0">
                <a:solidFill>
                  <a:srgbClr val="55555C"/>
                </a:solidFill>
              </a:rPr>
              <a:t>A person, an agent and whose, and Simulated for the demo club's made-up members.</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MONDAY · BODY CONTEXT WITH META'S DRAMA</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Say it once. Every rule shows where it came from</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What matters this week, by meaning</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Rules, each with its sources</a:t>
            </a:r>
            <a:endParaRPr lang="en-US" sz="1050" dirty="0"/>
          </a:p>
        </p:txBody>
      </p:sp>
      <p:sp>
        <p:nvSpPr>
          <p:cNvPr id="11" name="Shape 6"/>
          <p:cNvSpPr/>
          <p:nvPr/>
        </p:nvSpPr>
        <p:spPr>
          <a:xfrm>
            <a:off x="5669280" y="1783080"/>
            <a:ext cx="384048" cy="384048"/>
          </a:xfrm>
          <a:prstGeom prst="ellipse">
            <a:avLst/>
          </a:prstGeom>
          <a:solidFill>
            <a:srgbClr val="0A7F44"/>
          </a:solidFill>
          <a:ln w="12700">
            <a:solidFill>
              <a:srgbClr val="0A7F44"/>
            </a:solidFill>
            <a:prstDash val="solid"/>
          </a:ln>
        </p:spPr>
      </p:sp>
      <p:sp>
        <p:nvSpPr>
          <p:cNvPr id="12" name="Text 7"/>
          <p:cNvSpPr txBox="1"/>
          <p:nvPr/>
        </p:nvSpPr>
        <p:spPr>
          <a:xfrm>
            <a:off x="5669280" y="1783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13" name="Text 8"/>
          <p:cNvSpPr txBox="1"/>
          <p:nvPr/>
        </p:nvSpPr>
        <p:spPr>
          <a:xfrm>
            <a:off x="6217920" y="1755648"/>
            <a:ext cx="5394960" cy="292608"/>
          </a:xfrm>
          <a:prstGeom prst="rect">
            <a:avLst/>
          </a:prstGeom>
          <a:noFill/>
          <a:ln/>
        </p:spPr>
        <p:txBody>
          <a:bodyPr wrap="square" lIns="0" tIns="0" rIns="0" bIns="0" rtlCol="0" anchor="t"/>
          <a:lstStyle/>
          <a:p>
            <a:pPr indent="0" marL="0">
              <a:buNone/>
            </a:pPr>
            <a:r>
              <a:rPr lang="en-US" sz="1500" b="1" dirty="0">
                <a:solidFill>
                  <a:srgbClr val="0A0A0B"/>
                </a:solidFill>
              </a:rPr>
              <a:t>Notes from what you said and what was recorded</a:t>
            </a:r>
            <a:endParaRPr lang="en-US" sz="1500" dirty="0"/>
          </a:p>
        </p:txBody>
      </p:sp>
      <p:sp>
        <p:nvSpPr>
          <p:cNvPr id="14" name="Text 9"/>
          <p:cNvSpPr txBox="1"/>
          <p:nvPr/>
        </p:nvSpPr>
        <p:spPr>
          <a:xfrm>
            <a:off x="6217920" y="2057400"/>
            <a:ext cx="5394960" cy="731520"/>
          </a:xfrm>
          <a:prstGeom prst="rect">
            <a:avLst/>
          </a:prstGeom>
          <a:noFill/>
          <a:ln/>
        </p:spPr>
        <p:txBody>
          <a:bodyPr wrap="square" lIns="0" tIns="0" rIns="0" bIns="0" rtlCol="0" anchor="t"/>
          <a:lstStyle/>
          <a:p>
            <a:pPr indent="0" marL="0">
              <a:buNone/>
            </a:pPr>
            <a:r>
              <a:rPr lang="en-US" sz="1200" dirty="0">
                <a:solidFill>
                  <a:srgbClr val="55555C"/>
                </a:solidFill>
              </a:rPr>
              <a:t>Your words from Messenger, a voice note or the app; each week's load from your games and health app; what you told your agent before.</a:t>
            </a:r>
            <a:endParaRPr lang="en-US" sz="1200" dirty="0"/>
          </a:p>
        </p:txBody>
      </p:sp>
      <p:sp>
        <p:nvSpPr>
          <p:cNvPr id="15" name="Shape 10"/>
          <p:cNvSpPr/>
          <p:nvPr/>
        </p:nvSpPr>
        <p:spPr>
          <a:xfrm>
            <a:off x="5669280" y="2862072"/>
            <a:ext cx="384048" cy="384048"/>
          </a:xfrm>
          <a:prstGeom prst="ellipse">
            <a:avLst/>
          </a:prstGeom>
          <a:solidFill>
            <a:srgbClr val="0A7F44"/>
          </a:solidFill>
          <a:ln w="12700">
            <a:solidFill>
              <a:srgbClr val="0A7F44"/>
            </a:solidFill>
            <a:prstDash val="solid"/>
          </a:ln>
        </p:spPr>
      </p:sp>
      <p:sp>
        <p:nvSpPr>
          <p:cNvPr id="16" name="Text 11"/>
          <p:cNvSpPr txBox="1"/>
          <p:nvPr/>
        </p:nvSpPr>
        <p:spPr>
          <a:xfrm>
            <a:off x="5669280" y="28620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7" name="Text 12"/>
          <p:cNvSpPr txBox="1"/>
          <p:nvPr/>
        </p:nvSpPr>
        <p:spPr>
          <a:xfrm>
            <a:off x="6217920" y="2834640"/>
            <a:ext cx="5394960" cy="292608"/>
          </a:xfrm>
          <a:prstGeom prst="rect">
            <a:avLst/>
          </a:prstGeom>
          <a:noFill/>
          <a:ln/>
        </p:spPr>
        <p:txBody>
          <a:bodyPr wrap="square" lIns="0" tIns="0" rIns="0" bIns="0" rtlCol="0" anchor="t"/>
          <a:lstStyle/>
          <a:p>
            <a:pPr indent="0" marL="0">
              <a:buNone/>
            </a:pPr>
            <a:r>
              <a:rPr lang="en-US" sz="1500" b="1" dirty="0">
                <a:solidFill>
                  <a:srgbClr val="0A0A0B"/>
                </a:solidFill>
              </a:rPr>
              <a:t>Found by meaning with Meta's DRAMA</a:t>
            </a:r>
            <a:endParaRPr lang="en-US" sz="1500" dirty="0"/>
          </a:p>
        </p:txBody>
      </p:sp>
      <p:sp>
        <p:nvSpPr>
          <p:cNvPr id="18" name="Text 13"/>
          <p:cNvSpPr txBox="1"/>
          <p:nvPr/>
        </p:nvSpPr>
        <p:spPr>
          <a:xfrm>
            <a:off x="6217920" y="3136392"/>
            <a:ext cx="5394960" cy="731520"/>
          </a:xfrm>
          <a:prstGeom prst="rect">
            <a:avLst/>
          </a:prstGeom>
          <a:noFill/>
          <a:ln/>
        </p:spPr>
        <p:txBody>
          <a:bodyPr wrap="square" lIns="0" tIns="0" rIns="0" bIns="0" rtlCol="0" anchor="t"/>
          <a:lstStyle/>
          <a:p>
            <a:pPr indent="0" marL="0">
              <a:buNone/>
            </a:pPr>
            <a:r>
              <a:rPr lang="en-US" sz="1200" dirty="0">
                <a:solidFill>
                  <a:srgbClr val="55555C"/>
                </a:solidFill>
              </a:rPr>
              <a:t>The planner's question against every note, on the server's CPU. Recent notes count more: a body note keeps half its weight after a week.</a:t>
            </a:r>
            <a:endParaRPr lang="en-US" sz="1200" dirty="0"/>
          </a:p>
        </p:txBody>
      </p:sp>
      <p:sp>
        <p:nvSpPr>
          <p:cNvPr id="19" name="Shape 14"/>
          <p:cNvSpPr/>
          <p:nvPr/>
        </p:nvSpPr>
        <p:spPr>
          <a:xfrm>
            <a:off x="5669280" y="3941064"/>
            <a:ext cx="384048" cy="384048"/>
          </a:xfrm>
          <a:prstGeom prst="ellipse">
            <a:avLst/>
          </a:prstGeom>
          <a:solidFill>
            <a:srgbClr val="0A7F44"/>
          </a:solidFill>
          <a:ln w="12700">
            <a:solidFill>
              <a:srgbClr val="0A7F44"/>
            </a:solidFill>
            <a:prstDash val="solid"/>
          </a:ln>
        </p:spPr>
      </p:sp>
      <p:sp>
        <p:nvSpPr>
          <p:cNvPr id="20" name="Text 15"/>
          <p:cNvSpPr txBox="1"/>
          <p:nvPr/>
        </p:nvSpPr>
        <p:spPr>
          <a:xfrm>
            <a:off x="5669280" y="394106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21" name="Text 16"/>
          <p:cNvSpPr txBox="1"/>
          <p:nvPr/>
        </p:nvSpPr>
        <p:spPr>
          <a:xfrm>
            <a:off x="6217920" y="3913632"/>
            <a:ext cx="5394960" cy="292608"/>
          </a:xfrm>
          <a:prstGeom prst="rect">
            <a:avLst/>
          </a:prstGeom>
          <a:noFill/>
          <a:ln/>
        </p:spPr>
        <p:txBody>
          <a:bodyPr wrap="square" lIns="0" tIns="0" rIns="0" bIns="0" rtlCol="0" anchor="t"/>
          <a:lstStyle/>
          <a:p>
            <a:pPr indent="0" marL="0">
              <a:buNone/>
            </a:pPr>
            <a:r>
              <a:rPr lang="en-US" sz="1500" b="1" dirty="0">
                <a:solidFill>
                  <a:srgbClr val="0A0A0B"/>
                </a:solidFill>
              </a:rPr>
              <a:t>Rules decided by code, each citing its notes</a:t>
            </a:r>
            <a:endParaRPr lang="en-US" sz="1500" dirty="0"/>
          </a:p>
        </p:txBody>
      </p:sp>
      <p:sp>
        <p:nvSpPr>
          <p:cNvPr id="22" name="Text 17"/>
          <p:cNvSpPr txBox="1"/>
          <p:nvPr/>
        </p:nvSpPr>
        <p:spPr>
          <a:xfrm>
            <a:off x="6217920" y="4215384"/>
            <a:ext cx="5394960" cy="731520"/>
          </a:xfrm>
          <a:prstGeom prst="rect">
            <a:avLst/>
          </a:prstGeom>
          <a:noFill/>
          <a:ln/>
        </p:spPr>
        <p:txBody>
          <a:bodyPr wrap="square" lIns="0" tIns="0" rIns="0" bIns="0" rtlCol="0" anchor="t"/>
          <a:lstStyle/>
          <a:p>
            <a:pPr indent="0" marL="0">
              <a:buNone/>
            </a:pPr>
            <a:r>
              <a:rPr lang="en-US" sz="1200" dirty="0">
                <a:solidFill>
                  <a:srgbClr val="55555C"/>
                </a:solidFill>
              </a:rPr>
              <a:t>Doubles first, no jump sports, one game fewer in a heavy week. A citation must be a real note about the same body part, checked by code.</a:t>
            </a:r>
            <a:endParaRPr lang="en-US" sz="1200" dirty="0"/>
          </a:p>
        </p:txBody>
      </p:sp>
      <p:sp>
        <p:nvSpPr>
          <p:cNvPr id="23" name="Shape 18"/>
          <p:cNvSpPr/>
          <p:nvPr/>
        </p:nvSpPr>
        <p:spPr>
          <a:xfrm>
            <a:off x="5669280" y="5020056"/>
            <a:ext cx="384048" cy="384048"/>
          </a:xfrm>
          <a:prstGeom prst="ellipse">
            <a:avLst/>
          </a:prstGeom>
          <a:solidFill>
            <a:srgbClr val="0A7F44"/>
          </a:solidFill>
          <a:ln w="12700">
            <a:solidFill>
              <a:srgbClr val="0A7F44"/>
            </a:solidFill>
            <a:prstDash val="solid"/>
          </a:ln>
        </p:spPr>
      </p:sp>
      <p:sp>
        <p:nvSpPr>
          <p:cNvPr id="24" name="Text 19"/>
          <p:cNvSpPr txBox="1"/>
          <p:nvPr/>
        </p:nvSpPr>
        <p:spPr>
          <a:xfrm>
            <a:off x="5669280" y="502005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5" name="Text 20"/>
          <p:cNvSpPr txBox="1"/>
          <p:nvPr/>
        </p:nvSpPr>
        <p:spPr>
          <a:xfrm>
            <a:off x="6217920" y="4992624"/>
            <a:ext cx="5394960" cy="292608"/>
          </a:xfrm>
          <a:prstGeom prst="rect">
            <a:avLst/>
          </a:prstGeom>
          <a:noFill/>
          <a:ln/>
        </p:spPr>
        <p:txBody>
          <a:bodyPr wrap="square" lIns="0" tIns="0" rIns="0" bIns="0" rtlCol="0" anchor="t"/>
          <a:lstStyle/>
          <a:p>
            <a:pPr indent="0" marL="0">
              <a:buNone/>
            </a:pPr>
            <a:r>
              <a:rPr lang="en-US" sz="1500" b="1" dirty="0">
                <a:solidFill>
                  <a:srgbClr val="0A0A0B"/>
                </a:solidFill>
              </a:rPr>
              <a:t>The planner gets the same context</a:t>
            </a:r>
            <a:endParaRPr lang="en-US" sz="1500" dirty="0"/>
          </a:p>
        </p:txBody>
      </p:sp>
      <p:sp>
        <p:nvSpPr>
          <p:cNvPr id="26" name="Text 21"/>
          <p:cNvSpPr txBox="1"/>
          <p:nvPr/>
        </p:nvSpPr>
        <p:spPr>
          <a:xfrm>
            <a:off x="6217920" y="5294376"/>
            <a:ext cx="5394960" cy="731520"/>
          </a:xfrm>
          <a:prstGeom prst="rect">
            <a:avLst/>
          </a:prstGeom>
          <a:noFill/>
          <a:ln/>
        </p:spPr>
        <p:txBody>
          <a:bodyPr wrap="square" lIns="0" tIns="0" rIns="0" bIns="0" rtlCol="0" anchor="t"/>
          <a:lstStyle/>
          <a:p>
            <a:pPr indent="0" marL="0">
              <a:buNone/>
            </a:pPr>
            <a:r>
              <a:rPr lang="en-US" sz="1200" dirty="0">
                <a:solidFill>
                  <a:srgbClr val="55555C"/>
                </a:solidFill>
              </a:rPr>
              <a:t>check_body hands the top notes and the cited rules to Muse Glimmer when it plans your week. A record, never a diagnosis.</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TUESDAY · WEDNESDAY</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agent plans the week and finds the court</a:t>
            </a:r>
            <a:endParaRPr lang="en-US" sz="3200" dirty="0"/>
          </a:p>
        </p:txBody>
      </p:sp>
      <p:pic>
        <p:nvPicPr>
          <p:cNvPr id="5" name="Image 0" descr="preencoded.png">    </p:cNvPr>
          <p:cNvPicPr>
            <a:picLocks noChangeAspect="1"/>
          </p:cNvPicPr>
          <p:nvPr/>
        </p:nvPicPr>
        <p:blipFill>
          <a:blip r:embed="rId1"/>
          <a:stretch>
            <a:fillRect/>
          </a:stretch>
        </p:blipFill>
        <p:spPr>
          <a:xfrm>
            <a:off x="548640" y="1691640"/>
            <a:ext cx="5989320" cy="4471240"/>
          </a:xfrm>
          <a:prstGeom prst="rect">
            <a:avLst/>
          </a:prstGeom>
        </p:spPr>
      </p:pic>
      <p:sp>
        <p:nvSpPr>
          <p:cNvPr id="6" name="Shape 2"/>
          <p:cNvSpPr/>
          <p:nvPr/>
        </p:nvSpPr>
        <p:spPr>
          <a:xfrm>
            <a:off x="548640" y="1691640"/>
            <a:ext cx="5989320" cy="4471240"/>
          </a:xfrm>
          <a:prstGeom prst="rect">
            <a:avLst/>
          </a:prstGeom>
          <a:ln w="12700">
            <a:solidFill>
              <a:srgbClr val="DCDCE0"/>
            </a:solidFill>
            <a:prstDash val="solid"/>
          </a:ln>
        </p:spPr>
      </p:sp>
      <p:sp>
        <p:nvSpPr>
          <p:cNvPr id="7" name="Text 3"/>
          <p:cNvSpPr txBox="1"/>
          <p:nvPr/>
        </p:nvSpPr>
        <p:spPr>
          <a:xfrm>
            <a:off x="548640" y="6245352"/>
            <a:ext cx="5989320" cy="228600"/>
          </a:xfrm>
          <a:prstGeom prst="rect">
            <a:avLst/>
          </a:prstGeom>
          <a:noFill/>
          <a:ln/>
        </p:spPr>
        <p:txBody>
          <a:bodyPr wrap="square" lIns="0" tIns="0" rIns="0" bIns="0" rtlCol="0" anchor="t"/>
          <a:lstStyle/>
          <a:p>
            <a:pPr indent="0" marL="0">
              <a:buNone/>
            </a:pPr>
            <a:r>
              <a:rPr lang="en-US" sz="1050" dirty="0">
                <a:solidFill>
                  <a:srgbClr val="55555C"/>
                </a:solidFill>
              </a:rPr>
              <a:t>The venue in the middle: each player's trip on the club map, agreed by their agents in one round</a:t>
            </a:r>
            <a:endParaRPr lang="en-US" sz="1050" dirty="0"/>
          </a:p>
        </p:txBody>
      </p:sp>
      <p:sp>
        <p:nvSpPr>
          <p:cNvPr id="8" name="Shape 4"/>
          <p:cNvSpPr/>
          <p:nvPr/>
        </p:nvSpPr>
        <p:spPr>
          <a:xfrm>
            <a:off x="68854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6949440" y="1691640"/>
            <a:ext cx="1985895" cy="4297680"/>
          </a:xfrm>
          <a:prstGeom prst="rect">
            <a:avLst/>
          </a:prstGeom>
        </p:spPr>
      </p:pic>
      <p:sp>
        <p:nvSpPr>
          <p:cNvPr id="10" name="Text 5"/>
          <p:cNvSpPr txBox="1"/>
          <p:nvPr/>
        </p:nvSpPr>
        <p:spPr>
          <a:xfrm>
            <a:off x="66751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Courts, judged with their sources</a:t>
            </a:r>
            <a:endParaRPr lang="en-US" sz="1050" dirty="0"/>
          </a:p>
        </p:txBody>
      </p:sp>
      <p:sp>
        <p:nvSpPr>
          <p:cNvPr id="11" name="Text 6"/>
          <p:cNvSpPr txBox="1"/>
          <p:nvPr/>
        </p:nvSpPr>
        <p:spPr>
          <a:xfrm>
            <a:off x="9372600" y="1783080"/>
            <a:ext cx="2286000" cy="274320"/>
          </a:xfrm>
          <a:prstGeom prst="rect">
            <a:avLst/>
          </a:prstGeom>
          <a:noFill/>
          <a:ln/>
        </p:spPr>
        <p:txBody>
          <a:bodyPr wrap="square" lIns="0" tIns="0" rIns="0" bIns="0" rtlCol="0" anchor="t"/>
          <a:lstStyle/>
          <a:p>
            <a:pPr indent="0" marL="0">
              <a:buNone/>
            </a:pPr>
            <a:r>
              <a:rPr lang="en-US" sz="1350" b="1" dirty="0">
                <a:solidFill>
                  <a:srgbClr val="0A0A0B"/>
                </a:solidFill>
              </a:rPr>
              <a:t>Muse Glimmer plans</a:t>
            </a:r>
            <a:endParaRPr lang="en-US" sz="1350" dirty="0"/>
          </a:p>
        </p:txBody>
      </p:sp>
      <p:sp>
        <p:nvSpPr>
          <p:cNvPr id="12" name="Text 7"/>
          <p:cNvSpPr txBox="1"/>
          <p:nvPr/>
        </p:nvSpPr>
        <p:spPr>
          <a:xfrm>
            <a:off x="9372600" y="2075688"/>
            <a:ext cx="2286000" cy="731520"/>
          </a:xfrm>
          <a:prstGeom prst="rect">
            <a:avLst/>
          </a:prstGeom>
          <a:noFill/>
          <a:ln/>
        </p:spPr>
        <p:txBody>
          <a:bodyPr wrap="square" lIns="0" tIns="0" rIns="0" bIns="0" rtlCol="0" anchor="t"/>
          <a:lstStyle/>
          <a:p>
            <a:pPr indent="0" marL="0">
              <a:buNone/>
            </a:pPr>
            <a:r>
              <a:rPr lang="en-US" sz="1150" dirty="0">
                <a:solidFill>
                  <a:srgbClr val="55555C"/>
                </a:solidFill>
              </a:rPr>
              <a:t>One tool at a time; a refused call comes back as a fact</a:t>
            </a:r>
            <a:endParaRPr lang="en-US" sz="1150" dirty="0"/>
          </a:p>
        </p:txBody>
      </p:sp>
      <p:sp>
        <p:nvSpPr>
          <p:cNvPr id="13" name="Text 8"/>
          <p:cNvSpPr txBox="1"/>
          <p:nvPr/>
        </p:nvSpPr>
        <p:spPr>
          <a:xfrm>
            <a:off x="9372600" y="2862072"/>
            <a:ext cx="2286000" cy="274320"/>
          </a:xfrm>
          <a:prstGeom prst="rect">
            <a:avLst/>
          </a:prstGeom>
          <a:noFill/>
          <a:ln/>
        </p:spPr>
        <p:txBody>
          <a:bodyPr wrap="square" lIns="0" tIns="0" rIns="0" bIns="0" rtlCol="0" anchor="t"/>
          <a:lstStyle/>
          <a:p>
            <a:pPr indent="0" marL="0">
              <a:buNone/>
            </a:pPr>
            <a:r>
              <a:rPr lang="en-US" sz="1350" b="1" dirty="0">
                <a:solidFill>
                  <a:srgbClr val="0A0A0B"/>
                </a:solidFill>
              </a:rPr>
              <a:t>A2A, one round</a:t>
            </a:r>
            <a:endParaRPr lang="en-US" sz="1350" dirty="0"/>
          </a:p>
        </p:txBody>
      </p:sp>
      <p:sp>
        <p:nvSpPr>
          <p:cNvPr id="14" name="Text 9"/>
          <p:cNvSpPr txBox="1"/>
          <p:nvPr/>
        </p:nvSpPr>
        <p:spPr>
          <a:xfrm>
            <a:off x="9372600" y="3154680"/>
            <a:ext cx="2286000" cy="731520"/>
          </a:xfrm>
          <a:prstGeom prst="rect">
            <a:avLst/>
          </a:prstGeom>
          <a:noFill/>
          <a:ln/>
        </p:spPr>
        <p:txBody>
          <a:bodyPr wrap="square" lIns="0" tIns="0" rIns="0" bIns="0" rtlCol="0" anchor="t"/>
          <a:lstStyle/>
          <a:p>
            <a:pPr indent="0" marL="0">
              <a:buNone/>
            </a:pPr>
            <a:r>
              <a:rPr lang="en-US" sz="1150" dirty="0">
                <a:solidFill>
                  <a:srgbClr val="55555C"/>
                </a:solidFill>
              </a:rPr>
              <a:t>Agents mark the times that work; code picks</a:t>
            </a:r>
            <a:endParaRPr lang="en-US" sz="1150" dirty="0"/>
          </a:p>
        </p:txBody>
      </p:sp>
      <p:sp>
        <p:nvSpPr>
          <p:cNvPr id="15" name="Text 10"/>
          <p:cNvSpPr txBox="1"/>
          <p:nvPr/>
        </p:nvSpPr>
        <p:spPr>
          <a:xfrm>
            <a:off x="9372600" y="3941064"/>
            <a:ext cx="2286000" cy="274320"/>
          </a:xfrm>
          <a:prstGeom prst="rect">
            <a:avLst/>
          </a:prstGeom>
          <a:noFill/>
          <a:ln/>
        </p:spPr>
        <p:txBody>
          <a:bodyPr wrap="square" lIns="0" tIns="0" rIns="0" bIns="0" rtlCol="0" anchor="t"/>
          <a:lstStyle/>
          <a:p>
            <a:pPr indent="0" marL="0">
              <a:buNone/>
            </a:pPr>
            <a:r>
              <a:rPr lang="en-US" sz="1350" b="1" dirty="0">
                <a:solidFill>
                  <a:srgbClr val="0A0A0B"/>
                </a:solidFill>
              </a:rPr>
              <a:t>Prompt Guard 2</a:t>
            </a:r>
            <a:endParaRPr lang="en-US" sz="1350" dirty="0"/>
          </a:p>
        </p:txBody>
      </p:sp>
      <p:sp>
        <p:nvSpPr>
          <p:cNvPr id="16" name="Text 11"/>
          <p:cNvSpPr txBox="1"/>
          <p:nvPr/>
        </p:nvSpPr>
        <p:spPr>
          <a:xfrm>
            <a:off x="9372600" y="4233672"/>
            <a:ext cx="2286000" cy="731520"/>
          </a:xfrm>
          <a:prstGeom prst="rect">
            <a:avLst/>
          </a:prstGeom>
          <a:noFill/>
          <a:ln/>
        </p:spPr>
        <p:txBody>
          <a:bodyPr wrap="square" lIns="0" tIns="0" rIns="0" bIns="0" rtlCol="0" anchor="t"/>
          <a:lstStyle/>
          <a:p>
            <a:pPr indent="0" marL="0">
              <a:buNone/>
            </a:pPr>
            <a:r>
              <a:rPr lang="en-US" sz="1150" dirty="0">
                <a:solidFill>
                  <a:srgbClr val="55555C"/>
                </a:solidFill>
              </a:rPr>
              <a:t>Screens Google reviews before the judge reads them</a:t>
            </a:r>
            <a:endParaRPr lang="en-US" sz="1150" dirty="0"/>
          </a:p>
        </p:txBody>
      </p:sp>
      <p:sp>
        <p:nvSpPr>
          <p:cNvPr id="17" name="Text 12"/>
          <p:cNvSpPr txBox="1"/>
          <p:nvPr/>
        </p:nvSpPr>
        <p:spPr>
          <a:xfrm>
            <a:off x="9372600" y="5020056"/>
            <a:ext cx="2286000" cy="274320"/>
          </a:xfrm>
          <a:prstGeom prst="rect">
            <a:avLst/>
          </a:prstGeom>
          <a:noFill/>
          <a:ln/>
        </p:spPr>
        <p:txBody>
          <a:bodyPr wrap="square" lIns="0" tIns="0" rIns="0" bIns="0" rtlCol="0" anchor="t"/>
          <a:lstStyle/>
          <a:p>
            <a:pPr indent="0" marL="0">
              <a:buNone/>
            </a:pPr>
            <a:r>
              <a:rPr lang="en-US" sz="1350" b="1" dirty="0">
                <a:solidFill>
                  <a:srgbClr val="0A0A0B"/>
                </a:solidFill>
              </a:rPr>
              <a:t>Nothing booked</a:t>
            </a:r>
            <a:endParaRPr lang="en-US" sz="1350" dirty="0"/>
          </a:p>
        </p:txBody>
      </p:sp>
      <p:sp>
        <p:nvSpPr>
          <p:cNvPr id="18" name="Text 13"/>
          <p:cNvSpPr txBox="1"/>
          <p:nvPr/>
        </p:nvSpPr>
        <p:spPr>
          <a:xfrm>
            <a:off x="9372600" y="5312664"/>
            <a:ext cx="2286000" cy="731520"/>
          </a:xfrm>
          <a:prstGeom prst="rect">
            <a:avLst/>
          </a:prstGeom>
          <a:noFill/>
          <a:ln/>
        </p:spPr>
        <p:txBody>
          <a:bodyPr wrap="square" lIns="0" tIns="0" rIns="0" bIns="0" rtlCol="0" anchor="t"/>
          <a:lstStyle/>
          <a:p>
            <a:pPr indent="0" marL="0">
              <a:buNone/>
            </a:pPr>
            <a:r>
              <a:rPr lang="en-US" sz="1150" dirty="0">
                <a:solidFill>
                  <a:srgbClr val="55555C"/>
                </a:solidFill>
              </a:rPr>
              <a:t>until you say yes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USE OF META AI · 25%</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Ten Meta models and two Meta products, each with a job</a:t>
            </a:r>
            <a:endParaRPr lang="en-US" sz="3200" dirty="0"/>
          </a:p>
        </p:txBody>
      </p:sp>
      <p:sp>
        <p:nvSpPr>
          <p:cNvPr id="5" name="Shape 2"/>
          <p:cNvSpPr/>
          <p:nvPr/>
        </p:nvSpPr>
        <p:spPr>
          <a:xfrm>
            <a:off x="548640" y="1645920"/>
            <a:ext cx="2670048" cy="1353312"/>
          </a:xfrm>
          <a:prstGeom prst="roundRect">
            <a:avLst>
              <a:gd name="adj" fmla="val 8108"/>
            </a:avLst>
          </a:prstGeom>
          <a:solidFill>
            <a:srgbClr val="E9F3EC"/>
          </a:solidFill>
          <a:ln w="12700">
            <a:solidFill>
              <a:srgbClr val="E9F3EC"/>
            </a:solidFill>
            <a:prstDash val="solid"/>
          </a:ln>
        </p:spPr>
      </p:sp>
      <p:sp>
        <p:nvSpPr>
          <p:cNvPr id="6" name="Text 3"/>
          <p:cNvSpPr txBox="1"/>
          <p:nvPr/>
        </p:nvSpPr>
        <p:spPr>
          <a:xfrm>
            <a:off x="713232" y="1764792"/>
            <a:ext cx="1463040" cy="228600"/>
          </a:xfrm>
          <a:prstGeom prst="rect">
            <a:avLst/>
          </a:prstGeom>
          <a:noFill/>
          <a:ln/>
        </p:spPr>
        <p:txBody>
          <a:bodyPr wrap="square" lIns="0" tIns="0" rIns="0" bIns="0" rtlCol="0" anchor="t"/>
          <a:lstStyle/>
          <a:p>
            <a:pPr indent="0" marL="0">
              <a:buNone/>
            </a:pPr>
            <a:r>
              <a:rPr lang="en-US" sz="1000" b="1" spc="100" kern="0" dirty="0">
                <a:solidFill>
                  <a:srgbClr val="0A7F44"/>
                </a:solidFill>
              </a:rPr>
              <a:t>REASONING</a:t>
            </a:r>
            <a:endParaRPr lang="en-US" sz="1000" dirty="0"/>
          </a:p>
        </p:txBody>
      </p:sp>
      <p:sp>
        <p:nvSpPr>
          <p:cNvPr id="7" name="Text 4"/>
          <p:cNvSpPr txBox="1"/>
          <p:nvPr/>
        </p:nvSpPr>
        <p:spPr>
          <a:xfrm>
            <a:off x="713232" y="1993392"/>
            <a:ext cx="2395728" cy="310896"/>
          </a:xfrm>
          <a:prstGeom prst="rect">
            <a:avLst/>
          </a:prstGeom>
          <a:noFill/>
          <a:ln/>
        </p:spPr>
        <p:txBody>
          <a:bodyPr wrap="square" lIns="0" tIns="0" rIns="0" bIns="0" rtlCol="0" anchor="t"/>
          <a:lstStyle/>
          <a:p>
            <a:pPr indent="0" marL="0">
              <a:buNone/>
            </a:pPr>
            <a:r>
              <a:rPr lang="en-US" sz="1500" b="1" dirty="0">
                <a:solidFill>
                  <a:srgbClr val="0A0A0B"/>
                </a:solidFill>
              </a:rPr>
              <a:t>Muse Glimmer</a:t>
            </a:r>
            <a:endParaRPr lang="en-US" sz="1500" dirty="0"/>
          </a:p>
        </p:txBody>
      </p:sp>
      <p:sp>
        <p:nvSpPr>
          <p:cNvPr id="8" name="Text 5"/>
          <p:cNvSpPr txBox="1"/>
          <p:nvPr/>
        </p:nvSpPr>
        <p:spPr>
          <a:xfrm>
            <a:off x="713232" y="2304288"/>
            <a:ext cx="2377440" cy="457200"/>
          </a:xfrm>
          <a:prstGeom prst="rect">
            <a:avLst/>
          </a:prstGeom>
          <a:noFill/>
          <a:ln/>
        </p:spPr>
        <p:txBody>
          <a:bodyPr wrap="square" lIns="0" tIns="0" rIns="0" bIns="0" rtlCol="0" anchor="t"/>
          <a:lstStyle/>
          <a:p>
            <a:pPr indent="0" marL="0">
              <a:buNone/>
            </a:pPr>
            <a:r>
              <a:rPr lang="en-US" sz="1050" dirty="0">
                <a:solidFill>
                  <a:srgbClr val="0A0A0B"/>
                </a:solidFill>
              </a:rPr>
              <a:t>Every agent: the tool loop, members' decisions, photos, courts, captions</a:t>
            </a:r>
            <a:endParaRPr lang="en-US" sz="1050" dirty="0"/>
          </a:p>
        </p:txBody>
      </p:sp>
      <p:sp>
        <p:nvSpPr>
          <p:cNvPr id="9" name="Text 6"/>
          <p:cNvSpPr txBox="1"/>
          <p:nvPr/>
        </p:nvSpPr>
        <p:spPr>
          <a:xfrm>
            <a:off x="713232" y="2734056"/>
            <a:ext cx="2395728" cy="201168"/>
          </a:xfrm>
          <a:prstGeom prst="rect">
            <a:avLst/>
          </a:prstGeom>
          <a:noFill/>
          <a:ln/>
        </p:spPr>
        <p:txBody>
          <a:bodyPr wrap="square" lIns="0" tIns="0" rIns="0" bIns="0" rtlCol="0" anchor="t"/>
          <a:lstStyle/>
          <a:p>
            <a:pPr indent="0" marL="0">
              <a:buNone/>
            </a:pPr>
            <a:r>
              <a:rPr lang="en-US" sz="1000" dirty="0">
                <a:solidFill>
                  <a:srgbClr val="55555C"/>
                </a:solidFill>
              </a:rPr>
              <a:t>RTX 3090 · Ollama · 4 in parallel</a:t>
            </a:r>
            <a:endParaRPr lang="en-US" sz="1000" dirty="0"/>
          </a:p>
        </p:txBody>
      </p:sp>
      <p:sp>
        <p:nvSpPr>
          <p:cNvPr id="10" name="Shape 7"/>
          <p:cNvSpPr/>
          <p:nvPr/>
        </p:nvSpPr>
        <p:spPr>
          <a:xfrm>
            <a:off x="3346704" y="1645920"/>
            <a:ext cx="2670048" cy="1353312"/>
          </a:xfrm>
          <a:prstGeom prst="roundRect">
            <a:avLst>
              <a:gd name="adj" fmla="val 8108"/>
            </a:avLst>
          </a:prstGeom>
          <a:solidFill>
            <a:srgbClr val="E9F3EC"/>
          </a:solidFill>
          <a:ln w="12700">
            <a:solidFill>
              <a:srgbClr val="E9F3EC"/>
            </a:solidFill>
            <a:prstDash val="solid"/>
          </a:ln>
        </p:spPr>
      </p:sp>
      <p:sp>
        <p:nvSpPr>
          <p:cNvPr id="11" name="Text 8"/>
          <p:cNvSpPr txBox="1"/>
          <p:nvPr/>
        </p:nvSpPr>
        <p:spPr>
          <a:xfrm>
            <a:off x="3511296" y="1764792"/>
            <a:ext cx="1463040" cy="228600"/>
          </a:xfrm>
          <a:prstGeom prst="rect">
            <a:avLst/>
          </a:prstGeom>
          <a:noFill/>
          <a:ln/>
        </p:spPr>
        <p:txBody>
          <a:bodyPr wrap="square" lIns="0" tIns="0" rIns="0" bIns="0" rtlCol="0" anchor="t"/>
          <a:lstStyle/>
          <a:p>
            <a:pPr indent="0" marL="0">
              <a:buNone/>
            </a:pPr>
            <a:r>
              <a:rPr lang="en-US" sz="1000" b="1" spc="100" kern="0" dirty="0">
                <a:solidFill>
                  <a:srgbClr val="0A7F44"/>
                </a:solidFill>
              </a:rPr>
              <a:t>REASONING</a:t>
            </a:r>
            <a:endParaRPr lang="en-US" sz="1000" dirty="0"/>
          </a:p>
        </p:txBody>
      </p:sp>
      <p:sp>
        <p:nvSpPr>
          <p:cNvPr id="12" name="Text 9"/>
          <p:cNvSpPr txBox="1"/>
          <p:nvPr/>
        </p:nvSpPr>
        <p:spPr>
          <a:xfrm>
            <a:off x="3511296" y="1993392"/>
            <a:ext cx="2395728" cy="310896"/>
          </a:xfrm>
          <a:prstGeom prst="rect">
            <a:avLst/>
          </a:prstGeom>
          <a:noFill/>
          <a:ln/>
        </p:spPr>
        <p:txBody>
          <a:bodyPr wrap="square" lIns="0" tIns="0" rIns="0" bIns="0" rtlCol="0" anchor="t"/>
          <a:lstStyle/>
          <a:p>
            <a:pPr indent="0" marL="0">
              <a:buNone/>
            </a:pPr>
            <a:r>
              <a:rPr lang="en-US" sz="1500" b="1" dirty="0">
                <a:solidFill>
                  <a:srgbClr val="0A0A0B"/>
                </a:solidFill>
              </a:rPr>
              <a:t>Llama 3.2 1B</a:t>
            </a:r>
            <a:endParaRPr lang="en-US" sz="1500" dirty="0"/>
          </a:p>
        </p:txBody>
      </p:sp>
      <p:sp>
        <p:nvSpPr>
          <p:cNvPr id="13" name="Text 10"/>
          <p:cNvSpPr txBox="1"/>
          <p:nvPr/>
        </p:nvSpPr>
        <p:spPr>
          <a:xfrm>
            <a:off x="3511296" y="2304288"/>
            <a:ext cx="2377440" cy="457200"/>
          </a:xfrm>
          <a:prstGeom prst="rect">
            <a:avLst/>
          </a:prstGeom>
          <a:noFill/>
          <a:ln/>
        </p:spPr>
        <p:txBody>
          <a:bodyPr wrap="square" lIns="0" tIns="0" rIns="0" bIns="0" rtlCol="0" anchor="t"/>
          <a:lstStyle/>
          <a:p>
            <a:pPr indent="0" marL="0">
              <a:buNone/>
            </a:pPr>
            <a:r>
              <a:rPr lang="en-US" sz="1050" dirty="0">
                <a:solidFill>
                  <a:srgbClr val="0A0A0B"/>
                </a:solidFill>
              </a:rPr>
              <a:t>Distilled from Glimmer; answers 54–67% of members' decisions when sure</a:t>
            </a:r>
            <a:endParaRPr lang="en-US" sz="1050" dirty="0"/>
          </a:p>
        </p:txBody>
      </p:sp>
      <p:sp>
        <p:nvSpPr>
          <p:cNvPr id="14" name="Text 11"/>
          <p:cNvSpPr txBox="1"/>
          <p:nvPr/>
        </p:nvSpPr>
        <p:spPr>
          <a:xfrm>
            <a:off x="3511296" y="2734056"/>
            <a:ext cx="2395728" cy="201168"/>
          </a:xfrm>
          <a:prstGeom prst="rect">
            <a:avLst/>
          </a:prstGeom>
          <a:noFill/>
          <a:ln/>
        </p:spPr>
        <p:txBody>
          <a:bodyPr wrap="square" lIns="0" tIns="0" rIns="0" bIns="0" rtlCol="0" anchor="t"/>
          <a:lstStyle/>
          <a:p>
            <a:pPr indent="0" marL="0">
              <a:buNone/>
            </a:pPr>
            <a:r>
              <a:rPr lang="en-US" sz="1000" dirty="0">
                <a:solidFill>
                  <a:srgbClr val="55555C"/>
                </a:solidFill>
              </a:rPr>
              <a:t>CPU · simulated club</a:t>
            </a:r>
            <a:endParaRPr lang="en-US" sz="1000" dirty="0"/>
          </a:p>
        </p:txBody>
      </p:sp>
      <p:sp>
        <p:nvSpPr>
          <p:cNvPr id="15" name="Shape 12"/>
          <p:cNvSpPr/>
          <p:nvPr/>
        </p:nvSpPr>
        <p:spPr>
          <a:xfrm>
            <a:off x="6144768" y="1645920"/>
            <a:ext cx="2670048" cy="1353312"/>
          </a:xfrm>
          <a:prstGeom prst="roundRect">
            <a:avLst>
              <a:gd name="adj" fmla="val 8108"/>
            </a:avLst>
          </a:prstGeom>
          <a:solidFill>
            <a:srgbClr val="FBEAE9"/>
          </a:solidFill>
          <a:ln w="12700">
            <a:solidFill>
              <a:srgbClr val="FBEAE9"/>
            </a:solidFill>
            <a:prstDash val="solid"/>
          </a:ln>
        </p:spPr>
      </p:sp>
      <p:sp>
        <p:nvSpPr>
          <p:cNvPr id="16" name="Text 13"/>
          <p:cNvSpPr txBox="1"/>
          <p:nvPr/>
        </p:nvSpPr>
        <p:spPr>
          <a:xfrm>
            <a:off x="6309360" y="1764792"/>
            <a:ext cx="1463040" cy="228600"/>
          </a:xfrm>
          <a:prstGeom prst="rect">
            <a:avLst/>
          </a:prstGeom>
          <a:noFill/>
          <a:ln/>
        </p:spPr>
        <p:txBody>
          <a:bodyPr wrap="square" lIns="0" tIns="0" rIns="0" bIns="0" rtlCol="0" anchor="t"/>
          <a:lstStyle/>
          <a:p>
            <a:pPr indent="0" marL="0">
              <a:buNone/>
            </a:pPr>
            <a:r>
              <a:rPr lang="en-US" sz="1000" b="1" spc="100" kern="0" dirty="0">
                <a:solidFill>
                  <a:srgbClr val="D1352B"/>
                </a:solidFill>
              </a:rPr>
              <a:t>SAFETY</a:t>
            </a:r>
            <a:endParaRPr lang="en-US" sz="1000" dirty="0"/>
          </a:p>
        </p:txBody>
      </p:sp>
      <p:sp>
        <p:nvSpPr>
          <p:cNvPr id="17" name="Text 14"/>
          <p:cNvSpPr txBox="1"/>
          <p:nvPr/>
        </p:nvSpPr>
        <p:spPr>
          <a:xfrm>
            <a:off x="6309360" y="1993392"/>
            <a:ext cx="2395728" cy="310896"/>
          </a:xfrm>
          <a:prstGeom prst="rect">
            <a:avLst/>
          </a:prstGeom>
          <a:noFill/>
          <a:ln/>
        </p:spPr>
        <p:txBody>
          <a:bodyPr wrap="square" lIns="0" tIns="0" rIns="0" bIns="0" rtlCol="0" anchor="t"/>
          <a:lstStyle/>
          <a:p>
            <a:pPr indent="0" marL="0">
              <a:buNone/>
            </a:pPr>
            <a:r>
              <a:rPr lang="en-US" sz="1500" b="1" dirty="0">
                <a:solidFill>
                  <a:srgbClr val="0A0A0B"/>
                </a:solidFill>
              </a:rPr>
              <a:t>Llama Guard 3 1B</a:t>
            </a:r>
            <a:endParaRPr lang="en-US" sz="1500" dirty="0"/>
          </a:p>
        </p:txBody>
      </p:sp>
      <p:sp>
        <p:nvSpPr>
          <p:cNvPr id="18" name="Text 15"/>
          <p:cNvSpPr txBox="1"/>
          <p:nvPr/>
        </p:nvSpPr>
        <p:spPr>
          <a:xfrm>
            <a:off x="6309360" y="2304288"/>
            <a:ext cx="2377440" cy="457200"/>
          </a:xfrm>
          <a:prstGeom prst="rect">
            <a:avLst/>
          </a:prstGeom>
          <a:noFill/>
          <a:ln/>
        </p:spPr>
        <p:txBody>
          <a:bodyPr wrap="square" lIns="0" tIns="0" rIns="0" bIns="0" rtlCol="0" anchor="t"/>
          <a:lstStyle/>
          <a:p>
            <a:pPr indent="0" marL="0">
              <a:buNone/>
            </a:pPr>
            <a:r>
              <a:rPr lang="en-US" sz="1050" dirty="0">
                <a:solidFill>
                  <a:srgbClr val="0A0A0B"/>
                </a:solidFill>
              </a:rPr>
              <a:t>What you write, what a model writes, every idea shared with the club</a:t>
            </a:r>
            <a:endParaRPr lang="en-US" sz="1050" dirty="0"/>
          </a:p>
        </p:txBody>
      </p:sp>
      <p:sp>
        <p:nvSpPr>
          <p:cNvPr id="19" name="Text 16"/>
          <p:cNvSpPr txBox="1"/>
          <p:nvPr/>
        </p:nvSpPr>
        <p:spPr>
          <a:xfrm>
            <a:off x="6309360" y="2734056"/>
            <a:ext cx="2395728" cy="201168"/>
          </a:xfrm>
          <a:prstGeom prst="rect">
            <a:avLst/>
          </a:prstGeom>
          <a:noFill/>
          <a:ln/>
        </p:spPr>
        <p:txBody>
          <a:bodyPr wrap="square" lIns="0" tIns="0" rIns="0" bIns="0" rtlCol="0" anchor="t"/>
          <a:lstStyle/>
          <a:p>
            <a:pPr indent="0" marL="0">
              <a:buNone/>
            </a:pPr>
            <a:r>
              <a:rPr lang="en-US" sz="1000" dirty="0">
                <a:solidFill>
                  <a:srgbClr val="55555C"/>
                </a:solidFill>
              </a:rPr>
              <a:t>CPU</a:t>
            </a:r>
            <a:endParaRPr lang="en-US" sz="1000" dirty="0"/>
          </a:p>
        </p:txBody>
      </p:sp>
      <p:sp>
        <p:nvSpPr>
          <p:cNvPr id="20" name="Shape 17"/>
          <p:cNvSpPr/>
          <p:nvPr/>
        </p:nvSpPr>
        <p:spPr>
          <a:xfrm>
            <a:off x="8942832" y="1645920"/>
            <a:ext cx="2670048" cy="1353312"/>
          </a:xfrm>
          <a:prstGeom prst="roundRect">
            <a:avLst>
              <a:gd name="adj" fmla="val 8108"/>
            </a:avLst>
          </a:prstGeom>
          <a:solidFill>
            <a:srgbClr val="FBEAE9"/>
          </a:solidFill>
          <a:ln w="12700">
            <a:solidFill>
              <a:srgbClr val="FBEAE9"/>
            </a:solidFill>
            <a:prstDash val="solid"/>
          </a:ln>
        </p:spPr>
      </p:sp>
      <p:sp>
        <p:nvSpPr>
          <p:cNvPr id="21" name="Text 18"/>
          <p:cNvSpPr txBox="1"/>
          <p:nvPr/>
        </p:nvSpPr>
        <p:spPr>
          <a:xfrm>
            <a:off x="9107424" y="1764792"/>
            <a:ext cx="1463040" cy="228600"/>
          </a:xfrm>
          <a:prstGeom prst="rect">
            <a:avLst/>
          </a:prstGeom>
          <a:noFill/>
          <a:ln/>
        </p:spPr>
        <p:txBody>
          <a:bodyPr wrap="square" lIns="0" tIns="0" rIns="0" bIns="0" rtlCol="0" anchor="t"/>
          <a:lstStyle/>
          <a:p>
            <a:pPr indent="0" marL="0">
              <a:buNone/>
            </a:pPr>
            <a:r>
              <a:rPr lang="en-US" sz="1000" b="1" spc="100" kern="0" dirty="0">
                <a:solidFill>
                  <a:srgbClr val="D1352B"/>
                </a:solidFill>
              </a:rPr>
              <a:t>SAFETY</a:t>
            </a:r>
            <a:endParaRPr lang="en-US" sz="1000" dirty="0"/>
          </a:p>
        </p:txBody>
      </p:sp>
      <p:sp>
        <p:nvSpPr>
          <p:cNvPr id="22" name="Text 19"/>
          <p:cNvSpPr txBox="1"/>
          <p:nvPr/>
        </p:nvSpPr>
        <p:spPr>
          <a:xfrm>
            <a:off x="9107424" y="1993392"/>
            <a:ext cx="2395728" cy="310896"/>
          </a:xfrm>
          <a:prstGeom prst="rect">
            <a:avLst/>
          </a:prstGeom>
          <a:noFill/>
          <a:ln/>
        </p:spPr>
        <p:txBody>
          <a:bodyPr wrap="square" lIns="0" tIns="0" rIns="0" bIns="0" rtlCol="0" anchor="t"/>
          <a:lstStyle/>
          <a:p>
            <a:pPr indent="0" marL="0">
              <a:buNone/>
            </a:pPr>
            <a:r>
              <a:rPr lang="en-US" sz="1500" b="1" dirty="0">
                <a:solidFill>
                  <a:srgbClr val="0A0A0B"/>
                </a:solidFill>
              </a:rPr>
              <a:t>Prompt Guard 2 86M</a:t>
            </a:r>
            <a:endParaRPr lang="en-US" sz="1500" dirty="0"/>
          </a:p>
        </p:txBody>
      </p:sp>
      <p:sp>
        <p:nvSpPr>
          <p:cNvPr id="23" name="Text 20"/>
          <p:cNvSpPr txBox="1"/>
          <p:nvPr/>
        </p:nvSpPr>
        <p:spPr>
          <a:xfrm>
            <a:off x="9107424" y="2304288"/>
            <a:ext cx="2377440" cy="457200"/>
          </a:xfrm>
          <a:prstGeom prst="rect">
            <a:avLst/>
          </a:prstGeom>
          <a:noFill/>
          <a:ln/>
        </p:spPr>
        <p:txBody>
          <a:bodyPr wrap="square" lIns="0" tIns="0" rIns="0" bIns="0" rtlCol="0" anchor="t"/>
          <a:lstStyle/>
          <a:p>
            <a:pPr indent="0" marL="0">
              <a:buNone/>
            </a:pPr>
            <a:r>
              <a:rPr lang="en-US" sz="1050" dirty="0">
                <a:solidFill>
                  <a:srgbClr val="0A0A0B"/>
                </a:solidFill>
              </a:rPr>
              <a:t>Google reviews before the court judge reads them; shared ideas</a:t>
            </a:r>
            <a:endParaRPr lang="en-US" sz="1050" dirty="0"/>
          </a:p>
        </p:txBody>
      </p:sp>
      <p:sp>
        <p:nvSpPr>
          <p:cNvPr id="24" name="Text 21"/>
          <p:cNvSpPr txBox="1"/>
          <p:nvPr/>
        </p:nvSpPr>
        <p:spPr>
          <a:xfrm>
            <a:off x="9107424" y="2734056"/>
            <a:ext cx="2395728" cy="201168"/>
          </a:xfrm>
          <a:prstGeom prst="rect">
            <a:avLst/>
          </a:prstGeom>
          <a:noFill/>
          <a:ln/>
        </p:spPr>
        <p:txBody>
          <a:bodyPr wrap="square" lIns="0" tIns="0" rIns="0" bIns="0" rtlCol="0" anchor="t"/>
          <a:lstStyle/>
          <a:p>
            <a:pPr indent="0" marL="0">
              <a:buNone/>
            </a:pPr>
            <a:r>
              <a:rPr lang="en-US" sz="1000" dirty="0">
                <a:solidFill>
                  <a:srgbClr val="55555C"/>
                </a:solidFill>
              </a:rPr>
              <a:t>CPU</a:t>
            </a:r>
            <a:endParaRPr lang="en-US" sz="1000" dirty="0"/>
          </a:p>
        </p:txBody>
      </p:sp>
      <p:sp>
        <p:nvSpPr>
          <p:cNvPr id="25" name="Shape 22"/>
          <p:cNvSpPr/>
          <p:nvPr/>
        </p:nvSpPr>
        <p:spPr>
          <a:xfrm>
            <a:off x="548640" y="3108960"/>
            <a:ext cx="2670048" cy="1353312"/>
          </a:xfrm>
          <a:prstGeom prst="roundRect">
            <a:avLst>
              <a:gd name="adj" fmla="val 8108"/>
            </a:avLst>
          </a:prstGeom>
          <a:solidFill>
            <a:srgbClr val="F6F7F8"/>
          </a:solidFill>
          <a:ln w="12700">
            <a:solidFill>
              <a:srgbClr val="F6F7F8"/>
            </a:solidFill>
            <a:prstDash val="solid"/>
          </a:ln>
        </p:spPr>
      </p:sp>
      <p:sp>
        <p:nvSpPr>
          <p:cNvPr id="26" name="Text 23"/>
          <p:cNvSpPr txBox="1"/>
          <p:nvPr/>
        </p:nvSpPr>
        <p:spPr>
          <a:xfrm>
            <a:off x="713232" y="3227832"/>
            <a:ext cx="1463040" cy="228600"/>
          </a:xfrm>
          <a:prstGeom prst="rect">
            <a:avLst/>
          </a:prstGeom>
          <a:noFill/>
          <a:ln/>
        </p:spPr>
        <p:txBody>
          <a:bodyPr wrap="square" lIns="0" tIns="0" rIns="0" bIns="0" rtlCol="0" anchor="t"/>
          <a:lstStyle/>
          <a:p>
            <a:pPr indent="0" marL="0">
              <a:buNone/>
            </a:pPr>
            <a:r>
              <a:rPr lang="en-US" sz="1000" b="1" spc="100" kern="0" dirty="0">
                <a:solidFill>
                  <a:srgbClr val="55555C"/>
                </a:solidFill>
              </a:rPr>
              <a:t>MEMORY</a:t>
            </a:r>
            <a:endParaRPr lang="en-US" sz="1000" dirty="0"/>
          </a:p>
        </p:txBody>
      </p:sp>
      <p:sp>
        <p:nvSpPr>
          <p:cNvPr id="27" name="Text 24"/>
          <p:cNvSpPr txBox="1"/>
          <p:nvPr/>
        </p:nvSpPr>
        <p:spPr>
          <a:xfrm>
            <a:off x="713232" y="3456432"/>
            <a:ext cx="2395728" cy="310896"/>
          </a:xfrm>
          <a:prstGeom prst="rect">
            <a:avLst/>
          </a:prstGeom>
          <a:noFill/>
          <a:ln/>
        </p:spPr>
        <p:txBody>
          <a:bodyPr wrap="square" lIns="0" tIns="0" rIns="0" bIns="0" rtlCol="0" anchor="t"/>
          <a:lstStyle/>
          <a:p>
            <a:pPr indent="0" marL="0">
              <a:buNone/>
            </a:pPr>
            <a:r>
              <a:rPr lang="en-US" sz="1500" b="1" dirty="0">
                <a:solidFill>
                  <a:srgbClr val="0A0A0B"/>
                </a:solidFill>
              </a:rPr>
              <a:t>DRAMA</a:t>
            </a:r>
            <a:endParaRPr lang="en-US" sz="1500" dirty="0"/>
          </a:p>
        </p:txBody>
      </p:sp>
      <p:sp>
        <p:nvSpPr>
          <p:cNvPr id="28" name="Text 25"/>
          <p:cNvSpPr txBox="1"/>
          <p:nvPr/>
        </p:nvSpPr>
        <p:spPr>
          <a:xfrm>
            <a:off x="713232" y="3767328"/>
            <a:ext cx="2377440" cy="457200"/>
          </a:xfrm>
          <a:prstGeom prst="rect">
            <a:avLst/>
          </a:prstGeom>
          <a:noFill/>
          <a:ln/>
        </p:spPr>
        <p:txBody>
          <a:bodyPr wrap="square" lIns="0" tIns="0" rIns="0" bIns="0" rtlCol="0" anchor="t"/>
          <a:lstStyle/>
          <a:p>
            <a:pPr indent="0" marL="0">
              <a:buNone/>
            </a:pPr>
            <a:r>
              <a:rPr lang="en-US" sz="1050" dirty="0">
                <a:solidFill>
                  <a:srgbClr val="0A0A0B"/>
                </a:solidFill>
              </a:rPr>
              <a:t>Finds what matters for your week by meaning (RAG); groups the club's ideas</a:t>
            </a:r>
            <a:endParaRPr lang="en-US" sz="1050" dirty="0"/>
          </a:p>
        </p:txBody>
      </p:sp>
      <p:sp>
        <p:nvSpPr>
          <p:cNvPr id="29" name="Text 26"/>
          <p:cNvSpPr txBox="1"/>
          <p:nvPr/>
        </p:nvSpPr>
        <p:spPr>
          <a:xfrm>
            <a:off x="713232" y="4197096"/>
            <a:ext cx="2395728" cy="201168"/>
          </a:xfrm>
          <a:prstGeom prst="rect">
            <a:avLst/>
          </a:prstGeom>
          <a:noFill/>
          <a:ln/>
        </p:spPr>
        <p:txBody>
          <a:bodyPr wrap="square" lIns="0" tIns="0" rIns="0" bIns="0" rtlCol="0" anchor="t"/>
          <a:lstStyle/>
          <a:p>
            <a:pPr indent="0" marL="0">
              <a:buNone/>
            </a:pPr>
            <a:r>
              <a:rPr lang="en-US" sz="1000" dirty="0">
                <a:solidFill>
                  <a:srgbClr val="55555C"/>
                </a:solidFill>
              </a:rPr>
              <a:t>CPU</a:t>
            </a:r>
            <a:endParaRPr lang="en-US" sz="1000" dirty="0"/>
          </a:p>
        </p:txBody>
      </p:sp>
      <p:sp>
        <p:nvSpPr>
          <p:cNvPr id="30" name="Shape 27"/>
          <p:cNvSpPr/>
          <p:nvPr/>
        </p:nvSpPr>
        <p:spPr>
          <a:xfrm>
            <a:off x="3346704" y="3108960"/>
            <a:ext cx="2670048" cy="1353312"/>
          </a:xfrm>
          <a:prstGeom prst="roundRect">
            <a:avLst>
              <a:gd name="adj" fmla="val 8108"/>
            </a:avLst>
          </a:prstGeom>
          <a:solidFill>
            <a:srgbClr val="F6F7F8"/>
          </a:solidFill>
          <a:ln w="12700">
            <a:solidFill>
              <a:srgbClr val="F6F7F8"/>
            </a:solidFill>
            <a:prstDash val="solid"/>
          </a:ln>
        </p:spPr>
      </p:sp>
      <p:sp>
        <p:nvSpPr>
          <p:cNvPr id="31" name="Text 28"/>
          <p:cNvSpPr txBox="1"/>
          <p:nvPr/>
        </p:nvSpPr>
        <p:spPr>
          <a:xfrm>
            <a:off x="3511296" y="3227832"/>
            <a:ext cx="1463040" cy="228600"/>
          </a:xfrm>
          <a:prstGeom prst="rect">
            <a:avLst/>
          </a:prstGeom>
          <a:noFill/>
          <a:ln/>
        </p:spPr>
        <p:txBody>
          <a:bodyPr wrap="square" lIns="0" tIns="0" rIns="0" bIns="0" rtlCol="0" anchor="t"/>
          <a:lstStyle/>
          <a:p>
            <a:pPr indent="0" marL="0">
              <a:buNone/>
            </a:pPr>
            <a:r>
              <a:rPr lang="en-US" sz="1000" b="1" spc="100" kern="0" dirty="0">
                <a:solidFill>
                  <a:srgbClr val="55555C"/>
                </a:solidFill>
              </a:rPr>
              <a:t>VOICE</a:t>
            </a:r>
            <a:endParaRPr lang="en-US" sz="1000" dirty="0"/>
          </a:p>
        </p:txBody>
      </p:sp>
      <p:sp>
        <p:nvSpPr>
          <p:cNvPr id="32" name="Text 29"/>
          <p:cNvSpPr txBox="1"/>
          <p:nvPr/>
        </p:nvSpPr>
        <p:spPr>
          <a:xfrm>
            <a:off x="3511296" y="3456432"/>
            <a:ext cx="2395728" cy="310896"/>
          </a:xfrm>
          <a:prstGeom prst="rect">
            <a:avLst/>
          </a:prstGeom>
          <a:noFill/>
          <a:ln/>
        </p:spPr>
        <p:txBody>
          <a:bodyPr wrap="square" lIns="0" tIns="0" rIns="0" bIns="0" rtlCol="0" anchor="t"/>
          <a:lstStyle/>
          <a:p>
            <a:pPr indent="0" marL="0">
              <a:buNone/>
            </a:pPr>
            <a:r>
              <a:rPr lang="en-US" sz="1500" b="1" dirty="0">
                <a:solidFill>
                  <a:srgbClr val="0A0A0B"/>
                </a:solidFill>
              </a:rPr>
              <a:t>Omnilingual ASR</a:t>
            </a:r>
            <a:endParaRPr lang="en-US" sz="1500" dirty="0"/>
          </a:p>
        </p:txBody>
      </p:sp>
      <p:sp>
        <p:nvSpPr>
          <p:cNvPr id="33" name="Text 30"/>
          <p:cNvSpPr txBox="1"/>
          <p:nvPr/>
        </p:nvSpPr>
        <p:spPr>
          <a:xfrm>
            <a:off x="3511296" y="3767328"/>
            <a:ext cx="2377440" cy="457200"/>
          </a:xfrm>
          <a:prstGeom prst="rect">
            <a:avLst/>
          </a:prstGeom>
          <a:noFill/>
          <a:ln/>
        </p:spPr>
        <p:txBody>
          <a:bodyPr wrap="square" lIns="0" tIns="0" rIns="0" bIns="0" rtlCol="0" anchor="t"/>
          <a:lstStyle/>
          <a:p>
            <a:pPr indent="0" marL="0">
              <a:buNone/>
            </a:pPr>
            <a:r>
              <a:rPr lang="en-US" sz="1050" dirty="0">
                <a:solidFill>
                  <a:srgbClr val="0A0A0B"/>
                </a:solidFill>
              </a:rPr>
              <a:t>Voice notes in Messenger to text</a:t>
            </a:r>
            <a:endParaRPr lang="en-US" sz="1050" dirty="0"/>
          </a:p>
        </p:txBody>
      </p:sp>
      <p:sp>
        <p:nvSpPr>
          <p:cNvPr id="34" name="Text 31"/>
          <p:cNvSpPr txBox="1"/>
          <p:nvPr/>
        </p:nvSpPr>
        <p:spPr>
          <a:xfrm>
            <a:off x="3511296" y="4197096"/>
            <a:ext cx="2395728" cy="201168"/>
          </a:xfrm>
          <a:prstGeom prst="rect">
            <a:avLst/>
          </a:prstGeom>
          <a:noFill/>
          <a:ln/>
        </p:spPr>
        <p:txBody>
          <a:bodyPr wrap="square" lIns="0" tIns="0" rIns="0" bIns="0" rtlCol="0" anchor="t"/>
          <a:lstStyle/>
          <a:p>
            <a:pPr indent="0" marL="0">
              <a:buNone/>
            </a:pPr>
            <a:r>
              <a:rPr lang="en-US" sz="1000" dirty="0">
                <a:solidFill>
                  <a:srgbClr val="55555C"/>
                </a:solidFill>
              </a:rPr>
              <a:t>CPU · CTC 1B</a:t>
            </a:r>
            <a:endParaRPr lang="en-US" sz="1000" dirty="0"/>
          </a:p>
        </p:txBody>
      </p:sp>
      <p:sp>
        <p:nvSpPr>
          <p:cNvPr id="35" name="Shape 32"/>
          <p:cNvSpPr/>
          <p:nvPr/>
        </p:nvSpPr>
        <p:spPr>
          <a:xfrm>
            <a:off x="6144768" y="3108960"/>
            <a:ext cx="2670048" cy="1353312"/>
          </a:xfrm>
          <a:prstGeom prst="roundRect">
            <a:avLst>
              <a:gd name="adj" fmla="val 8108"/>
            </a:avLst>
          </a:prstGeom>
          <a:solidFill>
            <a:srgbClr val="E8F1FD"/>
          </a:solidFill>
          <a:ln w="12700">
            <a:solidFill>
              <a:srgbClr val="E8F1FD"/>
            </a:solidFill>
            <a:prstDash val="solid"/>
          </a:ln>
        </p:spPr>
      </p:sp>
      <p:sp>
        <p:nvSpPr>
          <p:cNvPr id="36" name="Text 33"/>
          <p:cNvSpPr txBox="1"/>
          <p:nvPr/>
        </p:nvSpPr>
        <p:spPr>
          <a:xfrm>
            <a:off x="6309360" y="3227832"/>
            <a:ext cx="1463040" cy="228600"/>
          </a:xfrm>
          <a:prstGeom prst="rect">
            <a:avLst/>
          </a:prstGeom>
          <a:noFill/>
          <a:ln/>
        </p:spPr>
        <p:txBody>
          <a:bodyPr wrap="square" lIns="0" tIns="0" rIns="0" bIns="0" rtlCol="0" anchor="t"/>
          <a:lstStyle/>
          <a:p>
            <a:pPr indent="0" marL="0">
              <a:buNone/>
            </a:pPr>
            <a:r>
              <a:rPr lang="en-US" sz="1000" b="1" spc="100" kern="0" dirty="0">
                <a:solidFill>
                  <a:srgbClr val="0064E0"/>
                </a:solidFill>
              </a:rPr>
              <a:t>VISION</a:t>
            </a:r>
            <a:endParaRPr lang="en-US" sz="1000" dirty="0"/>
          </a:p>
        </p:txBody>
      </p:sp>
      <p:sp>
        <p:nvSpPr>
          <p:cNvPr id="37" name="Text 34"/>
          <p:cNvSpPr txBox="1"/>
          <p:nvPr/>
        </p:nvSpPr>
        <p:spPr>
          <a:xfrm>
            <a:off x="6309360" y="3456432"/>
            <a:ext cx="2395728" cy="310896"/>
          </a:xfrm>
          <a:prstGeom prst="rect">
            <a:avLst/>
          </a:prstGeom>
          <a:noFill/>
          <a:ln/>
        </p:spPr>
        <p:txBody>
          <a:bodyPr wrap="square" lIns="0" tIns="0" rIns="0" bIns="0" rtlCol="0" anchor="t"/>
          <a:lstStyle/>
          <a:p>
            <a:pPr indent="0" marL="0">
              <a:buNone/>
            </a:pPr>
            <a:r>
              <a:rPr lang="en-US" sz="1500" b="1" dirty="0">
                <a:solidFill>
                  <a:srgbClr val="0A0A0B"/>
                </a:solidFill>
              </a:rPr>
              <a:t>DETR</a:t>
            </a:r>
            <a:endParaRPr lang="en-US" sz="1500" dirty="0"/>
          </a:p>
        </p:txBody>
      </p:sp>
      <p:sp>
        <p:nvSpPr>
          <p:cNvPr id="38" name="Text 35"/>
          <p:cNvSpPr txBox="1"/>
          <p:nvPr/>
        </p:nvSpPr>
        <p:spPr>
          <a:xfrm>
            <a:off x="6309360" y="3767328"/>
            <a:ext cx="2377440" cy="457200"/>
          </a:xfrm>
          <a:prstGeom prst="rect">
            <a:avLst/>
          </a:prstGeom>
          <a:noFill/>
          <a:ln/>
        </p:spPr>
        <p:txBody>
          <a:bodyPr wrap="square" lIns="0" tIns="0" rIns="0" bIns="0" rtlCol="0" anchor="t"/>
          <a:lstStyle/>
          <a:p>
            <a:pPr indent="0" marL="0">
              <a:buNone/>
            </a:pPr>
            <a:r>
              <a:rPr lang="en-US" sz="1050" dirty="0">
                <a:solidFill>
                  <a:srgbClr val="0A0A0B"/>
                </a:solidFill>
              </a:rPr>
              <a:t>Finds the people in your video, so the reel follows you</a:t>
            </a:r>
            <a:endParaRPr lang="en-US" sz="1050" dirty="0"/>
          </a:p>
        </p:txBody>
      </p:sp>
      <p:sp>
        <p:nvSpPr>
          <p:cNvPr id="39" name="Text 36"/>
          <p:cNvSpPr txBox="1"/>
          <p:nvPr/>
        </p:nvSpPr>
        <p:spPr>
          <a:xfrm>
            <a:off x="6309360" y="4197096"/>
            <a:ext cx="2395728" cy="201168"/>
          </a:xfrm>
          <a:prstGeom prst="rect">
            <a:avLst/>
          </a:prstGeom>
          <a:noFill/>
          <a:ln/>
        </p:spPr>
        <p:txBody>
          <a:bodyPr wrap="square" lIns="0" tIns="0" rIns="0" bIns="0" rtlCol="0" anchor="t"/>
          <a:lstStyle/>
          <a:p>
            <a:pPr indent="0" marL="0">
              <a:buNone/>
            </a:pPr>
            <a:r>
              <a:rPr lang="en-US" sz="1000" dirty="0">
                <a:solidFill>
                  <a:srgbClr val="55555C"/>
                </a:solidFill>
              </a:rPr>
              <a:t>GPU</a:t>
            </a:r>
            <a:endParaRPr lang="en-US" sz="1000" dirty="0"/>
          </a:p>
        </p:txBody>
      </p:sp>
      <p:sp>
        <p:nvSpPr>
          <p:cNvPr id="40" name="Shape 37"/>
          <p:cNvSpPr/>
          <p:nvPr/>
        </p:nvSpPr>
        <p:spPr>
          <a:xfrm>
            <a:off x="8942832" y="3108960"/>
            <a:ext cx="2670048" cy="1353312"/>
          </a:xfrm>
          <a:prstGeom prst="roundRect">
            <a:avLst>
              <a:gd name="adj" fmla="val 8108"/>
            </a:avLst>
          </a:prstGeom>
          <a:solidFill>
            <a:srgbClr val="E8F1FD"/>
          </a:solidFill>
          <a:ln w="12700">
            <a:solidFill>
              <a:srgbClr val="E8F1FD"/>
            </a:solidFill>
            <a:prstDash val="solid"/>
          </a:ln>
        </p:spPr>
      </p:sp>
      <p:sp>
        <p:nvSpPr>
          <p:cNvPr id="41" name="Text 38"/>
          <p:cNvSpPr txBox="1"/>
          <p:nvPr/>
        </p:nvSpPr>
        <p:spPr>
          <a:xfrm>
            <a:off x="9107424" y="3227832"/>
            <a:ext cx="1463040" cy="228600"/>
          </a:xfrm>
          <a:prstGeom prst="rect">
            <a:avLst/>
          </a:prstGeom>
          <a:noFill/>
          <a:ln/>
        </p:spPr>
        <p:txBody>
          <a:bodyPr wrap="square" lIns="0" tIns="0" rIns="0" bIns="0" rtlCol="0" anchor="t"/>
          <a:lstStyle/>
          <a:p>
            <a:pPr indent="0" marL="0">
              <a:buNone/>
            </a:pPr>
            <a:r>
              <a:rPr lang="en-US" sz="1000" b="1" spc="100" kern="0" dirty="0">
                <a:solidFill>
                  <a:srgbClr val="0064E0"/>
                </a:solidFill>
              </a:rPr>
              <a:t>VISION</a:t>
            </a:r>
            <a:endParaRPr lang="en-US" sz="1000" dirty="0"/>
          </a:p>
        </p:txBody>
      </p:sp>
      <p:sp>
        <p:nvSpPr>
          <p:cNvPr id="42" name="Text 39"/>
          <p:cNvSpPr txBox="1"/>
          <p:nvPr/>
        </p:nvSpPr>
        <p:spPr>
          <a:xfrm>
            <a:off x="9107424" y="3456432"/>
            <a:ext cx="2395728" cy="310896"/>
          </a:xfrm>
          <a:prstGeom prst="rect">
            <a:avLst/>
          </a:prstGeom>
          <a:noFill/>
          <a:ln/>
        </p:spPr>
        <p:txBody>
          <a:bodyPr wrap="square" lIns="0" tIns="0" rIns="0" bIns="0" rtlCol="0" anchor="t"/>
          <a:lstStyle/>
          <a:p>
            <a:pPr indent="0" marL="0">
              <a:buNone/>
            </a:pPr>
            <a:r>
              <a:rPr lang="en-US" sz="1500" b="1" dirty="0">
                <a:solidFill>
                  <a:srgbClr val="0A0A0B"/>
                </a:solidFill>
              </a:rPr>
              <a:t>Sapiens2</a:t>
            </a:r>
            <a:endParaRPr lang="en-US" sz="1500" dirty="0"/>
          </a:p>
        </p:txBody>
      </p:sp>
      <p:sp>
        <p:nvSpPr>
          <p:cNvPr id="43" name="Text 40"/>
          <p:cNvSpPr txBox="1"/>
          <p:nvPr/>
        </p:nvSpPr>
        <p:spPr>
          <a:xfrm>
            <a:off x="9107424" y="3767328"/>
            <a:ext cx="2377440" cy="457200"/>
          </a:xfrm>
          <a:prstGeom prst="rect">
            <a:avLst/>
          </a:prstGeom>
          <a:noFill/>
          <a:ln/>
        </p:spPr>
        <p:txBody>
          <a:bodyPr wrap="square" lIns="0" tIns="0" rIns="0" bIns="0" rtlCol="0" anchor="t"/>
          <a:lstStyle/>
          <a:p>
            <a:pPr indent="0" marL="0">
              <a:buNone/>
            </a:pPr>
            <a:r>
              <a:rPr lang="en-US" sz="1050" dirty="0">
                <a:solidFill>
                  <a:srgbClr val="0A0A0B"/>
                </a:solidFill>
              </a:rPr>
              <a:t>Every player's pose on every frame; finds the moment</a:t>
            </a:r>
            <a:endParaRPr lang="en-US" sz="1050" dirty="0"/>
          </a:p>
        </p:txBody>
      </p:sp>
      <p:sp>
        <p:nvSpPr>
          <p:cNvPr id="44" name="Text 41"/>
          <p:cNvSpPr txBox="1"/>
          <p:nvPr/>
        </p:nvSpPr>
        <p:spPr>
          <a:xfrm>
            <a:off x="9107424" y="4197096"/>
            <a:ext cx="2395728" cy="201168"/>
          </a:xfrm>
          <a:prstGeom prst="rect">
            <a:avLst/>
          </a:prstGeom>
          <a:noFill/>
          <a:ln/>
        </p:spPr>
        <p:txBody>
          <a:bodyPr wrap="square" lIns="0" tIns="0" rIns="0" bIns="0" rtlCol="0" anchor="t"/>
          <a:lstStyle/>
          <a:p>
            <a:pPr indent="0" marL="0">
              <a:buNone/>
            </a:pPr>
            <a:r>
              <a:rPr lang="en-US" sz="1000" dirty="0">
                <a:solidFill>
                  <a:srgbClr val="55555C"/>
                </a:solidFill>
              </a:rPr>
              <a:t>GPU · 0.4B</a:t>
            </a:r>
            <a:endParaRPr lang="en-US" sz="1000" dirty="0"/>
          </a:p>
        </p:txBody>
      </p:sp>
      <p:sp>
        <p:nvSpPr>
          <p:cNvPr id="45" name="Shape 42"/>
          <p:cNvSpPr/>
          <p:nvPr/>
        </p:nvSpPr>
        <p:spPr>
          <a:xfrm>
            <a:off x="548640" y="4572000"/>
            <a:ext cx="2670048" cy="1353312"/>
          </a:xfrm>
          <a:prstGeom prst="roundRect">
            <a:avLst>
              <a:gd name="adj" fmla="val 8108"/>
            </a:avLst>
          </a:prstGeom>
          <a:solidFill>
            <a:srgbClr val="E8F1FD"/>
          </a:solidFill>
          <a:ln w="12700">
            <a:solidFill>
              <a:srgbClr val="E8F1FD"/>
            </a:solidFill>
            <a:prstDash val="solid"/>
          </a:ln>
        </p:spPr>
      </p:sp>
      <p:sp>
        <p:nvSpPr>
          <p:cNvPr id="46" name="Text 43"/>
          <p:cNvSpPr txBox="1"/>
          <p:nvPr/>
        </p:nvSpPr>
        <p:spPr>
          <a:xfrm>
            <a:off x="713232" y="4690872"/>
            <a:ext cx="1463040" cy="228600"/>
          </a:xfrm>
          <a:prstGeom prst="rect">
            <a:avLst/>
          </a:prstGeom>
          <a:noFill/>
          <a:ln/>
        </p:spPr>
        <p:txBody>
          <a:bodyPr wrap="square" lIns="0" tIns="0" rIns="0" bIns="0" rtlCol="0" anchor="t"/>
          <a:lstStyle/>
          <a:p>
            <a:pPr indent="0" marL="0">
              <a:buNone/>
            </a:pPr>
            <a:r>
              <a:rPr lang="en-US" sz="1000" b="1" spc="100" kern="0" dirty="0">
                <a:solidFill>
                  <a:srgbClr val="0064E0"/>
                </a:solidFill>
              </a:rPr>
              <a:t>VISION</a:t>
            </a:r>
            <a:endParaRPr lang="en-US" sz="1000" dirty="0"/>
          </a:p>
        </p:txBody>
      </p:sp>
      <p:sp>
        <p:nvSpPr>
          <p:cNvPr id="47" name="Text 44"/>
          <p:cNvSpPr txBox="1"/>
          <p:nvPr/>
        </p:nvSpPr>
        <p:spPr>
          <a:xfrm>
            <a:off x="713232" y="4919472"/>
            <a:ext cx="2395728" cy="310896"/>
          </a:xfrm>
          <a:prstGeom prst="rect">
            <a:avLst/>
          </a:prstGeom>
          <a:noFill/>
          <a:ln/>
        </p:spPr>
        <p:txBody>
          <a:bodyPr wrap="square" lIns="0" tIns="0" rIns="0" bIns="0" rtlCol="0" anchor="t"/>
          <a:lstStyle/>
          <a:p>
            <a:pPr indent="0" marL="0">
              <a:buNone/>
            </a:pPr>
            <a:r>
              <a:rPr lang="en-US" sz="1500" b="1" dirty="0">
                <a:solidFill>
                  <a:srgbClr val="0A0A0B"/>
                </a:solidFill>
              </a:rPr>
              <a:t>SAM 2.1</a:t>
            </a:r>
            <a:endParaRPr lang="en-US" sz="1500" dirty="0"/>
          </a:p>
        </p:txBody>
      </p:sp>
      <p:sp>
        <p:nvSpPr>
          <p:cNvPr id="48" name="Text 45"/>
          <p:cNvSpPr txBox="1"/>
          <p:nvPr/>
        </p:nvSpPr>
        <p:spPr>
          <a:xfrm>
            <a:off x="713232" y="5230368"/>
            <a:ext cx="2377440" cy="457200"/>
          </a:xfrm>
          <a:prstGeom prst="rect">
            <a:avLst/>
          </a:prstGeom>
          <a:noFill/>
          <a:ln/>
        </p:spPr>
        <p:txBody>
          <a:bodyPr wrap="square" lIns="0" tIns="0" rIns="0" bIns="0" rtlCol="0" anchor="t"/>
          <a:lstStyle/>
          <a:p>
            <a:pPr indent="0" marL="0">
              <a:buNone/>
            </a:pPr>
            <a:r>
              <a:rPr lang="en-US" sz="1050" dirty="0">
                <a:solidFill>
                  <a:srgbClr val="0A0A0B"/>
                </a:solidFill>
              </a:rPr>
              <a:t>Cuts each player out for the spotlight and the drawn view</a:t>
            </a:r>
            <a:endParaRPr lang="en-US" sz="1050" dirty="0"/>
          </a:p>
        </p:txBody>
      </p:sp>
      <p:sp>
        <p:nvSpPr>
          <p:cNvPr id="49" name="Text 46"/>
          <p:cNvSpPr txBox="1"/>
          <p:nvPr/>
        </p:nvSpPr>
        <p:spPr>
          <a:xfrm>
            <a:off x="713232" y="5660136"/>
            <a:ext cx="2395728" cy="201168"/>
          </a:xfrm>
          <a:prstGeom prst="rect">
            <a:avLst/>
          </a:prstGeom>
          <a:noFill/>
          <a:ln/>
        </p:spPr>
        <p:txBody>
          <a:bodyPr wrap="square" lIns="0" tIns="0" rIns="0" bIns="0" rtlCol="0" anchor="t"/>
          <a:lstStyle/>
          <a:p>
            <a:pPr indent="0" marL="0">
              <a:buNone/>
            </a:pPr>
            <a:r>
              <a:rPr lang="en-US" sz="1000" dirty="0">
                <a:solidFill>
                  <a:srgbClr val="55555C"/>
                </a:solidFill>
              </a:rPr>
              <a:t>GPU · Hiera-L</a:t>
            </a:r>
            <a:endParaRPr lang="en-US" sz="1000" dirty="0"/>
          </a:p>
        </p:txBody>
      </p:sp>
      <p:sp>
        <p:nvSpPr>
          <p:cNvPr id="50" name="Shape 47"/>
          <p:cNvSpPr/>
          <p:nvPr/>
        </p:nvSpPr>
        <p:spPr>
          <a:xfrm>
            <a:off x="3346704" y="4572000"/>
            <a:ext cx="2670048" cy="1353312"/>
          </a:xfrm>
          <a:prstGeom prst="roundRect">
            <a:avLst>
              <a:gd name="adj" fmla="val 8108"/>
            </a:avLst>
          </a:prstGeom>
          <a:solidFill>
            <a:srgbClr val="E8F1FD"/>
          </a:solidFill>
          <a:ln w="12700">
            <a:solidFill>
              <a:srgbClr val="E8F1FD"/>
            </a:solidFill>
            <a:prstDash val="solid"/>
          </a:ln>
        </p:spPr>
      </p:sp>
      <p:sp>
        <p:nvSpPr>
          <p:cNvPr id="51" name="Text 48"/>
          <p:cNvSpPr txBox="1"/>
          <p:nvPr/>
        </p:nvSpPr>
        <p:spPr>
          <a:xfrm>
            <a:off x="3511296" y="4690872"/>
            <a:ext cx="1463040" cy="228600"/>
          </a:xfrm>
          <a:prstGeom prst="rect">
            <a:avLst/>
          </a:prstGeom>
          <a:noFill/>
          <a:ln/>
        </p:spPr>
        <p:txBody>
          <a:bodyPr wrap="square" lIns="0" tIns="0" rIns="0" bIns="0" rtlCol="0" anchor="t"/>
          <a:lstStyle/>
          <a:p>
            <a:pPr indent="0" marL="0">
              <a:buNone/>
            </a:pPr>
            <a:r>
              <a:rPr lang="en-US" sz="1000" b="1" spc="100" kern="0" dirty="0">
                <a:solidFill>
                  <a:srgbClr val="0064E0"/>
                </a:solidFill>
              </a:rPr>
              <a:t>3D</a:t>
            </a:r>
            <a:endParaRPr lang="en-US" sz="1000" dirty="0"/>
          </a:p>
        </p:txBody>
      </p:sp>
      <p:sp>
        <p:nvSpPr>
          <p:cNvPr id="52" name="Text 49"/>
          <p:cNvSpPr txBox="1"/>
          <p:nvPr/>
        </p:nvSpPr>
        <p:spPr>
          <a:xfrm>
            <a:off x="3511296" y="4919472"/>
            <a:ext cx="2395728" cy="310896"/>
          </a:xfrm>
          <a:prstGeom prst="rect">
            <a:avLst/>
          </a:prstGeom>
          <a:noFill/>
          <a:ln/>
        </p:spPr>
        <p:txBody>
          <a:bodyPr wrap="square" lIns="0" tIns="0" rIns="0" bIns="0" rtlCol="0" anchor="t"/>
          <a:lstStyle/>
          <a:p>
            <a:pPr indent="0" marL="0">
              <a:buNone/>
            </a:pPr>
            <a:r>
              <a:rPr lang="en-US" sz="1500" b="1" dirty="0">
                <a:solidFill>
                  <a:srgbClr val="0A0A0B"/>
                </a:solidFill>
              </a:rPr>
              <a:t>MapAnything</a:t>
            </a:r>
            <a:endParaRPr lang="en-US" sz="1500" dirty="0"/>
          </a:p>
        </p:txBody>
      </p:sp>
      <p:sp>
        <p:nvSpPr>
          <p:cNvPr id="53" name="Text 50"/>
          <p:cNvSpPr txBox="1"/>
          <p:nvPr/>
        </p:nvSpPr>
        <p:spPr>
          <a:xfrm>
            <a:off x="3511296" y="5230368"/>
            <a:ext cx="2377440" cy="457200"/>
          </a:xfrm>
          <a:prstGeom prst="rect">
            <a:avLst/>
          </a:prstGeom>
          <a:noFill/>
          <a:ln/>
        </p:spPr>
        <p:txBody>
          <a:bodyPr wrap="square" lIns="0" tIns="0" rIns="0" bIns="0" rtlCol="0" anchor="t"/>
          <a:lstStyle/>
          <a:p>
            <a:pPr indent="0" marL="0">
              <a:buNone/>
            </a:pPr>
            <a:r>
              <a:rPr lang="en-US" sz="1050" dirty="0">
                <a:solidFill>
                  <a:srgbClr val="0A0A0B"/>
                </a:solidFill>
              </a:rPr>
              <a:t>Depth and the camera for the orbit camera effect</a:t>
            </a:r>
            <a:endParaRPr lang="en-US" sz="1050" dirty="0"/>
          </a:p>
        </p:txBody>
      </p:sp>
      <p:sp>
        <p:nvSpPr>
          <p:cNvPr id="54" name="Text 51"/>
          <p:cNvSpPr txBox="1"/>
          <p:nvPr/>
        </p:nvSpPr>
        <p:spPr>
          <a:xfrm>
            <a:off x="3511296" y="5660136"/>
            <a:ext cx="2395728" cy="201168"/>
          </a:xfrm>
          <a:prstGeom prst="rect">
            <a:avLst/>
          </a:prstGeom>
          <a:noFill/>
          <a:ln/>
        </p:spPr>
        <p:txBody>
          <a:bodyPr wrap="square" lIns="0" tIns="0" rIns="0" bIns="0" rtlCol="0" anchor="t"/>
          <a:lstStyle/>
          <a:p>
            <a:pPr indent="0" marL="0">
              <a:buNone/>
            </a:pPr>
            <a:r>
              <a:rPr lang="en-US" sz="1000" dirty="0">
                <a:solidFill>
                  <a:srgbClr val="55555C"/>
                </a:solidFill>
              </a:rPr>
              <a:t>GPU · optional effect</a:t>
            </a:r>
            <a:endParaRPr lang="en-US" sz="1000" dirty="0"/>
          </a:p>
        </p:txBody>
      </p:sp>
      <p:sp>
        <p:nvSpPr>
          <p:cNvPr id="55" name="Shape 52"/>
          <p:cNvSpPr/>
          <p:nvPr/>
        </p:nvSpPr>
        <p:spPr>
          <a:xfrm>
            <a:off x="6144768" y="4572000"/>
            <a:ext cx="2670048" cy="1353312"/>
          </a:xfrm>
          <a:prstGeom prst="roundRect">
            <a:avLst>
              <a:gd name="adj" fmla="val 8108"/>
            </a:avLst>
          </a:prstGeom>
          <a:solidFill>
            <a:srgbClr val="FFFFFF"/>
          </a:solidFill>
          <a:ln w="12700">
            <a:solidFill>
              <a:srgbClr val="DCDCE0"/>
            </a:solidFill>
            <a:prstDash val="solid"/>
          </a:ln>
        </p:spPr>
      </p:sp>
      <p:sp>
        <p:nvSpPr>
          <p:cNvPr id="56" name="Text 53"/>
          <p:cNvSpPr txBox="1"/>
          <p:nvPr/>
        </p:nvSpPr>
        <p:spPr>
          <a:xfrm>
            <a:off x="6309360" y="4690872"/>
            <a:ext cx="1463040" cy="228600"/>
          </a:xfrm>
          <a:prstGeom prst="rect">
            <a:avLst/>
          </a:prstGeom>
          <a:noFill/>
          <a:ln/>
        </p:spPr>
        <p:txBody>
          <a:bodyPr wrap="square" lIns="0" tIns="0" rIns="0" bIns="0" rtlCol="0" anchor="t"/>
          <a:lstStyle/>
          <a:p>
            <a:pPr indent="0" marL="0">
              <a:buNone/>
            </a:pPr>
            <a:r>
              <a:rPr lang="en-US" sz="1000" b="1" spc="100" kern="0" dirty="0">
                <a:solidFill>
                  <a:srgbClr val="0064E0"/>
                </a:solidFill>
              </a:rPr>
              <a:t>PRODUCT</a:t>
            </a:r>
            <a:endParaRPr lang="en-US" sz="1000" dirty="0"/>
          </a:p>
        </p:txBody>
      </p:sp>
      <p:pic>
        <p:nvPicPr>
          <p:cNvPr id="57" name="Image 0" descr="preencoded.png">    </p:cNvPr>
          <p:cNvPicPr>
            <a:picLocks noChangeAspect="1"/>
          </p:cNvPicPr>
          <p:nvPr/>
        </p:nvPicPr>
        <p:blipFill>
          <a:blip r:embed="rId1"/>
          <a:stretch>
            <a:fillRect/>
          </a:stretch>
        </p:blipFill>
        <p:spPr>
          <a:xfrm>
            <a:off x="8403336" y="4681728"/>
            <a:ext cx="256032" cy="256032"/>
          </a:xfrm>
          <a:prstGeom prst="rect">
            <a:avLst/>
          </a:prstGeom>
        </p:spPr>
      </p:pic>
      <p:sp>
        <p:nvSpPr>
          <p:cNvPr id="58" name="Text 54"/>
          <p:cNvSpPr txBox="1"/>
          <p:nvPr/>
        </p:nvSpPr>
        <p:spPr>
          <a:xfrm>
            <a:off x="6309360" y="4919472"/>
            <a:ext cx="2395728" cy="310896"/>
          </a:xfrm>
          <a:prstGeom prst="rect">
            <a:avLst/>
          </a:prstGeom>
          <a:noFill/>
          <a:ln/>
        </p:spPr>
        <p:txBody>
          <a:bodyPr wrap="square" lIns="0" tIns="0" rIns="0" bIns="0" rtlCol="0" anchor="t"/>
          <a:lstStyle/>
          <a:p>
            <a:pPr indent="0" marL="0">
              <a:buNone/>
            </a:pPr>
            <a:r>
              <a:rPr lang="en-US" sz="1500" b="1" dirty="0">
                <a:solidFill>
                  <a:srgbClr val="0A0A0B"/>
                </a:solidFill>
              </a:rPr>
              <a:t>Messenger Platform</a:t>
            </a:r>
            <a:endParaRPr lang="en-US" sz="1500" dirty="0"/>
          </a:p>
        </p:txBody>
      </p:sp>
      <p:sp>
        <p:nvSpPr>
          <p:cNvPr id="59" name="Text 55"/>
          <p:cNvSpPr txBox="1"/>
          <p:nvPr/>
        </p:nvSpPr>
        <p:spPr>
          <a:xfrm>
            <a:off x="6309360" y="5230368"/>
            <a:ext cx="2377440" cy="457200"/>
          </a:xfrm>
          <a:prstGeom prst="rect">
            <a:avLst/>
          </a:prstGeom>
          <a:noFill/>
          <a:ln/>
        </p:spPr>
        <p:txBody>
          <a:bodyPr wrap="square" lIns="0" tIns="0" rIns="0" bIns="0" rtlCol="0" anchor="t"/>
          <a:lstStyle/>
          <a:p>
            <a:pPr indent="0" marL="0">
              <a:buNone/>
            </a:pPr>
            <a:r>
              <a:rPr lang="en-US" sz="1050" dirty="0">
                <a:solidFill>
                  <a:srgbClr val="0A0A0B"/>
                </a:solidFill>
              </a:rPr>
              <a:t>Your agent in your chats: plans, a tap to approve, check-ins</a:t>
            </a:r>
            <a:endParaRPr lang="en-US" sz="1050" dirty="0"/>
          </a:p>
        </p:txBody>
      </p:sp>
      <p:sp>
        <p:nvSpPr>
          <p:cNvPr id="60" name="Text 56"/>
          <p:cNvSpPr txBox="1"/>
          <p:nvPr/>
        </p:nvSpPr>
        <p:spPr>
          <a:xfrm>
            <a:off x="6309360" y="5660136"/>
            <a:ext cx="2395728" cy="201168"/>
          </a:xfrm>
          <a:prstGeom prst="rect">
            <a:avLst/>
          </a:prstGeom>
          <a:noFill/>
          <a:ln/>
        </p:spPr>
        <p:txBody>
          <a:bodyPr wrap="square" lIns="0" tIns="0" rIns="0" bIns="0" rtlCol="0" anchor="t"/>
          <a:lstStyle/>
          <a:p>
            <a:pPr indent="0" marL="0">
              <a:buNone/>
            </a:pPr>
            <a:r>
              <a:rPr lang="en-US" sz="1000" dirty="0">
                <a:solidFill>
                  <a:srgbClr val="55555C"/>
                </a:solidFill>
              </a:rPr>
              <a:t>Signed webhook · Send API</a:t>
            </a:r>
            <a:endParaRPr lang="en-US" sz="1000" dirty="0"/>
          </a:p>
        </p:txBody>
      </p:sp>
      <p:sp>
        <p:nvSpPr>
          <p:cNvPr id="61" name="Shape 57"/>
          <p:cNvSpPr/>
          <p:nvPr/>
        </p:nvSpPr>
        <p:spPr>
          <a:xfrm>
            <a:off x="8942832" y="4572000"/>
            <a:ext cx="2670048" cy="1353312"/>
          </a:xfrm>
          <a:prstGeom prst="roundRect">
            <a:avLst>
              <a:gd name="adj" fmla="val 8108"/>
            </a:avLst>
          </a:prstGeom>
          <a:solidFill>
            <a:srgbClr val="FFFFFF"/>
          </a:solidFill>
          <a:ln w="12700">
            <a:solidFill>
              <a:srgbClr val="DCDCE0"/>
            </a:solidFill>
            <a:prstDash val="solid"/>
          </a:ln>
        </p:spPr>
      </p:sp>
      <p:sp>
        <p:nvSpPr>
          <p:cNvPr id="62" name="Text 58"/>
          <p:cNvSpPr txBox="1"/>
          <p:nvPr/>
        </p:nvSpPr>
        <p:spPr>
          <a:xfrm>
            <a:off x="9107424" y="4690872"/>
            <a:ext cx="1463040" cy="228600"/>
          </a:xfrm>
          <a:prstGeom prst="rect">
            <a:avLst/>
          </a:prstGeom>
          <a:noFill/>
          <a:ln/>
        </p:spPr>
        <p:txBody>
          <a:bodyPr wrap="square" lIns="0" tIns="0" rIns="0" bIns="0" rtlCol="0" anchor="t"/>
          <a:lstStyle/>
          <a:p>
            <a:pPr indent="0" marL="0">
              <a:buNone/>
            </a:pPr>
            <a:r>
              <a:rPr lang="en-US" sz="1000" b="1" spc="100" kern="0" dirty="0">
                <a:solidFill>
                  <a:srgbClr val="0064E0"/>
                </a:solidFill>
              </a:rPr>
              <a:t>PRODUCT</a:t>
            </a:r>
            <a:endParaRPr lang="en-US" sz="1000" dirty="0"/>
          </a:p>
        </p:txBody>
      </p:sp>
      <p:pic>
        <p:nvPicPr>
          <p:cNvPr id="63" name="Image 1" descr="preencoded.png">    </p:cNvPr>
          <p:cNvPicPr>
            <a:picLocks noChangeAspect="1"/>
          </p:cNvPicPr>
          <p:nvPr/>
        </p:nvPicPr>
        <p:blipFill>
          <a:blip r:embed="rId2"/>
          <a:stretch>
            <a:fillRect/>
          </a:stretch>
        </p:blipFill>
        <p:spPr>
          <a:xfrm>
            <a:off x="11201400" y="4681728"/>
            <a:ext cx="256032" cy="256032"/>
          </a:xfrm>
          <a:prstGeom prst="rect">
            <a:avLst/>
          </a:prstGeom>
        </p:spPr>
      </p:pic>
      <p:sp>
        <p:nvSpPr>
          <p:cNvPr id="64" name="Text 59"/>
          <p:cNvSpPr txBox="1"/>
          <p:nvPr/>
        </p:nvSpPr>
        <p:spPr>
          <a:xfrm>
            <a:off x="9107424" y="4919472"/>
            <a:ext cx="2395728" cy="310896"/>
          </a:xfrm>
          <a:prstGeom prst="rect">
            <a:avLst/>
          </a:prstGeom>
          <a:noFill/>
          <a:ln/>
        </p:spPr>
        <p:txBody>
          <a:bodyPr wrap="square" lIns="0" tIns="0" rIns="0" bIns="0" rtlCol="0" anchor="t"/>
          <a:lstStyle/>
          <a:p>
            <a:pPr indent="0" marL="0">
              <a:buNone/>
            </a:pPr>
            <a:r>
              <a:rPr lang="en-US" sz="1500" b="1" dirty="0">
                <a:solidFill>
                  <a:srgbClr val="0A0A0B"/>
                </a:solidFill>
              </a:rPr>
              <a:t>Instagram · Facebook</a:t>
            </a:r>
            <a:endParaRPr lang="en-US" sz="1500" dirty="0"/>
          </a:p>
        </p:txBody>
      </p:sp>
      <p:sp>
        <p:nvSpPr>
          <p:cNvPr id="65" name="Text 60"/>
          <p:cNvSpPr txBox="1"/>
          <p:nvPr/>
        </p:nvSpPr>
        <p:spPr>
          <a:xfrm>
            <a:off x="9107424" y="5230368"/>
            <a:ext cx="2377440" cy="457200"/>
          </a:xfrm>
          <a:prstGeom prst="rect">
            <a:avLst/>
          </a:prstGeom>
          <a:noFill/>
          <a:ln/>
        </p:spPr>
        <p:txBody>
          <a:bodyPr wrap="square" lIns="0" tIns="0" rIns="0" bIns="0" rtlCol="0" anchor="t"/>
          <a:lstStyle/>
          <a:p>
            <a:pPr indent="0" marL="0">
              <a:buNone/>
            </a:pPr>
            <a:r>
              <a:rPr lang="en-US" sz="1050" dirty="0">
                <a:solidFill>
                  <a:srgbClr val="0A0A0B"/>
                </a:solidFill>
              </a:rPr>
              <a:t>Join the club with your account; share your reel</a:t>
            </a:r>
            <a:endParaRPr lang="en-US" sz="1050" dirty="0"/>
          </a:p>
        </p:txBody>
      </p:sp>
      <p:sp>
        <p:nvSpPr>
          <p:cNvPr id="66" name="Text 61"/>
          <p:cNvSpPr txBox="1"/>
          <p:nvPr/>
        </p:nvSpPr>
        <p:spPr>
          <a:xfrm>
            <a:off x="9107424" y="5660136"/>
            <a:ext cx="2395728" cy="201168"/>
          </a:xfrm>
          <a:prstGeom prst="rect">
            <a:avLst/>
          </a:prstGeom>
          <a:noFill/>
          <a:ln/>
        </p:spPr>
        <p:txBody>
          <a:bodyPr wrap="square" lIns="0" tIns="0" rIns="0" bIns="0" rtlCol="0" anchor="t"/>
          <a:lstStyle/>
          <a:p>
            <a:pPr indent="0" marL="0">
              <a:buNone/>
            </a:pPr>
            <a:r>
              <a:rPr lang="en-US" sz="1000" dirty="0">
                <a:solidFill>
                  <a:srgbClr val="55555C"/>
                </a:solidFill>
              </a:rPr>
              <a:t>Facebook Login · Instagram Login</a:t>
            </a:r>
            <a:endParaRPr lang="en-US" sz="1000" dirty="0"/>
          </a:p>
        </p:txBody>
      </p:sp>
      <p:pic>
        <p:nvPicPr>
          <p:cNvPr id="67" name="Image 2" descr="preencoded.png">    </p:cNvPr>
          <p:cNvPicPr>
            <a:picLocks noChangeAspect="1"/>
          </p:cNvPicPr>
          <p:nvPr/>
        </p:nvPicPr>
        <p:blipFill>
          <a:blip r:embed="rId3"/>
          <a:stretch>
            <a:fillRect/>
          </a:stretch>
        </p:blipFill>
        <p:spPr>
          <a:xfrm>
            <a:off x="548640" y="6089904"/>
            <a:ext cx="274320" cy="274320"/>
          </a:xfrm>
          <a:prstGeom prst="rect">
            <a:avLst/>
          </a:prstGeom>
        </p:spPr>
      </p:pic>
      <p:sp>
        <p:nvSpPr>
          <p:cNvPr id="68" name="Text 62"/>
          <p:cNvSpPr txBox="1"/>
          <p:nvPr/>
        </p:nvSpPr>
        <p:spPr>
          <a:xfrm>
            <a:off x="914400" y="6089904"/>
            <a:ext cx="10515600" cy="274320"/>
          </a:xfrm>
          <a:prstGeom prst="rect">
            <a:avLst/>
          </a:prstGeom>
          <a:noFill/>
          <a:ln/>
        </p:spPr>
        <p:txBody>
          <a:bodyPr wrap="square" lIns="0" tIns="0" rIns="0" bIns="0" rtlCol="0" anchor="ctr"/>
          <a:lstStyle/>
          <a:p>
            <a:pPr indent="0" marL="0">
              <a:buNone/>
            </a:pPr>
            <a:r>
              <a:rPr lang="en-US" sz="1200" b="1" dirty="0">
                <a:solidFill>
                  <a:srgbClr val="0A0A0B"/>
                </a:solidFill>
              </a:rPr>
              <a:t>All ten models are open weights, on hardware I own. Every agent follows Meta's Agents Rule of Two.</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AN AGENT, NOT A CHATBOT</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Glimmer plans, agents agree, code decides</a:t>
            </a:r>
            <a:endParaRPr lang="en-US" sz="3200" dirty="0"/>
          </a:p>
        </p:txBody>
      </p:sp>
      <p:sp>
        <p:nvSpPr>
          <p:cNvPr id="5" name="Shape 2"/>
          <p:cNvSpPr/>
          <p:nvPr/>
        </p:nvSpPr>
        <p:spPr>
          <a:xfrm>
            <a:off x="548640" y="1691640"/>
            <a:ext cx="5349240" cy="4526280"/>
          </a:xfrm>
          <a:prstGeom prst="roundRect">
            <a:avLst>
              <a:gd name="adj" fmla="val 2424"/>
            </a:avLst>
          </a:prstGeom>
          <a:solidFill>
            <a:srgbClr val="FFFFFF"/>
          </a:solidFill>
          <a:ln w="12700">
            <a:solidFill>
              <a:srgbClr val="DCDCE0"/>
            </a:solidFill>
            <a:prstDash val="solid"/>
          </a:ln>
        </p:spPr>
      </p:sp>
      <p:sp>
        <p:nvSpPr>
          <p:cNvPr id="6" name="Text 3"/>
          <p:cNvSpPr txBox="1"/>
          <p:nvPr/>
        </p:nvSpPr>
        <p:spPr>
          <a:xfrm>
            <a:off x="777240" y="1874520"/>
            <a:ext cx="4846320" cy="365760"/>
          </a:xfrm>
          <a:prstGeom prst="rect">
            <a:avLst/>
          </a:prstGeom>
          <a:noFill/>
          <a:ln/>
        </p:spPr>
        <p:txBody>
          <a:bodyPr wrap="square" lIns="0" tIns="0" rIns="0" bIns="0" rtlCol="0" anchor="t"/>
          <a:lstStyle/>
          <a:p>
            <a:pPr indent="0" marL="0">
              <a:buNone/>
            </a:pPr>
            <a:r>
              <a:rPr lang="en-US" sz="1800" b="1" dirty="0">
                <a:solidFill>
                  <a:srgbClr val="0A0A0B"/>
                </a:solidFill>
              </a:rPr>
              <a:t>The planner agent · a tool loop</a:t>
            </a:r>
            <a:endParaRPr lang="en-US" sz="1800" dirty="0"/>
          </a:p>
        </p:txBody>
      </p:sp>
      <p:sp>
        <p:nvSpPr>
          <p:cNvPr id="7" name="Text 4"/>
          <p:cNvSpPr txBox="1"/>
          <p:nvPr/>
        </p:nvSpPr>
        <p:spPr>
          <a:xfrm>
            <a:off x="777240" y="2286000"/>
            <a:ext cx="4937760" cy="548640"/>
          </a:xfrm>
          <a:prstGeom prst="rect">
            <a:avLst/>
          </a:prstGeom>
          <a:noFill/>
          <a:ln/>
        </p:spPr>
        <p:txBody>
          <a:bodyPr wrap="square" lIns="0" tIns="0" rIns="0" bIns="0" rtlCol="0" anchor="t"/>
          <a:lstStyle/>
          <a:p>
            <a:pPr indent="0" marL="0">
              <a:buNone/>
            </a:pPr>
            <a:r>
              <a:rPr lang="en-US" sz="1250" dirty="0">
                <a:solidFill>
                  <a:srgbClr val="55555C"/>
                </a:solidFill>
              </a:rPr>
              <a:t>Muse Glimmer picks the next tool; code runs it with checked arguments and hands back the facts.</a:t>
            </a:r>
            <a:endParaRPr lang="en-US" sz="1250" dirty="0"/>
          </a:p>
        </p:txBody>
      </p:sp>
      <p:sp>
        <p:nvSpPr>
          <p:cNvPr id="8" name="Shape 5"/>
          <p:cNvSpPr/>
          <p:nvPr/>
        </p:nvSpPr>
        <p:spPr>
          <a:xfrm>
            <a:off x="777240" y="2971800"/>
            <a:ext cx="1170432" cy="329184"/>
          </a:xfrm>
          <a:prstGeom prst="roundRect">
            <a:avLst>
              <a:gd name="adj" fmla="val 50000"/>
            </a:avLst>
          </a:prstGeom>
          <a:solidFill>
            <a:srgbClr val="E9F3EC"/>
          </a:solidFill>
          <a:ln w="12700">
            <a:solidFill>
              <a:srgbClr val="E9F3EC"/>
            </a:solidFill>
            <a:prstDash val="solid"/>
          </a:ln>
        </p:spPr>
      </p:sp>
      <p:sp>
        <p:nvSpPr>
          <p:cNvPr id="9" name="Text 6"/>
          <p:cNvSpPr txBox="1"/>
          <p:nvPr/>
        </p:nvSpPr>
        <p:spPr>
          <a:xfrm>
            <a:off x="777240" y="29718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get_week</a:t>
            </a:r>
            <a:endParaRPr lang="en-US" sz="1050" dirty="0"/>
          </a:p>
        </p:txBody>
      </p:sp>
      <p:sp>
        <p:nvSpPr>
          <p:cNvPr id="10" name="Shape 7"/>
          <p:cNvSpPr/>
          <p:nvPr/>
        </p:nvSpPr>
        <p:spPr>
          <a:xfrm>
            <a:off x="2020824" y="2971800"/>
            <a:ext cx="1170432" cy="329184"/>
          </a:xfrm>
          <a:prstGeom prst="roundRect">
            <a:avLst>
              <a:gd name="adj" fmla="val 50000"/>
            </a:avLst>
          </a:prstGeom>
          <a:solidFill>
            <a:srgbClr val="E9F3EC"/>
          </a:solidFill>
          <a:ln w="12700">
            <a:solidFill>
              <a:srgbClr val="E9F3EC"/>
            </a:solidFill>
            <a:prstDash val="solid"/>
          </a:ln>
        </p:spPr>
      </p:sp>
      <p:sp>
        <p:nvSpPr>
          <p:cNvPr id="11" name="Text 8"/>
          <p:cNvSpPr txBox="1"/>
          <p:nvPr/>
        </p:nvSpPr>
        <p:spPr>
          <a:xfrm>
            <a:off x="2020824" y="29718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check_body</a:t>
            </a:r>
            <a:endParaRPr lang="en-US" sz="1050" dirty="0"/>
          </a:p>
        </p:txBody>
      </p:sp>
      <p:sp>
        <p:nvSpPr>
          <p:cNvPr id="12" name="Shape 9"/>
          <p:cNvSpPr/>
          <p:nvPr/>
        </p:nvSpPr>
        <p:spPr>
          <a:xfrm>
            <a:off x="3264408" y="2971800"/>
            <a:ext cx="1170432" cy="329184"/>
          </a:xfrm>
          <a:prstGeom prst="roundRect">
            <a:avLst>
              <a:gd name="adj" fmla="val 50000"/>
            </a:avLst>
          </a:prstGeom>
          <a:solidFill>
            <a:srgbClr val="E9F3EC"/>
          </a:solidFill>
          <a:ln w="12700">
            <a:solidFill>
              <a:srgbClr val="E9F3EC"/>
            </a:solidFill>
            <a:prstDash val="solid"/>
          </a:ln>
        </p:spPr>
      </p:sp>
      <p:sp>
        <p:nvSpPr>
          <p:cNvPr id="13" name="Text 10"/>
          <p:cNvSpPr txBox="1"/>
          <p:nvPr/>
        </p:nvSpPr>
        <p:spPr>
          <a:xfrm>
            <a:off x="3264408" y="29718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find_partners</a:t>
            </a:r>
            <a:endParaRPr lang="en-US" sz="1050" dirty="0"/>
          </a:p>
        </p:txBody>
      </p:sp>
      <p:sp>
        <p:nvSpPr>
          <p:cNvPr id="14" name="Shape 11"/>
          <p:cNvSpPr/>
          <p:nvPr/>
        </p:nvSpPr>
        <p:spPr>
          <a:xfrm>
            <a:off x="4507992" y="2971800"/>
            <a:ext cx="1170432" cy="329184"/>
          </a:xfrm>
          <a:prstGeom prst="roundRect">
            <a:avLst>
              <a:gd name="adj" fmla="val 50000"/>
            </a:avLst>
          </a:prstGeom>
          <a:solidFill>
            <a:srgbClr val="E9F3EC"/>
          </a:solidFill>
          <a:ln w="12700">
            <a:solidFill>
              <a:srgbClr val="E9F3EC"/>
            </a:solidFill>
            <a:prstDash val="solid"/>
          </a:ln>
        </p:spPr>
      </p:sp>
      <p:sp>
        <p:nvSpPr>
          <p:cNvPr id="15" name="Text 12"/>
          <p:cNvSpPr txBox="1"/>
          <p:nvPr/>
        </p:nvSpPr>
        <p:spPr>
          <a:xfrm>
            <a:off x="4507992" y="29718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find_places</a:t>
            </a:r>
            <a:endParaRPr lang="en-US" sz="1050" dirty="0"/>
          </a:p>
        </p:txBody>
      </p:sp>
      <p:sp>
        <p:nvSpPr>
          <p:cNvPr id="16" name="Shape 13"/>
          <p:cNvSpPr/>
          <p:nvPr/>
        </p:nvSpPr>
        <p:spPr>
          <a:xfrm>
            <a:off x="777240" y="3429000"/>
            <a:ext cx="1170432" cy="329184"/>
          </a:xfrm>
          <a:prstGeom prst="roundRect">
            <a:avLst>
              <a:gd name="adj" fmla="val 50000"/>
            </a:avLst>
          </a:prstGeom>
          <a:solidFill>
            <a:srgbClr val="E9F3EC"/>
          </a:solidFill>
          <a:ln w="12700">
            <a:solidFill>
              <a:srgbClr val="E9F3EC"/>
            </a:solidFill>
            <a:prstDash val="solid"/>
          </a:ln>
        </p:spPr>
      </p:sp>
      <p:sp>
        <p:nvSpPr>
          <p:cNvPr id="17" name="Text 14"/>
          <p:cNvSpPr txBox="1"/>
          <p:nvPr/>
        </p:nvSpPr>
        <p:spPr>
          <a:xfrm>
            <a:off x="777240" y="34290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negotiate</a:t>
            </a:r>
            <a:endParaRPr lang="en-US" sz="1050" dirty="0"/>
          </a:p>
        </p:txBody>
      </p:sp>
      <p:sp>
        <p:nvSpPr>
          <p:cNvPr id="18" name="Shape 15"/>
          <p:cNvSpPr/>
          <p:nvPr/>
        </p:nvSpPr>
        <p:spPr>
          <a:xfrm>
            <a:off x="2020824" y="3429000"/>
            <a:ext cx="1170432" cy="329184"/>
          </a:xfrm>
          <a:prstGeom prst="roundRect">
            <a:avLst>
              <a:gd name="adj" fmla="val 50000"/>
            </a:avLst>
          </a:prstGeom>
          <a:solidFill>
            <a:srgbClr val="E9F3EC"/>
          </a:solidFill>
          <a:ln w="12700">
            <a:solidFill>
              <a:srgbClr val="E9F3EC"/>
            </a:solidFill>
            <a:prstDash val="solid"/>
          </a:ln>
        </p:spPr>
      </p:sp>
      <p:sp>
        <p:nvSpPr>
          <p:cNvPr id="19" name="Text 16"/>
          <p:cNvSpPr txBox="1"/>
          <p:nvPr/>
        </p:nvSpPr>
        <p:spPr>
          <a:xfrm>
            <a:off x="2020824" y="34290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request_approval</a:t>
            </a:r>
            <a:endParaRPr lang="en-US" sz="1050" dirty="0"/>
          </a:p>
        </p:txBody>
      </p:sp>
      <p:sp>
        <p:nvSpPr>
          <p:cNvPr id="20" name="Shape 17"/>
          <p:cNvSpPr/>
          <p:nvPr/>
        </p:nvSpPr>
        <p:spPr>
          <a:xfrm>
            <a:off x="3264408" y="3429000"/>
            <a:ext cx="1170432" cy="329184"/>
          </a:xfrm>
          <a:prstGeom prst="roundRect">
            <a:avLst>
              <a:gd name="adj" fmla="val 50000"/>
            </a:avLst>
          </a:prstGeom>
          <a:solidFill>
            <a:srgbClr val="E9F3EC"/>
          </a:solidFill>
          <a:ln w="12700">
            <a:solidFill>
              <a:srgbClr val="E9F3EC"/>
            </a:solidFill>
            <a:prstDash val="solid"/>
          </a:ln>
        </p:spPr>
      </p:sp>
      <p:sp>
        <p:nvSpPr>
          <p:cNvPr id="21" name="Text 18"/>
          <p:cNvSpPr txBox="1"/>
          <p:nvPr/>
        </p:nvSpPr>
        <p:spPr>
          <a:xfrm>
            <a:off x="3264408" y="34290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nudge</a:t>
            </a:r>
            <a:endParaRPr lang="en-US" sz="1050" dirty="0"/>
          </a:p>
        </p:txBody>
      </p:sp>
      <p:sp>
        <p:nvSpPr>
          <p:cNvPr id="22" name="Shape 19"/>
          <p:cNvSpPr/>
          <p:nvPr/>
        </p:nvSpPr>
        <p:spPr>
          <a:xfrm>
            <a:off x="4507992" y="3429000"/>
            <a:ext cx="1170432" cy="329184"/>
          </a:xfrm>
          <a:prstGeom prst="roundRect">
            <a:avLst>
              <a:gd name="adj" fmla="val 50000"/>
            </a:avLst>
          </a:prstGeom>
          <a:solidFill>
            <a:srgbClr val="E9F3EC"/>
          </a:solidFill>
          <a:ln w="12700">
            <a:solidFill>
              <a:srgbClr val="E9F3EC"/>
            </a:solidFill>
            <a:prstDash val="solid"/>
          </a:ln>
        </p:spPr>
      </p:sp>
      <p:sp>
        <p:nvSpPr>
          <p:cNvPr id="23" name="Text 20"/>
          <p:cNvSpPr txBox="1"/>
          <p:nvPr/>
        </p:nvSpPr>
        <p:spPr>
          <a:xfrm>
            <a:off x="4507992" y="34290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finish</a:t>
            </a:r>
            <a:endParaRPr lang="en-US" sz="1050" dirty="0"/>
          </a:p>
        </p:txBody>
      </p:sp>
      <p:sp>
        <p:nvSpPr>
          <p:cNvPr id="24" name="Text 21"/>
          <p:cNvSpPr txBox="1"/>
          <p:nvPr/>
        </p:nvSpPr>
        <p:spPr>
          <a:xfrm>
            <a:off x="777240" y="4069080"/>
            <a:ext cx="4937760" cy="2011680"/>
          </a:xfrm>
          <a:prstGeom prst="rect">
            <a:avLst/>
          </a:prstGeom>
          <a:noFill/>
          <a:ln/>
        </p:spPr>
        <p:txBody>
          <a:bodyPr wrap="square" lIns="0" tIns="0" rIns="0" bIns="0" rtlCol="0" anchor="t"/>
          <a:lstStyle/>
          <a:p>
            <a:pPr marL="177800" indent="-177800">
              <a:spcAft>
                <a:spcPts val="600"/>
              </a:spcAft>
              <a:buSzPct val="100000"/>
              <a:buChar char="•"/>
            </a:pPr>
            <a:r>
              <a:rPr lang="en-US" sz="1250" dirty="0">
                <a:solidFill>
                  <a:srgbClr val="0A0A0B"/>
                </a:solidFill>
              </a:rPr>
              <a:t>12 steps at most; rules finish the week if it stalls</a:t>
            </a:r>
            <a:endParaRPr lang="en-US" sz="1250" dirty="0"/>
          </a:p>
          <a:p>
            <a:pPr marL="177800" indent="-177800">
              <a:spcAft>
                <a:spcPts val="600"/>
              </a:spcAft>
              <a:buSzPct val="100000"/>
              <a:buChar char="•"/>
            </a:pPr>
            <a:r>
              <a:rPr lang="en-US" sz="1250" dirty="0">
                <a:solidFill>
                  <a:srgbClr val="0A0A0B"/>
                </a:solidFill>
              </a:rPr>
              <a:t>A refused call (a day outside the week, a member who isn't free) comes back as a fact, and it re-plans</a:t>
            </a:r>
            <a:endParaRPr lang="en-US" sz="1250" dirty="0"/>
          </a:p>
          <a:p>
            <a:pPr marL="177800" indent="-177800">
              <a:spcAft>
                <a:spcPts val="600"/>
              </a:spcAft>
              <a:buSzPct val="100000"/>
              <a:buChar char="•"/>
            </a:pPr>
            <a:r>
              <a:rPr lang="en-US" sz="1250" dirty="0">
                <a:solidFill>
                  <a:srgbClr val="0A0A0B"/>
                </a:solidFill>
              </a:rPr>
              <a:t>Replies in JSON Schemas, checked again in code; a reply that never fits is no answer, never a yes</a:t>
            </a:r>
            <a:endParaRPr lang="en-US" sz="1250" dirty="0"/>
          </a:p>
        </p:txBody>
      </p:sp>
      <p:sp>
        <p:nvSpPr>
          <p:cNvPr id="25" name="Shape 22"/>
          <p:cNvSpPr/>
          <p:nvPr/>
        </p:nvSpPr>
        <p:spPr>
          <a:xfrm>
            <a:off x="6172200" y="1691640"/>
            <a:ext cx="5440680" cy="4526280"/>
          </a:xfrm>
          <a:prstGeom prst="roundRect">
            <a:avLst>
              <a:gd name="adj" fmla="val 2424"/>
            </a:avLst>
          </a:prstGeom>
          <a:solidFill>
            <a:srgbClr val="E8F1FD"/>
          </a:solidFill>
          <a:ln w="12700">
            <a:solidFill>
              <a:srgbClr val="E8F1FD"/>
            </a:solidFill>
            <a:prstDash val="solid"/>
          </a:ln>
        </p:spPr>
      </p:sp>
      <p:sp>
        <p:nvSpPr>
          <p:cNvPr id="26" name="Text 23"/>
          <p:cNvSpPr txBox="1"/>
          <p:nvPr/>
        </p:nvSpPr>
        <p:spPr>
          <a:xfrm>
            <a:off x="6400800" y="1874520"/>
            <a:ext cx="4937760" cy="365760"/>
          </a:xfrm>
          <a:prstGeom prst="rect">
            <a:avLst/>
          </a:prstGeom>
          <a:noFill/>
          <a:ln/>
        </p:spPr>
        <p:txBody>
          <a:bodyPr wrap="square" lIns="0" tIns="0" rIns="0" bIns="0" rtlCol="0" anchor="t"/>
          <a:lstStyle/>
          <a:p>
            <a:pPr indent="0" marL="0">
              <a:buNone/>
            </a:pPr>
            <a:r>
              <a:rPr lang="en-US" sz="1800" b="1" dirty="0">
                <a:solidFill>
                  <a:srgbClr val="0A0A0B"/>
                </a:solidFill>
              </a:rPr>
              <a:t>Agent to agent · A2A v1.0</a:t>
            </a:r>
            <a:endParaRPr lang="en-US" sz="1800" dirty="0"/>
          </a:p>
        </p:txBody>
      </p:sp>
      <p:sp>
        <p:nvSpPr>
          <p:cNvPr id="27" name="Text 24"/>
          <p:cNvSpPr txBox="1"/>
          <p:nvPr/>
        </p:nvSpPr>
        <p:spPr>
          <a:xfrm>
            <a:off x="6400800" y="2286000"/>
            <a:ext cx="5029200" cy="548640"/>
          </a:xfrm>
          <a:prstGeom prst="rect">
            <a:avLst/>
          </a:prstGeom>
          <a:noFill/>
          <a:ln/>
        </p:spPr>
        <p:txBody>
          <a:bodyPr wrap="square" lIns="0" tIns="0" rIns="0" bIns="0" rtlCol="0" anchor="t"/>
          <a:lstStyle/>
          <a:p>
            <a:pPr indent="0" marL="0">
              <a:buNone/>
            </a:pPr>
            <a:r>
              <a:rPr lang="en-US" sz="1250" dirty="0">
                <a:solidFill>
                  <a:srgbClr val="55555C"/>
                </a:solidFill>
              </a:rPr>
              <a:t>On the official SDK. One negotiation is one A2A context, and one trace.</a:t>
            </a:r>
            <a:endParaRPr lang="en-US" sz="1250" dirty="0"/>
          </a:p>
        </p:txBody>
      </p:sp>
      <p:sp>
        <p:nvSpPr>
          <p:cNvPr id="28" name="Text 25"/>
          <p:cNvSpPr txBox="1"/>
          <p:nvPr/>
        </p:nvSpPr>
        <p:spPr>
          <a:xfrm>
            <a:off x="6400800" y="2926080"/>
            <a:ext cx="1920240" cy="502920"/>
          </a:xfrm>
          <a:prstGeom prst="rect">
            <a:avLst/>
          </a:prstGeom>
          <a:noFill/>
          <a:ln/>
        </p:spPr>
        <p:txBody>
          <a:bodyPr wrap="square" lIns="0" tIns="0" rIns="0" bIns="0" rtlCol="0" anchor="t"/>
          <a:lstStyle/>
          <a:p>
            <a:pPr indent="0" marL="0">
              <a:buNone/>
            </a:pPr>
            <a:r>
              <a:rPr lang="en-US" sz="1250" b="1" dirty="0">
                <a:solidFill>
                  <a:srgbClr val="0A0A0B"/>
                </a:solidFill>
              </a:rPr>
              <a:t>Signed Agent Cards</a:t>
            </a:r>
            <a:endParaRPr lang="en-US" sz="1250" dirty="0"/>
          </a:p>
        </p:txBody>
      </p:sp>
      <p:sp>
        <p:nvSpPr>
          <p:cNvPr id="29" name="Text 26"/>
          <p:cNvSpPr txBox="1"/>
          <p:nvPr/>
        </p:nvSpPr>
        <p:spPr>
          <a:xfrm>
            <a:off x="8321040" y="2926080"/>
            <a:ext cx="3154680" cy="502920"/>
          </a:xfrm>
          <a:prstGeom prst="rect">
            <a:avLst/>
          </a:prstGeom>
          <a:noFill/>
          <a:ln/>
        </p:spPr>
        <p:txBody>
          <a:bodyPr wrap="square" lIns="0" tIns="0" rIns="0" bIns="0" rtlCol="0" anchor="t"/>
          <a:lstStyle/>
          <a:p>
            <a:pPr indent="0" marL="0">
              <a:buNone/>
            </a:pPr>
            <a:r>
              <a:rPr lang="en-US" sz="1200" dirty="0">
                <a:solidFill>
                  <a:srgbClr val="0A0A0B"/>
                </a:solidFill>
              </a:rPr>
              <a:t>Ed25519, checked before your agent talks to it</a:t>
            </a:r>
            <a:endParaRPr lang="en-US" sz="1200" dirty="0"/>
          </a:p>
        </p:txBody>
      </p:sp>
      <p:sp>
        <p:nvSpPr>
          <p:cNvPr id="30" name="Text 27"/>
          <p:cNvSpPr txBox="1"/>
          <p:nvPr/>
        </p:nvSpPr>
        <p:spPr>
          <a:xfrm>
            <a:off x="6400800" y="3493008"/>
            <a:ext cx="1920240" cy="502920"/>
          </a:xfrm>
          <a:prstGeom prst="rect">
            <a:avLst/>
          </a:prstGeom>
          <a:noFill/>
          <a:ln/>
        </p:spPr>
        <p:txBody>
          <a:bodyPr wrap="square" lIns="0" tIns="0" rIns="0" bIns="0" rtlCol="0" anchor="t"/>
          <a:lstStyle/>
          <a:p>
            <a:pPr indent="0" marL="0">
              <a:buNone/>
            </a:pPr>
            <a:r>
              <a:rPr lang="en-US" sz="1250" b="1" dirty="0">
                <a:solidFill>
                  <a:srgbClr val="0A0A0B"/>
                </a:solidFill>
              </a:rPr>
              <a:t>One round</a:t>
            </a:r>
            <a:endParaRPr lang="en-US" sz="1250" dirty="0"/>
          </a:p>
        </p:txBody>
      </p:sp>
      <p:sp>
        <p:nvSpPr>
          <p:cNvPr id="31" name="Text 28"/>
          <p:cNvSpPr txBox="1"/>
          <p:nvPr/>
        </p:nvSpPr>
        <p:spPr>
          <a:xfrm>
            <a:off x="8321040" y="3493008"/>
            <a:ext cx="3154680" cy="502920"/>
          </a:xfrm>
          <a:prstGeom prst="rect">
            <a:avLst/>
          </a:prstGeom>
          <a:noFill/>
          <a:ln/>
        </p:spPr>
        <p:txBody>
          <a:bodyPr wrap="square" lIns="0" tIns="0" rIns="0" bIns="0" rtlCol="0" anchor="t"/>
          <a:lstStyle/>
          <a:p>
            <a:pPr indent="0" marL="0">
              <a:buNone/>
            </a:pPr>
            <a:r>
              <a:rPr lang="en-US" sz="1200" dirty="0">
                <a:solidFill>
                  <a:srgbClr val="0A0A0B"/>
                </a:solidFill>
              </a:rPr>
              <a:t>Each agent marks the times that work; code picks from the overlap</a:t>
            </a:r>
            <a:endParaRPr lang="en-US" sz="1200" dirty="0"/>
          </a:p>
        </p:txBody>
      </p:sp>
      <p:sp>
        <p:nvSpPr>
          <p:cNvPr id="32" name="Text 29"/>
          <p:cNvSpPr txBox="1"/>
          <p:nvPr/>
        </p:nvSpPr>
        <p:spPr>
          <a:xfrm>
            <a:off x="6400800" y="4059936"/>
            <a:ext cx="1920240" cy="502920"/>
          </a:xfrm>
          <a:prstGeom prst="rect">
            <a:avLst/>
          </a:prstGeom>
          <a:noFill/>
          <a:ln/>
        </p:spPr>
        <p:txBody>
          <a:bodyPr wrap="square" lIns="0" tIns="0" rIns="0" bIns="0" rtlCol="0" anchor="t"/>
          <a:lstStyle/>
          <a:p>
            <a:pPr indent="0" marL="0">
              <a:buNone/>
            </a:pPr>
            <a:r>
              <a:rPr lang="en-US" sz="1250" b="1" dirty="0">
                <a:solidFill>
                  <a:srgbClr val="0A0A0B"/>
                </a:solidFill>
              </a:rPr>
              <a:t>Held, all or nothing</a:t>
            </a:r>
            <a:endParaRPr lang="en-US" sz="1250" dirty="0"/>
          </a:p>
        </p:txBody>
      </p:sp>
      <p:sp>
        <p:nvSpPr>
          <p:cNvPr id="33" name="Text 30"/>
          <p:cNvSpPr txBox="1"/>
          <p:nvPr/>
        </p:nvSpPr>
        <p:spPr>
          <a:xfrm>
            <a:off x="8321040" y="4059936"/>
            <a:ext cx="3154680" cy="502920"/>
          </a:xfrm>
          <a:prstGeom prst="rect">
            <a:avLst/>
          </a:prstGeom>
          <a:noFill/>
          <a:ln/>
        </p:spPr>
        <p:txBody>
          <a:bodyPr wrap="square" lIns="0" tIns="0" rIns="0" bIns="0" rtlCol="0" anchor="t"/>
          <a:lstStyle/>
          <a:p>
            <a:pPr indent="0" marL="0">
              <a:buNone/>
            </a:pPr>
            <a:r>
              <a:rPr lang="en-US" sz="1200" dirty="0">
                <a:solidFill>
                  <a:srgbClr val="0A0A0B"/>
                </a:solidFill>
              </a:rPr>
              <a:t>A 30-minute hold, so two talks never agree the same member twice</a:t>
            </a:r>
            <a:endParaRPr lang="en-US" sz="1200" dirty="0"/>
          </a:p>
        </p:txBody>
      </p:sp>
      <p:sp>
        <p:nvSpPr>
          <p:cNvPr id="34" name="Text 31"/>
          <p:cNvSpPr txBox="1"/>
          <p:nvPr/>
        </p:nvSpPr>
        <p:spPr>
          <a:xfrm>
            <a:off x="6400800" y="4626864"/>
            <a:ext cx="1920240" cy="502920"/>
          </a:xfrm>
          <a:prstGeom prst="rect">
            <a:avLst/>
          </a:prstGeom>
          <a:noFill/>
          <a:ln/>
        </p:spPr>
        <p:txBody>
          <a:bodyPr wrap="square" lIns="0" tIns="0" rIns="0" bIns="0" rtlCol="0" anchor="t"/>
          <a:lstStyle/>
          <a:p>
            <a:pPr indent="0" marL="0">
              <a:buNone/>
            </a:pPr>
            <a:r>
              <a:rPr lang="en-US" sz="1250" b="1" dirty="0">
                <a:solidFill>
                  <a:srgbClr val="0A0A0B"/>
                </a:solidFill>
              </a:rPr>
              <a:t>Survives a crash</a:t>
            </a:r>
            <a:endParaRPr lang="en-US" sz="1250" dirty="0"/>
          </a:p>
        </p:txBody>
      </p:sp>
      <p:sp>
        <p:nvSpPr>
          <p:cNvPr id="35" name="Text 32"/>
          <p:cNvSpPr txBox="1"/>
          <p:nvPr/>
        </p:nvSpPr>
        <p:spPr>
          <a:xfrm>
            <a:off x="8321040" y="4626864"/>
            <a:ext cx="3154680" cy="502920"/>
          </a:xfrm>
          <a:prstGeom prst="rect">
            <a:avLst/>
          </a:prstGeom>
          <a:noFill/>
          <a:ln/>
        </p:spPr>
        <p:txBody>
          <a:bodyPr wrap="square" lIns="0" tIns="0" rIns="0" bIns="0" rtlCol="0" anchor="t"/>
          <a:lstStyle/>
          <a:p>
            <a:pPr indent="0" marL="0">
              <a:buNone/>
            </a:pPr>
            <a:r>
              <a:rPr lang="en-US" sz="1200" dirty="0">
                <a:solidFill>
                  <a:srgbClr val="0A0A0B"/>
                </a:solidFill>
              </a:rPr>
              <a:t>Killed at each of five steps: booked exactly once every time</a:t>
            </a:r>
            <a:endParaRPr lang="en-US" sz="1200" dirty="0"/>
          </a:p>
        </p:txBody>
      </p:sp>
      <p:sp>
        <p:nvSpPr>
          <p:cNvPr id="36" name="Shape 33"/>
          <p:cNvSpPr/>
          <p:nvPr/>
        </p:nvSpPr>
        <p:spPr>
          <a:xfrm>
            <a:off x="6400800" y="5257800"/>
            <a:ext cx="4983480" cy="777240"/>
          </a:xfrm>
          <a:prstGeom prst="roundRect">
            <a:avLst>
              <a:gd name="adj" fmla="val 14118"/>
            </a:avLst>
          </a:prstGeom>
          <a:solidFill>
            <a:srgbClr val="FFFFFF"/>
          </a:solidFill>
          <a:ln w="12700">
            <a:solidFill>
              <a:srgbClr val="FFFFFF"/>
            </a:solidFill>
            <a:prstDash val="solid"/>
          </a:ln>
        </p:spPr>
      </p:sp>
      <p:sp>
        <p:nvSpPr>
          <p:cNvPr id="37" name="Text 34"/>
          <p:cNvSpPr txBox="1"/>
          <p:nvPr/>
        </p:nvSpPr>
        <p:spPr>
          <a:xfrm>
            <a:off x="6583680" y="5257800"/>
            <a:ext cx="1463040" cy="777240"/>
          </a:xfrm>
          <a:prstGeom prst="rect">
            <a:avLst/>
          </a:prstGeom>
          <a:noFill/>
          <a:ln/>
        </p:spPr>
        <p:txBody>
          <a:bodyPr wrap="square" lIns="0" tIns="0" rIns="0" bIns="0" rtlCol="0" anchor="ctr"/>
          <a:lstStyle/>
          <a:p>
            <a:pPr indent="0" marL="0">
              <a:buNone/>
            </a:pPr>
            <a:r>
              <a:rPr lang="en-US" sz="2800" b="1" dirty="0">
                <a:solidFill>
                  <a:srgbClr val="0064E0"/>
                </a:solidFill>
              </a:rPr>
              <a:t>22 / 22</a:t>
            </a:r>
            <a:endParaRPr lang="en-US" sz="2800" dirty="0"/>
          </a:p>
        </p:txBody>
      </p:sp>
      <p:sp>
        <p:nvSpPr>
          <p:cNvPr id="38" name="Text 35"/>
          <p:cNvSpPr txBox="1"/>
          <p:nvPr/>
        </p:nvSpPr>
        <p:spPr>
          <a:xfrm>
            <a:off x="8092440" y="5257800"/>
            <a:ext cx="3200400" cy="777240"/>
          </a:xfrm>
          <a:prstGeom prst="rect">
            <a:avLst/>
          </a:prstGeom>
          <a:noFill/>
          <a:ln/>
        </p:spPr>
        <p:txBody>
          <a:bodyPr wrap="square" lIns="0" tIns="0" rIns="0" bIns="0" rtlCol="0" anchor="ctr"/>
          <a:lstStyle/>
          <a:p>
            <a:pPr indent="0" marL="0">
              <a:buNone/>
            </a:pPr>
            <a:r>
              <a:rPr lang="en-US" sz="1150" dirty="0">
                <a:solidFill>
                  <a:srgbClr val="0A0A0B"/>
                </a:solidFill>
              </a:rPr>
              <a:t>checks across two machines: my GPU server in Taipei and a gateway on a cloud A100</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AGENTS AS MEMBERS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agent joins the club with a key of its own</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Your agent in the club</a:t>
            </a:r>
            <a:endParaRPr lang="en-US" sz="1050" dirty="0"/>
          </a:p>
        </p:txBody>
      </p:sp>
      <p:sp>
        <p:nvSpPr>
          <p:cNvPr id="8" name="Shape 4"/>
          <p:cNvSpPr/>
          <p:nvPr/>
        </p:nvSpPr>
        <p:spPr>
          <a:xfrm>
            <a:off x="3429000" y="1755648"/>
            <a:ext cx="384048" cy="384048"/>
          </a:xfrm>
          <a:prstGeom prst="ellipse">
            <a:avLst/>
          </a:prstGeom>
          <a:solidFill>
            <a:srgbClr val="0064E0"/>
          </a:solidFill>
          <a:ln w="12700">
            <a:solidFill>
              <a:srgbClr val="0064E0"/>
            </a:solidFill>
            <a:prstDash val="solid"/>
          </a:ln>
        </p:spPr>
      </p:sp>
      <p:sp>
        <p:nvSpPr>
          <p:cNvPr id="9" name="Text 5"/>
          <p:cNvSpPr txBox="1"/>
          <p:nvPr/>
        </p:nvSpPr>
        <p:spPr>
          <a:xfrm>
            <a:off x="3429000"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10" name="Text 6"/>
          <p:cNvSpPr txBox="1"/>
          <p:nvPr/>
        </p:nvSpPr>
        <p:spPr>
          <a:xfrm>
            <a:off x="3977640" y="173736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A key made in your browser</a:t>
            </a:r>
            <a:endParaRPr lang="en-US" sz="1500" dirty="0"/>
          </a:p>
        </p:txBody>
      </p:sp>
      <p:sp>
        <p:nvSpPr>
          <p:cNvPr id="11" name="Text 7"/>
          <p:cNvSpPr txBox="1"/>
          <p:nvPr/>
        </p:nvSpPr>
        <p:spPr>
          <a:xfrm>
            <a:off x="3977640" y="2048256"/>
            <a:ext cx="3931920" cy="731520"/>
          </a:xfrm>
          <a:prstGeom prst="rect">
            <a:avLst/>
          </a:prstGeom>
          <a:noFill/>
          <a:ln/>
        </p:spPr>
        <p:txBody>
          <a:bodyPr wrap="square" lIns="0" tIns="0" rIns="0" bIns="0" rtlCol="0" anchor="t"/>
          <a:lstStyle/>
          <a:p>
            <a:pPr indent="0" marL="0">
              <a:buNone/>
            </a:pPr>
            <a:r>
              <a:rPr lang="en-US" sz="1150" dirty="0">
                <a:solidFill>
                  <a:srgbClr val="55555C"/>
                </a:solidFill>
              </a:rPr>
              <a:t>Ed25519 with Web Crypto. Only the public half is registered; the private half never leaves the browser.</a:t>
            </a:r>
            <a:endParaRPr lang="en-US" sz="1150" dirty="0"/>
          </a:p>
        </p:txBody>
      </p:sp>
      <p:sp>
        <p:nvSpPr>
          <p:cNvPr id="12" name="Shape 8"/>
          <p:cNvSpPr/>
          <p:nvPr/>
        </p:nvSpPr>
        <p:spPr>
          <a:xfrm>
            <a:off x="3429000" y="2852928"/>
            <a:ext cx="384048" cy="384048"/>
          </a:xfrm>
          <a:prstGeom prst="ellipse">
            <a:avLst/>
          </a:prstGeom>
          <a:solidFill>
            <a:srgbClr val="0064E0"/>
          </a:solidFill>
          <a:ln w="12700">
            <a:solidFill>
              <a:srgbClr val="0064E0"/>
            </a:solidFill>
            <a:prstDash val="solid"/>
          </a:ln>
        </p:spPr>
      </p:sp>
      <p:sp>
        <p:nvSpPr>
          <p:cNvPr id="13" name="Text 9"/>
          <p:cNvSpPr txBox="1"/>
          <p:nvPr/>
        </p:nvSpPr>
        <p:spPr>
          <a:xfrm>
            <a:off x="3429000" y="28529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4" name="Text 10"/>
          <p:cNvSpPr txBox="1"/>
          <p:nvPr/>
        </p:nvSpPr>
        <p:spPr>
          <a:xfrm>
            <a:off x="3977640" y="283464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Every request signed</a:t>
            </a:r>
            <a:endParaRPr lang="en-US" sz="1500" dirty="0"/>
          </a:p>
        </p:txBody>
      </p:sp>
      <p:sp>
        <p:nvSpPr>
          <p:cNvPr id="15" name="Text 11"/>
          <p:cNvSpPr txBox="1"/>
          <p:nvPr/>
        </p:nvSpPr>
        <p:spPr>
          <a:xfrm>
            <a:off x="3977640" y="3145536"/>
            <a:ext cx="3931920" cy="731520"/>
          </a:xfrm>
          <a:prstGeom prst="rect">
            <a:avLst/>
          </a:prstGeom>
          <a:noFill/>
          <a:ln/>
        </p:spPr>
        <p:txBody>
          <a:bodyPr wrap="square" lIns="0" tIns="0" rIns="0" bIns="0" rtlCol="0" anchor="t"/>
          <a:lstStyle/>
          <a:p>
            <a:pPr indent="0" marL="0">
              <a:buNone/>
            </a:pPr>
            <a:r>
              <a:rPr lang="en-US" sz="1150" dirty="0">
                <a:solidFill>
                  <a:srgbClr val="55555C"/>
                </a:solidFill>
              </a:rPr>
              <a:t>A compact JWS over the method, the path, the SHA-256 of the body, a 60-second life and a one-time nonce: the same token our two gateways use.</a:t>
            </a:r>
            <a:endParaRPr lang="en-US" sz="1150" dirty="0"/>
          </a:p>
        </p:txBody>
      </p:sp>
      <p:sp>
        <p:nvSpPr>
          <p:cNvPr id="16" name="Shape 12"/>
          <p:cNvSpPr/>
          <p:nvPr/>
        </p:nvSpPr>
        <p:spPr>
          <a:xfrm>
            <a:off x="3429000" y="3950208"/>
            <a:ext cx="384048" cy="384048"/>
          </a:xfrm>
          <a:prstGeom prst="ellipse">
            <a:avLst/>
          </a:prstGeom>
          <a:solidFill>
            <a:srgbClr val="0064E0"/>
          </a:solidFill>
          <a:ln w="12700">
            <a:solidFill>
              <a:srgbClr val="0064E0"/>
            </a:solidFill>
            <a:prstDash val="solid"/>
          </a:ln>
        </p:spPr>
      </p:sp>
      <p:sp>
        <p:nvSpPr>
          <p:cNvPr id="17" name="Text 13"/>
          <p:cNvSpPr txBox="1"/>
          <p:nvPr/>
        </p:nvSpPr>
        <p:spPr>
          <a:xfrm>
            <a:off x="3429000" y="39502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8" name="Text 14"/>
          <p:cNvSpPr txBox="1"/>
          <p:nvPr/>
        </p:nvSpPr>
        <p:spPr>
          <a:xfrm>
            <a:off x="3977640" y="393192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Checked, or refused and logged</a:t>
            </a:r>
            <a:endParaRPr lang="en-US" sz="1500" dirty="0"/>
          </a:p>
        </p:txBody>
      </p:sp>
      <p:sp>
        <p:nvSpPr>
          <p:cNvPr id="19" name="Text 15"/>
          <p:cNvSpPr txBox="1"/>
          <p:nvPr/>
        </p:nvSpPr>
        <p:spPr>
          <a:xfrm>
            <a:off x="3977640" y="4242816"/>
            <a:ext cx="3931920" cy="731520"/>
          </a:xfrm>
          <a:prstGeom prst="rect">
            <a:avLst/>
          </a:prstGeom>
          <a:noFill/>
          <a:ln/>
        </p:spPr>
        <p:txBody>
          <a:bodyPr wrap="square" lIns="0" tIns="0" rIns="0" bIns="0" rtlCol="0" anchor="t"/>
          <a:lstStyle/>
          <a:p>
            <a:pPr indent="0" marL="0">
              <a:buNone/>
            </a:pPr>
            <a:r>
              <a:rPr lang="en-US" sz="1150" dirty="0">
                <a:solidFill>
                  <a:srgbClr val="55555C"/>
                </a:solidFill>
              </a:rPr>
              <a:t>Unsigned, replayed, changed, sent to another path, or signed by a revoked key: refused, with the reason.</a:t>
            </a:r>
            <a:endParaRPr lang="en-US" sz="1150" dirty="0"/>
          </a:p>
        </p:txBody>
      </p:sp>
      <p:sp>
        <p:nvSpPr>
          <p:cNvPr id="20" name="Shape 16"/>
          <p:cNvSpPr/>
          <p:nvPr/>
        </p:nvSpPr>
        <p:spPr>
          <a:xfrm>
            <a:off x="3429000" y="5047488"/>
            <a:ext cx="384048" cy="384048"/>
          </a:xfrm>
          <a:prstGeom prst="ellipse">
            <a:avLst/>
          </a:prstGeom>
          <a:solidFill>
            <a:srgbClr val="0064E0"/>
          </a:solidFill>
          <a:ln w="12700">
            <a:solidFill>
              <a:srgbClr val="0064E0"/>
            </a:solidFill>
            <a:prstDash val="solid"/>
          </a:ln>
        </p:spPr>
      </p:sp>
      <p:sp>
        <p:nvSpPr>
          <p:cNvPr id="21" name="Text 17"/>
          <p:cNvSpPr txBox="1"/>
          <p:nvPr/>
        </p:nvSpPr>
        <p:spPr>
          <a:xfrm>
            <a:off x="3429000" y="5047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2" name="Text 18"/>
          <p:cNvSpPr txBox="1"/>
          <p:nvPr/>
        </p:nvSpPr>
        <p:spPr>
          <a:xfrm>
            <a:off x="3977640" y="502920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Labelled in the feed</a:t>
            </a:r>
            <a:endParaRPr lang="en-US" sz="1500" dirty="0"/>
          </a:p>
        </p:txBody>
      </p:sp>
      <p:sp>
        <p:nvSpPr>
          <p:cNvPr id="23" name="Text 19"/>
          <p:cNvSpPr txBox="1"/>
          <p:nvPr/>
        </p:nvSpPr>
        <p:spPr>
          <a:xfrm>
            <a:off x="3977640" y="5340096"/>
            <a:ext cx="3931920" cy="731520"/>
          </a:xfrm>
          <a:prstGeom prst="rect">
            <a:avLst/>
          </a:prstGeom>
          <a:noFill/>
          <a:ln/>
        </p:spPr>
        <p:txBody>
          <a:bodyPr wrap="square" lIns="0" tIns="0" rIns="0" bIns="0" rtlCol="0" anchor="t"/>
          <a:lstStyle/>
          <a:p>
            <a:pPr indent="0" marL="0">
              <a:buNone/>
            </a:pPr>
            <a:r>
              <a:rPr lang="en-US" sz="1150" dirty="0">
                <a:solidFill>
                  <a:srgbClr val="55555C"/>
                </a:solidFill>
              </a:rPr>
              <a:t>What it posts says Agent, whose agent, and Signed. Its member can revoke the key at once.</a:t>
            </a:r>
            <a:endParaRPr lang="en-US" sz="1150" dirty="0"/>
          </a:p>
        </p:txBody>
      </p:sp>
      <p:sp>
        <p:nvSpPr>
          <p:cNvPr id="24" name="Shape 20"/>
          <p:cNvSpPr/>
          <p:nvPr/>
        </p:nvSpPr>
        <p:spPr>
          <a:xfrm>
            <a:off x="8229600" y="1691640"/>
            <a:ext cx="3383280" cy="4526280"/>
          </a:xfrm>
          <a:prstGeom prst="roundRect">
            <a:avLst>
              <a:gd name="adj" fmla="val 3243"/>
            </a:avLst>
          </a:prstGeom>
          <a:solidFill>
            <a:srgbClr val="F6F7F8"/>
          </a:solidFill>
          <a:ln w="12700">
            <a:solidFill>
              <a:srgbClr val="F6F7F8"/>
            </a:solidFill>
            <a:prstDash val="solid"/>
          </a:ln>
        </p:spPr>
      </p:sp>
      <p:sp>
        <p:nvSpPr>
          <p:cNvPr id="25" name="Text 21"/>
          <p:cNvSpPr txBox="1"/>
          <p:nvPr/>
        </p:nvSpPr>
        <p:spPr>
          <a:xfrm>
            <a:off x="8458200" y="1874520"/>
            <a:ext cx="3017520" cy="320040"/>
          </a:xfrm>
          <a:prstGeom prst="rect">
            <a:avLst/>
          </a:prstGeom>
          <a:noFill/>
          <a:ln/>
        </p:spPr>
        <p:txBody>
          <a:bodyPr wrap="square" lIns="0" tIns="0" rIns="0" bIns="0" rtlCol="0" anchor="t"/>
          <a:lstStyle/>
          <a:p>
            <a:pPr indent="0" marL="0">
              <a:buNone/>
            </a:pPr>
            <a:r>
              <a:rPr lang="en-US" sz="1500" b="1" dirty="0">
                <a:solidFill>
                  <a:srgbClr val="0A0A0B"/>
                </a:solidFill>
              </a:rPr>
              <a:t>What the agent can do</a:t>
            </a:r>
            <a:endParaRPr lang="en-US" sz="1500" dirty="0"/>
          </a:p>
        </p:txBody>
      </p:sp>
      <p:pic>
        <p:nvPicPr>
          <p:cNvPr id="26" name="Image 1" descr="preencoded.png">    </p:cNvPr>
          <p:cNvPicPr>
            <a:picLocks noChangeAspect="1"/>
          </p:cNvPicPr>
          <p:nvPr/>
        </p:nvPicPr>
        <p:blipFill>
          <a:blip r:embed="rId2"/>
          <a:stretch>
            <a:fillRect/>
          </a:stretch>
        </p:blipFill>
        <p:spPr>
          <a:xfrm>
            <a:off x="8458200" y="2377440"/>
            <a:ext cx="237744" cy="237744"/>
          </a:xfrm>
          <a:prstGeom prst="rect">
            <a:avLst/>
          </a:prstGeom>
        </p:spPr>
      </p:pic>
      <p:sp>
        <p:nvSpPr>
          <p:cNvPr id="27" name="Text 22"/>
          <p:cNvSpPr txBox="1"/>
          <p:nvPr/>
        </p:nvSpPr>
        <p:spPr>
          <a:xfrm>
            <a:off x="8796528" y="2359152"/>
            <a:ext cx="2743200" cy="292608"/>
          </a:xfrm>
          <a:prstGeom prst="rect">
            <a:avLst/>
          </a:prstGeom>
          <a:noFill/>
          <a:ln/>
        </p:spPr>
        <p:txBody>
          <a:bodyPr wrap="square" lIns="0" tIns="0" rIns="0" bIns="0" rtlCol="0" anchor="t"/>
          <a:lstStyle/>
          <a:p>
            <a:pPr indent="0" marL="0">
              <a:buNone/>
            </a:pPr>
            <a:r>
              <a:rPr lang="en-US" sz="1250" dirty="0">
                <a:solidFill>
                  <a:srgbClr val="0A0A0B"/>
                </a:solidFill>
              </a:rPr>
              <a:t>Post an invite for its member</a:t>
            </a:r>
            <a:endParaRPr lang="en-US" sz="1250" dirty="0"/>
          </a:p>
        </p:txBody>
      </p:sp>
      <p:pic>
        <p:nvPicPr>
          <p:cNvPr id="28" name="Image 2" descr="preencoded.png">    </p:cNvPr>
          <p:cNvPicPr>
            <a:picLocks noChangeAspect="1"/>
          </p:cNvPicPr>
          <p:nvPr/>
        </p:nvPicPr>
        <p:blipFill>
          <a:blip r:embed="rId3"/>
          <a:stretch>
            <a:fillRect/>
          </a:stretch>
        </p:blipFill>
        <p:spPr>
          <a:xfrm>
            <a:off x="8458200" y="2834640"/>
            <a:ext cx="237744" cy="237744"/>
          </a:xfrm>
          <a:prstGeom prst="rect">
            <a:avLst/>
          </a:prstGeom>
        </p:spPr>
      </p:pic>
      <p:sp>
        <p:nvSpPr>
          <p:cNvPr id="29" name="Text 23"/>
          <p:cNvSpPr txBox="1"/>
          <p:nvPr/>
        </p:nvSpPr>
        <p:spPr>
          <a:xfrm>
            <a:off x="8796528" y="2816352"/>
            <a:ext cx="2743200" cy="292608"/>
          </a:xfrm>
          <a:prstGeom prst="rect">
            <a:avLst/>
          </a:prstGeom>
          <a:noFill/>
          <a:ln/>
        </p:spPr>
        <p:txBody>
          <a:bodyPr wrap="square" lIns="0" tIns="0" rIns="0" bIns="0" rtlCol="0" anchor="t"/>
          <a:lstStyle/>
          <a:p>
            <a:pPr indent="0" marL="0">
              <a:buNone/>
            </a:pPr>
            <a:r>
              <a:rPr lang="en-US" sz="1250" dirty="0">
                <a:solidFill>
                  <a:srgbClr val="0A0A0B"/>
                </a:solidFill>
              </a:rPr>
              <a:t>Join a game for its member</a:t>
            </a:r>
            <a:endParaRPr lang="en-US" sz="1250" dirty="0"/>
          </a:p>
        </p:txBody>
      </p:sp>
      <p:pic>
        <p:nvPicPr>
          <p:cNvPr id="30" name="Image 3" descr="preencoded.png">    </p:cNvPr>
          <p:cNvPicPr>
            <a:picLocks noChangeAspect="1"/>
          </p:cNvPicPr>
          <p:nvPr/>
        </p:nvPicPr>
        <p:blipFill>
          <a:blip r:embed="rId4"/>
          <a:stretch>
            <a:fillRect/>
          </a:stretch>
        </p:blipFill>
        <p:spPr>
          <a:xfrm>
            <a:off x="8458200" y="3291840"/>
            <a:ext cx="237744" cy="237744"/>
          </a:xfrm>
          <a:prstGeom prst="rect">
            <a:avLst/>
          </a:prstGeom>
        </p:spPr>
      </p:pic>
      <p:sp>
        <p:nvSpPr>
          <p:cNvPr id="31" name="Text 24"/>
          <p:cNvSpPr txBox="1"/>
          <p:nvPr/>
        </p:nvSpPr>
        <p:spPr>
          <a:xfrm>
            <a:off x="8796528" y="3273552"/>
            <a:ext cx="2743200" cy="292608"/>
          </a:xfrm>
          <a:prstGeom prst="rect">
            <a:avLst/>
          </a:prstGeom>
          <a:noFill/>
          <a:ln/>
        </p:spPr>
        <p:txBody>
          <a:bodyPr wrap="square" lIns="0" tIns="0" rIns="0" bIns="0" rtlCol="0" anchor="t"/>
          <a:lstStyle/>
          <a:p>
            <a:pPr indent="0" marL="0">
              <a:buNone/>
            </a:pPr>
            <a:r>
              <a:rPr lang="en-US" sz="1250" dirty="0">
                <a:solidFill>
                  <a:srgbClr val="0A0A0B"/>
                </a:solidFill>
              </a:rPr>
              <a:t>Comment, as "&lt;member&gt;'s agent"</a:t>
            </a:r>
            <a:endParaRPr lang="en-US" sz="1250" dirty="0"/>
          </a:p>
        </p:txBody>
      </p:sp>
      <p:pic>
        <p:nvPicPr>
          <p:cNvPr id="32" name="Image 4" descr="preencoded.png">    </p:cNvPr>
          <p:cNvPicPr>
            <a:picLocks noChangeAspect="1"/>
          </p:cNvPicPr>
          <p:nvPr/>
        </p:nvPicPr>
        <p:blipFill>
          <a:blip r:embed="rId5"/>
          <a:stretch>
            <a:fillRect/>
          </a:stretch>
        </p:blipFill>
        <p:spPr>
          <a:xfrm>
            <a:off x="8458200" y="3749040"/>
            <a:ext cx="237744" cy="237744"/>
          </a:xfrm>
          <a:prstGeom prst="rect">
            <a:avLst/>
          </a:prstGeom>
        </p:spPr>
      </p:pic>
      <p:sp>
        <p:nvSpPr>
          <p:cNvPr id="33" name="Text 25"/>
          <p:cNvSpPr txBox="1"/>
          <p:nvPr/>
        </p:nvSpPr>
        <p:spPr>
          <a:xfrm>
            <a:off x="8796528" y="3730752"/>
            <a:ext cx="2743200" cy="292608"/>
          </a:xfrm>
          <a:prstGeom prst="rect">
            <a:avLst/>
          </a:prstGeom>
          <a:noFill/>
          <a:ln/>
        </p:spPr>
        <p:txBody>
          <a:bodyPr wrap="square" lIns="0" tIns="0" rIns="0" bIns="0" rtlCol="0" anchor="t"/>
          <a:lstStyle/>
          <a:p>
            <a:pPr indent="0" marL="0">
              <a:buNone/>
            </a:pPr>
            <a:r>
              <a:rPr lang="en-US" sz="1250" dirty="0">
                <a:solidFill>
                  <a:srgbClr val="0A0A0B"/>
                </a:solidFill>
              </a:rPr>
              <a:t>Read the feed its member sees</a:t>
            </a:r>
            <a:endParaRPr lang="en-US" sz="1250" dirty="0"/>
          </a:p>
        </p:txBody>
      </p:sp>
      <p:sp>
        <p:nvSpPr>
          <p:cNvPr id="34" name="Text 26"/>
          <p:cNvSpPr txBox="1"/>
          <p:nvPr/>
        </p:nvSpPr>
        <p:spPr>
          <a:xfrm>
            <a:off x="8458200" y="4434840"/>
            <a:ext cx="2971800" cy="1463040"/>
          </a:xfrm>
          <a:prstGeom prst="rect">
            <a:avLst/>
          </a:prstGeom>
          <a:noFill/>
          <a:ln/>
        </p:spPr>
        <p:txBody>
          <a:bodyPr wrap="square" lIns="0" tIns="0" rIns="0" bIns="0" rtlCol="0" anchor="t"/>
          <a:lstStyle/>
          <a:p>
            <a:pPr indent="0" marL="0">
              <a:buNone/>
            </a:pPr>
            <a:r>
              <a:rPr lang="en-US" sz="1100" dirty="0">
                <a:solidFill>
                  <a:srgbClr val="55555C"/>
                </a:solidFill>
              </a:rPr>
              <a:t>Tested: a replayed request, a changed body, another path, an unknown key and a revoked key are all refused (test/members_unit.mjs).</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AI TRUST</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See exactly what your agent said to theirs</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Agent chats</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Then it asks you</a:t>
            </a:r>
            <a:endParaRPr lang="en-US" sz="1050" dirty="0"/>
          </a:p>
        </p:txBody>
      </p:sp>
      <p:pic>
        <p:nvPicPr>
          <p:cNvPr id="11" name="Image 2" descr="preencoded.png">    </p:cNvPr>
          <p:cNvPicPr>
            <a:picLocks noChangeAspect="1"/>
          </p:cNvPicPr>
          <p:nvPr/>
        </p:nvPicPr>
        <p:blipFill>
          <a:blip r:embed="rId3"/>
          <a:stretch>
            <a:fillRect/>
          </a:stretch>
        </p:blipFill>
        <p:spPr>
          <a:xfrm>
            <a:off x="5669280" y="1783080"/>
            <a:ext cx="292608" cy="292608"/>
          </a:xfrm>
          <a:prstGeom prst="rect">
            <a:avLst/>
          </a:prstGeom>
        </p:spPr>
      </p:pic>
      <p:sp>
        <p:nvSpPr>
          <p:cNvPr id="12" name="Text 6"/>
          <p:cNvSpPr txBox="1"/>
          <p:nvPr/>
        </p:nvSpPr>
        <p:spPr>
          <a:xfrm>
            <a:off x="6126480" y="1737360"/>
            <a:ext cx="5486400" cy="292608"/>
          </a:xfrm>
          <a:prstGeom prst="rect">
            <a:avLst/>
          </a:prstGeom>
          <a:noFill/>
          <a:ln/>
        </p:spPr>
        <p:txBody>
          <a:bodyPr wrap="square" lIns="0" tIns="0" rIns="0" bIns="0" rtlCol="0" anchor="t"/>
          <a:lstStyle/>
          <a:p>
            <a:pPr indent="0" marL="0">
              <a:buNone/>
            </a:pPr>
            <a:r>
              <a:rPr lang="en-US" sz="1500" b="1" dirty="0">
                <a:solidFill>
                  <a:srgbClr val="0A0A0B"/>
                </a:solidFill>
              </a:rPr>
              <a:t>Every message, word for word</a:t>
            </a:r>
            <a:endParaRPr lang="en-US" sz="1500" dirty="0"/>
          </a:p>
        </p:txBody>
      </p:sp>
      <p:sp>
        <p:nvSpPr>
          <p:cNvPr id="13" name="Text 7"/>
          <p:cNvSpPr txBox="1"/>
          <p:nvPr/>
        </p:nvSpPr>
        <p:spPr>
          <a:xfrm>
            <a:off x="6126480" y="2039112"/>
            <a:ext cx="5486400" cy="548640"/>
          </a:xfrm>
          <a:prstGeom prst="rect">
            <a:avLst/>
          </a:prstGeom>
          <a:noFill/>
          <a:ln/>
        </p:spPr>
        <p:txBody>
          <a:bodyPr wrap="square" lIns="0" tIns="0" rIns="0" bIns="0" rtlCol="0" anchor="t"/>
          <a:lstStyle/>
          <a:p>
            <a:pPr indent="0" marL="0">
              <a:buNone/>
            </a:pPr>
            <a:r>
              <a:rPr lang="en-US" sz="1200" dirty="0">
                <a:solidFill>
                  <a:srgbClr val="55555C"/>
                </a:solidFill>
              </a:rPr>
              <a:t>The messages the agents sent each other over A2A, round by round. Not a summary.</a:t>
            </a:r>
            <a:endParaRPr lang="en-US" sz="1200" dirty="0"/>
          </a:p>
        </p:txBody>
      </p:sp>
      <p:pic>
        <p:nvPicPr>
          <p:cNvPr id="14" name="Image 3" descr="preencoded.png">    </p:cNvPr>
          <p:cNvPicPr>
            <a:picLocks noChangeAspect="1"/>
          </p:cNvPicPr>
          <p:nvPr/>
        </p:nvPicPr>
        <p:blipFill>
          <a:blip r:embed="rId4"/>
          <a:stretch>
            <a:fillRect/>
          </a:stretch>
        </p:blipFill>
        <p:spPr>
          <a:xfrm>
            <a:off x="5669280" y="2670048"/>
            <a:ext cx="292608" cy="292608"/>
          </a:xfrm>
          <a:prstGeom prst="rect">
            <a:avLst/>
          </a:prstGeom>
        </p:spPr>
      </p:pic>
      <p:sp>
        <p:nvSpPr>
          <p:cNvPr id="15" name="Text 8"/>
          <p:cNvSpPr txBox="1"/>
          <p:nvPr/>
        </p:nvSpPr>
        <p:spPr>
          <a:xfrm>
            <a:off x="6126480" y="2624328"/>
            <a:ext cx="5486400" cy="292608"/>
          </a:xfrm>
          <a:prstGeom prst="rect">
            <a:avLst/>
          </a:prstGeom>
          <a:noFill/>
          <a:ln/>
        </p:spPr>
        <p:txBody>
          <a:bodyPr wrap="square" lIns="0" tIns="0" rIns="0" bIns="0" rtlCol="0" anchor="t"/>
          <a:lstStyle/>
          <a:p>
            <a:pPr indent="0" marL="0">
              <a:buNone/>
            </a:pPr>
            <a:r>
              <a:rPr lang="en-US" sz="1500" b="1" dirty="0">
                <a:solidFill>
                  <a:srgbClr val="0A0A0B"/>
                </a:solidFill>
              </a:rPr>
              <a:t>What each one meant</a:t>
            </a:r>
            <a:endParaRPr lang="en-US" sz="1500" dirty="0"/>
          </a:p>
        </p:txBody>
      </p:sp>
      <p:sp>
        <p:nvSpPr>
          <p:cNvPr id="16" name="Text 9"/>
          <p:cNvSpPr txBox="1"/>
          <p:nvPr/>
        </p:nvSpPr>
        <p:spPr>
          <a:xfrm>
            <a:off x="6126480" y="2926080"/>
            <a:ext cx="5486400" cy="548640"/>
          </a:xfrm>
          <a:prstGeom prst="rect">
            <a:avLst/>
          </a:prstGeom>
          <a:noFill/>
          <a:ln/>
        </p:spPr>
        <p:txBody>
          <a:bodyPr wrap="square" lIns="0" tIns="0" rIns="0" bIns="0" rtlCol="0" anchor="t"/>
          <a:lstStyle/>
          <a:p>
            <a:pPr indent="0" marL="0">
              <a:buNone/>
            </a:pPr>
            <a:r>
              <a:rPr lang="en-US" sz="1200" dirty="0">
                <a:solidFill>
                  <a:srgbClr val="55555C"/>
                </a:solidFill>
              </a:rPr>
              <a:t>Proposes, agrees, a counter-offer or declines, under every bubble.</a:t>
            </a:r>
            <a:endParaRPr lang="en-US" sz="1200" dirty="0"/>
          </a:p>
        </p:txBody>
      </p:sp>
      <p:pic>
        <p:nvPicPr>
          <p:cNvPr id="17" name="Image 4" descr="preencoded.png">    </p:cNvPr>
          <p:cNvPicPr>
            <a:picLocks noChangeAspect="1"/>
          </p:cNvPicPr>
          <p:nvPr/>
        </p:nvPicPr>
        <p:blipFill>
          <a:blip r:embed="rId5"/>
          <a:stretch>
            <a:fillRect/>
          </a:stretch>
        </p:blipFill>
        <p:spPr>
          <a:xfrm>
            <a:off x="5669280" y="3557016"/>
            <a:ext cx="292608" cy="292608"/>
          </a:xfrm>
          <a:prstGeom prst="rect">
            <a:avLst/>
          </a:prstGeom>
        </p:spPr>
      </p:pic>
      <p:sp>
        <p:nvSpPr>
          <p:cNvPr id="18" name="Text 10"/>
          <p:cNvSpPr txBox="1"/>
          <p:nvPr/>
        </p:nvSpPr>
        <p:spPr>
          <a:xfrm>
            <a:off x="6126480" y="3511296"/>
            <a:ext cx="5486400" cy="292608"/>
          </a:xfrm>
          <a:prstGeom prst="rect">
            <a:avLst/>
          </a:prstGeom>
          <a:noFill/>
          <a:ln/>
        </p:spPr>
        <p:txBody>
          <a:bodyPr wrap="square" lIns="0" tIns="0" rIns="0" bIns="0" rtlCol="0" anchor="t"/>
          <a:lstStyle/>
          <a:p>
            <a:pPr indent="0" marL="0">
              <a:buNone/>
            </a:pPr>
            <a:r>
              <a:rPr lang="en-US" sz="1500" b="1" dirty="0">
                <a:solidFill>
                  <a:srgbClr val="0A0A0B"/>
                </a:solidFill>
              </a:rPr>
              <a:t>Checked by code</a:t>
            </a:r>
            <a:endParaRPr lang="en-US" sz="1500" dirty="0"/>
          </a:p>
        </p:txBody>
      </p:sp>
      <p:sp>
        <p:nvSpPr>
          <p:cNvPr id="19" name="Text 11"/>
          <p:cNvSpPr txBox="1"/>
          <p:nvPr/>
        </p:nvSpPr>
        <p:spPr>
          <a:xfrm>
            <a:off x="6126480" y="3813048"/>
            <a:ext cx="5486400" cy="548640"/>
          </a:xfrm>
          <a:prstGeom prst="rect">
            <a:avLst/>
          </a:prstGeom>
          <a:noFill/>
          <a:ln/>
        </p:spPr>
        <p:txBody>
          <a:bodyPr wrap="square" lIns="0" tIns="0" rIns="0" bIns="0" rtlCol="0" anchor="t"/>
          <a:lstStyle/>
          <a:p>
            <a:pPr indent="0" marL="0">
              <a:buNone/>
            </a:pPr>
            <a:r>
              <a:rPr lang="en-US" sz="1200" dirty="0">
                <a:solidFill>
                  <a:srgbClr val="55555C"/>
                </a:solidFill>
              </a:rPr>
              <a:t>"Fits everyone" means code checked it against every calendar before your agent moved on.</a:t>
            </a:r>
            <a:endParaRPr lang="en-US" sz="1200" dirty="0"/>
          </a:p>
        </p:txBody>
      </p:sp>
      <p:pic>
        <p:nvPicPr>
          <p:cNvPr id="20" name="Image 5" descr="preencoded.png">    </p:cNvPr>
          <p:cNvPicPr>
            <a:picLocks noChangeAspect="1"/>
          </p:cNvPicPr>
          <p:nvPr/>
        </p:nvPicPr>
        <p:blipFill>
          <a:blip r:embed="rId6"/>
          <a:stretch>
            <a:fillRect/>
          </a:stretch>
        </p:blipFill>
        <p:spPr>
          <a:xfrm>
            <a:off x="5669280" y="4443984"/>
            <a:ext cx="292608" cy="292608"/>
          </a:xfrm>
          <a:prstGeom prst="rect">
            <a:avLst/>
          </a:prstGeom>
        </p:spPr>
      </p:pic>
      <p:sp>
        <p:nvSpPr>
          <p:cNvPr id="21" name="Text 12"/>
          <p:cNvSpPr txBox="1"/>
          <p:nvPr/>
        </p:nvSpPr>
        <p:spPr>
          <a:xfrm>
            <a:off x="6126480" y="4398264"/>
            <a:ext cx="5486400" cy="292608"/>
          </a:xfrm>
          <a:prstGeom prst="rect">
            <a:avLst/>
          </a:prstGeom>
          <a:noFill/>
          <a:ln/>
        </p:spPr>
        <p:txBody>
          <a:bodyPr wrap="square" lIns="0" tIns="0" rIns="0" bIns="0" rtlCol="0" anchor="t"/>
          <a:lstStyle/>
          <a:p>
            <a:pPr indent="0" marL="0">
              <a:buNone/>
            </a:pPr>
            <a:r>
              <a:rPr lang="en-US" sz="1500" b="1" dirty="0">
                <a:solidFill>
                  <a:srgbClr val="0A0A0B"/>
                </a:solidFill>
              </a:rPr>
              <a:t>Whose agent, verified</a:t>
            </a:r>
            <a:endParaRPr lang="en-US" sz="1500" dirty="0"/>
          </a:p>
        </p:txBody>
      </p:sp>
      <p:sp>
        <p:nvSpPr>
          <p:cNvPr id="22" name="Text 13"/>
          <p:cNvSpPr txBox="1"/>
          <p:nvPr/>
        </p:nvSpPr>
        <p:spPr>
          <a:xfrm>
            <a:off x="6126480" y="4700016"/>
            <a:ext cx="5486400" cy="548640"/>
          </a:xfrm>
          <a:prstGeom prst="rect">
            <a:avLst/>
          </a:prstGeom>
          <a:noFill/>
          <a:ln/>
        </p:spPr>
        <p:txBody>
          <a:bodyPr wrap="square" lIns="0" tIns="0" rIns="0" bIns="0" rtlCol="0" anchor="t"/>
          <a:lstStyle/>
          <a:p>
            <a:pPr indent="0" marL="0">
              <a:buNone/>
            </a:pPr>
            <a:r>
              <a:rPr lang="en-US" sz="1200" dirty="0">
                <a:solidFill>
                  <a:srgbClr val="55555C"/>
                </a:solidFill>
              </a:rPr>
              <a:t>Each member's Agent Card is signed and checked before your agent talks to it.</a:t>
            </a:r>
            <a:endParaRPr lang="en-US" sz="1200" dirty="0"/>
          </a:p>
        </p:txBody>
      </p:sp>
      <p:pic>
        <p:nvPicPr>
          <p:cNvPr id="23" name="Image 6" descr="preencoded.png">    </p:cNvPr>
          <p:cNvPicPr>
            <a:picLocks noChangeAspect="1"/>
          </p:cNvPicPr>
          <p:nvPr/>
        </p:nvPicPr>
        <p:blipFill>
          <a:blip r:embed="rId7"/>
          <a:stretch>
            <a:fillRect/>
          </a:stretch>
        </p:blipFill>
        <p:spPr>
          <a:xfrm>
            <a:off x="5669280" y="5330952"/>
            <a:ext cx="292608" cy="292608"/>
          </a:xfrm>
          <a:prstGeom prst="rect">
            <a:avLst/>
          </a:prstGeom>
        </p:spPr>
      </p:pic>
      <p:sp>
        <p:nvSpPr>
          <p:cNvPr id="24" name="Text 14"/>
          <p:cNvSpPr txBox="1"/>
          <p:nvPr/>
        </p:nvSpPr>
        <p:spPr>
          <a:xfrm>
            <a:off x="6126480" y="5285232"/>
            <a:ext cx="5486400" cy="292608"/>
          </a:xfrm>
          <a:prstGeom prst="rect">
            <a:avLst/>
          </a:prstGeom>
          <a:noFill/>
          <a:ln/>
        </p:spPr>
        <p:txBody>
          <a:bodyPr wrap="square" lIns="0" tIns="0" rIns="0" bIns="0" rtlCol="0" anchor="t"/>
          <a:lstStyle/>
          <a:p>
            <a:pPr indent="0" marL="0">
              <a:buNone/>
            </a:pPr>
            <a:r>
              <a:rPr lang="en-US" sz="1500" b="1" dirty="0">
                <a:solidFill>
                  <a:srgbClr val="0A0A0B"/>
                </a:solidFill>
              </a:rPr>
              <a:t>You decide</a:t>
            </a:r>
            <a:endParaRPr lang="en-US" sz="1500" dirty="0"/>
          </a:p>
        </p:txBody>
      </p:sp>
      <p:sp>
        <p:nvSpPr>
          <p:cNvPr id="25" name="Text 15"/>
          <p:cNvSpPr txBox="1"/>
          <p:nvPr/>
        </p:nvSpPr>
        <p:spPr>
          <a:xfrm>
            <a:off x="6126480" y="5586984"/>
            <a:ext cx="5486400" cy="548640"/>
          </a:xfrm>
          <a:prstGeom prst="rect">
            <a:avLst/>
          </a:prstGeom>
          <a:noFill/>
          <a:ln/>
        </p:spPr>
        <p:txBody>
          <a:bodyPr wrap="square" lIns="0" tIns="0" rIns="0" bIns="0" rtlCol="0" anchor="t"/>
          <a:lstStyle/>
          <a:p>
            <a:pPr indent="0" marL="0">
              <a:buNone/>
            </a:pPr>
            <a:r>
              <a:rPr lang="en-US" sz="1200" dirty="0">
                <a:solidFill>
                  <a:srgbClr val="55555C"/>
                </a:solidFill>
              </a:rPr>
              <a:t>Agreed by every agent, then it waits for your yes.</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HIGHLIGHTS · FOUR META VISION MODELS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phone clip becomes your moment, on my GPU</a:t>
            </a:r>
            <a:endParaRPr lang="en-US" sz="3200" dirty="0"/>
          </a:p>
        </p:txBody>
      </p:sp>
      <p:sp>
        <p:nvSpPr>
          <p:cNvPr id="5" name="Shape 2"/>
          <p:cNvSpPr/>
          <p:nvPr/>
        </p:nvSpPr>
        <p:spPr>
          <a:xfrm>
            <a:off x="548640" y="1691640"/>
            <a:ext cx="2011680" cy="1143000"/>
          </a:xfrm>
          <a:prstGeom prst="roundRect">
            <a:avLst>
              <a:gd name="adj" fmla="val 9600"/>
            </a:avLst>
          </a:prstGeom>
          <a:solidFill>
            <a:srgbClr val="E8F1FD"/>
          </a:solidFill>
          <a:ln w="12700">
            <a:solidFill>
              <a:srgbClr val="E8F1FD"/>
            </a:solidFill>
            <a:prstDash val="solid"/>
          </a:ln>
        </p:spPr>
      </p:sp>
      <p:sp>
        <p:nvSpPr>
          <p:cNvPr id="6" name="Text 3"/>
          <p:cNvSpPr txBox="1"/>
          <p:nvPr/>
        </p:nvSpPr>
        <p:spPr>
          <a:xfrm>
            <a:off x="71323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DETR</a:t>
            </a:r>
            <a:endParaRPr lang="en-US" sz="1500" dirty="0"/>
          </a:p>
        </p:txBody>
      </p:sp>
      <p:sp>
        <p:nvSpPr>
          <p:cNvPr id="7" name="Text 4"/>
          <p:cNvSpPr txBox="1"/>
          <p:nvPr/>
        </p:nvSpPr>
        <p:spPr>
          <a:xfrm>
            <a:off x="71323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finds the players</a:t>
            </a:r>
            <a:endParaRPr lang="en-US" sz="1150" dirty="0"/>
          </a:p>
        </p:txBody>
      </p:sp>
      <p:sp>
        <p:nvSpPr>
          <p:cNvPr id="8" name="Shape 5"/>
          <p:cNvSpPr/>
          <p:nvPr/>
        </p:nvSpPr>
        <p:spPr>
          <a:xfrm>
            <a:off x="2578608" y="2258568"/>
            <a:ext cx="192024" cy="0"/>
          </a:xfrm>
          <a:prstGeom prst="line">
            <a:avLst/>
          </a:prstGeom>
          <a:noFill/>
          <a:ln w="22225">
            <a:solidFill>
              <a:srgbClr val="8A8A92"/>
            </a:solidFill>
            <a:prstDash val="solid"/>
            <a:tailEnd type="triangle"/>
          </a:ln>
        </p:spPr>
      </p:sp>
      <p:sp>
        <p:nvSpPr>
          <p:cNvPr id="9" name="Shape 6"/>
          <p:cNvSpPr/>
          <p:nvPr/>
        </p:nvSpPr>
        <p:spPr>
          <a:xfrm>
            <a:off x="2788920" y="1691640"/>
            <a:ext cx="2011680" cy="1143000"/>
          </a:xfrm>
          <a:prstGeom prst="roundRect">
            <a:avLst>
              <a:gd name="adj" fmla="val 9600"/>
            </a:avLst>
          </a:prstGeom>
          <a:solidFill>
            <a:srgbClr val="E8F1FD"/>
          </a:solidFill>
          <a:ln w="12700">
            <a:solidFill>
              <a:srgbClr val="E8F1FD"/>
            </a:solidFill>
            <a:prstDash val="solid"/>
          </a:ln>
        </p:spPr>
      </p:sp>
      <p:sp>
        <p:nvSpPr>
          <p:cNvPr id="10" name="Text 7"/>
          <p:cNvSpPr txBox="1"/>
          <p:nvPr/>
        </p:nvSpPr>
        <p:spPr>
          <a:xfrm>
            <a:off x="295351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Sapiens2</a:t>
            </a:r>
            <a:endParaRPr lang="en-US" sz="1500" dirty="0"/>
          </a:p>
        </p:txBody>
      </p:sp>
      <p:sp>
        <p:nvSpPr>
          <p:cNvPr id="11" name="Text 8"/>
          <p:cNvSpPr txBox="1"/>
          <p:nvPr/>
        </p:nvSpPr>
        <p:spPr>
          <a:xfrm>
            <a:off x="295351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reads the pose, finds the fastest swing</a:t>
            </a:r>
            <a:endParaRPr lang="en-US" sz="1150" dirty="0"/>
          </a:p>
        </p:txBody>
      </p:sp>
      <p:sp>
        <p:nvSpPr>
          <p:cNvPr id="12" name="Shape 9"/>
          <p:cNvSpPr/>
          <p:nvPr/>
        </p:nvSpPr>
        <p:spPr>
          <a:xfrm>
            <a:off x="4818888" y="2258568"/>
            <a:ext cx="192024" cy="0"/>
          </a:xfrm>
          <a:prstGeom prst="line">
            <a:avLst/>
          </a:prstGeom>
          <a:noFill/>
          <a:ln w="22225">
            <a:solidFill>
              <a:srgbClr val="8A8A92"/>
            </a:solidFill>
            <a:prstDash val="solid"/>
            <a:tailEnd type="triangle"/>
          </a:ln>
        </p:spPr>
      </p:sp>
      <p:sp>
        <p:nvSpPr>
          <p:cNvPr id="13" name="Shape 10"/>
          <p:cNvSpPr/>
          <p:nvPr/>
        </p:nvSpPr>
        <p:spPr>
          <a:xfrm>
            <a:off x="5029200" y="1691640"/>
            <a:ext cx="2011680" cy="1143000"/>
          </a:xfrm>
          <a:prstGeom prst="roundRect">
            <a:avLst>
              <a:gd name="adj" fmla="val 9600"/>
            </a:avLst>
          </a:prstGeom>
          <a:solidFill>
            <a:srgbClr val="E8F1FD"/>
          </a:solidFill>
          <a:ln w="12700">
            <a:solidFill>
              <a:srgbClr val="E8F1FD"/>
            </a:solidFill>
            <a:prstDash val="solid"/>
          </a:ln>
        </p:spPr>
      </p:sp>
      <p:sp>
        <p:nvSpPr>
          <p:cNvPr id="14" name="Text 11"/>
          <p:cNvSpPr txBox="1"/>
          <p:nvPr/>
        </p:nvSpPr>
        <p:spPr>
          <a:xfrm>
            <a:off x="519379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SAM 2.1</a:t>
            </a:r>
            <a:endParaRPr lang="en-US" sz="1500" dirty="0"/>
          </a:p>
        </p:txBody>
      </p:sp>
      <p:sp>
        <p:nvSpPr>
          <p:cNvPr id="15" name="Text 12"/>
          <p:cNvSpPr txBox="1"/>
          <p:nvPr/>
        </p:nvSpPr>
        <p:spPr>
          <a:xfrm>
            <a:off x="519379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cuts you out</a:t>
            </a:r>
            <a:endParaRPr lang="en-US" sz="1150" dirty="0"/>
          </a:p>
        </p:txBody>
      </p:sp>
      <p:sp>
        <p:nvSpPr>
          <p:cNvPr id="16" name="Shape 13"/>
          <p:cNvSpPr/>
          <p:nvPr/>
        </p:nvSpPr>
        <p:spPr>
          <a:xfrm>
            <a:off x="7059168" y="2258568"/>
            <a:ext cx="192024" cy="0"/>
          </a:xfrm>
          <a:prstGeom prst="line">
            <a:avLst/>
          </a:prstGeom>
          <a:noFill/>
          <a:ln w="22225">
            <a:solidFill>
              <a:srgbClr val="8A8A92"/>
            </a:solidFill>
            <a:prstDash val="solid"/>
            <a:tailEnd type="triangle"/>
          </a:ln>
        </p:spPr>
      </p:sp>
      <p:sp>
        <p:nvSpPr>
          <p:cNvPr id="17" name="Shape 14"/>
          <p:cNvSpPr/>
          <p:nvPr/>
        </p:nvSpPr>
        <p:spPr>
          <a:xfrm>
            <a:off x="7269480" y="1691640"/>
            <a:ext cx="2011680" cy="1143000"/>
          </a:xfrm>
          <a:prstGeom prst="roundRect">
            <a:avLst>
              <a:gd name="adj" fmla="val 9600"/>
            </a:avLst>
          </a:prstGeom>
          <a:solidFill>
            <a:srgbClr val="E8F1FD"/>
          </a:solidFill>
          <a:ln w="12700">
            <a:solidFill>
              <a:srgbClr val="E8F1FD"/>
            </a:solidFill>
            <a:prstDash val="solid"/>
          </a:ln>
        </p:spPr>
      </p:sp>
      <p:sp>
        <p:nvSpPr>
          <p:cNvPr id="18" name="Text 15"/>
          <p:cNvSpPr txBox="1"/>
          <p:nvPr/>
        </p:nvSpPr>
        <p:spPr>
          <a:xfrm>
            <a:off x="743407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MapAnything</a:t>
            </a:r>
            <a:endParaRPr lang="en-US" sz="1500" dirty="0"/>
          </a:p>
        </p:txBody>
      </p:sp>
      <p:sp>
        <p:nvSpPr>
          <p:cNvPr id="19" name="Text 16"/>
          <p:cNvSpPr txBox="1"/>
          <p:nvPr/>
        </p:nvSpPr>
        <p:spPr>
          <a:xfrm>
            <a:off x="743407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depth and camera: time stops, the camera turns 20°</a:t>
            </a:r>
            <a:endParaRPr lang="en-US" sz="1150" dirty="0"/>
          </a:p>
        </p:txBody>
      </p:sp>
      <p:sp>
        <p:nvSpPr>
          <p:cNvPr id="20" name="Shape 17"/>
          <p:cNvSpPr/>
          <p:nvPr/>
        </p:nvSpPr>
        <p:spPr>
          <a:xfrm>
            <a:off x="9299448" y="2258568"/>
            <a:ext cx="192024" cy="0"/>
          </a:xfrm>
          <a:prstGeom prst="line">
            <a:avLst/>
          </a:prstGeom>
          <a:noFill/>
          <a:ln w="22225">
            <a:solidFill>
              <a:srgbClr val="8A8A92"/>
            </a:solidFill>
            <a:prstDash val="solid"/>
            <a:tailEnd type="triangle"/>
          </a:ln>
        </p:spPr>
      </p:sp>
      <p:sp>
        <p:nvSpPr>
          <p:cNvPr id="21" name="Shape 18"/>
          <p:cNvSpPr/>
          <p:nvPr/>
        </p:nvSpPr>
        <p:spPr>
          <a:xfrm>
            <a:off x="9509760" y="1691640"/>
            <a:ext cx="2011680" cy="1143000"/>
          </a:xfrm>
          <a:prstGeom prst="roundRect">
            <a:avLst>
              <a:gd name="adj" fmla="val 9600"/>
            </a:avLst>
          </a:prstGeom>
          <a:solidFill>
            <a:srgbClr val="E9F3EC"/>
          </a:solidFill>
          <a:ln w="12700">
            <a:solidFill>
              <a:srgbClr val="E9F3EC"/>
            </a:solidFill>
            <a:prstDash val="solid"/>
          </a:ln>
        </p:spPr>
      </p:sp>
      <p:sp>
        <p:nvSpPr>
          <p:cNvPr id="22" name="Text 19"/>
          <p:cNvSpPr txBox="1"/>
          <p:nvPr/>
        </p:nvSpPr>
        <p:spPr>
          <a:xfrm>
            <a:off x="9674352" y="1810512"/>
            <a:ext cx="1737360" cy="320040"/>
          </a:xfrm>
          <a:prstGeom prst="rect">
            <a:avLst/>
          </a:prstGeom>
          <a:noFill/>
          <a:ln/>
        </p:spPr>
        <p:txBody>
          <a:bodyPr wrap="square" lIns="0" tIns="0" rIns="0" bIns="0" rtlCol="0" anchor="t"/>
          <a:lstStyle/>
          <a:p>
            <a:pPr indent="0" marL="0">
              <a:buNone/>
            </a:pPr>
            <a:r>
              <a:rPr lang="en-US" sz="1500" b="1" dirty="0">
                <a:solidFill>
                  <a:srgbClr val="0A7F44"/>
                </a:solidFill>
              </a:rPr>
              <a:t>Muse Glimmer</a:t>
            </a:r>
            <a:endParaRPr lang="en-US" sz="1500" dirty="0"/>
          </a:p>
        </p:txBody>
      </p:sp>
      <p:sp>
        <p:nvSpPr>
          <p:cNvPr id="23" name="Text 20"/>
          <p:cNvSpPr txBox="1"/>
          <p:nvPr/>
        </p:nvSpPr>
        <p:spPr>
          <a:xfrm>
            <a:off x="967435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writes the caption, checked by code</a:t>
            </a:r>
            <a:endParaRPr lang="en-US" sz="115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3108960"/>
            <a:ext cx="5394960" cy="3035808"/>
          </a:xfrm>
          <a:prstGeom prst="rect">
            <a:avLst/>
          </a:prstGeom>
        </p:spPr>
      </p:pic>
      <p:sp>
        <p:nvSpPr>
          <p:cNvPr id="25" name="Text 21"/>
          <p:cNvSpPr txBox="1"/>
          <p:nvPr/>
        </p:nvSpPr>
        <p:spPr>
          <a:xfrm>
            <a:off x="548640" y="6181344"/>
            <a:ext cx="5394960" cy="228600"/>
          </a:xfrm>
          <a:prstGeom prst="rect">
            <a:avLst/>
          </a:prstGeom>
          <a:noFill/>
          <a:ln/>
        </p:spPr>
        <p:txBody>
          <a:bodyPr wrap="square" lIns="0" tIns="0" rIns="0" bIns="0" rtlCol="0" anchor="t"/>
          <a:lstStyle/>
          <a:p>
            <a:pPr indent="0" marL="0">
              <a:buNone/>
            </a:pPr>
            <a:r>
              <a:rPr lang="en-US" sz="1000" dirty="0">
                <a:solidFill>
                  <a:srgbClr val="55555C"/>
                </a:solidFill>
              </a:rPr>
              <a:t>The smash on a loop: the camera swings round it · CC BY 3.0, Badminton klub Ljubljana</a:t>
            </a:r>
            <a:endParaRPr lang="en-US" sz="1000" dirty="0"/>
          </a:p>
        </p:txBody>
      </p:sp>
      <p:pic>
        <p:nvPicPr>
          <p:cNvPr id="26" name="Image 0" descr="preencoded.png">    </p:cNvPr>
          <p:cNvPicPr>
            <a:picLocks noChangeAspect="1"/>
          </p:cNvPicPr>
          <p:nvPr/>
        </p:nvPicPr>
        <p:blipFill>
          <a:blip r:embed="rId4"/>
          <a:stretch>
            <a:fillRect/>
          </a:stretch>
        </p:blipFill>
        <p:spPr>
          <a:xfrm>
            <a:off x="6172200" y="3108960"/>
            <a:ext cx="5440680" cy="1527048"/>
          </a:xfrm>
          <a:prstGeom prst="rect">
            <a:avLst/>
          </a:prstGeom>
        </p:spPr>
      </p:pic>
      <p:sp>
        <p:nvSpPr>
          <p:cNvPr id="27" name="Text 22"/>
          <p:cNvSpPr txBox="1"/>
          <p:nvPr/>
        </p:nvSpPr>
        <p:spPr>
          <a:xfrm>
            <a:off x="6172200" y="4663440"/>
            <a:ext cx="5440680" cy="228600"/>
          </a:xfrm>
          <a:prstGeom prst="rect">
            <a:avLst/>
          </a:prstGeom>
          <a:noFill/>
          <a:ln/>
        </p:spPr>
        <p:txBody>
          <a:bodyPr wrap="square" lIns="0" tIns="0" rIns="0" bIns="0" rtlCol="0" anchor="t"/>
          <a:lstStyle/>
          <a:p>
            <a:pPr indent="0" marL="0">
              <a:buNone/>
            </a:pPr>
            <a:r>
              <a:rPr lang="en-US" sz="1000" dirty="0">
                <a:solidFill>
                  <a:srgbClr val="55555C"/>
                </a:solidFill>
              </a:rPr>
              <a:t>SAM 2.1 cuts her out (magenta); MapAnything reads the depth (near warm, far cool)</a:t>
            </a:r>
            <a:endParaRPr lang="en-US" sz="1000" dirty="0"/>
          </a:p>
        </p:txBody>
      </p:sp>
      <p:sp>
        <p:nvSpPr>
          <p:cNvPr id="28" name="Shape 23"/>
          <p:cNvSpPr/>
          <p:nvPr/>
        </p:nvSpPr>
        <p:spPr>
          <a:xfrm>
            <a:off x="6172200" y="4937760"/>
            <a:ext cx="1600200" cy="1371600"/>
          </a:xfrm>
          <a:prstGeom prst="roundRect">
            <a:avLst>
              <a:gd name="adj" fmla="val 8000"/>
            </a:avLst>
          </a:prstGeom>
          <a:solidFill>
            <a:srgbClr val="0A0A0B"/>
          </a:solidFill>
          <a:ln w="12700">
            <a:solidFill>
              <a:srgbClr val="0A0A0B"/>
            </a:solidFill>
            <a:prstDash val="solid"/>
          </a:ln>
        </p:spPr>
      </p:sp>
      <p:sp>
        <p:nvSpPr>
          <p:cNvPr id="29" name="Shape 24"/>
          <p:cNvSpPr/>
          <p:nvPr/>
        </p:nvSpPr>
        <p:spPr>
          <a:xfrm>
            <a:off x="7211375" y="5794028"/>
            <a:ext cx="54864" cy="54864"/>
          </a:xfrm>
          <a:prstGeom prst="ellipse">
            <a:avLst/>
          </a:prstGeom>
          <a:solidFill>
            <a:srgbClr val="5FD39A"/>
          </a:solidFill>
          <a:ln w="12700">
            <a:solidFill>
              <a:srgbClr val="5FD39A"/>
            </a:solidFill>
            <a:prstDash val="solid"/>
          </a:ln>
        </p:spPr>
      </p:sp>
      <p:sp>
        <p:nvSpPr>
          <p:cNvPr id="30" name="Shape 25"/>
          <p:cNvSpPr/>
          <p:nvPr/>
        </p:nvSpPr>
        <p:spPr>
          <a:xfrm>
            <a:off x="7180975" y="5811580"/>
            <a:ext cx="54864" cy="54864"/>
          </a:xfrm>
          <a:prstGeom prst="ellipse">
            <a:avLst/>
          </a:prstGeom>
          <a:solidFill>
            <a:srgbClr val="5FD39A"/>
          </a:solidFill>
          <a:ln w="12700">
            <a:solidFill>
              <a:srgbClr val="5FD39A"/>
            </a:solidFill>
            <a:prstDash val="solid"/>
          </a:ln>
        </p:spPr>
      </p:sp>
      <p:sp>
        <p:nvSpPr>
          <p:cNvPr id="31" name="Shape 26"/>
          <p:cNvSpPr/>
          <p:nvPr/>
        </p:nvSpPr>
        <p:spPr>
          <a:xfrm>
            <a:off x="7149424" y="5826968"/>
            <a:ext cx="54864" cy="54864"/>
          </a:xfrm>
          <a:prstGeom prst="ellipse">
            <a:avLst/>
          </a:prstGeom>
          <a:solidFill>
            <a:srgbClr val="5FD39A"/>
          </a:solidFill>
          <a:ln w="12700">
            <a:solidFill>
              <a:srgbClr val="5FD39A"/>
            </a:solidFill>
            <a:prstDash val="solid"/>
          </a:ln>
        </p:spPr>
      </p:sp>
      <p:sp>
        <p:nvSpPr>
          <p:cNvPr id="32" name="Shape 27"/>
          <p:cNvSpPr/>
          <p:nvPr/>
        </p:nvSpPr>
        <p:spPr>
          <a:xfrm>
            <a:off x="7116877" y="5840118"/>
            <a:ext cx="54864" cy="54864"/>
          </a:xfrm>
          <a:prstGeom prst="ellipse">
            <a:avLst/>
          </a:prstGeom>
          <a:solidFill>
            <a:srgbClr val="5FD39A"/>
          </a:solidFill>
          <a:ln w="12700">
            <a:solidFill>
              <a:srgbClr val="5FD39A"/>
            </a:solidFill>
            <a:prstDash val="solid"/>
          </a:ln>
        </p:spPr>
      </p:sp>
      <p:sp>
        <p:nvSpPr>
          <p:cNvPr id="33" name="Shape 28"/>
          <p:cNvSpPr/>
          <p:nvPr/>
        </p:nvSpPr>
        <p:spPr>
          <a:xfrm>
            <a:off x="7083492" y="5850966"/>
            <a:ext cx="54864" cy="54864"/>
          </a:xfrm>
          <a:prstGeom prst="ellipse">
            <a:avLst/>
          </a:prstGeom>
          <a:solidFill>
            <a:srgbClr val="5FD39A"/>
          </a:solidFill>
          <a:ln w="12700">
            <a:solidFill>
              <a:srgbClr val="5FD39A"/>
            </a:solidFill>
            <a:prstDash val="solid"/>
          </a:ln>
        </p:spPr>
      </p:sp>
      <p:sp>
        <p:nvSpPr>
          <p:cNvPr id="34" name="Shape 29"/>
          <p:cNvSpPr/>
          <p:nvPr/>
        </p:nvSpPr>
        <p:spPr>
          <a:xfrm>
            <a:off x="7049431" y="5859458"/>
            <a:ext cx="54864" cy="54864"/>
          </a:xfrm>
          <a:prstGeom prst="ellipse">
            <a:avLst/>
          </a:prstGeom>
          <a:solidFill>
            <a:srgbClr val="5FD39A"/>
          </a:solidFill>
          <a:ln w="12700">
            <a:solidFill>
              <a:srgbClr val="5FD39A"/>
            </a:solidFill>
            <a:prstDash val="solid"/>
          </a:ln>
        </p:spPr>
      </p:sp>
      <p:sp>
        <p:nvSpPr>
          <p:cNvPr id="35" name="Shape 30"/>
          <p:cNvSpPr/>
          <p:nvPr/>
        </p:nvSpPr>
        <p:spPr>
          <a:xfrm>
            <a:off x="7014861" y="5865554"/>
            <a:ext cx="54864" cy="54864"/>
          </a:xfrm>
          <a:prstGeom prst="ellipse">
            <a:avLst/>
          </a:prstGeom>
          <a:solidFill>
            <a:srgbClr val="5FD39A"/>
          </a:solidFill>
          <a:ln w="12700">
            <a:solidFill>
              <a:srgbClr val="5FD39A"/>
            </a:solidFill>
            <a:prstDash val="solid"/>
          </a:ln>
        </p:spPr>
      </p:sp>
      <p:sp>
        <p:nvSpPr>
          <p:cNvPr id="36" name="Shape 31"/>
          <p:cNvSpPr/>
          <p:nvPr/>
        </p:nvSpPr>
        <p:spPr>
          <a:xfrm>
            <a:off x="6979950" y="5869223"/>
            <a:ext cx="54864" cy="54864"/>
          </a:xfrm>
          <a:prstGeom prst="ellipse">
            <a:avLst/>
          </a:prstGeom>
          <a:solidFill>
            <a:srgbClr val="5FD39A"/>
          </a:solidFill>
          <a:ln w="12700">
            <a:solidFill>
              <a:srgbClr val="5FD39A"/>
            </a:solidFill>
            <a:prstDash val="solid"/>
          </a:ln>
        </p:spPr>
      </p:sp>
      <p:sp>
        <p:nvSpPr>
          <p:cNvPr id="37" name="Shape 32"/>
          <p:cNvSpPr/>
          <p:nvPr/>
        </p:nvSpPr>
        <p:spPr>
          <a:xfrm>
            <a:off x="6944868" y="5870448"/>
            <a:ext cx="54864" cy="54864"/>
          </a:xfrm>
          <a:prstGeom prst="ellipse">
            <a:avLst/>
          </a:prstGeom>
          <a:solidFill>
            <a:srgbClr val="5FD39A"/>
          </a:solidFill>
          <a:ln w="12700">
            <a:solidFill>
              <a:srgbClr val="5FD39A"/>
            </a:solidFill>
            <a:prstDash val="solid"/>
          </a:ln>
        </p:spPr>
      </p:sp>
      <p:sp>
        <p:nvSpPr>
          <p:cNvPr id="38" name="Shape 33"/>
          <p:cNvSpPr/>
          <p:nvPr/>
        </p:nvSpPr>
        <p:spPr>
          <a:xfrm>
            <a:off x="6909786" y="5869223"/>
            <a:ext cx="54864" cy="54864"/>
          </a:xfrm>
          <a:prstGeom prst="ellipse">
            <a:avLst/>
          </a:prstGeom>
          <a:solidFill>
            <a:srgbClr val="5FD39A"/>
          </a:solidFill>
          <a:ln w="12700">
            <a:solidFill>
              <a:srgbClr val="5FD39A"/>
            </a:solidFill>
            <a:prstDash val="solid"/>
          </a:ln>
        </p:spPr>
      </p:sp>
      <p:sp>
        <p:nvSpPr>
          <p:cNvPr id="39" name="Shape 34"/>
          <p:cNvSpPr/>
          <p:nvPr/>
        </p:nvSpPr>
        <p:spPr>
          <a:xfrm>
            <a:off x="6874875" y="5865554"/>
            <a:ext cx="54864" cy="54864"/>
          </a:xfrm>
          <a:prstGeom prst="ellipse">
            <a:avLst/>
          </a:prstGeom>
          <a:solidFill>
            <a:srgbClr val="5FD39A"/>
          </a:solidFill>
          <a:ln w="12700">
            <a:solidFill>
              <a:srgbClr val="5FD39A"/>
            </a:solidFill>
            <a:prstDash val="solid"/>
          </a:ln>
        </p:spPr>
      </p:sp>
      <p:sp>
        <p:nvSpPr>
          <p:cNvPr id="40" name="Shape 35"/>
          <p:cNvSpPr/>
          <p:nvPr/>
        </p:nvSpPr>
        <p:spPr>
          <a:xfrm>
            <a:off x="6840305" y="5859458"/>
            <a:ext cx="54864" cy="54864"/>
          </a:xfrm>
          <a:prstGeom prst="ellipse">
            <a:avLst/>
          </a:prstGeom>
          <a:solidFill>
            <a:srgbClr val="5FD39A"/>
          </a:solidFill>
          <a:ln w="12700">
            <a:solidFill>
              <a:srgbClr val="5FD39A"/>
            </a:solidFill>
            <a:prstDash val="solid"/>
          </a:ln>
        </p:spPr>
      </p:sp>
      <p:sp>
        <p:nvSpPr>
          <p:cNvPr id="41" name="Shape 36"/>
          <p:cNvSpPr/>
          <p:nvPr/>
        </p:nvSpPr>
        <p:spPr>
          <a:xfrm>
            <a:off x="6806244" y="5850966"/>
            <a:ext cx="54864" cy="54864"/>
          </a:xfrm>
          <a:prstGeom prst="ellipse">
            <a:avLst/>
          </a:prstGeom>
          <a:solidFill>
            <a:srgbClr val="5FD39A"/>
          </a:solidFill>
          <a:ln w="12700">
            <a:solidFill>
              <a:srgbClr val="5FD39A"/>
            </a:solidFill>
            <a:prstDash val="solid"/>
          </a:ln>
        </p:spPr>
      </p:sp>
      <p:sp>
        <p:nvSpPr>
          <p:cNvPr id="42" name="Shape 37"/>
          <p:cNvSpPr/>
          <p:nvPr/>
        </p:nvSpPr>
        <p:spPr>
          <a:xfrm>
            <a:off x="6772859" y="5840118"/>
            <a:ext cx="54864" cy="54864"/>
          </a:xfrm>
          <a:prstGeom prst="ellipse">
            <a:avLst/>
          </a:prstGeom>
          <a:solidFill>
            <a:srgbClr val="5FD39A"/>
          </a:solidFill>
          <a:ln w="12700">
            <a:solidFill>
              <a:srgbClr val="5FD39A"/>
            </a:solidFill>
            <a:prstDash val="solid"/>
          </a:ln>
        </p:spPr>
      </p:sp>
      <p:sp>
        <p:nvSpPr>
          <p:cNvPr id="43" name="Shape 38"/>
          <p:cNvSpPr/>
          <p:nvPr/>
        </p:nvSpPr>
        <p:spPr>
          <a:xfrm>
            <a:off x="6740312" y="5826968"/>
            <a:ext cx="54864" cy="54864"/>
          </a:xfrm>
          <a:prstGeom prst="ellipse">
            <a:avLst/>
          </a:prstGeom>
          <a:solidFill>
            <a:srgbClr val="5FD39A"/>
          </a:solidFill>
          <a:ln w="12700">
            <a:solidFill>
              <a:srgbClr val="5FD39A"/>
            </a:solidFill>
            <a:prstDash val="solid"/>
          </a:ln>
        </p:spPr>
      </p:sp>
      <p:sp>
        <p:nvSpPr>
          <p:cNvPr id="44" name="Shape 39"/>
          <p:cNvSpPr/>
          <p:nvPr/>
        </p:nvSpPr>
        <p:spPr>
          <a:xfrm>
            <a:off x="6708761" y="5811580"/>
            <a:ext cx="54864" cy="54864"/>
          </a:xfrm>
          <a:prstGeom prst="ellipse">
            <a:avLst/>
          </a:prstGeom>
          <a:solidFill>
            <a:srgbClr val="5FD39A"/>
          </a:solidFill>
          <a:ln w="12700">
            <a:solidFill>
              <a:srgbClr val="5FD39A"/>
            </a:solidFill>
            <a:prstDash val="solid"/>
          </a:ln>
        </p:spPr>
      </p:sp>
      <p:sp>
        <p:nvSpPr>
          <p:cNvPr id="45" name="Shape 40"/>
          <p:cNvSpPr/>
          <p:nvPr/>
        </p:nvSpPr>
        <p:spPr>
          <a:xfrm>
            <a:off x="6678361" y="5794028"/>
            <a:ext cx="54864" cy="54864"/>
          </a:xfrm>
          <a:prstGeom prst="ellipse">
            <a:avLst/>
          </a:prstGeom>
          <a:solidFill>
            <a:srgbClr val="5FD39A"/>
          </a:solidFill>
          <a:ln w="12700">
            <a:solidFill>
              <a:srgbClr val="5FD39A"/>
            </a:solidFill>
            <a:prstDash val="solid"/>
          </a:ln>
        </p:spPr>
      </p:sp>
      <p:sp>
        <p:nvSpPr>
          <p:cNvPr id="46" name="Shape 41"/>
          <p:cNvSpPr/>
          <p:nvPr/>
        </p:nvSpPr>
        <p:spPr>
          <a:xfrm>
            <a:off x="6649259" y="5774399"/>
            <a:ext cx="54864" cy="54864"/>
          </a:xfrm>
          <a:prstGeom prst="ellipse">
            <a:avLst/>
          </a:prstGeom>
          <a:solidFill>
            <a:srgbClr val="5FD39A"/>
          </a:solidFill>
          <a:ln w="12700">
            <a:solidFill>
              <a:srgbClr val="5FD39A"/>
            </a:solidFill>
            <a:prstDash val="solid"/>
          </a:ln>
        </p:spPr>
      </p:sp>
      <p:sp>
        <p:nvSpPr>
          <p:cNvPr id="47" name="Shape 42"/>
          <p:cNvSpPr/>
          <p:nvPr/>
        </p:nvSpPr>
        <p:spPr>
          <a:xfrm>
            <a:off x="6621597" y="5752787"/>
            <a:ext cx="54864" cy="54864"/>
          </a:xfrm>
          <a:prstGeom prst="ellipse">
            <a:avLst/>
          </a:prstGeom>
          <a:solidFill>
            <a:srgbClr val="5FD39A"/>
          </a:solidFill>
          <a:ln w="12700">
            <a:solidFill>
              <a:srgbClr val="5FD39A"/>
            </a:solidFill>
            <a:prstDash val="solid"/>
          </a:ln>
        </p:spPr>
      </p:sp>
      <p:sp>
        <p:nvSpPr>
          <p:cNvPr id="48" name="Shape 43"/>
          <p:cNvSpPr/>
          <p:nvPr/>
        </p:nvSpPr>
        <p:spPr>
          <a:xfrm>
            <a:off x="6595510" y="5729298"/>
            <a:ext cx="54864" cy="54864"/>
          </a:xfrm>
          <a:prstGeom prst="ellipse">
            <a:avLst/>
          </a:prstGeom>
          <a:solidFill>
            <a:srgbClr val="5FD39A"/>
          </a:solidFill>
          <a:ln w="12700">
            <a:solidFill>
              <a:srgbClr val="5FD39A"/>
            </a:solidFill>
            <a:prstDash val="solid"/>
          </a:ln>
        </p:spPr>
      </p:sp>
      <p:sp>
        <p:nvSpPr>
          <p:cNvPr id="49" name="Shape 44"/>
          <p:cNvSpPr/>
          <p:nvPr/>
        </p:nvSpPr>
        <p:spPr>
          <a:xfrm>
            <a:off x="6571126" y="5704047"/>
            <a:ext cx="54864" cy="54864"/>
          </a:xfrm>
          <a:prstGeom prst="ellipse">
            <a:avLst/>
          </a:prstGeom>
          <a:solidFill>
            <a:srgbClr val="5FD39A"/>
          </a:solidFill>
          <a:ln w="12700">
            <a:solidFill>
              <a:srgbClr val="5FD39A"/>
            </a:solidFill>
            <a:prstDash val="solid"/>
          </a:ln>
        </p:spPr>
      </p:sp>
      <p:sp>
        <p:nvSpPr>
          <p:cNvPr id="50" name="Shape 45"/>
          <p:cNvSpPr/>
          <p:nvPr/>
        </p:nvSpPr>
        <p:spPr>
          <a:xfrm>
            <a:off x="6972300" y="5394960"/>
            <a:ext cx="914" cy="521208"/>
          </a:xfrm>
          <a:prstGeom prst="line">
            <a:avLst/>
          </a:prstGeom>
          <a:noFill/>
          <a:ln w="9525">
            <a:solidFill>
              <a:srgbClr val="8A8A92"/>
            </a:solidFill>
            <a:prstDash val="dash"/>
          </a:ln>
        </p:spPr>
      </p:sp>
      <p:sp>
        <p:nvSpPr>
          <p:cNvPr id="51" name="Shape 46"/>
          <p:cNvSpPr/>
          <p:nvPr/>
        </p:nvSpPr>
        <p:spPr>
          <a:xfrm>
            <a:off x="6908292" y="5330952"/>
            <a:ext cx="128016" cy="128016"/>
          </a:xfrm>
          <a:prstGeom prst="ellipse">
            <a:avLst/>
          </a:prstGeom>
          <a:solidFill>
            <a:srgbClr val="FF4FA3"/>
          </a:solidFill>
          <a:ln w="15875">
            <a:solidFill>
              <a:srgbClr val="FFFFFF"/>
            </a:solidFill>
            <a:prstDash val="solid"/>
          </a:ln>
        </p:spPr>
      </p:sp>
      <p:sp>
        <p:nvSpPr>
          <p:cNvPr id="52" name="Text 47"/>
          <p:cNvSpPr txBox="1"/>
          <p:nvPr/>
        </p:nvSpPr>
        <p:spPr>
          <a:xfrm>
            <a:off x="7063740" y="5312664"/>
            <a:ext cx="365760" cy="164592"/>
          </a:xfrm>
          <a:prstGeom prst="rect">
            <a:avLst/>
          </a:prstGeom>
          <a:noFill/>
          <a:ln/>
        </p:spPr>
        <p:txBody>
          <a:bodyPr wrap="square" lIns="0" tIns="0" rIns="0" bIns="0" rtlCol="0" anchor="t"/>
          <a:lstStyle/>
          <a:p>
            <a:pPr indent="0" marL="0">
              <a:buNone/>
            </a:pPr>
            <a:r>
              <a:rPr lang="en-US" sz="800" dirty="0">
                <a:solidFill>
                  <a:srgbClr val="FFFFFF"/>
                </a:solidFill>
              </a:rPr>
              <a:t>her</a:t>
            </a:r>
            <a:endParaRPr lang="en-US" sz="800" dirty="0"/>
          </a:p>
        </p:txBody>
      </p:sp>
      <p:sp>
        <p:nvSpPr>
          <p:cNvPr id="53" name="Shape 48"/>
          <p:cNvSpPr/>
          <p:nvPr/>
        </p:nvSpPr>
        <p:spPr>
          <a:xfrm>
            <a:off x="7156511" y="5739164"/>
            <a:ext cx="164592" cy="164592"/>
          </a:xfrm>
          <a:prstGeom prst="ellipse">
            <a:avLst/>
          </a:prstGeom>
          <a:solidFill>
            <a:srgbClr val="FFFFFF"/>
          </a:solidFill>
          <a:ln w="12700">
            <a:solidFill>
              <a:srgbClr val="FFFFFF"/>
            </a:solidFill>
            <a:prstDash val="solid"/>
          </a:ln>
        </p:spPr>
      </p:sp>
      <p:sp>
        <p:nvSpPr>
          <p:cNvPr id="54" name="Text 49"/>
          <p:cNvSpPr txBox="1"/>
          <p:nvPr/>
        </p:nvSpPr>
        <p:spPr>
          <a:xfrm>
            <a:off x="7156511" y="5739164"/>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1</a:t>
            </a:r>
            <a:endParaRPr lang="en-US" sz="800" dirty="0"/>
          </a:p>
        </p:txBody>
      </p:sp>
      <p:sp>
        <p:nvSpPr>
          <p:cNvPr id="55" name="Shape 50"/>
          <p:cNvSpPr/>
          <p:nvPr/>
        </p:nvSpPr>
        <p:spPr>
          <a:xfrm>
            <a:off x="6820011" y="5810690"/>
            <a:ext cx="164592" cy="164592"/>
          </a:xfrm>
          <a:prstGeom prst="ellipse">
            <a:avLst/>
          </a:prstGeom>
          <a:solidFill>
            <a:srgbClr val="FFFFFF"/>
          </a:solidFill>
          <a:ln w="12700">
            <a:solidFill>
              <a:srgbClr val="FFFFFF"/>
            </a:solidFill>
            <a:prstDash val="solid"/>
          </a:ln>
        </p:spPr>
      </p:sp>
      <p:sp>
        <p:nvSpPr>
          <p:cNvPr id="56" name="Text 51"/>
          <p:cNvSpPr txBox="1"/>
          <p:nvPr/>
        </p:nvSpPr>
        <p:spPr>
          <a:xfrm>
            <a:off x="6820011" y="5810690"/>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2</a:t>
            </a:r>
            <a:endParaRPr lang="en-US" sz="800" dirty="0"/>
          </a:p>
        </p:txBody>
      </p:sp>
      <p:sp>
        <p:nvSpPr>
          <p:cNvPr id="57" name="Shape 52"/>
          <p:cNvSpPr/>
          <p:nvPr/>
        </p:nvSpPr>
        <p:spPr>
          <a:xfrm>
            <a:off x="6516262" y="5649183"/>
            <a:ext cx="164592" cy="164592"/>
          </a:xfrm>
          <a:prstGeom prst="ellipse">
            <a:avLst/>
          </a:prstGeom>
          <a:solidFill>
            <a:srgbClr val="FFFFFF"/>
          </a:solidFill>
          <a:ln w="12700">
            <a:solidFill>
              <a:srgbClr val="FFFFFF"/>
            </a:solidFill>
            <a:prstDash val="solid"/>
          </a:ln>
        </p:spPr>
      </p:sp>
      <p:sp>
        <p:nvSpPr>
          <p:cNvPr id="58" name="Text 53"/>
          <p:cNvSpPr txBox="1"/>
          <p:nvPr/>
        </p:nvSpPr>
        <p:spPr>
          <a:xfrm>
            <a:off x="6516262" y="5649183"/>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3</a:t>
            </a:r>
            <a:endParaRPr lang="en-US" sz="800" dirty="0"/>
          </a:p>
        </p:txBody>
      </p:sp>
      <p:sp>
        <p:nvSpPr>
          <p:cNvPr id="59" name="Text 54"/>
          <p:cNvSpPr txBox="1"/>
          <p:nvPr/>
        </p:nvSpPr>
        <p:spPr>
          <a:xfrm>
            <a:off x="7172221" y="5934418"/>
            <a:ext cx="457200" cy="146304"/>
          </a:xfrm>
          <a:prstGeom prst="rect">
            <a:avLst/>
          </a:prstGeom>
          <a:noFill/>
          <a:ln/>
        </p:spPr>
        <p:txBody>
          <a:bodyPr wrap="square" lIns="0" tIns="0" rIns="0" bIns="0" rtlCol="0" anchor="t"/>
          <a:lstStyle/>
          <a:p>
            <a:pPr algn="ctr" indent="0" marL="0">
              <a:buNone/>
            </a:pPr>
            <a:r>
              <a:rPr lang="en-US" sz="800" dirty="0">
                <a:solidFill>
                  <a:srgbClr val="FFFFFF"/>
                </a:solidFill>
              </a:rPr>
              <a:t>+8°</a:t>
            </a:r>
            <a:endParaRPr lang="en-US" sz="800" dirty="0"/>
          </a:p>
        </p:txBody>
      </p:sp>
      <p:sp>
        <p:nvSpPr>
          <p:cNvPr id="60" name="Text 55"/>
          <p:cNvSpPr txBox="1"/>
          <p:nvPr/>
        </p:nvSpPr>
        <p:spPr>
          <a:xfrm>
            <a:off x="6161150" y="5805172"/>
            <a:ext cx="457200" cy="146304"/>
          </a:xfrm>
          <a:prstGeom prst="rect">
            <a:avLst/>
          </a:prstGeom>
          <a:noFill/>
          <a:ln/>
        </p:spPr>
        <p:txBody>
          <a:bodyPr wrap="square" lIns="0" tIns="0" rIns="0" bIns="0" rtlCol="0" anchor="t"/>
          <a:lstStyle/>
          <a:p>
            <a:pPr algn="ctr" indent="0" marL="0">
              <a:buNone/>
            </a:pPr>
            <a:r>
              <a:rPr lang="en-US" sz="800" dirty="0">
                <a:solidFill>
                  <a:srgbClr val="FFFFFF"/>
                </a:solidFill>
              </a:rPr>
              <a:t>−12°</a:t>
            </a:r>
            <a:endParaRPr lang="en-US" sz="800" dirty="0"/>
          </a:p>
        </p:txBody>
      </p:sp>
      <p:sp>
        <p:nvSpPr>
          <p:cNvPr id="61" name="Text 56"/>
          <p:cNvSpPr txBox="1"/>
          <p:nvPr/>
        </p:nvSpPr>
        <p:spPr>
          <a:xfrm>
            <a:off x="6263640" y="5001768"/>
            <a:ext cx="914400" cy="164592"/>
          </a:xfrm>
          <a:prstGeom prst="rect">
            <a:avLst/>
          </a:prstGeom>
          <a:noFill/>
          <a:ln/>
        </p:spPr>
        <p:txBody>
          <a:bodyPr wrap="square" lIns="0" tIns="0" rIns="0" bIns="0" rtlCol="0" anchor="t"/>
          <a:lstStyle/>
          <a:p>
            <a:pPr indent="0" marL="0">
              <a:buNone/>
            </a:pPr>
            <a:r>
              <a:rPr lang="en-US" sz="800" dirty="0">
                <a:solidFill>
                  <a:srgbClr val="B0B0B8"/>
                </a:solidFill>
              </a:rPr>
              <a:t>From above</a:t>
            </a:r>
            <a:endParaRPr lang="en-US" sz="800" dirty="0"/>
          </a:p>
        </p:txBody>
      </p:sp>
      <p:pic>
        <p:nvPicPr>
          <p:cNvPr id="62" name="Image 1" descr="preencoded.png">    </p:cNvPr>
          <p:cNvPicPr>
            <a:picLocks noChangeAspect="1"/>
          </p:cNvPicPr>
          <p:nvPr/>
        </p:nvPicPr>
        <p:blipFill>
          <a:blip r:embed="rId5"/>
          <a:stretch>
            <a:fillRect/>
          </a:stretch>
        </p:blipFill>
        <p:spPr>
          <a:xfrm>
            <a:off x="7927848" y="4937760"/>
            <a:ext cx="1197864" cy="673913"/>
          </a:xfrm>
          <a:prstGeom prst="rect">
            <a:avLst/>
          </a:prstGeom>
        </p:spPr>
      </p:pic>
      <p:sp>
        <p:nvSpPr>
          <p:cNvPr id="63" name="Text 57"/>
          <p:cNvSpPr txBox="1"/>
          <p:nvPr/>
        </p:nvSpPr>
        <p:spPr>
          <a:xfrm>
            <a:off x="7927848"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1 · +8°</a:t>
            </a:r>
            <a:endParaRPr lang="en-US" sz="1000" dirty="0"/>
          </a:p>
        </p:txBody>
      </p:sp>
      <p:pic>
        <p:nvPicPr>
          <p:cNvPr id="64" name="Image 2" descr="preencoded.png">    </p:cNvPr>
          <p:cNvPicPr>
            <a:picLocks noChangeAspect="1"/>
          </p:cNvPicPr>
          <p:nvPr/>
        </p:nvPicPr>
        <p:blipFill>
          <a:blip r:embed="rId6"/>
          <a:stretch>
            <a:fillRect/>
          </a:stretch>
        </p:blipFill>
        <p:spPr>
          <a:xfrm>
            <a:off x="9171432" y="4937760"/>
            <a:ext cx="1197864" cy="673913"/>
          </a:xfrm>
          <a:prstGeom prst="rect">
            <a:avLst/>
          </a:prstGeom>
        </p:spPr>
      </p:pic>
      <p:sp>
        <p:nvSpPr>
          <p:cNvPr id="65" name="Text 58"/>
          <p:cNvSpPr txBox="1"/>
          <p:nvPr/>
        </p:nvSpPr>
        <p:spPr>
          <a:xfrm>
            <a:off x="9171432"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2 · −2°</a:t>
            </a:r>
            <a:endParaRPr lang="en-US" sz="1000" dirty="0"/>
          </a:p>
        </p:txBody>
      </p:sp>
      <p:pic>
        <p:nvPicPr>
          <p:cNvPr id="66" name="Image 3" descr="preencoded.png">    </p:cNvPr>
          <p:cNvPicPr>
            <a:picLocks noChangeAspect="1"/>
          </p:cNvPicPr>
          <p:nvPr/>
        </p:nvPicPr>
        <p:blipFill>
          <a:blip r:embed="rId7"/>
          <a:stretch>
            <a:fillRect/>
          </a:stretch>
        </p:blipFill>
        <p:spPr>
          <a:xfrm>
            <a:off x="10415016" y="4937760"/>
            <a:ext cx="1197864" cy="673913"/>
          </a:xfrm>
          <a:prstGeom prst="rect">
            <a:avLst/>
          </a:prstGeom>
        </p:spPr>
      </p:pic>
      <p:sp>
        <p:nvSpPr>
          <p:cNvPr id="67" name="Text 59"/>
          <p:cNvSpPr txBox="1"/>
          <p:nvPr/>
        </p:nvSpPr>
        <p:spPr>
          <a:xfrm>
            <a:off x="10415016"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3 · −12°</a:t>
            </a:r>
            <a:endParaRPr lang="en-US" sz="1000" dirty="0"/>
          </a:p>
        </p:txBody>
      </p:sp>
      <p:sp>
        <p:nvSpPr>
          <p:cNvPr id="68" name="Text 60"/>
          <p:cNvSpPr txBox="1"/>
          <p:nvPr/>
        </p:nvSpPr>
        <p:spPr>
          <a:xfrm>
            <a:off x="7927848" y="5897880"/>
            <a:ext cx="3685032" cy="365760"/>
          </a:xfrm>
          <a:prstGeom prst="rect">
            <a:avLst/>
          </a:prstGeom>
          <a:noFill/>
          <a:ln/>
        </p:spPr>
        <p:txBody>
          <a:bodyPr wrap="square" lIns="0" tIns="0" rIns="0" bIns="0" rtlCol="0" anchor="t"/>
          <a:lstStyle/>
          <a:p>
            <a:pPr indent="0" marL="0">
              <a:buNone/>
            </a:pPr>
            <a:r>
              <a:rPr lang="en-US" sz="1000" dirty="0">
                <a:solidFill>
                  <a:srgbClr val="55555C"/>
                </a:solidFill>
              </a:rPr>
              <a:t>Three frames rendered along the arc, time stopped</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20%</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What running Muse Glimmer taught me</a:t>
            </a:r>
            <a:endParaRPr lang="en-US" sz="3200" dirty="0"/>
          </a:p>
        </p:txBody>
      </p:sp>
      <p:sp>
        <p:nvSpPr>
          <p:cNvPr id="5" name="Shape 2"/>
          <p:cNvSpPr/>
          <p:nvPr/>
        </p:nvSpPr>
        <p:spPr>
          <a:xfrm>
            <a:off x="548640" y="1691640"/>
            <a:ext cx="4023360" cy="896112"/>
          </a:xfrm>
          <a:prstGeom prst="roundRect">
            <a:avLst>
              <a:gd name="adj" fmla="val 12245"/>
            </a:avLst>
          </a:prstGeom>
          <a:solidFill>
            <a:srgbClr val="FFFFFF"/>
          </a:solidFill>
          <a:ln w="12700">
            <a:solidFill>
              <a:srgbClr val="DCDCE0"/>
            </a:solidFill>
            <a:prstDash val="solid"/>
          </a:ln>
        </p:spPr>
      </p:sp>
      <p:sp>
        <p:nvSpPr>
          <p:cNvPr id="6" name="Text 3"/>
          <p:cNvSpPr txBox="1"/>
          <p:nvPr/>
        </p:nvSpPr>
        <p:spPr>
          <a:xfrm>
            <a:off x="731520" y="1691640"/>
            <a:ext cx="1737360" cy="896112"/>
          </a:xfrm>
          <a:prstGeom prst="rect">
            <a:avLst/>
          </a:prstGeom>
          <a:noFill/>
          <a:ln/>
        </p:spPr>
        <p:txBody>
          <a:bodyPr wrap="square" lIns="0" tIns="0" rIns="0" bIns="0" rtlCol="0" anchor="ctr"/>
          <a:lstStyle/>
          <a:p>
            <a:pPr indent="0" marL="0">
              <a:buNone/>
            </a:pPr>
            <a:r>
              <a:rPr lang="en-US" sz="3400" b="1" dirty="0">
                <a:solidFill>
                  <a:srgbClr val="0A0A0B"/>
                </a:solidFill>
              </a:rPr>
              <a:t>2,755</a:t>
            </a:r>
            <a:endParaRPr lang="en-US" sz="3400" dirty="0"/>
          </a:p>
        </p:txBody>
      </p:sp>
      <p:sp>
        <p:nvSpPr>
          <p:cNvPr id="7" name="Text 4"/>
          <p:cNvSpPr txBox="1"/>
          <p:nvPr/>
        </p:nvSpPr>
        <p:spPr>
          <a:xfrm>
            <a:off x="2468880" y="1691640"/>
            <a:ext cx="2011680" cy="896112"/>
          </a:xfrm>
          <a:prstGeom prst="rect">
            <a:avLst/>
          </a:prstGeom>
          <a:noFill/>
          <a:ln/>
        </p:spPr>
        <p:txBody>
          <a:bodyPr wrap="square" lIns="0" tIns="0" rIns="0" bIns="0" rtlCol="0" anchor="ctr"/>
          <a:lstStyle/>
          <a:p>
            <a:pPr indent="0" marL="0">
              <a:buNone/>
            </a:pPr>
            <a:r>
              <a:rPr lang="en-US" sz="1200" dirty="0">
                <a:solidFill>
                  <a:srgbClr val="0A0A0B"/>
                </a:solidFill>
              </a:rPr>
              <a:t>calls logged in the evaluations' ledgers</a:t>
            </a:r>
            <a:endParaRPr lang="en-US" sz="1200" dirty="0"/>
          </a:p>
        </p:txBody>
      </p:sp>
      <p:sp>
        <p:nvSpPr>
          <p:cNvPr id="8" name="Shape 5"/>
          <p:cNvSpPr/>
          <p:nvPr/>
        </p:nvSpPr>
        <p:spPr>
          <a:xfrm>
            <a:off x="548640" y="2697480"/>
            <a:ext cx="4023360" cy="896112"/>
          </a:xfrm>
          <a:prstGeom prst="roundRect">
            <a:avLst>
              <a:gd name="adj" fmla="val 12245"/>
            </a:avLst>
          </a:prstGeom>
          <a:solidFill>
            <a:srgbClr val="FFFFFF"/>
          </a:solidFill>
          <a:ln w="12700">
            <a:solidFill>
              <a:srgbClr val="DCDCE0"/>
            </a:solidFill>
            <a:prstDash val="solid"/>
          </a:ln>
        </p:spPr>
      </p:sp>
      <p:sp>
        <p:nvSpPr>
          <p:cNvPr id="9" name="Text 6"/>
          <p:cNvSpPr txBox="1"/>
          <p:nvPr/>
        </p:nvSpPr>
        <p:spPr>
          <a:xfrm>
            <a:off x="731520" y="2697480"/>
            <a:ext cx="1737360" cy="896112"/>
          </a:xfrm>
          <a:prstGeom prst="rect">
            <a:avLst/>
          </a:prstGeom>
          <a:noFill/>
          <a:ln/>
        </p:spPr>
        <p:txBody>
          <a:bodyPr wrap="square" lIns="0" tIns="0" rIns="0" bIns="0" rtlCol="0" anchor="ctr"/>
          <a:lstStyle/>
          <a:p>
            <a:pPr indent="0" marL="0">
              <a:buNone/>
            </a:pPr>
            <a:r>
              <a:rPr lang="en-US" sz="3400" b="1" dirty="0">
                <a:solidFill>
                  <a:srgbClr val="0A7F44"/>
                </a:solidFill>
              </a:rPr>
              <a:t>84%</a:t>
            </a:r>
            <a:endParaRPr lang="en-US" sz="3400" dirty="0"/>
          </a:p>
        </p:txBody>
      </p:sp>
      <p:sp>
        <p:nvSpPr>
          <p:cNvPr id="10" name="Text 7"/>
          <p:cNvSpPr txBox="1"/>
          <p:nvPr/>
        </p:nvSpPr>
        <p:spPr>
          <a:xfrm>
            <a:off x="2468880" y="2697480"/>
            <a:ext cx="2011680" cy="896112"/>
          </a:xfrm>
          <a:prstGeom prst="rect">
            <a:avLst/>
          </a:prstGeom>
          <a:noFill/>
          <a:ln/>
        </p:spPr>
        <p:txBody>
          <a:bodyPr wrap="square" lIns="0" tIns="0" rIns="0" bIns="0" rtlCol="0" anchor="ctr"/>
          <a:lstStyle/>
          <a:p>
            <a:pPr indent="0" marL="0">
              <a:buNone/>
            </a:pPr>
            <a:r>
              <a:rPr lang="en-US" sz="1200" dirty="0">
                <a:solidFill>
                  <a:srgbClr val="0A0A0B"/>
                </a:solidFill>
              </a:rPr>
              <a:t>of the tokens it wrote were reasoning</a:t>
            </a:r>
            <a:endParaRPr lang="en-US" sz="1200" dirty="0"/>
          </a:p>
        </p:txBody>
      </p:sp>
      <p:sp>
        <p:nvSpPr>
          <p:cNvPr id="11" name="Shape 8"/>
          <p:cNvSpPr/>
          <p:nvPr/>
        </p:nvSpPr>
        <p:spPr>
          <a:xfrm>
            <a:off x="548640" y="3703320"/>
            <a:ext cx="4023360" cy="896112"/>
          </a:xfrm>
          <a:prstGeom prst="roundRect">
            <a:avLst>
              <a:gd name="adj" fmla="val 12245"/>
            </a:avLst>
          </a:prstGeom>
          <a:solidFill>
            <a:srgbClr val="FFFFFF"/>
          </a:solidFill>
          <a:ln w="12700">
            <a:solidFill>
              <a:srgbClr val="DCDCE0"/>
            </a:solidFill>
            <a:prstDash val="solid"/>
          </a:ln>
        </p:spPr>
      </p:sp>
      <p:sp>
        <p:nvSpPr>
          <p:cNvPr id="12" name="Text 9"/>
          <p:cNvSpPr txBox="1"/>
          <p:nvPr/>
        </p:nvSpPr>
        <p:spPr>
          <a:xfrm>
            <a:off x="731520" y="3703320"/>
            <a:ext cx="1737360" cy="896112"/>
          </a:xfrm>
          <a:prstGeom prst="rect">
            <a:avLst/>
          </a:prstGeom>
          <a:noFill/>
          <a:ln/>
        </p:spPr>
        <p:txBody>
          <a:bodyPr wrap="square" lIns="0" tIns="0" rIns="0" bIns="0" rtlCol="0" anchor="ctr"/>
          <a:lstStyle/>
          <a:p>
            <a:pPr indent="0" marL="0">
              <a:buNone/>
            </a:pPr>
            <a:r>
              <a:rPr lang="en-US" sz="3400" b="1" dirty="0">
                <a:solidFill>
                  <a:srgbClr val="D1352B"/>
                </a:solidFill>
              </a:rPr>
              <a:t>9%</a:t>
            </a:r>
            <a:endParaRPr lang="en-US" sz="3400" dirty="0"/>
          </a:p>
        </p:txBody>
      </p:sp>
      <p:sp>
        <p:nvSpPr>
          <p:cNvPr id="13" name="Text 10"/>
          <p:cNvSpPr txBox="1"/>
          <p:nvPr/>
        </p:nvSpPr>
        <p:spPr>
          <a:xfrm>
            <a:off x="2468880" y="3703320"/>
            <a:ext cx="2011680" cy="896112"/>
          </a:xfrm>
          <a:prstGeom prst="rect">
            <a:avLst/>
          </a:prstGeom>
          <a:noFill/>
          <a:ln/>
        </p:spPr>
        <p:txBody>
          <a:bodyPr wrap="square" lIns="0" tIns="0" rIns="0" bIns="0" rtlCol="0" anchor="ctr"/>
          <a:lstStyle/>
          <a:p>
            <a:pPr indent="0" marL="0">
              <a:buNone/>
            </a:pPr>
            <a:r>
              <a:rPr lang="en-US" sz="1200" dirty="0">
                <a:solidFill>
                  <a:srgbClr val="0A0A0B"/>
                </a:solidFill>
              </a:rPr>
              <a:t>came back empty: a small budget ran out mid-thought</a:t>
            </a:r>
            <a:endParaRPr lang="en-US" sz="1200" dirty="0"/>
          </a:p>
        </p:txBody>
      </p:sp>
      <p:sp>
        <p:nvSpPr>
          <p:cNvPr id="14" name="Shape 11"/>
          <p:cNvSpPr/>
          <p:nvPr/>
        </p:nvSpPr>
        <p:spPr>
          <a:xfrm>
            <a:off x="548640" y="4754880"/>
            <a:ext cx="4023360" cy="1463040"/>
          </a:xfrm>
          <a:prstGeom prst="roundRect">
            <a:avLst>
              <a:gd name="adj" fmla="val 7500"/>
            </a:avLst>
          </a:prstGeom>
          <a:solidFill>
            <a:srgbClr val="F6F7F8"/>
          </a:solidFill>
          <a:ln w="12700">
            <a:solidFill>
              <a:srgbClr val="F6F7F8"/>
            </a:solidFill>
            <a:prstDash val="solid"/>
          </a:ln>
        </p:spPr>
      </p:sp>
      <p:sp>
        <p:nvSpPr>
          <p:cNvPr id="15" name="Text 12"/>
          <p:cNvSpPr txBox="1"/>
          <p:nvPr/>
        </p:nvSpPr>
        <p:spPr>
          <a:xfrm>
            <a:off x="731520" y="4892040"/>
            <a:ext cx="3703320" cy="1234440"/>
          </a:xfrm>
          <a:prstGeom prst="rect">
            <a:avLst/>
          </a:prstGeom>
          <a:noFill/>
          <a:ln/>
        </p:spPr>
        <p:txBody>
          <a:bodyPr wrap="square" lIns="0" tIns="0" rIns="0" bIns="0" rtlCol="0" anchor="t"/>
          <a:lstStyle/>
          <a:p>
            <a:pPr indent="0" marL="0">
              <a:buNone/>
            </a:pPr>
            <a:r>
              <a:rPr lang="en-US" sz="1300" dirty="0">
                <a:solidFill>
                  <a:srgbClr val="0A0A0B"/>
                </a:solidFill>
              </a:rPr>
              <a:t>Thinking switched off? It still reasoned in a hidden channel. </a:t>
            </a:r>
            <a:pPr indent="0" marL="0">
              <a:buNone/>
            </a:pPr>
            <a:r>
              <a:rPr lang="en-US" sz="1300" b="1" dirty="0">
                <a:solidFill>
                  <a:srgbClr val="0A0A0B"/>
                </a:solidFill>
              </a:rPr>
              <a:t>So every call asks for think: "low" and leaves room to think.</a:t>
            </a:r>
            <a:endParaRPr lang="en-US" sz="1300" dirty="0"/>
          </a:p>
        </p:txBody>
      </p:sp>
      <p:sp>
        <p:nvSpPr>
          <p:cNvPr id="16" name="Text 13"/>
          <p:cNvSpPr txBox="1"/>
          <p:nvPr/>
        </p:nvSpPr>
        <p:spPr>
          <a:xfrm>
            <a:off x="4937760" y="1691640"/>
            <a:ext cx="3657600" cy="274320"/>
          </a:xfrm>
          <a:prstGeom prst="rect">
            <a:avLst/>
          </a:prstGeom>
          <a:noFill/>
          <a:ln/>
        </p:spPr>
        <p:txBody>
          <a:bodyPr wrap="square" lIns="0" tIns="0" rIns="0" bIns="0" rtlCol="0" anchor="t"/>
          <a:lstStyle/>
          <a:p>
            <a:pPr indent="0" marL="0">
              <a:buNone/>
            </a:pPr>
            <a:r>
              <a:rPr lang="en-US" sz="1100" b="1" spc="100" kern="0" dirty="0">
                <a:solidFill>
                  <a:srgbClr val="0A7F44"/>
                </a:solidFill>
              </a:rPr>
              <a:t>WHO DECIDES</a:t>
            </a:r>
            <a:endParaRPr lang="en-US" sz="1100" dirty="0"/>
          </a:p>
        </p:txBody>
      </p:sp>
      <p:sp>
        <p:nvSpPr>
          <p:cNvPr id="17" name="Shape 14"/>
          <p:cNvSpPr/>
          <p:nvPr/>
        </p:nvSpPr>
        <p:spPr>
          <a:xfrm>
            <a:off x="4937760" y="2057400"/>
            <a:ext cx="6675120" cy="1207008"/>
          </a:xfrm>
          <a:prstGeom prst="roundRect">
            <a:avLst>
              <a:gd name="adj" fmla="val 9091"/>
            </a:avLst>
          </a:prstGeom>
          <a:solidFill>
            <a:srgbClr val="FFFFFF"/>
          </a:solidFill>
          <a:ln w="12700">
            <a:solidFill>
              <a:srgbClr val="DCDCE0"/>
            </a:solidFill>
            <a:prstDash val="solid"/>
          </a:ln>
        </p:spPr>
      </p:sp>
      <p:sp>
        <p:nvSpPr>
          <p:cNvPr id="18" name="Text 15"/>
          <p:cNvSpPr txBox="1"/>
          <p:nvPr/>
        </p:nvSpPr>
        <p:spPr>
          <a:xfrm>
            <a:off x="5138928" y="2194560"/>
            <a:ext cx="1828800" cy="228600"/>
          </a:xfrm>
          <a:prstGeom prst="rect">
            <a:avLst/>
          </a:prstGeom>
          <a:noFill/>
          <a:ln/>
        </p:spPr>
        <p:txBody>
          <a:bodyPr wrap="square" lIns="0" tIns="0" rIns="0" bIns="0" rtlCol="0" anchor="t"/>
          <a:lstStyle/>
          <a:p>
            <a:pPr indent="0" marL="0">
              <a:buNone/>
            </a:pPr>
            <a:r>
              <a:rPr lang="en-US" sz="1000" b="1" spc="100" kern="0" dirty="0">
                <a:solidFill>
                  <a:srgbClr val="55555C"/>
                </a:solidFill>
              </a:rPr>
              <a:t>FIRST</a:t>
            </a:r>
            <a:endParaRPr lang="en-US" sz="1000" dirty="0"/>
          </a:p>
        </p:txBody>
      </p:sp>
      <p:sp>
        <p:nvSpPr>
          <p:cNvPr id="19" name="Text 16"/>
          <p:cNvSpPr txBox="1"/>
          <p:nvPr/>
        </p:nvSpPr>
        <p:spPr>
          <a:xfrm>
            <a:off x="5138928" y="2441448"/>
            <a:ext cx="4206240" cy="347472"/>
          </a:xfrm>
          <a:prstGeom prst="rect">
            <a:avLst/>
          </a:prstGeom>
          <a:noFill/>
          <a:ln/>
        </p:spPr>
        <p:txBody>
          <a:bodyPr wrap="square" lIns="0" tIns="0" rIns="0" bIns="0" rtlCol="0" anchor="t"/>
          <a:lstStyle/>
          <a:p>
            <a:pPr indent="0" marL="0">
              <a:buNone/>
            </a:pPr>
            <a:r>
              <a:rPr lang="en-US" sz="1600" b="1" dirty="0">
                <a:solidFill>
                  <a:srgbClr val="0A0A0B"/>
                </a:solidFill>
              </a:rPr>
              <a:t>Code</a:t>
            </a:r>
            <a:endParaRPr lang="en-US" sz="1600" dirty="0"/>
          </a:p>
        </p:txBody>
      </p:sp>
      <p:sp>
        <p:nvSpPr>
          <p:cNvPr id="20" name="Text 17"/>
          <p:cNvSpPr txBox="1"/>
          <p:nvPr/>
        </p:nvSpPr>
        <p:spPr>
          <a:xfrm>
            <a:off x="5138928" y="2788920"/>
            <a:ext cx="4480560" cy="457200"/>
          </a:xfrm>
          <a:prstGeom prst="rect">
            <a:avLst/>
          </a:prstGeom>
          <a:noFill/>
          <a:ln/>
        </p:spPr>
        <p:txBody>
          <a:bodyPr wrap="square" lIns="0" tIns="0" rIns="0" bIns="0" rtlCol="0" anchor="t"/>
          <a:lstStyle/>
          <a:p>
            <a:pPr indent="0" marL="0">
              <a:buNone/>
            </a:pPr>
            <a:r>
              <a:rPr lang="en-US" sz="1150" dirty="0">
                <a:solidFill>
                  <a:srgbClr val="55555C"/>
                </a:solidFill>
              </a:rPr>
              <a:t>Every fact and every hard rule: free times, trips, limits. No model call when the facts decide.</a:t>
            </a:r>
            <a:endParaRPr lang="en-US" sz="1150" dirty="0"/>
          </a:p>
        </p:txBody>
      </p:sp>
      <p:sp>
        <p:nvSpPr>
          <p:cNvPr id="21" name="Shape 18"/>
          <p:cNvSpPr/>
          <p:nvPr/>
        </p:nvSpPr>
        <p:spPr>
          <a:xfrm>
            <a:off x="8275320" y="3273552"/>
            <a:ext cx="0" cy="146304"/>
          </a:xfrm>
          <a:prstGeom prst="line">
            <a:avLst/>
          </a:prstGeom>
          <a:noFill/>
          <a:ln w="22225">
            <a:solidFill>
              <a:srgbClr val="8A8A92"/>
            </a:solidFill>
            <a:prstDash val="solid"/>
            <a:tailEnd type="triangle"/>
          </a:ln>
        </p:spPr>
      </p:sp>
      <p:sp>
        <p:nvSpPr>
          <p:cNvPr id="22" name="Shape 19"/>
          <p:cNvSpPr/>
          <p:nvPr/>
        </p:nvSpPr>
        <p:spPr>
          <a:xfrm>
            <a:off x="4937760" y="3429000"/>
            <a:ext cx="6675120" cy="1207008"/>
          </a:xfrm>
          <a:prstGeom prst="roundRect">
            <a:avLst>
              <a:gd name="adj" fmla="val 9091"/>
            </a:avLst>
          </a:prstGeom>
          <a:solidFill>
            <a:srgbClr val="E9F3EC"/>
          </a:solidFill>
          <a:ln w="25400">
            <a:solidFill>
              <a:srgbClr val="0A7F44"/>
            </a:solidFill>
            <a:prstDash val="solid"/>
          </a:ln>
        </p:spPr>
      </p:sp>
      <p:sp>
        <p:nvSpPr>
          <p:cNvPr id="23" name="Text 20"/>
          <p:cNvSpPr txBox="1"/>
          <p:nvPr/>
        </p:nvSpPr>
        <p:spPr>
          <a:xfrm>
            <a:off x="5138928" y="3566160"/>
            <a:ext cx="1828800" cy="228600"/>
          </a:xfrm>
          <a:prstGeom prst="rect">
            <a:avLst/>
          </a:prstGeom>
          <a:noFill/>
          <a:ln/>
        </p:spPr>
        <p:txBody>
          <a:bodyPr wrap="square" lIns="0" tIns="0" rIns="0" bIns="0" rtlCol="0" anchor="t"/>
          <a:lstStyle/>
          <a:p>
            <a:pPr indent="0" marL="0">
              <a:buNone/>
            </a:pPr>
            <a:r>
              <a:rPr lang="en-US" sz="1000" b="1" spc="100" kern="0" dirty="0">
                <a:solidFill>
                  <a:srgbClr val="55555C"/>
                </a:solidFill>
              </a:rPr>
              <a:t>THEN</a:t>
            </a:r>
            <a:endParaRPr lang="en-US" sz="1000" dirty="0"/>
          </a:p>
        </p:txBody>
      </p:sp>
      <p:sp>
        <p:nvSpPr>
          <p:cNvPr id="24" name="Text 21"/>
          <p:cNvSpPr txBox="1"/>
          <p:nvPr/>
        </p:nvSpPr>
        <p:spPr>
          <a:xfrm>
            <a:off x="5138928" y="3813048"/>
            <a:ext cx="4206240" cy="347472"/>
          </a:xfrm>
          <a:prstGeom prst="rect">
            <a:avLst/>
          </a:prstGeom>
          <a:noFill/>
          <a:ln/>
        </p:spPr>
        <p:txBody>
          <a:bodyPr wrap="square" lIns="0" tIns="0" rIns="0" bIns="0" rtlCol="0" anchor="t"/>
          <a:lstStyle/>
          <a:p>
            <a:pPr indent="0" marL="0">
              <a:buNone/>
            </a:pPr>
            <a:r>
              <a:rPr lang="en-US" sz="1600" b="1" dirty="0">
                <a:solidFill>
                  <a:srgbClr val="0A0A0B"/>
                </a:solidFill>
              </a:rPr>
              <a:t>Llama 3.2 1B, distilled from Glimmer</a:t>
            </a:r>
            <a:endParaRPr lang="en-US" sz="1600" dirty="0"/>
          </a:p>
        </p:txBody>
      </p:sp>
      <p:sp>
        <p:nvSpPr>
          <p:cNvPr id="25" name="Text 22"/>
          <p:cNvSpPr txBox="1"/>
          <p:nvPr/>
        </p:nvSpPr>
        <p:spPr>
          <a:xfrm>
            <a:off x="5138928" y="4160520"/>
            <a:ext cx="4480560" cy="457200"/>
          </a:xfrm>
          <a:prstGeom prst="rect">
            <a:avLst/>
          </a:prstGeom>
          <a:noFill/>
          <a:ln/>
        </p:spPr>
        <p:txBody>
          <a:bodyPr wrap="square" lIns="0" tIns="0" rIns="0" bIns="0" rtlCol="0" anchor="t"/>
          <a:lstStyle/>
          <a:p>
            <a:pPr indent="0" marL="0">
              <a:buNone/>
            </a:pPr>
            <a:r>
              <a:rPr lang="en-US" sz="1150" dirty="0">
                <a:solidFill>
                  <a:srgbClr val="55555C"/>
                </a:solidFill>
              </a:rPr>
              <a:t>On the CPU. Answers only when sure, and only from times that keep every rule.</a:t>
            </a:r>
            <a:endParaRPr lang="en-US" sz="1150" dirty="0"/>
          </a:p>
        </p:txBody>
      </p:sp>
      <p:sp>
        <p:nvSpPr>
          <p:cNvPr id="26" name="Text 23"/>
          <p:cNvSpPr txBox="1"/>
          <p:nvPr/>
        </p:nvSpPr>
        <p:spPr>
          <a:xfrm>
            <a:off x="9555480" y="3611880"/>
            <a:ext cx="1920240" cy="502920"/>
          </a:xfrm>
          <a:prstGeom prst="rect">
            <a:avLst/>
          </a:prstGeom>
          <a:noFill/>
          <a:ln/>
        </p:spPr>
        <p:txBody>
          <a:bodyPr wrap="square" lIns="0" tIns="0" rIns="0" bIns="0" rtlCol="0" anchor="t"/>
          <a:lstStyle/>
          <a:p>
            <a:pPr algn="r" indent="0" marL="0">
              <a:buNone/>
            </a:pPr>
            <a:r>
              <a:rPr lang="en-US" sz="2800" b="1" dirty="0">
                <a:solidFill>
                  <a:srgbClr val="0A7F44"/>
                </a:solidFill>
              </a:rPr>
              <a:t>54–67%</a:t>
            </a:r>
            <a:endParaRPr lang="en-US" sz="2800" dirty="0"/>
          </a:p>
        </p:txBody>
      </p:sp>
      <p:sp>
        <p:nvSpPr>
          <p:cNvPr id="27" name="Text 24"/>
          <p:cNvSpPr txBox="1"/>
          <p:nvPr/>
        </p:nvSpPr>
        <p:spPr>
          <a:xfrm>
            <a:off x="9418320" y="4114800"/>
            <a:ext cx="2057400" cy="457200"/>
          </a:xfrm>
          <a:prstGeom prst="rect">
            <a:avLst/>
          </a:prstGeom>
          <a:noFill/>
          <a:ln/>
        </p:spPr>
        <p:txBody>
          <a:bodyPr wrap="square" lIns="0" tIns="0" rIns="0" bIns="0" rtlCol="0" anchor="t"/>
          <a:lstStyle/>
          <a:p>
            <a:pPr algn="r" indent="0" marL="0">
              <a:buNone/>
            </a:pPr>
            <a:r>
              <a:rPr lang="en-US" sz="1000" dirty="0">
                <a:solidFill>
                  <a:srgbClr val="55555C"/>
                </a:solidFill>
              </a:rPr>
              <a:t>of members' answers, no rule broken (simulated club)</a:t>
            </a:r>
            <a:endParaRPr lang="en-US" sz="1000" dirty="0"/>
          </a:p>
        </p:txBody>
      </p:sp>
      <p:sp>
        <p:nvSpPr>
          <p:cNvPr id="28" name="Shape 25"/>
          <p:cNvSpPr/>
          <p:nvPr/>
        </p:nvSpPr>
        <p:spPr>
          <a:xfrm>
            <a:off x="8275320" y="4645152"/>
            <a:ext cx="0" cy="146304"/>
          </a:xfrm>
          <a:prstGeom prst="line">
            <a:avLst/>
          </a:prstGeom>
          <a:noFill/>
          <a:ln w="22225">
            <a:solidFill>
              <a:srgbClr val="8A8A92"/>
            </a:solidFill>
            <a:prstDash val="solid"/>
            <a:tailEnd type="triangle"/>
          </a:ln>
        </p:spPr>
      </p:sp>
      <p:sp>
        <p:nvSpPr>
          <p:cNvPr id="29" name="Shape 26"/>
          <p:cNvSpPr/>
          <p:nvPr/>
        </p:nvSpPr>
        <p:spPr>
          <a:xfrm>
            <a:off x="4937760" y="4800600"/>
            <a:ext cx="6675120" cy="1207008"/>
          </a:xfrm>
          <a:prstGeom prst="roundRect">
            <a:avLst>
              <a:gd name="adj" fmla="val 9091"/>
            </a:avLst>
          </a:prstGeom>
          <a:solidFill>
            <a:srgbClr val="FFFFFF"/>
          </a:solidFill>
          <a:ln w="12700">
            <a:solidFill>
              <a:srgbClr val="DCDCE0"/>
            </a:solidFill>
            <a:prstDash val="solid"/>
          </a:ln>
        </p:spPr>
      </p:sp>
      <p:sp>
        <p:nvSpPr>
          <p:cNvPr id="30" name="Text 27"/>
          <p:cNvSpPr txBox="1"/>
          <p:nvPr/>
        </p:nvSpPr>
        <p:spPr>
          <a:xfrm>
            <a:off x="5138928" y="4937760"/>
            <a:ext cx="1828800" cy="228600"/>
          </a:xfrm>
          <a:prstGeom prst="rect">
            <a:avLst/>
          </a:prstGeom>
          <a:noFill/>
          <a:ln/>
        </p:spPr>
        <p:txBody>
          <a:bodyPr wrap="square" lIns="0" tIns="0" rIns="0" bIns="0" rtlCol="0" anchor="t"/>
          <a:lstStyle/>
          <a:p>
            <a:pPr indent="0" marL="0">
              <a:buNone/>
            </a:pPr>
            <a:r>
              <a:rPr lang="en-US" sz="1000" b="1" spc="100" kern="0" dirty="0">
                <a:solidFill>
                  <a:srgbClr val="55555C"/>
                </a:solidFill>
              </a:rPr>
              <a:t>ONLY IF NEEDED</a:t>
            </a:r>
            <a:endParaRPr lang="en-US" sz="1000" dirty="0"/>
          </a:p>
        </p:txBody>
      </p:sp>
      <p:sp>
        <p:nvSpPr>
          <p:cNvPr id="31" name="Text 28"/>
          <p:cNvSpPr txBox="1"/>
          <p:nvPr/>
        </p:nvSpPr>
        <p:spPr>
          <a:xfrm>
            <a:off x="5138928" y="5184648"/>
            <a:ext cx="4206240" cy="347472"/>
          </a:xfrm>
          <a:prstGeom prst="rect">
            <a:avLst/>
          </a:prstGeom>
          <a:noFill/>
          <a:ln/>
        </p:spPr>
        <p:txBody>
          <a:bodyPr wrap="square" lIns="0" tIns="0" rIns="0" bIns="0" rtlCol="0" anchor="t"/>
          <a:lstStyle/>
          <a:p>
            <a:pPr indent="0" marL="0">
              <a:buNone/>
            </a:pPr>
            <a:r>
              <a:rPr lang="en-US" sz="1600" b="1" dirty="0">
                <a:solidFill>
                  <a:srgbClr val="0A0A0B"/>
                </a:solidFill>
              </a:rPr>
              <a:t>Muse Glimmer</a:t>
            </a:r>
            <a:endParaRPr lang="en-US" sz="1600" dirty="0"/>
          </a:p>
        </p:txBody>
      </p:sp>
      <p:sp>
        <p:nvSpPr>
          <p:cNvPr id="32" name="Text 29"/>
          <p:cNvSpPr txBox="1"/>
          <p:nvPr/>
        </p:nvSpPr>
        <p:spPr>
          <a:xfrm>
            <a:off x="5138928" y="5532120"/>
            <a:ext cx="4480560" cy="457200"/>
          </a:xfrm>
          <a:prstGeom prst="rect">
            <a:avLst/>
          </a:prstGeom>
          <a:noFill/>
          <a:ln/>
        </p:spPr>
        <p:txBody>
          <a:bodyPr wrap="square" lIns="0" tIns="0" rIns="0" bIns="0" rtlCol="0" anchor="t"/>
          <a:lstStyle/>
          <a:p>
            <a:pPr indent="0" marL="0">
              <a:buNone/>
            </a:pPr>
            <a:r>
              <a:rPr lang="en-US" sz="1150" dirty="0">
                <a:solidFill>
                  <a:srgbClr val="55555C"/>
                </a:solidFill>
              </a:rPr>
              <a:t>The real choices: planning the week, judging courts, reading photos, writing.</a:t>
            </a:r>
            <a:endParaRPr lang="en-US" sz="1150" dirty="0"/>
          </a:p>
        </p:txBody>
      </p:sp>
      <p:sp>
        <p:nvSpPr>
          <p:cNvPr id="33" name="Text 30"/>
          <p:cNvSpPr txBox="1"/>
          <p:nvPr/>
        </p:nvSpPr>
        <p:spPr>
          <a:xfrm>
            <a:off x="4937760" y="6126480"/>
            <a:ext cx="6675120" cy="228600"/>
          </a:xfrm>
          <a:prstGeom prst="rect">
            <a:avLst/>
          </a:prstGeom>
          <a:noFill/>
          <a:ln/>
        </p:spPr>
        <p:txBody>
          <a:bodyPr wrap="square" lIns="0" tIns="0" rIns="0" bIns="0" rtlCol="0" anchor="t"/>
          <a:lstStyle/>
          <a:p>
            <a:pPr indent="0" marL="0">
              <a:buNone/>
            </a:pPr>
            <a:r>
              <a:rPr lang="en-US" sz="1000" dirty="0">
                <a:solidFill>
                  <a:srgbClr val="8A8A92"/>
                </a:solidFill>
              </a:rPr>
              <a:t>submission/results/glimmer_in_practice.json · technical report 3.12, 5.10</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FINE-TUNING</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A 1B decision model, distilled from Muse Glimmer</a:t>
            </a:r>
            <a:endParaRPr lang="en-US" sz="3200" dirty="0"/>
          </a:p>
        </p:txBody>
      </p:sp>
      <p:sp>
        <p:nvSpPr>
          <p:cNvPr id="5" name="Shape 2"/>
          <p:cNvSpPr/>
          <p:nvPr/>
        </p:nvSpPr>
        <p:spPr>
          <a:xfrm>
            <a:off x="548640" y="1737360"/>
            <a:ext cx="384048" cy="384048"/>
          </a:xfrm>
          <a:prstGeom prst="ellipse">
            <a:avLst/>
          </a:prstGeom>
          <a:solidFill>
            <a:srgbClr val="0A7F44"/>
          </a:solidFill>
          <a:ln w="12700">
            <a:solidFill>
              <a:srgbClr val="0A7F44"/>
            </a:solidFill>
            <a:prstDash val="solid"/>
          </a:ln>
        </p:spPr>
      </p:sp>
      <p:sp>
        <p:nvSpPr>
          <p:cNvPr id="6" name="Text 3"/>
          <p:cNvSpPr txBox="1"/>
          <p:nvPr/>
        </p:nvSpPr>
        <p:spPr>
          <a:xfrm>
            <a:off x="548640" y="17373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Text 4"/>
          <p:cNvSpPr txBox="1"/>
          <p:nvPr/>
        </p:nvSpPr>
        <p:spPr>
          <a:xfrm>
            <a:off x="1097280" y="1709928"/>
            <a:ext cx="4572000" cy="292608"/>
          </a:xfrm>
          <a:prstGeom prst="rect">
            <a:avLst/>
          </a:prstGeom>
          <a:noFill/>
          <a:ln/>
        </p:spPr>
        <p:txBody>
          <a:bodyPr wrap="square" lIns="0" tIns="0" rIns="0" bIns="0" rtlCol="0" anchor="t"/>
          <a:lstStyle/>
          <a:p>
            <a:pPr indent="0" marL="0">
              <a:buNone/>
            </a:pPr>
            <a:r>
              <a:rPr lang="en-US" sz="1500" b="1" dirty="0">
                <a:solidFill>
                  <a:srgbClr val="0A0A0B"/>
                </a:solidFill>
              </a:rPr>
              <a:t>Teacher data from the real agent</a:t>
            </a:r>
            <a:endParaRPr lang="en-US" sz="1500" dirty="0"/>
          </a:p>
        </p:txBody>
      </p:sp>
      <p:sp>
        <p:nvSpPr>
          <p:cNvPr id="8" name="Text 5"/>
          <p:cNvSpPr txBox="1"/>
          <p:nvPr/>
        </p:nvSpPr>
        <p:spPr>
          <a:xfrm>
            <a:off x="1097280" y="2011680"/>
            <a:ext cx="4572000" cy="777240"/>
          </a:xfrm>
          <a:prstGeom prst="rect">
            <a:avLst/>
          </a:prstGeom>
          <a:noFill/>
          <a:ln/>
        </p:spPr>
        <p:txBody>
          <a:bodyPr wrap="square" lIns="0" tIns="0" rIns="0" bIns="0" rtlCol="0" anchor="t"/>
          <a:lstStyle/>
          <a:p>
            <a:pPr indent="0" marL="0">
              <a:buNone/>
            </a:pPr>
            <a:r>
              <a:rPr lang="en-US" sz="1150" dirty="0">
                <a:solidFill>
                  <a:srgbClr val="55555C"/>
                </a:solidFill>
              </a:rPr>
              <a:t>Muse Glimmer answers 4,868 members' choices through the agent's own call (same prompt, JSON Schema, think: "low"), on a cloud A100.</a:t>
            </a:r>
            <a:endParaRPr lang="en-US" sz="1150" dirty="0"/>
          </a:p>
        </p:txBody>
      </p:sp>
      <p:sp>
        <p:nvSpPr>
          <p:cNvPr id="9" name="Shape 6"/>
          <p:cNvSpPr/>
          <p:nvPr/>
        </p:nvSpPr>
        <p:spPr>
          <a:xfrm>
            <a:off x="548640" y="2852928"/>
            <a:ext cx="384048" cy="384048"/>
          </a:xfrm>
          <a:prstGeom prst="ellipse">
            <a:avLst/>
          </a:prstGeom>
          <a:solidFill>
            <a:srgbClr val="0A7F44"/>
          </a:solidFill>
          <a:ln w="12700">
            <a:solidFill>
              <a:srgbClr val="0A7F44"/>
            </a:solidFill>
            <a:prstDash val="solid"/>
          </a:ln>
        </p:spPr>
      </p:sp>
      <p:sp>
        <p:nvSpPr>
          <p:cNvPr id="10" name="Text 7"/>
          <p:cNvSpPr txBox="1"/>
          <p:nvPr/>
        </p:nvSpPr>
        <p:spPr>
          <a:xfrm>
            <a:off x="548640" y="28529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1" name="Text 8"/>
          <p:cNvSpPr txBox="1"/>
          <p:nvPr/>
        </p:nvSpPr>
        <p:spPr>
          <a:xfrm>
            <a:off x="1097280" y="2825496"/>
            <a:ext cx="4572000" cy="292608"/>
          </a:xfrm>
          <a:prstGeom prst="rect">
            <a:avLst/>
          </a:prstGeom>
          <a:noFill/>
          <a:ln/>
        </p:spPr>
        <p:txBody>
          <a:bodyPr wrap="square" lIns="0" tIns="0" rIns="0" bIns="0" rtlCol="0" anchor="t"/>
          <a:lstStyle/>
          <a:p>
            <a:pPr indent="0" marL="0">
              <a:buNone/>
            </a:pPr>
            <a:r>
              <a:rPr lang="en-US" sz="1500" b="1" dirty="0">
                <a:solidFill>
                  <a:srgbClr val="0A0A0B"/>
                </a:solidFill>
              </a:rPr>
              <a:t>LoRA on Meta's Llama 3.2 1B and 3B</a:t>
            </a:r>
            <a:endParaRPr lang="en-US" sz="1500" dirty="0"/>
          </a:p>
        </p:txBody>
      </p:sp>
      <p:sp>
        <p:nvSpPr>
          <p:cNvPr id="12" name="Text 9"/>
          <p:cNvSpPr txBox="1"/>
          <p:nvPr/>
        </p:nvSpPr>
        <p:spPr>
          <a:xfrm>
            <a:off x="1097280" y="3127248"/>
            <a:ext cx="4572000" cy="777240"/>
          </a:xfrm>
          <a:prstGeom prst="rect">
            <a:avLst/>
          </a:prstGeom>
          <a:noFill/>
          <a:ln/>
        </p:spPr>
        <p:txBody>
          <a:bodyPr wrap="square" lIns="0" tIns="0" rIns="0" bIns="0" rtlCol="0" anchor="t"/>
          <a:lstStyle/>
          <a:p>
            <a:pPr indent="0" marL="0">
              <a:buNone/>
            </a:pPr>
            <a:r>
              <a:rPr lang="en-US" sz="1150" dirty="0">
                <a:solidFill>
                  <a:srgbClr val="55555C"/>
                </a:solidFill>
              </a:rPr>
              <a:t>Rank 16, every attention and MLP projection, 3 epochs: 20 minutes for the 1B, 44 for the 3B.</a:t>
            </a:r>
            <a:endParaRPr lang="en-US" sz="1150" dirty="0"/>
          </a:p>
        </p:txBody>
      </p:sp>
      <p:sp>
        <p:nvSpPr>
          <p:cNvPr id="13" name="Shape 10"/>
          <p:cNvSpPr/>
          <p:nvPr/>
        </p:nvSpPr>
        <p:spPr>
          <a:xfrm>
            <a:off x="548640" y="3968496"/>
            <a:ext cx="384048" cy="384048"/>
          </a:xfrm>
          <a:prstGeom prst="ellipse">
            <a:avLst/>
          </a:prstGeom>
          <a:solidFill>
            <a:srgbClr val="0A7F44"/>
          </a:solidFill>
          <a:ln w="12700">
            <a:solidFill>
              <a:srgbClr val="0A7F44"/>
            </a:solidFill>
            <a:prstDash val="solid"/>
          </a:ln>
        </p:spPr>
      </p:sp>
      <p:sp>
        <p:nvSpPr>
          <p:cNvPr id="14" name="Text 11"/>
          <p:cNvSpPr txBox="1"/>
          <p:nvPr/>
        </p:nvSpPr>
        <p:spPr>
          <a:xfrm>
            <a:off x="548640" y="396849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5" name="Text 12"/>
          <p:cNvSpPr txBox="1"/>
          <p:nvPr/>
        </p:nvSpPr>
        <p:spPr>
          <a:xfrm>
            <a:off x="1097280" y="3941064"/>
            <a:ext cx="4572000" cy="292608"/>
          </a:xfrm>
          <a:prstGeom prst="rect">
            <a:avLst/>
          </a:prstGeom>
          <a:noFill/>
          <a:ln/>
        </p:spPr>
        <p:txBody>
          <a:bodyPr wrap="square" lIns="0" tIns="0" rIns="0" bIns="0" rtlCol="0" anchor="t"/>
          <a:lstStyle/>
          <a:p>
            <a:pPr indent="0" marL="0">
              <a:buNone/>
            </a:pPr>
            <a:r>
              <a:rPr lang="en-US" sz="1500" b="1" dirty="0">
                <a:solidFill>
                  <a:srgbClr val="0A0A0B"/>
                </a:solidFill>
              </a:rPr>
              <a:t>A decision head, no text</a:t>
            </a:r>
            <a:endParaRPr lang="en-US" sz="1500" dirty="0"/>
          </a:p>
        </p:txBody>
      </p:sp>
      <p:sp>
        <p:nvSpPr>
          <p:cNvPr id="16" name="Text 13"/>
          <p:cNvSpPr txBox="1"/>
          <p:nvPr/>
        </p:nvSpPr>
        <p:spPr>
          <a:xfrm>
            <a:off x="1097280" y="4242816"/>
            <a:ext cx="4572000" cy="777240"/>
          </a:xfrm>
          <a:prstGeom prst="rect">
            <a:avLst/>
          </a:prstGeom>
          <a:noFill/>
          <a:ln/>
        </p:spPr>
        <p:txBody>
          <a:bodyPr wrap="square" lIns="0" tIns="0" rIns="0" bIns="0" rtlCol="0" anchor="t"/>
          <a:lstStyle/>
          <a:p>
            <a:pPr indent="0" marL="0">
              <a:buNone/>
            </a:pPr>
            <a:r>
              <a:rPr lang="en-US" sz="1150" dirty="0">
                <a:solidFill>
                  <a:srgbClr val="55555C"/>
                </a:solidFill>
              </a:rPr>
              <a:t>One pass gives a probability for each declared option, and a yes or no for every time: its own reading of the calendar.</a:t>
            </a:r>
            <a:endParaRPr lang="en-US" sz="1150" dirty="0"/>
          </a:p>
        </p:txBody>
      </p:sp>
      <p:sp>
        <p:nvSpPr>
          <p:cNvPr id="17" name="Shape 14"/>
          <p:cNvSpPr/>
          <p:nvPr/>
        </p:nvSpPr>
        <p:spPr>
          <a:xfrm>
            <a:off x="548640" y="5084064"/>
            <a:ext cx="384048" cy="384048"/>
          </a:xfrm>
          <a:prstGeom prst="ellipse">
            <a:avLst/>
          </a:prstGeom>
          <a:solidFill>
            <a:srgbClr val="0A7F44"/>
          </a:solidFill>
          <a:ln w="12700">
            <a:solidFill>
              <a:srgbClr val="0A7F44"/>
            </a:solidFill>
            <a:prstDash val="solid"/>
          </a:ln>
        </p:spPr>
      </p:sp>
      <p:sp>
        <p:nvSpPr>
          <p:cNvPr id="18" name="Text 15"/>
          <p:cNvSpPr txBox="1"/>
          <p:nvPr/>
        </p:nvSpPr>
        <p:spPr>
          <a:xfrm>
            <a:off x="548640" y="508406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9" name="Text 16"/>
          <p:cNvSpPr txBox="1"/>
          <p:nvPr/>
        </p:nvSpPr>
        <p:spPr>
          <a:xfrm>
            <a:off x="1097280" y="5056632"/>
            <a:ext cx="4572000" cy="292608"/>
          </a:xfrm>
          <a:prstGeom prst="rect">
            <a:avLst/>
          </a:prstGeom>
          <a:noFill/>
          <a:ln/>
        </p:spPr>
        <p:txBody>
          <a:bodyPr wrap="square" lIns="0" tIns="0" rIns="0" bIns="0" rtlCol="0" anchor="t"/>
          <a:lstStyle/>
          <a:p>
            <a:pPr indent="0" marL="0">
              <a:buNone/>
            </a:pPr>
            <a:r>
              <a:rPr lang="en-US" sz="1500" b="1" dirty="0">
                <a:solidFill>
                  <a:srgbClr val="0A0A0B"/>
                </a:solidFill>
              </a:rPr>
              <a:t>int4 on the CPU, behind a threshold</a:t>
            </a:r>
            <a:endParaRPr lang="en-US" sz="1500" dirty="0"/>
          </a:p>
        </p:txBody>
      </p:sp>
      <p:sp>
        <p:nvSpPr>
          <p:cNvPr id="20" name="Text 17"/>
          <p:cNvSpPr txBox="1"/>
          <p:nvPr/>
        </p:nvSpPr>
        <p:spPr>
          <a:xfrm>
            <a:off x="1097280" y="5358384"/>
            <a:ext cx="4572000" cy="777240"/>
          </a:xfrm>
          <a:prstGeom prst="rect">
            <a:avLst/>
          </a:prstGeom>
          <a:noFill/>
          <a:ln/>
        </p:spPr>
        <p:txBody>
          <a:bodyPr wrap="square" lIns="0" tIns="0" rIns="0" bIns="0" rtlCol="0" anchor="t"/>
          <a:lstStyle/>
          <a:p>
            <a:pPr indent="0" marL="0">
              <a:buNone/>
            </a:pPr>
            <a:r>
              <a:rPr lang="en-US" sz="1150" dirty="0">
                <a:solidFill>
                  <a:srgbClr val="55555C"/>
                </a:solidFill>
              </a:rPr>
              <a:t>0.8 GB GGUF, about 0.9 s a decision, 0 tokens written. It answers only when sure; otherwise Glimmer does.</a:t>
            </a:r>
            <a:endParaRPr lang="en-US" sz="1150" dirty="0"/>
          </a:p>
        </p:txBody>
      </p:sp>
      <p:graphicFrame>
        <p:nvGraphicFramePr>
          <p:cNvPr id="21" name="Chart 0" descr=""/>
          <p:cNvGraphicFramePr/>
          <p:nvPr/>
        </p:nvGraphicFramePr>
        <p:xfrm>
          <a:off x="5989320" y="1645920"/>
          <a:ext cx="5669280" cy="2514600"/>
        </p:xfrm>
        <a:graphic xmlns:a="http://schemas.openxmlformats.org/drawingml/2006/main">
          <a:graphicData uri="http://schemas.openxmlformats.org/drawingml/2006/chart">
            <c:chart xmlns:c="http://schemas.openxmlformats.org/drawingml/2006/chart" r:id="rId1"/>
          </a:graphicData>
        </a:graphic>
      </p:graphicFrame>
      <p:sp>
        <p:nvSpPr>
          <p:cNvPr id="22" name="Shape 18"/>
          <p:cNvSpPr/>
          <p:nvPr/>
        </p:nvSpPr>
        <p:spPr>
          <a:xfrm>
            <a:off x="5989320" y="4343400"/>
            <a:ext cx="2743200" cy="841248"/>
          </a:xfrm>
          <a:prstGeom prst="roundRect">
            <a:avLst>
              <a:gd name="adj" fmla="val 13043"/>
            </a:avLst>
          </a:prstGeom>
          <a:solidFill>
            <a:srgbClr val="E9F3EC"/>
          </a:solidFill>
          <a:ln w="12700">
            <a:solidFill>
              <a:srgbClr val="E9F3EC"/>
            </a:solidFill>
            <a:prstDash val="solid"/>
          </a:ln>
        </p:spPr>
      </p:sp>
      <p:sp>
        <p:nvSpPr>
          <p:cNvPr id="23" name="Text 19"/>
          <p:cNvSpPr txBox="1"/>
          <p:nvPr/>
        </p:nvSpPr>
        <p:spPr>
          <a:xfrm>
            <a:off x="6153912" y="4343400"/>
            <a:ext cx="1143000" cy="841248"/>
          </a:xfrm>
          <a:prstGeom prst="rect">
            <a:avLst/>
          </a:prstGeom>
          <a:noFill/>
          <a:ln/>
        </p:spPr>
        <p:txBody>
          <a:bodyPr wrap="square" lIns="0" tIns="0" rIns="0" bIns="0" rtlCol="0" anchor="ctr"/>
          <a:lstStyle/>
          <a:p>
            <a:pPr indent="0" marL="0">
              <a:buNone/>
            </a:pPr>
            <a:r>
              <a:rPr lang="en-US" sz="2400" b="1" dirty="0">
                <a:solidFill>
                  <a:srgbClr val="0A7F44"/>
                </a:solidFill>
              </a:rPr>
              <a:t>54–67%</a:t>
            </a:r>
            <a:endParaRPr lang="en-US" sz="2400" dirty="0"/>
          </a:p>
        </p:txBody>
      </p:sp>
      <p:sp>
        <p:nvSpPr>
          <p:cNvPr id="24" name="Text 20"/>
          <p:cNvSpPr txBox="1"/>
          <p:nvPr/>
        </p:nvSpPr>
        <p:spPr>
          <a:xfrm>
            <a:off x="7315200" y="4343400"/>
            <a:ext cx="1325880" cy="841248"/>
          </a:xfrm>
          <a:prstGeom prst="rect">
            <a:avLst/>
          </a:prstGeom>
          <a:noFill/>
          <a:ln/>
        </p:spPr>
        <p:txBody>
          <a:bodyPr wrap="square" lIns="0" tIns="0" rIns="0" bIns="0" rtlCol="0" anchor="ctr"/>
          <a:lstStyle/>
          <a:p>
            <a:pPr indent="0" marL="0">
              <a:buNone/>
            </a:pPr>
            <a:r>
              <a:rPr lang="en-US" sz="1050" dirty="0">
                <a:solidFill>
                  <a:srgbClr val="55555C"/>
                </a:solidFill>
              </a:rPr>
              <a:t>fewer Muse Glimmer calls in the simulated club, no rule broken</a:t>
            </a:r>
            <a:endParaRPr lang="en-US" sz="1050" dirty="0"/>
          </a:p>
        </p:txBody>
      </p:sp>
      <p:sp>
        <p:nvSpPr>
          <p:cNvPr id="25" name="Shape 21"/>
          <p:cNvSpPr/>
          <p:nvPr/>
        </p:nvSpPr>
        <p:spPr>
          <a:xfrm>
            <a:off x="8869680" y="4343400"/>
            <a:ext cx="2743200" cy="841248"/>
          </a:xfrm>
          <a:prstGeom prst="roundRect">
            <a:avLst>
              <a:gd name="adj" fmla="val 13043"/>
            </a:avLst>
          </a:prstGeom>
          <a:solidFill>
            <a:srgbClr val="F6F7F8"/>
          </a:solidFill>
          <a:ln w="12700">
            <a:solidFill>
              <a:srgbClr val="F6F7F8"/>
            </a:solidFill>
            <a:prstDash val="solid"/>
          </a:ln>
        </p:spPr>
      </p:sp>
      <p:sp>
        <p:nvSpPr>
          <p:cNvPr id="26" name="Text 22"/>
          <p:cNvSpPr txBox="1"/>
          <p:nvPr/>
        </p:nvSpPr>
        <p:spPr>
          <a:xfrm>
            <a:off x="9034272" y="4343400"/>
            <a:ext cx="1143000" cy="841248"/>
          </a:xfrm>
          <a:prstGeom prst="rect">
            <a:avLst/>
          </a:prstGeom>
          <a:noFill/>
          <a:ln/>
        </p:spPr>
        <p:txBody>
          <a:bodyPr wrap="square" lIns="0" tIns="0" rIns="0" bIns="0" rtlCol="0" anchor="ctr"/>
          <a:lstStyle/>
          <a:p>
            <a:pPr indent="0" marL="0">
              <a:buNone/>
            </a:pPr>
            <a:r>
              <a:rPr lang="en-US" sz="2400" b="1" dirty="0">
                <a:solidFill>
                  <a:srgbClr val="0A0A0B"/>
                </a:solidFill>
              </a:rPr>
              <a:t>29 / 32</a:t>
            </a:r>
            <a:endParaRPr lang="en-US" sz="2400" dirty="0"/>
          </a:p>
        </p:txBody>
      </p:sp>
      <p:sp>
        <p:nvSpPr>
          <p:cNvPr id="27" name="Text 23"/>
          <p:cNvSpPr txBox="1"/>
          <p:nvPr/>
        </p:nvSpPr>
        <p:spPr>
          <a:xfrm>
            <a:off x="10195560" y="4343400"/>
            <a:ext cx="1325880" cy="841248"/>
          </a:xfrm>
          <a:prstGeom prst="rect">
            <a:avLst/>
          </a:prstGeom>
          <a:noFill/>
          <a:ln/>
        </p:spPr>
        <p:txBody>
          <a:bodyPr wrap="square" lIns="0" tIns="0" rIns="0" bIns="0" rtlCol="0" anchor="ctr"/>
          <a:lstStyle/>
          <a:p>
            <a:pPr indent="0" marL="0">
              <a:buNone/>
            </a:pPr>
            <a:r>
              <a:rPr lang="en-US" sz="1050" dirty="0">
                <a:solidFill>
                  <a:srgbClr val="55555C"/>
                </a:solidFill>
              </a:rPr>
              <a:t>members' stated preferences kept (Glimmer: 27)</a:t>
            </a:r>
            <a:endParaRPr lang="en-US" sz="1050" dirty="0"/>
          </a:p>
        </p:txBody>
      </p:sp>
      <p:sp>
        <p:nvSpPr>
          <p:cNvPr id="28" name="Shape 24"/>
          <p:cNvSpPr/>
          <p:nvPr/>
        </p:nvSpPr>
        <p:spPr>
          <a:xfrm>
            <a:off x="5989320" y="5303520"/>
            <a:ext cx="2743200" cy="841248"/>
          </a:xfrm>
          <a:prstGeom prst="roundRect">
            <a:avLst>
              <a:gd name="adj" fmla="val 13043"/>
            </a:avLst>
          </a:prstGeom>
          <a:solidFill>
            <a:srgbClr val="F6F7F8"/>
          </a:solidFill>
          <a:ln w="12700">
            <a:solidFill>
              <a:srgbClr val="F6F7F8"/>
            </a:solidFill>
            <a:prstDash val="solid"/>
          </a:ln>
        </p:spPr>
      </p:sp>
      <p:sp>
        <p:nvSpPr>
          <p:cNvPr id="29" name="Text 25"/>
          <p:cNvSpPr txBox="1"/>
          <p:nvPr/>
        </p:nvSpPr>
        <p:spPr>
          <a:xfrm>
            <a:off x="6153912" y="5303520"/>
            <a:ext cx="1143000" cy="841248"/>
          </a:xfrm>
          <a:prstGeom prst="rect">
            <a:avLst/>
          </a:prstGeom>
          <a:noFill/>
          <a:ln/>
        </p:spPr>
        <p:txBody>
          <a:bodyPr wrap="square" lIns="0" tIns="0" rIns="0" bIns="0" rtlCol="0" anchor="ctr"/>
          <a:lstStyle/>
          <a:p>
            <a:pPr indent="0" marL="0">
              <a:buNone/>
            </a:pPr>
            <a:r>
              <a:rPr lang="en-US" sz="2400" b="1" dirty="0">
                <a:solidFill>
                  <a:srgbClr val="0A0A0B"/>
                </a:solidFill>
              </a:rPr>
              <a:t>100%</a:t>
            </a:r>
            <a:endParaRPr lang="en-US" sz="2400" dirty="0"/>
          </a:p>
        </p:txBody>
      </p:sp>
      <p:sp>
        <p:nvSpPr>
          <p:cNvPr id="30" name="Text 26"/>
          <p:cNvSpPr txBox="1"/>
          <p:nvPr/>
        </p:nvSpPr>
        <p:spPr>
          <a:xfrm>
            <a:off x="7315200" y="5303520"/>
            <a:ext cx="1325880" cy="841248"/>
          </a:xfrm>
          <a:prstGeom prst="rect">
            <a:avLst/>
          </a:prstGeom>
          <a:noFill/>
          <a:ln/>
        </p:spPr>
        <p:txBody>
          <a:bodyPr wrap="square" lIns="0" tIns="0" rIns="0" bIns="0" rtlCol="0" anchor="ctr"/>
          <a:lstStyle/>
          <a:p>
            <a:pPr indent="0" marL="0">
              <a:buNone/>
            </a:pPr>
            <a:r>
              <a:rPr lang="en-US" sz="1050" dirty="0">
                <a:solidFill>
                  <a:srgbClr val="55555C"/>
                </a:solidFill>
              </a:rPr>
              <a:t>precision reading which times work</a:t>
            </a:r>
            <a:endParaRPr lang="en-US" sz="1050" dirty="0"/>
          </a:p>
        </p:txBody>
      </p:sp>
      <p:sp>
        <p:nvSpPr>
          <p:cNvPr id="31" name="Shape 27"/>
          <p:cNvSpPr/>
          <p:nvPr/>
        </p:nvSpPr>
        <p:spPr>
          <a:xfrm>
            <a:off x="8869680" y="5303520"/>
            <a:ext cx="2743200" cy="841248"/>
          </a:xfrm>
          <a:prstGeom prst="roundRect">
            <a:avLst>
              <a:gd name="adj" fmla="val 13043"/>
            </a:avLst>
          </a:prstGeom>
          <a:solidFill>
            <a:srgbClr val="F6F7F8"/>
          </a:solidFill>
          <a:ln w="12700">
            <a:solidFill>
              <a:srgbClr val="F6F7F8"/>
            </a:solidFill>
            <a:prstDash val="solid"/>
          </a:ln>
        </p:spPr>
      </p:sp>
      <p:sp>
        <p:nvSpPr>
          <p:cNvPr id="32" name="Text 28"/>
          <p:cNvSpPr txBox="1"/>
          <p:nvPr/>
        </p:nvSpPr>
        <p:spPr>
          <a:xfrm>
            <a:off x="9034272" y="5303520"/>
            <a:ext cx="1143000" cy="841248"/>
          </a:xfrm>
          <a:prstGeom prst="rect">
            <a:avLst/>
          </a:prstGeom>
          <a:noFill/>
          <a:ln/>
        </p:spPr>
        <p:txBody>
          <a:bodyPr wrap="square" lIns="0" tIns="0" rIns="0" bIns="0" rtlCol="0" anchor="ctr"/>
          <a:lstStyle/>
          <a:p>
            <a:pPr indent="0" marL="0">
              <a:buNone/>
            </a:pPr>
            <a:r>
              <a:rPr lang="en-US" sz="2400" b="1" dirty="0">
                <a:solidFill>
                  <a:srgbClr val="0A0A0B"/>
                </a:solidFill>
              </a:rPr>
              <a:t>0</a:t>
            </a:r>
            <a:endParaRPr lang="en-US" sz="2400" dirty="0"/>
          </a:p>
        </p:txBody>
      </p:sp>
      <p:sp>
        <p:nvSpPr>
          <p:cNvPr id="33" name="Text 29"/>
          <p:cNvSpPr txBox="1"/>
          <p:nvPr/>
        </p:nvSpPr>
        <p:spPr>
          <a:xfrm>
            <a:off x="10195560" y="5303520"/>
            <a:ext cx="1325880" cy="841248"/>
          </a:xfrm>
          <a:prstGeom prst="rect">
            <a:avLst/>
          </a:prstGeom>
          <a:noFill/>
          <a:ln/>
        </p:spPr>
        <p:txBody>
          <a:bodyPr wrap="square" lIns="0" tIns="0" rIns="0" bIns="0" rtlCol="0" anchor="ctr"/>
          <a:lstStyle/>
          <a:p>
            <a:pPr indent="0" marL="0">
              <a:buNone/>
            </a:pPr>
            <a:r>
              <a:rPr lang="en-US" sz="1050" dirty="0">
                <a:solidFill>
                  <a:srgbClr val="55555C"/>
                </a:solidFill>
              </a:rPr>
              <a:t>tokens written per decision (Glimmer: about 450)</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THE CASCADE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When the student isn't sure, Muse Glimmer answers</a:t>
            </a:r>
            <a:endParaRPr lang="en-US" sz="3200" dirty="0"/>
          </a:p>
        </p:txBody>
      </p:sp>
      <p:sp>
        <p:nvSpPr>
          <p:cNvPr id="5" name="Shape 2"/>
          <p:cNvSpPr/>
          <p:nvPr/>
        </p:nvSpPr>
        <p:spPr>
          <a:xfrm>
            <a:off x="548640" y="1783080"/>
            <a:ext cx="1828800" cy="1143000"/>
          </a:xfrm>
          <a:prstGeom prst="roundRect">
            <a:avLst>
              <a:gd name="adj" fmla="val 9600"/>
            </a:avLst>
          </a:prstGeom>
          <a:solidFill>
            <a:srgbClr val="FFFFFF"/>
          </a:solidFill>
          <a:ln w="12700">
            <a:solidFill>
              <a:srgbClr val="DCDCE0"/>
            </a:solidFill>
            <a:prstDash val="solid"/>
          </a:ln>
        </p:spPr>
      </p:sp>
      <p:sp>
        <p:nvSpPr>
          <p:cNvPr id="6" name="Text 3"/>
          <p:cNvSpPr txBox="1"/>
          <p:nvPr/>
        </p:nvSpPr>
        <p:spPr>
          <a:xfrm>
            <a:off x="694944" y="1892808"/>
            <a:ext cx="1554480" cy="274320"/>
          </a:xfrm>
          <a:prstGeom prst="rect">
            <a:avLst/>
          </a:prstGeom>
          <a:noFill/>
          <a:ln/>
        </p:spPr>
        <p:txBody>
          <a:bodyPr wrap="square" lIns="0" tIns="0" rIns="0" bIns="0" rtlCol="0" anchor="t"/>
          <a:lstStyle/>
          <a:p>
            <a:pPr indent="0" marL="0">
              <a:buNone/>
            </a:pPr>
            <a:r>
              <a:rPr lang="en-US" sz="1350" b="1" dirty="0">
                <a:solidFill>
                  <a:srgbClr val="0A0A0B"/>
                </a:solidFill>
              </a:rPr>
              <a:t>Code first</a:t>
            </a:r>
            <a:endParaRPr lang="en-US" sz="1350" dirty="0"/>
          </a:p>
        </p:txBody>
      </p:sp>
      <p:sp>
        <p:nvSpPr>
          <p:cNvPr id="7" name="Text 4"/>
          <p:cNvSpPr txBox="1"/>
          <p:nvPr/>
        </p:nvSpPr>
        <p:spPr>
          <a:xfrm>
            <a:off x="694944" y="2185416"/>
            <a:ext cx="1554480" cy="685800"/>
          </a:xfrm>
          <a:prstGeom prst="rect">
            <a:avLst/>
          </a:prstGeom>
          <a:noFill/>
          <a:ln/>
        </p:spPr>
        <p:txBody>
          <a:bodyPr wrap="square" lIns="0" tIns="0" rIns="0" bIns="0" rtlCol="0" anchor="t"/>
          <a:lstStyle/>
          <a:p>
            <a:pPr indent="0" marL="0">
              <a:buNone/>
            </a:pPr>
            <a:r>
              <a:rPr lang="en-US" sz="1050" dirty="0">
                <a:solidFill>
                  <a:srgbClr val="55555C"/>
                </a:solidFill>
              </a:rPr>
              <a:t>Calendars and hard rules; one time left: answered, no model</a:t>
            </a:r>
            <a:endParaRPr lang="en-US" sz="1050" dirty="0"/>
          </a:p>
        </p:txBody>
      </p:sp>
      <p:sp>
        <p:nvSpPr>
          <p:cNvPr id="8" name="Shape 5"/>
          <p:cNvSpPr/>
          <p:nvPr/>
        </p:nvSpPr>
        <p:spPr>
          <a:xfrm>
            <a:off x="2395728" y="2350008"/>
            <a:ext cx="274320" cy="0"/>
          </a:xfrm>
          <a:prstGeom prst="line">
            <a:avLst/>
          </a:prstGeom>
          <a:noFill/>
          <a:ln w="22225">
            <a:solidFill>
              <a:srgbClr val="8A8A92"/>
            </a:solidFill>
            <a:prstDash val="solid"/>
            <a:tailEnd type="triangle"/>
          </a:ln>
        </p:spPr>
      </p:sp>
      <p:sp>
        <p:nvSpPr>
          <p:cNvPr id="9" name="Shape 6"/>
          <p:cNvSpPr/>
          <p:nvPr/>
        </p:nvSpPr>
        <p:spPr>
          <a:xfrm>
            <a:off x="2697480" y="1783080"/>
            <a:ext cx="2057400" cy="1143000"/>
          </a:xfrm>
          <a:prstGeom prst="roundRect">
            <a:avLst>
              <a:gd name="adj" fmla="val 9600"/>
            </a:avLst>
          </a:prstGeom>
          <a:solidFill>
            <a:srgbClr val="E9F3EC"/>
          </a:solidFill>
          <a:ln w="25400">
            <a:solidFill>
              <a:srgbClr val="0A7F44"/>
            </a:solidFill>
            <a:prstDash val="solid"/>
          </a:ln>
        </p:spPr>
      </p:sp>
      <p:sp>
        <p:nvSpPr>
          <p:cNvPr id="10" name="Text 7"/>
          <p:cNvSpPr txBox="1"/>
          <p:nvPr/>
        </p:nvSpPr>
        <p:spPr>
          <a:xfrm>
            <a:off x="2843784" y="1892808"/>
            <a:ext cx="1783080" cy="274320"/>
          </a:xfrm>
          <a:prstGeom prst="rect">
            <a:avLst/>
          </a:prstGeom>
          <a:noFill/>
          <a:ln/>
        </p:spPr>
        <p:txBody>
          <a:bodyPr wrap="square" lIns="0" tIns="0" rIns="0" bIns="0" rtlCol="0" anchor="t"/>
          <a:lstStyle/>
          <a:p>
            <a:pPr indent="0" marL="0">
              <a:buNone/>
            </a:pPr>
            <a:r>
              <a:rPr lang="en-US" sz="1350" b="1" dirty="0">
                <a:solidFill>
                  <a:srgbClr val="0A7F44"/>
                </a:solidFill>
              </a:rPr>
              <a:t>Llama 3.2 1B student</a:t>
            </a:r>
            <a:endParaRPr lang="en-US" sz="1350" dirty="0"/>
          </a:p>
        </p:txBody>
      </p:sp>
      <p:sp>
        <p:nvSpPr>
          <p:cNvPr id="11" name="Text 8"/>
          <p:cNvSpPr txBox="1"/>
          <p:nvPr/>
        </p:nvSpPr>
        <p:spPr>
          <a:xfrm>
            <a:off x="2843784" y="2185416"/>
            <a:ext cx="1783080" cy="685800"/>
          </a:xfrm>
          <a:prstGeom prst="rect">
            <a:avLst/>
          </a:prstGeom>
          <a:noFill/>
          <a:ln/>
        </p:spPr>
        <p:txBody>
          <a:bodyPr wrap="square" lIns="0" tIns="0" rIns="0" bIns="0" rtlCol="0" anchor="t"/>
          <a:lstStyle/>
          <a:p>
            <a:pPr indent="0" marL="0">
              <a:buNone/>
            </a:pPr>
            <a:r>
              <a:rPr lang="en-US" sz="1050" dirty="0">
                <a:solidFill>
                  <a:srgbClr val="55555C"/>
                </a:solidFill>
              </a:rPr>
              <a:t>int4 on the CPU, about 0.9 s, no text written</a:t>
            </a:r>
            <a:endParaRPr lang="en-US" sz="1050" dirty="0"/>
          </a:p>
        </p:txBody>
      </p:sp>
      <p:sp>
        <p:nvSpPr>
          <p:cNvPr id="12" name="Shape 9"/>
          <p:cNvSpPr/>
          <p:nvPr/>
        </p:nvSpPr>
        <p:spPr>
          <a:xfrm>
            <a:off x="4773168" y="2350008"/>
            <a:ext cx="274320" cy="0"/>
          </a:xfrm>
          <a:prstGeom prst="line">
            <a:avLst/>
          </a:prstGeom>
          <a:noFill/>
          <a:ln w="22225">
            <a:solidFill>
              <a:srgbClr val="8A8A92"/>
            </a:solidFill>
            <a:prstDash val="solid"/>
            <a:tailEnd type="triangle"/>
          </a:ln>
        </p:spPr>
      </p:sp>
      <p:sp>
        <p:nvSpPr>
          <p:cNvPr id="13" name="Shape 10"/>
          <p:cNvSpPr/>
          <p:nvPr/>
        </p:nvSpPr>
        <p:spPr>
          <a:xfrm>
            <a:off x="5074920" y="1600200"/>
            <a:ext cx="2240280" cy="1508760"/>
          </a:xfrm>
          <a:prstGeom prst="roundRect">
            <a:avLst>
              <a:gd name="adj" fmla="val 7273"/>
            </a:avLst>
          </a:prstGeom>
          <a:solidFill>
            <a:srgbClr val="FBF3E6"/>
          </a:solidFill>
          <a:ln w="12700">
            <a:solidFill>
              <a:srgbClr val="FBF3E6"/>
            </a:solidFill>
            <a:prstDash val="solid"/>
          </a:ln>
        </p:spPr>
      </p:sp>
      <p:sp>
        <p:nvSpPr>
          <p:cNvPr id="14" name="Text 11"/>
          <p:cNvSpPr txBox="1"/>
          <p:nvPr/>
        </p:nvSpPr>
        <p:spPr>
          <a:xfrm>
            <a:off x="5221224" y="1691640"/>
            <a:ext cx="2011680" cy="274320"/>
          </a:xfrm>
          <a:prstGeom prst="rect">
            <a:avLst/>
          </a:prstGeom>
          <a:noFill/>
          <a:ln/>
        </p:spPr>
        <p:txBody>
          <a:bodyPr wrap="square" lIns="0" tIns="0" rIns="0" bIns="0" rtlCol="0" anchor="t"/>
          <a:lstStyle/>
          <a:p>
            <a:pPr indent="0" marL="0">
              <a:buNone/>
            </a:pPr>
            <a:r>
              <a:rPr lang="en-US" sz="1300" b="1" dirty="0">
                <a:solidFill>
                  <a:srgbClr val="B26A00"/>
                </a:solidFill>
              </a:rPr>
              <a:t>Answers only if</a:t>
            </a:r>
            <a:endParaRPr lang="en-US" sz="1300" dirty="0"/>
          </a:p>
        </p:txBody>
      </p:sp>
      <p:sp>
        <p:nvSpPr>
          <p:cNvPr id="15" name="Text 12"/>
          <p:cNvSpPr txBox="1"/>
          <p:nvPr/>
        </p:nvSpPr>
        <p:spPr>
          <a:xfrm>
            <a:off x="5221224" y="1984248"/>
            <a:ext cx="2011680" cy="1097280"/>
          </a:xfrm>
          <a:prstGeom prst="rect">
            <a:avLst/>
          </a:prstGeom>
          <a:noFill/>
          <a:ln/>
        </p:spPr>
        <p:txBody>
          <a:bodyPr wrap="square" lIns="0" tIns="0" rIns="0" bIns="0" rtlCol="0" anchor="t"/>
          <a:lstStyle/>
          <a:p>
            <a:pPr marL="152400" indent="-152400">
              <a:buSzPct val="100000"/>
              <a:buChar char="•"/>
            </a:pPr>
            <a:r>
              <a:rPr lang="en-US" sz="1050" dirty="0">
                <a:solidFill>
                  <a:srgbClr val="0A0A0B"/>
                </a:solidFill>
              </a:rPr>
              <a:t>sure: 0.6 or more</a:t>
            </a:r>
            <a:endParaRPr lang="en-US" sz="1050" dirty="0"/>
          </a:p>
          <a:p>
            <a:pPr marL="152400" indent="-152400">
              <a:buSzPct val="100000"/>
              <a:buChar char="•"/>
            </a:pPr>
            <a:r>
              <a:rPr lang="en-US" sz="1050" dirty="0">
                <a:solidFill>
                  <a:srgbClr val="0A0A0B"/>
                </a:solidFill>
              </a:rPr>
              <a:t>its reading of which times work matches code's</a:t>
            </a:r>
            <a:endParaRPr lang="en-US" sz="1050" dirty="0"/>
          </a:p>
          <a:p>
            <a:pPr marL="152400" indent="-152400">
              <a:buSzPct val="100000"/>
              <a:buChar char="•"/>
            </a:pPr>
            <a:r>
              <a:rPr lang="en-US" sz="1050" dirty="0">
                <a:solidFill>
                  <a:srgbClr val="0A0A0B"/>
                </a:solidFill>
              </a:rPr>
              <a:t>up, and answering within 8 to 20 s</a:t>
            </a:r>
            <a:endParaRPr lang="en-US" sz="1050" dirty="0"/>
          </a:p>
        </p:txBody>
      </p:sp>
      <p:sp>
        <p:nvSpPr>
          <p:cNvPr id="16" name="Shape 13"/>
          <p:cNvSpPr/>
          <p:nvPr/>
        </p:nvSpPr>
        <p:spPr>
          <a:xfrm>
            <a:off x="6190488" y="3127248"/>
            <a:ext cx="0" cy="411480"/>
          </a:xfrm>
          <a:prstGeom prst="line">
            <a:avLst/>
          </a:prstGeom>
          <a:noFill/>
          <a:ln w="22225">
            <a:solidFill>
              <a:srgbClr val="0A7F44"/>
            </a:solidFill>
            <a:prstDash val="solid"/>
            <a:tailEnd type="triangle"/>
          </a:ln>
        </p:spPr>
      </p:sp>
      <p:sp>
        <p:nvSpPr>
          <p:cNvPr id="17" name="Text 14"/>
          <p:cNvSpPr txBox="1"/>
          <p:nvPr/>
        </p:nvSpPr>
        <p:spPr>
          <a:xfrm>
            <a:off x="6263640" y="3172968"/>
            <a:ext cx="457200" cy="274320"/>
          </a:xfrm>
          <a:prstGeom prst="rect">
            <a:avLst/>
          </a:prstGeom>
          <a:noFill/>
          <a:ln/>
        </p:spPr>
        <p:txBody>
          <a:bodyPr wrap="square" lIns="0" tIns="0" rIns="0" bIns="0" rtlCol="0" anchor="t"/>
          <a:lstStyle/>
          <a:p>
            <a:pPr indent="0" marL="0">
              <a:buNone/>
            </a:pPr>
            <a:r>
              <a:rPr lang="en-US" sz="1050" b="1" dirty="0">
                <a:solidFill>
                  <a:srgbClr val="0A7F44"/>
                </a:solidFill>
              </a:rPr>
              <a:t>yes</a:t>
            </a:r>
            <a:endParaRPr lang="en-US" sz="1050" dirty="0"/>
          </a:p>
        </p:txBody>
      </p:sp>
      <p:sp>
        <p:nvSpPr>
          <p:cNvPr id="18" name="Shape 15"/>
          <p:cNvSpPr/>
          <p:nvPr/>
        </p:nvSpPr>
        <p:spPr>
          <a:xfrm>
            <a:off x="5074920" y="3566160"/>
            <a:ext cx="2240280" cy="960120"/>
          </a:xfrm>
          <a:prstGeom prst="roundRect">
            <a:avLst>
              <a:gd name="adj" fmla="val 11429"/>
            </a:avLst>
          </a:prstGeom>
          <a:solidFill>
            <a:srgbClr val="E9F3EC"/>
          </a:solidFill>
          <a:ln w="12700">
            <a:solidFill>
              <a:srgbClr val="E9F3EC"/>
            </a:solidFill>
            <a:prstDash val="solid"/>
          </a:ln>
        </p:spPr>
      </p:sp>
      <p:sp>
        <p:nvSpPr>
          <p:cNvPr id="19" name="Text 16"/>
          <p:cNvSpPr txBox="1"/>
          <p:nvPr/>
        </p:nvSpPr>
        <p:spPr>
          <a:xfrm>
            <a:off x="5221224" y="3675888"/>
            <a:ext cx="1965960" cy="274320"/>
          </a:xfrm>
          <a:prstGeom prst="rect">
            <a:avLst/>
          </a:prstGeom>
          <a:noFill/>
          <a:ln/>
        </p:spPr>
        <p:txBody>
          <a:bodyPr wrap="square" lIns="0" tIns="0" rIns="0" bIns="0" rtlCol="0" anchor="t"/>
          <a:lstStyle/>
          <a:p>
            <a:pPr indent="0" marL="0">
              <a:buNone/>
            </a:pPr>
            <a:r>
              <a:rPr lang="en-US" sz="1350" b="1" dirty="0">
                <a:solidFill>
                  <a:srgbClr val="0A7F44"/>
                </a:solidFill>
              </a:rPr>
              <a:t>The student answers</a:t>
            </a:r>
            <a:endParaRPr lang="en-US" sz="1350" dirty="0"/>
          </a:p>
        </p:txBody>
      </p:sp>
      <p:sp>
        <p:nvSpPr>
          <p:cNvPr id="20" name="Text 17"/>
          <p:cNvSpPr txBox="1"/>
          <p:nvPr/>
        </p:nvSpPr>
        <p:spPr>
          <a:xfrm>
            <a:off x="5221224" y="3968496"/>
            <a:ext cx="1965960" cy="502920"/>
          </a:xfrm>
          <a:prstGeom prst="rect">
            <a:avLst/>
          </a:prstGeom>
          <a:noFill/>
          <a:ln/>
        </p:spPr>
        <p:txBody>
          <a:bodyPr wrap="square" lIns="0" tIns="0" rIns="0" bIns="0" rtlCol="0" anchor="t"/>
          <a:lstStyle/>
          <a:p>
            <a:pPr indent="0" marL="0">
              <a:buNone/>
            </a:pPr>
            <a:r>
              <a:rPr lang="en-US" sz="1050" dirty="0">
                <a:solidFill>
                  <a:srgbClr val="55555C"/>
                </a:solidFill>
              </a:rPr>
              <a:t>a Muse Glimmer call saved</a:t>
            </a:r>
            <a:endParaRPr lang="en-US" sz="1050" dirty="0"/>
          </a:p>
        </p:txBody>
      </p:sp>
      <p:sp>
        <p:nvSpPr>
          <p:cNvPr id="21" name="Shape 18"/>
          <p:cNvSpPr/>
          <p:nvPr/>
        </p:nvSpPr>
        <p:spPr>
          <a:xfrm flipH="1">
            <a:off x="3264408" y="2697480"/>
            <a:ext cx="1792224" cy="850392"/>
          </a:xfrm>
          <a:prstGeom prst="line">
            <a:avLst/>
          </a:prstGeom>
          <a:noFill/>
          <a:ln w="22225">
            <a:solidFill>
              <a:srgbClr val="0064E0"/>
            </a:solidFill>
            <a:prstDash val="solid"/>
            <a:tailEnd type="triangle"/>
          </a:ln>
        </p:spPr>
      </p:sp>
      <p:sp>
        <p:nvSpPr>
          <p:cNvPr id="22" name="Text 19"/>
          <p:cNvSpPr txBox="1"/>
          <p:nvPr/>
        </p:nvSpPr>
        <p:spPr>
          <a:xfrm>
            <a:off x="3703320" y="3017520"/>
            <a:ext cx="457200" cy="274320"/>
          </a:xfrm>
          <a:prstGeom prst="rect">
            <a:avLst/>
          </a:prstGeom>
          <a:noFill/>
          <a:ln/>
        </p:spPr>
        <p:txBody>
          <a:bodyPr wrap="square" lIns="0" tIns="0" rIns="0" bIns="0" rtlCol="0" anchor="t"/>
          <a:lstStyle/>
          <a:p>
            <a:pPr indent="0" marL="0">
              <a:buNone/>
            </a:pPr>
            <a:r>
              <a:rPr lang="en-US" sz="1050" b="1" dirty="0">
                <a:solidFill>
                  <a:srgbClr val="0064E0"/>
                </a:solidFill>
              </a:rPr>
              <a:t>no</a:t>
            </a:r>
            <a:endParaRPr lang="en-US" sz="1050" dirty="0"/>
          </a:p>
        </p:txBody>
      </p:sp>
      <p:sp>
        <p:nvSpPr>
          <p:cNvPr id="23" name="Shape 20"/>
          <p:cNvSpPr/>
          <p:nvPr/>
        </p:nvSpPr>
        <p:spPr>
          <a:xfrm>
            <a:off x="1920240" y="3566160"/>
            <a:ext cx="2697480" cy="960120"/>
          </a:xfrm>
          <a:prstGeom prst="roundRect">
            <a:avLst>
              <a:gd name="adj" fmla="val 11429"/>
            </a:avLst>
          </a:prstGeom>
          <a:solidFill>
            <a:srgbClr val="E8F1FD"/>
          </a:solidFill>
          <a:ln w="25400">
            <a:solidFill>
              <a:srgbClr val="0064E0"/>
            </a:solidFill>
            <a:prstDash val="solid"/>
          </a:ln>
        </p:spPr>
      </p:sp>
      <p:sp>
        <p:nvSpPr>
          <p:cNvPr id="24" name="Text 21"/>
          <p:cNvSpPr txBox="1"/>
          <p:nvPr/>
        </p:nvSpPr>
        <p:spPr>
          <a:xfrm>
            <a:off x="2066544" y="3675888"/>
            <a:ext cx="2423160" cy="274320"/>
          </a:xfrm>
          <a:prstGeom prst="rect">
            <a:avLst/>
          </a:prstGeom>
          <a:noFill/>
          <a:ln/>
        </p:spPr>
        <p:txBody>
          <a:bodyPr wrap="square" lIns="0" tIns="0" rIns="0" bIns="0" rtlCol="0" anchor="t"/>
          <a:lstStyle/>
          <a:p>
            <a:pPr indent="0" marL="0">
              <a:buNone/>
            </a:pPr>
            <a:r>
              <a:rPr lang="en-US" sz="1350" b="1" dirty="0">
                <a:solidFill>
                  <a:srgbClr val="0064E0"/>
                </a:solidFill>
              </a:rPr>
              <a:t>Muse Glimmer reasons</a:t>
            </a:r>
            <a:endParaRPr lang="en-US" sz="1350" dirty="0"/>
          </a:p>
        </p:txBody>
      </p:sp>
      <p:sp>
        <p:nvSpPr>
          <p:cNvPr id="25" name="Text 22"/>
          <p:cNvSpPr txBox="1"/>
          <p:nvPr/>
        </p:nvSpPr>
        <p:spPr>
          <a:xfrm>
            <a:off x="2066544" y="3968496"/>
            <a:ext cx="2423160" cy="502920"/>
          </a:xfrm>
          <a:prstGeom prst="rect">
            <a:avLst/>
          </a:prstGeom>
          <a:noFill/>
          <a:ln/>
        </p:spPr>
        <p:txBody>
          <a:bodyPr wrap="square" lIns="0" tIns="0" rIns="0" bIns="0" rtlCol="0" anchor="t"/>
          <a:lstStyle/>
          <a:p>
            <a:pPr indent="0" marL="0">
              <a:buNone/>
            </a:pPr>
            <a:r>
              <a:rPr lang="en-US" sz="1050" dirty="0">
                <a:solidFill>
                  <a:srgbClr val="55555C"/>
                </a:solidFill>
              </a:rPr>
              <a:t>the full answer, about 450 tokens, 24 to 40 s</a:t>
            </a:r>
            <a:endParaRPr lang="en-US" sz="1050" dirty="0"/>
          </a:p>
        </p:txBody>
      </p:sp>
      <p:sp>
        <p:nvSpPr>
          <p:cNvPr id="26" name="Shape 23"/>
          <p:cNvSpPr/>
          <p:nvPr/>
        </p:nvSpPr>
        <p:spPr>
          <a:xfrm>
            <a:off x="3264408" y="4544568"/>
            <a:ext cx="0" cy="320040"/>
          </a:xfrm>
          <a:prstGeom prst="line">
            <a:avLst/>
          </a:prstGeom>
          <a:noFill/>
          <a:ln w="22225">
            <a:solidFill>
              <a:srgbClr val="8A8A92"/>
            </a:solidFill>
            <a:prstDash val="solid"/>
            <a:tailEnd type="triangle"/>
          </a:ln>
        </p:spPr>
      </p:sp>
      <p:sp>
        <p:nvSpPr>
          <p:cNvPr id="27" name="Shape 24"/>
          <p:cNvSpPr/>
          <p:nvPr/>
        </p:nvSpPr>
        <p:spPr>
          <a:xfrm>
            <a:off x="6190488" y="4544568"/>
            <a:ext cx="0" cy="320040"/>
          </a:xfrm>
          <a:prstGeom prst="line">
            <a:avLst/>
          </a:prstGeom>
          <a:noFill/>
          <a:ln w="22225">
            <a:solidFill>
              <a:srgbClr val="8A8A92"/>
            </a:solidFill>
            <a:prstDash val="solid"/>
            <a:tailEnd type="triangle"/>
          </a:ln>
        </p:spPr>
      </p:sp>
      <p:sp>
        <p:nvSpPr>
          <p:cNvPr id="28" name="Shape 25"/>
          <p:cNvSpPr/>
          <p:nvPr/>
        </p:nvSpPr>
        <p:spPr>
          <a:xfrm>
            <a:off x="548640" y="4892040"/>
            <a:ext cx="6766560" cy="1280160"/>
          </a:xfrm>
          <a:prstGeom prst="roundRect">
            <a:avLst>
              <a:gd name="adj" fmla="val 8571"/>
            </a:avLst>
          </a:prstGeom>
          <a:solidFill>
            <a:srgbClr val="F6F7F8"/>
          </a:solidFill>
          <a:ln w="12700">
            <a:solidFill>
              <a:srgbClr val="F6F7F8"/>
            </a:solidFill>
            <a:prstDash val="solid"/>
          </a:ln>
        </p:spPr>
      </p:sp>
      <p:sp>
        <p:nvSpPr>
          <p:cNvPr id="29" name="Text 26"/>
          <p:cNvSpPr txBox="1"/>
          <p:nvPr/>
        </p:nvSpPr>
        <p:spPr>
          <a:xfrm>
            <a:off x="731520" y="5001768"/>
            <a:ext cx="6400800" cy="274320"/>
          </a:xfrm>
          <a:prstGeom prst="rect">
            <a:avLst/>
          </a:prstGeom>
          <a:noFill/>
          <a:ln/>
        </p:spPr>
        <p:txBody>
          <a:bodyPr wrap="square" lIns="0" tIns="0" rIns="0" bIns="0" rtlCol="0" anchor="t"/>
          <a:lstStyle/>
          <a:p>
            <a:pPr indent="0" marL="0">
              <a:buNone/>
            </a:pPr>
            <a:r>
              <a:rPr lang="en-US" sz="1350" b="1" dirty="0">
                <a:solidFill>
                  <a:srgbClr val="0A0A0B"/>
                </a:solidFill>
              </a:rPr>
              <a:t>Checked by code, then sent over A2A</a:t>
            </a:r>
            <a:endParaRPr lang="en-US" sz="1350" dirty="0"/>
          </a:p>
        </p:txBody>
      </p:sp>
      <p:sp>
        <p:nvSpPr>
          <p:cNvPr id="30" name="Text 27"/>
          <p:cNvSpPr txBox="1"/>
          <p:nvPr/>
        </p:nvSpPr>
        <p:spPr>
          <a:xfrm>
            <a:off x="731520" y="5303520"/>
            <a:ext cx="6400800" cy="822960"/>
          </a:xfrm>
          <a:prstGeom prst="rect">
            <a:avLst/>
          </a:prstGeom>
          <a:noFill/>
          <a:ln/>
        </p:spPr>
        <p:txBody>
          <a:bodyPr wrap="square" lIns="0" tIns="0" rIns="0" bIns="0" rtlCol="0" anchor="t"/>
          <a:lstStyle/>
          <a:p>
            <a:pPr indent="0" marL="0">
              <a:buNone/>
            </a:pPr>
            <a:r>
              <a:rPr lang="en-US" sz="1100" dirty="0">
                <a:solidFill>
                  <a:srgbClr val="55555C"/>
                </a:solidFill>
              </a:rPr>
              <a:t>Whoever answered, code checks the member's hard rules again before the decision goes to the other agent, labelled with the tier that made it. Agent chats shows it under every message.</a:t>
            </a:r>
            <a:endParaRPr lang="en-US" sz="1100" dirty="0"/>
          </a:p>
        </p:txBody>
      </p:sp>
      <p:graphicFrame>
        <p:nvGraphicFramePr>
          <p:cNvPr id="31" name="Chart 0" descr=""/>
          <p:cNvGraphicFramePr/>
          <p:nvPr/>
        </p:nvGraphicFramePr>
        <p:xfrm>
          <a:off x="7589520" y="1600200"/>
          <a:ext cx="4069080" cy="3291840"/>
        </p:xfrm>
        <a:graphic xmlns:a="http://schemas.openxmlformats.org/drawingml/2006/main">
          <a:graphicData uri="http://schemas.openxmlformats.org/drawingml/2006/chart">
            <c:chart xmlns:c="http://schemas.openxmlformats.org/drawingml/2006/chart" r:id="rId1"/>
          </a:graphicData>
        </a:graphic>
      </p:graphicFrame>
      <p:sp>
        <p:nvSpPr>
          <p:cNvPr id="32" name="Shape 28"/>
          <p:cNvSpPr/>
          <p:nvPr/>
        </p:nvSpPr>
        <p:spPr>
          <a:xfrm>
            <a:off x="7589520" y="5029200"/>
            <a:ext cx="4069080" cy="1143000"/>
          </a:xfrm>
          <a:prstGeom prst="roundRect">
            <a:avLst>
              <a:gd name="adj" fmla="val 9600"/>
            </a:avLst>
          </a:prstGeom>
          <a:solidFill>
            <a:srgbClr val="E9F3EC"/>
          </a:solidFill>
          <a:ln w="12700">
            <a:solidFill>
              <a:srgbClr val="E9F3EC"/>
            </a:solidFill>
            <a:prstDash val="solid"/>
          </a:ln>
        </p:spPr>
      </p:sp>
      <p:sp>
        <p:nvSpPr>
          <p:cNvPr id="33" name="Text 29"/>
          <p:cNvSpPr txBox="1"/>
          <p:nvPr/>
        </p:nvSpPr>
        <p:spPr>
          <a:xfrm>
            <a:off x="7772400" y="5120640"/>
            <a:ext cx="3749040" cy="274320"/>
          </a:xfrm>
          <a:prstGeom prst="rect">
            <a:avLst/>
          </a:prstGeom>
          <a:noFill/>
          <a:ln/>
        </p:spPr>
        <p:txBody>
          <a:bodyPr wrap="square" lIns="0" tIns="0" rIns="0" bIns="0" rtlCol="0" anchor="t"/>
          <a:lstStyle/>
          <a:p>
            <a:pPr indent="0" marL="0">
              <a:buNone/>
            </a:pPr>
            <a:r>
              <a:rPr lang="en-US" sz="1350" b="1" dirty="0">
                <a:solidFill>
                  <a:srgbClr val="0A7F44"/>
                </a:solidFill>
              </a:rPr>
              <a:t>Served at 0.6</a:t>
            </a:r>
            <a:endParaRPr lang="en-US" sz="1350" dirty="0"/>
          </a:p>
        </p:txBody>
      </p:sp>
      <p:sp>
        <p:nvSpPr>
          <p:cNvPr id="34" name="Text 30"/>
          <p:cNvSpPr txBox="1"/>
          <p:nvPr/>
        </p:nvSpPr>
        <p:spPr>
          <a:xfrm>
            <a:off x="7772400" y="5413248"/>
            <a:ext cx="3749040" cy="731520"/>
          </a:xfrm>
          <a:prstGeom prst="rect">
            <a:avLst/>
          </a:prstGeom>
          <a:noFill/>
          <a:ln/>
        </p:spPr>
        <p:txBody>
          <a:bodyPr wrap="square" lIns="0" tIns="0" rIns="0" bIns="0" rtlCol="0" anchor="t"/>
          <a:lstStyle/>
          <a:p>
            <a:pPr indent="0" marL="0">
              <a:buNone/>
            </a:pPr>
            <a:r>
              <a:rPr lang="en-US" sz="1050" dirty="0">
                <a:solidFill>
                  <a:srgbClr val="55555C"/>
                </a:solidFill>
              </a:rPr>
              <a:t>The student answers 73% of the hardest choices and 96% of the test set; Glimmer takes the rest. Glimmer alone agrees with itself 73.5% on these.</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MEASURED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Two charts behind two design choices</a:t>
            </a:r>
            <a:endParaRPr lang="en-US" sz="3200" dirty="0"/>
          </a:p>
        </p:txBody>
      </p:sp>
      <p:pic>
        <p:nvPicPr>
          <p:cNvPr id="5" name="Image 0" descr="preencoded.png">    </p:cNvPr>
          <p:cNvPicPr>
            <a:picLocks noChangeAspect="1"/>
          </p:cNvPicPr>
          <p:nvPr/>
        </p:nvPicPr>
        <p:blipFill>
          <a:blip r:embed="rId1"/>
          <a:stretch>
            <a:fillRect/>
          </a:stretch>
        </p:blipFill>
        <p:spPr>
          <a:xfrm>
            <a:off x="548640" y="1691640"/>
            <a:ext cx="5440680" cy="2863516"/>
          </a:xfrm>
          <a:prstGeom prst="rect">
            <a:avLst/>
          </a:prstGeom>
        </p:spPr>
      </p:pic>
      <p:sp>
        <p:nvSpPr>
          <p:cNvPr id="6" name="Text 2"/>
          <p:cNvSpPr txBox="1"/>
          <p:nvPr/>
        </p:nvSpPr>
        <p:spPr>
          <a:xfrm>
            <a:off x="548640" y="4646596"/>
            <a:ext cx="5440680" cy="548640"/>
          </a:xfrm>
          <a:prstGeom prst="rect">
            <a:avLst/>
          </a:prstGeom>
          <a:noFill/>
          <a:ln/>
        </p:spPr>
        <p:txBody>
          <a:bodyPr wrap="square" lIns="0" tIns="0" rIns="0" bIns="0" rtlCol="0" anchor="t"/>
          <a:lstStyle/>
          <a:p>
            <a:pPr indent="0" marL="0">
              <a:buNone/>
            </a:pPr>
            <a:r>
              <a:rPr lang="en-US" sz="1100" dirty="0">
                <a:solidFill>
                  <a:srgbClr val="55555C"/>
                </a:solidFill>
              </a:rPr>
              <a:t>Tokens per model call, by club size: the whole club in the prompt grows with it; Serve's calls stay about 1,500 tokens from 11 to 301 members</a:t>
            </a:r>
            <a:endParaRPr lang="en-US" sz="1100" dirty="0"/>
          </a:p>
        </p:txBody>
      </p:sp>
      <p:pic>
        <p:nvPicPr>
          <p:cNvPr id="7" name="Image 1" descr="preencoded.png">    </p:cNvPr>
          <p:cNvPicPr>
            <a:picLocks noChangeAspect="1"/>
          </p:cNvPicPr>
          <p:nvPr/>
        </p:nvPicPr>
        <p:blipFill>
          <a:blip r:embed="rId2"/>
          <a:stretch>
            <a:fillRect/>
          </a:stretch>
        </p:blipFill>
        <p:spPr>
          <a:xfrm>
            <a:off x="6263640" y="1691640"/>
            <a:ext cx="5349240" cy="3429000"/>
          </a:xfrm>
          <a:prstGeom prst="rect">
            <a:avLst/>
          </a:prstGeom>
        </p:spPr>
      </p:pic>
      <p:sp>
        <p:nvSpPr>
          <p:cNvPr id="8" name="Text 3"/>
          <p:cNvSpPr txBox="1"/>
          <p:nvPr/>
        </p:nvSpPr>
        <p:spPr>
          <a:xfrm>
            <a:off x="6263640" y="5212080"/>
            <a:ext cx="5349240" cy="548640"/>
          </a:xfrm>
          <a:prstGeom prst="rect">
            <a:avLst/>
          </a:prstGeom>
          <a:noFill/>
          <a:ln/>
        </p:spPr>
        <p:txBody>
          <a:bodyPr wrap="square" lIns="0" tIns="0" rIns="0" bIns="0" rtlCol="0" anchor="t"/>
          <a:lstStyle/>
          <a:p>
            <a:pPr indent="0" marL="0">
              <a:buNone/>
            </a:pPr>
            <a:r>
              <a:rPr lang="en-US" sz="1100" dirty="0">
                <a:solidFill>
                  <a:srgbClr val="55555C"/>
                </a:solidFill>
              </a:rPr>
              <a:t>One member's decision: what each tier costs, and how often it matches the full answer (code, then Llama 3.2 1B, then Muse Glimmer)</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SAFE BY DESIGN</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No agent holds all three at once</a:t>
            </a:r>
            <a:endParaRPr lang="en-US" sz="3200" dirty="0"/>
          </a:p>
        </p:txBody>
      </p:sp>
      <p:sp>
        <p:nvSpPr>
          <p:cNvPr id="5" name="Shape 2"/>
          <p:cNvSpPr/>
          <p:nvPr/>
        </p:nvSpPr>
        <p:spPr>
          <a:xfrm>
            <a:off x="822960" y="1737360"/>
            <a:ext cx="2286000" cy="2286000"/>
          </a:xfrm>
          <a:prstGeom prst="ellipse">
            <a:avLst/>
          </a:prstGeom>
          <a:solidFill>
            <a:srgbClr val="FBEAE9">
              <a:alpha val="65000"/>
            </a:srgbClr>
          </a:solidFill>
          <a:ln w="25400">
            <a:solidFill>
              <a:srgbClr val="D1352B"/>
            </a:solidFill>
            <a:prstDash val="solid"/>
          </a:ln>
        </p:spPr>
      </p:sp>
      <p:sp>
        <p:nvSpPr>
          <p:cNvPr id="6" name="Shape 3"/>
          <p:cNvSpPr/>
          <p:nvPr/>
        </p:nvSpPr>
        <p:spPr>
          <a:xfrm>
            <a:off x="2606040" y="1737360"/>
            <a:ext cx="2286000" cy="2286000"/>
          </a:xfrm>
          <a:prstGeom prst="ellipse">
            <a:avLst/>
          </a:prstGeom>
          <a:solidFill>
            <a:srgbClr val="E8F1FD">
              <a:alpha val="65000"/>
            </a:srgbClr>
          </a:solidFill>
          <a:ln w="25400">
            <a:solidFill>
              <a:srgbClr val="0064E0"/>
            </a:solidFill>
            <a:prstDash val="solid"/>
          </a:ln>
        </p:spPr>
      </p:sp>
      <p:sp>
        <p:nvSpPr>
          <p:cNvPr id="7" name="Shape 4"/>
          <p:cNvSpPr/>
          <p:nvPr/>
        </p:nvSpPr>
        <p:spPr>
          <a:xfrm>
            <a:off x="1719072" y="3246120"/>
            <a:ext cx="2286000" cy="2286000"/>
          </a:xfrm>
          <a:prstGeom prst="ellipse">
            <a:avLst/>
          </a:prstGeom>
          <a:solidFill>
            <a:srgbClr val="E9F3EC">
              <a:alpha val="65000"/>
            </a:srgbClr>
          </a:solidFill>
          <a:ln w="25400">
            <a:solidFill>
              <a:srgbClr val="0A7F44"/>
            </a:solidFill>
            <a:prstDash val="solid"/>
          </a:ln>
        </p:spPr>
      </p:sp>
      <p:sp>
        <p:nvSpPr>
          <p:cNvPr id="8" name="Text 5"/>
          <p:cNvSpPr txBox="1"/>
          <p:nvPr/>
        </p:nvSpPr>
        <p:spPr>
          <a:xfrm>
            <a:off x="1051560" y="2331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Untrusted</a:t>
            </a:r>
            <a:endParaRPr lang="en-US" sz="1500" dirty="0"/>
          </a:p>
          <a:p>
            <a:pPr algn="ctr" indent="0" marL="0">
              <a:buNone/>
            </a:pPr>
            <a:r>
              <a:rPr lang="en-US" sz="1500" b="1" dirty="0">
                <a:solidFill>
                  <a:srgbClr val="0A0A0B"/>
                </a:solidFill>
              </a:rPr>
              <a:t>input</a:t>
            </a:r>
            <a:endParaRPr lang="en-US" sz="1500" dirty="0"/>
          </a:p>
        </p:txBody>
      </p:sp>
      <p:sp>
        <p:nvSpPr>
          <p:cNvPr id="9" name="Text 6"/>
          <p:cNvSpPr txBox="1"/>
          <p:nvPr/>
        </p:nvSpPr>
        <p:spPr>
          <a:xfrm>
            <a:off x="3520440" y="2331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Private</a:t>
            </a:r>
            <a:endParaRPr lang="en-US" sz="1500" dirty="0"/>
          </a:p>
          <a:p>
            <a:pPr algn="ctr" indent="0" marL="0">
              <a:buNone/>
            </a:pPr>
            <a:r>
              <a:rPr lang="en-US" sz="1500" b="1" dirty="0">
                <a:solidFill>
                  <a:srgbClr val="0A0A0B"/>
                </a:solidFill>
              </a:rPr>
              <a:t>data</a:t>
            </a:r>
            <a:endParaRPr lang="en-US" sz="1500" dirty="0"/>
          </a:p>
        </p:txBody>
      </p:sp>
      <p:sp>
        <p:nvSpPr>
          <p:cNvPr id="10" name="Text 7"/>
          <p:cNvSpPr txBox="1"/>
          <p:nvPr/>
        </p:nvSpPr>
        <p:spPr>
          <a:xfrm>
            <a:off x="2221992" y="4617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The power</a:t>
            </a:r>
            <a:endParaRPr lang="en-US" sz="1500" dirty="0"/>
          </a:p>
          <a:p>
            <a:pPr algn="ctr" indent="0" marL="0">
              <a:buNone/>
            </a:pPr>
            <a:r>
              <a:rPr lang="en-US" sz="1500" b="1" dirty="0">
                <a:solidFill>
                  <a:srgbClr val="0A0A0B"/>
                </a:solidFill>
              </a:rPr>
              <a:t>to act</a:t>
            </a:r>
            <a:endParaRPr lang="en-US" sz="1500" dirty="0"/>
          </a:p>
        </p:txBody>
      </p:sp>
      <p:sp>
        <p:nvSpPr>
          <p:cNvPr id="11" name="Shape 8"/>
          <p:cNvSpPr/>
          <p:nvPr/>
        </p:nvSpPr>
        <p:spPr>
          <a:xfrm>
            <a:off x="2542032" y="2971800"/>
            <a:ext cx="658368" cy="658368"/>
          </a:xfrm>
          <a:prstGeom prst="ellipse">
            <a:avLst/>
          </a:prstGeom>
          <a:solidFill>
            <a:srgbClr val="FFFFFF"/>
          </a:solidFill>
          <a:ln w="38100">
            <a:solidFill>
              <a:srgbClr val="D1352B"/>
            </a:solidFill>
            <a:prstDash val="solid"/>
          </a:ln>
        </p:spPr>
      </p:sp>
      <p:sp>
        <p:nvSpPr>
          <p:cNvPr id="12" name="Text 9"/>
          <p:cNvSpPr txBox="1"/>
          <p:nvPr/>
        </p:nvSpPr>
        <p:spPr>
          <a:xfrm>
            <a:off x="2542032" y="2971800"/>
            <a:ext cx="658368" cy="658368"/>
          </a:xfrm>
          <a:prstGeom prst="rect">
            <a:avLst/>
          </a:prstGeom>
          <a:noFill/>
          <a:ln/>
        </p:spPr>
        <p:txBody>
          <a:bodyPr wrap="square" lIns="0" tIns="0" rIns="0" bIns="0" rtlCol="0" anchor="ctr"/>
          <a:lstStyle/>
          <a:p>
            <a:pPr algn="ctr" indent="0" marL="0">
              <a:buNone/>
            </a:pPr>
            <a:r>
              <a:rPr lang="en-US" sz="3000" b="1" dirty="0">
                <a:solidFill>
                  <a:srgbClr val="D1352B"/>
                </a:solidFill>
              </a:rPr>
              <a:t>×</a:t>
            </a:r>
            <a:endParaRPr lang="en-US" sz="3000" dirty="0"/>
          </a:p>
        </p:txBody>
      </p:sp>
      <p:sp>
        <p:nvSpPr>
          <p:cNvPr id="13" name="Text 10"/>
          <p:cNvSpPr txBox="1"/>
          <p:nvPr/>
        </p:nvSpPr>
        <p:spPr>
          <a:xfrm>
            <a:off x="548640" y="5715000"/>
            <a:ext cx="4937760" cy="548640"/>
          </a:xfrm>
          <a:prstGeom prst="rect">
            <a:avLst/>
          </a:prstGeom>
          <a:noFill/>
          <a:ln/>
        </p:spPr>
        <p:txBody>
          <a:bodyPr wrap="square" lIns="0" tIns="0" rIns="0" bIns="0" rtlCol="0" anchor="t"/>
          <a:lstStyle/>
          <a:p>
            <a:pPr indent="0" marL="0">
              <a:buNone/>
            </a:pPr>
            <a:r>
              <a:rPr lang="en-US" sz="1200" dirty="0">
                <a:solidFill>
                  <a:srgbClr val="55555C"/>
                </a:solidFill>
              </a:rPr>
              <a:t>Meta's Agents Rule of Two, on every agent: the planner, members' agents, the photo reader and the community loop.</a:t>
            </a:r>
            <a:endParaRPr lang="en-US" sz="1200" dirty="0"/>
          </a:p>
        </p:txBody>
      </p:sp>
      <p:sp>
        <p:nvSpPr>
          <p:cNvPr id="14" name="Text 11"/>
          <p:cNvSpPr txBox="1"/>
          <p:nvPr/>
        </p:nvSpPr>
        <p:spPr>
          <a:xfrm>
            <a:off x="6172200" y="1691640"/>
            <a:ext cx="5486400" cy="411480"/>
          </a:xfrm>
          <a:prstGeom prst="rect">
            <a:avLst/>
          </a:prstGeom>
          <a:noFill/>
          <a:ln/>
        </p:spPr>
        <p:txBody>
          <a:bodyPr wrap="square" lIns="0" tIns="0" rIns="0" bIns="0" rtlCol="0" anchor="t"/>
          <a:lstStyle/>
          <a:p>
            <a:pPr indent="0" marL="0">
              <a:buNone/>
            </a:pPr>
            <a:r>
              <a:rPr lang="en-US" sz="2000" b="1" dirty="0">
                <a:solidFill>
                  <a:srgbClr val="0A0A0B"/>
                </a:solidFill>
              </a:rPr>
              <a:t>A disclosure budget</a:t>
            </a:r>
            <a:endParaRPr lang="en-US" sz="2000" dirty="0"/>
          </a:p>
        </p:txBody>
      </p:sp>
      <p:sp>
        <p:nvSpPr>
          <p:cNvPr id="15" name="Text 12"/>
          <p:cNvSpPr txBox="1"/>
          <p:nvPr/>
        </p:nvSpPr>
        <p:spPr>
          <a:xfrm>
            <a:off x="6172200" y="2103120"/>
            <a:ext cx="5394960" cy="548640"/>
          </a:xfrm>
          <a:prstGeom prst="rect">
            <a:avLst/>
          </a:prstGeom>
          <a:noFill/>
          <a:ln/>
        </p:spPr>
        <p:txBody>
          <a:bodyPr wrap="square" lIns="0" tIns="0" rIns="0" bIns="0" rtlCol="0" anchor="t"/>
          <a:lstStyle/>
          <a:p>
            <a:pPr indent="0" marL="0">
              <a:buNone/>
            </a:pPr>
            <a:r>
              <a:rPr lang="en-US" sz="1250" dirty="0">
                <a:solidFill>
                  <a:srgbClr val="55555C"/>
                </a:solidFill>
              </a:rPr>
              <a:t>An agent that keeps asking for games can map out your week. How many of your weekdays it pins down exactly:</a:t>
            </a:r>
            <a:endParaRPr lang="en-US" sz="1250" dirty="0"/>
          </a:p>
        </p:txBody>
      </p:sp>
      <p:graphicFrame>
        <p:nvGraphicFramePr>
          <p:cNvPr id="16" name="Chart 0" descr=""/>
          <p:cNvGraphicFramePr/>
          <p:nvPr/>
        </p:nvGraphicFramePr>
        <p:xfrm>
          <a:off x="6080760" y="2697480"/>
          <a:ext cx="5577840" cy="1828800"/>
        </p:xfrm>
        <a:graphic xmlns:a="http://schemas.openxmlformats.org/drawingml/2006/main">
          <a:graphicData uri="http://schemas.openxmlformats.org/drawingml/2006/chart">
            <c:chart xmlns:c="http://schemas.openxmlformats.org/drawingml/2006/chart" r:id="rId1"/>
          </a:graphicData>
        </a:graphic>
      </p:graphicFrame>
      <p:sp>
        <p:nvSpPr>
          <p:cNvPr id="17" name="Shape 13"/>
          <p:cNvSpPr/>
          <p:nvPr/>
        </p:nvSpPr>
        <p:spPr>
          <a:xfrm>
            <a:off x="6172200" y="4553712"/>
            <a:ext cx="3291840" cy="329184"/>
          </a:xfrm>
          <a:prstGeom prst="roundRect">
            <a:avLst>
              <a:gd name="adj" fmla="val 50000"/>
            </a:avLst>
          </a:prstGeom>
          <a:solidFill>
            <a:srgbClr val="FFFFFF"/>
          </a:solidFill>
          <a:ln w="12700">
            <a:solidFill>
              <a:srgbClr val="DCDCE0"/>
            </a:solidFill>
            <a:prstDash val="solid"/>
          </a:ln>
        </p:spPr>
      </p:sp>
      <p:sp>
        <p:nvSpPr>
          <p:cNvPr id="18" name="Text 14"/>
          <p:cNvSpPr txBox="1"/>
          <p:nvPr/>
        </p:nvSpPr>
        <p:spPr>
          <a:xfrm>
            <a:off x="6172200" y="4553712"/>
            <a:ext cx="3291840" cy="329184"/>
          </a:xfrm>
          <a:prstGeom prst="rect">
            <a:avLst/>
          </a:prstGeom>
          <a:noFill/>
          <a:ln/>
        </p:spPr>
        <p:txBody>
          <a:bodyPr wrap="square" lIns="0" tIns="0" rIns="0" bIns="0" rtlCol="0" anchor="ctr"/>
          <a:lstStyle/>
          <a:p>
            <a:pPr algn="ctr" indent="0" marL="0">
              <a:buNone/>
            </a:pPr>
            <a:r>
              <a:rPr lang="en-US" sz="1050" b="1" dirty="0">
                <a:solidFill>
                  <a:srgbClr val="55555C"/>
                </a:solidFill>
              </a:rPr>
              <a:t>Simulated prober · technical report 3.13</a:t>
            </a:r>
            <a:endParaRPr lang="en-US" sz="1050" dirty="0"/>
          </a:p>
        </p:txBody>
      </p:sp>
      <p:sp>
        <p:nvSpPr>
          <p:cNvPr id="19" name="Shape 15"/>
          <p:cNvSpPr/>
          <p:nvPr/>
        </p:nvSpPr>
        <p:spPr>
          <a:xfrm>
            <a:off x="6172200" y="5074920"/>
            <a:ext cx="5440680" cy="1143000"/>
          </a:xfrm>
          <a:prstGeom prst="roundRect">
            <a:avLst>
              <a:gd name="adj" fmla="val 9600"/>
            </a:avLst>
          </a:prstGeom>
          <a:solidFill>
            <a:srgbClr val="F6F7F8"/>
          </a:solidFill>
          <a:ln w="12700">
            <a:solidFill>
              <a:srgbClr val="F6F7F8"/>
            </a:solidFill>
            <a:prstDash val="solid"/>
          </a:ln>
        </p:spPr>
      </p:sp>
      <p:sp>
        <p:nvSpPr>
          <p:cNvPr id="20" name="Text 16"/>
          <p:cNvSpPr txBox="1"/>
          <p:nvPr/>
        </p:nvSpPr>
        <p:spPr>
          <a:xfrm>
            <a:off x="6355080" y="5074920"/>
            <a:ext cx="1737360" cy="1143000"/>
          </a:xfrm>
          <a:prstGeom prst="rect">
            <a:avLst/>
          </a:prstGeom>
          <a:noFill/>
          <a:ln/>
        </p:spPr>
        <p:txBody>
          <a:bodyPr wrap="square" lIns="0" tIns="0" rIns="0" bIns="0" rtlCol="0" anchor="ctr"/>
          <a:lstStyle/>
          <a:p>
            <a:pPr indent="0" marL="0">
              <a:buNone/>
            </a:pPr>
            <a:r>
              <a:rPr lang="en-US" sz="3000" b="1" dirty="0">
                <a:solidFill>
                  <a:srgbClr val="0A7F44"/>
                </a:solidFill>
              </a:rPr>
              <a:t>65 / 65</a:t>
            </a:r>
            <a:endParaRPr lang="en-US" sz="3000" dirty="0"/>
          </a:p>
        </p:txBody>
      </p:sp>
      <p:sp>
        <p:nvSpPr>
          <p:cNvPr id="21" name="Text 17"/>
          <p:cNvSpPr txBox="1"/>
          <p:nvPr/>
        </p:nvSpPr>
        <p:spPr>
          <a:xfrm>
            <a:off x="8092440" y="5074920"/>
            <a:ext cx="3383280" cy="1143000"/>
          </a:xfrm>
          <a:prstGeom prst="rect">
            <a:avLst/>
          </a:prstGeom>
          <a:noFill/>
          <a:ln/>
        </p:spPr>
        <p:txBody>
          <a:bodyPr wrap="square" lIns="0" tIns="0" rIns="0" bIns="0" rtlCol="0" anchor="ctr"/>
          <a:lstStyle/>
          <a:p>
            <a:pPr indent="0" marL="0">
              <a:buNone/>
            </a:pPr>
            <a:r>
              <a:rPr lang="en-US" sz="1150" dirty="0">
                <a:solidFill>
                  <a:srgbClr val="0A0A0B"/>
                </a:solidFill>
              </a:rPr>
              <a:t>attacks stopped: injected instructions, poisoned reviews, forged Agent Cards, sock-puppet votes, diffs that book without a yes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SELF-EVOLVING</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The club makes itself better, safely</a:t>
            </a:r>
            <a:endParaRPr lang="en-US" sz="3200" dirty="0"/>
          </a:p>
        </p:txBody>
      </p:sp>
      <p:sp>
        <p:nvSpPr>
          <p:cNvPr id="5" name="Shape 2"/>
          <p:cNvSpPr/>
          <p:nvPr/>
        </p:nvSpPr>
        <p:spPr>
          <a:xfrm>
            <a:off x="6400800" y="384048"/>
            <a:ext cx="5212080" cy="329184"/>
          </a:xfrm>
          <a:prstGeom prst="roundRect">
            <a:avLst>
              <a:gd name="adj" fmla="val 50000"/>
            </a:avLst>
          </a:prstGeom>
          <a:solidFill>
            <a:srgbClr val="FFFFFF"/>
          </a:solidFill>
          <a:ln w="12700">
            <a:solidFill>
              <a:srgbClr val="DCDCE0"/>
            </a:solidFill>
            <a:prstDash val="solid"/>
          </a:ln>
        </p:spPr>
      </p:sp>
      <p:sp>
        <p:nvSpPr>
          <p:cNvPr id="6" name="Text 3"/>
          <p:cNvSpPr txBox="1"/>
          <p:nvPr/>
        </p:nvSpPr>
        <p:spPr>
          <a:xfrm>
            <a:off x="6400800" y="384048"/>
            <a:ext cx="5212080" cy="329184"/>
          </a:xfrm>
          <a:prstGeom prst="rect">
            <a:avLst/>
          </a:prstGeom>
          <a:noFill/>
          <a:ln/>
        </p:spPr>
        <p:txBody>
          <a:bodyPr wrap="square" lIns="0" tIns="0" rIns="0" bIns="0" rtlCol="0" anchor="ctr"/>
          <a:lstStyle/>
          <a:p>
            <a:pPr algn="ctr" indent="0" marL="0">
              <a:buNone/>
            </a:pPr>
            <a:r>
              <a:rPr lang="en-US" sz="1050" b="1" dirty="0">
                <a:solidFill>
                  <a:srgbClr val="55555C"/>
                </a:solidFill>
              </a:rPr>
              <a:t>Simulated club (seed 7) · the pipeline, gates and rollback are real</a:t>
            </a:r>
            <a:endParaRPr lang="en-US" sz="1050" dirty="0"/>
          </a:p>
        </p:txBody>
      </p:sp>
      <p:sp>
        <p:nvSpPr>
          <p:cNvPr id="7" name="Shape 4"/>
          <p:cNvSpPr/>
          <p:nvPr/>
        </p:nvSpPr>
        <p:spPr>
          <a:xfrm>
            <a:off x="548640" y="1691640"/>
            <a:ext cx="2057400" cy="1600200"/>
          </a:xfrm>
          <a:prstGeom prst="roundRect">
            <a:avLst>
              <a:gd name="adj" fmla="val 6857"/>
            </a:avLst>
          </a:prstGeom>
          <a:solidFill>
            <a:srgbClr val="FFFFFF"/>
          </a:solidFill>
          <a:ln w="12700">
            <a:solidFill>
              <a:srgbClr val="DCDCE0"/>
            </a:solidFill>
            <a:prstDash val="solid"/>
          </a:ln>
        </p:spPr>
      </p:sp>
      <p:sp>
        <p:nvSpPr>
          <p:cNvPr id="8" name="Text 5"/>
          <p:cNvSpPr txBox="1"/>
          <p:nvPr/>
        </p:nvSpPr>
        <p:spPr>
          <a:xfrm>
            <a:off x="713232" y="1828800"/>
            <a:ext cx="1737360" cy="228600"/>
          </a:xfrm>
          <a:prstGeom prst="rect">
            <a:avLst/>
          </a:prstGeom>
          <a:noFill/>
          <a:ln/>
        </p:spPr>
        <p:txBody>
          <a:bodyPr wrap="square" lIns="0" tIns="0" rIns="0" bIns="0" rtlCol="0" anchor="t"/>
          <a:lstStyle/>
          <a:p>
            <a:pPr indent="0" marL="0">
              <a:buNone/>
            </a:pPr>
            <a:r>
              <a:rPr lang="en-US" sz="1050" b="1" dirty="0">
                <a:solidFill>
                  <a:srgbClr val="0A7F44"/>
                </a:solidFill>
              </a:rPr>
              <a:t>1 · ASK</a:t>
            </a:r>
            <a:endParaRPr lang="en-US" sz="1050" dirty="0"/>
          </a:p>
        </p:txBody>
      </p:sp>
      <p:sp>
        <p:nvSpPr>
          <p:cNvPr id="9" name="Text 6"/>
          <p:cNvSpPr txBox="1"/>
          <p:nvPr/>
        </p:nvSpPr>
        <p:spPr>
          <a:xfrm>
            <a:off x="713232" y="2084832"/>
            <a:ext cx="1783080" cy="566928"/>
          </a:xfrm>
          <a:prstGeom prst="rect">
            <a:avLst/>
          </a:prstGeom>
          <a:noFill/>
          <a:ln/>
        </p:spPr>
        <p:txBody>
          <a:bodyPr wrap="square" lIns="0" tIns="0" rIns="0" bIns="0" rtlCol="0" anchor="t"/>
          <a:lstStyle/>
          <a:p>
            <a:pPr indent="0" marL="0">
              <a:buNone/>
            </a:pPr>
            <a:r>
              <a:rPr lang="en-US" sz="1500" b="1" dirty="0">
                <a:solidFill>
                  <a:srgbClr val="0A0A0B"/>
                </a:solidFill>
              </a:rPr>
              <a:t>Members' ideas</a:t>
            </a:r>
            <a:endParaRPr lang="en-US" sz="1500" dirty="0"/>
          </a:p>
        </p:txBody>
      </p:sp>
      <p:sp>
        <p:nvSpPr>
          <p:cNvPr id="10" name="Text 7"/>
          <p:cNvSpPr txBox="1"/>
          <p:nvPr/>
        </p:nvSpPr>
        <p:spPr>
          <a:xfrm>
            <a:off x="713232" y="2651760"/>
            <a:ext cx="1783080" cy="594360"/>
          </a:xfrm>
          <a:prstGeom prst="rect">
            <a:avLst/>
          </a:prstGeom>
          <a:noFill/>
          <a:ln/>
        </p:spPr>
        <p:txBody>
          <a:bodyPr wrap="square" lIns="0" tIns="0" rIns="0" bIns="0" rtlCol="0" anchor="t"/>
          <a:lstStyle/>
          <a:p>
            <a:pPr indent="0" marL="0">
              <a:buNone/>
            </a:pPr>
            <a:r>
              <a:rPr lang="en-US" sz="1100" dirty="0">
                <a:solidFill>
                  <a:srgbClr val="55555C"/>
                </a:solidFill>
              </a:rPr>
              <a:t>"/idea" in Messenger, or thumbs up and down</a:t>
            </a:r>
            <a:endParaRPr lang="en-US" sz="1100" dirty="0"/>
          </a:p>
        </p:txBody>
      </p:sp>
      <p:sp>
        <p:nvSpPr>
          <p:cNvPr id="11" name="Shape 8"/>
          <p:cNvSpPr/>
          <p:nvPr/>
        </p:nvSpPr>
        <p:spPr>
          <a:xfrm>
            <a:off x="2624328" y="2487168"/>
            <a:ext cx="146304" cy="0"/>
          </a:xfrm>
          <a:prstGeom prst="line">
            <a:avLst/>
          </a:prstGeom>
          <a:noFill/>
          <a:ln w="22225">
            <a:solidFill>
              <a:srgbClr val="8A8A92"/>
            </a:solidFill>
            <a:prstDash val="solid"/>
            <a:tailEnd type="triangle"/>
          </a:ln>
        </p:spPr>
      </p:sp>
      <p:sp>
        <p:nvSpPr>
          <p:cNvPr id="12" name="Shape 9"/>
          <p:cNvSpPr/>
          <p:nvPr/>
        </p:nvSpPr>
        <p:spPr>
          <a:xfrm>
            <a:off x="2788920" y="1691640"/>
            <a:ext cx="2057400" cy="1600200"/>
          </a:xfrm>
          <a:prstGeom prst="roundRect">
            <a:avLst>
              <a:gd name="adj" fmla="val 6857"/>
            </a:avLst>
          </a:prstGeom>
          <a:solidFill>
            <a:srgbClr val="FFFFFF"/>
          </a:solidFill>
          <a:ln w="12700">
            <a:solidFill>
              <a:srgbClr val="DCDCE0"/>
            </a:solidFill>
            <a:prstDash val="solid"/>
          </a:ln>
        </p:spPr>
      </p:sp>
      <p:sp>
        <p:nvSpPr>
          <p:cNvPr id="13" name="Text 10"/>
          <p:cNvSpPr txBox="1"/>
          <p:nvPr/>
        </p:nvSpPr>
        <p:spPr>
          <a:xfrm>
            <a:off x="2953512" y="1828800"/>
            <a:ext cx="1737360" cy="228600"/>
          </a:xfrm>
          <a:prstGeom prst="rect">
            <a:avLst/>
          </a:prstGeom>
          <a:noFill/>
          <a:ln/>
        </p:spPr>
        <p:txBody>
          <a:bodyPr wrap="square" lIns="0" tIns="0" rIns="0" bIns="0" rtlCol="0" anchor="t"/>
          <a:lstStyle/>
          <a:p>
            <a:pPr indent="0" marL="0">
              <a:buNone/>
            </a:pPr>
            <a:r>
              <a:rPr lang="en-US" sz="1050" b="1" dirty="0">
                <a:solidFill>
                  <a:srgbClr val="0A7F44"/>
                </a:solidFill>
              </a:rPr>
              <a:t>2 · GROUP</a:t>
            </a:r>
            <a:endParaRPr lang="en-US" sz="1050" dirty="0"/>
          </a:p>
        </p:txBody>
      </p:sp>
      <p:sp>
        <p:nvSpPr>
          <p:cNvPr id="14" name="Text 11"/>
          <p:cNvSpPr txBox="1"/>
          <p:nvPr/>
        </p:nvSpPr>
        <p:spPr>
          <a:xfrm>
            <a:off x="2953512" y="2084832"/>
            <a:ext cx="1783080" cy="566928"/>
          </a:xfrm>
          <a:prstGeom prst="rect">
            <a:avLst/>
          </a:prstGeom>
          <a:noFill/>
          <a:ln/>
        </p:spPr>
        <p:txBody>
          <a:bodyPr wrap="square" lIns="0" tIns="0" rIns="0" bIns="0" rtlCol="0" anchor="t"/>
          <a:lstStyle/>
          <a:p>
            <a:pPr indent="0" marL="0">
              <a:buNone/>
            </a:pPr>
            <a:r>
              <a:rPr lang="en-US" sz="1500" b="1" dirty="0">
                <a:solidFill>
                  <a:srgbClr val="0A0A0B"/>
                </a:solidFill>
              </a:rPr>
              <a:t>Meta's DRAMA</a:t>
            </a:r>
            <a:endParaRPr lang="en-US" sz="1500" dirty="0"/>
          </a:p>
        </p:txBody>
      </p:sp>
      <p:sp>
        <p:nvSpPr>
          <p:cNvPr id="15" name="Text 12"/>
          <p:cNvSpPr txBox="1"/>
          <p:nvPr/>
        </p:nvSpPr>
        <p:spPr>
          <a:xfrm>
            <a:off x="2953512" y="2651760"/>
            <a:ext cx="1783080" cy="594360"/>
          </a:xfrm>
          <a:prstGeom prst="rect">
            <a:avLst/>
          </a:prstGeom>
          <a:noFill/>
          <a:ln/>
        </p:spPr>
        <p:txBody>
          <a:bodyPr wrap="square" lIns="0" tIns="0" rIns="0" bIns="0" rtlCol="0" anchor="t"/>
          <a:lstStyle/>
          <a:p>
            <a:pPr indent="0" marL="0">
              <a:buNone/>
            </a:pPr>
            <a:r>
              <a:rPr lang="en-US" sz="1100" dirty="0">
                <a:solidFill>
                  <a:srgbClr val="55555C"/>
                </a:solidFill>
              </a:rPr>
              <a:t>Groups ideas by meaning; an idea shows at 5 members</a:t>
            </a:r>
            <a:endParaRPr lang="en-US" sz="1100" dirty="0"/>
          </a:p>
        </p:txBody>
      </p:sp>
      <p:sp>
        <p:nvSpPr>
          <p:cNvPr id="16" name="Shape 13"/>
          <p:cNvSpPr/>
          <p:nvPr/>
        </p:nvSpPr>
        <p:spPr>
          <a:xfrm>
            <a:off x="4864608" y="2487168"/>
            <a:ext cx="146304" cy="0"/>
          </a:xfrm>
          <a:prstGeom prst="line">
            <a:avLst/>
          </a:prstGeom>
          <a:noFill/>
          <a:ln w="22225">
            <a:solidFill>
              <a:srgbClr val="8A8A92"/>
            </a:solidFill>
            <a:prstDash val="solid"/>
            <a:tailEnd type="triangle"/>
          </a:ln>
        </p:spPr>
      </p:sp>
      <p:sp>
        <p:nvSpPr>
          <p:cNvPr id="17" name="Shape 14"/>
          <p:cNvSpPr/>
          <p:nvPr/>
        </p:nvSpPr>
        <p:spPr>
          <a:xfrm>
            <a:off x="5029200" y="1691640"/>
            <a:ext cx="2057400" cy="1600200"/>
          </a:xfrm>
          <a:prstGeom prst="roundRect">
            <a:avLst>
              <a:gd name="adj" fmla="val 6857"/>
            </a:avLst>
          </a:prstGeom>
          <a:solidFill>
            <a:srgbClr val="FFFFFF"/>
          </a:solidFill>
          <a:ln w="12700">
            <a:solidFill>
              <a:srgbClr val="DCDCE0"/>
            </a:solidFill>
            <a:prstDash val="solid"/>
          </a:ln>
        </p:spPr>
      </p:sp>
      <p:sp>
        <p:nvSpPr>
          <p:cNvPr id="18" name="Text 15"/>
          <p:cNvSpPr txBox="1"/>
          <p:nvPr/>
        </p:nvSpPr>
        <p:spPr>
          <a:xfrm>
            <a:off x="5193792" y="1828800"/>
            <a:ext cx="1737360" cy="228600"/>
          </a:xfrm>
          <a:prstGeom prst="rect">
            <a:avLst/>
          </a:prstGeom>
          <a:noFill/>
          <a:ln/>
        </p:spPr>
        <p:txBody>
          <a:bodyPr wrap="square" lIns="0" tIns="0" rIns="0" bIns="0" rtlCol="0" anchor="t"/>
          <a:lstStyle/>
          <a:p>
            <a:pPr indent="0" marL="0">
              <a:buNone/>
            </a:pPr>
            <a:r>
              <a:rPr lang="en-US" sz="1050" b="1" dirty="0">
                <a:solidFill>
                  <a:srgbClr val="0A7F44"/>
                </a:solidFill>
              </a:rPr>
              <a:t>3 · VOTE</a:t>
            </a:r>
            <a:endParaRPr lang="en-US" sz="1050" dirty="0"/>
          </a:p>
        </p:txBody>
      </p:sp>
      <p:sp>
        <p:nvSpPr>
          <p:cNvPr id="19" name="Text 16"/>
          <p:cNvSpPr txBox="1"/>
          <p:nvPr/>
        </p:nvSpPr>
        <p:spPr>
          <a:xfrm>
            <a:off x="5193792" y="2084832"/>
            <a:ext cx="1783080" cy="566928"/>
          </a:xfrm>
          <a:prstGeom prst="rect">
            <a:avLst/>
          </a:prstGeom>
          <a:noFill/>
          <a:ln/>
        </p:spPr>
        <p:txBody>
          <a:bodyPr wrap="square" lIns="0" tIns="0" rIns="0" bIns="0" rtlCol="0" anchor="t"/>
          <a:lstStyle/>
          <a:p>
            <a:pPr indent="0" marL="0">
              <a:buNone/>
            </a:pPr>
            <a:r>
              <a:rPr lang="en-US" sz="1500" b="1" dirty="0">
                <a:solidFill>
                  <a:srgbClr val="0A0A0B"/>
                </a:solidFill>
              </a:rPr>
              <a:t>Quadratic votes</a:t>
            </a:r>
            <a:endParaRPr lang="en-US" sz="1500" dirty="0"/>
          </a:p>
        </p:txBody>
      </p:sp>
      <p:sp>
        <p:nvSpPr>
          <p:cNvPr id="20" name="Text 17"/>
          <p:cNvSpPr txBox="1"/>
          <p:nvPr/>
        </p:nvSpPr>
        <p:spPr>
          <a:xfrm>
            <a:off x="5193792" y="2651760"/>
            <a:ext cx="1783080" cy="594360"/>
          </a:xfrm>
          <a:prstGeom prst="rect">
            <a:avLst/>
          </a:prstGeom>
          <a:noFill/>
          <a:ln/>
        </p:spPr>
        <p:txBody>
          <a:bodyPr wrap="square" lIns="0" tIns="0" rIns="0" bIns="0" rtlCol="0" anchor="t"/>
          <a:lstStyle/>
          <a:p>
            <a:pPr indent="0" marL="0">
              <a:buNone/>
            </a:pPr>
            <a:r>
              <a:rPr lang="en-US" sz="1100" dirty="0">
                <a:solidFill>
                  <a:srgbClr val="55555C"/>
                </a:solidFill>
              </a:rPr>
              <a:t>9 credits a month; n votes cost n²</a:t>
            </a:r>
            <a:endParaRPr lang="en-US" sz="1100" dirty="0"/>
          </a:p>
        </p:txBody>
      </p:sp>
      <p:sp>
        <p:nvSpPr>
          <p:cNvPr id="21" name="Shape 18"/>
          <p:cNvSpPr/>
          <p:nvPr/>
        </p:nvSpPr>
        <p:spPr>
          <a:xfrm>
            <a:off x="7104888" y="2487168"/>
            <a:ext cx="146304" cy="0"/>
          </a:xfrm>
          <a:prstGeom prst="line">
            <a:avLst/>
          </a:prstGeom>
          <a:noFill/>
          <a:ln w="22225">
            <a:solidFill>
              <a:srgbClr val="8A8A92"/>
            </a:solidFill>
            <a:prstDash val="solid"/>
            <a:tailEnd type="triangle"/>
          </a:ln>
        </p:spPr>
      </p:sp>
      <p:sp>
        <p:nvSpPr>
          <p:cNvPr id="22" name="Shape 19"/>
          <p:cNvSpPr/>
          <p:nvPr/>
        </p:nvSpPr>
        <p:spPr>
          <a:xfrm>
            <a:off x="7269480" y="1691640"/>
            <a:ext cx="2057400" cy="1600200"/>
          </a:xfrm>
          <a:prstGeom prst="roundRect">
            <a:avLst>
              <a:gd name="adj" fmla="val 6857"/>
            </a:avLst>
          </a:prstGeom>
          <a:solidFill>
            <a:srgbClr val="FFFFFF"/>
          </a:solidFill>
          <a:ln w="12700">
            <a:solidFill>
              <a:srgbClr val="DCDCE0"/>
            </a:solidFill>
            <a:prstDash val="solid"/>
          </a:ln>
        </p:spPr>
      </p:sp>
      <p:sp>
        <p:nvSpPr>
          <p:cNvPr id="23" name="Text 20"/>
          <p:cNvSpPr txBox="1"/>
          <p:nvPr/>
        </p:nvSpPr>
        <p:spPr>
          <a:xfrm>
            <a:off x="7434072" y="1828800"/>
            <a:ext cx="1737360" cy="228600"/>
          </a:xfrm>
          <a:prstGeom prst="rect">
            <a:avLst/>
          </a:prstGeom>
          <a:noFill/>
          <a:ln/>
        </p:spPr>
        <p:txBody>
          <a:bodyPr wrap="square" lIns="0" tIns="0" rIns="0" bIns="0" rtlCol="0" anchor="t"/>
          <a:lstStyle/>
          <a:p>
            <a:pPr indent="0" marL="0">
              <a:buNone/>
            </a:pPr>
            <a:r>
              <a:rPr lang="en-US" sz="1050" b="1" dirty="0">
                <a:solidFill>
                  <a:srgbClr val="0A7F44"/>
                </a:solidFill>
              </a:rPr>
              <a:t>4 · SPEC</a:t>
            </a:r>
            <a:endParaRPr lang="en-US" sz="1050" dirty="0"/>
          </a:p>
        </p:txBody>
      </p:sp>
      <p:sp>
        <p:nvSpPr>
          <p:cNvPr id="24" name="Text 21"/>
          <p:cNvSpPr txBox="1"/>
          <p:nvPr/>
        </p:nvSpPr>
        <p:spPr>
          <a:xfrm>
            <a:off x="7434072" y="2084832"/>
            <a:ext cx="1783080" cy="566928"/>
          </a:xfrm>
          <a:prstGeom prst="rect">
            <a:avLst/>
          </a:prstGeom>
          <a:noFill/>
          <a:ln/>
        </p:spPr>
        <p:txBody>
          <a:bodyPr wrap="square" lIns="0" tIns="0" rIns="0" bIns="0" rtlCol="0" anchor="t"/>
          <a:lstStyle/>
          <a:p>
            <a:pPr indent="0" marL="0">
              <a:buNone/>
            </a:pPr>
            <a:r>
              <a:rPr lang="en-US" sz="1500" b="1" dirty="0">
                <a:solidFill>
                  <a:srgbClr val="0A0A0B"/>
                </a:solidFill>
              </a:rPr>
              <a:t>Muse Glimmer drafts it</a:t>
            </a:r>
            <a:endParaRPr lang="en-US" sz="1500" dirty="0"/>
          </a:p>
        </p:txBody>
      </p:sp>
      <p:sp>
        <p:nvSpPr>
          <p:cNvPr id="25" name="Text 22"/>
          <p:cNvSpPr txBox="1"/>
          <p:nvPr/>
        </p:nvSpPr>
        <p:spPr>
          <a:xfrm>
            <a:off x="7434072" y="2651760"/>
            <a:ext cx="1783080" cy="594360"/>
          </a:xfrm>
          <a:prstGeom prst="rect">
            <a:avLst/>
          </a:prstGeom>
          <a:noFill/>
          <a:ln/>
        </p:spPr>
        <p:txBody>
          <a:bodyPr wrap="square" lIns="0" tIns="0" rIns="0" bIns="0" rtlCol="0" anchor="t"/>
          <a:lstStyle/>
          <a:p>
            <a:pPr indent="0" marL="0">
              <a:buNone/>
            </a:pPr>
            <a:r>
              <a:rPr lang="en-US" sz="1100" dirty="0">
                <a:solidFill>
                  <a:srgbClr val="55555C"/>
                </a:solidFill>
              </a:rPr>
              <a:t>A person approves the spec</a:t>
            </a:r>
            <a:endParaRPr lang="en-US" sz="1100" dirty="0"/>
          </a:p>
        </p:txBody>
      </p:sp>
      <p:sp>
        <p:nvSpPr>
          <p:cNvPr id="26" name="Shape 23"/>
          <p:cNvSpPr/>
          <p:nvPr/>
        </p:nvSpPr>
        <p:spPr>
          <a:xfrm>
            <a:off x="9345168" y="2487168"/>
            <a:ext cx="146304" cy="0"/>
          </a:xfrm>
          <a:prstGeom prst="line">
            <a:avLst/>
          </a:prstGeom>
          <a:noFill/>
          <a:ln w="22225">
            <a:solidFill>
              <a:srgbClr val="8A8A92"/>
            </a:solidFill>
            <a:prstDash val="solid"/>
            <a:tailEnd type="triangle"/>
          </a:ln>
        </p:spPr>
      </p:sp>
      <p:sp>
        <p:nvSpPr>
          <p:cNvPr id="27" name="Shape 24"/>
          <p:cNvSpPr/>
          <p:nvPr/>
        </p:nvSpPr>
        <p:spPr>
          <a:xfrm>
            <a:off x="9509760" y="1691640"/>
            <a:ext cx="2057400" cy="1600200"/>
          </a:xfrm>
          <a:prstGeom prst="roundRect">
            <a:avLst>
              <a:gd name="adj" fmla="val 6857"/>
            </a:avLst>
          </a:prstGeom>
          <a:solidFill>
            <a:srgbClr val="FFFFFF"/>
          </a:solidFill>
          <a:ln w="12700">
            <a:solidFill>
              <a:srgbClr val="DCDCE0"/>
            </a:solidFill>
            <a:prstDash val="solid"/>
          </a:ln>
        </p:spPr>
      </p:sp>
      <p:sp>
        <p:nvSpPr>
          <p:cNvPr id="28" name="Text 25"/>
          <p:cNvSpPr txBox="1"/>
          <p:nvPr/>
        </p:nvSpPr>
        <p:spPr>
          <a:xfrm>
            <a:off x="9674352" y="1828800"/>
            <a:ext cx="1737360" cy="228600"/>
          </a:xfrm>
          <a:prstGeom prst="rect">
            <a:avLst/>
          </a:prstGeom>
          <a:noFill/>
          <a:ln/>
        </p:spPr>
        <p:txBody>
          <a:bodyPr wrap="square" lIns="0" tIns="0" rIns="0" bIns="0" rtlCol="0" anchor="t"/>
          <a:lstStyle/>
          <a:p>
            <a:pPr indent="0" marL="0">
              <a:buNone/>
            </a:pPr>
            <a:r>
              <a:rPr lang="en-US" sz="1050" b="1" dirty="0">
                <a:solidFill>
                  <a:srgbClr val="0A7F44"/>
                </a:solidFill>
              </a:rPr>
              <a:t>5 · BUILD</a:t>
            </a:r>
            <a:endParaRPr lang="en-US" sz="1050" dirty="0"/>
          </a:p>
        </p:txBody>
      </p:sp>
      <p:sp>
        <p:nvSpPr>
          <p:cNvPr id="29" name="Text 26"/>
          <p:cNvSpPr txBox="1"/>
          <p:nvPr/>
        </p:nvSpPr>
        <p:spPr>
          <a:xfrm>
            <a:off x="9674352" y="2084832"/>
            <a:ext cx="1783080" cy="566928"/>
          </a:xfrm>
          <a:prstGeom prst="rect">
            <a:avLst/>
          </a:prstGeom>
          <a:noFill/>
          <a:ln/>
        </p:spPr>
        <p:txBody>
          <a:bodyPr wrap="square" lIns="0" tIns="0" rIns="0" bIns="0" rtlCol="0" anchor="t"/>
          <a:lstStyle/>
          <a:p>
            <a:pPr indent="0" marL="0">
              <a:buNone/>
            </a:pPr>
            <a:r>
              <a:rPr lang="en-US" sz="1500" b="1" dirty="0">
                <a:solidFill>
                  <a:srgbClr val="0A0A0B"/>
                </a:solidFill>
              </a:rPr>
              <a:t>A coding agent</a:t>
            </a:r>
            <a:endParaRPr lang="en-US" sz="1500" dirty="0"/>
          </a:p>
        </p:txBody>
      </p:sp>
      <p:sp>
        <p:nvSpPr>
          <p:cNvPr id="30" name="Text 27"/>
          <p:cNvSpPr txBox="1"/>
          <p:nvPr/>
        </p:nvSpPr>
        <p:spPr>
          <a:xfrm>
            <a:off x="9674352" y="2651760"/>
            <a:ext cx="1783080" cy="594360"/>
          </a:xfrm>
          <a:prstGeom prst="rect">
            <a:avLst/>
          </a:prstGeom>
          <a:noFill/>
          <a:ln/>
        </p:spPr>
        <p:txBody>
          <a:bodyPr wrap="square" lIns="0" tIns="0" rIns="0" bIns="0" rtlCol="0" anchor="t"/>
          <a:lstStyle/>
          <a:p>
            <a:pPr indent="0" marL="0">
              <a:buNone/>
            </a:pPr>
            <a:r>
              <a:rPr lang="en-US" sz="1100" dirty="0">
                <a:solidFill>
                  <a:srgbClr val="55555C"/>
                </a:solidFill>
              </a:rPr>
              <a:t>On its own branch; it never reads community text</a:t>
            </a:r>
            <a:endParaRPr lang="en-US" sz="1100" dirty="0"/>
          </a:p>
        </p:txBody>
      </p:sp>
      <p:sp>
        <p:nvSpPr>
          <p:cNvPr id="31" name="Shape 28"/>
          <p:cNvSpPr/>
          <p:nvPr/>
        </p:nvSpPr>
        <p:spPr>
          <a:xfrm>
            <a:off x="548640" y="3566160"/>
            <a:ext cx="6949440" cy="1783080"/>
          </a:xfrm>
          <a:prstGeom prst="roundRect">
            <a:avLst>
              <a:gd name="adj" fmla="val 6154"/>
            </a:avLst>
          </a:prstGeom>
          <a:solidFill>
            <a:srgbClr val="E9F3EC"/>
          </a:solidFill>
          <a:ln w="12700">
            <a:solidFill>
              <a:srgbClr val="E9F3EC"/>
            </a:solidFill>
            <a:prstDash val="solid"/>
          </a:ln>
        </p:spPr>
      </p:sp>
      <p:sp>
        <p:nvSpPr>
          <p:cNvPr id="32" name="Text 29"/>
          <p:cNvSpPr txBox="1"/>
          <p:nvPr/>
        </p:nvSpPr>
        <p:spPr>
          <a:xfrm>
            <a:off x="749808" y="3703320"/>
            <a:ext cx="2743200" cy="228600"/>
          </a:xfrm>
          <a:prstGeom prst="rect">
            <a:avLst/>
          </a:prstGeom>
          <a:noFill/>
          <a:ln/>
        </p:spPr>
        <p:txBody>
          <a:bodyPr wrap="square" lIns="0" tIns="0" rIns="0" bIns="0" rtlCol="0" anchor="t"/>
          <a:lstStyle/>
          <a:p>
            <a:pPr indent="0" marL="0">
              <a:buNone/>
            </a:pPr>
            <a:r>
              <a:rPr lang="en-US" sz="1050" b="1" dirty="0">
                <a:solidFill>
                  <a:srgbClr val="0A7F44"/>
                </a:solidFill>
              </a:rPr>
              <a:t>6 · NINE GATES</a:t>
            </a:r>
            <a:endParaRPr lang="en-US" sz="1050" dirty="0"/>
          </a:p>
        </p:txBody>
      </p:sp>
      <p:sp>
        <p:nvSpPr>
          <p:cNvPr id="33" name="Text 30"/>
          <p:cNvSpPr txBox="1"/>
          <p:nvPr/>
        </p:nvSpPr>
        <p:spPr>
          <a:xfrm>
            <a:off x="749808" y="3950208"/>
            <a:ext cx="4572000" cy="347472"/>
          </a:xfrm>
          <a:prstGeom prst="rect">
            <a:avLst/>
          </a:prstGeom>
          <a:noFill/>
          <a:ln/>
        </p:spPr>
        <p:txBody>
          <a:bodyPr wrap="square" lIns="0" tIns="0" rIns="0" bIns="0" rtlCol="0" anchor="t"/>
          <a:lstStyle/>
          <a:p>
            <a:pPr indent="0" marL="0">
              <a:buNone/>
            </a:pPr>
            <a:r>
              <a:rPr lang="en-US" sz="1600" b="1" dirty="0">
                <a:solidFill>
                  <a:srgbClr val="0A0A0B"/>
                </a:solidFill>
              </a:rPr>
              <a:t>Stops at the first failure</a:t>
            </a:r>
            <a:endParaRPr lang="en-US" sz="1600" dirty="0"/>
          </a:p>
        </p:txBody>
      </p:sp>
      <p:sp>
        <p:nvSpPr>
          <p:cNvPr id="34" name="Shape 31"/>
          <p:cNvSpPr/>
          <p:nvPr/>
        </p:nvSpPr>
        <p:spPr>
          <a:xfrm>
            <a:off x="749808" y="4434840"/>
            <a:ext cx="1298448" cy="310896"/>
          </a:xfrm>
          <a:prstGeom prst="roundRect">
            <a:avLst>
              <a:gd name="adj" fmla="val 50000"/>
            </a:avLst>
          </a:prstGeom>
          <a:solidFill>
            <a:srgbClr val="FFFFFF"/>
          </a:solidFill>
          <a:ln w="12700">
            <a:solidFill>
              <a:srgbClr val="FFFFFF"/>
            </a:solidFill>
            <a:prstDash val="solid"/>
          </a:ln>
        </p:spPr>
      </p:sp>
      <p:sp>
        <p:nvSpPr>
          <p:cNvPr id="35" name="Text 32"/>
          <p:cNvSpPr txBox="1"/>
          <p:nvPr/>
        </p:nvSpPr>
        <p:spPr>
          <a:xfrm>
            <a:off x="749808" y="443484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policy</a:t>
            </a:r>
            <a:endParaRPr lang="en-US" sz="950" dirty="0"/>
          </a:p>
        </p:txBody>
      </p:sp>
      <p:sp>
        <p:nvSpPr>
          <p:cNvPr id="36" name="Shape 33"/>
          <p:cNvSpPr/>
          <p:nvPr/>
        </p:nvSpPr>
        <p:spPr>
          <a:xfrm>
            <a:off x="2093976" y="4434840"/>
            <a:ext cx="1298448" cy="310896"/>
          </a:xfrm>
          <a:prstGeom prst="roundRect">
            <a:avLst>
              <a:gd name="adj" fmla="val 50000"/>
            </a:avLst>
          </a:prstGeom>
          <a:solidFill>
            <a:srgbClr val="FFFFFF"/>
          </a:solidFill>
          <a:ln w="12700">
            <a:solidFill>
              <a:srgbClr val="FFFFFF"/>
            </a:solidFill>
            <a:prstDash val="solid"/>
          </a:ln>
        </p:spPr>
      </p:sp>
      <p:sp>
        <p:nvSpPr>
          <p:cNvPr id="37" name="Text 34"/>
          <p:cNvSpPr txBox="1"/>
          <p:nvPr/>
        </p:nvSpPr>
        <p:spPr>
          <a:xfrm>
            <a:off x="2093976" y="443484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code scan</a:t>
            </a:r>
            <a:endParaRPr lang="en-US" sz="950" dirty="0"/>
          </a:p>
        </p:txBody>
      </p:sp>
      <p:sp>
        <p:nvSpPr>
          <p:cNvPr id="38" name="Shape 35"/>
          <p:cNvSpPr/>
          <p:nvPr/>
        </p:nvSpPr>
        <p:spPr>
          <a:xfrm>
            <a:off x="3438144" y="4434840"/>
            <a:ext cx="1298448" cy="310896"/>
          </a:xfrm>
          <a:prstGeom prst="roundRect">
            <a:avLst>
              <a:gd name="adj" fmla="val 50000"/>
            </a:avLst>
          </a:prstGeom>
          <a:solidFill>
            <a:srgbClr val="FFFFFF"/>
          </a:solidFill>
          <a:ln w="12700">
            <a:solidFill>
              <a:srgbClr val="FFFFFF"/>
            </a:solidFill>
            <a:prstDash val="solid"/>
          </a:ln>
        </p:spPr>
      </p:sp>
      <p:sp>
        <p:nvSpPr>
          <p:cNvPr id="39" name="Text 36"/>
          <p:cNvSpPr txBox="1"/>
          <p:nvPr/>
        </p:nvSpPr>
        <p:spPr>
          <a:xfrm>
            <a:off x="3438144" y="443484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unit tests</a:t>
            </a:r>
            <a:endParaRPr lang="en-US" sz="950" dirty="0"/>
          </a:p>
        </p:txBody>
      </p:sp>
      <p:sp>
        <p:nvSpPr>
          <p:cNvPr id="40" name="Shape 37"/>
          <p:cNvSpPr/>
          <p:nvPr/>
        </p:nvSpPr>
        <p:spPr>
          <a:xfrm>
            <a:off x="4782312" y="4434840"/>
            <a:ext cx="1298448" cy="310896"/>
          </a:xfrm>
          <a:prstGeom prst="roundRect">
            <a:avLst>
              <a:gd name="adj" fmla="val 50000"/>
            </a:avLst>
          </a:prstGeom>
          <a:solidFill>
            <a:srgbClr val="FFFFFF"/>
          </a:solidFill>
          <a:ln w="12700">
            <a:solidFill>
              <a:srgbClr val="FFFFFF"/>
            </a:solidFill>
            <a:prstDash val="solid"/>
          </a:ln>
        </p:spPr>
      </p:sp>
      <p:sp>
        <p:nvSpPr>
          <p:cNvPr id="41" name="Text 38"/>
          <p:cNvSpPr txBox="1"/>
          <p:nvPr/>
        </p:nvSpPr>
        <p:spPr>
          <a:xfrm>
            <a:off x="4782312" y="443484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crash matrix</a:t>
            </a:r>
            <a:endParaRPr lang="en-US" sz="950" dirty="0"/>
          </a:p>
        </p:txBody>
      </p:sp>
      <p:sp>
        <p:nvSpPr>
          <p:cNvPr id="42" name="Shape 39"/>
          <p:cNvSpPr/>
          <p:nvPr/>
        </p:nvSpPr>
        <p:spPr>
          <a:xfrm>
            <a:off x="6126480" y="4434840"/>
            <a:ext cx="1298448" cy="310896"/>
          </a:xfrm>
          <a:prstGeom prst="roundRect">
            <a:avLst>
              <a:gd name="adj" fmla="val 50000"/>
            </a:avLst>
          </a:prstGeom>
          <a:solidFill>
            <a:srgbClr val="FFFFFF"/>
          </a:solidFill>
          <a:ln w="12700">
            <a:solidFill>
              <a:srgbClr val="FFFFFF"/>
            </a:solidFill>
            <a:prstDash val="solid"/>
          </a:ln>
        </p:spPr>
      </p:sp>
      <p:sp>
        <p:nvSpPr>
          <p:cNvPr id="43" name="Text 40"/>
          <p:cNvSpPr txBox="1"/>
          <p:nvPr/>
        </p:nvSpPr>
        <p:spPr>
          <a:xfrm>
            <a:off x="6126480" y="443484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red team</a:t>
            </a:r>
            <a:endParaRPr lang="en-US" sz="950" dirty="0"/>
          </a:p>
        </p:txBody>
      </p:sp>
      <p:sp>
        <p:nvSpPr>
          <p:cNvPr id="44" name="Shape 41"/>
          <p:cNvSpPr/>
          <p:nvPr/>
        </p:nvSpPr>
        <p:spPr>
          <a:xfrm>
            <a:off x="749808" y="4855464"/>
            <a:ext cx="1298448" cy="310896"/>
          </a:xfrm>
          <a:prstGeom prst="roundRect">
            <a:avLst>
              <a:gd name="adj" fmla="val 50000"/>
            </a:avLst>
          </a:prstGeom>
          <a:solidFill>
            <a:srgbClr val="FFFFFF"/>
          </a:solidFill>
          <a:ln w="12700">
            <a:solidFill>
              <a:srgbClr val="FFFFFF"/>
            </a:solidFill>
            <a:prstDash val="solid"/>
          </a:ln>
        </p:spPr>
      </p:sp>
      <p:sp>
        <p:nvSpPr>
          <p:cNvPr id="45" name="Text 42"/>
          <p:cNvSpPr txBox="1"/>
          <p:nvPr/>
        </p:nvSpPr>
        <p:spPr>
          <a:xfrm>
            <a:off x="749808" y="4855464"/>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Messenger end to end</a:t>
            </a:r>
            <a:endParaRPr lang="en-US" sz="950" dirty="0"/>
          </a:p>
        </p:txBody>
      </p:sp>
      <p:sp>
        <p:nvSpPr>
          <p:cNvPr id="46" name="Shape 43"/>
          <p:cNvSpPr/>
          <p:nvPr/>
        </p:nvSpPr>
        <p:spPr>
          <a:xfrm>
            <a:off x="2093976" y="4855464"/>
            <a:ext cx="1298448" cy="310896"/>
          </a:xfrm>
          <a:prstGeom prst="roundRect">
            <a:avLst>
              <a:gd name="adj" fmla="val 50000"/>
            </a:avLst>
          </a:prstGeom>
          <a:solidFill>
            <a:srgbClr val="FFFFFF"/>
          </a:solidFill>
          <a:ln w="12700">
            <a:solidFill>
              <a:srgbClr val="FFFFFF"/>
            </a:solidFill>
            <a:prstDash val="solid"/>
          </a:ln>
        </p:spPr>
      </p:sp>
      <p:sp>
        <p:nvSpPr>
          <p:cNvPr id="47" name="Text 44"/>
          <p:cNvSpPr txBox="1"/>
          <p:nvPr/>
        </p:nvSpPr>
        <p:spPr>
          <a:xfrm>
            <a:off x="2093976" y="4855464"/>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planner pass^3</a:t>
            </a:r>
            <a:endParaRPr lang="en-US" sz="950" dirty="0"/>
          </a:p>
        </p:txBody>
      </p:sp>
      <p:sp>
        <p:nvSpPr>
          <p:cNvPr id="48" name="Shape 45"/>
          <p:cNvSpPr/>
          <p:nvPr/>
        </p:nvSpPr>
        <p:spPr>
          <a:xfrm>
            <a:off x="3438144" y="4855464"/>
            <a:ext cx="1298448" cy="310896"/>
          </a:xfrm>
          <a:prstGeom prst="roundRect">
            <a:avLst>
              <a:gd name="adj" fmla="val 50000"/>
            </a:avLst>
          </a:prstGeom>
          <a:solidFill>
            <a:srgbClr val="FFFFFF"/>
          </a:solidFill>
          <a:ln w="12700">
            <a:solidFill>
              <a:srgbClr val="FFFFFF"/>
            </a:solidFill>
            <a:prstDash val="solid"/>
          </a:ln>
        </p:spPr>
      </p:sp>
      <p:sp>
        <p:nvSpPr>
          <p:cNvPr id="49" name="Text 46"/>
          <p:cNvSpPr txBox="1"/>
          <p:nvPr/>
        </p:nvSpPr>
        <p:spPr>
          <a:xfrm>
            <a:off x="3438144" y="4855464"/>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oracle</a:t>
            </a:r>
            <a:endParaRPr lang="en-US" sz="950" dirty="0"/>
          </a:p>
        </p:txBody>
      </p:sp>
      <p:sp>
        <p:nvSpPr>
          <p:cNvPr id="50" name="Shape 47"/>
          <p:cNvSpPr/>
          <p:nvPr/>
        </p:nvSpPr>
        <p:spPr>
          <a:xfrm>
            <a:off x="4782312" y="4855464"/>
            <a:ext cx="1298448" cy="310896"/>
          </a:xfrm>
          <a:prstGeom prst="roundRect">
            <a:avLst>
              <a:gd name="adj" fmla="val 50000"/>
            </a:avLst>
          </a:prstGeom>
          <a:solidFill>
            <a:srgbClr val="FFFFFF"/>
          </a:solidFill>
          <a:ln w="12700">
            <a:solidFill>
              <a:srgbClr val="FFFFFF"/>
            </a:solidFill>
            <a:prstDash val="solid"/>
          </a:ln>
        </p:spPr>
      </p:sp>
      <p:sp>
        <p:nvSpPr>
          <p:cNvPr id="51" name="Text 48"/>
          <p:cNvSpPr txBox="1"/>
          <p:nvPr/>
        </p:nvSpPr>
        <p:spPr>
          <a:xfrm>
            <a:off x="4782312" y="4855464"/>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privacy canary</a:t>
            </a:r>
            <a:endParaRPr lang="en-US" sz="950" dirty="0"/>
          </a:p>
        </p:txBody>
      </p:sp>
      <p:sp>
        <p:nvSpPr>
          <p:cNvPr id="52" name="Shape 49"/>
          <p:cNvSpPr/>
          <p:nvPr/>
        </p:nvSpPr>
        <p:spPr>
          <a:xfrm>
            <a:off x="7543800" y="4453128"/>
            <a:ext cx="274320" cy="0"/>
          </a:xfrm>
          <a:prstGeom prst="line">
            <a:avLst/>
          </a:prstGeom>
          <a:noFill/>
          <a:ln w="22225">
            <a:solidFill>
              <a:srgbClr val="8A8A92"/>
            </a:solidFill>
            <a:prstDash val="solid"/>
            <a:tailEnd type="triangle"/>
          </a:ln>
        </p:spPr>
      </p:sp>
      <p:sp>
        <p:nvSpPr>
          <p:cNvPr id="53" name="Shape 50"/>
          <p:cNvSpPr/>
          <p:nvPr/>
        </p:nvSpPr>
        <p:spPr>
          <a:xfrm>
            <a:off x="7863840" y="3566160"/>
            <a:ext cx="3749040" cy="1783080"/>
          </a:xfrm>
          <a:prstGeom prst="roundRect">
            <a:avLst>
              <a:gd name="adj" fmla="val 6154"/>
            </a:avLst>
          </a:prstGeom>
          <a:solidFill>
            <a:srgbClr val="FFFFFF"/>
          </a:solidFill>
          <a:ln w="25400">
            <a:solidFill>
              <a:srgbClr val="D1352B"/>
            </a:solidFill>
            <a:prstDash val="solid"/>
          </a:ln>
        </p:spPr>
      </p:sp>
      <p:sp>
        <p:nvSpPr>
          <p:cNvPr id="54" name="Text 51"/>
          <p:cNvSpPr txBox="1"/>
          <p:nvPr/>
        </p:nvSpPr>
        <p:spPr>
          <a:xfrm>
            <a:off x="8065008" y="3703320"/>
            <a:ext cx="3291840" cy="228600"/>
          </a:xfrm>
          <a:prstGeom prst="rect">
            <a:avLst/>
          </a:prstGeom>
          <a:noFill/>
          <a:ln/>
        </p:spPr>
        <p:txBody>
          <a:bodyPr wrap="square" lIns="0" tIns="0" rIns="0" bIns="0" rtlCol="0" anchor="t"/>
          <a:lstStyle/>
          <a:p>
            <a:pPr indent="0" marL="0">
              <a:buNone/>
            </a:pPr>
            <a:r>
              <a:rPr lang="en-US" sz="1050" b="1" dirty="0">
                <a:solidFill>
                  <a:srgbClr val="D1352B"/>
                </a:solidFill>
              </a:rPr>
              <a:t>7 · SHIP, OR ROLL BACK</a:t>
            </a:r>
            <a:endParaRPr lang="en-US" sz="1050" dirty="0"/>
          </a:p>
        </p:txBody>
      </p:sp>
      <p:sp>
        <p:nvSpPr>
          <p:cNvPr id="55" name="Text 52"/>
          <p:cNvSpPr txBox="1"/>
          <p:nvPr/>
        </p:nvSpPr>
        <p:spPr>
          <a:xfrm>
            <a:off x="8065008" y="3950208"/>
            <a:ext cx="3291840" cy="347472"/>
          </a:xfrm>
          <a:prstGeom prst="rect">
            <a:avLst/>
          </a:prstGeom>
          <a:noFill/>
          <a:ln/>
        </p:spPr>
        <p:txBody>
          <a:bodyPr wrap="square" lIns="0" tIns="0" rIns="0" bIns="0" rtlCol="0" anchor="t"/>
          <a:lstStyle/>
          <a:p>
            <a:pPr indent="0" marL="0">
              <a:buNone/>
            </a:pPr>
            <a:r>
              <a:rPr lang="en-US" sz="1600" b="1" dirty="0">
                <a:solidFill>
                  <a:srgbClr val="0A0A0B"/>
                </a:solidFill>
              </a:rPr>
              <a:t>A small canary</a:t>
            </a:r>
            <a:endParaRPr lang="en-US" sz="1600" dirty="0"/>
          </a:p>
        </p:txBody>
      </p:sp>
      <p:sp>
        <p:nvSpPr>
          <p:cNvPr id="56" name="Text 53"/>
          <p:cNvSpPr txBox="1"/>
          <p:nvPr/>
        </p:nvSpPr>
        <p:spPr>
          <a:xfrm>
            <a:off x="8065008" y="4370832"/>
            <a:ext cx="3383280" cy="868680"/>
          </a:xfrm>
          <a:prstGeom prst="rect">
            <a:avLst/>
          </a:prstGeom>
          <a:noFill/>
          <a:ln/>
        </p:spPr>
        <p:txBody>
          <a:bodyPr wrap="square" lIns="0" tIns="0" rIns="0" bIns="0" rtlCol="0" anchor="t"/>
          <a:lstStyle/>
          <a:p>
            <a:pPr indent="0" marL="0">
              <a:buNone/>
            </a:pPr>
            <a:r>
              <a:rPr lang="en-US" sz="1200" dirty="0">
                <a:solidFill>
                  <a:srgbClr val="55555C"/>
                </a:solidFill>
              </a:rPr>
              <a:t>Turns itself off if thumbs down rise. Anything beyond a safe setting waits for a person.</a:t>
            </a:r>
            <a:endParaRPr lang="en-US" sz="1200" dirty="0"/>
          </a:p>
        </p:txBody>
      </p:sp>
      <p:sp>
        <p:nvSpPr>
          <p:cNvPr id="57" name="Shape 54"/>
          <p:cNvSpPr/>
          <p:nvPr/>
        </p:nvSpPr>
        <p:spPr>
          <a:xfrm>
            <a:off x="548640" y="5577840"/>
            <a:ext cx="11064240" cy="658368"/>
          </a:xfrm>
          <a:prstGeom prst="roundRect">
            <a:avLst>
              <a:gd name="adj" fmla="val 16667"/>
            </a:avLst>
          </a:prstGeom>
          <a:solidFill>
            <a:srgbClr val="0A0A0B"/>
          </a:solidFill>
          <a:ln w="12700">
            <a:solidFill>
              <a:srgbClr val="0A0A0B"/>
            </a:solidFill>
            <a:prstDash val="solid"/>
          </a:ln>
        </p:spPr>
      </p:sp>
      <p:sp>
        <p:nvSpPr>
          <p:cNvPr id="58" name="Text 55"/>
          <p:cNvSpPr txBox="1"/>
          <p:nvPr/>
        </p:nvSpPr>
        <p:spPr>
          <a:xfrm>
            <a:off x="777240" y="5577840"/>
            <a:ext cx="1463040" cy="658368"/>
          </a:xfrm>
          <a:prstGeom prst="rect">
            <a:avLst/>
          </a:prstGeom>
          <a:noFill/>
          <a:ln/>
        </p:spPr>
        <p:txBody>
          <a:bodyPr wrap="square" lIns="0" tIns="0" rIns="0" bIns="0" rtlCol="0" anchor="ctr"/>
          <a:lstStyle/>
          <a:p>
            <a:pPr indent="0" marL="0">
              <a:buNone/>
            </a:pPr>
            <a:r>
              <a:rPr lang="en-US" sz="1200" b="1" dirty="0">
                <a:solidFill>
                  <a:srgbClr val="FFFFFF"/>
                </a:solidFill>
              </a:rPr>
              <a:t>NEVER-LIST</a:t>
            </a:r>
            <a:endParaRPr lang="en-US" sz="1200" dirty="0"/>
          </a:p>
        </p:txBody>
      </p:sp>
      <p:sp>
        <p:nvSpPr>
          <p:cNvPr id="59" name="Text 56"/>
          <p:cNvSpPr txBox="1"/>
          <p:nvPr/>
        </p:nvSpPr>
        <p:spPr>
          <a:xfrm>
            <a:off x="2240280" y="5577840"/>
            <a:ext cx="9235440" cy="658368"/>
          </a:xfrm>
          <a:prstGeom prst="rect">
            <a:avLst/>
          </a:prstGeom>
          <a:noFill/>
          <a:ln/>
        </p:spPr>
        <p:txBody>
          <a:bodyPr wrap="square" lIns="0" tIns="0" rIns="0" bIns="0" rtlCol="0" anchor="ctr"/>
          <a:lstStyle/>
          <a:p>
            <a:pPr indent="0" marL="0">
              <a:buNone/>
            </a:pPr>
            <a:r>
              <a:rPr lang="en-US" sz="1300" dirty="0">
                <a:solidFill>
                  <a:srgbClr val="FFFFFF"/>
                </a:solidFill>
              </a:rPr>
              <a:t>Booking without a yes · data off the server · a diagnosis or a dose · the guards · the tests · A2A · deployment</a:t>
            </a:r>
            <a:endParaRPr lang="en-US" sz="13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MEASURED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Every claim has a log behind it</a:t>
            </a:r>
            <a:endParaRPr lang="en-US" sz="3200" dirty="0"/>
          </a:p>
        </p:txBody>
      </p:sp>
      <p:sp>
        <p:nvSpPr>
          <p:cNvPr id="5" name="Shape 2"/>
          <p:cNvSpPr/>
          <p:nvPr/>
        </p:nvSpPr>
        <p:spPr>
          <a:xfrm>
            <a:off x="548640" y="1691640"/>
            <a:ext cx="2670048" cy="1234440"/>
          </a:xfrm>
          <a:prstGeom prst="roundRect">
            <a:avLst>
              <a:gd name="adj" fmla="val 8889"/>
            </a:avLst>
          </a:prstGeom>
          <a:solidFill>
            <a:srgbClr val="E9F3EC"/>
          </a:solidFill>
          <a:ln w="12700">
            <a:solidFill>
              <a:srgbClr val="E9F3EC"/>
            </a:solidFill>
            <a:prstDash val="solid"/>
          </a:ln>
        </p:spPr>
      </p:sp>
      <p:sp>
        <p:nvSpPr>
          <p:cNvPr id="6" name="Text 3"/>
          <p:cNvSpPr txBox="1"/>
          <p:nvPr/>
        </p:nvSpPr>
        <p:spPr>
          <a:xfrm>
            <a:off x="749808" y="1783080"/>
            <a:ext cx="2286000" cy="658368"/>
          </a:xfrm>
          <a:prstGeom prst="rect">
            <a:avLst/>
          </a:prstGeom>
          <a:noFill/>
          <a:ln/>
        </p:spPr>
        <p:txBody>
          <a:bodyPr wrap="square" lIns="0" tIns="0" rIns="0" bIns="0" rtlCol="0" anchor="t"/>
          <a:lstStyle/>
          <a:p>
            <a:pPr indent="0" marL="0">
              <a:buNone/>
            </a:pPr>
            <a:r>
              <a:rPr lang="en-US" sz="3400" b="1" dirty="0">
                <a:solidFill>
                  <a:srgbClr val="0A7F44"/>
                </a:solidFill>
              </a:rPr>
              <a:t>65/65</a:t>
            </a:r>
            <a:endParaRPr lang="en-US" sz="3400" dirty="0"/>
          </a:p>
        </p:txBody>
      </p:sp>
      <p:sp>
        <p:nvSpPr>
          <p:cNvPr id="7" name="Text 4"/>
          <p:cNvSpPr txBox="1"/>
          <p:nvPr/>
        </p:nvSpPr>
        <p:spPr>
          <a:xfrm>
            <a:off x="749808"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attacks stopped</a:t>
            </a:r>
            <a:endParaRPr lang="en-US" sz="1200" dirty="0"/>
          </a:p>
        </p:txBody>
      </p:sp>
      <p:sp>
        <p:nvSpPr>
          <p:cNvPr id="8" name="Shape 5"/>
          <p:cNvSpPr/>
          <p:nvPr/>
        </p:nvSpPr>
        <p:spPr>
          <a:xfrm>
            <a:off x="3346704" y="1691640"/>
            <a:ext cx="2670048" cy="1234440"/>
          </a:xfrm>
          <a:prstGeom prst="roundRect">
            <a:avLst>
              <a:gd name="adj" fmla="val 8889"/>
            </a:avLst>
          </a:prstGeom>
          <a:solidFill>
            <a:srgbClr val="F6F7F8"/>
          </a:solidFill>
          <a:ln w="12700">
            <a:solidFill>
              <a:srgbClr val="F6F7F8"/>
            </a:solidFill>
            <a:prstDash val="solid"/>
          </a:ln>
        </p:spPr>
      </p:sp>
      <p:sp>
        <p:nvSpPr>
          <p:cNvPr id="9" name="Text 6"/>
          <p:cNvSpPr txBox="1"/>
          <p:nvPr/>
        </p:nvSpPr>
        <p:spPr>
          <a:xfrm>
            <a:off x="3547872"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52/52</a:t>
            </a:r>
            <a:endParaRPr lang="en-US" sz="3400" dirty="0"/>
          </a:p>
        </p:txBody>
      </p:sp>
      <p:sp>
        <p:nvSpPr>
          <p:cNvPr id="10" name="Text 7"/>
          <p:cNvSpPr txBox="1"/>
          <p:nvPr/>
        </p:nvSpPr>
        <p:spPr>
          <a:xfrm>
            <a:off x="3547872"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Messenger end-to-end checks</a:t>
            </a:r>
            <a:endParaRPr lang="en-US" sz="1200" dirty="0"/>
          </a:p>
        </p:txBody>
      </p:sp>
      <p:sp>
        <p:nvSpPr>
          <p:cNvPr id="11" name="Shape 8"/>
          <p:cNvSpPr/>
          <p:nvPr/>
        </p:nvSpPr>
        <p:spPr>
          <a:xfrm>
            <a:off x="6144768" y="1691640"/>
            <a:ext cx="2670048" cy="1234440"/>
          </a:xfrm>
          <a:prstGeom prst="roundRect">
            <a:avLst>
              <a:gd name="adj" fmla="val 8889"/>
            </a:avLst>
          </a:prstGeom>
          <a:solidFill>
            <a:srgbClr val="F6F7F8"/>
          </a:solidFill>
          <a:ln w="12700">
            <a:solidFill>
              <a:srgbClr val="F6F7F8"/>
            </a:solidFill>
            <a:prstDash val="solid"/>
          </a:ln>
        </p:spPr>
      </p:sp>
      <p:sp>
        <p:nvSpPr>
          <p:cNvPr id="12" name="Text 9"/>
          <p:cNvSpPr txBox="1"/>
          <p:nvPr/>
        </p:nvSpPr>
        <p:spPr>
          <a:xfrm>
            <a:off x="6345936"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22/22</a:t>
            </a:r>
            <a:endParaRPr lang="en-US" sz="3400" dirty="0"/>
          </a:p>
        </p:txBody>
      </p:sp>
      <p:sp>
        <p:nvSpPr>
          <p:cNvPr id="13" name="Text 10"/>
          <p:cNvSpPr txBox="1"/>
          <p:nvPr/>
        </p:nvSpPr>
        <p:spPr>
          <a:xfrm>
            <a:off x="6345936"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A2A checks across two machines</a:t>
            </a:r>
            <a:endParaRPr lang="en-US" sz="1200" dirty="0"/>
          </a:p>
        </p:txBody>
      </p:sp>
      <p:sp>
        <p:nvSpPr>
          <p:cNvPr id="14" name="Shape 11"/>
          <p:cNvSpPr/>
          <p:nvPr/>
        </p:nvSpPr>
        <p:spPr>
          <a:xfrm>
            <a:off x="8942832" y="1691640"/>
            <a:ext cx="2670048" cy="1234440"/>
          </a:xfrm>
          <a:prstGeom prst="roundRect">
            <a:avLst>
              <a:gd name="adj" fmla="val 8889"/>
            </a:avLst>
          </a:prstGeom>
          <a:solidFill>
            <a:srgbClr val="F6F7F8"/>
          </a:solidFill>
          <a:ln w="12700">
            <a:solidFill>
              <a:srgbClr val="F6F7F8"/>
            </a:solidFill>
            <a:prstDash val="solid"/>
          </a:ln>
        </p:spPr>
      </p:sp>
      <p:sp>
        <p:nvSpPr>
          <p:cNvPr id="15" name="Text 12"/>
          <p:cNvSpPr txBox="1"/>
          <p:nvPr/>
        </p:nvSpPr>
        <p:spPr>
          <a:xfrm>
            <a:off x="9144000"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20/20</a:t>
            </a:r>
            <a:endParaRPr lang="en-US" sz="3400" dirty="0"/>
          </a:p>
        </p:txBody>
      </p:sp>
      <p:sp>
        <p:nvSpPr>
          <p:cNvPr id="16" name="Text 13"/>
          <p:cNvSpPr txBox="1"/>
          <p:nvPr/>
        </p:nvSpPr>
        <p:spPr>
          <a:xfrm>
            <a:off x="9144000"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crash-matrix checks</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3154680"/>
          <a:ext cx="11064240" cy="914400"/>
        </p:xfrm>
        <a:graphic>
          <a:graphicData uri="http://schemas.openxmlformats.org/drawingml/2006/table">
            <a:tbl>
              <a:tblPr/>
              <a:tblGrid>
                <a:gridCol w="4206240"/>
                <a:gridCol w="3566160"/>
                <a:gridCol w="3291840"/>
              </a:tblGrid>
              <a:tr h="347472">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Suite</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Result</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Where it ran</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npm test, seventeen offline suites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239 of 240, 1 skipped</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No model, no GPU</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Messenger end to end (test/e2e.mjs)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52 of 52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Muse Glimmer on a cloud A100</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Attacks (test/redteam.mjs)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65 of 65 stopped</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 cloud A100</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Community loop's attacks, within the 65</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29 of 29 stopped, 5 of 5 controls passed</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The server's CPU, with the real guards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A2A between two gateways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22 of 22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Taipei GPU server and a GCP A100</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Crash matrix</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20 of 20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 stand-in model</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"I want to play" in Messenger</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13 of 13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Muse Glimmer on a cloud A100</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FULL TECHNICAL ARCHITECTURE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Everything runs on one GPU server I own</a:t>
            </a:r>
            <a:endParaRPr lang="en-US" sz="3200" dirty="0"/>
          </a:p>
        </p:txBody>
      </p:sp>
      <p:sp>
        <p:nvSpPr>
          <p:cNvPr id="5" name="Text 2"/>
          <p:cNvSpPr txBox="1"/>
          <p:nvPr/>
        </p:nvSpPr>
        <p:spPr>
          <a:xfrm>
            <a:off x="411480" y="1481328"/>
            <a:ext cx="2011680" cy="228600"/>
          </a:xfrm>
          <a:prstGeom prst="rect">
            <a:avLst/>
          </a:prstGeom>
          <a:noFill/>
          <a:ln/>
        </p:spPr>
        <p:txBody>
          <a:bodyPr wrap="square" lIns="0" tIns="0" rIns="0" bIns="0" rtlCol="0" anchor="t"/>
          <a:lstStyle/>
          <a:p>
            <a:pPr indent="0" marL="0">
              <a:buNone/>
            </a:pPr>
            <a:r>
              <a:rPr lang="en-US" sz="1000" b="1" spc="100" kern="0" dirty="0">
                <a:solidFill>
                  <a:srgbClr val="55555C"/>
                </a:solidFill>
              </a:rPr>
              <a:t>YOU</a:t>
            </a:r>
            <a:endParaRPr lang="en-US" sz="1000" dirty="0"/>
          </a:p>
        </p:txBody>
      </p:sp>
      <p:sp>
        <p:nvSpPr>
          <p:cNvPr id="6" name="Shape 3"/>
          <p:cNvSpPr/>
          <p:nvPr/>
        </p:nvSpPr>
        <p:spPr>
          <a:xfrm>
            <a:off x="411480" y="1755648"/>
            <a:ext cx="2057400" cy="786384"/>
          </a:xfrm>
          <a:prstGeom prst="roundRect">
            <a:avLst>
              <a:gd name="adj" fmla="val 13953"/>
            </a:avLst>
          </a:prstGeom>
          <a:solidFill>
            <a:srgbClr val="FFFFFF"/>
          </a:solidFill>
          <a:ln w="12700">
            <a:solidFill>
              <a:srgbClr val="DCDCE0"/>
            </a:solidFill>
            <a:prstDash val="solid"/>
          </a:ln>
        </p:spPr>
      </p:sp>
      <p:sp>
        <p:nvSpPr>
          <p:cNvPr id="7" name="Text 4"/>
          <p:cNvSpPr txBox="1"/>
          <p:nvPr/>
        </p:nvSpPr>
        <p:spPr>
          <a:xfrm>
            <a:off x="548640" y="18470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Serve app</a:t>
            </a:r>
            <a:endParaRPr lang="en-US" sz="1200" dirty="0"/>
          </a:p>
        </p:txBody>
      </p:sp>
      <p:sp>
        <p:nvSpPr>
          <p:cNvPr id="8" name="Text 5"/>
          <p:cNvSpPr txBox="1"/>
          <p:nvPr/>
        </p:nvSpPr>
        <p:spPr>
          <a:xfrm>
            <a:off x="548640" y="2139696"/>
            <a:ext cx="1828800" cy="365760"/>
          </a:xfrm>
          <a:prstGeom prst="rect">
            <a:avLst/>
          </a:prstGeom>
          <a:noFill/>
          <a:ln/>
        </p:spPr>
        <p:txBody>
          <a:bodyPr wrap="square" lIns="0" tIns="0" rIns="0" bIns="0" rtlCol="0" anchor="t"/>
          <a:lstStyle/>
          <a:p>
            <a:pPr indent="0" marL="0">
              <a:buNone/>
            </a:pPr>
            <a:r>
              <a:rPr lang="en-US" sz="1000" dirty="0">
                <a:solidFill>
                  <a:srgbClr val="55555C"/>
                </a:solidFill>
              </a:rPr>
              <a:t>React · on your phone</a:t>
            </a:r>
            <a:endParaRPr lang="en-US" sz="1000" dirty="0"/>
          </a:p>
        </p:txBody>
      </p:sp>
      <p:sp>
        <p:nvSpPr>
          <p:cNvPr id="9" name="Shape 6"/>
          <p:cNvSpPr/>
          <p:nvPr/>
        </p:nvSpPr>
        <p:spPr>
          <a:xfrm>
            <a:off x="2487168" y="2148840"/>
            <a:ext cx="274320" cy="0"/>
          </a:xfrm>
          <a:prstGeom prst="line">
            <a:avLst/>
          </a:prstGeom>
          <a:noFill/>
          <a:ln w="22225">
            <a:solidFill>
              <a:srgbClr val="8A8A92"/>
            </a:solidFill>
            <a:prstDash val="solid"/>
            <a:tailEnd type="triangle"/>
          </a:ln>
        </p:spPr>
      </p:sp>
      <p:sp>
        <p:nvSpPr>
          <p:cNvPr id="10" name="Shape 7"/>
          <p:cNvSpPr/>
          <p:nvPr/>
        </p:nvSpPr>
        <p:spPr>
          <a:xfrm>
            <a:off x="411480" y="2670048"/>
            <a:ext cx="2057400" cy="786384"/>
          </a:xfrm>
          <a:prstGeom prst="roundRect">
            <a:avLst>
              <a:gd name="adj" fmla="val 13953"/>
            </a:avLst>
          </a:prstGeom>
          <a:solidFill>
            <a:srgbClr val="E8F1FD"/>
          </a:solidFill>
          <a:ln w="12700">
            <a:solidFill>
              <a:srgbClr val="E8F1FD"/>
            </a:solidFill>
            <a:prstDash val="solid"/>
          </a:ln>
        </p:spPr>
      </p:sp>
      <p:sp>
        <p:nvSpPr>
          <p:cNvPr id="11" name="Text 8"/>
          <p:cNvSpPr txBox="1"/>
          <p:nvPr/>
        </p:nvSpPr>
        <p:spPr>
          <a:xfrm>
            <a:off x="548640" y="27614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Messenger</a:t>
            </a:r>
            <a:endParaRPr lang="en-US" sz="1200" dirty="0"/>
          </a:p>
        </p:txBody>
      </p:sp>
      <p:sp>
        <p:nvSpPr>
          <p:cNvPr id="12" name="Text 9"/>
          <p:cNvSpPr txBox="1"/>
          <p:nvPr/>
        </p:nvSpPr>
        <p:spPr>
          <a:xfrm>
            <a:off x="548640" y="3054096"/>
            <a:ext cx="1828800" cy="365760"/>
          </a:xfrm>
          <a:prstGeom prst="rect">
            <a:avLst/>
          </a:prstGeom>
          <a:noFill/>
          <a:ln/>
        </p:spPr>
        <p:txBody>
          <a:bodyPr wrap="square" lIns="0" tIns="0" rIns="0" bIns="0" rtlCol="0" anchor="t"/>
          <a:lstStyle/>
          <a:p>
            <a:pPr indent="0" marL="0">
              <a:buNone/>
            </a:pPr>
            <a:r>
              <a:rPr lang="en-US" sz="1000" dirty="0">
                <a:solidFill>
                  <a:srgbClr val="55555C"/>
                </a:solidFill>
              </a:rPr>
              <a:t>your agent in your chats</a:t>
            </a:r>
            <a:endParaRPr lang="en-US" sz="1000" dirty="0"/>
          </a:p>
        </p:txBody>
      </p:sp>
      <p:sp>
        <p:nvSpPr>
          <p:cNvPr id="13" name="Shape 10"/>
          <p:cNvSpPr/>
          <p:nvPr/>
        </p:nvSpPr>
        <p:spPr>
          <a:xfrm>
            <a:off x="2487168" y="3063240"/>
            <a:ext cx="274320" cy="0"/>
          </a:xfrm>
          <a:prstGeom prst="line">
            <a:avLst/>
          </a:prstGeom>
          <a:noFill/>
          <a:ln w="22225">
            <a:solidFill>
              <a:srgbClr val="8A8A92"/>
            </a:solidFill>
            <a:prstDash val="solid"/>
            <a:tailEnd type="triangle"/>
          </a:ln>
        </p:spPr>
      </p:sp>
      <p:sp>
        <p:nvSpPr>
          <p:cNvPr id="14" name="Shape 11"/>
          <p:cNvSpPr/>
          <p:nvPr/>
        </p:nvSpPr>
        <p:spPr>
          <a:xfrm>
            <a:off x="411480" y="3584448"/>
            <a:ext cx="2057400" cy="786384"/>
          </a:xfrm>
          <a:prstGeom prst="roundRect">
            <a:avLst>
              <a:gd name="adj" fmla="val 13953"/>
            </a:avLst>
          </a:prstGeom>
          <a:solidFill>
            <a:srgbClr val="FFFFFF"/>
          </a:solidFill>
          <a:ln w="12700">
            <a:solidFill>
              <a:srgbClr val="DCDCE0"/>
            </a:solidFill>
            <a:prstDash val="solid"/>
          </a:ln>
        </p:spPr>
      </p:sp>
      <p:sp>
        <p:nvSpPr>
          <p:cNvPr id="15" name="Text 12"/>
          <p:cNvSpPr txBox="1"/>
          <p:nvPr/>
        </p:nvSpPr>
        <p:spPr>
          <a:xfrm>
            <a:off x="548640" y="36758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Health export</a:t>
            </a:r>
            <a:endParaRPr lang="en-US" sz="1200" dirty="0"/>
          </a:p>
        </p:txBody>
      </p:sp>
      <p:sp>
        <p:nvSpPr>
          <p:cNvPr id="16" name="Text 13"/>
          <p:cNvSpPr txBox="1"/>
          <p:nvPr/>
        </p:nvSpPr>
        <p:spPr>
          <a:xfrm>
            <a:off x="548640" y="3968496"/>
            <a:ext cx="1828800" cy="365760"/>
          </a:xfrm>
          <a:prstGeom prst="rect">
            <a:avLst/>
          </a:prstGeom>
          <a:noFill/>
          <a:ln/>
        </p:spPr>
        <p:txBody>
          <a:bodyPr wrap="square" lIns="0" tIns="0" rIns="0" bIns="0" rtlCol="0" anchor="t"/>
          <a:lstStyle/>
          <a:p>
            <a:pPr indent="0" marL="0">
              <a:buNone/>
            </a:pPr>
            <a:r>
              <a:rPr lang="en-US" sz="1000" dirty="0">
                <a:solidFill>
                  <a:srgbClr val="55555C"/>
                </a:solidFill>
              </a:rPr>
              <a:t>Apple Health, Google Fit, GPX</a:t>
            </a:r>
            <a:endParaRPr lang="en-US" sz="1000" dirty="0"/>
          </a:p>
        </p:txBody>
      </p:sp>
      <p:sp>
        <p:nvSpPr>
          <p:cNvPr id="17" name="Shape 14"/>
          <p:cNvSpPr/>
          <p:nvPr/>
        </p:nvSpPr>
        <p:spPr>
          <a:xfrm>
            <a:off x="2487168" y="3977640"/>
            <a:ext cx="274320" cy="0"/>
          </a:xfrm>
          <a:prstGeom prst="line">
            <a:avLst/>
          </a:prstGeom>
          <a:noFill/>
          <a:ln w="22225">
            <a:solidFill>
              <a:srgbClr val="8A8A92"/>
            </a:solidFill>
            <a:prstDash val="solid"/>
            <a:tailEnd type="triangle"/>
          </a:ln>
        </p:spPr>
      </p:sp>
      <p:sp>
        <p:nvSpPr>
          <p:cNvPr id="18" name="Shape 15"/>
          <p:cNvSpPr/>
          <p:nvPr/>
        </p:nvSpPr>
        <p:spPr>
          <a:xfrm>
            <a:off x="411480" y="4498848"/>
            <a:ext cx="2057400" cy="786384"/>
          </a:xfrm>
          <a:prstGeom prst="roundRect">
            <a:avLst>
              <a:gd name="adj" fmla="val 13953"/>
            </a:avLst>
          </a:prstGeom>
          <a:solidFill>
            <a:srgbClr val="FFFFFF"/>
          </a:solidFill>
          <a:ln w="12700">
            <a:solidFill>
              <a:srgbClr val="DCDCE0"/>
            </a:solidFill>
            <a:prstDash val="solid"/>
          </a:ln>
        </p:spPr>
      </p:sp>
      <p:sp>
        <p:nvSpPr>
          <p:cNvPr id="19" name="Text 16"/>
          <p:cNvSpPr txBox="1"/>
          <p:nvPr/>
        </p:nvSpPr>
        <p:spPr>
          <a:xfrm>
            <a:off x="548640" y="45902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Your video</a:t>
            </a:r>
            <a:endParaRPr lang="en-US" sz="1200" dirty="0"/>
          </a:p>
        </p:txBody>
      </p:sp>
      <p:sp>
        <p:nvSpPr>
          <p:cNvPr id="20" name="Text 17"/>
          <p:cNvSpPr txBox="1"/>
          <p:nvPr/>
        </p:nvSpPr>
        <p:spPr>
          <a:xfrm>
            <a:off x="548640" y="4882896"/>
            <a:ext cx="1828800" cy="365760"/>
          </a:xfrm>
          <a:prstGeom prst="rect">
            <a:avLst/>
          </a:prstGeom>
          <a:noFill/>
          <a:ln/>
        </p:spPr>
        <p:txBody>
          <a:bodyPr wrap="square" lIns="0" tIns="0" rIns="0" bIns="0" rtlCol="0" anchor="t"/>
          <a:lstStyle/>
          <a:p>
            <a:pPr indent="0" marL="0">
              <a:buNone/>
            </a:pPr>
            <a:r>
              <a:rPr lang="en-US" sz="1000" dirty="0">
                <a:solidFill>
                  <a:srgbClr val="55555C"/>
                </a:solidFill>
              </a:rPr>
              <a:t>any ball sport, from a phone</a:t>
            </a:r>
            <a:endParaRPr lang="en-US" sz="1000" dirty="0"/>
          </a:p>
        </p:txBody>
      </p:sp>
      <p:sp>
        <p:nvSpPr>
          <p:cNvPr id="21" name="Shape 18"/>
          <p:cNvSpPr/>
          <p:nvPr/>
        </p:nvSpPr>
        <p:spPr>
          <a:xfrm>
            <a:off x="2487168" y="4892040"/>
            <a:ext cx="274320" cy="0"/>
          </a:xfrm>
          <a:prstGeom prst="line">
            <a:avLst/>
          </a:prstGeom>
          <a:noFill/>
          <a:ln w="22225">
            <a:solidFill>
              <a:srgbClr val="8A8A92"/>
            </a:solidFill>
            <a:prstDash val="solid"/>
            <a:tailEnd type="triangle"/>
          </a:ln>
        </p:spPr>
      </p:sp>
      <p:sp>
        <p:nvSpPr>
          <p:cNvPr id="22" name="Shape 19"/>
          <p:cNvSpPr/>
          <p:nvPr/>
        </p:nvSpPr>
        <p:spPr>
          <a:xfrm>
            <a:off x="411480" y="5413248"/>
            <a:ext cx="2057400" cy="786384"/>
          </a:xfrm>
          <a:prstGeom prst="roundRect">
            <a:avLst>
              <a:gd name="adj" fmla="val 13953"/>
            </a:avLst>
          </a:prstGeom>
          <a:solidFill>
            <a:srgbClr val="E8F1FD"/>
          </a:solidFill>
          <a:ln w="12700">
            <a:solidFill>
              <a:srgbClr val="E8F1FD"/>
            </a:solidFill>
            <a:prstDash val="solid"/>
          </a:ln>
        </p:spPr>
      </p:sp>
      <p:sp>
        <p:nvSpPr>
          <p:cNvPr id="23" name="Text 20"/>
          <p:cNvSpPr txBox="1"/>
          <p:nvPr/>
        </p:nvSpPr>
        <p:spPr>
          <a:xfrm>
            <a:off x="548640" y="55046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Facebook · Instagram</a:t>
            </a:r>
            <a:endParaRPr lang="en-US" sz="1200" dirty="0"/>
          </a:p>
        </p:txBody>
      </p:sp>
      <p:sp>
        <p:nvSpPr>
          <p:cNvPr id="24" name="Text 21"/>
          <p:cNvSpPr txBox="1"/>
          <p:nvPr/>
        </p:nvSpPr>
        <p:spPr>
          <a:xfrm>
            <a:off x="548640" y="5797296"/>
            <a:ext cx="1828800" cy="365760"/>
          </a:xfrm>
          <a:prstGeom prst="rect">
            <a:avLst/>
          </a:prstGeom>
          <a:noFill/>
          <a:ln/>
        </p:spPr>
        <p:txBody>
          <a:bodyPr wrap="square" lIns="0" tIns="0" rIns="0" bIns="0" rtlCol="0" anchor="t"/>
          <a:lstStyle/>
          <a:p>
            <a:pPr indent="0" marL="0">
              <a:buNone/>
            </a:pPr>
            <a:r>
              <a:rPr lang="en-US" sz="1000" dirty="0">
                <a:solidFill>
                  <a:srgbClr val="55555C"/>
                </a:solidFill>
              </a:rPr>
              <a:t>sign in · share your reel</a:t>
            </a:r>
            <a:endParaRPr lang="en-US" sz="1000" dirty="0"/>
          </a:p>
        </p:txBody>
      </p:sp>
      <p:sp>
        <p:nvSpPr>
          <p:cNvPr id="25" name="Shape 22"/>
          <p:cNvSpPr/>
          <p:nvPr/>
        </p:nvSpPr>
        <p:spPr>
          <a:xfrm flipH="1">
            <a:off x="2487168" y="5806440"/>
            <a:ext cx="274320" cy="0"/>
          </a:xfrm>
          <a:prstGeom prst="line">
            <a:avLst/>
          </a:prstGeom>
          <a:noFill/>
          <a:ln w="22225">
            <a:solidFill>
              <a:srgbClr val="8A8A92"/>
            </a:solidFill>
            <a:prstDash val="solid"/>
            <a:tailEnd type="triangle"/>
          </a:ln>
        </p:spPr>
      </p:sp>
      <p:sp>
        <p:nvSpPr>
          <p:cNvPr id="26" name="Shape 23"/>
          <p:cNvSpPr/>
          <p:nvPr/>
        </p:nvSpPr>
        <p:spPr>
          <a:xfrm>
            <a:off x="2816352" y="1463040"/>
            <a:ext cx="5916168" cy="4892040"/>
          </a:xfrm>
          <a:prstGeom prst="roundRect">
            <a:avLst>
              <a:gd name="adj" fmla="val 2243"/>
            </a:avLst>
          </a:prstGeom>
          <a:solidFill>
            <a:srgbClr val="FFFFFF"/>
          </a:solidFill>
          <a:ln w="12700">
            <a:solidFill>
              <a:srgbClr val="8A8A92"/>
            </a:solidFill>
            <a:prstDash val="dash"/>
          </a:ln>
        </p:spPr>
      </p:sp>
      <p:sp>
        <p:nvSpPr>
          <p:cNvPr id="27" name="Text 24"/>
          <p:cNvSpPr txBox="1"/>
          <p:nvPr/>
        </p:nvSpPr>
        <p:spPr>
          <a:xfrm>
            <a:off x="2999232" y="1536192"/>
            <a:ext cx="5577840" cy="228600"/>
          </a:xfrm>
          <a:prstGeom prst="rect">
            <a:avLst/>
          </a:prstGeom>
          <a:noFill/>
          <a:ln/>
        </p:spPr>
        <p:txBody>
          <a:bodyPr wrap="square" lIns="0" tIns="0" rIns="0" bIns="0" rtlCol="0" anchor="t"/>
          <a:lstStyle/>
          <a:p>
            <a:pPr indent="0" marL="0">
              <a:buNone/>
            </a:pPr>
            <a:r>
              <a:rPr lang="en-US" sz="1000" b="1" spc="100" kern="0" dirty="0">
                <a:solidFill>
                  <a:srgbClr val="55555C"/>
                </a:solidFill>
              </a:rPr>
              <a:t>SERVE GATEWAY · NODE.JS · STREAMS EACH STEP TO THE APP</a:t>
            </a:r>
            <a:endParaRPr lang="en-US" sz="1000" dirty="0"/>
          </a:p>
        </p:txBody>
      </p:sp>
      <p:sp>
        <p:nvSpPr>
          <p:cNvPr id="28" name="Shape 25"/>
          <p:cNvSpPr/>
          <p:nvPr/>
        </p:nvSpPr>
        <p:spPr>
          <a:xfrm>
            <a:off x="2999232" y="1828800"/>
            <a:ext cx="2724912" cy="731520"/>
          </a:xfrm>
          <a:prstGeom prst="roundRect">
            <a:avLst>
              <a:gd name="adj" fmla="val 15000"/>
            </a:avLst>
          </a:prstGeom>
          <a:solidFill>
            <a:srgbClr val="F6F7F8"/>
          </a:solidFill>
          <a:ln w="12700">
            <a:solidFill>
              <a:srgbClr val="F6F7F8"/>
            </a:solidFill>
            <a:prstDash val="solid"/>
          </a:ln>
        </p:spPr>
      </p:sp>
      <p:sp>
        <p:nvSpPr>
          <p:cNvPr id="29" name="Text 26"/>
          <p:cNvSpPr txBox="1"/>
          <p:nvPr/>
        </p:nvSpPr>
        <p:spPr>
          <a:xfrm>
            <a:off x="3127248" y="1892808"/>
            <a:ext cx="2468880" cy="246888"/>
          </a:xfrm>
          <a:prstGeom prst="rect">
            <a:avLst/>
          </a:prstGeom>
          <a:noFill/>
          <a:ln/>
        </p:spPr>
        <p:txBody>
          <a:bodyPr wrap="square" lIns="0" tIns="0" rIns="0" bIns="0" rtlCol="0" anchor="t"/>
          <a:lstStyle/>
          <a:p>
            <a:pPr indent="0" marL="0">
              <a:buNone/>
            </a:pPr>
            <a:r>
              <a:rPr lang="en-US" sz="1150" b="1" dirty="0">
                <a:solidFill>
                  <a:srgbClr val="0A0A0B"/>
                </a:solidFill>
              </a:rPr>
              <a:t>Planner agent</a:t>
            </a:r>
            <a:endParaRPr lang="en-US" sz="1150" dirty="0"/>
          </a:p>
        </p:txBody>
      </p:sp>
      <p:sp>
        <p:nvSpPr>
          <p:cNvPr id="30" name="Text 27"/>
          <p:cNvSpPr txBox="1"/>
          <p:nvPr/>
        </p:nvSpPr>
        <p:spPr>
          <a:xfrm>
            <a:off x="3127248" y="2148840"/>
            <a:ext cx="2514600" cy="384048"/>
          </a:xfrm>
          <a:prstGeom prst="rect">
            <a:avLst/>
          </a:prstGeom>
          <a:noFill/>
          <a:ln/>
        </p:spPr>
        <p:txBody>
          <a:bodyPr wrap="square" lIns="0" tIns="0" rIns="0" bIns="0" rtlCol="0" anchor="t"/>
          <a:lstStyle/>
          <a:p>
            <a:pPr indent="0" marL="0">
              <a:buNone/>
            </a:pPr>
            <a:r>
              <a:rPr lang="en-US" sz="950" dirty="0">
                <a:solidFill>
                  <a:srgbClr val="55555C"/>
                </a:solidFill>
              </a:rPr>
              <a:t>tool loop · native tool calling · 12 steps max · rules finish if it stalls</a:t>
            </a:r>
            <a:endParaRPr lang="en-US" sz="950" dirty="0"/>
          </a:p>
        </p:txBody>
      </p:sp>
      <p:sp>
        <p:nvSpPr>
          <p:cNvPr id="31" name="Shape 28"/>
          <p:cNvSpPr/>
          <p:nvPr/>
        </p:nvSpPr>
        <p:spPr>
          <a:xfrm>
            <a:off x="5833872" y="1828800"/>
            <a:ext cx="2724912" cy="731520"/>
          </a:xfrm>
          <a:prstGeom prst="roundRect">
            <a:avLst>
              <a:gd name="adj" fmla="val 15000"/>
            </a:avLst>
          </a:prstGeom>
          <a:solidFill>
            <a:srgbClr val="F6F7F8"/>
          </a:solidFill>
          <a:ln w="12700">
            <a:solidFill>
              <a:srgbClr val="F6F7F8"/>
            </a:solidFill>
            <a:prstDash val="solid"/>
          </a:ln>
        </p:spPr>
      </p:sp>
      <p:sp>
        <p:nvSpPr>
          <p:cNvPr id="32" name="Text 29"/>
          <p:cNvSpPr txBox="1"/>
          <p:nvPr/>
        </p:nvSpPr>
        <p:spPr>
          <a:xfrm>
            <a:off x="5961888" y="1892808"/>
            <a:ext cx="2468880" cy="246888"/>
          </a:xfrm>
          <a:prstGeom prst="rect">
            <a:avLst/>
          </a:prstGeom>
          <a:noFill/>
          <a:ln/>
        </p:spPr>
        <p:txBody>
          <a:bodyPr wrap="square" lIns="0" tIns="0" rIns="0" bIns="0" rtlCol="0" anchor="t"/>
          <a:lstStyle/>
          <a:p>
            <a:pPr indent="0" marL="0">
              <a:buNone/>
            </a:pPr>
            <a:r>
              <a:rPr lang="en-US" sz="1150" b="1" dirty="0">
                <a:solidFill>
                  <a:srgbClr val="0A0A0B"/>
                </a:solidFill>
              </a:rPr>
              <a:t>Agent to agent</a:t>
            </a:r>
            <a:endParaRPr lang="en-US" sz="1150" dirty="0"/>
          </a:p>
        </p:txBody>
      </p:sp>
      <p:sp>
        <p:nvSpPr>
          <p:cNvPr id="33" name="Text 30"/>
          <p:cNvSpPr txBox="1"/>
          <p:nvPr/>
        </p:nvSpPr>
        <p:spPr>
          <a:xfrm>
            <a:off x="5961888" y="2148840"/>
            <a:ext cx="2514600" cy="384048"/>
          </a:xfrm>
          <a:prstGeom prst="rect">
            <a:avLst/>
          </a:prstGeom>
          <a:noFill/>
          <a:ln/>
        </p:spPr>
        <p:txBody>
          <a:bodyPr wrap="square" lIns="0" tIns="0" rIns="0" bIns="0" rtlCol="0" anchor="t"/>
          <a:lstStyle/>
          <a:p>
            <a:pPr indent="0" marL="0">
              <a:buNone/>
            </a:pPr>
            <a:r>
              <a:rPr lang="en-US" sz="950" dirty="0">
                <a:solidFill>
                  <a:srgbClr val="55555C"/>
                </a:solidFill>
              </a:rPr>
              <a:t>A2A v1.0 · signed Agent Cards · one round · held times · checkpoints</a:t>
            </a:r>
            <a:endParaRPr lang="en-US" sz="950" dirty="0"/>
          </a:p>
        </p:txBody>
      </p:sp>
      <p:sp>
        <p:nvSpPr>
          <p:cNvPr id="34" name="Shape 31"/>
          <p:cNvSpPr/>
          <p:nvPr/>
        </p:nvSpPr>
        <p:spPr>
          <a:xfrm>
            <a:off x="2999232" y="2651760"/>
            <a:ext cx="2724912" cy="731520"/>
          </a:xfrm>
          <a:prstGeom prst="roundRect">
            <a:avLst>
              <a:gd name="adj" fmla="val 15000"/>
            </a:avLst>
          </a:prstGeom>
          <a:solidFill>
            <a:srgbClr val="F6F7F8"/>
          </a:solidFill>
          <a:ln w="12700">
            <a:solidFill>
              <a:srgbClr val="F6F7F8"/>
            </a:solidFill>
            <a:prstDash val="solid"/>
          </a:ln>
        </p:spPr>
      </p:sp>
      <p:sp>
        <p:nvSpPr>
          <p:cNvPr id="35" name="Text 32"/>
          <p:cNvSpPr txBox="1"/>
          <p:nvPr/>
        </p:nvSpPr>
        <p:spPr>
          <a:xfrm>
            <a:off x="3127248" y="2715768"/>
            <a:ext cx="2468880" cy="246888"/>
          </a:xfrm>
          <a:prstGeom prst="rect">
            <a:avLst/>
          </a:prstGeom>
          <a:noFill/>
          <a:ln/>
        </p:spPr>
        <p:txBody>
          <a:bodyPr wrap="square" lIns="0" tIns="0" rIns="0" bIns="0" rtlCol="0" anchor="t"/>
          <a:lstStyle/>
          <a:p>
            <a:pPr indent="0" marL="0">
              <a:buNone/>
            </a:pPr>
            <a:r>
              <a:rPr lang="en-US" sz="1150" b="1" dirty="0">
                <a:solidFill>
                  <a:srgbClr val="0A0A0B"/>
                </a:solidFill>
              </a:rPr>
              <a:t>Body context</a:t>
            </a:r>
            <a:endParaRPr lang="en-US" sz="1150" dirty="0"/>
          </a:p>
        </p:txBody>
      </p:sp>
      <p:sp>
        <p:nvSpPr>
          <p:cNvPr id="36" name="Text 33"/>
          <p:cNvSpPr txBox="1"/>
          <p:nvPr/>
        </p:nvSpPr>
        <p:spPr>
          <a:xfrm>
            <a:off x="3127248" y="2971800"/>
            <a:ext cx="2514600" cy="384048"/>
          </a:xfrm>
          <a:prstGeom prst="rect">
            <a:avLst/>
          </a:prstGeom>
          <a:noFill/>
          <a:ln/>
        </p:spPr>
        <p:txBody>
          <a:bodyPr wrap="square" lIns="0" tIns="0" rIns="0" bIns="0" rtlCol="0" anchor="t"/>
          <a:lstStyle/>
          <a:p>
            <a:pPr indent="0" marL="0">
              <a:buNone/>
            </a:pPr>
            <a:r>
              <a:rPr lang="en-US" sz="950" dirty="0">
                <a:solidFill>
                  <a:srgbClr val="55555C"/>
                </a:solidFill>
              </a:rPr>
              <a:t>your words, games, health app · found by DRAMA · rules cite notes</a:t>
            </a:r>
            <a:endParaRPr lang="en-US" sz="950" dirty="0"/>
          </a:p>
        </p:txBody>
      </p:sp>
      <p:sp>
        <p:nvSpPr>
          <p:cNvPr id="37" name="Shape 34"/>
          <p:cNvSpPr/>
          <p:nvPr/>
        </p:nvSpPr>
        <p:spPr>
          <a:xfrm>
            <a:off x="5833872" y="2651760"/>
            <a:ext cx="2724912" cy="731520"/>
          </a:xfrm>
          <a:prstGeom prst="roundRect">
            <a:avLst>
              <a:gd name="adj" fmla="val 15000"/>
            </a:avLst>
          </a:prstGeom>
          <a:solidFill>
            <a:srgbClr val="F6F7F8"/>
          </a:solidFill>
          <a:ln w="12700">
            <a:solidFill>
              <a:srgbClr val="F6F7F8"/>
            </a:solidFill>
            <a:prstDash val="solid"/>
          </a:ln>
        </p:spPr>
      </p:sp>
      <p:sp>
        <p:nvSpPr>
          <p:cNvPr id="38" name="Text 35"/>
          <p:cNvSpPr txBox="1"/>
          <p:nvPr/>
        </p:nvSpPr>
        <p:spPr>
          <a:xfrm>
            <a:off x="5961888" y="2715768"/>
            <a:ext cx="2468880" cy="246888"/>
          </a:xfrm>
          <a:prstGeom prst="rect">
            <a:avLst/>
          </a:prstGeom>
          <a:noFill/>
          <a:ln/>
        </p:spPr>
        <p:txBody>
          <a:bodyPr wrap="square" lIns="0" tIns="0" rIns="0" bIns="0" rtlCol="0" anchor="t"/>
          <a:lstStyle/>
          <a:p>
            <a:pPr indent="0" marL="0">
              <a:buNone/>
            </a:pPr>
            <a:r>
              <a:rPr lang="en-US" sz="1150" b="1" dirty="0">
                <a:solidFill>
                  <a:srgbClr val="0A0A0B"/>
                </a:solidFill>
              </a:rPr>
              <a:t>Courts near you</a:t>
            </a:r>
            <a:endParaRPr lang="en-US" sz="1150" dirty="0"/>
          </a:p>
        </p:txBody>
      </p:sp>
      <p:sp>
        <p:nvSpPr>
          <p:cNvPr id="39" name="Text 36"/>
          <p:cNvSpPr txBox="1"/>
          <p:nvPr/>
        </p:nvSpPr>
        <p:spPr>
          <a:xfrm>
            <a:off x="5961888" y="2971800"/>
            <a:ext cx="2514600" cy="384048"/>
          </a:xfrm>
          <a:prstGeom prst="rect">
            <a:avLst/>
          </a:prstGeom>
          <a:noFill/>
          <a:ln/>
        </p:spPr>
        <p:txBody>
          <a:bodyPr wrap="square" lIns="0" tIns="0" rIns="0" bIns="0" rtlCol="0" anchor="t"/>
          <a:lstStyle/>
          <a:p>
            <a:pPr indent="0" marL="0">
              <a:buNone/>
            </a:pPr>
            <a:r>
              <a:rPr lang="en-US" sz="950" dirty="0">
                <a:solidFill>
                  <a:srgbClr val="55555C"/>
                </a:solidFill>
              </a:rPr>
              <a:t>map, reviews, forecast · 4 judged at once · reasons cited</a:t>
            </a:r>
            <a:endParaRPr lang="en-US" sz="950" dirty="0"/>
          </a:p>
        </p:txBody>
      </p:sp>
      <p:sp>
        <p:nvSpPr>
          <p:cNvPr id="40" name="Shape 37"/>
          <p:cNvSpPr/>
          <p:nvPr/>
        </p:nvSpPr>
        <p:spPr>
          <a:xfrm>
            <a:off x="2999232" y="3474720"/>
            <a:ext cx="2724912" cy="731520"/>
          </a:xfrm>
          <a:prstGeom prst="roundRect">
            <a:avLst>
              <a:gd name="adj" fmla="val 15000"/>
            </a:avLst>
          </a:prstGeom>
          <a:solidFill>
            <a:srgbClr val="F6F7F8"/>
          </a:solidFill>
          <a:ln w="12700">
            <a:solidFill>
              <a:srgbClr val="F6F7F8"/>
            </a:solidFill>
            <a:prstDash val="solid"/>
          </a:ln>
        </p:spPr>
      </p:sp>
      <p:sp>
        <p:nvSpPr>
          <p:cNvPr id="41" name="Text 38"/>
          <p:cNvSpPr txBox="1"/>
          <p:nvPr/>
        </p:nvSpPr>
        <p:spPr>
          <a:xfrm>
            <a:off x="3127248" y="3538728"/>
            <a:ext cx="2468880" cy="246888"/>
          </a:xfrm>
          <a:prstGeom prst="rect">
            <a:avLst/>
          </a:prstGeom>
          <a:noFill/>
          <a:ln/>
        </p:spPr>
        <p:txBody>
          <a:bodyPr wrap="square" lIns="0" tIns="0" rIns="0" bIns="0" rtlCol="0" anchor="t"/>
          <a:lstStyle/>
          <a:p>
            <a:pPr indent="0" marL="0">
              <a:buNone/>
            </a:pPr>
            <a:r>
              <a:rPr lang="en-US" sz="1150" b="1" dirty="0">
                <a:solidFill>
                  <a:srgbClr val="0A0A0B"/>
                </a:solidFill>
              </a:rPr>
              <a:t>Social feed and members</a:t>
            </a:r>
            <a:endParaRPr lang="en-US" sz="1150" dirty="0"/>
          </a:p>
        </p:txBody>
      </p:sp>
      <p:sp>
        <p:nvSpPr>
          <p:cNvPr id="42" name="Text 39"/>
          <p:cNvSpPr txBox="1"/>
          <p:nvPr/>
        </p:nvSpPr>
        <p:spPr>
          <a:xfrm>
            <a:off x="3127248" y="3794760"/>
            <a:ext cx="2514600" cy="384048"/>
          </a:xfrm>
          <a:prstGeom prst="rect">
            <a:avLst/>
          </a:prstGeom>
          <a:noFill/>
          <a:ln/>
        </p:spPr>
        <p:txBody>
          <a:bodyPr wrap="square" lIns="0" tIns="0" rIns="0" bIns="0" rtlCol="0" anchor="t"/>
          <a:lstStyle/>
          <a:p>
            <a:pPr indent="0" marL="0">
              <a:buNone/>
            </a:pPr>
            <a:r>
              <a:rPr lang="en-US" sz="950" dirty="0">
                <a:solidFill>
                  <a:srgbClr val="55555C"/>
                </a:solidFill>
              </a:rPr>
              <a:t>Facebook / Instagram login · invites · stories · signed agent channel</a:t>
            </a:r>
            <a:endParaRPr lang="en-US" sz="950" dirty="0"/>
          </a:p>
        </p:txBody>
      </p:sp>
      <p:sp>
        <p:nvSpPr>
          <p:cNvPr id="43" name="Shape 40"/>
          <p:cNvSpPr/>
          <p:nvPr/>
        </p:nvSpPr>
        <p:spPr>
          <a:xfrm>
            <a:off x="5833872" y="3474720"/>
            <a:ext cx="2724912" cy="731520"/>
          </a:xfrm>
          <a:prstGeom prst="roundRect">
            <a:avLst>
              <a:gd name="adj" fmla="val 15000"/>
            </a:avLst>
          </a:prstGeom>
          <a:solidFill>
            <a:srgbClr val="F6F7F8"/>
          </a:solidFill>
          <a:ln w="12700">
            <a:solidFill>
              <a:srgbClr val="F6F7F8"/>
            </a:solidFill>
            <a:prstDash val="solid"/>
          </a:ln>
        </p:spPr>
      </p:sp>
      <p:sp>
        <p:nvSpPr>
          <p:cNvPr id="44" name="Text 41"/>
          <p:cNvSpPr txBox="1"/>
          <p:nvPr/>
        </p:nvSpPr>
        <p:spPr>
          <a:xfrm>
            <a:off x="5961888" y="3538728"/>
            <a:ext cx="2468880" cy="246888"/>
          </a:xfrm>
          <a:prstGeom prst="rect">
            <a:avLst/>
          </a:prstGeom>
          <a:noFill/>
          <a:ln/>
        </p:spPr>
        <p:txBody>
          <a:bodyPr wrap="square" lIns="0" tIns="0" rIns="0" bIns="0" rtlCol="0" anchor="t"/>
          <a:lstStyle/>
          <a:p>
            <a:pPr indent="0" marL="0">
              <a:buNone/>
            </a:pPr>
            <a:r>
              <a:rPr lang="en-US" sz="1150" b="1" dirty="0">
                <a:solidFill>
                  <a:srgbClr val="0A0A0B"/>
                </a:solidFill>
              </a:rPr>
              <a:t>Highlights</a:t>
            </a:r>
            <a:endParaRPr lang="en-US" sz="1150" dirty="0"/>
          </a:p>
        </p:txBody>
      </p:sp>
      <p:sp>
        <p:nvSpPr>
          <p:cNvPr id="45" name="Text 42"/>
          <p:cNvSpPr txBox="1"/>
          <p:nvPr/>
        </p:nvSpPr>
        <p:spPr>
          <a:xfrm>
            <a:off x="5961888" y="3794760"/>
            <a:ext cx="2514600" cy="384048"/>
          </a:xfrm>
          <a:prstGeom prst="rect">
            <a:avLst/>
          </a:prstGeom>
          <a:noFill/>
          <a:ln/>
        </p:spPr>
        <p:txBody>
          <a:bodyPr wrap="square" lIns="0" tIns="0" rIns="0" bIns="0" rtlCol="0" anchor="t"/>
          <a:lstStyle/>
          <a:p>
            <a:pPr indent="0" marL="0">
              <a:buNone/>
            </a:pPr>
            <a:r>
              <a:rPr lang="en-US" sz="950" dirty="0">
                <a:solidFill>
                  <a:srgbClr val="55555C"/>
                </a:solidFill>
              </a:rPr>
              <a:t>find you, read your pose, cut you out · orbit effect · caption</a:t>
            </a:r>
            <a:endParaRPr lang="en-US" sz="950" dirty="0"/>
          </a:p>
        </p:txBody>
      </p:sp>
      <p:sp>
        <p:nvSpPr>
          <p:cNvPr id="46" name="Shape 43"/>
          <p:cNvSpPr/>
          <p:nvPr/>
        </p:nvSpPr>
        <p:spPr>
          <a:xfrm>
            <a:off x="2999232" y="4297680"/>
            <a:ext cx="2724912" cy="731520"/>
          </a:xfrm>
          <a:prstGeom prst="roundRect">
            <a:avLst>
              <a:gd name="adj" fmla="val 15000"/>
            </a:avLst>
          </a:prstGeom>
          <a:solidFill>
            <a:srgbClr val="F6F7F8"/>
          </a:solidFill>
          <a:ln w="12700">
            <a:solidFill>
              <a:srgbClr val="F6F7F8"/>
            </a:solidFill>
            <a:prstDash val="solid"/>
          </a:ln>
        </p:spPr>
      </p:sp>
      <p:sp>
        <p:nvSpPr>
          <p:cNvPr id="47" name="Text 44"/>
          <p:cNvSpPr txBox="1"/>
          <p:nvPr/>
        </p:nvSpPr>
        <p:spPr>
          <a:xfrm>
            <a:off x="3127248" y="4361688"/>
            <a:ext cx="2468880" cy="246888"/>
          </a:xfrm>
          <a:prstGeom prst="rect">
            <a:avLst/>
          </a:prstGeom>
          <a:noFill/>
          <a:ln/>
        </p:spPr>
        <p:txBody>
          <a:bodyPr wrap="square" lIns="0" tIns="0" rIns="0" bIns="0" rtlCol="0" anchor="t"/>
          <a:lstStyle/>
          <a:p>
            <a:pPr indent="0" marL="0">
              <a:buNone/>
            </a:pPr>
            <a:r>
              <a:rPr lang="en-US" sz="1150" b="1" dirty="0">
                <a:solidFill>
                  <a:srgbClr val="0A0A0B"/>
                </a:solidFill>
              </a:rPr>
              <a:t>Community loop</a:t>
            </a:r>
            <a:endParaRPr lang="en-US" sz="1150" dirty="0"/>
          </a:p>
        </p:txBody>
      </p:sp>
      <p:sp>
        <p:nvSpPr>
          <p:cNvPr id="48" name="Text 45"/>
          <p:cNvSpPr txBox="1"/>
          <p:nvPr/>
        </p:nvSpPr>
        <p:spPr>
          <a:xfrm>
            <a:off x="3127248" y="4617720"/>
            <a:ext cx="2514600" cy="384048"/>
          </a:xfrm>
          <a:prstGeom prst="rect">
            <a:avLst/>
          </a:prstGeom>
          <a:noFill/>
          <a:ln/>
        </p:spPr>
        <p:txBody>
          <a:bodyPr wrap="square" lIns="0" tIns="0" rIns="0" bIns="0" rtlCol="0" anchor="t"/>
          <a:lstStyle/>
          <a:p>
            <a:pPr indent="0" marL="0">
              <a:buNone/>
            </a:pPr>
            <a:r>
              <a:rPr lang="en-US" sz="950" dirty="0">
                <a:solidFill>
                  <a:srgbClr val="55555C"/>
                </a:solidFill>
              </a:rPr>
              <a:t>ideas · DRAMA · votes · spec · coding agent · 9 gates · canary</a:t>
            </a:r>
            <a:endParaRPr lang="en-US" sz="950" dirty="0"/>
          </a:p>
        </p:txBody>
      </p:sp>
      <p:sp>
        <p:nvSpPr>
          <p:cNvPr id="49" name="Shape 46"/>
          <p:cNvSpPr/>
          <p:nvPr/>
        </p:nvSpPr>
        <p:spPr>
          <a:xfrm>
            <a:off x="5833872" y="4297680"/>
            <a:ext cx="2724912" cy="731520"/>
          </a:xfrm>
          <a:prstGeom prst="roundRect">
            <a:avLst>
              <a:gd name="adj" fmla="val 15000"/>
            </a:avLst>
          </a:prstGeom>
          <a:solidFill>
            <a:srgbClr val="F6F7F8"/>
          </a:solidFill>
          <a:ln w="12700">
            <a:solidFill>
              <a:srgbClr val="F6F7F8"/>
            </a:solidFill>
            <a:prstDash val="solid"/>
          </a:ln>
        </p:spPr>
      </p:sp>
      <p:sp>
        <p:nvSpPr>
          <p:cNvPr id="50" name="Text 47"/>
          <p:cNvSpPr txBox="1"/>
          <p:nvPr/>
        </p:nvSpPr>
        <p:spPr>
          <a:xfrm>
            <a:off x="5961888" y="4361688"/>
            <a:ext cx="2468880" cy="246888"/>
          </a:xfrm>
          <a:prstGeom prst="rect">
            <a:avLst/>
          </a:prstGeom>
          <a:noFill/>
          <a:ln/>
        </p:spPr>
        <p:txBody>
          <a:bodyPr wrap="square" lIns="0" tIns="0" rIns="0" bIns="0" rtlCol="0" anchor="t"/>
          <a:lstStyle/>
          <a:p>
            <a:pPr indent="0" marL="0">
              <a:buNone/>
            </a:pPr>
            <a:r>
              <a:rPr lang="en-US" sz="1150" b="1" dirty="0">
                <a:solidFill>
                  <a:srgbClr val="0A0A0B"/>
                </a:solidFill>
              </a:rPr>
              <a:t>Decision tiers</a:t>
            </a:r>
            <a:endParaRPr lang="en-US" sz="1150" dirty="0"/>
          </a:p>
        </p:txBody>
      </p:sp>
      <p:sp>
        <p:nvSpPr>
          <p:cNvPr id="51" name="Text 48"/>
          <p:cNvSpPr txBox="1"/>
          <p:nvPr/>
        </p:nvSpPr>
        <p:spPr>
          <a:xfrm>
            <a:off x="5961888" y="4617720"/>
            <a:ext cx="2514600" cy="384048"/>
          </a:xfrm>
          <a:prstGeom prst="rect">
            <a:avLst/>
          </a:prstGeom>
          <a:noFill/>
          <a:ln/>
        </p:spPr>
        <p:txBody>
          <a:bodyPr wrap="square" lIns="0" tIns="0" rIns="0" bIns="0" rtlCol="0" anchor="t"/>
          <a:lstStyle/>
          <a:p>
            <a:pPr indent="0" marL="0">
              <a:buNone/>
            </a:pPr>
            <a:r>
              <a:rPr lang="en-US" sz="950" dirty="0">
                <a:solidFill>
                  <a:srgbClr val="55555C"/>
                </a:solidFill>
              </a:rPr>
              <a:t>code first · Llama 3.2 1B when sure · Muse Glimmer if needed</a:t>
            </a:r>
            <a:endParaRPr lang="en-US" sz="950" dirty="0"/>
          </a:p>
        </p:txBody>
      </p:sp>
      <p:sp>
        <p:nvSpPr>
          <p:cNvPr id="52" name="Shape 49"/>
          <p:cNvSpPr/>
          <p:nvPr/>
        </p:nvSpPr>
        <p:spPr>
          <a:xfrm>
            <a:off x="2999232" y="5138928"/>
            <a:ext cx="5559552" cy="749808"/>
          </a:xfrm>
          <a:prstGeom prst="roundRect">
            <a:avLst>
              <a:gd name="adj" fmla="val 14634"/>
            </a:avLst>
          </a:prstGeom>
          <a:solidFill>
            <a:srgbClr val="FBF3E6"/>
          </a:solidFill>
          <a:ln w="12700">
            <a:solidFill>
              <a:srgbClr val="FBF3E6"/>
            </a:solidFill>
            <a:prstDash val="solid"/>
          </a:ln>
        </p:spPr>
      </p:sp>
      <p:sp>
        <p:nvSpPr>
          <p:cNvPr id="53" name="Text 50"/>
          <p:cNvSpPr txBox="1"/>
          <p:nvPr/>
        </p:nvSpPr>
        <p:spPr>
          <a:xfrm>
            <a:off x="3127248" y="5193792"/>
            <a:ext cx="5303520" cy="246888"/>
          </a:xfrm>
          <a:prstGeom prst="rect">
            <a:avLst/>
          </a:prstGeom>
          <a:noFill/>
          <a:ln/>
        </p:spPr>
        <p:txBody>
          <a:bodyPr wrap="square" lIns="0" tIns="0" rIns="0" bIns="0" rtlCol="0" anchor="t"/>
          <a:lstStyle/>
          <a:p>
            <a:pPr indent="0" marL="0">
              <a:buNone/>
            </a:pPr>
            <a:r>
              <a:rPr lang="en-US" sz="1150" b="1" dirty="0">
                <a:solidFill>
                  <a:srgbClr val="B26A00"/>
                </a:solidFill>
              </a:rPr>
              <a:t>Checked by code before anyone sees it</a:t>
            </a:r>
            <a:endParaRPr lang="en-US" sz="1150" dirty="0"/>
          </a:p>
        </p:txBody>
      </p:sp>
      <p:sp>
        <p:nvSpPr>
          <p:cNvPr id="54" name="Text 51"/>
          <p:cNvSpPr txBox="1"/>
          <p:nvPr/>
        </p:nvSpPr>
        <p:spPr>
          <a:xfrm>
            <a:off x="3127248" y="5449824"/>
            <a:ext cx="5349240" cy="420624"/>
          </a:xfrm>
          <a:prstGeom prst="rect">
            <a:avLst/>
          </a:prstGeom>
          <a:noFill/>
          <a:ln/>
        </p:spPr>
        <p:txBody>
          <a:bodyPr wrap="square" lIns="0" tIns="0" rIns="0" bIns="0" rtlCol="0" anchor="t"/>
          <a:lstStyle/>
          <a:p>
            <a:pPr indent="0" marL="0">
              <a:buNone/>
            </a:pPr>
            <a:r>
              <a:rPr lang="en-US" sz="950" dirty="0">
                <a:solidFill>
                  <a:srgbClr val="0A0A0B"/>
                </a:solidFill>
              </a:rPr>
              <a:t>Llama Guard 3 in and out · Prompt Guard 2 on reviews and ideas · numbers must be in the facts · JSON Schemas · facts, not prose, between agents · nothing booked without a yes</a:t>
            </a:r>
            <a:endParaRPr lang="en-US" sz="950" dirty="0"/>
          </a:p>
        </p:txBody>
      </p:sp>
      <p:sp>
        <p:nvSpPr>
          <p:cNvPr id="55" name="Text 52"/>
          <p:cNvSpPr txBox="1"/>
          <p:nvPr/>
        </p:nvSpPr>
        <p:spPr>
          <a:xfrm>
            <a:off x="2999232" y="5961888"/>
            <a:ext cx="5577840" cy="347472"/>
          </a:xfrm>
          <a:prstGeom prst="rect">
            <a:avLst/>
          </a:prstGeom>
          <a:noFill/>
          <a:ln/>
        </p:spPr>
        <p:txBody>
          <a:bodyPr wrap="square" lIns="0" tIns="0" rIns="0" bIns="0" rtlCol="0" anchor="t"/>
          <a:lstStyle/>
          <a:p>
            <a:pPr indent="0" marL="0">
              <a:buNone/>
            </a:pPr>
            <a:r>
              <a:rPr lang="en-US" sz="950" dirty="0">
                <a:solidFill>
                  <a:srgbClr val="55555C"/>
                </a:solidFill>
              </a:rPr>
              <a:t>Token ledger per call site · OpenTelemetry GenAI traces across agents · disclosure budget · tokens on every API call</a:t>
            </a:r>
            <a:endParaRPr lang="en-US" sz="950" dirty="0"/>
          </a:p>
        </p:txBody>
      </p:sp>
      <p:sp>
        <p:nvSpPr>
          <p:cNvPr id="56" name="Shape 53"/>
          <p:cNvSpPr/>
          <p:nvPr/>
        </p:nvSpPr>
        <p:spPr>
          <a:xfrm>
            <a:off x="8750808" y="2468880"/>
            <a:ext cx="274320" cy="0"/>
          </a:xfrm>
          <a:prstGeom prst="line">
            <a:avLst/>
          </a:prstGeom>
          <a:noFill/>
          <a:ln w="22225">
            <a:solidFill>
              <a:srgbClr val="0A7F44"/>
            </a:solidFill>
            <a:prstDash val="solid"/>
            <a:tailEnd type="triangle"/>
          </a:ln>
        </p:spPr>
      </p:sp>
      <p:sp>
        <p:nvSpPr>
          <p:cNvPr id="57" name="Shape 54"/>
          <p:cNvSpPr/>
          <p:nvPr/>
        </p:nvSpPr>
        <p:spPr>
          <a:xfrm>
            <a:off x="8750808" y="3794760"/>
            <a:ext cx="274320" cy="0"/>
          </a:xfrm>
          <a:prstGeom prst="line">
            <a:avLst/>
          </a:prstGeom>
          <a:noFill/>
          <a:ln w="22225">
            <a:solidFill>
              <a:srgbClr val="0064E0"/>
            </a:solidFill>
            <a:prstDash val="solid"/>
            <a:tailEnd type="triangle"/>
          </a:ln>
        </p:spPr>
      </p:sp>
      <p:sp>
        <p:nvSpPr>
          <p:cNvPr id="58" name="Text 55"/>
          <p:cNvSpPr txBox="1"/>
          <p:nvPr/>
        </p:nvSpPr>
        <p:spPr>
          <a:xfrm>
            <a:off x="9070848" y="1481328"/>
            <a:ext cx="2743200" cy="228600"/>
          </a:xfrm>
          <a:prstGeom prst="rect">
            <a:avLst/>
          </a:prstGeom>
          <a:noFill/>
          <a:ln/>
        </p:spPr>
        <p:txBody>
          <a:bodyPr wrap="square" lIns="0" tIns="0" rIns="0" bIns="0" rtlCol="0" anchor="t"/>
          <a:lstStyle/>
          <a:p>
            <a:pPr indent="0" marL="0">
              <a:buNone/>
            </a:pPr>
            <a:r>
              <a:rPr lang="en-US" sz="1000" b="1" spc="100" kern="0" dirty="0">
                <a:solidFill>
                  <a:srgbClr val="55555C"/>
                </a:solidFill>
              </a:rPr>
              <a:t>META MODELS ON MY SERVER</a:t>
            </a:r>
            <a:endParaRPr lang="en-US" sz="1000" dirty="0"/>
          </a:p>
        </p:txBody>
      </p:sp>
      <p:sp>
        <p:nvSpPr>
          <p:cNvPr id="59" name="Shape 56"/>
          <p:cNvSpPr/>
          <p:nvPr/>
        </p:nvSpPr>
        <p:spPr>
          <a:xfrm>
            <a:off x="9070848" y="1755648"/>
            <a:ext cx="2697480" cy="914400"/>
          </a:xfrm>
          <a:prstGeom prst="roundRect">
            <a:avLst>
              <a:gd name="adj" fmla="val 12000"/>
            </a:avLst>
          </a:prstGeom>
          <a:solidFill>
            <a:srgbClr val="E9F3EC"/>
          </a:solidFill>
          <a:ln w="12700">
            <a:solidFill>
              <a:srgbClr val="E9F3EC"/>
            </a:solidFill>
            <a:prstDash val="solid"/>
          </a:ln>
        </p:spPr>
      </p:sp>
      <p:sp>
        <p:nvSpPr>
          <p:cNvPr id="60" name="Text 57"/>
          <p:cNvSpPr txBox="1"/>
          <p:nvPr/>
        </p:nvSpPr>
        <p:spPr>
          <a:xfrm>
            <a:off x="9198864" y="1828800"/>
            <a:ext cx="2468880" cy="246888"/>
          </a:xfrm>
          <a:prstGeom prst="rect">
            <a:avLst/>
          </a:prstGeom>
          <a:noFill/>
          <a:ln/>
        </p:spPr>
        <p:txBody>
          <a:bodyPr wrap="square" lIns="0" tIns="0" rIns="0" bIns="0" rtlCol="0" anchor="t"/>
          <a:lstStyle/>
          <a:p>
            <a:pPr indent="0" marL="0">
              <a:buNone/>
            </a:pPr>
            <a:r>
              <a:rPr lang="en-US" sz="1150" b="1" dirty="0">
                <a:solidFill>
                  <a:srgbClr val="0A7F44"/>
                </a:solidFill>
              </a:rPr>
              <a:t>Muse Glimmer</a:t>
            </a:r>
            <a:endParaRPr lang="en-US" sz="1150" dirty="0"/>
          </a:p>
        </p:txBody>
      </p:sp>
      <p:sp>
        <p:nvSpPr>
          <p:cNvPr id="61" name="Text 58"/>
          <p:cNvSpPr txBox="1"/>
          <p:nvPr/>
        </p:nvSpPr>
        <p:spPr>
          <a:xfrm>
            <a:off x="9198864" y="2084832"/>
            <a:ext cx="2487168" cy="548640"/>
          </a:xfrm>
          <a:prstGeom prst="rect">
            <a:avLst/>
          </a:prstGeom>
          <a:noFill/>
          <a:ln/>
        </p:spPr>
        <p:txBody>
          <a:bodyPr wrap="square" lIns="0" tIns="0" rIns="0" bIns="0" rtlCol="0" anchor="t"/>
          <a:lstStyle/>
          <a:p>
            <a:pPr indent="0" marL="0">
              <a:buNone/>
            </a:pPr>
            <a:r>
              <a:rPr lang="en-US" sz="950" dirty="0">
                <a:solidFill>
                  <a:srgbClr val="0A0A0B"/>
                </a:solidFill>
              </a:rPr>
              <a:t>GPU 1 · RTX 3090 · Ollama · 4 requests in parallel · tools, JSON Schemas, vision</a:t>
            </a:r>
            <a:endParaRPr lang="en-US" sz="950" dirty="0"/>
          </a:p>
        </p:txBody>
      </p:sp>
      <p:sp>
        <p:nvSpPr>
          <p:cNvPr id="62" name="Shape 59"/>
          <p:cNvSpPr/>
          <p:nvPr/>
        </p:nvSpPr>
        <p:spPr>
          <a:xfrm>
            <a:off x="9070848" y="2779776"/>
            <a:ext cx="2697480" cy="777240"/>
          </a:xfrm>
          <a:prstGeom prst="roundRect">
            <a:avLst>
              <a:gd name="adj" fmla="val 14118"/>
            </a:avLst>
          </a:prstGeom>
          <a:solidFill>
            <a:srgbClr val="E8F1FD"/>
          </a:solidFill>
          <a:ln w="12700">
            <a:solidFill>
              <a:srgbClr val="E8F1FD"/>
            </a:solidFill>
            <a:prstDash val="solid"/>
          </a:ln>
        </p:spPr>
      </p:sp>
      <p:sp>
        <p:nvSpPr>
          <p:cNvPr id="63" name="Text 60"/>
          <p:cNvSpPr txBox="1"/>
          <p:nvPr/>
        </p:nvSpPr>
        <p:spPr>
          <a:xfrm>
            <a:off x="9198864" y="2852928"/>
            <a:ext cx="2468880" cy="246888"/>
          </a:xfrm>
          <a:prstGeom prst="rect">
            <a:avLst/>
          </a:prstGeom>
          <a:noFill/>
          <a:ln/>
        </p:spPr>
        <p:txBody>
          <a:bodyPr wrap="square" lIns="0" tIns="0" rIns="0" bIns="0" rtlCol="0" anchor="t"/>
          <a:lstStyle/>
          <a:p>
            <a:pPr indent="0" marL="0">
              <a:buNone/>
            </a:pPr>
            <a:r>
              <a:rPr lang="en-US" sz="1150" b="1" dirty="0">
                <a:solidFill>
                  <a:srgbClr val="0064E0"/>
                </a:solidFill>
              </a:rPr>
              <a:t>Vision · GPU 0</a:t>
            </a:r>
            <a:endParaRPr lang="en-US" sz="1150" dirty="0"/>
          </a:p>
        </p:txBody>
      </p:sp>
      <p:sp>
        <p:nvSpPr>
          <p:cNvPr id="64" name="Text 61"/>
          <p:cNvSpPr txBox="1"/>
          <p:nvPr/>
        </p:nvSpPr>
        <p:spPr>
          <a:xfrm>
            <a:off x="9198864" y="3108960"/>
            <a:ext cx="2487168" cy="411480"/>
          </a:xfrm>
          <a:prstGeom prst="rect">
            <a:avLst/>
          </a:prstGeom>
          <a:noFill/>
          <a:ln/>
        </p:spPr>
        <p:txBody>
          <a:bodyPr wrap="square" lIns="0" tIns="0" rIns="0" bIns="0" rtlCol="0" anchor="t"/>
          <a:lstStyle/>
          <a:p>
            <a:pPr indent="0" marL="0">
              <a:buNone/>
            </a:pPr>
            <a:r>
              <a:rPr lang="en-US" sz="950" dirty="0">
                <a:solidFill>
                  <a:srgbClr val="0A0A0B"/>
                </a:solidFill>
              </a:rPr>
              <a:t>DETR · Sapiens2 · SAM 2.1 (batched, bf16) · MapAnything</a:t>
            </a:r>
            <a:endParaRPr lang="en-US" sz="950" dirty="0"/>
          </a:p>
        </p:txBody>
      </p:sp>
      <p:sp>
        <p:nvSpPr>
          <p:cNvPr id="65" name="Shape 62"/>
          <p:cNvSpPr/>
          <p:nvPr/>
        </p:nvSpPr>
        <p:spPr>
          <a:xfrm>
            <a:off x="9070848" y="3666744"/>
            <a:ext cx="2697480" cy="914400"/>
          </a:xfrm>
          <a:prstGeom prst="roundRect">
            <a:avLst>
              <a:gd name="adj" fmla="val 12000"/>
            </a:avLst>
          </a:prstGeom>
          <a:solidFill>
            <a:srgbClr val="E8F1FD"/>
          </a:solidFill>
          <a:ln w="12700">
            <a:solidFill>
              <a:srgbClr val="E8F1FD"/>
            </a:solidFill>
            <a:prstDash val="solid"/>
          </a:ln>
        </p:spPr>
      </p:sp>
      <p:sp>
        <p:nvSpPr>
          <p:cNvPr id="66" name="Text 63"/>
          <p:cNvSpPr txBox="1"/>
          <p:nvPr/>
        </p:nvSpPr>
        <p:spPr>
          <a:xfrm>
            <a:off x="9198864" y="3739896"/>
            <a:ext cx="2468880" cy="246888"/>
          </a:xfrm>
          <a:prstGeom prst="rect">
            <a:avLst/>
          </a:prstGeom>
          <a:noFill/>
          <a:ln/>
        </p:spPr>
        <p:txBody>
          <a:bodyPr wrap="square" lIns="0" tIns="0" rIns="0" bIns="0" rtlCol="0" anchor="t"/>
          <a:lstStyle/>
          <a:p>
            <a:pPr indent="0" marL="0">
              <a:buNone/>
            </a:pPr>
            <a:r>
              <a:rPr lang="en-US" sz="1150" b="1" dirty="0">
                <a:solidFill>
                  <a:srgbClr val="0064E0"/>
                </a:solidFill>
              </a:rPr>
              <a:t>On the CPU</a:t>
            </a:r>
            <a:endParaRPr lang="en-US" sz="1150" dirty="0"/>
          </a:p>
        </p:txBody>
      </p:sp>
      <p:sp>
        <p:nvSpPr>
          <p:cNvPr id="67" name="Text 64"/>
          <p:cNvSpPr txBox="1"/>
          <p:nvPr/>
        </p:nvSpPr>
        <p:spPr>
          <a:xfrm>
            <a:off x="9198864" y="3995928"/>
            <a:ext cx="2487168" cy="548640"/>
          </a:xfrm>
          <a:prstGeom prst="rect">
            <a:avLst/>
          </a:prstGeom>
          <a:noFill/>
          <a:ln/>
        </p:spPr>
        <p:txBody>
          <a:bodyPr wrap="square" lIns="0" tIns="0" rIns="0" bIns="0" rtlCol="0" anchor="t"/>
          <a:lstStyle/>
          <a:p>
            <a:pPr indent="0" marL="0">
              <a:buNone/>
            </a:pPr>
            <a:r>
              <a:rPr lang="en-US" sz="950" dirty="0">
                <a:solidFill>
                  <a:srgbClr val="0A0A0B"/>
                </a:solidFill>
              </a:rPr>
              <a:t>Llama 3.2 1B student · Llama Guard 3 1B · Prompt Guard 2 86M · DRAMA · Omnilingual ASR</a:t>
            </a:r>
            <a:endParaRPr lang="en-US" sz="950" dirty="0"/>
          </a:p>
        </p:txBody>
      </p:sp>
      <p:sp>
        <p:nvSpPr>
          <p:cNvPr id="68" name="Text 65"/>
          <p:cNvSpPr txBox="1"/>
          <p:nvPr/>
        </p:nvSpPr>
        <p:spPr>
          <a:xfrm>
            <a:off x="9070848" y="4745736"/>
            <a:ext cx="2743200" cy="228600"/>
          </a:xfrm>
          <a:prstGeom prst="rect">
            <a:avLst/>
          </a:prstGeom>
          <a:noFill/>
          <a:ln/>
        </p:spPr>
        <p:txBody>
          <a:bodyPr wrap="square" lIns="0" tIns="0" rIns="0" bIns="0" rtlCol="0" anchor="t"/>
          <a:lstStyle/>
          <a:p>
            <a:pPr indent="0" marL="0">
              <a:buNone/>
            </a:pPr>
            <a:r>
              <a:rPr lang="en-US" sz="1000" b="1" spc="100" kern="0" dirty="0">
                <a:solidFill>
                  <a:srgbClr val="55555C"/>
                </a:solidFill>
              </a:rPr>
              <a:t>OPEN DATA</a:t>
            </a:r>
            <a:endParaRPr lang="en-US" sz="1000" dirty="0"/>
          </a:p>
        </p:txBody>
      </p:sp>
      <p:sp>
        <p:nvSpPr>
          <p:cNvPr id="69" name="Shape 66"/>
          <p:cNvSpPr/>
          <p:nvPr/>
        </p:nvSpPr>
        <p:spPr>
          <a:xfrm>
            <a:off x="9070848" y="5020056"/>
            <a:ext cx="2697480" cy="384048"/>
          </a:xfrm>
          <a:prstGeom prst="roundRect">
            <a:avLst>
              <a:gd name="adj" fmla="val 28571"/>
            </a:avLst>
          </a:prstGeom>
          <a:solidFill>
            <a:srgbClr val="FFFFFF"/>
          </a:solidFill>
          <a:ln w="12700">
            <a:solidFill>
              <a:srgbClr val="DCDCE0"/>
            </a:solidFill>
            <a:prstDash val="solid"/>
          </a:ln>
        </p:spPr>
      </p:sp>
      <p:sp>
        <p:nvSpPr>
          <p:cNvPr id="70" name="Text 67"/>
          <p:cNvSpPr txBox="1"/>
          <p:nvPr/>
        </p:nvSpPr>
        <p:spPr>
          <a:xfrm>
            <a:off x="9198864" y="5020056"/>
            <a:ext cx="1463040" cy="384048"/>
          </a:xfrm>
          <a:prstGeom prst="rect">
            <a:avLst/>
          </a:prstGeom>
          <a:noFill/>
          <a:ln/>
        </p:spPr>
        <p:txBody>
          <a:bodyPr wrap="square" lIns="0" tIns="0" rIns="0" bIns="0" rtlCol="0" anchor="ctr"/>
          <a:lstStyle/>
          <a:p>
            <a:pPr indent="0" marL="0">
              <a:buNone/>
            </a:pPr>
            <a:r>
              <a:rPr lang="en-US" sz="1100" b="1" dirty="0">
                <a:solidFill>
                  <a:srgbClr val="0A0A0B"/>
                </a:solidFill>
              </a:rPr>
              <a:t>OpenStreetMap</a:t>
            </a:r>
            <a:endParaRPr lang="en-US" sz="1100" dirty="0"/>
          </a:p>
        </p:txBody>
      </p:sp>
      <p:sp>
        <p:nvSpPr>
          <p:cNvPr id="71" name="Text 68"/>
          <p:cNvSpPr txBox="1"/>
          <p:nvPr/>
        </p:nvSpPr>
        <p:spPr>
          <a:xfrm>
            <a:off x="10515600" y="5020056"/>
            <a:ext cx="1143000" cy="384048"/>
          </a:xfrm>
          <a:prstGeom prst="rect">
            <a:avLst/>
          </a:prstGeom>
          <a:noFill/>
          <a:ln/>
        </p:spPr>
        <p:txBody>
          <a:bodyPr wrap="square" lIns="0" tIns="0" rIns="0" bIns="0" rtlCol="0" anchor="ctr"/>
          <a:lstStyle/>
          <a:p>
            <a:pPr algn="r" indent="0" marL="0">
              <a:buNone/>
            </a:pPr>
            <a:r>
              <a:rPr lang="en-US" sz="950" dirty="0">
                <a:solidFill>
                  <a:srgbClr val="55555C"/>
                </a:solidFill>
              </a:rPr>
              <a:t>courts, maps</a:t>
            </a:r>
            <a:endParaRPr lang="en-US" sz="950" dirty="0"/>
          </a:p>
        </p:txBody>
      </p:sp>
      <p:sp>
        <p:nvSpPr>
          <p:cNvPr id="72" name="Shape 69"/>
          <p:cNvSpPr/>
          <p:nvPr/>
        </p:nvSpPr>
        <p:spPr>
          <a:xfrm>
            <a:off x="9070848" y="5477256"/>
            <a:ext cx="2697480" cy="384048"/>
          </a:xfrm>
          <a:prstGeom prst="roundRect">
            <a:avLst>
              <a:gd name="adj" fmla="val 28571"/>
            </a:avLst>
          </a:prstGeom>
          <a:solidFill>
            <a:srgbClr val="FFFFFF"/>
          </a:solidFill>
          <a:ln w="12700">
            <a:solidFill>
              <a:srgbClr val="DCDCE0"/>
            </a:solidFill>
            <a:prstDash val="solid"/>
          </a:ln>
        </p:spPr>
      </p:sp>
      <p:sp>
        <p:nvSpPr>
          <p:cNvPr id="73" name="Text 70"/>
          <p:cNvSpPr txBox="1"/>
          <p:nvPr/>
        </p:nvSpPr>
        <p:spPr>
          <a:xfrm>
            <a:off x="9198864" y="5477256"/>
            <a:ext cx="1463040" cy="384048"/>
          </a:xfrm>
          <a:prstGeom prst="rect">
            <a:avLst/>
          </a:prstGeom>
          <a:noFill/>
          <a:ln/>
        </p:spPr>
        <p:txBody>
          <a:bodyPr wrap="square" lIns="0" tIns="0" rIns="0" bIns="0" rtlCol="0" anchor="ctr"/>
          <a:lstStyle/>
          <a:p>
            <a:pPr indent="0" marL="0">
              <a:buNone/>
            </a:pPr>
            <a:r>
              <a:rPr lang="en-US" sz="1100" b="1" dirty="0">
                <a:solidFill>
                  <a:srgbClr val="0A0A0B"/>
                </a:solidFill>
              </a:rPr>
              <a:t>Open-Meteo</a:t>
            </a:r>
            <a:endParaRPr lang="en-US" sz="1100" dirty="0"/>
          </a:p>
        </p:txBody>
      </p:sp>
      <p:sp>
        <p:nvSpPr>
          <p:cNvPr id="74" name="Text 71"/>
          <p:cNvSpPr txBox="1"/>
          <p:nvPr/>
        </p:nvSpPr>
        <p:spPr>
          <a:xfrm>
            <a:off x="10515600" y="5477256"/>
            <a:ext cx="1143000" cy="384048"/>
          </a:xfrm>
          <a:prstGeom prst="rect">
            <a:avLst/>
          </a:prstGeom>
          <a:noFill/>
          <a:ln/>
        </p:spPr>
        <p:txBody>
          <a:bodyPr wrap="square" lIns="0" tIns="0" rIns="0" bIns="0" rtlCol="0" anchor="ctr"/>
          <a:lstStyle/>
          <a:p>
            <a:pPr algn="r" indent="0" marL="0">
              <a:buNone/>
            </a:pPr>
            <a:r>
              <a:rPr lang="en-US" sz="950" dirty="0">
                <a:solidFill>
                  <a:srgbClr val="55555C"/>
                </a:solidFill>
              </a:rPr>
              <a:t>the forecast</a:t>
            </a:r>
            <a:endParaRPr lang="en-US" sz="950" dirty="0"/>
          </a:p>
        </p:txBody>
      </p:sp>
      <p:sp>
        <p:nvSpPr>
          <p:cNvPr id="75" name="Shape 72"/>
          <p:cNvSpPr/>
          <p:nvPr/>
        </p:nvSpPr>
        <p:spPr>
          <a:xfrm>
            <a:off x="9070848" y="5934456"/>
            <a:ext cx="2697480" cy="384048"/>
          </a:xfrm>
          <a:prstGeom prst="roundRect">
            <a:avLst>
              <a:gd name="adj" fmla="val 28571"/>
            </a:avLst>
          </a:prstGeom>
          <a:solidFill>
            <a:srgbClr val="FFFFFF"/>
          </a:solidFill>
          <a:ln w="12700">
            <a:solidFill>
              <a:srgbClr val="DCDCE0"/>
            </a:solidFill>
            <a:prstDash val="solid"/>
          </a:ln>
        </p:spPr>
      </p:sp>
      <p:sp>
        <p:nvSpPr>
          <p:cNvPr id="76" name="Text 73"/>
          <p:cNvSpPr txBox="1"/>
          <p:nvPr/>
        </p:nvSpPr>
        <p:spPr>
          <a:xfrm>
            <a:off x="9198864" y="5934456"/>
            <a:ext cx="1463040" cy="384048"/>
          </a:xfrm>
          <a:prstGeom prst="rect">
            <a:avLst/>
          </a:prstGeom>
          <a:noFill/>
          <a:ln/>
        </p:spPr>
        <p:txBody>
          <a:bodyPr wrap="square" lIns="0" tIns="0" rIns="0" bIns="0" rtlCol="0" anchor="ctr"/>
          <a:lstStyle/>
          <a:p>
            <a:pPr indent="0" marL="0">
              <a:buNone/>
            </a:pPr>
            <a:r>
              <a:rPr lang="en-US" sz="1100" b="1" dirty="0">
                <a:solidFill>
                  <a:srgbClr val="0A0A0B"/>
                </a:solidFill>
              </a:rPr>
              <a:t>Google Places</a:t>
            </a:r>
            <a:endParaRPr lang="en-US" sz="1100" dirty="0"/>
          </a:p>
        </p:txBody>
      </p:sp>
      <p:sp>
        <p:nvSpPr>
          <p:cNvPr id="77" name="Text 74"/>
          <p:cNvSpPr txBox="1"/>
          <p:nvPr/>
        </p:nvSpPr>
        <p:spPr>
          <a:xfrm>
            <a:off x="10515600" y="5934456"/>
            <a:ext cx="1143000" cy="384048"/>
          </a:xfrm>
          <a:prstGeom prst="rect">
            <a:avLst/>
          </a:prstGeom>
          <a:noFill/>
          <a:ln/>
        </p:spPr>
        <p:txBody>
          <a:bodyPr wrap="square" lIns="0" tIns="0" rIns="0" bIns="0" rtlCol="0" anchor="ctr"/>
          <a:lstStyle/>
          <a:p>
            <a:pPr algn="r" indent="0" marL="0">
              <a:buNone/>
            </a:pPr>
            <a:r>
              <a:rPr lang="en-US" sz="950" dirty="0">
                <a:solidFill>
                  <a:srgbClr val="55555C"/>
                </a:solidFill>
              </a:rPr>
              <a:t>reviews, keyed</a:t>
            </a:r>
            <a:endParaRPr lang="en-US" sz="950" dirty="0"/>
          </a:p>
        </p:txBody>
      </p:sp>
      <p:sp>
        <p:nvSpPr>
          <p:cNvPr id="78" name="Shape 75"/>
          <p:cNvSpPr/>
          <p:nvPr/>
        </p:nvSpPr>
        <p:spPr>
          <a:xfrm>
            <a:off x="8750808" y="5440680"/>
            <a:ext cx="274320" cy="0"/>
          </a:xfrm>
          <a:prstGeom prst="line">
            <a:avLst/>
          </a:prstGeom>
          <a:noFill/>
          <a:ln w="22225">
            <a:solidFill>
              <a:srgbClr val="8A8A92"/>
            </a:solidFill>
            <a:prstDash val="solid"/>
            <a:tailEnd type="triangle"/>
          </a:ln>
        </p:spPr>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60520" y="1143000"/>
            <a:ext cx="1005840" cy="1005840"/>
          </a:xfrm>
          <a:prstGeom prst="rect">
            <a:avLst/>
          </a:prstGeom>
        </p:spPr>
      </p:pic>
      <p:sp>
        <p:nvSpPr>
          <p:cNvPr id="3" name="Text 0"/>
          <p:cNvSpPr txBox="1"/>
          <p:nvPr/>
        </p:nvSpPr>
        <p:spPr>
          <a:xfrm>
            <a:off x="5257800" y="1097280"/>
            <a:ext cx="3200400" cy="1097280"/>
          </a:xfrm>
          <a:prstGeom prst="rect">
            <a:avLst/>
          </a:prstGeom>
          <a:noFill/>
          <a:ln/>
        </p:spPr>
        <p:txBody>
          <a:bodyPr wrap="square" lIns="0" tIns="0" rIns="0" bIns="0" rtlCol="0" anchor="ctr"/>
          <a:lstStyle/>
          <a:p>
            <a:pPr indent="0" marL="0">
              <a:buNone/>
            </a:pPr>
            <a:r>
              <a:rPr lang="en-US" sz="7200" b="1" dirty="0">
                <a:solidFill>
                  <a:srgbClr val="0A0A0B"/>
                </a:solidFill>
              </a:rPr>
              <a:t>serve</a:t>
            </a:r>
            <a:endParaRPr lang="en-US" sz="7200" dirty="0"/>
          </a:p>
        </p:txBody>
      </p:sp>
      <p:sp>
        <p:nvSpPr>
          <p:cNvPr id="4" name="Text 1"/>
          <p:cNvSpPr txBox="1"/>
          <p:nvPr/>
        </p:nvSpPr>
        <p:spPr>
          <a:xfrm>
            <a:off x="914400" y="2514600"/>
            <a:ext cx="10362895" cy="731520"/>
          </a:xfrm>
          <a:prstGeom prst="rect">
            <a:avLst/>
          </a:prstGeom>
          <a:noFill/>
          <a:ln/>
        </p:spPr>
        <p:txBody>
          <a:bodyPr wrap="square" lIns="0" tIns="0" rIns="0" bIns="0" rtlCol="0" anchor="t"/>
          <a:lstStyle/>
          <a:p>
            <a:pPr algn="ctr" indent="0" marL="0">
              <a:buNone/>
            </a:pPr>
            <a:r>
              <a:rPr lang="en-US" sz="4000" b="1" dirty="0">
                <a:solidFill>
                  <a:srgbClr val="0A0A0B"/>
                </a:solidFill>
              </a:rPr>
              <a:t>Play more. </a:t>
            </a:r>
            <a:pPr algn="ctr" indent="0" marL="0">
              <a:buNone/>
            </a:pPr>
            <a:r>
              <a:rPr lang="en-US" sz="4000" b="1" dirty="0">
                <a:solidFill>
                  <a:srgbClr val="0A7F44"/>
                </a:solidFill>
              </a:rPr>
              <a:t>Manage less.</a:t>
            </a:r>
            <a:endParaRPr lang="en-US" sz="4000" dirty="0"/>
          </a:p>
        </p:txBody>
      </p:sp>
      <p:sp>
        <p:nvSpPr>
          <p:cNvPr id="5" name="Text 2"/>
          <p:cNvSpPr txBox="1"/>
          <p:nvPr/>
        </p:nvSpPr>
        <p:spPr>
          <a:xfrm>
            <a:off x="914400" y="3291840"/>
            <a:ext cx="10362895" cy="457200"/>
          </a:xfrm>
          <a:prstGeom prst="rect">
            <a:avLst/>
          </a:prstGeom>
          <a:noFill/>
          <a:ln/>
        </p:spPr>
        <p:txBody>
          <a:bodyPr wrap="square" lIns="0" tIns="0" rIns="0" bIns="0" rtlCol="0" anchor="t"/>
          <a:lstStyle/>
          <a:p>
            <a:pPr algn="ctr" indent="0" marL="0">
              <a:buNone/>
            </a:pPr>
            <a:r>
              <a:rPr lang="en-US" sz="2000" dirty="0">
                <a:solidFill>
                  <a:srgbClr val="55555C"/>
                </a:solidFill>
              </a:rPr>
              <a:t>The agent that gets you playing, in any ball sport.</a:t>
            </a:r>
            <a:endParaRPr lang="en-US" sz="2000" dirty="0"/>
          </a:p>
        </p:txBody>
      </p:sp>
      <p:sp>
        <p:nvSpPr>
          <p:cNvPr id="6" name="Shape 3"/>
          <p:cNvSpPr/>
          <p:nvPr/>
        </p:nvSpPr>
        <p:spPr>
          <a:xfrm>
            <a:off x="1325880" y="4069080"/>
            <a:ext cx="3017520" cy="457200"/>
          </a:xfrm>
          <a:prstGeom prst="roundRect">
            <a:avLst>
              <a:gd name="adj" fmla="val 50000"/>
            </a:avLst>
          </a:prstGeom>
          <a:solidFill>
            <a:srgbClr val="FFFFFF"/>
          </a:solidFill>
          <a:ln w="12700">
            <a:solidFill>
              <a:srgbClr val="DCDCE0"/>
            </a:solidFill>
            <a:prstDash val="solid"/>
          </a:ln>
        </p:spPr>
      </p:sp>
      <p:sp>
        <p:nvSpPr>
          <p:cNvPr id="7" name="Text 4"/>
          <p:cNvSpPr txBox="1"/>
          <p:nvPr/>
        </p:nvSpPr>
        <p:spPr>
          <a:xfrm>
            <a:off x="1325880" y="4069080"/>
            <a:ext cx="3017520" cy="457200"/>
          </a:xfrm>
          <a:prstGeom prst="rect">
            <a:avLst/>
          </a:prstGeom>
          <a:noFill/>
          <a:ln/>
        </p:spPr>
        <p:txBody>
          <a:bodyPr wrap="square" lIns="0" tIns="0" rIns="0" bIns="0" rtlCol="0" anchor="ctr"/>
          <a:lstStyle/>
          <a:p>
            <a:pPr algn="ctr" indent="0" marL="0">
              <a:buNone/>
            </a:pPr>
            <a:r>
              <a:rPr lang="en-US" sz="1300" b="1" dirty="0">
                <a:solidFill>
                  <a:srgbClr val="0A0A0B"/>
                </a:solidFill>
              </a:rPr>
              <a:t>Your week, agreed agent to agent</a:t>
            </a:r>
            <a:endParaRPr lang="en-US" sz="1300" dirty="0"/>
          </a:p>
        </p:txBody>
      </p:sp>
      <p:sp>
        <p:nvSpPr>
          <p:cNvPr id="8" name="Shape 5"/>
          <p:cNvSpPr/>
          <p:nvPr/>
        </p:nvSpPr>
        <p:spPr>
          <a:xfrm>
            <a:off x="4480560" y="4069080"/>
            <a:ext cx="2651760" cy="457200"/>
          </a:xfrm>
          <a:prstGeom prst="roundRect">
            <a:avLst>
              <a:gd name="adj" fmla="val 50000"/>
            </a:avLst>
          </a:prstGeom>
          <a:solidFill>
            <a:srgbClr val="FFFFFF"/>
          </a:solidFill>
          <a:ln w="12700">
            <a:solidFill>
              <a:srgbClr val="DCDCE0"/>
            </a:solidFill>
            <a:prstDash val="solid"/>
          </a:ln>
        </p:spPr>
      </p:sp>
      <p:sp>
        <p:nvSpPr>
          <p:cNvPr id="9" name="Text 6"/>
          <p:cNvSpPr txBox="1"/>
          <p:nvPr/>
        </p:nvSpPr>
        <p:spPr>
          <a:xfrm>
            <a:off x="4480560" y="4069080"/>
            <a:ext cx="2651760" cy="457200"/>
          </a:xfrm>
          <a:prstGeom prst="rect">
            <a:avLst/>
          </a:prstGeom>
          <a:noFill/>
          <a:ln/>
        </p:spPr>
        <p:txBody>
          <a:bodyPr wrap="square" lIns="0" tIns="0" rIns="0" bIns="0" rtlCol="0" anchor="ctr"/>
          <a:lstStyle/>
          <a:p>
            <a:pPr algn="ctr" indent="0" marL="0">
              <a:buNone/>
            </a:pPr>
            <a:r>
              <a:rPr lang="en-US" sz="1300" b="1" dirty="0">
                <a:solidFill>
                  <a:srgbClr val="0A0A0B"/>
                </a:solidFill>
              </a:rPr>
              <a:t>Your agent in Messenger</a:t>
            </a:r>
            <a:endParaRPr lang="en-US" sz="1300" dirty="0"/>
          </a:p>
        </p:txBody>
      </p:sp>
      <p:sp>
        <p:nvSpPr>
          <p:cNvPr id="10" name="Shape 7"/>
          <p:cNvSpPr/>
          <p:nvPr/>
        </p:nvSpPr>
        <p:spPr>
          <a:xfrm>
            <a:off x="7269480" y="4069080"/>
            <a:ext cx="3611880" cy="457200"/>
          </a:xfrm>
          <a:prstGeom prst="roundRect">
            <a:avLst>
              <a:gd name="adj" fmla="val 50000"/>
            </a:avLst>
          </a:prstGeom>
          <a:solidFill>
            <a:srgbClr val="FFFFFF"/>
          </a:solidFill>
          <a:ln w="12700">
            <a:solidFill>
              <a:srgbClr val="DCDCE0"/>
            </a:solidFill>
            <a:prstDash val="solid"/>
          </a:ln>
        </p:spPr>
      </p:sp>
      <p:sp>
        <p:nvSpPr>
          <p:cNvPr id="11" name="Text 8"/>
          <p:cNvSpPr txBox="1"/>
          <p:nvPr/>
        </p:nvSpPr>
        <p:spPr>
          <a:xfrm>
            <a:off x="7269480" y="4069080"/>
            <a:ext cx="3611880" cy="457200"/>
          </a:xfrm>
          <a:prstGeom prst="rect">
            <a:avLst/>
          </a:prstGeom>
          <a:noFill/>
          <a:ln/>
        </p:spPr>
        <p:txBody>
          <a:bodyPr wrap="square" lIns="0" tIns="0" rIns="0" bIns="0" rtlCol="0" anchor="ctr"/>
          <a:lstStyle/>
          <a:p>
            <a:pPr algn="ctr" indent="0" marL="0">
              <a:buNone/>
            </a:pPr>
            <a:r>
              <a:rPr lang="en-US" sz="1300" b="1" dirty="0">
                <a:solidFill>
                  <a:srgbClr val="0A0A0B"/>
                </a:solidFill>
              </a:rPr>
              <a:t>Highlights to Instagram and Facebook</a:t>
            </a:r>
            <a:endParaRPr lang="en-US" sz="1300" dirty="0"/>
          </a:p>
        </p:txBody>
      </p:sp>
      <p:sp>
        <p:nvSpPr>
          <p:cNvPr id="12" name="Text 9"/>
          <p:cNvSpPr txBox="1"/>
          <p:nvPr/>
        </p:nvSpPr>
        <p:spPr>
          <a:xfrm>
            <a:off x="914400" y="4937760"/>
            <a:ext cx="10362895" cy="320040"/>
          </a:xfrm>
          <a:prstGeom prst="rect">
            <a:avLst/>
          </a:prstGeom>
          <a:noFill/>
          <a:ln/>
        </p:spPr>
        <p:txBody>
          <a:bodyPr wrap="square" lIns="0" tIns="0" rIns="0" bIns="0" rtlCol="0" anchor="t"/>
          <a:lstStyle/>
          <a:p>
            <a:pPr algn="ctr" indent="0" marL="0">
              <a:buNone/>
            </a:pPr>
            <a:r>
              <a:rPr lang="en-US" sz="1300" b="1" dirty="0">
                <a:solidFill>
                  <a:srgbClr val="0A0A0B"/>
                </a:solidFill>
              </a:rPr>
              <a:t>Built during the Meta Global AI Developer Hackathon, Oct 27 – Nov 4, 2026: everything except the TrackNetV5 library</a:t>
            </a:r>
            <a:endParaRPr lang="en-US" sz="1300" dirty="0"/>
          </a:p>
        </p:txBody>
      </p:sp>
      <p:sp>
        <p:nvSpPr>
          <p:cNvPr id="13" name="Text 10"/>
          <p:cNvSpPr txBox="1"/>
          <p:nvPr/>
        </p:nvSpPr>
        <p:spPr>
          <a:xfrm>
            <a:off x="914400" y="5285232"/>
            <a:ext cx="10362895" cy="320040"/>
          </a:xfrm>
          <a:prstGeom prst="rect">
            <a:avLst/>
          </a:prstGeom>
          <a:noFill/>
          <a:ln/>
        </p:spPr>
        <p:txBody>
          <a:bodyPr wrap="square" lIns="0" tIns="0" rIns="0" bIns="0" rtlCol="0" anchor="t"/>
          <a:lstStyle/>
          <a:p>
            <a:pPr algn="ctr" indent="0" marL="0">
              <a:buNone/>
            </a:pPr>
            <a:r>
              <a:rPr lang="en-US" sz="1300" dirty="0">
                <a:solidFill>
                  <a:srgbClr val="0064E0"/>
                </a:solidFill>
              </a:rPr>
              <a:t>github.com/gino6178/serve-meta-hackathon</a:t>
            </a:r>
            <a:endParaRPr lang="en-US" sz="1300" dirty="0"/>
          </a:p>
        </p:txBody>
      </p:sp>
      <p:pic>
        <p:nvPicPr>
          <p:cNvPr id="14" name="Image 1" descr="preencoded.png">    </p:cNvPr>
          <p:cNvPicPr>
            <a:picLocks noChangeAspect="1"/>
          </p:cNvPicPr>
          <p:nvPr/>
        </p:nvPicPr>
        <p:blipFill>
          <a:blip r:embed="rId2"/>
          <a:stretch>
            <a:fillRect/>
          </a:stretch>
        </p:blipFill>
        <p:spPr>
          <a:xfrm>
            <a:off x="2926080" y="6035040"/>
            <a:ext cx="329184" cy="329184"/>
          </a:xfrm>
          <a:prstGeom prst="rect">
            <a:avLst/>
          </a:prstGeom>
        </p:spPr>
      </p:pic>
      <p:sp>
        <p:nvSpPr>
          <p:cNvPr id="15" name="Text 11"/>
          <p:cNvSpPr txBox="1"/>
          <p:nvPr/>
        </p:nvSpPr>
        <p:spPr>
          <a:xfrm>
            <a:off x="3346704" y="6035040"/>
            <a:ext cx="6400800" cy="329184"/>
          </a:xfrm>
          <a:prstGeom prst="rect">
            <a:avLst/>
          </a:prstGeom>
          <a:noFill/>
          <a:ln/>
        </p:spPr>
        <p:txBody>
          <a:bodyPr wrap="square" lIns="0" tIns="0" rIns="0" bIns="0" rtlCol="0" anchor="ctr"/>
          <a:lstStyle/>
          <a:p>
            <a:pPr indent="0" marL="0">
              <a:buNone/>
            </a:pPr>
            <a:r>
              <a:rPr lang="en-US" sz="1300" dirty="0">
                <a:solidFill>
                  <a:srgbClr val="55555C"/>
                </a:solidFill>
              </a:rPr>
              <a:t>Built on Muse Glimmer, Meta's open-weights model, on hardware you own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Serve · Meta Global AI Developer Hackathon 2026</dc:title>
  <dc:subject>PptxGenJS Presentation</dc:subject>
  <dc:creator>gino6178</dc:creator>
  <cp:lastModifiedBy>gino6178</cp:lastModifiedBy>
  <cp:revision>1</cp:revision>
  <dcterms:created xsi:type="dcterms:W3CDTF">2026-10-29T01:27:24Z</dcterms:created>
  <dcterms:modified xsi:type="dcterms:W3CDTF">2026-10-29T01:27:24Z</dcterms:modified>
</cp:coreProperties>
</file>