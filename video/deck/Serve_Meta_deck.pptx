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5e65c73b-4a96-0c40-296c-a7e9ff0a7fd9}">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Appendix" id="{40c8474d-aade-9d79-24ff-cca1100cf290}">
          <p14:sldIdLst>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(within the noise of its 88.8%)</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(the ceiling)</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2:42 的三個畫面：Messenger 裡一個 yes 就訂好（端對端測試的真實回覆）、agent 在 Muse Glimmer 上協商（8 倍速，有標示）、找球場並由 Glimmer 判斷（15 倍速）。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video" Target="../media/media-21-1.mp4"/><Relationship Id="rId2" Type="http://schemas.microsoft.com/office/2007/relationships/media" Target="../media/media-21-1.mp4"/><Relationship Id="rId3" Type="http://schemas.openxmlformats.org/officeDocument/2006/relationships/image" Target="../media/image-21-3.pn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image" Target="../media/image-21-6.jpeg"/><Relationship Id="rId7" Type="http://schemas.openxmlformats.org/officeDocument/2006/relationships/image" Target="../media/image-21-7.jpe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29 Oct, day 3.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organiser lets them in. Children have no accounts: first names only, seen by the organiser.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8,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six carry the product</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where some members need Glimmer (96% is the test set)</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4160520"/>
          </a:xfrm>
          <a:prstGeom prst="roundRect">
            <a:avLst>
              <a:gd name="adj" fmla="val 2637"/>
            </a:avLst>
          </a:prstGeom>
          <a:solidFill>
            <a:srgbClr val="E9F3EC"/>
          </a:solidFill>
          <a:ln w="12700">
            <a:solidFill>
              <a:srgbClr val="0A7F44"/>
            </a:solidFill>
            <a:prstDash val="solid"/>
          </a:ln>
        </p:spPr>
      </p:sp>
      <p:sp>
        <p:nvSpPr>
          <p:cNvPr id="6" name="Text 3"/>
          <p:cNvSpPr txBox="1"/>
          <p:nvPr/>
        </p:nvSpPr>
        <p:spPr>
          <a:xfrm>
            <a:off x="822960" y="1828800"/>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What a judge can trust as is</a:t>
            </a:r>
            <a:endParaRPr lang="en-US" sz="1700" dirty="0"/>
          </a:p>
        </p:txBody>
      </p:sp>
      <p:sp>
        <p:nvSpPr>
          <p:cNvPr id="8" name="Text 5"/>
          <p:cNvSpPr txBox="1"/>
          <p:nvPr/>
        </p:nvSpPr>
        <p:spPr>
          <a:xfrm>
            <a:off x="82296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8 players, 14 accounts, 2 clubs they started, 4 games, 7 joins on the live site (29 Oct)</a:t>
            </a:r>
            <a:endParaRPr lang="en-US" sz="1250" dirty="0"/>
          </a:p>
          <a:p>
            <a:pPr marL="177800" indent="-177800">
              <a:spcAft>
                <a:spcPts val="600"/>
              </a:spcAft>
              <a:buSzPct val="100000"/>
              <a:buChar char="•"/>
            </a:pPr>
            <a:r>
              <a:rPr lang="en-US" sz="1250" dirty="0">
                <a:solidFill>
                  <a:srgbClr val="0A0A0B"/>
                </a:solidFill>
              </a:rPr>
              <a:t>Every agent's code: A2A over JSON-RPC, signed Agent Cards, holds, crash recovery</a:t>
            </a:r>
            <a:endParaRPr lang="en-US" sz="1250" dirty="0"/>
          </a:p>
          <a:p>
            <a:pPr marL="177800" indent="-177800">
              <a:spcAft>
                <a:spcPts val="600"/>
              </a:spcAft>
              <a:buSzPct val="100000"/>
              <a:buChar char="•"/>
            </a:pPr>
            <a:r>
              <a:rPr lang="en-US" sz="1250" dirty="0">
                <a:solidFill>
                  <a:srgbClr val="0A0A0B"/>
                </a:solidFill>
              </a:rPr>
              <a:t>Muse Glimmer making every decision in the evaluations; the guards, DRAMA, speech recognition</a:t>
            </a:r>
            <a:endParaRPr lang="en-US" sz="1250" dirty="0"/>
          </a:p>
          <a:p>
            <a:pPr marL="177800" indent="-177800">
              <a:spcAft>
                <a:spcPts val="600"/>
              </a:spcAft>
              <a:buSzPct val="100000"/>
              <a:buChar char="•"/>
            </a:pPr>
            <a:r>
              <a:rPr lang="en-US" sz="1250" dirty="0">
                <a:solidFill>
                  <a:srgbClr val="0A0A0B"/>
                </a:solidFill>
              </a:rPr>
              <a:t>Courts from OpenStreetMap, real forecasts; Messenger's webhook on a real Page (Facebook and Instagram login wait for Meta's app review: players use a demo sign-in)</a:t>
            </a:r>
            <a:endParaRPr lang="en-US" sz="1250" dirty="0"/>
          </a:p>
          <a:p>
            <a:pPr marL="177800" indent="-177800">
              <a:spcAft>
                <a:spcPts val="600"/>
              </a:spcAft>
              <a:buSzPct val="100000"/>
              <a:buChar char="•"/>
            </a:pPr>
            <a:r>
              <a:rPr lang="en-US" sz="1250" dirty="0">
                <a:solidFill>
                  <a:srgbClr val="0A0A0B"/>
                </a:solidFill>
              </a:rPr>
              <a:t>Highlights cut from real footage (a CC BY clip)</a:t>
            </a:r>
            <a:endParaRPr lang="en-US" sz="1250" dirty="0"/>
          </a:p>
        </p:txBody>
      </p:sp>
      <p:sp>
        <p:nvSpPr>
          <p:cNvPr id="9" name="Shape 6"/>
          <p:cNvSpPr/>
          <p:nvPr/>
        </p:nvSpPr>
        <p:spPr>
          <a:xfrm>
            <a:off x="6172200" y="1691640"/>
            <a:ext cx="5440680" cy="4160520"/>
          </a:xfrm>
          <a:prstGeom prst="roundRect">
            <a:avLst>
              <a:gd name="adj" fmla="val 2637"/>
            </a:avLst>
          </a:prstGeom>
          <a:solidFill>
            <a:srgbClr val="FBF3E6"/>
          </a:solidFill>
          <a:ln w="12700">
            <a:solidFill>
              <a:srgbClr val="B26A00"/>
            </a:solidFill>
            <a:prstDash val="solid"/>
          </a:ln>
        </p:spPr>
      </p:sp>
      <p:sp>
        <p:nvSpPr>
          <p:cNvPr id="10" name="Text 7"/>
          <p:cNvSpPr txBox="1"/>
          <p:nvPr/>
        </p:nvSpPr>
        <p:spPr>
          <a:xfrm>
            <a:off x="6446520" y="1828800"/>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Clubs built for the tests</a:t>
            </a:r>
            <a:endParaRPr lang="en-US" sz="1700" dirty="0"/>
          </a:p>
        </p:txBody>
      </p:sp>
      <p:sp>
        <p:nvSpPr>
          <p:cNvPr id="12" name="Text 9"/>
          <p:cNvSpPr txBox="1"/>
          <p:nvPr/>
        </p:nvSpPr>
        <p:spPr>
          <a:xfrm>
            <a:off x="644652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The demo club's members, venues and free times (marked demo in the app)</a:t>
            </a:r>
            <a:endParaRPr lang="en-US" sz="1250" dirty="0"/>
          </a:p>
          <a:p>
            <a:pPr marL="177800" indent="-177800">
              <a:spcAft>
                <a:spcPts val="600"/>
              </a:spcAft>
              <a:buSzPct val="100000"/>
              <a:buChar char="•"/>
            </a:pPr>
            <a:r>
              <a:rPr lang="en-US" sz="1250" dirty="0">
                <a:solidFill>
                  <a:srgbClr val="0A0A0B"/>
                </a:solidFill>
              </a:rPr>
              <a:t>The members in the scale, rules, matchmaking and student tests (seeds 7 and 11)</a:t>
            </a:r>
            <a:endParaRPr lang="en-US" sz="1250" dirty="0"/>
          </a:p>
          <a:p>
            <a:pPr marL="177800" indent="-177800">
              <a:spcAft>
                <a:spcPts val="600"/>
              </a:spcAft>
              <a:buSzPct val="100000"/>
              <a:buChar char="•"/>
            </a:pPr>
            <a:r>
              <a:rPr lang="en-US" sz="1250" dirty="0">
                <a:solidFill>
                  <a:srgbClr val="0A0A0B"/>
                </a:solidFill>
              </a:rPr>
              <a:t>The community loop's club of 60 and its votes</a:t>
            </a:r>
            <a:endParaRPr lang="en-US" sz="1250" dirty="0"/>
          </a:p>
          <a:p>
            <a:pPr marL="177800" indent="-177800">
              <a:spcAft>
                <a:spcPts val="600"/>
              </a:spcAft>
              <a:buSzPct val="100000"/>
              <a:buChar char="•"/>
            </a:pPr>
            <a:r>
              <a:rPr lang="en-US" sz="1250" dirty="0">
                <a:solidFill>
                  <a:srgbClr val="0A0A0B"/>
                </a:solidFill>
              </a:rPr>
              <a:t>The 20,000 requests in the asking test; the prober in the disclosure test</a:t>
            </a:r>
            <a:endParaRPr lang="en-US" sz="1250" dirty="0"/>
          </a:p>
          <a:p>
            <a:pPr marL="177800" indent="-177800">
              <a:spcAft>
                <a:spcPts val="600"/>
              </a:spcAft>
              <a:buSzPct val="100000"/>
              <a:buChar char="•"/>
            </a:pPr>
            <a:r>
              <a:rPr lang="en-US" sz="1250" dirty="0">
                <a:solidFill>
                  <a:srgbClr val="0A0A0B"/>
                </a:solidFill>
              </a:rPr>
              <a:t>The attacks and unsafe messages: labelled tests I wrote</a:t>
            </a:r>
            <a:endParaRPr lang="en-US" sz="1250" dirty="0"/>
          </a:p>
        </p:txBody>
      </p:sp>
      <p:sp>
        <p:nvSpPr>
          <p:cNvPr id="13" name="Text 10"/>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200" i="1" dirty="0">
                <a:solidFill>
                  <a:srgbClr val="55555C"/>
                </a:solidFill>
              </a:rPr>
              <a:t>The simulations show the agents keep what members stated; they do not show how real people react. The live club measures that.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(2:42)</a:t>
            </a:r>
            <a:endParaRPr lang="en-US" sz="1200" dirty="0"/>
          </a:p>
          <a:p>
            <a:pPr marL="152400" indent="-152400">
              <a:spcAft>
                <a:spcPts val="500"/>
              </a:spcAft>
              <a:buSzPct val="100000"/>
              <a:buChar char="•"/>
            </a:pPr>
            <a:r>
              <a:rPr lang="en-US" sz="1200" dirty="0">
                <a:solidFill>
                  <a:srgbClr val="0A0A0B"/>
                </a:solidFill>
              </a:rPr>
              <a:t>Day 1's work moved into this repository on Oct 28 (day 2);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2:42</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What the video shows,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0:20</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One yes in Messenger, and the game is booked (real replies from the end-to-end test)</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0:55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Your agent and three players' agents negotiate on Muse Glimmer (shown at 8×, labelled)</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1:08</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Courts found and judged with Prompt Guard 2 and Glimmer (shown at 15×,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14).</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what is new and what is not: slide 14</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2026-10-29T09:58:26Z</dcterms:created>
  <dcterms:modified xsi:type="dcterms:W3CDTF">2026-10-29T09:58:26Z</dcterms:modified>
</cp:coreProperties>
</file>