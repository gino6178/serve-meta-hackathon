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14520b-0326-6e88-68b6-f3727454dd76}">
          <p14:sldIdLst>
            <p14:sldId id="256"/>
            <p14:sldId id="257"/>
          </p14:sldIdLst>
        </p14:section>
        <p14:section name="Impact" id="{846ef101-9a78-27ac-4ec5-dc32880bd9ee}">
          <p14:sldIdLst>
            <p14:sldId id="258"/>
            <p14:sldId id="259"/>
            <p14:sldId id="260"/>
          </p14:sldIdLst>
        </p14:section>
        <p14:section name="Demo" id="{6bd44c06-c316-5a5b-4b21-6fb90a487a0f}">
          <p14:sldIdLst>
            <p14:sldId id="261"/>
            <p14:sldId id="262"/>
            <p14:sldId id="263"/>
            <p14:sldId id="264"/>
            <p14:sldId id="265"/>
            <p14:sldId id="266"/>
          </p14:sldIdLst>
        </p14:section>
        <p14:section name="Use of Meta AI" id="{32a8f6a1-01ba-ddf4-06bd-76b74634df90}">
          <p14:sldIdLst>
            <p14:sldId id="267"/>
            <p14:sldId id="268"/>
            <p14:sldId id="269"/>
            <p14:sldId id="270"/>
          </p14:sldIdLst>
        </p14:section>
        <p14:section name="Technical depth" id="{eaee94c5-9e1e-a2a3-caf5-c95fa89bb4eb}">
          <p14:sldIdLst>
            <p14:sldId id="271"/>
            <p14:sldId id="272"/>
            <p14:sldId id="273"/>
            <p14:sldId id="274"/>
            <p14:sldId id="275"/>
            <p14:sldId id="276"/>
            <p14:sldId id="277"/>
            <p14:sldId id="278"/>
            <p14:sldId id="279"/>
            <p14:sldId id="280"/>
          </p14:sldIdLst>
        </p14:section>
        <p14:section name="Architecture" id="{4cbaba8c-07fe-3086-c279-f7b354924a61}">
          <p14:sldIdLst>
            <p14:sldId id="281"/>
          </p14:sldIdLst>
        </p14:section>
        <p14:section name="Close" id="{edd5e0b6-8bdc-255f-805a-b2f1adb83a5a}">
          <p14:sldIdLst>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排程脈絡（agent 記憶）：拿掉了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這週加的七件事，每一件都有量測：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網球籃球的球：WASB 接進 highlight 管線，籃球抽查 12/12 都在球上。
7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image" Target="../media/image-10-7.jpeg"/><Relationship Id="rId8" Type="http://schemas.openxmlformats.org/officeDocument/2006/relationships/slideLayout" Target="../slideLayouts/slideLayout2.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hardware I own</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3</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1</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3</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you tap Post, it shows who joins.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SCHEDULING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and your games fit around it</a:t>
            </a:r>
            <a:endParaRPr lang="en-US" sz="3200" dirty="0"/>
          </a:p>
        </p:txBody>
      </p:sp>
      <p:sp>
        <p:nvSpPr>
          <p:cNvPr id="5" name="Shape 2"/>
          <p:cNvSpPr/>
          <p:nvPr/>
        </p:nvSpPr>
        <p:spPr>
          <a:xfrm>
            <a:off x="548640" y="1691640"/>
            <a:ext cx="4846320" cy="4343400"/>
          </a:xfrm>
          <a:prstGeom prst="roundRect">
            <a:avLst>
              <a:gd name="adj" fmla="val 2526"/>
            </a:avLst>
          </a:prstGeom>
          <a:solidFill>
            <a:srgbClr val="FFFFFF"/>
          </a:solidFill>
          <a:ln w="12700">
            <a:solidFill>
              <a:srgbClr val="DCDCE0"/>
            </a:solidFill>
            <a:prstDash val="solid"/>
          </a:ln>
        </p:spPr>
      </p:sp>
      <p:sp>
        <p:nvSpPr>
          <p:cNvPr id="6" name="Text 3"/>
          <p:cNvSpPr txBox="1"/>
          <p:nvPr/>
        </p:nvSpPr>
        <p:spPr>
          <a:xfrm>
            <a:off x="777240" y="1828800"/>
            <a:ext cx="4389120" cy="228600"/>
          </a:xfrm>
          <a:prstGeom prst="rect">
            <a:avLst/>
          </a:prstGeom>
          <a:noFill/>
          <a:ln/>
        </p:spPr>
        <p:txBody>
          <a:bodyPr wrap="square" lIns="0" tIns="0" rIns="0" bIns="0" rtlCol="0" anchor="t"/>
          <a:lstStyle/>
          <a:p>
            <a:pPr indent="0" marL="0">
              <a:buNone/>
            </a:pPr>
            <a:r>
              <a:rPr lang="en-US" sz="1000" b="1" spc="100" kern="0" dirty="0">
                <a:solidFill>
                  <a:srgbClr val="55555C"/>
                </a:solidFill>
              </a:rPr>
              <a:t>THIS WEEK'S LIMITS</a:t>
            </a:r>
            <a:endParaRPr lang="en-US" sz="1000" dirty="0"/>
          </a:p>
        </p:txBody>
      </p:sp>
      <p:sp>
        <p:nvSpPr>
          <p:cNvPr id="7" name="Shape 4"/>
          <p:cNvSpPr/>
          <p:nvPr/>
        </p:nvSpPr>
        <p:spPr>
          <a:xfrm>
            <a:off x="777240" y="2194560"/>
            <a:ext cx="4389120" cy="786384"/>
          </a:xfrm>
          <a:prstGeom prst="roundRect">
            <a:avLst>
              <a:gd name="adj" fmla="val 13953"/>
            </a:avLst>
          </a:prstGeom>
          <a:solidFill>
            <a:srgbClr val="F6F7F8"/>
          </a:solidFill>
          <a:ln w="12700">
            <a:solidFill>
              <a:srgbClr val="F6F7F8"/>
            </a:solidFill>
            <a:prstDash val="solid"/>
          </a:ln>
        </p:spPr>
      </p:sp>
      <p:sp>
        <p:nvSpPr>
          <p:cNvPr id="8" name="Text 5"/>
          <p:cNvSpPr txBox="1"/>
          <p:nvPr/>
        </p:nvSpPr>
        <p:spPr>
          <a:xfrm>
            <a:off x="960120" y="2286000"/>
            <a:ext cx="4023360" cy="292608"/>
          </a:xfrm>
          <a:prstGeom prst="rect">
            <a:avLst/>
          </a:prstGeom>
          <a:noFill/>
          <a:ln/>
        </p:spPr>
        <p:txBody>
          <a:bodyPr wrap="square" lIns="0" tIns="0" rIns="0" bIns="0" rtlCol="0" anchor="t"/>
          <a:lstStyle/>
          <a:p>
            <a:pPr indent="0" marL="0">
              <a:buNone/>
            </a:pPr>
            <a:r>
              <a:rPr lang="en-US" sz="1400" b="1" dirty="0">
                <a:solidFill>
                  <a:srgbClr val="0A0A0B"/>
                </a:solidFill>
              </a:rPr>
              <a:t>Doubles first</a:t>
            </a:r>
            <a:endParaRPr lang="en-US" sz="1400" dirty="0"/>
          </a:p>
        </p:txBody>
      </p:sp>
      <p:sp>
        <p:nvSpPr>
          <p:cNvPr id="9" name="Text 6"/>
          <p:cNvSpPr txBox="1"/>
          <p:nvPr/>
        </p:nvSpPr>
        <p:spPr>
          <a:xfrm>
            <a:off x="960120" y="2633472"/>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Sun 25 Oct</a:t>
            </a:r>
            <a:endParaRPr lang="en-US" sz="1050" dirty="0"/>
          </a:p>
        </p:txBody>
      </p:sp>
      <p:sp>
        <p:nvSpPr>
          <p:cNvPr id="10" name="Shape 7"/>
          <p:cNvSpPr/>
          <p:nvPr/>
        </p:nvSpPr>
        <p:spPr>
          <a:xfrm>
            <a:off x="777240" y="3127248"/>
            <a:ext cx="4389120" cy="786384"/>
          </a:xfrm>
          <a:prstGeom prst="roundRect">
            <a:avLst>
              <a:gd name="adj" fmla="val 13953"/>
            </a:avLst>
          </a:prstGeom>
          <a:solidFill>
            <a:srgbClr val="F6F7F8"/>
          </a:solidFill>
          <a:ln w="12700">
            <a:solidFill>
              <a:srgbClr val="F6F7F8"/>
            </a:solidFill>
            <a:prstDash val="solid"/>
          </a:ln>
        </p:spPr>
      </p:sp>
      <p:sp>
        <p:nvSpPr>
          <p:cNvPr id="11" name="Text 8"/>
          <p:cNvSpPr txBox="1"/>
          <p:nvPr/>
        </p:nvSpPr>
        <p:spPr>
          <a:xfrm>
            <a:off x="960120" y="3218688"/>
            <a:ext cx="4023360" cy="292608"/>
          </a:xfrm>
          <a:prstGeom prst="rect">
            <a:avLst/>
          </a:prstGeom>
          <a:noFill/>
          <a:ln/>
        </p:spPr>
        <p:txBody>
          <a:bodyPr wrap="square" lIns="0" tIns="0" rIns="0" bIns="0" rtlCol="0" anchor="t"/>
          <a:lstStyle/>
          <a:p>
            <a:pPr indent="0" marL="0">
              <a:buNone/>
            </a:pPr>
            <a:r>
              <a:rPr lang="en-US" sz="1400" b="1" dirty="0">
                <a:solidFill>
                  <a:srgbClr val="0A0A0B"/>
                </a:solidFill>
              </a:rPr>
              <a:t>No games after 22:00 on work nights</a:t>
            </a:r>
            <a:endParaRPr lang="en-US" sz="1400" dirty="0"/>
          </a:p>
        </p:txBody>
      </p:sp>
      <p:sp>
        <p:nvSpPr>
          <p:cNvPr id="12" name="Text 9"/>
          <p:cNvSpPr txBox="1"/>
          <p:nvPr/>
        </p:nvSpPr>
        <p:spPr>
          <a:xfrm>
            <a:off x="960120" y="3566160"/>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Thu 22 Oct</a:t>
            </a:r>
            <a:endParaRPr lang="en-US" sz="1050" dirty="0"/>
          </a:p>
        </p:txBody>
      </p:sp>
      <p:sp>
        <p:nvSpPr>
          <p:cNvPr id="13" name="Shape 10"/>
          <p:cNvSpPr/>
          <p:nvPr/>
        </p:nvSpPr>
        <p:spPr>
          <a:xfrm>
            <a:off x="777240" y="4059936"/>
            <a:ext cx="4389120" cy="786384"/>
          </a:xfrm>
          <a:prstGeom prst="roundRect">
            <a:avLst>
              <a:gd name="adj" fmla="val 13953"/>
            </a:avLst>
          </a:prstGeom>
          <a:solidFill>
            <a:srgbClr val="F6F7F8"/>
          </a:solidFill>
          <a:ln w="12700">
            <a:solidFill>
              <a:srgbClr val="F6F7F8"/>
            </a:solidFill>
            <a:prstDash val="solid"/>
          </a:ln>
        </p:spPr>
      </p:sp>
      <p:sp>
        <p:nvSpPr>
          <p:cNvPr id="14" name="Text 11"/>
          <p:cNvSpPr txBox="1"/>
          <p:nvPr/>
        </p:nvSpPr>
        <p:spPr>
          <a:xfrm>
            <a:off x="960120" y="4151376"/>
            <a:ext cx="4023360" cy="292608"/>
          </a:xfrm>
          <a:prstGeom prst="rect">
            <a:avLst/>
          </a:prstGeom>
          <a:noFill/>
          <a:ln/>
        </p:spPr>
        <p:txBody>
          <a:bodyPr wrap="square" lIns="0" tIns="0" rIns="0" bIns="0" rtlCol="0" anchor="t"/>
          <a:lstStyle/>
          <a:p>
            <a:pPr indent="0" marL="0">
              <a:buNone/>
            </a:pPr>
            <a:r>
              <a:rPr lang="en-US" sz="1400" b="1" dirty="0">
                <a:solidFill>
                  <a:srgbClr val="0A0A0B"/>
                </a:solidFill>
              </a:rPr>
              <a:t>Leave Tomás out for now</a:t>
            </a:r>
            <a:endParaRPr lang="en-US" sz="1400" dirty="0"/>
          </a:p>
        </p:txBody>
      </p:sp>
      <p:sp>
        <p:nvSpPr>
          <p:cNvPr id="15" name="Text 12"/>
          <p:cNvSpPr txBox="1"/>
          <p:nvPr/>
        </p:nvSpPr>
        <p:spPr>
          <a:xfrm>
            <a:off x="960120" y="4498848"/>
            <a:ext cx="4023360" cy="256032"/>
          </a:xfrm>
          <a:prstGeom prst="rect">
            <a:avLst/>
          </a:prstGeom>
          <a:noFill/>
          <a:ln/>
        </p:spPr>
        <p:txBody>
          <a:bodyPr wrap="square" lIns="0" tIns="0" rIns="0" bIns="0" rtlCol="0" anchor="t"/>
          <a:lstStyle/>
          <a:p>
            <a:pPr indent="0" marL="0">
              <a:buNone/>
            </a:pPr>
            <a:r>
              <a:rPr lang="en-US" sz="1050" dirty="0">
                <a:solidFill>
                  <a:srgbClr val="0A7F44"/>
                </a:solidFill>
              </a:rPr>
              <a:t>You said, Fri 23 Oct</a:t>
            </a:r>
            <a:endParaRPr lang="en-US" sz="1050" dirty="0"/>
          </a:p>
        </p:txBody>
      </p:sp>
      <p:sp>
        <p:nvSpPr>
          <p:cNvPr id="16" name="Shape 13"/>
          <p:cNvSpPr/>
          <p:nvPr/>
        </p:nvSpPr>
        <p:spPr>
          <a:xfrm>
            <a:off x="777240" y="4992624"/>
            <a:ext cx="4389120" cy="786384"/>
          </a:xfrm>
          <a:prstGeom prst="roundRect">
            <a:avLst>
              <a:gd name="adj" fmla="val 13953"/>
            </a:avLst>
          </a:prstGeom>
          <a:solidFill>
            <a:srgbClr val="F6F7F8"/>
          </a:solidFill>
          <a:ln w="12700">
            <a:solidFill>
              <a:srgbClr val="F6F7F8"/>
            </a:solidFill>
            <a:prstDash val="solid"/>
          </a:ln>
        </p:spPr>
      </p:sp>
      <p:sp>
        <p:nvSpPr>
          <p:cNvPr id="17" name="Text 14"/>
          <p:cNvSpPr txBox="1"/>
          <p:nvPr/>
        </p:nvSpPr>
        <p:spPr>
          <a:xfrm>
            <a:off x="960120" y="5084064"/>
            <a:ext cx="4023360" cy="292608"/>
          </a:xfrm>
          <a:prstGeom prst="rect">
            <a:avLst/>
          </a:prstGeom>
          <a:noFill/>
          <a:ln/>
        </p:spPr>
        <p:txBody>
          <a:bodyPr wrap="square" lIns="0" tIns="0" rIns="0" bIns="0" rtlCol="0" anchor="t"/>
          <a:lstStyle/>
          <a:p>
            <a:pPr indent="0" marL="0">
              <a:buNone/>
            </a:pPr>
            <a:r>
              <a:rPr lang="en-US" sz="1400" b="1" dirty="0">
                <a:solidFill>
                  <a:srgbClr val="0A0A0B"/>
                </a:solidFill>
              </a:rPr>
              <a:t>One game fewer this week</a:t>
            </a:r>
            <a:endParaRPr lang="en-US" sz="1400" dirty="0"/>
          </a:p>
        </p:txBody>
      </p:sp>
      <p:sp>
        <p:nvSpPr>
          <p:cNvPr id="18" name="Text 15"/>
          <p:cNvSpPr txBox="1"/>
          <p:nvPr/>
        </p:nvSpPr>
        <p:spPr>
          <a:xfrm>
            <a:off x="960120" y="5431536"/>
            <a:ext cx="4023360" cy="256032"/>
          </a:xfrm>
          <a:prstGeom prst="rect">
            <a:avLst/>
          </a:prstGeom>
          <a:noFill/>
          <a:ln/>
        </p:spPr>
        <p:txBody>
          <a:bodyPr wrap="square" lIns="0" tIns="0" rIns="0" bIns="0" rtlCol="0" anchor="t"/>
          <a:lstStyle/>
          <a:p>
            <a:pPr indent="0" marL="0">
              <a:buNone/>
            </a:pPr>
            <a:r>
              <a:rPr lang="en-US" sz="1050" dirty="0">
                <a:solidFill>
                  <a:srgbClr val="0A7F44"/>
                </a:solidFill>
              </a:rPr>
              <a:t>Your games and health app</a:t>
            </a:r>
            <a:endParaRPr lang="en-US" sz="1050" dirty="0"/>
          </a:p>
        </p:txBody>
      </p:sp>
      <p:sp>
        <p:nvSpPr>
          <p:cNvPr id="19" name="Shape 16"/>
          <p:cNvSpPr/>
          <p:nvPr/>
        </p:nvSpPr>
        <p:spPr>
          <a:xfrm>
            <a:off x="5669280" y="1783080"/>
            <a:ext cx="384048" cy="384048"/>
          </a:xfrm>
          <a:prstGeom prst="ellipse">
            <a:avLst/>
          </a:prstGeom>
          <a:solidFill>
            <a:srgbClr val="0A7F44"/>
          </a:solidFill>
          <a:ln w="12700">
            <a:solidFill>
              <a:srgbClr val="0A7F44"/>
            </a:solidFill>
            <a:prstDash val="solid"/>
          </a:ln>
        </p:spPr>
      </p:sp>
      <p:sp>
        <p:nvSpPr>
          <p:cNvPr id="20" name="Text 1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21" name="Text 1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22" name="Text 1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your games and your health app; what you told your agent before.</a:t>
            </a:r>
            <a:endParaRPr lang="en-US" sz="1200" dirty="0"/>
          </a:p>
        </p:txBody>
      </p:sp>
      <p:sp>
        <p:nvSpPr>
          <p:cNvPr id="23" name="Shape 20"/>
          <p:cNvSpPr/>
          <p:nvPr/>
        </p:nvSpPr>
        <p:spPr>
          <a:xfrm>
            <a:off x="5669280" y="2862072"/>
            <a:ext cx="384048" cy="384048"/>
          </a:xfrm>
          <a:prstGeom prst="ellipse">
            <a:avLst/>
          </a:prstGeom>
          <a:solidFill>
            <a:srgbClr val="0A7F44"/>
          </a:solidFill>
          <a:ln w="12700">
            <a:solidFill>
              <a:srgbClr val="0A7F44"/>
            </a:solidFill>
            <a:prstDash val="solid"/>
          </a:ln>
        </p:spPr>
      </p:sp>
      <p:sp>
        <p:nvSpPr>
          <p:cNvPr id="24" name="Text 2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25" name="Text 2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26" name="Text 2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and a newer note replaces an older one.</a:t>
            </a:r>
            <a:endParaRPr lang="en-US" sz="1200" dirty="0"/>
          </a:p>
        </p:txBody>
      </p:sp>
      <p:sp>
        <p:nvSpPr>
          <p:cNvPr id="27" name="Shape 24"/>
          <p:cNvSpPr/>
          <p:nvPr/>
        </p:nvSpPr>
        <p:spPr>
          <a:xfrm>
            <a:off x="5669280" y="3941064"/>
            <a:ext cx="384048" cy="384048"/>
          </a:xfrm>
          <a:prstGeom prst="ellipse">
            <a:avLst/>
          </a:prstGeom>
          <a:solidFill>
            <a:srgbClr val="0A7F44"/>
          </a:solidFill>
          <a:ln w="12700">
            <a:solidFill>
              <a:srgbClr val="0A7F44"/>
            </a:solidFill>
            <a:prstDash val="solid"/>
          </a:ln>
        </p:spPr>
      </p:sp>
      <p:sp>
        <p:nvSpPr>
          <p:cNvPr id="28" name="Text 2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9" name="Text 2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30" name="Text 2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late games, someone left out, one game fewer. Each limit must cite a real note, checked by code.</a:t>
            </a:r>
            <a:endParaRPr lang="en-US" sz="1200" dirty="0"/>
          </a:p>
        </p:txBody>
      </p:sp>
      <p:sp>
        <p:nvSpPr>
          <p:cNvPr id="31" name="Shape 28"/>
          <p:cNvSpPr/>
          <p:nvPr/>
        </p:nvSpPr>
        <p:spPr>
          <a:xfrm>
            <a:off x="5669280" y="5020056"/>
            <a:ext cx="384048" cy="384048"/>
          </a:xfrm>
          <a:prstGeom prst="ellipse">
            <a:avLst/>
          </a:prstGeom>
          <a:solidFill>
            <a:srgbClr val="0A7F44"/>
          </a:solidFill>
          <a:ln w="12700">
            <a:solidFill>
              <a:srgbClr val="0A7F44"/>
            </a:solidFill>
            <a:prstDash val="solid"/>
          </a:ln>
        </p:spPr>
      </p:sp>
      <p:sp>
        <p:nvSpPr>
          <p:cNvPr id="32" name="Text 2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33" name="Text 3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34" name="Text 3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top notes and the cited limits go to Muse Glimmer when it plans your week. Scheduling only: no coaching, no medical advice.</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 CLIP TO SHARE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becomes a clip for your friends</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 and fallback</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54–67% of members' decisions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finds what matters for your week by meaning; groups the club's ideas</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player's pose on every frame; finds the moment</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five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932688"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get_week</a:t>
            </a:r>
            <a:endParaRPr lang="en-US" sz="900" dirty="0"/>
          </a:p>
        </p:txBody>
      </p:sp>
      <p:sp>
        <p:nvSpPr>
          <p:cNvPr id="10" name="Shape 7"/>
          <p:cNvSpPr/>
          <p:nvPr/>
        </p:nvSpPr>
        <p:spPr>
          <a:xfrm>
            <a:off x="1764792" y="2971800"/>
            <a:ext cx="932688"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1764792" y="29718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check_body</a:t>
            </a:r>
            <a:endParaRPr lang="en-US" sz="900" dirty="0"/>
          </a:p>
        </p:txBody>
      </p:sp>
      <p:sp>
        <p:nvSpPr>
          <p:cNvPr id="12" name="Shape 9"/>
          <p:cNvSpPr/>
          <p:nvPr/>
        </p:nvSpPr>
        <p:spPr>
          <a:xfrm>
            <a:off x="2752344" y="2971800"/>
            <a:ext cx="932688"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2752344" y="29718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recall</a:t>
            </a:r>
            <a:endParaRPr lang="en-US" sz="900" dirty="0"/>
          </a:p>
        </p:txBody>
      </p:sp>
      <p:sp>
        <p:nvSpPr>
          <p:cNvPr id="14" name="Shape 11"/>
          <p:cNvSpPr/>
          <p:nvPr/>
        </p:nvSpPr>
        <p:spPr>
          <a:xfrm>
            <a:off x="3739896" y="2971800"/>
            <a:ext cx="932688"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3739896" y="29718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find_partners</a:t>
            </a:r>
            <a:endParaRPr lang="en-US" sz="900" dirty="0"/>
          </a:p>
        </p:txBody>
      </p:sp>
      <p:sp>
        <p:nvSpPr>
          <p:cNvPr id="16" name="Shape 13"/>
          <p:cNvSpPr/>
          <p:nvPr/>
        </p:nvSpPr>
        <p:spPr>
          <a:xfrm>
            <a:off x="4727448" y="2971800"/>
            <a:ext cx="932688"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4727448" y="29718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find_places</a:t>
            </a:r>
            <a:endParaRPr lang="en-US" sz="900" dirty="0"/>
          </a:p>
        </p:txBody>
      </p:sp>
      <p:sp>
        <p:nvSpPr>
          <p:cNvPr id="18" name="Shape 15"/>
          <p:cNvSpPr/>
          <p:nvPr/>
        </p:nvSpPr>
        <p:spPr>
          <a:xfrm>
            <a:off x="777240" y="3429000"/>
            <a:ext cx="932688"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777240" y="34290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negotiate</a:t>
            </a:r>
            <a:endParaRPr lang="en-US" sz="900" dirty="0"/>
          </a:p>
        </p:txBody>
      </p:sp>
      <p:sp>
        <p:nvSpPr>
          <p:cNvPr id="20" name="Shape 17"/>
          <p:cNvSpPr/>
          <p:nvPr/>
        </p:nvSpPr>
        <p:spPr>
          <a:xfrm>
            <a:off x="1764792" y="3429000"/>
            <a:ext cx="932688"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1764792" y="34290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request_approval</a:t>
            </a:r>
            <a:endParaRPr lang="en-US" sz="900" dirty="0"/>
          </a:p>
        </p:txBody>
      </p:sp>
      <p:sp>
        <p:nvSpPr>
          <p:cNvPr id="22" name="Shape 19"/>
          <p:cNvSpPr/>
          <p:nvPr/>
        </p:nvSpPr>
        <p:spPr>
          <a:xfrm>
            <a:off x="2752344" y="3429000"/>
            <a:ext cx="932688"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752344" y="34290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nudge</a:t>
            </a:r>
            <a:endParaRPr lang="en-US" sz="900" dirty="0"/>
          </a:p>
        </p:txBody>
      </p:sp>
      <p:sp>
        <p:nvSpPr>
          <p:cNvPr id="24" name="Shape 21"/>
          <p:cNvSpPr/>
          <p:nvPr/>
        </p:nvSpPr>
        <p:spPr>
          <a:xfrm>
            <a:off x="3739896" y="3429000"/>
            <a:ext cx="932688" cy="329184"/>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3739896" y="3429000"/>
            <a:ext cx="932688" cy="329184"/>
          </a:xfrm>
          <a:prstGeom prst="rect">
            <a:avLst/>
          </a:prstGeom>
          <a:noFill/>
          <a:ln/>
        </p:spPr>
        <p:txBody>
          <a:bodyPr wrap="square" lIns="0" tIns="0" rIns="0" bIns="0" rtlCol="0" anchor="ctr"/>
          <a:lstStyle/>
          <a:p>
            <a:pPr algn="ctr" indent="0" marL="0">
              <a:buNone/>
            </a:pPr>
            <a:r>
              <a:rPr lang="en-US" sz="900" b="1" dirty="0">
                <a:solidFill>
                  <a:srgbClr val="0A7F44"/>
                </a:solidFill>
              </a:rPr>
              <a:t>finish</a:t>
            </a:r>
            <a:endParaRPr lang="en-US" sz="9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member answers from Glimmer (simulated club),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up and answers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found by meaning,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Seven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(DRAMA 0.75): the memory is free for commercial use</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064E0"/>
          </a:solidFill>
          <a:ln w="12700">
            <a:solidFill>
              <a:srgbClr val="0064E0"/>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ball in tennis and basketball</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WASB's tennis and basketball trackers, wired into the highlight pipeline</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Basketball: every checked mark was on the ball (12 of 12); about 15 s a 20 s clip on the GPU</a:t>
            </a:r>
            <a:endParaRPr lang="en-US" sz="1100" dirty="0"/>
          </a:p>
        </p:txBody>
      </p:sp>
      <p:sp>
        <p:nvSpPr>
          <p:cNvPr id="41" name="Shape 38"/>
          <p:cNvSpPr/>
          <p:nvPr/>
        </p:nvSpPr>
        <p:spPr>
          <a:xfrm>
            <a:off x="548640" y="5577840"/>
            <a:ext cx="347472" cy="347472"/>
          </a:xfrm>
          <a:prstGeom prst="ellipse">
            <a:avLst/>
          </a:prstGeom>
          <a:solidFill>
            <a:srgbClr val="0A7F44"/>
          </a:solidFill>
          <a:ln w="12700">
            <a:solidFill>
              <a:srgbClr val="0A7F44"/>
            </a:solidFill>
            <a:prstDash val="solid"/>
          </a:ln>
        </p:spPr>
      </p:sp>
      <p:sp>
        <p:nvSpPr>
          <p:cNvPr id="42" name="Text 39"/>
          <p:cNvSpPr txBox="1"/>
          <p:nvPr/>
        </p:nvSpPr>
        <p:spPr>
          <a:xfrm>
            <a:off x="548640" y="55778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43" name="Text 40"/>
          <p:cNvSpPr txBox="1"/>
          <p:nvPr/>
        </p:nvSpPr>
        <p:spPr>
          <a:xfrm>
            <a:off x="1051560" y="55046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44" name="Text 41"/>
          <p:cNvSpPr txBox="1"/>
          <p:nvPr/>
        </p:nvSpPr>
        <p:spPr>
          <a:xfrm>
            <a:off x="1051560" y="577900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45" name="Shape 42"/>
          <p:cNvSpPr/>
          <p:nvPr/>
        </p:nvSpPr>
        <p:spPr>
          <a:xfrm>
            <a:off x="5486400" y="5486400"/>
            <a:ext cx="6126480" cy="530352"/>
          </a:xfrm>
          <a:prstGeom prst="roundRect">
            <a:avLst>
              <a:gd name="adj" fmla="val 20690"/>
            </a:avLst>
          </a:prstGeom>
          <a:solidFill>
            <a:srgbClr val="F6F7F8"/>
          </a:solidFill>
          <a:ln w="12700">
            <a:solidFill>
              <a:srgbClr val="F6F7F8"/>
            </a:solidFill>
            <a:prstDash val="solid"/>
          </a:ln>
        </p:spPr>
      </p:sp>
      <p:sp>
        <p:nvSpPr>
          <p:cNvPr id="46" name="Text 43"/>
          <p:cNvSpPr txBox="1"/>
          <p:nvPr/>
        </p:nvSpPr>
        <p:spPr>
          <a:xfrm>
            <a:off x="5650992" y="54864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201 crash-matrix assertions,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crash-matrix checks (5 kill points)</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24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269 of 270 (1 skipped: an optional tool)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read your pose,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pic>
        <p:nvPicPr>
          <p:cNvPr id="14" name="Image 1" descr="preencoded.png">    </p:cNvPr>
          <p:cNvPicPr>
            <a:picLocks noChangeAspect="1"/>
          </p:cNvPicPr>
          <p:nvPr/>
        </p:nvPicPr>
        <p:blipFill>
          <a:blip r:embed="rId2"/>
          <a:stretch>
            <a:fillRect/>
          </a:stretch>
        </p:blipFill>
        <p:spPr>
          <a:xfrm>
            <a:off x="2103120" y="6035040"/>
            <a:ext cx="329184" cy="329184"/>
          </a:xfrm>
          <a:prstGeom prst="rect">
            <a:avLst/>
          </a:prstGeom>
        </p:spPr>
      </p:pic>
      <p:sp>
        <p:nvSpPr>
          <p:cNvPr id="15" name="Text 11"/>
          <p:cNvSpPr txBox="1"/>
          <p:nvPr/>
        </p:nvSpPr>
        <p:spPr>
          <a:xfrm>
            <a:off x="2523744" y="6035040"/>
            <a:ext cx="8229600" cy="329184"/>
          </a:xfrm>
          <a:prstGeom prst="rect">
            <a:avLst/>
          </a:prstGeom>
          <a:noFill/>
          <a:ln/>
        </p:spPr>
        <p:txBody>
          <a:bodyPr wrap="square" lIns="0" tIns="0" rIns="0" bIns="0" rtlCol="0" anchor="ctr"/>
          <a:lstStyle/>
          <a:p>
            <a:pPr indent="0" marL="0">
              <a:buNone/>
            </a:pPr>
            <a:r>
              <a:rPr lang="en-US" sz="1300" dirty="0">
                <a:solidFill>
                  <a:srgbClr val="55555C"/>
                </a:solidFill>
              </a:rPr>
              <a:t>The product runs Muse Glimmer on an RTX 3090 I own; cloud A100s ran evaluations only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2026-10-29T07:19:16Z</dcterms:created>
  <dcterms:modified xsi:type="dcterms:W3CDTF">2026-10-29T07:19:16Z</dcterms:modified>
</cp:coreProperties>
</file>