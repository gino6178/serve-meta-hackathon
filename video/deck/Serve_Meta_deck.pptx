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0d311172-28c9-c022-642d-b1b314219dd9}">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Lst>
        </p14:section>
        <p14:section name="Appendix" id="{7d6d9c37-396f-7795-9db7-315c8d649595}">
          <p14:sldIdLst>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95% intervals: the same within them</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[87.1–90.3]</c:v>
                  </c:pt>
                  <c:pt idx="1">
                    <c:v>First time listed</c:v>
                  </c:pt>
                  <c:pt idx="2">
                    <c:v>1B student [87.9–91.0]</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 (a small test)</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冷啟動：agent 對 agent 需要雙方都在 Serve 上；第二個人怎麼來？靠邀請連結。跟 agent 說一句 → 分享連結到 LINE、WhatsApp 群組 → 對方沒帳號也能打開，看到球局和剩幾個名額（看不到誰報名）→ 登入一次就自動加入 → 滿團時每個人都收到 Game on，之後他自己的 agent 就能替他回覆。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拿掉一個模型會怎樣：Glimmer（整個 agent 不能運作）、學生模型（每次決策從 0.9 秒變 40 秒，模擬中 Glimmer 回答多 54–67%）、DRAMA（第一個找到對的筆記從 0.60 掉到 0.35）、Llama Guard、Prompt Guard、Muse Voice。標明哪些是量測、哪些是設計上的。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2:29，三幕：一、冷啟動：Leo 沒有帳號，點連結就加入，Mia 同時收到 Game on（並排）；二、agent 透過 A2A 協商，Hana 的 agent 提出反提案（Messenger 裡一個 yes 就訂好也在這一幕）；三、找球場：Prompt Guard 2 先過濾評論，再由 Muse Glimmer 判斷（14 倍速，有標示），然後是社團。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image" Target="../media/image-17-3.jpe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video" Target="../media/media-23-1.mp4"/><Relationship Id="rId2" Type="http://schemas.microsoft.com/office/2007/relationships/media" Target="../media/media-23-1.mp4"/><Relationship Id="rId3" Type="http://schemas.openxmlformats.org/officeDocument/2006/relationships/image" Target="../media/image-23-3.pn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image" Target="../media/image-23-6.jpeg"/><Relationship Id="rId7" Type="http://schemas.openxmlformats.org/officeDocument/2006/relationships/image" Target="../media/image-23-7.jpeg"/><Relationship Id="rId8" Type="http://schemas.openxmlformats.org/officeDocument/2006/relationships/slideLayout" Target="../slideLayouts/slideLayout2.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play.theminimallab.com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29 Oct, day 3.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COLD START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first friend needs no account</a:t>
            </a:r>
            <a:endParaRPr lang="en-US" sz="3200" dirty="0"/>
          </a:p>
        </p:txBody>
      </p:sp>
      <p:sp>
        <p:nvSpPr>
          <p:cNvPr id="5" name="Shape 2"/>
          <p:cNvSpPr/>
          <p:nvPr/>
        </p:nvSpPr>
        <p:spPr>
          <a:xfrm>
            <a:off x="548640" y="1783080"/>
            <a:ext cx="2606040" cy="3017520"/>
          </a:xfrm>
          <a:prstGeom prst="roundRect">
            <a:avLst>
              <a:gd name="adj" fmla="val 4211"/>
            </a:avLst>
          </a:prstGeom>
          <a:solidFill>
            <a:srgbClr val="F6F7F8"/>
          </a:solidFill>
          <a:ln w="12700">
            <a:solidFill>
              <a:srgbClr val="F6F7F8"/>
            </a:solidFill>
            <a:prstDash val="solid"/>
          </a:ln>
        </p:spPr>
      </p:sp>
      <p:sp>
        <p:nvSpPr>
          <p:cNvPr id="6" name="Shape 3"/>
          <p:cNvSpPr/>
          <p:nvPr/>
        </p:nvSpPr>
        <p:spPr>
          <a:xfrm>
            <a:off x="777240" y="2011680"/>
            <a:ext cx="457200" cy="457200"/>
          </a:xfrm>
          <a:prstGeom prst="ellipse">
            <a:avLst/>
          </a:prstGeom>
          <a:solidFill>
            <a:srgbClr val="0A7F44"/>
          </a:solidFill>
          <a:ln w="12700">
            <a:solidFill>
              <a:srgbClr val="0A7F44"/>
            </a:solidFill>
            <a:prstDash val="solid"/>
          </a:ln>
        </p:spPr>
      </p:sp>
      <p:sp>
        <p:nvSpPr>
          <p:cNvPr id="7" name="Text 4"/>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77724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Tell your agent</a:t>
            </a:r>
            <a:endParaRPr lang="en-US" sz="1700" dirty="0"/>
          </a:p>
        </p:txBody>
      </p:sp>
      <p:sp>
        <p:nvSpPr>
          <p:cNvPr id="9" name="Text 6"/>
          <p:cNvSpPr txBox="1"/>
          <p:nvPr/>
        </p:nvSpPr>
        <p:spPr>
          <a:xfrm>
            <a:off x="77724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"Saturday doubles, need 3": it drafts the invite with the nearest court. You tap Post.</a:t>
            </a:r>
            <a:endParaRPr lang="en-US" sz="1250" dirty="0"/>
          </a:p>
        </p:txBody>
      </p:sp>
      <p:sp>
        <p:nvSpPr>
          <p:cNvPr id="10" name="Shape 7"/>
          <p:cNvSpPr/>
          <p:nvPr/>
        </p:nvSpPr>
        <p:spPr>
          <a:xfrm>
            <a:off x="3172968" y="3291840"/>
            <a:ext cx="146304" cy="0"/>
          </a:xfrm>
          <a:prstGeom prst="line">
            <a:avLst/>
          </a:prstGeom>
          <a:noFill/>
          <a:ln w="22225">
            <a:solidFill>
              <a:srgbClr val="8A8A92"/>
            </a:solidFill>
            <a:prstDash val="solid"/>
            <a:tailEnd type="triangle"/>
          </a:ln>
        </p:spPr>
      </p:sp>
      <p:sp>
        <p:nvSpPr>
          <p:cNvPr id="11" name="Shape 8"/>
          <p:cNvSpPr/>
          <p:nvPr/>
        </p:nvSpPr>
        <p:spPr>
          <a:xfrm>
            <a:off x="3337560" y="1783080"/>
            <a:ext cx="2606040" cy="3017520"/>
          </a:xfrm>
          <a:prstGeom prst="roundRect">
            <a:avLst>
              <a:gd name="adj" fmla="val 4211"/>
            </a:avLst>
          </a:prstGeom>
          <a:solidFill>
            <a:srgbClr val="F6F7F8"/>
          </a:solidFill>
          <a:ln w="12700">
            <a:solidFill>
              <a:srgbClr val="F6F7F8"/>
            </a:solidFill>
            <a:prstDash val="solid"/>
          </a:ln>
        </p:spPr>
      </p:sp>
      <p:sp>
        <p:nvSpPr>
          <p:cNvPr id="12" name="Shape 9"/>
          <p:cNvSpPr/>
          <p:nvPr/>
        </p:nvSpPr>
        <p:spPr>
          <a:xfrm>
            <a:off x="3566160" y="2011680"/>
            <a:ext cx="457200" cy="457200"/>
          </a:xfrm>
          <a:prstGeom prst="ellipse">
            <a:avLst/>
          </a:prstGeom>
          <a:solidFill>
            <a:srgbClr val="0A7F44"/>
          </a:solidFill>
          <a:ln w="12700">
            <a:solidFill>
              <a:srgbClr val="0A7F44"/>
            </a:solidFill>
            <a:prstDash val="solid"/>
          </a:ln>
        </p:spPr>
      </p:sp>
      <p:sp>
        <p:nvSpPr>
          <p:cNvPr id="13" name="Text 10"/>
          <p:cNvSpPr txBox="1"/>
          <p:nvPr/>
        </p:nvSpPr>
        <p:spPr>
          <a:xfrm>
            <a:off x="356616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4" name="Text 11"/>
          <p:cNvSpPr txBox="1"/>
          <p:nvPr/>
        </p:nvSpPr>
        <p:spPr>
          <a:xfrm>
            <a:off x="356616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Share the link</a:t>
            </a:r>
            <a:endParaRPr lang="en-US" sz="1700" dirty="0"/>
          </a:p>
        </p:txBody>
      </p:sp>
      <p:sp>
        <p:nvSpPr>
          <p:cNvPr id="15" name="Text 12"/>
          <p:cNvSpPr txBox="1"/>
          <p:nvPr/>
        </p:nvSpPr>
        <p:spPr>
          <a:xfrm>
            <a:off x="356616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To any group chat. It opens with no account: the game, the place, the spots left, never who is going.</a:t>
            </a:r>
            <a:endParaRPr lang="en-US" sz="1250" dirty="0"/>
          </a:p>
        </p:txBody>
      </p:sp>
      <p:sp>
        <p:nvSpPr>
          <p:cNvPr id="16" name="Shape 13"/>
          <p:cNvSpPr/>
          <p:nvPr/>
        </p:nvSpPr>
        <p:spPr>
          <a:xfrm>
            <a:off x="5961888" y="3291840"/>
            <a:ext cx="146304" cy="0"/>
          </a:xfrm>
          <a:prstGeom prst="line">
            <a:avLst/>
          </a:prstGeom>
          <a:noFill/>
          <a:ln w="22225">
            <a:solidFill>
              <a:srgbClr val="8A8A92"/>
            </a:solidFill>
            <a:prstDash val="solid"/>
            <a:tailEnd type="triangle"/>
          </a:ln>
        </p:spPr>
      </p:sp>
      <p:sp>
        <p:nvSpPr>
          <p:cNvPr id="17" name="Shape 14"/>
          <p:cNvSpPr/>
          <p:nvPr/>
        </p:nvSpPr>
        <p:spPr>
          <a:xfrm>
            <a:off x="6126480" y="1783080"/>
            <a:ext cx="2606040" cy="3017520"/>
          </a:xfrm>
          <a:prstGeom prst="roundRect">
            <a:avLst>
              <a:gd name="adj" fmla="val 4211"/>
            </a:avLst>
          </a:prstGeom>
          <a:solidFill>
            <a:srgbClr val="F6F7F8"/>
          </a:solidFill>
          <a:ln w="12700">
            <a:solidFill>
              <a:srgbClr val="F6F7F8"/>
            </a:solidFill>
            <a:prstDash val="solid"/>
          </a:ln>
        </p:spPr>
      </p:sp>
      <p:sp>
        <p:nvSpPr>
          <p:cNvPr id="18" name="Shape 15"/>
          <p:cNvSpPr/>
          <p:nvPr/>
        </p:nvSpPr>
        <p:spPr>
          <a:xfrm>
            <a:off x="6355080" y="2011680"/>
            <a:ext cx="457200" cy="457200"/>
          </a:xfrm>
          <a:prstGeom prst="ellipse">
            <a:avLst/>
          </a:prstGeom>
          <a:solidFill>
            <a:srgbClr val="0A7F44"/>
          </a:solidFill>
          <a:ln w="12700">
            <a:solidFill>
              <a:srgbClr val="0A7F44"/>
            </a:solidFill>
            <a:prstDash val="solid"/>
          </a:ln>
        </p:spPr>
      </p:sp>
      <p:sp>
        <p:nvSpPr>
          <p:cNvPr id="19" name="Text 16"/>
          <p:cNvSpPr txBox="1"/>
          <p:nvPr/>
        </p:nvSpPr>
        <p:spPr>
          <a:xfrm>
            <a:off x="635508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0" name="Text 17"/>
          <p:cNvSpPr txBox="1"/>
          <p:nvPr/>
        </p:nvSpPr>
        <p:spPr>
          <a:xfrm>
            <a:off x="635508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Tap Join</a:t>
            </a:r>
            <a:endParaRPr lang="en-US" sz="1700" dirty="0"/>
          </a:p>
        </p:txBody>
      </p:sp>
      <p:sp>
        <p:nvSpPr>
          <p:cNvPr id="21" name="Text 18"/>
          <p:cNvSpPr txBox="1"/>
          <p:nvPr/>
        </p:nvSpPr>
        <p:spPr>
          <a:xfrm>
            <a:off x="635508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Sign in once and the game is joined straight away, also after a Facebook or Instagram login.</a:t>
            </a:r>
            <a:endParaRPr lang="en-US" sz="1250" dirty="0"/>
          </a:p>
        </p:txBody>
      </p:sp>
      <p:sp>
        <p:nvSpPr>
          <p:cNvPr id="22" name="Shape 19"/>
          <p:cNvSpPr/>
          <p:nvPr/>
        </p:nvSpPr>
        <p:spPr>
          <a:xfrm>
            <a:off x="8750808" y="3291840"/>
            <a:ext cx="146304" cy="0"/>
          </a:xfrm>
          <a:prstGeom prst="line">
            <a:avLst/>
          </a:prstGeom>
          <a:noFill/>
          <a:ln w="22225">
            <a:solidFill>
              <a:srgbClr val="8A8A92"/>
            </a:solidFill>
            <a:prstDash val="solid"/>
            <a:tailEnd type="triangle"/>
          </a:ln>
        </p:spPr>
      </p:sp>
      <p:sp>
        <p:nvSpPr>
          <p:cNvPr id="23" name="Shape 20"/>
          <p:cNvSpPr/>
          <p:nvPr/>
        </p:nvSpPr>
        <p:spPr>
          <a:xfrm>
            <a:off x="8915400" y="1783080"/>
            <a:ext cx="2606040" cy="3017520"/>
          </a:xfrm>
          <a:prstGeom prst="roundRect">
            <a:avLst>
              <a:gd name="adj" fmla="val 4211"/>
            </a:avLst>
          </a:prstGeom>
          <a:solidFill>
            <a:srgbClr val="E9F3EC"/>
          </a:solidFill>
          <a:ln w="12700">
            <a:solidFill>
              <a:srgbClr val="E9F3EC"/>
            </a:solidFill>
            <a:prstDash val="solid"/>
          </a:ln>
        </p:spPr>
      </p:sp>
      <p:sp>
        <p:nvSpPr>
          <p:cNvPr id="24" name="Shape 21"/>
          <p:cNvSpPr/>
          <p:nvPr/>
        </p:nvSpPr>
        <p:spPr>
          <a:xfrm>
            <a:off x="9144000" y="2011680"/>
            <a:ext cx="457200" cy="457200"/>
          </a:xfrm>
          <a:prstGeom prst="ellipse">
            <a:avLst/>
          </a:prstGeom>
          <a:solidFill>
            <a:srgbClr val="0A7F44"/>
          </a:solidFill>
          <a:ln w="12700">
            <a:solidFill>
              <a:srgbClr val="0A7F44"/>
            </a:solidFill>
            <a:prstDash val="solid"/>
          </a:ln>
        </p:spPr>
      </p:sp>
      <p:sp>
        <p:nvSpPr>
          <p:cNvPr id="25" name="Text 22"/>
          <p:cNvSpPr txBox="1"/>
          <p:nvPr/>
        </p:nvSpPr>
        <p:spPr>
          <a:xfrm>
            <a:off x="914400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6" name="Text 23"/>
          <p:cNvSpPr txBox="1"/>
          <p:nvPr/>
        </p:nvSpPr>
        <p:spPr>
          <a:xfrm>
            <a:off x="914400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Game on</a:t>
            </a:r>
            <a:endParaRPr lang="en-US" sz="1700" dirty="0"/>
          </a:p>
        </p:txBody>
      </p:sp>
      <p:sp>
        <p:nvSpPr>
          <p:cNvPr id="27" name="Text 24"/>
          <p:cNvSpPr txBox="1"/>
          <p:nvPr/>
        </p:nvSpPr>
        <p:spPr>
          <a:xfrm>
            <a:off x="914400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The last spot taken, everyone in it hears "Game on". From then on, their own agent answers for them.</a:t>
            </a:r>
            <a:endParaRPr lang="en-US" sz="1250" dirty="0"/>
          </a:p>
        </p:txBody>
      </p:sp>
      <p:sp>
        <p:nvSpPr>
          <p:cNvPr id="28" name="Shape 25"/>
          <p:cNvSpPr/>
          <p:nvPr/>
        </p:nvSpPr>
        <p:spPr>
          <a:xfrm>
            <a:off x="548640" y="5029200"/>
            <a:ext cx="11064240" cy="1005840"/>
          </a:xfrm>
          <a:prstGeom prst="roundRect">
            <a:avLst>
              <a:gd name="adj" fmla="val 10909"/>
            </a:avLst>
          </a:prstGeom>
          <a:solidFill>
            <a:srgbClr val="FFFFFF"/>
          </a:solidFill>
          <a:ln w="12700">
            <a:solidFill>
              <a:srgbClr val="DCDCE0"/>
            </a:solidFill>
            <a:prstDash val="solid"/>
          </a:ln>
        </p:spPr>
      </p:sp>
      <p:sp>
        <p:nvSpPr>
          <p:cNvPr id="29" name="Text 26"/>
          <p:cNvSpPr txBox="1"/>
          <p:nvPr/>
        </p:nvSpPr>
        <p:spPr>
          <a:xfrm>
            <a:off x="777240" y="5029200"/>
            <a:ext cx="10607040" cy="1005840"/>
          </a:xfrm>
          <a:prstGeom prst="rect">
            <a:avLst/>
          </a:prstGeom>
          <a:noFill/>
          <a:ln/>
        </p:spPr>
        <p:txBody>
          <a:bodyPr wrap="square" lIns="0" tIns="0" rIns="0" bIns="0" rtlCol="0" anchor="ctr"/>
          <a:lstStyle/>
          <a:p>
            <a:pPr indent="0" marL="0">
              <a:buNone/>
            </a:pPr>
            <a:r>
              <a:rPr lang="en-US" sz="1300" b="1" dirty="0">
                <a:solidFill>
                  <a:srgbClr val="0A0A0B"/>
                </a:solidFill>
              </a:rPr>
              <a:t>Why it matters. </a:t>
            </a:r>
            <a:pPr indent="0" marL="0">
              <a:buNone/>
            </a:pPr>
            <a:r>
              <a:rPr lang="en-US" sz="1300" dirty="0">
                <a:solidFill>
                  <a:srgbClr val="0A0A0B"/>
                </a:solidFill>
              </a:rPr>
              <a:t>Agents agree games only between members, so the second player has to get in somehow: the link is that way in, and nobody has to install anything first. A private club's games never leave the club. Live on the public site since 29 Oct; the link page and the join are covered by tests.</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organiser lets them in. Children have no accounts: first names only, seen by the organiser.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9,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reviews first; Google's are listed with a link, not stored</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six carry the product</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WHY EACH ONE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Take one away, and this is what breaks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7040880"/>
                <a:gridCol w="1463040"/>
              </a:tblGrid>
              <a:tr h="566928">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Without</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What breaks</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Glimmer</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planner and no agent answers: the product does not run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3.2 1B student</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Every member answer goes to Glimmer: about 40 s instead of 0.9 s, and 54–67% more Glimmer answers in simulated talks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DRAMA</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The right note comes first 0.35 of the time instead of 0.60 (word matching instead; 20 questions)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 small</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Guard 3 1B</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Nothing reads every message in and out; code alone reads only plain words. With it: 37 of 42 unsafe refused, 1 of 74 harmless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Prompt Guard 2</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Google reviews and members' ideas reach the models unscreened; poisoned reviews are among the 93 attacks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Voice Transcribe</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talking hands-free and no cutting in while the agent speaks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6" name="Text 2"/>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rgbClr val="55555C"/>
                </a:solidFill>
              </a:rPr>
              <a:t>"Measured": numbers from this entry's tests. "By design": what the code does without it.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where some members need Glimmer (96% is the test set)</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3429000"/>
          </a:xfrm>
          <a:prstGeom prst="roundRect">
            <a:avLst>
              <a:gd name="adj" fmla="val 3200"/>
            </a:avLst>
          </a:prstGeom>
          <a:solidFill>
            <a:srgbClr val="E9F3EC"/>
          </a:solidFill>
          <a:ln w="12700">
            <a:solidFill>
              <a:srgbClr val="0A7F44"/>
            </a:solidFill>
            <a:prstDash val="solid"/>
          </a:ln>
        </p:spPr>
      </p:sp>
      <p:sp>
        <p:nvSpPr>
          <p:cNvPr id="6" name="Text 3"/>
          <p:cNvSpPr txBox="1"/>
          <p:nvPr/>
        </p:nvSpPr>
        <p:spPr>
          <a:xfrm>
            <a:off x="822960" y="1810512"/>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What a judge can trust as is</a:t>
            </a:r>
            <a:endParaRPr lang="en-US" sz="1600" dirty="0"/>
          </a:p>
        </p:txBody>
      </p:sp>
      <p:sp>
        <p:nvSpPr>
          <p:cNvPr id="8" name="Text 5"/>
          <p:cNvSpPr txBox="1"/>
          <p:nvPr/>
        </p:nvSpPr>
        <p:spPr>
          <a:xfrm>
            <a:off x="82296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8 players, 14 accounts, 2 clubs they started, 4 games, 7 joins on the live site (29 Oct)</a:t>
            </a:r>
            <a:endParaRPr lang="en-US" sz="1150" dirty="0"/>
          </a:p>
          <a:p>
            <a:pPr marL="177800" indent="-177800">
              <a:spcAft>
                <a:spcPts val="400"/>
              </a:spcAft>
              <a:buSzPct val="100000"/>
              <a:buChar char="•"/>
            </a:pPr>
            <a:r>
              <a:rPr lang="en-US" sz="1150" dirty="0">
                <a:solidFill>
                  <a:srgbClr val="0A0A0B"/>
                </a:solidFill>
              </a:rPr>
              <a:t>Every agent's code: A2A over JSON-RPC, signed Agent Cards, holds, crash recovery</a:t>
            </a:r>
            <a:endParaRPr lang="en-US" sz="1150" dirty="0"/>
          </a:p>
          <a:p>
            <a:pPr marL="177800" indent="-177800">
              <a:spcAft>
                <a:spcPts val="400"/>
              </a:spcAft>
              <a:buSzPct val="100000"/>
              <a:buChar char="•"/>
            </a:pPr>
            <a:r>
              <a:rPr lang="en-US" sz="1150" dirty="0">
                <a:solidFill>
                  <a:srgbClr val="0A0A0B"/>
                </a:solidFill>
              </a:rPr>
              <a:t>Muse Glimmer making every decision in the evaluations; the guards, DRAMA, speech recognition</a:t>
            </a:r>
            <a:endParaRPr lang="en-US" sz="1150" dirty="0"/>
          </a:p>
          <a:p>
            <a:pPr marL="177800" indent="-177800">
              <a:spcAft>
                <a:spcPts val="400"/>
              </a:spcAft>
              <a:buSzPct val="100000"/>
              <a:buChar char="•"/>
            </a:pPr>
            <a:r>
              <a:rPr lang="en-US" sz="1150" dirty="0">
                <a:solidFill>
                  <a:srgbClr val="0A0A0B"/>
                </a:solidFill>
              </a:rPr>
              <a:t>Courts from OpenStreetMap, real forecasts; Messenger's webhook on a real Page (Facebook and Instagram login wait for Meta's app review: players use a demo sign-in)</a:t>
            </a:r>
            <a:endParaRPr lang="en-US" sz="1150" dirty="0"/>
          </a:p>
          <a:p>
            <a:pPr marL="177800" indent="-177800">
              <a:spcAft>
                <a:spcPts val="400"/>
              </a:spcAft>
              <a:buSzPct val="100000"/>
              <a:buChar char="•"/>
            </a:pPr>
            <a:r>
              <a:rPr lang="en-US" sz="1150" dirty="0">
                <a:solidFill>
                  <a:srgbClr val="0A0A0B"/>
                </a:solidFill>
              </a:rPr>
              <a:t>Highlights cut from real footage (a CC BY clip)</a:t>
            </a:r>
            <a:endParaRPr lang="en-US" sz="1150" dirty="0"/>
          </a:p>
        </p:txBody>
      </p:sp>
      <p:sp>
        <p:nvSpPr>
          <p:cNvPr id="9" name="Shape 6"/>
          <p:cNvSpPr/>
          <p:nvPr/>
        </p:nvSpPr>
        <p:spPr>
          <a:xfrm>
            <a:off x="6172200" y="1691640"/>
            <a:ext cx="5440680" cy="3429000"/>
          </a:xfrm>
          <a:prstGeom prst="roundRect">
            <a:avLst>
              <a:gd name="adj" fmla="val 3200"/>
            </a:avLst>
          </a:prstGeom>
          <a:solidFill>
            <a:srgbClr val="FBF3E6"/>
          </a:solidFill>
          <a:ln w="12700">
            <a:solidFill>
              <a:srgbClr val="B26A00"/>
            </a:solidFill>
            <a:prstDash val="solid"/>
          </a:ln>
        </p:spPr>
      </p:sp>
      <p:sp>
        <p:nvSpPr>
          <p:cNvPr id="10" name="Text 7"/>
          <p:cNvSpPr txBox="1"/>
          <p:nvPr/>
        </p:nvSpPr>
        <p:spPr>
          <a:xfrm>
            <a:off x="6446520" y="1810512"/>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Clubs built for the tests</a:t>
            </a:r>
            <a:endParaRPr lang="en-US" sz="1600" dirty="0"/>
          </a:p>
        </p:txBody>
      </p:sp>
      <p:sp>
        <p:nvSpPr>
          <p:cNvPr id="12" name="Text 9"/>
          <p:cNvSpPr txBox="1"/>
          <p:nvPr/>
        </p:nvSpPr>
        <p:spPr>
          <a:xfrm>
            <a:off x="644652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The demo club's members, venues and free times (marked demo in the app)</a:t>
            </a:r>
            <a:endParaRPr lang="en-US" sz="1150" dirty="0"/>
          </a:p>
          <a:p>
            <a:pPr marL="177800" indent="-177800">
              <a:spcAft>
                <a:spcPts val="400"/>
              </a:spcAft>
              <a:buSzPct val="100000"/>
              <a:buChar char="•"/>
            </a:pPr>
            <a:r>
              <a:rPr lang="en-US" sz="1150" dirty="0">
                <a:solidFill>
                  <a:srgbClr val="0A0A0B"/>
                </a:solidFill>
              </a:rPr>
              <a:t>The members in the scale, rules, matchmaking and student tests (seeds 7 and 11)</a:t>
            </a:r>
            <a:endParaRPr lang="en-US" sz="1150" dirty="0"/>
          </a:p>
          <a:p>
            <a:pPr marL="177800" indent="-177800">
              <a:spcAft>
                <a:spcPts val="400"/>
              </a:spcAft>
              <a:buSzPct val="100000"/>
              <a:buChar char="•"/>
            </a:pPr>
            <a:r>
              <a:rPr lang="en-US" sz="1150" dirty="0">
                <a:solidFill>
                  <a:srgbClr val="0A0A0B"/>
                </a:solidFill>
              </a:rPr>
              <a:t>The community loop's club of 60 and its votes</a:t>
            </a:r>
            <a:endParaRPr lang="en-US" sz="1150" dirty="0"/>
          </a:p>
          <a:p>
            <a:pPr marL="177800" indent="-177800">
              <a:spcAft>
                <a:spcPts val="400"/>
              </a:spcAft>
              <a:buSzPct val="100000"/>
              <a:buChar char="•"/>
            </a:pPr>
            <a:r>
              <a:rPr lang="en-US" sz="1150" dirty="0">
                <a:solidFill>
                  <a:srgbClr val="0A0A0B"/>
                </a:solidFill>
              </a:rPr>
              <a:t>The 20,000 requests in the asking test; the prober in the disclosure test</a:t>
            </a:r>
            <a:endParaRPr lang="en-US" sz="1150" dirty="0"/>
          </a:p>
          <a:p>
            <a:pPr marL="177800" indent="-177800">
              <a:spcAft>
                <a:spcPts val="400"/>
              </a:spcAft>
              <a:buSzPct val="100000"/>
              <a:buChar char="•"/>
            </a:pPr>
            <a:r>
              <a:rPr lang="en-US" sz="1150" dirty="0">
                <a:solidFill>
                  <a:srgbClr val="0A0A0B"/>
                </a:solidFill>
              </a:rPr>
              <a:t>The attacks and unsafe messages: labelled tests I wrote</a:t>
            </a:r>
            <a:endParaRPr lang="en-US" sz="1150" dirty="0"/>
          </a:p>
        </p:txBody>
      </p:sp>
      <p:sp>
        <p:nvSpPr>
          <p:cNvPr id="13" name="Shape 10"/>
          <p:cNvSpPr/>
          <p:nvPr/>
        </p:nvSpPr>
        <p:spPr>
          <a:xfrm>
            <a:off x="548640" y="5257800"/>
            <a:ext cx="11064240" cy="868680"/>
          </a:xfrm>
          <a:prstGeom prst="roundRect">
            <a:avLst>
              <a:gd name="adj" fmla="val 12632"/>
            </a:avLst>
          </a:prstGeom>
          <a:solidFill>
            <a:srgbClr val="FBEAE9"/>
          </a:solidFill>
          <a:ln w="12700">
            <a:solidFill>
              <a:srgbClr val="FBEAE9"/>
            </a:solidFill>
            <a:prstDash val="solid"/>
          </a:ln>
        </p:spPr>
      </p:sp>
      <p:sp>
        <p:nvSpPr>
          <p:cNvPr id="14" name="Text 11"/>
          <p:cNvSpPr txBox="1"/>
          <p:nvPr/>
        </p:nvSpPr>
        <p:spPr>
          <a:xfrm>
            <a:off x="777240" y="5349240"/>
            <a:ext cx="2743200" cy="228600"/>
          </a:xfrm>
          <a:prstGeom prst="rect">
            <a:avLst/>
          </a:prstGeom>
          <a:noFill/>
          <a:ln/>
        </p:spPr>
        <p:txBody>
          <a:bodyPr wrap="square" lIns="0" tIns="0" rIns="0" bIns="0" rtlCol="0" anchor="t"/>
          <a:lstStyle/>
          <a:p>
            <a:pPr indent="0" marL="0">
              <a:buNone/>
            </a:pPr>
            <a:r>
              <a:rPr lang="en-US" sz="1050" b="1" spc="100" kern="0" dirty="0">
                <a:solidFill>
                  <a:srgbClr val="D1352B"/>
                </a:solidFill>
              </a:rPr>
              <a:t>KNOWN FAILURES</a:t>
            </a:r>
            <a:endParaRPr lang="en-US" sz="1050" dirty="0"/>
          </a:p>
        </p:txBody>
      </p:sp>
      <p:sp>
        <p:nvSpPr>
          <p:cNvPr id="15" name="Text 12"/>
          <p:cNvSpPr txBox="1"/>
          <p:nvPr/>
        </p:nvSpPr>
        <p:spPr>
          <a:xfrm>
            <a:off x="777240" y="5577840"/>
            <a:ext cx="10607040" cy="502920"/>
          </a:xfrm>
          <a:prstGeom prst="rect">
            <a:avLst/>
          </a:prstGeom>
          <a:noFill/>
          <a:ln/>
        </p:spPr>
        <p:txBody>
          <a:bodyPr wrap="square" lIns="0" tIns="0" rIns="0" bIns="0" rtlCol="0" anchor="t"/>
          <a:lstStyle/>
          <a:p>
            <a:pPr indent="0" marL="0">
              <a:buNone/>
            </a:pPr>
            <a:r>
              <a:rPr lang="en-US" sz="1100" dirty="0">
                <a:solidFill>
                  <a:srgbClr val="0A0A0B"/>
                </a:solidFill>
              </a:rPr>
              <a:t>5 of 42 unsafe messages got past Llama Guard and code · 1 of 74 harmless ones refused · 9% of Glimmer calls came back empty (mostly a small budget: every call now has room to reason) · with a rule only in a member's words, Glimmer broke it in 1 of 60 talks</a:t>
            </a:r>
            <a:endParaRPr lang="en-US" sz="1100" dirty="0"/>
          </a:p>
        </p:txBody>
      </p:sp>
      <p:sp>
        <p:nvSpPr>
          <p:cNvPr id="16" name="Text 13"/>
          <p:cNvSpPr txBox="1"/>
          <p:nvPr/>
        </p:nvSpPr>
        <p:spPr>
          <a:xfrm>
            <a:off x="548640" y="6199632"/>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simulations show the agents keep what members stated; they do not show how real people react. The live club measures that.</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(2:29)</a:t>
            </a:r>
            <a:endParaRPr lang="en-US" sz="1200" dirty="0"/>
          </a:p>
          <a:p>
            <a:pPr marL="152400" indent="-152400">
              <a:spcAft>
                <a:spcPts val="500"/>
              </a:spcAft>
              <a:buSzPct val="100000"/>
              <a:buChar char="•"/>
            </a:pPr>
            <a:r>
              <a:rPr lang="en-US" sz="1200" dirty="0">
                <a:solidFill>
                  <a:srgbClr val="0A0A0B"/>
                </a:solidFill>
              </a:rPr>
              <a:t>Started Oct 28 (day 2 of the hackathon);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2:29</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Three acts, all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0:41</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1 · cold start: Leo has no account, the link joins him, and Mia hears "Game on" at once</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1:15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2 · A2A: Hana's agent makes a real counter-offer; one yes in Messenger books it (end-to-end test)</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1:25</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3 · courts: Prompt Guard 2 screens reviews, then Muse Glimmer judges (shown at 14×,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16).</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Oct 28 – Nov 4, 2026, during the hackathon · demo video 2:29 · what is new and what is not: slide 16</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https://play.theminimallab.com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 (a small test).</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2026-10-29T15:34:17Z</dcterms:created>
  <dcterms:modified xsi:type="dcterms:W3CDTF">2026-10-29T15:34:17Z</dcterms:modified>
</cp:coreProperties>
</file>