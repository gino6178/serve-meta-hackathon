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4.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929e5e-47cc-6508-a0f4-1497b065e9ea}">
          <p14:sldIdLst>
            <p14:sldId id="256"/>
            <p14:sldId id="257"/>
          </p14:sldIdLst>
        </p14:section>
        <p14:section name="Impact" id="{1d294bbf-d96c-e5c0-bac6-2f56f9859673}">
          <p14:sldIdLst>
            <p14:sldId id="258"/>
            <p14:sldId id="259"/>
          </p14:sldIdLst>
        </p14:section>
        <p14:section name="Demo" id="{f045a785-3091-a824-9c5a-8056e9bd02ec}">
          <p14:sldIdLst>
            <p14:sldId id="260"/>
            <p14:sldId id="261"/>
            <p14:sldId id="262"/>
            <p14:sldId id="263"/>
            <p14:sldId id="264"/>
            <p14:sldId id="265"/>
          </p14:sldIdLst>
        </p14:section>
        <p14:section name="Use of Meta AI" id="{eb90705e-ce7d-738b-1876-014e69ddbf86}">
          <p14:sldIdLst>
            <p14:sldId id="266"/>
            <p14:sldId id="267"/>
            <p14:sldId id="268"/>
            <p14:sldId id="269"/>
          </p14:sldIdLst>
        </p14:section>
        <p14:section name="Technical depth" id="{01c2cd1c-99da-6ed1-4a3b-2696be5b806c}">
          <p14:sldIdLst>
            <p14:sldId id="270"/>
            <p14:sldId id="271"/>
            <p14:sldId id="272"/>
            <p14:sldId id="273"/>
            <p14:sldId id="274"/>
            <p14:sldId id="275"/>
            <p14:sldId id="276"/>
            <p14:sldId id="277"/>
            <p14:sldId id="278"/>
          </p14:sldIdLst>
        </p14:section>
        <p14:section name="Architecture" id="{6618a45b-7cfe-00f7-4eb6-bc9bd578d18a}">
          <p14:sldIdLst>
            <p14:sldId id="279"/>
          </p14:sldIdLst>
        </p14:section>
        <p14:section name="Close" id="{5f67e855-97ad-ceae-18f9-eccf585e5482}">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with itself</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身體脈絡（RAG）：拿掉了 3D 肌肉圖。你在 Messenger、語音或這裡說一句話，agent 把你的原話、比賽和健康 app 的紀錄都變成筆記。
規劃這週時，用 Meta 的 DRAMA 依語意檢索，越新的筆記權重越高（身體筆記 7 天減半）。畫面上的分數是真實的 DRAMA 相似度乘上時間衰減。
規則仍由程式從紀錄決定（不讓模型發明規則），每條規則都附上來源筆記，程式檢查引用是同一個部位。
旁白：Monday, I tell it my right knee is sore. Meta's DRAMA finds what matters this week, and every rule shows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讀姿勢、找最快的揮拍 →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這週加的七件事，每一件都有量測：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網球籃球的球：WASB 接進 highlight 管線，籃球抽查 12/12 都在球上。
7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2.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image" Target="../media/image-9-4.jpeg"/><Relationship Id="rId5" Type="http://schemas.openxmlformats.org/officeDocument/2006/relationships/image" Target="../media/image-9-5.jpeg"/><Relationship Id="rId6" Type="http://schemas.openxmlformats.org/officeDocument/2006/relationships/image" Target="../media/image-9-6.jpeg"/><Relationship Id="rId7" Type="http://schemas.openxmlformats.org/officeDocument/2006/relationships/image" Target="../media/image-9-7.jpe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slideLayout" Target="../slideLayouts/slideLayout2.xml"/><Relationship Id="rId1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3.xml"/><Relationship Id="rId4"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40080"/>
            <a:ext cx="548640" cy="548640"/>
          </a:xfrm>
          <a:prstGeom prst="rect">
            <a:avLst/>
          </a:prstGeom>
        </p:spPr>
      </p:pic>
      <p:sp>
        <p:nvSpPr>
          <p:cNvPr id="3" name="Text 0"/>
          <p:cNvSpPr txBox="1"/>
          <p:nvPr/>
        </p:nvSpPr>
        <p:spPr>
          <a:xfrm>
            <a:off x="1371600" y="713232"/>
            <a:ext cx="1828800" cy="411480"/>
          </a:xfrm>
          <a:prstGeom prst="rect">
            <a:avLst/>
          </a:prstGeom>
          <a:noFill/>
          <a:ln/>
        </p:spPr>
        <p:txBody>
          <a:bodyPr wrap="square" lIns="0" tIns="0" rIns="0" bIns="0" rtlCol="0" anchor="ctr"/>
          <a:lstStyle/>
          <a:p>
            <a:pPr indent="0" marL="0">
              <a:buNone/>
            </a:pPr>
            <a:r>
              <a:rPr lang="en-US" sz="2200" b="1" dirty="0">
                <a:solidFill>
                  <a:srgbClr val="0A0A0B"/>
                </a:solidFill>
              </a:rPr>
              <a:t>Meta</a:t>
            </a:r>
            <a:endParaRPr lang="en-US" sz="2200" dirty="0"/>
          </a:p>
        </p:txBody>
      </p:sp>
      <p:sp>
        <p:nvSpPr>
          <p:cNvPr id="4" name="Text 1"/>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5" name="Text 2"/>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6" name="Shape 3"/>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7" name="Text 4"/>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8" name="Shape 5"/>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10" name="Shape 7"/>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2" name="Image 1" descr="preencoded.png">    </p:cNvPr>
          <p:cNvPicPr>
            <a:picLocks noChangeAspect="1"/>
          </p:cNvPicPr>
          <p:nvPr/>
        </p:nvPicPr>
        <p:blipFill>
          <a:blip r:embed="rId2"/>
          <a:stretch>
            <a:fillRect/>
          </a:stretch>
        </p:blipFill>
        <p:spPr>
          <a:xfrm>
            <a:off x="731520" y="5897880"/>
            <a:ext cx="384048" cy="384048"/>
          </a:xfrm>
          <a:prstGeom prst="rect">
            <a:avLst/>
          </a:prstGeom>
        </p:spPr>
      </p:pic>
      <p:sp>
        <p:nvSpPr>
          <p:cNvPr id="13" name="Text 9"/>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body,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hardware I own</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65960"/>
            <a:ext cx="2834640" cy="1097280"/>
          </a:xfrm>
          <a:prstGeom prst="rect">
            <a:avLst/>
          </a:prstGeom>
          <a:noFill/>
          <a:ln/>
        </p:spPr>
        <p:txBody>
          <a:bodyPr wrap="square" lIns="0" tIns="0" rIns="0" bIns="0" rtlCol="0" anchor="t"/>
          <a:lstStyle/>
          <a:p>
            <a:pPr indent="0" marL="0">
              <a:buNone/>
            </a:pPr>
            <a:r>
              <a:rPr lang="en-US" sz="7200" b="1" dirty="0">
                <a:solidFill>
                  <a:srgbClr val="0A7F44"/>
                </a:solidFill>
              </a:rPr>
              <a:t>31%</a:t>
            </a:r>
            <a:endParaRPr lang="en-US" sz="7200" dirty="0"/>
          </a:p>
        </p:txBody>
      </p:sp>
      <p:sp>
        <p:nvSpPr>
          <p:cNvPr id="7" name="Text 4"/>
          <p:cNvSpPr txBox="1"/>
          <p:nvPr/>
        </p:nvSpPr>
        <p:spPr>
          <a:xfrm>
            <a:off x="822960" y="3154680"/>
            <a:ext cx="2743200" cy="1005840"/>
          </a:xfrm>
          <a:prstGeom prst="rect">
            <a:avLst/>
          </a:prstGeom>
          <a:noFill/>
          <a:ln/>
        </p:spPr>
        <p:txBody>
          <a:bodyPr wrap="square" lIns="0" tIns="0" rIns="0" bIns="0" rtlCol="0" anchor="t"/>
          <a:lstStyle/>
          <a:p>
            <a:pPr indent="0" marL="0">
              <a:buNone/>
            </a:pPr>
            <a:r>
              <a:rPr lang="en-US" sz="1600" dirty="0">
                <a:solidFill>
                  <a:srgbClr val="0A0A0B"/>
                </a:solidFill>
              </a:rPr>
              <a:t>of adults worldwide did not get enough physical activity in 2022</a:t>
            </a:r>
            <a:endParaRPr lang="en-US" sz="1600" dirty="0"/>
          </a:p>
        </p:txBody>
      </p:sp>
      <p:sp>
        <p:nvSpPr>
          <p:cNvPr id="8" name="Text 5"/>
          <p:cNvSpPr txBox="1"/>
          <p:nvPr/>
        </p:nvSpPr>
        <p:spPr>
          <a:xfrm>
            <a:off x="822960" y="4206240"/>
            <a:ext cx="2743200" cy="274320"/>
          </a:xfrm>
          <a:prstGeom prst="rect">
            <a:avLst/>
          </a:prstGeom>
          <a:noFill/>
          <a:ln/>
        </p:spPr>
        <p:txBody>
          <a:bodyPr wrap="square" lIns="0" tIns="0" rIns="0" bIns="0" rtlCol="0" anchor="t"/>
          <a:lstStyle/>
          <a:p>
            <a:pPr indent="0" marL="0">
              <a:buNone/>
            </a:pPr>
            <a:r>
              <a:rPr lang="en-US" sz="1100" dirty="0">
                <a:solidFill>
                  <a:srgbClr val="55555C"/>
                </a:solidFill>
              </a:rPr>
              <a:t>World Health Organization, 2024</a:t>
            </a:r>
            <a:endParaRPr lang="en-US" sz="1100" dirty="0"/>
          </a:p>
        </p:txBody>
      </p:sp>
      <p:sp>
        <p:nvSpPr>
          <p:cNvPr id="9" name="Text 6"/>
          <p:cNvSpPr txBox="1"/>
          <p:nvPr/>
        </p:nvSpPr>
        <p:spPr>
          <a:xfrm>
            <a:off x="822960" y="4709160"/>
            <a:ext cx="2743200" cy="1188720"/>
          </a:xfrm>
          <a:prstGeom prst="rect">
            <a:avLst/>
          </a:prstGeom>
          <a:noFill/>
          <a:ln/>
        </p:spPr>
        <p:txBody>
          <a:bodyPr wrap="square" lIns="0" tIns="0" rIns="0" bIns="0" rtlCol="0" anchor="t"/>
          <a:lstStyle/>
          <a:p>
            <a:pPr indent="0" marL="0">
              <a:buNone/>
            </a:pPr>
            <a:r>
              <a:rPr lang="en-US" sz="1300" dirty="0">
                <a:solidFill>
                  <a:srgbClr val="55555C"/>
                </a:solidFill>
              </a:rPr>
              <a:t>For anyone who plays a ball sport for fun: badminton, tennis, pickleball, table tennis, basketball, volleyball, soccer.</a:t>
            </a:r>
            <a:endParaRPr lang="en-US" sz="1300" dirty="0"/>
          </a:p>
        </p:txBody>
      </p:sp>
      <p:sp>
        <p:nvSpPr>
          <p:cNvPr id="10" name="Text 7"/>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1" name="Text 8"/>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2" name="Shape 9"/>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13" name="Text 10"/>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14" name="Text 11"/>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time that suits four people, a free court, somewhere everyone can reach. The group chat goes quiet.</a:t>
            </a:r>
            <a:endParaRPr lang="en-US" sz="1200" dirty="0"/>
          </a:p>
        </p:txBody>
      </p:sp>
      <p:sp>
        <p:nvSpPr>
          <p:cNvPr id="15" name="Shape 12"/>
          <p:cNvSpPr/>
          <p:nvPr/>
        </p:nvSpPr>
        <p:spPr>
          <a:xfrm>
            <a:off x="7790688" y="2679192"/>
            <a:ext cx="182880" cy="0"/>
          </a:xfrm>
          <a:prstGeom prst="line">
            <a:avLst/>
          </a:prstGeom>
          <a:noFill/>
          <a:ln w="22225">
            <a:solidFill>
              <a:srgbClr val="8A8A92"/>
            </a:solidFill>
            <a:prstDash val="solid"/>
            <a:tailEnd type="triangle"/>
          </a:ln>
        </p:spPr>
      </p:sp>
      <p:sp>
        <p:nvSpPr>
          <p:cNvPr id="16" name="Shape 13"/>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17" name="Text 14"/>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lines up the week and agrees every game with the other players' agents. You approve once.</a:t>
            </a:r>
            <a:endParaRPr lang="en-US" sz="1300" dirty="0"/>
          </a:p>
        </p:txBody>
      </p:sp>
      <p:sp>
        <p:nvSpPr>
          <p:cNvPr id="18" name="Shape 15"/>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19" name="Text 16"/>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0" name="Text 17"/>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1" name="Shape 18"/>
          <p:cNvSpPr/>
          <p:nvPr/>
        </p:nvSpPr>
        <p:spPr>
          <a:xfrm>
            <a:off x="7790688" y="4050792"/>
            <a:ext cx="182880" cy="0"/>
          </a:xfrm>
          <a:prstGeom prst="line">
            <a:avLst/>
          </a:prstGeom>
          <a:noFill/>
          <a:ln w="22225">
            <a:solidFill>
              <a:srgbClr val="8A8A92"/>
            </a:solidFill>
            <a:prstDash val="solid"/>
            <a:tailEnd type="triangle"/>
          </a:ln>
        </p:spPr>
      </p:sp>
      <p:sp>
        <p:nvSpPr>
          <p:cNvPr id="22" name="Shape 19"/>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23" name="Text 20"/>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24" name="Shape 21"/>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25" name="Text 22"/>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26" name="Text 23"/>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27" name="Shape 24"/>
          <p:cNvSpPr/>
          <p:nvPr/>
        </p:nvSpPr>
        <p:spPr>
          <a:xfrm>
            <a:off x="7790688" y="5422392"/>
            <a:ext cx="182880" cy="0"/>
          </a:xfrm>
          <a:prstGeom prst="line">
            <a:avLst/>
          </a:prstGeom>
          <a:noFill/>
          <a:ln w="22225">
            <a:solidFill>
              <a:srgbClr val="8A8A92"/>
            </a:solidFill>
            <a:prstDash val="solid"/>
            <a:tailEnd type="triangle"/>
          </a:ln>
        </p:spPr>
      </p:sp>
      <p:sp>
        <p:nvSpPr>
          <p:cNvPr id="28" name="Shape 25"/>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29" name="Text 26"/>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"My right knee is sore"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load</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the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DEMO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MONDAY · BODY CONTEXT WITH META'S DRAMA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Say it once. Every rule shows where it came from</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What matters this week, by meaning</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Rules, each with its sources</a:t>
            </a:r>
            <a:endParaRPr lang="en-US" sz="1050" dirty="0"/>
          </a:p>
        </p:txBody>
      </p:sp>
      <p:sp>
        <p:nvSpPr>
          <p:cNvPr id="11" name="Shape 6"/>
          <p:cNvSpPr/>
          <p:nvPr/>
        </p:nvSpPr>
        <p:spPr>
          <a:xfrm>
            <a:off x="5669280" y="1783080"/>
            <a:ext cx="384048" cy="384048"/>
          </a:xfrm>
          <a:prstGeom prst="ellipse">
            <a:avLst/>
          </a:prstGeom>
          <a:solidFill>
            <a:srgbClr val="0A7F44"/>
          </a:solidFill>
          <a:ln w="12700">
            <a:solidFill>
              <a:srgbClr val="0A7F44"/>
            </a:solidFill>
            <a:prstDash val="solid"/>
          </a:ln>
        </p:spPr>
      </p:sp>
      <p:sp>
        <p:nvSpPr>
          <p:cNvPr id="12" name="Text 7"/>
          <p:cNvSpPr txBox="1"/>
          <p:nvPr/>
        </p:nvSpPr>
        <p:spPr>
          <a:xfrm>
            <a:off x="5669280" y="1783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3" name="Text 8"/>
          <p:cNvSpPr txBox="1"/>
          <p:nvPr/>
        </p:nvSpPr>
        <p:spPr>
          <a:xfrm>
            <a:off x="6217920" y="1755648"/>
            <a:ext cx="5394960" cy="292608"/>
          </a:xfrm>
          <a:prstGeom prst="rect">
            <a:avLst/>
          </a:prstGeom>
          <a:noFill/>
          <a:ln/>
        </p:spPr>
        <p:txBody>
          <a:bodyPr wrap="square" lIns="0" tIns="0" rIns="0" bIns="0" rtlCol="0" anchor="t"/>
          <a:lstStyle/>
          <a:p>
            <a:pPr indent="0" marL="0">
              <a:buNone/>
            </a:pPr>
            <a:r>
              <a:rPr lang="en-US" sz="1500" b="1" dirty="0">
                <a:solidFill>
                  <a:srgbClr val="0A0A0B"/>
                </a:solidFill>
              </a:rPr>
              <a:t>Notes from what you said and what was recorded</a:t>
            </a:r>
            <a:endParaRPr lang="en-US" sz="1500" dirty="0"/>
          </a:p>
        </p:txBody>
      </p:sp>
      <p:sp>
        <p:nvSpPr>
          <p:cNvPr id="14" name="Text 9"/>
          <p:cNvSpPr txBox="1"/>
          <p:nvPr/>
        </p:nvSpPr>
        <p:spPr>
          <a:xfrm>
            <a:off x="6217920" y="2057400"/>
            <a:ext cx="5394960" cy="731520"/>
          </a:xfrm>
          <a:prstGeom prst="rect">
            <a:avLst/>
          </a:prstGeom>
          <a:noFill/>
          <a:ln/>
        </p:spPr>
        <p:txBody>
          <a:bodyPr wrap="square" lIns="0" tIns="0" rIns="0" bIns="0" rtlCol="0" anchor="t"/>
          <a:lstStyle/>
          <a:p>
            <a:pPr indent="0" marL="0">
              <a:buNone/>
            </a:pPr>
            <a:r>
              <a:rPr lang="en-US" sz="1200" dirty="0">
                <a:solidFill>
                  <a:srgbClr val="55555C"/>
                </a:solidFill>
              </a:rPr>
              <a:t>Your words from Messenger, a voice note or the app; each week's load from your games and health app; what you told your agent before.</a:t>
            </a:r>
            <a:endParaRPr lang="en-US" sz="1200" dirty="0"/>
          </a:p>
        </p:txBody>
      </p:sp>
      <p:sp>
        <p:nvSpPr>
          <p:cNvPr id="15" name="Shape 10"/>
          <p:cNvSpPr/>
          <p:nvPr/>
        </p:nvSpPr>
        <p:spPr>
          <a:xfrm>
            <a:off x="5669280" y="2862072"/>
            <a:ext cx="384048" cy="384048"/>
          </a:xfrm>
          <a:prstGeom prst="ellipse">
            <a:avLst/>
          </a:prstGeom>
          <a:solidFill>
            <a:srgbClr val="0A7F44"/>
          </a:solidFill>
          <a:ln w="12700">
            <a:solidFill>
              <a:srgbClr val="0A7F44"/>
            </a:solidFill>
            <a:prstDash val="solid"/>
          </a:ln>
        </p:spPr>
      </p:sp>
      <p:sp>
        <p:nvSpPr>
          <p:cNvPr id="16" name="Text 11"/>
          <p:cNvSpPr txBox="1"/>
          <p:nvPr/>
        </p:nvSpPr>
        <p:spPr>
          <a:xfrm>
            <a:off x="5669280" y="2862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7" name="Text 12"/>
          <p:cNvSpPr txBox="1"/>
          <p:nvPr/>
        </p:nvSpPr>
        <p:spPr>
          <a:xfrm>
            <a:off x="6217920" y="2834640"/>
            <a:ext cx="5394960" cy="292608"/>
          </a:xfrm>
          <a:prstGeom prst="rect">
            <a:avLst/>
          </a:prstGeom>
          <a:noFill/>
          <a:ln/>
        </p:spPr>
        <p:txBody>
          <a:bodyPr wrap="square" lIns="0" tIns="0" rIns="0" bIns="0" rtlCol="0" anchor="t"/>
          <a:lstStyle/>
          <a:p>
            <a:pPr indent="0" marL="0">
              <a:buNone/>
            </a:pPr>
            <a:r>
              <a:rPr lang="en-US" sz="1500" b="1" dirty="0">
                <a:solidFill>
                  <a:srgbClr val="0A0A0B"/>
                </a:solidFill>
              </a:rPr>
              <a:t>Found by meaning with Meta's DRAMA</a:t>
            </a:r>
            <a:endParaRPr lang="en-US" sz="1500" dirty="0"/>
          </a:p>
        </p:txBody>
      </p:sp>
      <p:sp>
        <p:nvSpPr>
          <p:cNvPr id="18" name="Text 13"/>
          <p:cNvSpPr txBox="1"/>
          <p:nvPr/>
        </p:nvSpPr>
        <p:spPr>
          <a:xfrm>
            <a:off x="6217920" y="3136392"/>
            <a:ext cx="5394960" cy="731520"/>
          </a:xfrm>
          <a:prstGeom prst="rect">
            <a:avLst/>
          </a:prstGeom>
          <a:noFill/>
          <a:ln/>
        </p:spPr>
        <p:txBody>
          <a:bodyPr wrap="square" lIns="0" tIns="0" rIns="0" bIns="0" rtlCol="0" anchor="t"/>
          <a:lstStyle/>
          <a:p>
            <a:pPr indent="0" marL="0">
              <a:buNone/>
            </a:pPr>
            <a:r>
              <a:rPr lang="en-US" sz="1200" dirty="0">
                <a:solidFill>
                  <a:srgbClr val="55555C"/>
                </a:solidFill>
              </a:rPr>
              <a:t>The planner's question against every note, on the server's CPU. Recent notes count more: a body note keeps half its weight after a week.</a:t>
            </a:r>
            <a:endParaRPr lang="en-US" sz="1200" dirty="0"/>
          </a:p>
        </p:txBody>
      </p:sp>
      <p:sp>
        <p:nvSpPr>
          <p:cNvPr id="19" name="Shape 14"/>
          <p:cNvSpPr/>
          <p:nvPr/>
        </p:nvSpPr>
        <p:spPr>
          <a:xfrm>
            <a:off x="5669280" y="3941064"/>
            <a:ext cx="384048" cy="384048"/>
          </a:xfrm>
          <a:prstGeom prst="ellipse">
            <a:avLst/>
          </a:prstGeom>
          <a:solidFill>
            <a:srgbClr val="0A7F44"/>
          </a:solidFill>
          <a:ln w="12700">
            <a:solidFill>
              <a:srgbClr val="0A7F44"/>
            </a:solidFill>
            <a:prstDash val="solid"/>
          </a:ln>
        </p:spPr>
      </p:sp>
      <p:sp>
        <p:nvSpPr>
          <p:cNvPr id="20" name="Text 15"/>
          <p:cNvSpPr txBox="1"/>
          <p:nvPr/>
        </p:nvSpPr>
        <p:spPr>
          <a:xfrm>
            <a:off x="5669280" y="39410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21" name="Text 16"/>
          <p:cNvSpPr txBox="1"/>
          <p:nvPr/>
        </p:nvSpPr>
        <p:spPr>
          <a:xfrm>
            <a:off x="6217920" y="3913632"/>
            <a:ext cx="5394960" cy="292608"/>
          </a:xfrm>
          <a:prstGeom prst="rect">
            <a:avLst/>
          </a:prstGeom>
          <a:noFill/>
          <a:ln/>
        </p:spPr>
        <p:txBody>
          <a:bodyPr wrap="square" lIns="0" tIns="0" rIns="0" bIns="0" rtlCol="0" anchor="t"/>
          <a:lstStyle/>
          <a:p>
            <a:pPr indent="0" marL="0">
              <a:buNone/>
            </a:pPr>
            <a:r>
              <a:rPr lang="en-US" sz="1500" b="1" dirty="0">
                <a:solidFill>
                  <a:srgbClr val="0A0A0B"/>
                </a:solidFill>
              </a:rPr>
              <a:t>Rules decided by code, each citing its notes</a:t>
            </a:r>
            <a:endParaRPr lang="en-US" sz="1500" dirty="0"/>
          </a:p>
        </p:txBody>
      </p:sp>
      <p:sp>
        <p:nvSpPr>
          <p:cNvPr id="22" name="Text 17"/>
          <p:cNvSpPr txBox="1"/>
          <p:nvPr/>
        </p:nvSpPr>
        <p:spPr>
          <a:xfrm>
            <a:off x="6217920" y="4215384"/>
            <a:ext cx="5394960" cy="731520"/>
          </a:xfrm>
          <a:prstGeom prst="rect">
            <a:avLst/>
          </a:prstGeom>
          <a:noFill/>
          <a:ln/>
        </p:spPr>
        <p:txBody>
          <a:bodyPr wrap="square" lIns="0" tIns="0" rIns="0" bIns="0" rtlCol="0" anchor="t"/>
          <a:lstStyle/>
          <a:p>
            <a:pPr indent="0" marL="0">
              <a:buNone/>
            </a:pPr>
            <a:r>
              <a:rPr lang="en-US" sz="1200" dirty="0">
                <a:solidFill>
                  <a:srgbClr val="55555C"/>
                </a:solidFill>
              </a:rPr>
              <a:t>Doubles first, no jump sports, one game fewer in a heavy week. A citation must be a real note about the same body part, checked by code.</a:t>
            </a:r>
            <a:endParaRPr lang="en-US" sz="1200" dirty="0"/>
          </a:p>
        </p:txBody>
      </p:sp>
      <p:sp>
        <p:nvSpPr>
          <p:cNvPr id="23" name="Shape 18"/>
          <p:cNvSpPr/>
          <p:nvPr/>
        </p:nvSpPr>
        <p:spPr>
          <a:xfrm>
            <a:off x="5669280" y="5020056"/>
            <a:ext cx="384048" cy="384048"/>
          </a:xfrm>
          <a:prstGeom prst="ellipse">
            <a:avLst/>
          </a:prstGeom>
          <a:solidFill>
            <a:srgbClr val="0A7F44"/>
          </a:solidFill>
          <a:ln w="12700">
            <a:solidFill>
              <a:srgbClr val="0A7F44"/>
            </a:solidFill>
            <a:prstDash val="solid"/>
          </a:ln>
        </p:spPr>
      </p:sp>
      <p:sp>
        <p:nvSpPr>
          <p:cNvPr id="24" name="Text 19"/>
          <p:cNvSpPr txBox="1"/>
          <p:nvPr/>
        </p:nvSpPr>
        <p:spPr>
          <a:xfrm>
            <a:off x="5669280" y="502005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5" name="Text 20"/>
          <p:cNvSpPr txBox="1"/>
          <p:nvPr/>
        </p:nvSpPr>
        <p:spPr>
          <a:xfrm>
            <a:off x="6217920" y="4992624"/>
            <a:ext cx="5394960" cy="292608"/>
          </a:xfrm>
          <a:prstGeom prst="rect">
            <a:avLst/>
          </a:prstGeom>
          <a:noFill/>
          <a:ln/>
        </p:spPr>
        <p:txBody>
          <a:bodyPr wrap="square" lIns="0" tIns="0" rIns="0" bIns="0" rtlCol="0" anchor="t"/>
          <a:lstStyle/>
          <a:p>
            <a:pPr indent="0" marL="0">
              <a:buNone/>
            </a:pPr>
            <a:r>
              <a:rPr lang="en-US" sz="1500" b="1" dirty="0">
                <a:solidFill>
                  <a:srgbClr val="0A0A0B"/>
                </a:solidFill>
              </a:rPr>
              <a:t>The planner gets the same context</a:t>
            </a:r>
            <a:endParaRPr lang="en-US" sz="1500" dirty="0"/>
          </a:p>
        </p:txBody>
      </p:sp>
      <p:sp>
        <p:nvSpPr>
          <p:cNvPr id="26" name="Text 21"/>
          <p:cNvSpPr txBox="1"/>
          <p:nvPr/>
        </p:nvSpPr>
        <p:spPr>
          <a:xfrm>
            <a:off x="6217920" y="5294376"/>
            <a:ext cx="5394960" cy="731520"/>
          </a:xfrm>
          <a:prstGeom prst="rect">
            <a:avLst/>
          </a:prstGeom>
          <a:noFill/>
          <a:ln/>
        </p:spPr>
        <p:txBody>
          <a:bodyPr wrap="square" lIns="0" tIns="0" rIns="0" bIns="0" rtlCol="0" anchor="t"/>
          <a:lstStyle/>
          <a:p>
            <a:pPr indent="0" marL="0">
              <a:buNone/>
            </a:pPr>
            <a:r>
              <a:rPr lang="en-US" sz="1200" dirty="0">
                <a:solidFill>
                  <a:srgbClr val="55555C"/>
                </a:solidFill>
              </a:rPr>
              <a:t>check_body hands the top notes and the cited rules to Muse Glimmer when it plans your week. A record, never a diagnosis.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Courts, judged with their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FIVE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clip becomes your moment, on my GPU</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reads the pose, finds the fastest swing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20°</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and Meta's apps, each with a job</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54–67% of members' decisions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simulated club</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what matters for your week by meaning (RAG); groups the club's ideas</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player's pose on every frame; finds the moment</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Messenger: your agent in your chats; join with Facebook or IG;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pic>
        <p:nvPicPr>
          <p:cNvPr id="86" name="Image 1" descr="preencoded.png">    </p:cNvPr>
          <p:cNvPicPr>
            <a:picLocks noChangeAspect="1"/>
          </p:cNvPicPr>
          <p:nvPr/>
        </p:nvPicPr>
        <p:blipFill>
          <a:blip r:embed="rId2"/>
          <a:stretch>
            <a:fillRect/>
          </a:stretch>
        </p:blipFill>
        <p:spPr>
          <a:xfrm>
            <a:off x="548640" y="6089904"/>
            <a:ext cx="274320" cy="274320"/>
          </a:xfrm>
          <a:prstGeom prst="rect">
            <a:avLst/>
          </a:prstGeom>
        </p:spPr>
      </p:pic>
      <p:sp>
        <p:nvSpPr>
          <p:cNvPr id="87" name="Text 82"/>
          <p:cNvSpPr txBox="1"/>
          <p:nvPr/>
        </p:nvSpPr>
        <p:spPr>
          <a:xfrm>
            <a:off x="914400" y="6089904"/>
            <a:ext cx="10515600" cy="274320"/>
          </a:xfrm>
          <a:prstGeom prst="rect">
            <a:avLst/>
          </a:prstGeom>
          <a:noFill/>
          <a:ln/>
        </p:spPr>
        <p:txBody>
          <a:bodyPr wrap="square" lIns="0" tIns="0" rIns="0" bIns="0" rtlCol="0" anchor="ctr"/>
          <a:lstStyle/>
          <a:p>
            <a:pPr indent="0" marL="0">
              <a:buNone/>
            </a:pPr>
            <a:r>
              <a:rPr lang="en-US" sz="1200" b="1" dirty="0">
                <a:solidFill>
                  <a:srgbClr val="0A0A0B"/>
                </a:solidFill>
              </a:rPr>
              <a:t>Ten open-weights models on hardware I own; five on the Meta Model API. Every agent follows Meta's Agents Rule of Two.</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71800"/>
            <a:ext cx="1170432" cy="329184"/>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get_week</a:t>
            </a:r>
            <a:endParaRPr lang="en-US" sz="1050" dirty="0"/>
          </a:p>
        </p:txBody>
      </p:sp>
      <p:sp>
        <p:nvSpPr>
          <p:cNvPr id="10" name="Shape 7"/>
          <p:cNvSpPr/>
          <p:nvPr/>
        </p:nvSpPr>
        <p:spPr>
          <a:xfrm>
            <a:off x="2020824" y="2971800"/>
            <a:ext cx="1170432" cy="329184"/>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020824"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check_body</a:t>
            </a:r>
            <a:endParaRPr lang="en-US" sz="1050" dirty="0"/>
          </a:p>
        </p:txBody>
      </p:sp>
      <p:sp>
        <p:nvSpPr>
          <p:cNvPr id="12" name="Shape 9"/>
          <p:cNvSpPr/>
          <p:nvPr/>
        </p:nvSpPr>
        <p:spPr>
          <a:xfrm>
            <a:off x="3264408" y="2971800"/>
            <a:ext cx="1170432" cy="329184"/>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3264408"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find_partners</a:t>
            </a:r>
            <a:endParaRPr lang="en-US" sz="1050" dirty="0"/>
          </a:p>
        </p:txBody>
      </p:sp>
      <p:sp>
        <p:nvSpPr>
          <p:cNvPr id="14" name="Shape 11"/>
          <p:cNvSpPr/>
          <p:nvPr/>
        </p:nvSpPr>
        <p:spPr>
          <a:xfrm>
            <a:off x="4507992" y="2971800"/>
            <a:ext cx="1170432" cy="329184"/>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4507992" y="29718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find_places</a:t>
            </a:r>
            <a:endParaRPr lang="en-US" sz="1050" dirty="0"/>
          </a:p>
        </p:txBody>
      </p:sp>
      <p:sp>
        <p:nvSpPr>
          <p:cNvPr id="16" name="Shape 13"/>
          <p:cNvSpPr/>
          <p:nvPr/>
        </p:nvSpPr>
        <p:spPr>
          <a:xfrm>
            <a:off x="777240" y="3429000"/>
            <a:ext cx="1170432" cy="329184"/>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777240"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negotiate</a:t>
            </a:r>
            <a:endParaRPr lang="en-US" sz="1050" dirty="0"/>
          </a:p>
        </p:txBody>
      </p:sp>
      <p:sp>
        <p:nvSpPr>
          <p:cNvPr id="18" name="Shape 15"/>
          <p:cNvSpPr/>
          <p:nvPr/>
        </p:nvSpPr>
        <p:spPr>
          <a:xfrm>
            <a:off x="2020824" y="3429000"/>
            <a:ext cx="1170432" cy="329184"/>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2020824"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request_approval</a:t>
            </a:r>
            <a:endParaRPr lang="en-US" sz="1050" dirty="0"/>
          </a:p>
        </p:txBody>
      </p:sp>
      <p:sp>
        <p:nvSpPr>
          <p:cNvPr id="20" name="Shape 17"/>
          <p:cNvSpPr/>
          <p:nvPr/>
        </p:nvSpPr>
        <p:spPr>
          <a:xfrm>
            <a:off x="3264408" y="3429000"/>
            <a:ext cx="1170432" cy="329184"/>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3264408"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nudge</a:t>
            </a:r>
            <a:endParaRPr lang="en-US" sz="1050" dirty="0"/>
          </a:p>
        </p:txBody>
      </p:sp>
      <p:sp>
        <p:nvSpPr>
          <p:cNvPr id="22" name="Shape 19"/>
          <p:cNvSpPr/>
          <p:nvPr/>
        </p:nvSpPr>
        <p:spPr>
          <a:xfrm>
            <a:off x="4507992" y="3429000"/>
            <a:ext cx="1170432" cy="329184"/>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4507992" y="3429000"/>
            <a:ext cx="1170432" cy="329184"/>
          </a:xfrm>
          <a:prstGeom prst="rect">
            <a:avLst/>
          </a:prstGeom>
          <a:noFill/>
          <a:ln/>
        </p:spPr>
        <p:txBody>
          <a:bodyPr wrap="square" lIns="0" tIns="0" rIns="0" bIns="0" rtlCol="0" anchor="ctr"/>
          <a:lstStyle/>
          <a:p>
            <a:pPr algn="ctr" indent="0" marL="0">
              <a:buNone/>
            </a:pPr>
            <a:r>
              <a:rPr lang="en-US" sz="1050" b="1" dirty="0">
                <a:solidFill>
                  <a:srgbClr val="0A7F44"/>
                </a:solidFill>
              </a:rPr>
              <a:t>finish</a:t>
            </a:r>
            <a:endParaRPr lang="en-US" sz="1050" dirty="0"/>
          </a:p>
        </p:txBody>
      </p:sp>
      <p:sp>
        <p:nvSpPr>
          <p:cNvPr id="24" name="Text 21"/>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5" name="Shape 22"/>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6" name="Text 23"/>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7" name="Text 24"/>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28" name="Text 25"/>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29" name="Text 26"/>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0" name="Text 27"/>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1" name="Text 28"/>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2" name="Text 29"/>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3" name="Text 30"/>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4" name="Text 31"/>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5" name="Text 32"/>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6" name="Shape 33"/>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7" name="Text 34"/>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38" name="Text 35"/>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finds where your turn ends; 25 languages, code-switching</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logged</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fewer Glimmer calls,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up, and answering within 8 to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 Muse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450 tokens, 24 to 40 s</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hardest choices and 96% of the test set; Glimmer takes the rest. Glimmer alone agrees with itself 73.5% on these.</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RAG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Found by meaning with Meta's DRAMA,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Seven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(DRAMA 0.75): the memory is free for commercial use</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064E0"/>
          </a:solidFill>
          <a:ln w="12700">
            <a:solidFill>
              <a:srgbClr val="0064E0"/>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ball in tennis and basketball</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WASB's tennis and basketball trackers, wired into the highlight pipeline</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Basketball: every checked mark was on the ball (12 of 12); about 15 s a 20 s clip on the GPU</a:t>
            </a:r>
            <a:endParaRPr lang="en-US" sz="1100" dirty="0"/>
          </a:p>
        </p:txBody>
      </p:sp>
      <p:sp>
        <p:nvSpPr>
          <p:cNvPr id="41" name="Shape 38"/>
          <p:cNvSpPr/>
          <p:nvPr/>
        </p:nvSpPr>
        <p:spPr>
          <a:xfrm>
            <a:off x="548640" y="5577840"/>
            <a:ext cx="347472" cy="347472"/>
          </a:xfrm>
          <a:prstGeom prst="ellipse">
            <a:avLst/>
          </a:prstGeom>
          <a:solidFill>
            <a:srgbClr val="0A7F44"/>
          </a:solidFill>
          <a:ln w="12700">
            <a:solidFill>
              <a:srgbClr val="0A7F44"/>
            </a:solidFill>
            <a:prstDash val="solid"/>
          </a:ln>
        </p:spPr>
      </p:sp>
      <p:sp>
        <p:nvSpPr>
          <p:cNvPr id="42" name="Text 39"/>
          <p:cNvSpPr txBox="1"/>
          <p:nvPr/>
        </p:nvSpPr>
        <p:spPr>
          <a:xfrm>
            <a:off x="548640" y="55778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43" name="Text 40"/>
          <p:cNvSpPr txBox="1"/>
          <p:nvPr/>
        </p:nvSpPr>
        <p:spPr>
          <a:xfrm>
            <a:off x="1051560" y="55046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44" name="Text 41"/>
          <p:cNvSpPr txBox="1"/>
          <p:nvPr/>
        </p:nvSpPr>
        <p:spPr>
          <a:xfrm>
            <a:off x="1051560" y="577900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45" name="Shape 42"/>
          <p:cNvSpPr/>
          <p:nvPr/>
        </p:nvSpPr>
        <p:spPr>
          <a:xfrm>
            <a:off x="5486400" y="5486400"/>
            <a:ext cx="6126480" cy="530352"/>
          </a:xfrm>
          <a:prstGeom prst="roundRect">
            <a:avLst>
              <a:gd name="adj" fmla="val 20690"/>
            </a:avLst>
          </a:prstGeom>
          <a:solidFill>
            <a:srgbClr val="F6F7F8"/>
          </a:solidFill>
          <a:ln w="12700">
            <a:solidFill>
              <a:srgbClr val="F6F7F8"/>
            </a:solidFill>
            <a:prstDash val="solid"/>
          </a:ln>
        </p:spPr>
      </p:sp>
      <p:sp>
        <p:nvSpPr>
          <p:cNvPr id="46" name="Text 43"/>
          <p:cNvSpPr txBox="1"/>
          <p:nvPr/>
        </p:nvSpPr>
        <p:spPr>
          <a:xfrm>
            <a:off x="5650992" y="54864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end to end 58 of 58, 201 crash-matrix assertions,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329184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329184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prober · technical report 3.13</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383280" cy="1143000"/>
          </a:xfrm>
          <a:prstGeom prst="rect">
            <a:avLst/>
          </a:prstGeom>
          <a:noFill/>
          <a:ln/>
        </p:spPr>
        <p:txBody>
          <a:bodyPr wrap="square" lIns="0" tIns="0" rIns="0" bIns="0" rtlCol="0" anchor="ctr"/>
          <a:lstStyle/>
          <a:p>
            <a:pPr indent="0" marL="0">
              <a:buNone/>
            </a:pPr>
            <a:r>
              <a:rPr lang="en-US" sz="1150" dirty="0">
                <a:solidFill>
                  <a:srgbClr val="0A0A0B"/>
                </a:solidFill>
              </a:rPr>
              <a:t>attacks stopped: injected instructions, poisoned reviews, forged Agent Cards, sock-puppet votes, diffs that book without a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400800" y="384048"/>
            <a:ext cx="521208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400800" y="384048"/>
            <a:ext cx="5212080" cy="329184"/>
          </a:xfrm>
          <a:prstGeom prst="rect">
            <a:avLst/>
          </a:prstGeom>
          <a:noFill/>
          <a:ln/>
        </p:spPr>
        <p:txBody>
          <a:bodyPr wrap="square" lIns="0" tIns="0" rIns="0" bIns="0" rtlCol="0" anchor="ctr"/>
          <a:lstStyle/>
          <a:p>
            <a:pPr algn="ctr" indent="0" marL="0">
              <a:buNone/>
            </a:pPr>
            <a:r>
              <a:rPr lang="en-US" sz="1050" b="1" dirty="0">
                <a:solidFill>
                  <a:srgbClr val="55555C"/>
                </a:solidFill>
              </a:rPr>
              <a:t>Simulated club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Messenger 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Every number names the file it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20/20</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crash checks, stand-in model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64240" cy="914400"/>
        </p:xfrm>
        <a:graphic>
          <a:graphicData uri="http://schemas.openxmlformats.org/drawingml/2006/table">
            <a:tbl>
              <a:tblPr/>
              <a:tblGrid>
                <a:gridCol w="4572000"/>
                <a:gridCol w="3566160"/>
                <a:gridCol w="2926080"/>
              </a:tblGrid>
              <a:tr h="34747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npm test, 23 offline suites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264 passed, 0 failed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No model, no GPU</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Messenger end to end (test/e2e.mjs)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58 of 58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Attacks (test/redteam.mjs)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93 of 93 stopped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cloud A100, twice</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Community loop's attacks, within the 93</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29 of 29 stopped, 5 of 5 controls passed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The server's CPU, with the real guards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A2A between two gateways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22 of 22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Taipei GPU server and a GCP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Crash matrix</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20 of 20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stand-in model</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A federation of three clubs (test/federation_unit.mjs)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4 of 4: found, signed, rotated, forgery refused</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Real HTTP, one host</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47472">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"I want to play" in Messenger</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13 of 13 checks</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200" dirty="0">
                          <a:solidFill>
                            <a:srgbClr val="0A0A0B"/>
                          </a:solidFill>
                          <a:latin typeface="Segoe UI" pitchFamily="34" charset="0"/>
                          <a:ea typeface="Segoe UI" pitchFamily="34" charset="-122"/>
                          <a:cs typeface="Segoe UI" pitchFamily="34" charset="-120"/>
                        </a:rPr>
                        <a:t>Muse Glimmer on a cloud A100</a:t>
                      </a:r>
                      <a:endParaRPr lang="en-US" sz="12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Body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find you, read your pose, cut you out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Highlights to Instagram and Facebook</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Meta Global AI Developer Hackathon, Oct 27 – Nov 4, 2026: everything except the TrackNetV5 library</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a:t>
            </a:r>
            <a:endParaRPr lang="en-US" sz="1300" dirty="0"/>
          </a:p>
        </p:txBody>
      </p:sp>
      <p:pic>
        <p:nvPicPr>
          <p:cNvPr id="14" name="Image 1" descr="preencoded.png">    </p:cNvPr>
          <p:cNvPicPr>
            <a:picLocks noChangeAspect="1"/>
          </p:cNvPicPr>
          <p:nvPr/>
        </p:nvPicPr>
        <p:blipFill>
          <a:blip r:embed="rId2"/>
          <a:stretch>
            <a:fillRect/>
          </a:stretch>
        </p:blipFill>
        <p:spPr>
          <a:xfrm>
            <a:off x="2926080" y="6035040"/>
            <a:ext cx="329184" cy="329184"/>
          </a:xfrm>
          <a:prstGeom prst="rect">
            <a:avLst/>
          </a:prstGeom>
        </p:spPr>
      </p:pic>
      <p:sp>
        <p:nvSpPr>
          <p:cNvPr id="15" name="Text 11"/>
          <p:cNvSpPr txBox="1"/>
          <p:nvPr/>
        </p:nvSpPr>
        <p:spPr>
          <a:xfrm>
            <a:off x="3346704" y="6035040"/>
            <a:ext cx="6400800" cy="329184"/>
          </a:xfrm>
          <a:prstGeom prst="rect">
            <a:avLst/>
          </a:prstGeom>
          <a:noFill/>
          <a:ln/>
        </p:spPr>
        <p:txBody>
          <a:bodyPr wrap="square" lIns="0" tIns="0" rIns="0" bIns="0" rtlCol="0" anchor="ctr"/>
          <a:lstStyle/>
          <a:p>
            <a:pPr indent="0" marL="0">
              <a:buNone/>
            </a:pPr>
            <a:r>
              <a:rPr lang="en-US" sz="1300" dirty="0">
                <a:solidFill>
                  <a:srgbClr val="55555C"/>
                </a:solidFill>
              </a:rPr>
              <a:t>Built on Muse Glimmer, Meta's open-weights model, on hardware you own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2026-10-29T05:23:50Z</dcterms:created>
  <dcterms:modified xsi:type="dcterms:W3CDTF">2026-10-29T05:23:50Z</dcterms:modified>
</cp:coreProperties>
</file>