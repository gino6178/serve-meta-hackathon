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4.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e582dad2-fd66-d20f-8532-a0a8d700ca45}">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Lst>
        </p14:section>
        <p14:section name="Appendix" id="{38ee5c7e-e56d-0b65-9413-dd84cd51a856}">
          <p14:sldIdLst>
            <p14:sldId id="274"/>
            <p14:sldId id="275"/>
            <p14:sldId id="276"/>
            <p14:sldId id="277"/>
            <p14:sldId id="278"/>
            <p14:sldId id="279"/>
            <p14:sldId id="280"/>
            <p14:sldId id="281"/>
            <p14:sldId id="282"/>
            <p14:sldId id="283"/>
            <p14:sldId id="284"/>
            <p14:sldId id="285"/>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A0A0B"/>
                </a:solidFill>
                <a:latin typeface="+mn-lt"/>
              </a:defRPr>
            </a:pPr>
            <a:r>
              <a:rPr sz="1100" b="0" i="0" u="none" strike="noStrike">
                <a:solidFill>
                  <a:srgbClr val="0A0A0B"/>
                </a:solidFill>
                <a:latin typeface="+mn-lt"/>
              </a:rPr>
              <a:t>Agrees with Glimmer, 500 held-out cases, 95% intervals: the same within them</a:t>
            </a:r>
          </a:p>
        </c:rich>
      </c:tx>
      <c:layout/>
      <c:overlay val="0"/>
    </c:title>
    <c:autoTitleDeleted val="0"/>
    <c:plotArea>
      <c:layout/>
      <c:barChart>
        <c:barDir val="bar"/>
        <c:grouping val="clustered"/>
        <c:varyColors val="0"/>
        <c:ser>
          <c:idx val="0"/>
          <c:order val="0"/>
          <c:tx>
            <c:strRef>
              <c:f>Sheet1!$B$1</c:f>
              <c:strCache>
                <c:ptCount val="1"/>
                <c:pt idx="0">
                  <c:v>Agrees with Glimmer's answer</c:v>
                </c:pt>
              </c:strCache>
            </c:strRef>
          </c:tx>
          <c:spPr>
            <a:solidFill>
              <a:srgbClr val="8A8A92"/>
            </a:solidFill>
            <a:effectLst/>
          </c:spPr>
          <c:invertIfNegative val="0"/>
          <c:dLbls>
            <c:numFmt formatCode="0.0&quot;%&quot;" sourceLinked="0"/>
            <c:txPr>
              <a:bodyPr/>
              <a:lstStyle/>
              <a:p>
                <a:pPr>
                  <a:defRPr b="1" i="0" strike="noStrike" sz="1100" u="none">
                    <a:solidFill>
                      <a:srgbClr val="0A0A0B"/>
                    </a:solidFill>
                    <a:latin typeface="+mn-lt"/>
                  </a:defRPr>
                </a:pPr>
              </a:p>
            </c:txPr>
            <c:showLegendKey val="0"/>
            <c:showVal val="1"/>
            <c:showCatName val="0"/>
            <c:showSerName val="0"/>
            <c:showPercent val="0"/>
            <c:showBubbleSize val="0"/>
            <c:showLeaderLines val="0"/>
          </c:dLbls>
          <c:dPt>
            <c:idx val="0"/>
            <c:invertIfNegative val="0"/>
            <c:bubble3D val="0"/>
            <c:spPr>
              <a:solidFill>
                <a:srgbClr val="8A8A92"/>
              </a:solidFill>
              <a:effectLst/>
            </c:spPr>
          </c:dPt>
          <c:dPt>
            <c:idx val="1"/>
            <c:invertIfNegative val="0"/>
            <c:bubble3D val="0"/>
            <c:spPr>
              <a:solidFill>
                <a:srgbClr val="DCDCE0"/>
              </a:solidFill>
              <a:effectLst/>
            </c:spPr>
          </c:dPt>
          <c:dPt>
            <c:idx val="2"/>
            <c:invertIfNegative val="0"/>
            <c:bubble3D val="0"/>
            <c:spPr>
              <a:solidFill>
                <a:srgbClr val="0A7F44"/>
              </a:solidFill>
              <a:effectLst/>
            </c:spPr>
          </c:dPt>
          <c:cat>
            <c:multiLvlStrRef>
              <c:f>Sheet1!$A$2:$A$4</c:f>
              <c:multiLvlStrCache>
                <c:ptCount val="3"/>
                <c:lvl>
                  <c:pt idx="0">
                    <c:v>Glimmer vs itself [87.1–90.3]</c:v>
                  </c:pt>
                  <c:pt idx="1">
                    <c:v>First time listed</c:v>
                  </c:pt>
                  <c:pt idx="2">
                    <c:v>1B student [87.9–91.0]</c:v>
                  </c:pt>
                </c:lvl>
              </c:multiLvlStrCache>
            </c:multiLvlStrRef>
          </c:cat>
          <c:val>
            <c:numRef>
              <c:f>Sheet1!$B$2:$B$4</c:f>
              <c:numCache>
                <c:formatCode>General</c:formatCode>
                <c:ptCount val="3"/>
                <c:pt idx="0">
                  <c:v>88.8</c:v>
                </c:pt>
                <c:pt idx="1">
                  <c:v>82.7</c:v>
                </c:pt>
                <c:pt idx="2">
                  <c:v>89.5</c:v>
                </c:pt>
              </c:numCache>
            </c:numRef>
          </c:val>
        </c:ser>
        <c:dLbls>
          <c:numFmt formatCode="0.0&quot;%&quot;" sourceLinked="0"/>
          <c:txPr>
            <a:bodyPr/>
            <a:lstStyle/>
            <a:p>
              <a:pPr>
                <a:defRPr b="1" i="0" strike="noStrike" sz="1100" u="none">
                  <a:solidFill>
                    <a:srgbClr val="0A0A0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0A0A0B"/>
                </a:solidFill>
                <a:latin typeface="+mn-lt"/>
              </a:defRPr>
            </a:pPr>
            <a:endParaRPr lang="en-US"/>
          </a:p>
        </c:txPr>
        <c:crossAx val="2094734552"/>
        <c:crosses val="autoZero"/>
        <c:auto val="1"/>
        <c:lblAlgn val="ctr"/>
        <c:noMultiLvlLbl val="1"/>
      </c:catAx>
      <c:valAx>
        <c:axId val="2094734552"/>
        <c:scaling>
          <c:orientation val="minMax"/>
          <c:max val="100"/>
          <c:min val="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A0A0B"/>
                </a:solidFill>
                <a:latin typeface="+mn-lt"/>
              </a:defRPr>
            </a:pPr>
            <a:r>
              <a:rPr sz="1200" b="0" i="0" u="none" strike="noStrike">
                <a:solidFill>
                  <a:srgbClr val="0A0A0B"/>
                </a:solidFill>
                <a:latin typeface="+mn-lt"/>
              </a:rPr>
              <a:t>The hardest 196 cases, by threshold</a:t>
            </a:r>
          </a:p>
        </c:rich>
      </c:tx>
      <c:layout/>
      <c:overlay val="0"/>
    </c:title>
    <c:autoTitleDeleted val="0"/>
    <c:plotArea>
      <c:layout/>
      <c:lineChart>
        <c:varyColors val="0"/>
        <c:ser>
          <c:idx val="0"/>
          <c:order val="0"/>
          <c:tx>
            <c:strRef>
              <c:f>Sheet1!$B$1</c:f>
              <c:strCache>
                <c:ptCount val="1"/>
                <c:pt idx="0">
                  <c:v>Answered by the student</c:v>
                </c:pt>
              </c:strCache>
            </c:strRef>
          </c:tx>
          <c:spPr>
            <a:solidFill>
              <a:srgbClr val="0A7F44"/>
            </a:solidFill>
            <a:ln w="31750" cap="flat">
              <a:solidFill>
                <a:srgbClr val="0A7F4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A7F44"/>
              </a:solidFill>
              <a:ln w="9525" cap="flat">
                <a:solidFill>
                  <a:srgbClr val="0A7F44"/>
                </a:solidFill>
                <a:prstDash val="solid"/>
                <a:round/>
              </a:ln>
              <a:effectLst/>
            </c:spPr>
          </c:marker>
          <c:cat>
            <c:multiLvlStrRef>
              <c:f>Sheet1!$A$2:$A$7</c:f>
              <c:multiLvlStrCache>
                <c:ptCount val="6"/>
                <c:lvl>
                  <c:pt idx="0">
                    <c:v>0</c:v>
                  </c:pt>
                  <c:pt idx="1">
                    <c:v>0.5</c:v>
                  </c:pt>
                  <c:pt idx="2">
                    <c:v>0.6</c:v>
                  </c:pt>
                  <c:pt idx="3">
                    <c:v>0.7</c:v>
                  </c:pt>
                  <c:pt idx="4">
                    <c:v>0.8</c:v>
                  </c:pt>
                  <c:pt idx="5">
                    <c:v>0.9</c:v>
                  </c:pt>
                </c:lvl>
              </c:multiLvlStrCache>
            </c:multiLvlStrRef>
          </c:cat>
          <c:val>
            <c:numRef>
              <c:f>Sheet1!$B$2:$B$7</c:f>
              <c:numCache>
                <c:formatCode>General</c:formatCode>
                <c:ptCount val="6"/>
                <c:pt idx="0">
                  <c:v>100</c:v>
                </c:pt>
                <c:pt idx="1">
                  <c:v>96.9</c:v>
                </c:pt>
                <c:pt idx="2">
                  <c:v>73</c:v>
                </c:pt>
                <c:pt idx="3">
                  <c:v>50</c:v>
                </c:pt>
                <c:pt idx="4">
                  <c:v>34.2</c:v>
                </c:pt>
                <c:pt idx="5">
                  <c:v>27.6</c:v>
                </c:pt>
              </c:numCache>
            </c:numRef>
          </c:val>
          <c:smooth val="0"/>
        </c:ser>
        <c:ser>
          <c:idx val="1"/>
          <c:order val="1"/>
          <c:tx>
            <c:strRef>
              <c:f>Sheet1!$C$1</c:f>
              <c:strCache>
                <c:ptCount val="1"/>
                <c:pt idx="0">
                  <c:v>Cascade agrees with Glimmer</c:v>
                </c:pt>
              </c:strCache>
            </c:strRef>
          </c:tx>
          <c:spPr>
            <a:solidFill>
              <a:srgbClr val="0064E0"/>
            </a:solidFill>
            <a:ln w="31750" cap="flat">
              <a:solidFill>
                <a:srgbClr val="0064E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064E0"/>
              </a:solidFill>
              <a:ln w="9525" cap="flat">
                <a:solidFill>
                  <a:srgbClr val="0064E0"/>
                </a:solidFill>
                <a:prstDash val="solid"/>
                <a:round/>
              </a:ln>
              <a:effectLst/>
            </c:spPr>
          </c:marker>
          <c:cat>
            <c:multiLvlStrRef>
              <c:f>Sheet1!$A$2:$A$7</c:f>
              <c:multiLvlStrCache>
                <c:ptCount val="6"/>
                <c:lvl>
                  <c:pt idx="0">
                    <c:v>0</c:v>
                  </c:pt>
                  <c:pt idx="1">
                    <c:v>0.5</c:v>
                  </c:pt>
                  <c:pt idx="2">
                    <c:v>0.6</c:v>
                  </c:pt>
                  <c:pt idx="3">
                    <c:v>0.7</c:v>
                  </c:pt>
                  <c:pt idx="4">
                    <c:v>0.8</c:v>
                  </c:pt>
                  <c:pt idx="5">
                    <c:v>0.9</c:v>
                  </c:pt>
                </c:lvl>
              </c:multiLvlStrCache>
            </c:multiLvlStrRef>
          </c:cat>
          <c:val>
            <c:numRef>
              <c:f>Sheet1!$C$2:$C$7</c:f>
              <c:numCache>
                <c:formatCode>General</c:formatCode>
                <c:ptCount val="6"/>
                <c:pt idx="0">
                  <c:v>60.7</c:v>
                </c:pt>
                <c:pt idx="1">
                  <c:v>61.2</c:v>
                </c:pt>
                <c:pt idx="2">
                  <c:v>68.4</c:v>
                </c:pt>
                <c:pt idx="3">
                  <c:v>75.5</c:v>
                </c:pt>
                <c:pt idx="4">
                  <c:v>75</c:v>
                </c:pt>
                <c:pt idx="5">
                  <c:v>75.5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55555C"/>
                    </a:solidFill>
                    <a:latin typeface="Arial"/>
                  </a:defRPr>
                </a:pPr>
                <a:r>
                  <a:rPr sz="1000" b="0" i="0" u="none" strike="noStrike">
                    <a:solidFill>
                      <a:srgbClr val="55555C"/>
                    </a:solidFill>
                    <a:latin typeface="Arial"/>
                  </a:rPr>
                  <a:t>Sure at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5555C"/>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CDCE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5555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0A0A0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Weekdays pinned down</c:v>
                </c:pt>
              </c:strCache>
            </c:strRef>
          </c:tx>
          <c:spPr>
            <a:solidFill>
              <a:srgbClr val="D1352B"/>
            </a:solidFill>
            <a:effectLst/>
          </c:spPr>
          <c:invertIfNegative val="0"/>
          <c:dLbls>
            <c:numFmt formatCode="0.0&quot;%&quot;" sourceLinked="0"/>
            <c:txPr>
              <a:bodyPr/>
              <a:lstStyle/>
              <a:p>
                <a:pPr>
                  <a:defRPr b="1" i="0" strike="noStrike" sz="1400" u="none">
                    <a:solidFill>
                      <a:srgbClr val="0A0A0B"/>
                    </a:solidFill>
                    <a:latin typeface="+mn-lt"/>
                  </a:defRPr>
                </a:pPr>
              </a:p>
            </c:txPr>
            <c:showLegendKey val="0"/>
            <c:showVal val="1"/>
            <c:showCatName val="0"/>
            <c:showSerName val="0"/>
            <c:showPercent val="0"/>
            <c:showBubbleSize val="0"/>
            <c:showLeaderLines val="0"/>
          </c:dLbls>
          <c:dPt>
            <c:idx val="0"/>
            <c:invertIfNegative val="0"/>
            <c:bubble3D val="0"/>
            <c:spPr>
              <a:solidFill>
                <a:srgbClr val="D1352B"/>
              </a:solidFill>
              <a:effectLst/>
            </c:spPr>
          </c:dPt>
          <c:dPt>
            <c:idx val="1"/>
            <c:invertIfNegative val="0"/>
            <c:bubble3D val="0"/>
            <c:spPr>
              <a:solidFill>
                <a:srgbClr val="0A7F44"/>
              </a:solidFill>
              <a:effectLst/>
            </c:spPr>
          </c:dPt>
          <c:cat>
            <c:multiLvlStrRef>
              <c:f>Sheet1!$A$2:$A$3</c:f>
              <c:multiLvlStrCache>
                <c:ptCount val="2"/>
                <c:lvl>
                  <c:pt idx="0">
                    <c:v>Without a budget</c:v>
                  </c:pt>
                  <c:pt idx="1">
                    <c:v>With the budget</c:v>
                  </c:pt>
                </c:lvl>
              </c:multiLvlStrCache>
            </c:multiLvlStrRef>
          </c:cat>
          <c:val>
            <c:numRef>
              <c:f>Sheet1!$B$2:$B$3</c:f>
              <c:numCache>
                <c:formatCode>General</c:formatCode>
                <c:ptCount val="2"/>
                <c:pt idx="0">
                  <c:v>97.6</c:v>
                </c:pt>
                <c:pt idx="1">
                  <c:v>32.4</c:v>
                </c:pt>
              </c:numCache>
            </c:numRef>
          </c:val>
        </c:ser>
        <c:dLbls>
          <c:numFmt formatCode="0.0&quot;%&quot;" sourceLinked="0"/>
          <c:txPr>
            <a:bodyPr/>
            <a:lstStyle/>
            <a:p>
              <a:pPr>
                <a:defRPr b="1" i="0" strike="noStrike" sz="1400" u="none">
                  <a:solidFill>
                    <a:srgbClr val="0A0A0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A0A0B"/>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A0A0B"/>
                </a:solidFill>
                <a:latin typeface="+mn-lt"/>
              </a:defRPr>
            </a:pPr>
            <a:r>
              <a:rPr sz="1200" b="0" i="0" u="none" strike="noStrike">
                <a:solidFill>
                  <a:srgbClr val="0A0A0B"/>
                </a:solidFill>
                <a:latin typeface="+mn-lt"/>
              </a:rPr>
              <a:t>Finding the right note: 20 planning questions, 41 notes each (a small test)</a:t>
            </a:r>
          </a:p>
        </c:rich>
      </c:tx>
      <c:layout/>
      <c:overlay val="0"/>
    </c:title>
    <c:autoTitleDeleted val="0"/>
    <c:plotArea>
      <c:layout/>
      <c:barChart>
        <c:barDir val="col"/>
        <c:grouping val="clustered"/>
        <c:varyColors val="0"/>
        <c:ser>
          <c:idx val="0"/>
          <c:order val="0"/>
          <c:tx>
            <c:strRef>
              <c:f>Sheet1!$B$1</c:f>
              <c:strCache>
                <c:ptCount val="1"/>
                <c:pt idx="0">
                  <c:v>Meta's DRAMA</c:v>
                </c:pt>
              </c:strCache>
            </c:strRef>
          </c:tx>
          <c:spPr>
            <a:solidFill>
              <a:srgbClr val="0064E0"/>
            </a:solidFill>
            <a:effectLst/>
          </c:spPr>
          <c:invertIfNegative val="0"/>
          <c:dLbls>
            <c:numFmt formatCode="0.00" sourceLinked="0"/>
            <c:txPr>
              <a:bodyPr/>
              <a:lstStyle/>
              <a:p>
                <a:pPr>
                  <a:defRPr b="1" i="0" strike="noStrike" sz="1100" u="none">
                    <a:solidFill>
                      <a:srgbClr val="0A0A0B"/>
                    </a:solidFill>
                    <a:latin typeface="+mn-lt"/>
                  </a:defRPr>
                </a:pPr>
              </a:p>
            </c:txPr>
            <c:showLegendKey val="0"/>
            <c:showVal val="1"/>
            <c:showCatName val="0"/>
            <c:showSerName val="0"/>
            <c:showPercent val="0"/>
            <c:showBubbleSize val="0"/>
            <c:showLeaderLines val="0"/>
          </c:dLbls>
          <c:cat>
            <c:multiLvlStrRef>
              <c:f>Sheet1!$A$2:$A$4</c:f>
              <c:multiLvlStrCache>
                <c:ptCount val="3"/>
                <c:lvl>
                  <c:pt idx="0">
                    <c:v>Recall@1</c:v>
                  </c:pt>
                  <c:pt idx="1">
                    <c:v>Recall@3</c:v>
                  </c:pt>
                  <c:pt idx="2">
                    <c:v>MRR</c:v>
                  </c:pt>
                </c:lvl>
              </c:multiLvlStrCache>
            </c:multiLvlStrRef>
          </c:cat>
          <c:val>
            <c:numRef>
              <c:f>Sheet1!$B$2:$B$4</c:f>
              <c:numCache>
                <c:formatCode>General</c:formatCode>
                <c:ptCount val="3"/>
                <c:pt idx="0">
                  <c:v>0.6</c:v>
                </c:pt>
                <c:pt idx="1">
                  <c:v>0.75</c:v>
                </c:pt>
                <c:pt idx="2">
                  <c:v>0.696</c:v>
                </c:pt>
              </c:numCache>
            </c:numRef>
          </c:val>
        </c:ser>
        <c:ser>
          <c:idx val="1"/>
          <c:order val="1"/>
          <c:tx>
            <c:strRef>
              <c:f>Sheet1!$C$1</c:f>
              <c:strCache>
                <c:ptCount val="1"/>
                <c:pt idx="0">
                  <c:v>BM25 (words)</c:v>
                </c:pt>
              </c:strCache>
            </c:strRef>
          </c:tx>
          <c:spPr>
            <a:solidFill>
              <a:srgbClr val="DCDCE0"/>
            </a:solidFill>
            <a:effectLst/>
          </c:spPr>
          <c:invertIfNegative val="0"/>
          <c:dLbls>
            <c:numFmt formatCode="0.00" sourceLinked="0"/>
            <c:txPr>
              <a:bodyPr/>
              <a:lstStyle/>
              <a:p>
                <a:pPr>
                  <a:defRPr b="1" i="0" strike="noStrike" sz="1100" u="none">
                    <a:solidFill>
                      <a:srgbClr val="0A0A0B"/>
                    </a:solidFill>
                    <a:latin typeface="+mn-lt"/>
                  </a:defRPr>
                </a:pPr>
              </a:p>
            </c:txPr>
            <c:showLegendKey val="0"/>
            <c:showVal val="1"/>
            <c:showCatName val="0"/>
            <c:showSerName val="0"/>
            <c:showPercent val="0"/>
            <c:showBubbleSize val="0"/>
            <c:showLeaderLines val="0"/>
          </c:dLbls>
          <c:cat>
            <c:multiLvlStrRef>
              <c:f>Sheet1!$A$2:$A$4</c:f>
              <c:multiLvlStrCache>
                <c:ptCount val="3"/>
                <c:lvl>
                  <c:pt idx="0">
                    <c:v>Recall@1</c:v>
                  </c:pt>
                  <c:pt idx="1">
                    <c:v>Recall@3</c:v>
                  </c:pt>
                  <c:pt idx="2">
                    <c:v>MRR</c:v>
                  </c:pt>
                </c:lvl>
              </c:multiLvlStrCache>
            </c:multiLvlStrRef>
          </c:cat>
          <c:val>
            <c:numRef>
              <c:f>Sheet1!$C$2:$C$4</c:f>
              <c:numCache>
                <c:formatCode>General</c:formatCode>
                <c:ptCount val="3"/>
                <c:pt idx="0">
                  <c:v>0.35</c:v>
                </c:pt>
                <c:pt idx="1">
                  <c:v>0.45</c:v>
                </c:pt>
                <c:pt idx="2">
                  <c:v>0.422</c:v>
                </c:pt>
              </c:numCache>
            </c:numRef>
          </c:val>
        </c:ser>
        <c:dLbls>
          <c:numFmt formatCode="0.00" sourceLinked="0"/>
          <c:txPr>
            <a:bodyPr/>
            <a:lstStyle/>
            <a:p>
              <a:pPr>
                <a:defRPr b="1" i="0" strike="noStrike" sz="1100" u="none">
                  <a:solidFill>
                    <a:srgbClr val="0A0A0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A0A0B"/>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0A0A0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封面：先交代比賽（Meta Global AI Developer Hackathon 2026、Indie Developer、Build for Your World），停 3 秒再轉到 Serve。
影片：cover.html，白底點陣，3.2 秒後淡入 Serve 封面。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 的封面頁：Play more. Manage less. 右邊是手機上的社群動態和 Agent 對話。
旁白：So for this hackathon, I built Serve. Not an AI coach. A club where your agent sorts things out with your friends' agents, and only asks you for one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痛點：不是不愛打球，是約不成。
旁白：Most people don't quit sports because they stopped loving the game. They quit because matching four calendars, finding a court and fitting it around work takes too much group chat.
影片：pain.html，群組約球失敗，蓋上 No game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上線給真的使用者用：公開網址（Cloudflare tunnel），每位使用者登入後在伺服器上有一個自己的 agent（獨立的 gateway 程序、獨立資料夾），社團、動態、揪團大家共用。
第一天：3 位使用者（5 個帳號）、使用者自己開了 1 個社團（新竹，2 人）、發了 3 個揪團、2 次加入、1 則留言。
左：社團在真地圖上，agent 主動推薦附近的公開社團；右：直接跟 agent 說「週六早上雙打，缺 3 個」，agent 擬好邀請（日期由程式算、最近的球場），按一下就發佈，之後在對話裡看到誰加入。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冷啟動：agent 對 agent 需要雙方都在 Serve 上；第二個人怎麼來？靠邀請連結。跟 agent 說一句 → 分享連結到 LINE、WhatsApp 群組 → 對方沒帳號也能打開，看到球局和剩幾個名額（看不到誰報名）→ 登入一次就自動加入 → 滿團時每個人都收到 Game on，之後他自己的 agent 就能替他回覆。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同一套引擎服務沒有人組織的群體，三種社團都已實作、有單元測試：
1 孩童社團（老師或志工）：一定是私密社團，只有帶隊的人能發活動；孩子不用帳號，只存名字（只有帶隊的人看得到）；勾選今天誰來，程式排輪替，每個孩子上場時間最多差一輪；產生家長接送通知。
2 樂齡社團：社團裡每個揪團由程式把關：08:00–16:00 開始、60 分鐘、最多 8 人、球拍類雙打；不符合就拒絕並說明原因。
3 慈善賽：發起人寫公益對象，參賽者自評等級與認捐（只記錄，Serve 不經手錢）；一鍵抽籤：實力平均的雙打組合、循環賽、場地與時段，同一時段沒有隊伍撞場，貼到社團動態。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一頁架構圖（三欄資料流）：
左：你的脈絡——Messenger 的一句話、語音、健康 app，由 Meta DRAMA 依語意找出這週該注意的事。
中：你的 Serve agent——Muse Glimmer（加上蒸餾出的 Llama 3.2 1B）一步一步規劃，透過 A2A 跟朋友的 agent 一輪談好時間。
右：球場上下——你按一次 yes；賽後 Meta 的視覺模型剪出精華，在社群動態和限時動態分享。
底：所有東西給人看之前都先由程式檢查。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規劃與球場：
左：中心點球場地圖（技術報告第 4 頁那張）——每個人的通勤時間、共同空檔，agent 一輪談好。
右：手機版找球場——Prompt Guard 2 先過濾 Google 評論，Muse Glimmer 同時判斷四個球場，每個理由都引用來源，程式檢查。
旁白：Then it plans my week, and agrees it with three friends' agents at once, over A2A. Any ball sport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Trust：像 Messenger 一樣的「Agent 對話」頁。你的 agent 在右邊（綠色），其他會員的 agent 在左邊，一輪一輪，每則訊息下面標示意思（提案、同意、反提案、拒絕），以及程式是否已經用大家的行事曆檢查過（fits everyone）。標題列顯示對方的 Agent Card 已驗證。談成後出現「Agreed」，但要你按 yes 才訂。
這些就是 agent 之間透過 A2A 真的送出的訊息，不是摘要。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 模型精簡版：六個撐起產品的模型（Muse Glimmer、Llama 3.2 1B 學生、Llama Guard 3、Prompt Guard 2、DRAMA、Muse Voice Transcribe），其他九個一行帶過，完整 15 格在附錄。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拿掉一個模型會怎樣：Glimmer（整個 agent 不能運作）、學生模型（每次決策從 0.9 秒變 40 秒，模擬中 Glimmer 回答多 54–67%）、DRAMA（第一個找到對的筆記從 0.60 掉到 0.35）、Llama Guard、Prompt Guard、Muse Voice。標明哪些是量測、哪些是設計上的。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痛點與解法同一頁：
左：記錄了 2,755 次 Muse Glimmer 呼叫，84% 的 token 是推理；關掉 thinking 它還是在隱藏通道推理，預算不夠時 9% 回空白。所以每次呼叫用 think: low 並留推理空間。
右：把最常見的判斷（會員選哪個時段）交給微調出來的 Llama 3.2 1B（Jev 式決策模型）：用真正的 agent 呼叫讓 Glimmer 標註 4,868 題，LoRA 微調，不生成文字、直接對選項給機率，int4 在 CPU 上約 0.9 秒。留出會員上和 Glimmer 一致 89.5%（Glimmer 跟自己 88.8%），在模擬社團少用 54–67% 的 Glimmer 呼叫。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Jev 學生模型和 Muse Glimmer 的交接（agent/src/agents/student.js、a2a.js fullAnswer）：
1. 先由程式處理事實能決定的：行事曆、硬規則；只剩一個可行時段就直接回答，不叫任何模型。
2. 真正需要判斷時，先問 Llama 3.2 1B 學生模型。它只有在三個條件都成立時才回答：選項機率 ≥ 0.6；它自己對「哪些時段可行」的判讀和程式算的一致；worker 有空且夠快（排隊超過 8 秒或超過 20 秒就放棄）。
3. 任何一個不成立，就交給 Muse Glimmer 完整推理。
4. 不管誰回答，程式都再檢查一次硬規則，結果才透過 A2A 送出，並標示是哪一層回答的（Agent 對話頁上看得到）。
右圖：門檻越高，學生回答得越少、整體越準；我們選 0.6：在最難的 196 題裡學生回答 73%，其餘交給 Glimmer。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安全：每個 agent 都遵守 Meta 的 Agents Rule of Two（不可信輸入、私人資料、行動能力，最多同時兩個）。揭露預算：一直約球的 agent 能拼出你一週的行程，有預算時從 97.6% 降到 32.4%（模擬的探測者）。65 個攻擊全部擋下。
旁白：Every agent follows Meta's Agents Rule of Two. And a disclosure budget cuts how much of your week a snooping agent can pin down, from 97.6% to 32.4%.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真實與模擬一頁看清楚：左邊是真的（真人、真模型、真程式），右邊是模擬（測試用的社團與成員，都有標示）。模擬證明 agent 守住成員說過的話，不代表真人的反應；那是真人社團在量的。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開發範圍：比賽期間做的（全部程式碼、微調的 1B 學生模型、Demo 影片）、我之前就有的（TrackNetV5，關閉、本作品沒用到）、第三方照原樣使用的模型、軟體與資料。repo 歷史從 10/28（第二天）開始，900 多個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影片 2:27，三幕：一、冷啟動：Leo 沒有帳號，點連結就加入，Mia 同時收到 Game on（並排）；二、agent 透過 A2A 協商，Hana 的 agent 提出反提案（Messenger 裡一個 yes 就訂好也在這一幕）；三、找球場：Prompt Guard 2 先過濾評論，再由 Muse Glimmer 判斷（14 倍速，有標示），然後是社團。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片尾：Play more, manage less. 黑客松期間開發聲明（TrackNetV5 除外）、repo 連結、Built on Muse Glimmer。
旁白：That's Serve. Play more, manage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規劃 agent：Muse Glimmer 用原生 tool calling 一步一步叫工具，被拒絕的呼叫會變成事實回來，它重新規劃。A2A：每個會員一個 agent、簽章的 Agent Card、一輪就談完、談好的時間先鎖 30 分鐘、每輪存檔可續跑。兩台機器（台北的 GPU 伺服器 + GCP A100）跨網路 22/22 項檢查通過。
旁白：Then it plans my week… Then it negotiates with three friends' agents at once, over A2A.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這頁讓評審一眼看到用了哪些 Meta 的東西：15 個 Meta 模型（10 個開放權重在我自己的伺服器上跑，5 個走 Meta Model API）＋ Messenger、Instagram/Facebook，再加上 Meta 的 Agents Rule of Two 框架。
說法：Muse Glimmer 是大腦；1B 學生模型分擔簡單決策；兩個 guard 把關進出；DRAMA 是記憶；四個視覺模型做 highlight；Messenger 是入口。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社群 app（手機畫面）：
1. Facebook / Instagram 登入已經做好（OAuth 在伺服器上完成，只存帳號 id 的雜湊）；Meta app 還沒核准前，demo 用 demo 帳號，畫面上那行提示是實話，不要遮掉。
2. 動態最上面是限時動態：會員的 agent 從他自己的影片剪出的精華，經本人同意才發。
3. 揪團：任何人都能加入；發文者的 agent 在留言裡用程式產生的句子回答「還剩幾個位子」。
旁白建議：You join with Facebook or Instagram. Stories are highlights your agent cut from your own video, and anyone can join a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管線（右邊都是同一記殺球：SAM 2.1 去背、MapAnything 深度、俯視環繞圖和沿弧線算繪出的三格）：DETR 找人 → Sapiens2 找出值得分享的片刻（自動剪輯，不做動作分析）→ SAM 2.1 把你切出來 → MapAnything 算深度和相機，時間暫停、鏡頭繞 20° → Muse Glimmer 寫說明，程式核對 → 一鍵分享到 Instagram。影片不離開伺服器。
旁白：Thursday, game done. I upload a phone clip… With MapAnything, time stops and the camera turns around the smash.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會員通道（專屬簽章）：
1. 會員在 app 裡按「Add my agent」，瀏覽器用 Web Crypto 產生 Ed25519 金鑰，只有公鑰送到伺服器註冊，私鑰不離開瀏覽器。
2. Agent 之後每一個請求（發揪團、留言、代為加入）都簽章：方法、路徑、內容的 SHA-256、60 秒有效、一次性 nonce——跟兩台 gateway 之間用的同一套。
3. 沒簽章、重放、被改過內容、用錯路徑、或金鑰已撤銷的請求都會被拒絕並記錄原因。
4. Agent 發的東西標示「Agent · Signed」，以及是誰的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全雙工語音代理：手機麥克風串流到你的伺服器，伺服器轉接到 Meta 的 Muse Voice Transcribe（即時、ENDPOINTING 模式，自動判斷你講完了，支援中英夾雜），key 只放在伺服器。你講完一句就交給 agent（Muse Glimmer，跟打字問一樣過 Llama Guard、數字核對），回答一句一句用 Kokoro 念出來。你一開口它就停下來聽，還沒念的回答直接丟掉。
實測一次（voice_live.json）：1.2 秒接通，2.0 秒開始說話，3.6 秒轉寫完成，12.3 秒回答文字出來（本地 Glimmer + 守門）；之後改成一句一句念，第一句不用等整段。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去中心化的跨社團聯邦：設定檔只寫其他社團的網址。每個社團公開一張名片（/a2a/club.json：名稱、可被邀約的成員公開資料、金鑰位置），gateway 讀名片後就把對方當成 peer，第一次連線釘選對方金鑰。
換鑰匙：舊鑰匙簽一張交接聲明跟新金鑰一起公開；對方發現釘選的鑰匙不見了，就從釘選的那把沿著聲明鏈驗證，驗過才改釘新的，偽造的聲明一律拒絕。
測試（test/federation_unit.mjs，真的 HTTP）：三個社團互相發現、互相簽章驗證；B 連續換兩次鑰匙，A 沿兩張聲明跟上；C 用別人簽的假聲明，被拒絕、釘選不變；不是名片的網頁不採用。兩台機器之間的完整約球談判之前已測過 22/22。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記憶（agent/src/memory/memory.js、body/context.js）：
寫入：筆記只來自玩家自己的話和程式產生的事實（比賽、健康 app），其他 agent 寫的東西永遠不會變成筆記（防記憶注入）。新的一句話會跟舊筆記比對：新增、取代、或重複（類似 Mem0）。被取代的筆記保留但不再被檢索。
檢索：Meta 的 DRAMA（drama-base，768 維）在伺服器 CPU 上把問題和筆記變成向量，用餘弦相似度乘上時間衰減排序（身體筆記 7 天減半），取前幾名。
生成與接地：Muse Glimmer 拿這些筆記規劃這週；規則由程式從紀錄產生，每條附上來源筆記，程式檢查引用的是同一個部位。
數字：20 題規劃問題中 DRAMA 第一名就對 12 題（Recall@1 0.60，BM25 0.35）；有更新機制時過期筆記 0 筆還被當真（只追加是 15 筆）、規則正確 90.5%（52.4%）；玩家兩週前說先不要約 Tomás，有記憶時 3/3 都排除他，沒記憶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四個代理架構：
1 主動資訊探詢（VoI）：談判失敗時不放棄、不把問題丟回給使用者，用 Beta 後驗（只來自它看過的 yes/no，不看別人的行事曆）× 對方 agent 的意願，算出「問哪一題最能提高成局機率」，只問一個是非題，答是才再談。模擬 20,000 次：一題 + 一次談判成局 51.9%，不問 40.7%、隨便問 44.4%、問最可能的那組 48.2%。
2 談判中的批評者：對方 agent 的每個反提案先經過程式審查——一場談判問超過兩個不同時間＝在探測你的行程，不再接受；你最近三場有兩場路最遠，又要你跑最遠就拒絕。
3 從片段到信念：每週把零散筆記抽象成幾條長期信念，每條必須引用筆記、概括要兩條以上、數字必須出現在引用裡，不合格就丟。Glimmer 實測 10 條筆記 → 3 條信念，0 條被丟。
4 預約前的同意證明：談妥的比賽每位球員的 agent 用自己的 Ed25519 金鑰簽同一份比賽紀錄，預約時逐一驗證，改過時間、加人、用別人的金鑰都會被拒絕。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規模化：把整個社團塞進 prompt，token 隨人數線性成長，401 人以上就放不進 16K 的 context；Serve 先用程式篩出候選人，一週規劃平均每次呼叫約 1,505 → 1,563 token（11 人到 301 人），幾乎不變。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自我演化的社團：會員在 Messenger 打 /idea 或按讚 → DRAMA 依語意分群，5 人提到才出現 → 二次方投票 → Muse Glimmer 寫規格、人工核准 → coding agent 在自己的分支上實作（從不讀社群文字）→ 九道關卡，第一個失敗就停 → 小規模上線，倒讚變多就自己關掉。
真實案例（模擬社團 seed 7，管線、關卡、回滾是真的；technical report 5.6）：會員說「晚點再問我」→ 規格 C0：ask.hour 12 → 18，上線給 31 位 beta 會員中的 5 位，倒讚 29% → 23%，升級。故意植入的壞改動 ask.ahead 3 → 2 給 8 人的 canary：倒讚 40% → 60%，自動回滾。
旁白：And the club evolves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證據頁：每個數字都有 log。e2e、攻擊測試在雲端 A100 上用同一個 Muse Glimmer（同一個 model digest）跑。可以快速帶過，或只在影片片尾字卡出現。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完整技術架構（放最後給想深入的評審）：左邊是使用者的入口；中間是 Node.js gateway 上的各個模組；右邊是 Meta 模型實際跑在哪（GPU 1 Muse Glimmer、GPU 0 視覺、CPU 上的小模型），以及外部開放資料。底下是「給人看之前先由程式檢查」與帳本/追蹤。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rtlCol="0"/>
          <a:lstStyle>
            <a:lvl1pPr indent="0" marL="0">
              <a:buNone/>
              <a:defRPr lang="en-US" sz="1300" b="1" spc="100" kern="0" dirty="0">
                <a:solidFill>
                  <a:srgbClr val="0A7F44"/>
                </a:solidFill>
              </a:defRPr>
            </a:lvl1pPr>
          </a:lstStyle>
          <a:p>
            <a:pPr indent="0" marL="0">
              <a:buNone/>
            </a:pP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rtlCol="0"/>
          <a:lstStyle>
            <a:lvl1pPr algn="l" indent="0" marL="0">
              <a:buNone/>
              <a:defRPr lang="en-US" sz="3200" b="1" dirty="0">
                <a:solidFill>
                  <a:srgbClr val="0A0A0B"/>
                </a:solidFill>
              </a:defRPr>
            </a:lvl1pPr>
          </a:lstStyle>
          <a:p>
            <a:pPr algn="l" indent="0" marL="0">
              <a:buNone/>
            </a:pPr>
            <a:endParaRPr lang="en-US" sz="3200" dirty="0"/>
          </a:p>
        </p:txBody>
      </p:sp>
      <p:sp>
        <p:nvSpPr>
          <p:cNvPr id="4" name="Text 0"/>
          <p:cNvSpPr/>
          <p:nvPr/>
        </p:nvSpPr>
        <p:spPr>
          <a:xfrm>
            <a:off x="548640" y="6446520"/>
            <a:ext cx="6400800" cy="228600"/>
          </a:xfrm>
          <a:prstGeom prst="rect">
            <a:avLst/>
          </a:prstGeom>
          <a:noFill/>
          <a:ln/>
        </p:spPr>
        <p:txBody>
          <a:bodyPr wrap="square" lIns="0" tIns="0" rIns="0" bIns="0" rtlCol="0" anchor="ctr"/>
          <a:lstStyle/>
          <a:p>
            <a:pPr indent="0" marL="0">
              <a:buNone/>
            </a:pPr>
            <a:r>
              <a:rPr lang="en-US" sz="1000" dirty="0">
                <a:solidFill>
                  <a:srgbClr val="8A8A92"/>
                </a:solidFill>
              </a:rPr>
              <a:t>Serve · Meta Global AI Developer Hackathon 2026</a:t>
            </a:r>
            <a:endParaRPr lang="en-US" sz="10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jpeg"/><Relationship Id="rId3" Type="http://schemas.openxmlformats.org/officeDocument/2006/relationships/image" Target="../media/image-17-3.jpe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image" Target="../media/image-22-2.jpeg"/><Relationship Id="rId3" Type="http://schemas.openxmlformats.org/officeDocument/2006/relationships/image" Target="../media/image-22-3.jpe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video" Target="../media/media-23-1.mp4"/><Relationship Id="rId2" Type="http://schemas.microsoft.com/office/2007/relationships/media" Target="../media/media-23-1.mp4"/><Relationship Id="rId3" Type="http://schemas.openxmlformats.org/officeDocument/2006/relationships/image" Target="../media/image-23-3.png"/><Relationship Id="rId4" Type="http://schemas.openxmlformats.org/officeDocument/2006/relationships/image" Target="../media/image-23-4.jpeg"/><Relationship Id="rId5" Type="http://schemas.openxmlformats.org/officeDocument/2006/relationships/image" Target="../media/image-23-5.jpeg"/><Relationship Id="rId6" Type="http://schemas.openxmlformats.org/officeDocument/2006/relationships/image" Target="../media/image-23-6.jpeg"/><Relationship Id="rId7" Type="http://schemas.openxmlformats.org/officeDocument/2006/relationships/image" Target="../media/image-23-7.jpeg"/><Relationship Id="rId8" Type="http://schemas.openxmlformats.org/officeDocument/2006/relationships/slideLayout" Target="../slideLayouts/slideLayout2.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2.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2148840"/>
            <a:ext cx="5486400" cy="365760"/>
          </a:xfrm>
          <a:prstGeom prst="rect">
            <a:avLst/>
          </a:prstGeom>
          <a:noFill/>
          <a:ln/>
        </p:spPr>
        <p:txBody>
          <a:bodyPr wrap="square" lIns="0" tIns="0" rIns="0" bIns="0" rtlCol="0" anchor="t"/>
          <a:lstStyle/>
          <a:p>
            <a:pPr indent="0" marL="0">
              <a:buNone/>
            </a:pPr>
            <a:r>
              <a:rPr lang="en-US" sz="2200" b="1" dirty="0">
                <a:solidFill>
                  <a:srgbClr val="0064E0"/>
                </a:solidFill>
              </a:rPr>
              <a:t>Submitted to</a:t>
            </a:r>
            <a:endParaRPr lang="en-US" sz="2200" dirty="0"/>
          </a:p>
        </p:txBody>
      </p:sp>
      <p:sp>
        <p:nvSpPr>
          <p:cNvPr id="3" name="Text 1"/>
          <p:cNvSpPr txBox="1"/>
          <p:nvPr/>
        </p:nvSpPr>
        <p:spPr>
          <a:xfrm>
            <a:off x="731520" y="2606040"/>
            <a:ext cx="10972800" cy="2011680"/>
          </a:xfrm>
          <a:prstGeom prst="rect">
            <a:avLst/>
          </a:prstGeom>
          <a:noFill/>
          <a:ln/>
        </p:spPr>
        <p:txBody>
          <a:bodyPr wrap="square" lIns="0" tIns="0" rIns="0" bIns="0" rtlCol="0" anchor="t"/>
          <a:lstStyle/>
          <a:p>
            <a:pPr indent="0" marL="0">
              <a:lnSpc>
                <a:spcPct val="92000"/>
              </a:lnSpc>
              <a:buNone/>
            </a:pPr>
            <a:r>
              <a:rPr lang="en-US" sz="5800" b="1" dirty="0">
                <a:solidFill>
                  <a:srgbClr val="0A0A0B"/>
                </a:solidFill>
              </a:rPr>
              <a:t>Meta Global AI</a:t>
            </a:r>
            <a:endParaRPr lang="en-US" sz="5800" dirty="0"/>
          </a:p>
          <a:p>
            <a:pPr indent="0" marL="0">
              <a:lnSpc>
                <a:spcPct val="92000"/>
              </a:lnSpc>
              <a:buNone/>
            </a:pPr>
            <a:r>
              <a:rPr lang="en-US" sz="5800" b="1" dirty="0">
                <a:solidFill>
                  <a:srgbClr val="0A0A0B"/>
                </a:solidFill>
              </a:rPr>
              <a:t>Developer Hackathon 2026</a:t>
            </a:r>
            <a:endParaRPr lang="en-US" sz="5800" dirty="0"/>
          </a:p>
        </p:txBody>
      </p:sp>
      <p:sp>
        <p:nvSpPr>
          <p:cNvPr id="4" name="Shape 2"/>
          <p:cNvSpPr/>
          <p:nvPr/>
        </p:nvSpPr>
        <p:spPr>
          <a:xfrm>
            <a:off x="731520" y="4892040"/>
            <a:ext cx="2103120" cy="457200"/>
          </a:xfrm>
          <a:prstGeom prst="roundRect">
            <a:avLst>
              <a:gd name="adj" fmla="val 50000"/>
            </a:avLst>
          </a:prstGeom>
          <a:solidFill>
            <a:srgbClr val="0064E0"/>
          </a:solidFill>
          <a:ln w="12700">
            <a:solidFill>
              <a:srgbClr val="0064E0"/>
            </a:solidFill>
            <a:prstDash val="solid"/>
          </a:ln>
        </p:spPr>
      </p:sp>
      <p:sp>
        <p:nvSpPr>
          <p:cNvPr id="5" name="Text 3"/>
          <p:cNvSpPr txBox="1"/>
          <p:nvPr/>
        </p:nvSpPr>
        <p:spPr>
          <a:xfrm>
            <a:off x="731520" y="4892040"/>
            <a:ext cx="2103120" cy="457200"/>
          </a:xfrm>
          <a:prstGeom prst="rect">
            <a:avLst/>
          </a:prstGeom>
          <a:noFill/>
          <a:ln/>
        </p:spPr>
        <p:txBody>
          <a:bodyPr wrap="square" lIns="0" tIns="0" rIns="0" bIns="0" rtlCol="0" anchor="ctr"/>
          <a:lstStyle/>
          <a:p>
            <a:pPr algn="ctr" indent="0" marL="0">
              <a:buNone/>
            </a:pPr>
            <a:r>
              <a:rPr lang="en-US" sz="1500" b="1" dirty="0">
                <a:solidFill>
                  <a:srgbClr val="FFFFFF"/>
                </a:solidFill>
              </a:rPr>
              <a:t>Indie Developer</a:t>
            </a:r>
            <a:endParaRPr lang="en-US" sz="1500" dirty="0"/>
          </a:p>
        </p:txBody>
      </p:sp>
      <p:sp>
        <p:nvSpPr>
          <p:cNvPr id="6" name="Shape 4"/>
          <p:cNvSpPr/>
          <p:nvPr/>
        </p:nvSpPr>
        <p:spPr>
          <a:xfrm>
            <a:off x="2971800" y="4892040"/>
            <a:ext cx="2560320" cy="457200"/>
          </a:xfrm>
          <a:prstGeom prst="roundRect">
            <a:avLst>
              <a:gd name="adj" fmla="val 50000"/>
            </a:avLst>
          </a:prstGeom>
          <a:solidFill>
            <a:srgbClr val="FFFFFF"/>
          </a:solidFill>
          <a:ln w="12700">
            <a:solidFill>
              <a:srgbClr val="DCDCE0"/>
            </a:solidFill>
            <a:prstDash val="solid"/>
          </a:ln>
        </p:spPr>
      </p:sp>
      <p:sp>
        <p:nvSpPr>
          <p:cNvPr id="7" name="Text 5"/>
          <p:cNvSpPr txBox="1"/>
          <p:nvPr/>
        </p:nvSpPr>
        <p:spPr>
          <a:xfrm>
            <a:off x="2971800" y="4892040"/>
            <a:ext cx="2560320" cy="457200"/>
          </a:xfrm>
          <a:prstGeom prst="rect">
            <a:avLst/>
          </a:prstGeom>
          <a:noFill/>
          <a:ln/>
        </p:spPr>
        <p:txBody>
          <a:bodyPr wrap="square" lIns="0" tIns="0" rIns="0" bIns="0" rtlCol="0" anchor="ctr"/>
          <a:lstStyle/>
          <a:p>
            <a:pPr algn="ctr" indent="0" marL="0">
              <a:buNone/>
            </a:pPr>
            <a:r>
              <a:rPr lang="en-US" sz="1500" b="1" dirty="0">
                <a:solidFill>
                  <a:srgbClr val="0A0A0B"/>
                </a:solidFill>
              </a:rPr>
              <a:t>Build for Your World</a:t>
            </a:r>
            <a:endParaRPr lang="en-US" sz="1500" dirty="0"/>
          </a:p>
        </p:txBody>
      </p:sp>
      <p:sp>
        <p:nvSpPr>
          <p:cNvPr id="8" name="Shape 6"/>
          <p:cNvSpPr/>
          <p:nvPr/>
        </p:nvSpPr>
        <p:spPr>
          <a:xfrm>
            <a:off x="5669280" y="4892040"/>
            <a:ext cx="2468880" cy="457200"/>
          </a:xfrm>
          <a:prstGeom prst="roundRect">
            <a:avLst>
              <a:gd name="adj" fmla="val 50000"/>
            </a:avLst>
          </a:prstGeom>
          <a:solidFill>
            <a:srgbClr val="FFFFFF"/>
          </a:solidFill>
          <a:ln w="12700">
            <a:solidFill>
              <a:srgbClr val="DCDCE0"/>
            </a:solidFill>
            <a:prstDash val="solid"/>
          </a:ln>
        </p:spPr>
      </p:sp>
      <p:sp>
        <p:nvSpPr>
          <p:cNvPr id="9" name="Text 7"/>
          <p:cNvSpPr txBox="1"/>
          <p:nvPr/>
        </p:nvSpPr>
        <p:spPr>
          <a:xfrm>
            <a:off x="5669280" y="4892040"/>
            <a:ext cx="2468880" cy="457200"/>
          </a:xfrm>
          <a:prstGeom prst="rect">
            <a:avLst/>
          </a:prstGeom>
          <a:noFill/>
          <a:ln/>
        </p:spPr>
        <p:txBody>
          <a:bodyPr wrap="square" lIns="0" tIns="0" rIns="0" bIns="0" rtlCol="0" anchor="ctr"/>
          <a:lstStyle/>
          <a:p>
            <a:pPr algn="ctr" indent="0" marL="0">
              <a:buNone/>
            </a:pPr>
            <a:r>
              <a:rPr lang="en-US" sz="1500" b="1" dirty="0">
                <a:solidFill>
                  <a:srgbClr val="0A0A0B"/>
                </a:solidFill>
              </a:rPr>
              <a:t>Oct 27 – Nov 4, 2026</a:t>
            </a:r>
            <a:endParaRPr lang="en-US" sz="1500" dirty="0"/>
          </a:p>
        </p:txBody>
      </p:sp>
      <p:pic>
        <p:nvPicPr>
          <p:cNvPr id="10" name="Image 0" descr="preencoded.png">    </p:cNvPr>
          <p:cNvPicPr>
            <a:picLocks noChangeAspect="1"/>
          </p:cNvPicPr>
          <p:nvPr/>
        </p:nvPicPr>
        <p:blipFill>
          <a:blip r:embed="rId1"/>
          <a:stretch>
            <a:fillRect/>
          </a:stretch>
        </p:blipFill>
        <p:spPr>
          <a:xfrm>
            <a:off x="731520" y="5897880"/>
            <a:ext cx="384048" cy="384048"/>
          </a:xfrm>
          <a:prstGeom prst="rect">
            <a:avLst/>
          </a:prstGeom>
        </p:spPr>
      </p:pic>
      <p:sp>
        <p:nvSpPr>
          <p:cNvPr id="11" name="Text 8"/>
          <p:cNvSpPr txBox="1"/>
          <p:nvPr/>
        </p:nvSpPr>
        <p:spPr>
          <a:xfrm>
            <a:off x="1207008" y="5897880"/>
            <a:ext cx="7315200" cy="384048"/>
          </a:xfrm>
          <a:prstGeom prst="rect">
            <a:avLst/>
          </a:prstGeom>
          <a:noFill/>
          <a:ln/>
        </p:spPr>
        <p:txBody>
          <a:bodyPr wrap="square" lIns="0" tIns="0" rIns="0" bIns="0" rtlCol="0" anchor="ctr"/>
          <a:lstStyle/>
          <a:p>
            <a:pPr indent="0" marL="0">
              <a:buNone/>
            </a:pPr>
            <a:r>
              <a:rPr lang="en-US" sz="1600" b="1" dirty="0">
                <a:solidFill>
                  <a:srgbClr val="0A0A0B"/>
                </a:solidFill>
              </a:rPr>
              <a:t>serve  ·  Play more. Manage less.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02920" cy="502920"/>
          </a:xfrm>
          <a:prstGeom prst="rect">
            <a:avLst/>
          </a:prstGeom>
        </p:spPr>
      </p:pic>
      <p:sp>
        <p:nvSpPr>
          <p:cNvPr id="3" name="Text 0"/>
          <p:cNvSpPr txBox="1"/>
          <p:nvPr/>
        </p:nvSpPr>
        <p:spPr>
          <a:xfrm>
            <a:off x="1325880" y="658368"/>
            <a:ext cx="2743200" cy="548640"/>
          </a:xfrm>
          <a:prstGeom prst="rect">
            <a:avLst/>
          </a:prstGeom>
          <a:noFill/>
          <a:ln/>
        </p:spPr>
        <p:txBody>
          <a:bodyPr wrap="square" lIns="0" tIns="0" rIns="0" bIns="0" rtlCol="0" anchor="ctr"/>
          <a:lstStyle/>
          <a:p>
            <a:pPr indent="0" marL="0">
              <a:buNone/>
            </a:pPr>
            <a:r>
              <a:rPr lang="en-US" sz="3000" b="1" dirty="0">
                <a:solidFill>
                  <a:srgbClr val="0A0A0B"/>
                </a:solidFill>
              </a:rPr>
              <a:t>serve</a:t>
            </a:r>
            <a:endParaRPr lang="en-US" sz="3000" dirty="0"/>
          </a:p>
        </p:txBody>
      </p:sp>
      <p:sp>
        <p:nvSpPr>
          <p:cNvPr id="4" name="Text 1"/>
          <p:cNvSpPr txBox="1"/>
          <p:nvPr/>
        </p:nvSpPr>
        <p:spPr>
          <a:xfrm>
            <a:off x="731520" y="1828800"/>
            <a:ext cx="5120640" cy="1828800"/>
          </a:xfrm>
          <a:prstGeom prst="rect">
            <a:avLst/>
          </a:prstGeom>
          <a:noFill/>
          <a:ln/>
        </p:spPr>
        <p:txBody>
          <a:bodyPr wrap="square" lIns="0" tIns="0" rIns="0" bIns="0" rtlCol="0" anchor="t"/>
          <a:lstStyle/>
          <a:p>
            <a:pPr indent="0" marL="0">
              <a:lnSpc>
                <a:spcPct val="95000"/>
              </a:lnSpc>
              <a:buNone/>
            </a:pPr>
            <a:r>
              <a:rPr lang="en-US" sz="5400" b="1" dirty="0">
                <a:solidFill>
                  <a:srgbClr val="0A0A0B"/>
                </a:solidFill>
              </a:rPr>
              <a:t>Play more.
</a:t>
            </a:r>
            <a:pPr indent="0" marL="0">
              <a:lnSpc>
                <a:spcPct val="95000"/>
              </a:lnSpc>
              <a:buNone/>
            </a:pPr>
            <a:r>
              <a:rPr lang="en-US" sz="5400" b="1" dirty="0">
                <a:solidFill>
                  <a:srgbClr val="0A7F44"/>
                </a:solidFill>
              </a:rPr>
              <a:t>Manage less.</a:t>
            </a:r>
            <a:endParaRPr lang="en-US" sz="5400" dirty="0"/>
          </a:p>
        </p:txBody>
      </p:sp>
      <p:sp>
        <p:nvSpPr>
          <p:cNvPr id="5" name="Text 2"/>
          <p:cNvSpPr txBox="1"/>
          <p:nvPr/>
        </p:nvSpPr>
        <p:spPr>
          <a:xfrm>
            <a:off x="731520" y="3794760"/>
            <a:ext cx="4754880" cy="914400"/>
          </a:xfrm>
          <a:prstGeom prst="rect">
            <a:avLst/>
          </a:prstGeom>
          <a:noFill/>
          <a:ln/>
        </p:spPr>
        <p:txBody>
          <a:bodyPr wrap="square" lIns="0" tIns="0" rIns="0" bIns="0" rtlCol="0" anchor="t"/>
          <a:lstStyle/>
          <a:p>
            <a:pPr indent="0" marL="0">
              <a:buNone/>
            </a:pPr>
            <a:r>
              <a:rPr lang="en-US" sz="1700" dirty="0">
                <a:solidFill>
                  <a:srgbClr val="55555C"/>
                </a:solidFill>
              </a:rPr>
              <a:t>Your agent sets up your games with your friends' agents, plans around your week, and cuts your highlights. You just say yes.</a:t>
            </a:r>
            <a:endParaRPr lang="en-US" sz="1700" dirty="0"/>
          </a:p>
        </p:txBody>
      </p:sp>
      <p:sp>
        <p:nvSpPr>
          <p:cNvPr id="6" name="Shape 3"/>
          <p:cNvSpPr/>
          <p:nvPr/>
        </p:nvSpPr>
        <p:spPr>
          <a:xfrm>
            <a:off x="731520" y="4983480"/>
            <a:ext cx="128016" cy="128016"/>
          </a:xfrm>
          <a:prstGeom prst="ellipse">
            <a:avLst/>
          </a:prstGeom>
          <a:solidFill>
            <a:srgbClr val="0A7F44"/>
          </a:solidFill>
          <a:ln w="12700">
            <a:solidFill>
              <a:srgbClr val="0A7F44"/>
            </a:solidFill>
            <a:prstDash val="solid"/>
          </a:ln>
        </p:spPr>
      </p:sp>
      <p:sp>
        <p:nvSpPr>
          <p:cNvPr id="7" name="Text 4"/>
          <p:cNvSpPr txBox="1"/>
          <p:nvPr/>
        </p:nvSpPr>
        <p:spPr>
          <a:xfrm>
            <a:off x="987552" y="4892040"/>
            <a:ext cx="4572000" cy="310896"/>
          </a:xfrm>
          <a:prstGeom prst="rect">
            <a:avLst/>
          </a:prstGeom>
          <a:noFill/>
          <a:ln/>
        </p:spPr>
        <p:txBody>
          <a:bodyPr wrap="square" lIns="0" tIns="0" rIns="0" bIns="0" rtlCol="0" anchor="ctr"/>
          <a:lstStyle/>
          <a:p>
            <a:pPr indent="0" marL="0">
              <a:buNone/>
            </a:pPr>
            <a:r>
              <a:rPr lang="en-US" sz="1400" b="1" dirty="0">
                <a:solidFill>
                  <a:srgbClr val="0A0A0B"/>
                </a:solidFill>
              </a:rPr>
              <a:t>Agents agree your week</a:t>
            </a:r>
            <a:endParaRPr lang="en-US" sz="1400" dirty="0"/>
          </a:p>
        </p:txBody>
      </p:sp>
      <p:sp>
        <p:nvSpPr>
          <p:cNvPr id="8" name="Shape 5"/>
          <p:cNvSpPr/>
          <p:nvPr/>
        </p:nvSpPr>
        <p:spPr>
          <a:xfrm>
            <a:off x="731520" y="5394960"/>
            <a:ext cx="128016" cy="128016"/>
          </a:xfrm>
          <a:prstGeom prst="ellipse">
            <a:avLst/>
          </a:prstGeom>
          <a:solidFill>
            <a:srgbClr val="0064E0"/>
          </a:solidFill>
          <a:ln w="12700">
            <a:solidFill>
              <a:srgbClr val="0064E0"/>
            </a:solidFill>
            <a:prstDash val="solid"/>
          </a:ln>
        </p:spPr>
      </p:sp>
      <p:sp>
        <p:nvSpPr>
          <p:cNvPr id="9" name="Text 6"/>
          <p:cNvSpPr txBox="1"/>
          <p:nvPr/>
        </p:nvSpPr>
        <p:spPr>
          <a:xfrm>
            <a:off x="987552" y="5303520"/>
            <a:ext cx="4572000" cy="310896"/>
          </a:xfrm>
          <a:prstGeom prst="rect">
            <a:avLst/>
          </a:prstGeom>
          <a:noFill/>
          <a:ln/>
        </p:spPr>
        <p:txBody>
          <a:bodyPr wrap="square" lIns="0" tIns="0" rIns="0" bIns="0" rtlCol="0" anchor="ctr"/>
          <a:lstStyle/>
          <a:p>
            <a:pPr indent="0" marL="0">
              <a:buNone/>
            </a:pPr>
            <a:r>
              <a:rPr lang="en-US" sz="1400" b="1" dirty="0">
                <a:solidFill>
                  <a:srgbClr val="0A0A0B"/>
                </a:solidFill>
              </a:rPr>
              <a:t>Your agent in Messenger</a:t>
            </a:r>
            <a:endParaRPr lang="en-US" sz="1400" dirty="0"/>
          </a:p>
        </p:txBody>
      </p:sp>
      <p:sp>
        <p:nvSpPr>
          <p:cNvPr id="10" name="Shape 7"/>
          <p:cNvSpPr/>
          <p:nvPr/>
        </p:nvSpPr>
        <p:spPr>
          <a:xfrm>
            <a:off x="731520" y="5806440"/>
            <a:ext cx="128016" cy="128016"/>
          </a:xfrm>
          <a:prstGeom prst="ellipse">
            <a:avLst/>
          </a:prstGeom>
          <a:solidFill>
            <a:srgbClr val="0A0A0B"/>
          </a:solidFill>
          <a:ln w="12700">
            <a:solidFill>
              <a:srgbClr val="0A0A0B"/>
            </a:solidFill>
            <a:prstDash val="solid"/>
          </a:ln>
        </p:spPr>
      </p:sp>
      <p:sp>
        <p:nvSpPr>
          <p:cNvPr id="11" name="Text 8"/>
          <p:cNvSpPr txBox="1"/>
          <p:nvPr/>
        </p:nvSpPr>
        <p:spPr>
          <a:xfrm>
            <a:off x="987552" y="5715000"/>
            <a:ext cx="4572000" cy="310896"/>
          </a:xfrm>
          <a:prstGeom prst="rect">
            <a:avLst/>
          </a:prstGeom>
          <a:noFill/>
          <a:ln/>
        </p:spPr>
        <p:txBody>
          <a:bodyPr wrap="square" lIns="0" tIns="0" rIns="0" bIns="0" rtlCol="0" anchor="ctr"/>
          <a:lstStyle/>
          <a:p>
            <a:pPr indent="0" marL="0">
              <a:buNone/>
            </a:pPr>
            <a:r>
              <a:rPr lang="en-US" sz="1400" b="1" dirty="0">
                <a:solidFill>
                  <a:srgbClr val="0A0A0B"/>
                </a:solidFill>
              </a:rPr>
              <a:t>Six Meta models carry it; 15 used in all</a:t>
            </a:r>
            <a:endParaRPr lang="en-US" sz="1400" dirty="0"/>
          </a:p>
        </p:txBody>
      </p:sp>
      <p:sp>
        <p:nvSpPr>
          <p:cNvPr id="12" name="Text 9"/>
          <p:cNvSpPr txBox="1"/>
          <p:nvPr/>
        </p:nvSpPr>
        <p:spPr>
          <a:xfrm>
            <a:off x="731520" y="6263640"/>
            <a:ext cx="5120640" cy="274320"/>
          </a:xfrm>
          <a:prstGeom prst="rect">
            <a:avLst/>
          </a:prstGeom>
          <a:noFill/>
          <a:ln/>
        </p:spPr>
        <p:txBody>
          <a:bodyPr wrap="square" lIns="0" tIns="0" rIns="0" bIns="0" rtlCol="0" anchor="t"/>
          <a:lstStyle/>
          <a:p>
            <a:pPr indent="0" marL="0">
              <a:buNone/>
            </a:pPr>
            <a:r>
              <a:rPr lang="en-US" sz="1100" dirty="0">
                <a:solidFill>
                  <a:srgbClr val="55555C"/>
                </a:solidFill>
              </a:rPr>
              <a:t>Not a coach, not a sports analyzer, not a medical tool: a club that organizes itself.</a:t>
            </a:r>
            <a:endParaRPr lang="en-US" sz="1100" dirty="0"/>
          </a:p>
        </p:txBody>
      </p:sp>
      <p:sp>
        <p:nvSpPr>
          <p:cNvPr id="13" name="Shape 10"/>
          <p:cNvSpPr/>
          <p:nvPr/>
        </p:nvSpPr>
        <p:spPr>
          <a:xfrm>
            <a:off x="6108192" y="713232"/>
            <a:ext cx="2494189" cy="5248656"/>
          </a:xfrm>
          <a:prstGeom prst="roundRect">
            <a:avLst>
              <a:gd name="adj" fmla="val 7332"/>
            </a:avLst>
          </a:prstGeom>
          <a:solidFill>
            <a:srgbClr val="0A0A0B"/>
          </a:solidFill>
          <a:ln w="12700">
            <a:solidFill>
              <a:srgbClr val="0A0A0B"/>
            </a:solidFill>
            <a:prstDash val="solid"/>
          </a:ln>
        </p:spPr>
      </p:sp>
      <p:pic>
        <p:nvPicPr>
          <p:cNvPr id="14" name="Image 1" descr="preencoded.png">    </p:cNvPr>
          <p:cNvPicPr>
            <a:picLocks noChangeAspect="1"/>
          </p:cNvPicPr>
          <p:nvPr/>
        </p:nvPicPr>
        <p:blipFill>
          <a:blip r:embed="rId2"/>
          <a:stretch>
            <a:fillRect/>
          </a:stretch>
        </p:blipFill>
        <p:spPr>
          <a:xfrm>
            <a:off x="6172200" y="777240"/>
            <a:ext cx="2366173" cy="5120640"/>
          </a:xfrm>
          <a:prstGeom prst="rect">
            <a:avLst/>
          </a:prstGeom>
        </p:spPr>
      </p:pic>
      <p:sp>
        <p:nvSpPr>
          <p:cNvPr id="15" name="Shape 11"/>
          <p:cNvSpPr/>
          <p:nvPr/>
        </p:nvSpPr>
        <p:spPr>
          <a:xfrm>
            <a:off x="8851392" y="1170432"/>
            <a:ext cx="2494189" cy="5248656"/>
          </a:xfrm>
          <a:prstGeom prst="roundRect">
            <a:avLst>
              <a:gd name="adj" fmla="val 7332"/>
            </a:avLst>
          </a:prstGeom>
          <a:solidFill>
            <a:srgbClr val="0A0A0B"/>
          </a:solidFill>
          <a:ln w="12700">
            <a:solidFill>
              <a:srgbClr val="0A0A0B"/>
            </a:solidFill>
            <a:prstDash val="solid"/>
          </a:ln>
        </p:spPr>
      </p:sp>
      <p:pic>
        <p:nvPicPr>
          <p:cNvPr id="16" name="Image 2" descr="preencoded.png">    </p:cNvPr>
          <p:cNvPicPr>
            <a:picLocks noChangeAspect="1"/>
          </p:cNvPicPr>
          <p:nvPr/>
        </p:nvPicPr>
        <p:blipFill>
          <a:blip r:embed="rId3"/>
          <a:stretch>
            <a:fillRect/>
          </a:stretch>
        </p:blipFill>
        <p:spPr>
          <a:xfrm>
            <a:off x="8915400" y="1234440"/>
            <a:ext cx="2366173" cy="5120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IMPACT · 30%</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People don't quit the game. They quit organizing it</a:t>
            </a:r>
            <a:endParaRPr lang="en-US" sz="3200" dirty="0"/>
          </a:p>
        </p:txBody>
      </p:sp>
      <p:sp>
        <p:nvSpPr>
          <p:cNvPr id="5" name="Shape 2"/>
          <p:cNvSpPr/>
          <p:nvPr/>
        </p:nvSpPr>
        <p:spPr>
          <a:xfrm>
            <a:off x="548640" y="1691640"/>
            <a:ext cx="3291840" cy="4434840"/>
          </a:xfrm>
          <a:prstGeom prst="roundRect">
            <a:avLst>
              <a:gd name="adj" fmla="val 3333"/>
            </a:avLst>
          </a:prstGeom>
          <a:solidFill>
            <a:srgbClr val="E9F3EC"/>
          </a:solidFill>
          <a:ln w="12700">
            <a:solidFill>
              <a:srgbClr val="E9F3EC"/>
            </a:solidFill>
            <a:prstDash val="solid"/>
          </a:ln>
        </p:spPr>
      </p:sp>
      <p:sp>
        <p:nvSpPr>
          <p:cNvPr id="6" name="Text 3"/>
          <p:cNvSpPr txBox="1"/>
          <p:nvPr/>
        </p:nvSpPr>
        <p:spPr>
          <a:xfrm>
            <a:off x="822960" y="1920240"/>
            <a:ext cx="2971800" cy="731520"/>
          </a:xfrm>
          <a:prstGeom prst="rect">
            <a:avLst/>
          </a:prstGeom>
          <a:noFill/>
          <a:ln/>
        </p:spPr>
        <p:txBody>
          <a:bodyPr wrap="square" lIns="0" tIns="0" rIns="0" bIns="0" rtlCol="0" anchor="t"/>
          <a:lstStyle/>
          <a:p>
            <a:pPr indent="0" marL="0">
              <a:buNone/>
            </a:pPr>
            <a:r>
              <a:rPr lang="en-US" sz="3800" b="1" dirty="0">
                <a:solidFill>
                  <a:srgbClr val="0A7F44"/>
                </a:solidFill>
              </a:rPr>
              <a:t>40% → 26%</a:t>
            </a:r>
            <a:endParaRPr lang="en-US" sz="3800" dirty="0"/>
          </a:p>
        </p:txBody>
      </p:sp>
      <p:sp>
        <p:nvSpPr>
          <p:cNvPr id="7" name="Text 4"/>
          <p:cNvSpPr txBox="1"/>
          <p:nvPr/>
        </p:nvSpPr>
        <p:spPr>
          <a:xfrm>
            <a:off x="822960" y="2697480"/>
            <a:ext cx="2743200" cy="594360"/>
          </a:xfrm>
          <a:prstGeom prst="rect">
            <a:avLst/>
          </a:prstGeom>
          <a:noFill/>
          <a:ln/>
        </p:spPr>
        <p:txBody>
          <a:bodyPr wrap="square" lIns="0" tIns="0" rIns="0" bIns="0" rtlCol="0" anchor="t"/>
          <a:lstStyle/>
          <a:p>
            <a:pPr indent="0" marL="0">
              <a:buNone/>
            </a:pPr>
            <a:r>
              <a:rPr lang="en-US" sz="1500" dirty="0">
                <a:solidFill>
                  <a:srgbClr val="0A0A0B"/>
                </a:solidFill>
              </a:rPr>
              <a:t>of US adults play a sport at ages 18 to 21, then at 26 to 49</a:t>
            </a:r>
            <a:endParaRPr lang="en-US" sz="1500" dirty="0"/>
          </a:p>
        </p:txBody>
      </p:sp>
      <p:sp>
        <p:nvSpPr>
          <p:cNvPr id="8" name="Text 5"/>
          <p:cNvSpPr txBox="1"/>
          <p:nvPr/>
        </p:nvSpPr>
        <p:spPr>
          <a:xfrm>
            <a:off x="822960" y="3291840"/>
            <a:ext cx="2743200" cy="411480"/>
          </a:xfrm>
          <a:prstGeom prst="rect">
            <a:avLst/>
          </a:prstGeom>
          <a:noFill/>
          <a:ln/>
        </p:spPr>
        <p:txBody>
          <a:bodyPr wrap="square" lIns="0" tIns="0" rIns="0" bIns="0" rtlCol="0" anchor="t"/>
          <a:lstStyle/>
          <a:p>
            <a:pPr indent="0" marL="0">
              <a:buNone/>
            </a:pPr>
            <a:r>
              <a:rPr lang="en-US" sz="1050" dirty="0">
                <a:solidFill>
                  <a:srgbClr val="55555C"/>
                </a:solidFill>
              </a:rPr>
              <a:t>NPR, RWJF and Harvard Chan poll of 2,506 adults, 2015</a:t>
            </a:r>
            <a:endParaRPr lang="en-US" sz="1050" dirty="0"/>
          </a:p>
        </p:txBody>
      </p:sp>
      <p:sp>
        <p:nvSpPr>
          <p:cNvPr id="9" name="Text 6"/>
          <p:cNvSpPr txBox="1"/>
          <p:nvPr/>
        </p:nvSpPr>
        <p:spPr>
          <a:xfrm>
            <a:off x="822960" y="3886200"/>
            <a:ext cx="2743200" cy="228600"/>
          </a:xfrm>
          <a:prstGeom prst="rect">
            <a:avLst/>
          </a:prstGeom>
          <a:noFill/>
          <a:ln/>
        </p:spPr>
        <p:txBody>
          <a:bodyPr wrap="square" lIns="0" tIns="0" rIns="0" bIns="0" rtlCol="0" anchor="t"/>
          <a:lstStyle/>
          <a:p>
            <a:pPr indent="0" marL="0">
              <a:buNone/>
            </a:pPr>
            <a:r>
              <a:rPr lang="en-US" sz="1000" b="1" spc="100" kern="0" dirty="0">
                <a:solidFill>
                  <a:srgbClr val="0A7F44"/>
                </a:solidFill>
              </a:rPr>
              <a:t>WHAT STOPS ADULTS (NZ)</a:t>
            </a:r>
            <a:endParaRPr lang="en-US" sz="1000" dirty="0"/>
          </a:p>
        </p:txBody>
      </p:sp>
      <p:sp>
        <p:nvSpPr>
          <p:cNvPr id="10" name="Text 7"/>
          <p:cNvSpPr txBox="1"/>
          <p:nvPr/>
        </p:nvSpPr>
        <p:spPr>
          <a:xfrm>
            <a:off x="822960" y="4160520"/>
            <a:ext cx="731520" cy="365760"/>
          </a:xfrm>
          <a:prstGeom prst="rect">
            <a:avLst/>
          </a:prstGeom>
          <a:noFill/>
          <a:ln/>
        </p:spPr>
        <p:txBody>
          <a:bodyPr wrap="square" lIns="0" tIns="0" rIns="0" bIns="0" rtlCol="0" anchor="t"/>
          <a:lstStyle/>
          <a:p>
            <a:pPr indent="0" marL="0">
              <a:buNone/>
            </a:pPr>
            <a:r>
              <a:rPr lang="en-US" sz="1800" b="1" dirty="0">
                <a:solidFill>
                  <a:srgbClr val="0A0A0B"/>
                </a:solidFill>
              </a:rPr>
              <a:t>64%</a:t>
            </a:r>
            <a:endParaRPr lang="en-US" sz="1800" dirty="0"/>
          </a:p>
        </p:txBody>
      </p:sp>
      <p:sp>
        <p:nvSpPr>
          <p:cNvPr id="11" name="Text 8"/>
          <p:cNvSpPr txBox="1"/>
          <p:nvPr/>
        </p:nvSpPr>
        <p:spPr>
          <a:xfrm>
            <a:off x="1554480" y="4160520"/>
            <a:ext cx="2194560" cy="365760"/>
          </a:xfrm>
          <a:prstGeom prst="rect">
            <a:avLst/>
          </a:prstGeom>
          <a:noFill/>
          <a:ln/>
        </p:spPr>
        <p:txBody>
          <a:bodyPr wrap="square" lIns="0" tIns="0" rIns="0" bIns="0" rtlCol="0" anchor="ctr"/>
          <a:lstStyle/>
          <a:p>
            <a:pPr indent="0" marL="0">
              <a:buNone/>
            </a:pPr>
            <a:r>
              <a:rPr lang="en-US" sz="1200" dirty="0">
                <a:solidFill>
                  <a:srgbClr val="0A0A0B"/>
                </a:solidFill>
              </a:rPr>
              <a:t>other commitments come first</a:t>
            </a:r>
            <a:endParaRPr lang="en-US" sz="1200" dirty="0"/>
          </a:p>
        </p:txBody>
      </p:sp>
      <p:sp>
        <p:nvSpPr>
          <p:cNvPr id="12" name="Text 9"/>
          <p:cNvSpPr txBox="1"/>
          <p:nvPr/>
        </p:nvSpPr>
        <p:spPr>
          <a:xfrm>
            <a:off x="822960" y="4572000"/>
            <a:ext cx="731520" cy="365760"/>
          </a:xfrm>
          <a:prstGeom prst="rect">
            <a:avLst/>
          </a:prstGeom>
          <a:noFill/>
          <a:ln/>
        </p:spPr>
        <p:txBody>
          <a:bodyPr wrap="square" lIns="0" tIns="0" rIns="0" bIns="0" rtlCol="0" anchor="t"/>
          <a:lstStyle/>
          <a:p>
            <a:pPr indent="0" marL="0">
              <a:buNone/>
            </a:pPr>
            <a:r>
              <a:rPr lang="en-US" sz="1800" b="1" dirty="0">
                <a:solidFill>
                  <a:srgbClr val="0A0A0B"/>
                </a:solidFill>
              </a:rPr>
              <a:t>21%</a:t>
            </a:r>
            <a:endParaRPr lang="en-US" sz="1800" dirty="0"/>
          </a:p>
        </p:txBody>
      </p:sp>
      <p:sp>
        <p:nvSpPr>
          <p:cNvPr id="13" name="Text 10"/>
          <p:cNvSpPr txBox="1"/>
          <p:nvPr/>
        </p:nvSpPr>
        <p:spPr>
          <a:xfrm>
            <a:off x="1554480" y="4572000"/>
            <a:ext cx="2194560" cy="365760"/>
          </a:xfrm>
          <a:prstGeom prst="rect">
            <a:avLst/>
          </a:prstGeom>
          <a:noFill/>
          <a:ln/>
        </p:spPr>
        <p:txBody>
          <a:bodyPr wrap="square" lIns="0" tIns="0" rIns="0" bIns="0" rtlCol="0" anchor="ctr"/>
          <a:lstStyle/>
          <a:p>
            <a:pPr indent="0" marL="0">
              <a:buNone/>
            </a:pPr>
            <a:r>
              <a:rPr lang="en-US" sz="1200" dirty="0">
                <a:solidFill>
                  <a:srgbClr val="0A0A0B"/>
                </a:solidFill>
              </a:rPr>
              <a:t>got out of the habit</a:t>
            </a:r>
            <a:endParaRPr lang="en-US" sz="1200" dirty="0"/>
          </a:p>
        </p:txBody>
      </p:sp>
      <p:sp>
        <p:nvSpPr>
          <p:cNvPr id="14" name="Text 11"/>
          <p:cNvSpPr txBox="1"/>
          <p:nvPr/>
        </p:nvSpPr>
        <p:spPr>
          <a:xfrm>
            <a:off x="822960" y="4983480"/>
            <a:ext cx="731520" cy="365760"/>
          </a:xfrm>
          <a:prstGeom prst="rect">
            <a:avLst/>
          </a:prstGeom>
          <a:noFill/>
          <a:ln/>
        </p:spPr>
        <p:txBody>
          <a:bodyPr wrap="square" lIns="0" tIns="0" rIns="0" bIns="0" rtlCol="0" anchor="t"/>
          <a:lstStyle/>
          <a:p>
            <a:pPr indent="0" marL="0">
              <a:buNone/>
            </a:pPr>
            <a:r>
              <a:rPr lang="en-US" sz="1800" b="1" dirty="0">
                <a:solidFill>
                  <a:srgbClr val="0A0A0B"/>
                </a:solidFill>
              </a:rPr>
              <a:t>10%</a:t>
            </a:r>
            <a:endParaRPr lang="en-US" sz="1800" dirty="0"/>
          </a:p>
        </p:txBody>
      </p:sp>
      <p:sp>
        <p:nvSpPr>
          <p:cNvPr id="15" name="Text 12"/>
          <p:cNvSpPr txBox="1"/>
          <p:nvPr/>
        </p:nvSpPr>
        <p:spPr>
          <a:xfrm>
            <a:off x="1554480" y="4983480"/>
            <a:ext cx="2194560" cy="365760"/>
          </a:xfrm>
          <a:prstGeom prst="rect">
            <a:avLst/>
          </a:prstGeom>
          <a:noFill/>
          <a:ln/>
        </p:spPr>
        <p:txBody>
          <a:bodyPr wrap="square" lIns="0" tIns="0" rIns="0" bIns="0" rtlCol="0" anchor="ctr"/>
          <a:lstStyle/>
          <a:p>
            <a:pPr indent="0" marL="0">
              <a:buNone/>
            </a:pPr>
            <a:r>
              <a:rPr lang="en-US" sz="1200" dirty="0">
                <a:solidFill>
                  <a:srgbClr val="0A0A0B"/>
                </a:solidFill>
              </a:rPr>
              <a:t>no one to do it with</a:t>
            </a:r>
            <a:endParaRPr lang="en-US" sz="1200" dirty="0"/>
          </a:p>
        </p:txBody>
      </p:sp>
      <p:sp>
        <p:nvSpPr>
          <p:cNvPr id="16" name="Text 13"/>
          <p:cNvSpPr txBox="1"/>
          <p:nvPr/>
        </p:nvSpPr>
        <p:spPr>
          <a:xfrm>
            <a:off x="822960" y="5440680"/>
            <a:ext cx="2743200" cy="274320"/>
          </a:xfrm>
          <a:prstGeom prst="rect">
            <a:avLst/>
          </a:prstGeom>
          <a:noFill/>
          <a:ln/>
        </p:spPr>
        <p:txBody>
          <a:bodyPr wrap="square" lIns="0" tIns="0" rIns="0" bIns="0" rtlCol="0" anchor="t"/>
          <a:lstStyle/>
          <a:p>
            <a:pPr indent="0" marL="0">
              <a:buNone/>
            </a:pPr>
            <a:r>
              <a:rPr lang="en-US" sz="1050" dirty="0">
                <a:solidFill>
                  <a:srgbClr val="55555C"/>
                </a:solidFill>
              </a:rPr>
              <a:t>Active NZ survey, Sport New Zealand, 2023</a:t>
            </a:r>
            <a:endParaRPr lang="en-US" sz="1050" dirty="0"/>
          </a:p>
        </p:txBody>
      </p:sp>
      <p:sp>
        <p:nvSpPr>
          <p:cNvPr id="17" name="Text 14"/>
          <p:cNvSpPr txBox="1"/>
          <p:nvPr/>
        </p:nvSpPr>
        <p:spPr>
          <a:xfrm>
            <a:off x="4206240" y="1691640"/>
            <a:ext cx="3291840" cy="274320"/>
          </a:xfrm>
          <a:prstGeom prst="rect">
            <a:avLst/>
          </a:prstGeom>
          <a:noFill/>
          <a:ln/>
        </p:spPr>
        <p:txBody>
          <a:bodyPr wrap="square" lIns="0" tIns="0" rIns="0" bIns="0" rtlCol="0" anchor="t"/>
          <a:lstStyle/>
          <a:p>
            <a:pPr indent="0" marL="0">
              <a:buNone/>
            </a:pPr>
            <a:r>
              <a:rPr lang="en-US" sz="1100" b="1" spc="100" kern="0" dirty="0">
                <a:solidFill>
                  <a:srgbClr val="D1352B"/>
                </a:solidFill>
              </a:rPr>
              <a:t>THE PAIN</a:t>
            </a:r>
            <a:endParaRPr lang="en-US" sz="1100" dirty="0"/>
          </a:p>
        </p:txBody>
      </p:sp>
      <p:sp>
        <p:nvSpPr>
          <p:cNvPr id="18" name="Text 15"/>
          <p:cNvSpPr txBox="1"/>
          <p:nvPr/>
        </p:nvSpPr>
        <p:spPr>
          <a:xfrm>
            <a:off x="8001000" y="1691640"/>
            <a:ext cx="3566160" cy="274320"/>
          </a:xfrm>
          <a:prstGeom prst="rect">
            <a:avLst/>
          </a:prstGeom>
          <a:noFill/>
          <a:ln/>
        </p:spPr>
        <p:txBody>
          <a:bodyPr wrap="square" lIns="0" tIns="0" rIns="0" bIns="0" rtlCol="0" anchor="t"/>
          <a:lstStyle/>
          <a:p>
            <a:pPr indent="0" marL="0">
              <a:buNone/>
            </a:pPr>
            <a:r>
              <a:rPr lang="en-US" sz="1100" b="1" spc="100" kern="0" dirty="0">
                <a:solidFill>
                  <a:srgbClr val="0A7F44"/>
                </a:solidFill>
              </a:rPr>
              <a:t>WHAT SERVE DOES</a:t>
            </a:r>
            <a:endParaRPr lang="en-US" sz="1100" dirty="0"/>
          </a:p>
        </p:txBody>
      </p:sp>
      <p:sp>
        <p:nvSpPr>
          <p:cNvPr id="19" name="Shape 16"/>
          <p:cNvSpPr/>
          <p:nvPr/>
        </p:nvSpPr>
        <p:spPr>
          <a:xfrm>
            <a:off x="4206240" y="2057400"/>
            <a:ext cx="3566160" cy="1234440"/>
          </a:xfrm>
          <a:prstGeom prst="roundRect">
            <a:avLst>
              <a:gd name="adj" fmla="val 8889"/>
            </a:avLst>
          </a:prstGeom>
          <a:solidFill>
            <a:srgbClr val="FFFFFF"/>
          </a:solidFill>
          <a:ln w="12700">
            <a:solidFill>
              <a:srgbClr val="DCDCE0"/>
            </a:solidFill>
            <a:prstDash val="solid"/>
          </a:ln>
        </p:spPr>
      </p:sp>
      <p:sp>
        <p:nvSpPr>
          <p:cNvPr id="20" name="Text 17"/>
          <p:cNvSpPr txBox="1"/>
          <p:nvPr/>
        </p:nvSpPr>
        <p:spPr>
          <a:xfrm>
            <a:off x="4389120" y="2194560"/>
            <a:ext cx="3200400" cy="320040"/>
          </a:xfrm>
          <a:prstGeom prst="rect">
            <a:avLst/>
          </a:prstGeom>
          <a:noFill/>
          <a:ln/>
        </p:spPr>
        <p:txBody>
          <a:bodyPr wrap="square" lIns="0" tIns="0" rIns="0" bIns="0" rtlCol="0" anchor="t"/>
          <a:lstStyle/>
          <a:p>
            <a:pPr indent="0" marL="0">
              <a:buNone/>
            </a:pPr>
            <a:r>
              <a:rPr lang="en-US" sz="1500" b="1" dirty="0">
                <a:solidFill>
                  <a:srgbClr val="0A0A0B"/>
                </a:solidFill>
              </a:rPr>
              <a:t>Playing takes organizing</a:t>
            </a:r>
            <a:endParaRPr lang="en-US" sz="1500" dirty="0"/>
          </a:p>
        </p:txBody>
      </p:sp>
      <p:sp>
        <p:nvSpPr>
          <p:cNvPr id="21" name="Text 18"/>
          <p:cNvSpPr txBox="1"/>
          <p:nvPr/>
        </p:nvSpPr>
        <p:spPr>
          <a:xfrm>
            <a:off x="4389120" y="2532888"/>
            <a:ext cx="3246120" cy="731520"/>
          </a:xfrm>
          <a:prstGeom prst="rect">
            <a:avLst/>
          </a:prstGeom>
          <a:noFill/>
          <a:ln/>
        </p:spPr>
        <p:txBody>
          <a:bodyPr wrap="square" lIns="0" tIns="0" rIns="0" bIns="0" rtlCol="0" anchor="t"/>
          <a:lstStyle/>
          <a:p>
            <a:pPr indent="0" marL="0">
              <a:buNone/>
            </a:pPr>
            <a:r>
              <a:rPr lang="en-US" sz="1200" dirty="0">
                <a:solidFill>
                  <a:srgbClr val="55555C"/>
                </a:solidFill>
              </a:rPr>
              <a:t>"Who's free this week?" "Is the court taken?" "We're one short." The group chat wears the fun out.</a:t>
            </a:r>
            <a:endParaRPr lang="en-US" sz="1200" dirty="0"/>
          </a:p>
        </p:txBody>
      </p:sp>
      <p:sp>
        <p:nvSpPr>
          <p:cNvPr id="22" name="Shape 19"/>
          <p:cNvSpPr/>
          <p:nvPr/>
        </p:nvSpPr>
        <p:spPr>
          <a:xfrm>
            <a:off x="7790688" y="2679192"/>
            <a:ext cx="182880" cy="0"/>
          </a:xfrm>
          <a:prstGeom prst="line">
            <a:avLst/>
          </a:prstGeom>
          <a:noFill/>
          <a:ln w="22225">
            <a:solidFill>
              <a:srgbClr val="8A8A92"/>
            </a:solidFill>
            <a:prstDash val="solid"/>
            <a:tailEnd type="triangle"/>
          </a:ln>
        </p:spPr>
      </p:sp>
      <p:sp>
        <p:nvSpPr>
          <p:cNvPr id="23" name="Shape 20"/>
          <p:cNvSpPr/>
          <p:nvPr/>
        </p:nvSpPr>
        <p:spPr>
          <a:xfrm>
            <a:off x="8001000" y="2057400"/>
            <a:ext cx="3611880" cy="1234440"/>
          </a:xfrm>
          <a:prstGeom prst="roundRect">
            <a:avLst>
              <a:gd name="adj" fmla="val 8889"/>
            </a:avLst>
          </a:prstGeom>
          <a:solidFill>
            <a:srgbClr val="E9F3EC"/>
          </a:solidFill>
          <a:ln w="12700">
            <a:solidFill>
              <a:srgbClr val="E9F3EC"/>
            </a:solidFill>
            <a:prstDash val="solid"/>
          </a:ln>
        </p:spPr>
      </p:sp>
      <p:sp>
        <p:nvSpPr>
          <p:cNvPr id="24" name="Text 21"/>
          <p:cNvSpPr txBox="1"/>
          <p:nvPr/>
        </p:nvSpPr>
        <p:spPr>
          <a:xfrm>
            <a:off x="8183880" y="2221992"/>
            <a:ext cx="3291840" cy="1005840"/>
          </a:xfrm>
          <a:prstGeom prst="rect">
            <a:avLst/>
          </a:prstGeom>
          <a:noFill/>
          <a:ln/>
        </p:spPr>
        <p:txBody>
          <a:bodyPr wrap="square" lIns="0" tIns="0" rIns="0" bIns="0" rtlCol="0" anchor="t"/>
          <a:lstStyle/>
          <a:p>
            <a:pPr indent="0" marL="0">
              <a:buNone/>
            </a:pPr>
            <a:r>
              <a:rPr lang="en-US" sz="1300" dirty="0">
                <a:solidFill>
                  <a:srgbClr val="0A0A0B"/>
                </a:solidFill>
              </a:rPr>
              <a:t>Your agent agrees the time and the court with the other players' agents. You approve once; your phone says "Game on: Thu 19:00, 4 in."</a:t>
            </a:r>
            <a:endParaRPr lang="en-US" sz="1300" dirty="0"/>
          </a:p>
        </p:txBody>
      </p:sp>
      <p:sp>
        <p:nvSpPr>
          <p:cNvPr id="25" name="Shape 22"/>
          <p:cNvSpPr/>
          <p:nvPr/>
        </p:nvSpPr>
        <p:spPr>
          <a:xfrm>
            <a:off x="4206240" y="3429000"/>
            <a:ext cx="3566160" cy="1234440"/>
          </a:xfrm>
          <a:prstGeom prst="roundRect">
            <a:avLst>
              <a:gd name="adj" fmla="val 8889"/>
            </a:avLst>
          </a:prstGeom>
          <a:solidFill>
            <a:srgbClr val="FFFFFF"/>
          </a:solidFill>
          <a:ln w="12700">
            <a:solidFill>
              <a:srgbClr val="DCDCE0"/>
            </a:solidFill>
            <a:prstDash val="solid"/>
          </a:ln>
        </p:spPr>
      </p:sp>
      <p:sp>
        <p:nvSpPr>
          <p:cNvPr id="26" name="Text 23"/>
          <p:cNvSpPr txBox="1"/>
          <p:nvPr/>
        </p:nvSpPr>
        <p:spPr>
          <a:xfrm>
            <a:off x="4389120" y="3566160"/>
            <a:ext cx="3200400" cy="320040"/>
          </a:xfrm>
          <a:prstGeom prst="rect">
            <a:avLst/>
          </a:prstGeom>
          <a:noFill/>
          <a:ln/>
        </p:spPr>
        <p:txBody>
          <a:bodyPr wrap="square" lIns="0" tIns="0" rIns="0" bIns="0" rtlCol="0" anchor="t"/>
          <a:lstStyle/>
          <a:p>
            <a:pPr indent="0" marL="0">
              <a:buNone/>
            </a:pPr>
            <a:r>
              <a:rPr lang="en-US" sz="1500" b="1" dirty="0">
                <a:solidFill>
                  <a:srgbClr val="0A0A0B"/>
                </a:solidFill>
              </a:rPr>
              <a:t>Nobody pushes you</a:t>
            </a:r>
            <a:endParaRPr lang="en-US" sz="1500" dirty="0"/>
          </a:p>
        </p:txBody>
      </p:sp>
      <p:sp>
        <p:nvSpPr>
          <p:cNvPr id="27" name="Text 24"/>
          <p:cNvSpPr txBox="1"/>
          <p:nvPr/>
        </p:nvSpPr>
        <p:spPr>
          <a:xfrm>
            <a:off x="4389120" y="3904488"/>
            <a:ext cx="3246120" cy="731520"/>
          </a:xfrm>
          <a:prstGeom prst="rect">
            <a:avLst/>
          </a:prstGeom>
          <a:noFill/>
          <a:ln/>
        </p:spPr>
        <p:txBody>
          <a:bodyPr wrap="square" lIns="0" tIns="0" rIns="0" bIns="0" rtlCol="0" anchor="t"/>
          <a:lstStyle/>
          <a:p>
            <a:pPr indent="0" marL="0">
              <a:buNone/>
            </a:pPr>
            <a:r>
              <a:rPr lang="en-US" sz="1200" dirty="0">
                <a:solidFill>
                  <a:srgbClr val="55555C"/>
                </a:solidFill>
              </a:rPr>
              <a:t>One missed week becomes a month. Apps count steps; none books your next game.</a:t>
            </a:r>
            <a:endParaRPr lang="en-US" sz="1200" dirty="0"/>
          </a:p>
        </p:txBody>
      </p:sp>
      <p:sp>
        <p:nvSpPr>
          <p:cNvPr id="28" name="Shape 25"/>
          <p:cNvSpPr/>
          <p:nvPr/>
        </p:nvSpPr>
        <p:spPr>
          <a:xfrm>
            <a:off x="7790688" y="4050792"/>
            <a:ext cx="182880" cy="0"/>
          </a:xfrm>
          <a:prstGeom prst="line">
            <a:avLst/>
          </a:prstGeom>
          <a:noFill/>
          <a:ln w="22225">
            <a:solidFill>
              <a:srgbClr val="8A8A92"/>
            </a:solidFill>
            <a:prstDash val="solid"/>
            <a:tailEnd type="triangle"/>
          </a:ln>
        </p:spPr>
      </p:sp>
      <p:sp>
        <p:nvSpPr>
          <p:cNvPr id="29" name="Shape 26"/>
          <p:cNvSpPr/>
          <p:nvPr/>
        </p:nvSpPr>
        <p:spPr>
          <a:xfrm>
            <a:off x="8001000" y="3429000"/>
            <a:ext cx="3611880" cy="1234440"/>
          </a:xfrm>
          <a:prstGeom prst="roundRect">
            <a:avLst>
              <a:gd name="adj" fmla="val 8889"/>
            </a:avLst>
          </a:prstGeom>
          <a:solidFill>
            <a:srgbClr val="E9F3EC"/>
          </a:solidFill>
          <a:ln w="12700">
            <a:solidFill>
              <a:srgbClr val="E9F3EC"/>
            </a:solidFill>
            <a:prstDash val="solid"/>
          </a:ln>
        </p:spPr>
      </p:sp>
      <p:sp>
        <p:nvSpPr>
          <p:cNvPr id="30" name="Text 27"/>
          <p:cNvSpPr txBox="1"/>
          <p:nvPr/>
        </p:nvSpPr>
        <p:spPr>
          <a:xfrm>
            <a:off x="8183880" y="3593592"/>
            <a:ext cx="3291840" cy="1005840"/>
          </a:xfrm>
          <a:prstGeom prst="rect">
            <a:avLst/>
          </a:prstGeom>
          <a:noFill/>
          <a:ln/>
        </p:spPr>
        <p:txBody>
          <a:bodyPr wrap="square" lIns="0" tIns="0" rIns="0" bIns="0" rtlCol="0" anchor="t"/>
          <a:lstStyle/>
          <a:p>
            <a:pPr indent="0" marL="0">
              <a:buNone/>
            </a:pPr>
            <a:r>
              <a:rPr lang="en-US" sz="1300" dirty="0">
                <a:solidFill>
                  <a:srgbClr val="0A0A0B"/>
                </a:solidFill>
              </a:rPr>
              <a:t>When your usual time is open and your partner is free, it asks: "Thursday 19:00: Leo is free. Want a game?"</a:t>
            </a:r>
            <a:endParaRPr lang="en-US" sz="1300" dirty="0"/>
          </a:p>
        </p:txBody>
      </p:sp>
      <p:sp>
        <p:nvSpPr>
          <p:cNvPr id="31" name="Shape 28"/>
          <p:cNvSpPr/>
          <p:nvPr/>
        </p:nvSpPr>
        <p:spPr>
          <a:xfrm>
            <a:off x="4206240" y="4800600"/>
            <a:ext cx="3566160" cy="1234440"/>
          </a:xfrm>
          <a:prstGeom prst="roundRect">
            <a:avLst>
              <a:gd name="adj" fmla="val 8889"/>
            </a:avLst>
          </a:prstGeom>
          <a:solidFill>
            <a:srgbClr val="FFFFFF"/>
          </a:solidFill>
          <a:ln w="12700">
            <a:solidFill>
              <a:srgbClr val="DCDCE0"/>
            </a:solidFill>
            <a:prstDash val="solid"/>
          </a:ln>
        </p:spPr>
      </p:sp>
      <p:sp>
        <p:nvSpPr>
          <p:cNvPr id="32" name="Text 29"/>
          <p:cNvSpPr txBox="1"/>
          <p:nvPr/>
        </p:nvSpPr>
        <p:spPr>
          <a:xfrm>
            <a:off x="4389120" y="4937760"/>
            <a:ext cx="3200400" cy="320040"/>
          </a:xfrm>
          <a:prstGeom prst="rect">
            <a:avLst/>
          </a:prstGeom>
          <a:noFill/>
          <a:ln/>
        </p:spPr>
        <p:txBody>
          <a:bodyPr wrap="square" lIns="0" tIns="0" rIns="0" bIns="0" rtlCol="0" anchor="t"/>
          <a:lstStyle/>
          <a:p>
            <a:pPr indent="0" marL="0">
              <a:buNone/>
            </a:pPr>
            <a:r>
              <a:rPr lang="en-US" sz="1500" b="1" dirty="0">
                <a:solidFill>
                  <a:srgbClr val="0A0A0B"/>
                </a:solidFill>
              </a:rPr>
              <a:t>Life gets in the way</a:t>
            </a:r>
            <a:endParaRPr lang="en-US" sz="1500" dirty="0"/>
          </a:p>
        </p:txBody>
      </p:sp>
      <p:sp>
        <p:nvSpPr>
          <p:cNvPr id="33" name="Text 30"/>
          <p:cNvSpPr txBox="1"/>
          <p:nvPr/>
        </p:nvSpPr>
        <p:spPr>
          <a:xfrm>
            <a:off x="4389120" y="5276088"/>
            <a:ext cx="3246120" cy="731520"/>
          </a:xfrm>
          <a:prstGeom prst="rect">
            <a:avLst/>
          </a:prstGeom>
          <a:noFill/>
          <a:ln/>
        </p:spPr>
        <p:txBody>
          <a:bodyPr wrap="square" lIns="0" tIns="0" rIns="0" bIns="0" rtlCol="0" anchor="t"/>
          <a:lstStyle/>
          <a:p>
            <a:pPr indent="0" marL="0">
              <a:buNone/>
            </a:pPr>
            <a:r>
              <a:rPr lang="en-US" sz="1200" dirty="0">
                <a:solidFill>
                  <a:srgbClr val="55555C"/>
                </a:solidFill>
              </a:rPr>
              <a:t>A late meeting, a heavy week, rain on an outdoor court.</a:t>
            </a:r>
            <a:endParaRPr lang="en-US" sz="1200" dirty="0"/>
          </a:p>
        </p:txBody>
      </p:sp>
      <p:sp>
        <p:nvSpPr>
          <p:cNvPr id="34" name="Shape 31"/>
          <p:cNvSpPr/>
          <p:nvPr/>
        </p:nvSpPr>
        <p:spPr>
          <a:xfrm>
            <a:off x="7790688" y="5422392"/>
            <a:ext cx="182880" cy="0"/>
          </a:xfrm>
          <a:prstGeom prst="line">
            <a:avLst/>
          </a:prstGeom>
          <a:noFill/>
          <a:ln w="22225">
            <a:solidFill>
              <a:srgbClr val="8A8A92"/>
            </a:solidFill>
            <a:prstDash val="solid"/>
            <a:tailEnd type="triangle"/>
          </a:ln>
        </p:spPr>
      </p:sp>
      <p:sp>
        <p:nvSpPr>
          <p:cNvPr id="35" name="Shape 32"/>
          <p:cNvSpPr/>
          <p:nvPr/>
        </p:nvSpPr>
        <p:spPr>
          <a:xfrm>
            <a:off x="8001000" y="4800600"/>
            <a:ext cx="3611880" cy="1234440"/>
          </a:xfrm>
          <a:prstGeom prst="roundRect">
            <a:avLst>
              <a:gd name="adj" fmla="val 8889"/>
            </a:avLst>
          </a:prstGeom>
          <a:solidFill>
            <a:srgbClr val="E9F3EC"/>
          </a:solidFill>
          <a:ln w="12700">
            <a:solidFill>
              <a:srgbClr val="E9F3EC"/>
            </a:solidFill>
            <a:prstDash val="solid"/>
          </a:ln>
        </p:spPr>
      </p:sp>
      <p:sp>
        <p:nvSpPr>
          <p:cNvPr id="36" name="Text 33"/>
          <p:cNvSpPr txBox="1"/>
          <p:nvPr/>
        </p:nvSpPr>
        <p:spPr>
          <a:xfrm>
            <a:off x="8183880" y="4965192"/>
            <a:ext cx="3291840" cy="1005840"/>
          </a:xfrm>
          <a:prstGeom prst="rect">
            <a:avLst/>
          </a:prstGeom>
          <a:noFill/>
          <a:ln/>
        </p:spPr>
        <p:txBody>
          <a:bodyPr wrap="square" lIns="0" tIns="0" rIns="0" bIns="0" rtlCol="0" anchor="t"/>
          <a:lstStyle/>
          <a:p>
            <a:pPr indent="0" marL="0">
              <a:buNone/>
            </a:pPr>
            <a:r>
              <a:rPr lang="en-US" sz="1300" dirty="0">
                <a:solidFill>
                  <a:srgbClr val="0A0A0B"/>
                </a:solidFill>
              </a:rPr>
              <a:t>It moves the game, plans one fewer in a heavy week, and checks the map, reviews and forecast.</a:t>
            </a:r>
            <a:endParaRPr lang="en-US" sz="1300" dirty="0"/>
          </a:p>
        </p:txBody>
      </p:sp>
      <p:sp>
        <p:nvSpPr>
          <p:cNvPr id="37" name="Text 34"/>
          <p:cNvSpPr txBox="1"/>
          <p:nvPr/>
        </p:nvSpPr>
        <p:spPr>
          <a:xfrm>
            <a:off x="4206240" y="6199632"/>
            <a:ext cx="7406640" cy="274320"/>
          </a:xfrm>
          <a:prstGeom prst="rect">
            <a:avLst/>
          </a:prstGeom>
          <a:noFill/>
          <a:ln/>
        </p:spPr>
        <p:txBody>
          <a:bodyPr wrap="square" lIns="0" tIns="0" rIns="0" bIns="0" rtlCol="0" anchor="t"/>
          <a:lstStyle/>
          <a:p>
            <a:pPr indent="0" marL="0">
              <a:buNone/>
            </a:pPr>
            <a:r>
              <a:rPr lang="en-US" sz="1100" i="1" dirty="0">
                <a:solidFill>
                  <a:srgbClr val="55555C"/>
                </a:solidFill>
              </a:rPr>
              <a:t>Less screen time, more court time: any ball sport that needs people, a time and a place.</a:t>
            </a:r>
            <a:endParaRPr lang="en-US" sz="11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LIVE · INVITED PLAYERS</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Real players, each with an agent of their own</a:t>
            </a:r>
            <a:endParaRPr lang="en-US" sz="3200" dirty="0"/>
          </a:p>
        </p:txBody>
      </p:sp>
      <p:sp>
        <p:nvSpPr>
          <p:cNvPr id="5" name="Shape 2"/>
          <p:cNvSpPr/>
          <p:nvPr/>
        </p:nvSpPr>
        <p:spPr>
          <a:xfrm>
            <a:off x="621792" y="1627632"/>
            <a:ext cx="2113911" cy="4425696"/>
          </a:xfrm>
          <a:prstGeom prst="roundRect">
            <a:avLst>
              <a:gd name="adj" fmla="val 8651"/>
            </a:avLst>
          </a:prstGeom>
          <a:solidFill>
            <a:srgbClr val="0A0A0B"/>
          </a:solidFill>
          <a:ln w="12700">
            <a:solidFill>
              <a:srgbClr val="0A0A0B"/>
            </a:solidFill>
            <a:prstDash val="solid"/>
          </a:ln>
        </p:spPr>
      </p:sp>
      <p:pic>
        <p:nvPicPr>
          <p:cNvPr id="6" name="Image 0" descr="preencoded.png">    </p:cNvPr>
          <p:cNvPicPr>
            <a:picLocks noChangeAspect="1"/>
          </p:cNvPicPr>
          <p:nvPr/>
        </p:nvPicPr>
        <p:blipFill>
          <a:blip r:embed="rId1"/>
          <a:stretch>
            <a:fillRect/>
          </a:stretch>
        </p:blipFill>
        <p:spPr>
          <a:xfrm>
            <a:off x="685800" y="1691640"/>
            <a:ext cx="1985895" cy="4297680"/>
          </a:xfrm>
          <a:prstGeom prst="rect">
            <a:avLst/>
          </a:prstGeom>
        </p:spPr>
      </p:pic>
      <p:sp>
        <p:nvSpPr>
          <p:cNvPr id="7" name="Text 3"/>
          <p:cNvSpPr txBox="1"/>
          <p:nvPr/>
        </p:nvSpPr>
        <p:spPr>
          <a:xfrm>
            <a:off x="411480" y="6108192"/>
            <a:ext cx="2534535" cy="256032"/>
          </a:xfrm>
          <a:prstGeom prst="rect">
            <a:avLst/>
          </a:prstGeom>
          <a:noFill/>
          <a:ln/>
        </p:spPr>
        <p:txBody>
          <a:bodyPr wrap="square" lIns="0" tIns="0" rIns="0" bIns="0" rtlCol="0" anchor="t"/>
          <a:lstStyle/>
          <a:p>
            <a:pPr algn="ctr" indent="0" marL="0">
              <a:buNone/>
            </a:pPr>
            <a:r>
              <a:rPr lang="en-US" sz="1050" dirty="0">
                <a:solidFill>
                  <a:srgbClr val="55555C"/>
                </a:solidFill>
              </a:rPr>
              <a:t>Clubs on a real map, one recommended</a:t>
            </a:r>
            <a:endParaRPr lang="en-US" sz="1050" dirty="0"/>
          </a:p>
        </p:txBody>
      </p:sp>
      <p:sp>
        <p:nvSpPr>
          <p:cNvPr id="8" name="Shape 4"/>
          <p:cNvSpPr/>
          <p:nvPr/>
        </p:nvSpPr>
        <p:spPr>
          <a:xfrm>
            <a:off x="2999232" y="1627632"/>
            <a:ext cx="2113911" cy="4425696"/>
          </a:xfrm>
          <a:prstGeom prst="roundRect">
            <a:avLst>
              <a:gd name="adj" fmla="val 8651"/>
            </a:avLst>
          </a:prstGeom>
          <a:solidFill>
            <a:srgbClr val="0A0A0B"/>
          </a:solidFill>
          <a:ln w="12700">
            <a:solidFill>
              <a:srgbClr val="0A0A0B"/>
            </a:solidFill>
            <a:prstDash val="solid"/>
          </a:ln>
        </p:spPr>
      </p:sp>
      <p:pic>
        <p:nvPicPr>
          <p:cNvPr id="9" name="Image 1" descr="preencoded.png">    </p:cNvPr>
          <p:cNvPicPr>
            <a:picLocks noChangeAspect="1"/>
          </p:cNvPicPr>
          <p:nvPr/>
        </p:nvPicPr>
        <p:blipFill>
          <a:blip r:embed="rId2"/>
          <a:stretch>
            <a:fillRect/>
          </a:stretch>
        </p:blipFill>
        <p:spPr>
          <a:xfrm>
            <a:off x="3063240" y="1691640"/>
            <a:ext cx="1985895" cy="4297680"/>
          </a:xfrm>
          <a:prstGeom prst="rect">
            <a:avLst/>
          </a:prstGeom>
        </p:spPr>
      </p:pic>
      <p:sp>
        <p:nvSpPr>
          <p:cNvPr id="10" name="Text 5"/>
          <p:cNvSpPr txBox="1"/>
          <p:nvPr/>
        </p:nvSpPr>
        <p:spPr>
          <a:xfrm>
            <a:off x="2788920" y="6108192"/>
            <a:ext cx="2534535" cy="256032"/>
          </a:xfrm>
          <a:prstGeom prst="rect">
            <a:avLst/>
          </a:prstGeom>
          <a:noFill/>
          <a:ln/>
        </p:spPr>
        <p:txBody>
          <a:bodyPr wrap="square" lIns="0" tIns="0" rIns="0" bIns="0" rtlCol="0" anchor="t"/>
          <a:lstStyle/>
          <a:p>
            <a:pPr algn="ctr" indent="0" marL="0">
              <a:buNone/>
            </a:pPr>
            <a:r>
              <a:rPr lang="en-US" sz="1050" dirty="0">
                <a:solidFill>
                  <a:srgbClr val="55555C"/>
                </a:solidFill>
              </a:rPr>
              <a:t>Say it; your agent drafts the invite</a:t>
            </a:r>
            <a:endParaRPr lang="en-US" sz="1050" dirty="0"/>
          </a:p>
        </p:txBody>
      </p:sp>
      <p:sp>
        <p:nvSpPr>
          <p:cNvPr id="11" name="Text 6"/>
          <p:cNvSpPr txBox="1"/>
          <p:nvPr/>
        </p:nvSpPr>
        <p:spPr>
          <a:xfrm>
            <a:off x="5669280" y="1691640"/>
            <a:ext cx="6035040" cy="228600"/>
          </a:xfrm>
          <a:prstGeom prst="rect">
            <a:avLst/>
          </a:prstGeom>
          <a:noFill/>
          <a:ln/>
        </p:spPr>
        <p:txBody>
          <a:bodyPr wrap="square" lIns="0" tIns="0" rIns="0" bIns="0" rtlCol="0" anchor="t"/>
          <a:lstStyle/>
          <a:p>
            <a:pPr indent="0" marL="0">
              <a:buNone/>
            </a:pPr>
            <a:r>
              <a:rPr lang="en-US" sz="1000" b="1" spc="100" kern="0" dirty="0">
                <a:solidFill>
                  <a:srgbClr val="55555C"/>
                </a:solidFill>
              </a:rPr>
              <a:t>LIVE SINCE 29 OCT · play.theminimallab.com</a:t>
            </a:r>
            <a:endParaRPr lang="en-US" sz="1000" dirty="0"/>
          </a:p>
        </p:txBody>
      </p:sp>
      <p:sp>
        <p:nvSpPr>
          <p:cNvPr id="12" name="Shape 7"/>
          <p:cNvSpPr/>
          <p:nvPr/>
        </p:nvSpPr>
        <p:spPr>
          <a:xfrm>
            <a:off x="5669280" y="1965960"/>
            <a:ext cx="1353312" cy="960120"/>
          </a:xfrm>
          <a:prstGeom prst="roundRect">
            <a:avLst>
              <a:gd name="adj" fmla="val 11429"/>
            </a:avLst>
          </a:prstGeom>
          <a:solidFill>
            <a:srgbClr val="E9F3EC"/>
          </a:solidFill>
          <a:ln w="12700">
            <a:solidFill>
              <a:srgbClr val="E9F3EC"/>
            </a:solidFill>
            <a:prstDash val="solid"/>
          </a:ln>
        </p:spPr>
      </p:sp>
      <p:sp>
        <p:nvSpPr>
          <p:cNvPr id="13" name="Text 8"/>
          <p:cNvSpPr txBox="1"/>
          <p:nvPr/>
        </p:nvSpPr>
        <p:spPr>
          <a:xfrm>
            <a:off x="5797296" y="2011680"/>
            <a:ext cx="1097280" cy="502920"/>
          </a:xfrm>
          <a:prstGeom prst="rect">
            <a:avLst/>
          </a:prstGeom>
          <a:noFill/>
          <a:ln/>
        </p:spPr>
        <p:txBody>
          <a:bodyPr wrap="square" lIns="0" tIns="0" rIns="0" bIns="0" rtlCol="0" anchor="t"/>
          <a:lstStyle/>
          <a:p>
            <a:pPr indent="0" marL="0">
              <a:buNone/>
            </a:pPr>
            <a:r>
              <a:rPr lang="en-US" sz="2600" b="1" dirty="0">
                <a:solidFill>
                  <a:srgbClr val="0A7F44"/>
                </a:solidFill>
              </a:rPr>
              <a:t>8</a:t>
            </a:r>
            <a:endParaRPr lang="en-US" sz="2600" dirty="0"/>
          </a:p>
        </p:txBody>
      </p:sp>
      <p:sp>
        <p:nvSpPr>
          <p:cNvPr id="14" name="Text 9"/>
          <p:cNvSpPr txBox="1"/>
          <p:nvPr/>
        </p:nvSpPr>
        <p:spPr>
          <a:xfrm>
            <a:off x="5797296" y="2514600"/>
            <a:ext cx="1143000" cy="365760"/>
          </a:xfrm>
          <a:prstGeom prst="rect">
            <a:avLst/>
          </a:prstGeom>
          <a:noFill/>
          <a:ln/>
        </p:spPr>
        <p:txBody>
          <a:bodyPr wrap="square" lIns="0" tIns="0" rIns="0" bIns="0" rtlCol="0" anchor="t"/>
          <a:lstStyle/>
          <a:p>
            <a:pPr indent="0" marL="0">
              <a:buNone/>
            </a:pPr>
            <a:r>
              <a:rPr lang="en-US" sz="1050" dirty="0">
                <a:solidFill>
                  <a:srgbClr val="55555C"/>
                </a:solidFill>
              </a:rPr>
              <a:t>people, me included (15 demo sign-ins)</a:t>
            </a:r>
            <a:endParaRPr lang="en-US" sz="1050" dirty="0"/>
          </a:p>
        </p:txBody>
      </p:sp>
      <p:sp>
        <p:nvSpPr>
          <p:cNvPr id="15" name="Shape 10"/>
          <p:cNvSpPr/>
          <p:nvPr/>
        </p:nvSpPr>
        <p:spPr>
          <a:xfrm>
            <a:off x="7132320" y="1965960"/>
            <a:ext cx="1353312" cy="960120"/>
          </a:xfrm>
          <a:prstGeom prst="roundRect">
            <a:avLst>
              <a:gd name="adj" fmla="val 11429"/>
            </a:avLst>
          </a:prstGeom>
          <a:solidFill>
            <a:srgbClr val="F6F7F8"/>
          </a:solidFill>
          <a:ln w="12700">
            <a:solidFill>
              <a:srgbClr val="F6F7F8"/>
            </a:solidFill>
            <a:prstDash val="solid"/>
          </a:ln>
        </p:spPr>
      </p:sp>
      <p:sp>
        <p:nvSpPr>
          <p:cNvPr id="16" name="Text 11"/>
          <p:cNvSpPr txBox="1"/>
          <p:nvPr/>
        </p:nvSpPr>
        <p:spPr>
          <a:xfrm>
            <a:off x="7260336" y="2011680"/>
            <a:ext cx="1097280" cy="502920"/>
          </a:xfrm>
          <a:prstGeom prst="rect">
            <a:avLst/>
          </a:prstGeom>
          <a:noFill/>
          <a:ln/>
        </p:spPr>
        <p:txBody>
          <a:bodyPr wrap="square" lIns="0" tIns="0" rIns="0" bIns="0" rtlCol="0" anchor="t"/>
          <a:lstStyle/>
          <a:p>
            <a:pPr indent="0" marL="0">
              <a:buNone/>
            </a:pPr>
            <a:r>
              <a:rPr lang="en-US" sz="2600" b="1" dirty="0">
                <a:solidFill>
                  <a:srgbClr val="0A0A0B"/>
                </a:solidFill>
              </a:rPr>
              <a:t>2</a:t>
            </a:r>
            <a:endParaRPr lang="en-US" sz="2600" dirty="0"/>
          </a:p>
        </p:txBody>
      </p:sp>
      <p:sp>
        <p:nvSpPr>
          <p:cNvPr id="17" name="Text 12"/>
          <p:cNvSpPr txBox="1"/>
          <p:nvPr/>
        </p:nvSpPr>
        <p:spPr>
          <a:xfrm>
            <a:off x="7260336" y="2514600"/>
            <a:ext cx="1143000" cy="365760"/>
          </a:xfrm>
          <a:prstGeom prst="rect">
            <a:avLst/>
          </a:prstGeom>
          <a:noFill/>
          <a:ln/>
        </p:spPr>
        <p:txBody>
          <a:bodyPr wrap="square" lIns="0" tIns="0" rIns="0" bIns="0" rtlCol="0" anchor="t"/>
          <a:lstStyle/>
          <a:p>
            <a:pPr indent="0" marL="0">
              <a:buNone/>
            </a:pPr>
            <a:r>
              <a:rPr lang="en-US" sz="1050" dirty="0">
                <a:solidFill>
                  <a:srgbClr val="55555C"/>
                </a:solidFill>
              </a:rPr>
              <a:t>clubs they started</a:t>
            </a:r>
            <a:endParaRPr lang="en-US" sz="1050" dirty="0"/>
          </a:p>
        </p:txBody>
      </p:sp>
      <p:sp>
        <p:nvSpPr>
          <p:cNvPr id="18" name="Shape 13"/>
          <p:cNvSpPr/>
          <p:nvPr/>
        </p:nvSpPr>
        <p:spPr>
          <a:xfrm>
            <a:off x="8595360" y="1965960"/>
            <a:ext cx="1353312" cy="960120"/>
          </a:xfrm>
          <a:prstGeom prst="roundRect">
            <a:avLst>
              <a:gd name="adj" fmla="val 11429"/>
            </a:avLst>
          </a:prstGeom>
          <a:solidFill>
            <a:srgbClr val="F6F7F8"/>
          </a:solidFill>
          <a:ln w="12700">
            <a:solidFill>
              <a:srgbClr val="F6F7F8"/>
            </a:solidFill>
            <a:prstDash val="solid"/>
          </a:ln>
        </p:spPr>
      </p:sp>
      <p:sp>
        <p:nvSpPr>
          <p:cNvPr id="19" name="Text 14"/>
          <p:cNvSpPr txBox="1"/>
          <p:nvPr/>
        </p:nvSpPr>
        <p:spPr>
          <a:xfrm>
            <a:off x="8723376" y="2011680"/>
            <a:ext cx="1097280" cy="502920"/>
          </a:xfrm>
          <a:prstGeom prst="rect">
            <a:avLst/>
          </a:prstGeom>
          <a:noFill/>
          <a:ln/>
        </p:spPr>
        <p:txBody>
          <a:bodyPr wrap="square" lIns="0" tIns="0" rIns="0" bIns="0" rtlCol="0" anchor="t"/>
          <a:lstStyle/>
          <a:p>
            <a:pPr indent="0" marL="0">
              <a:buNone/>
            </a:pPr>
            <a:r>
              <a:rPr lang="en-US" sz="2600" b="1" dirty="0">
                <a:solidFill>
                  <a:srgbClr val="0A0A0B"/>
                </a:solidFill>
              </a:rPr>
              <a:t>4</a:t>
            </a:r>
            <a:endParaRPr lang="en-US" sz="2600" dirty="0"/>
          </a:p>
        </p:txBody>
      </p:sp>
      <p:sp>
        <p:nvSpPr>
          <p:cNvPr id="20" name="Text 15"/>
          <p:cNvSpPr txBox="1"/>
          <p:nvPr/>
        </p:nvSpPr>
        <p:spPr>
          <a:xfrm>
            <a:off x="8723376" y="2514600"/>
            <a:ext cx="1143000" cy="365760"/>
          </a:xfrm>
          <a:prstGeom prst="rect">
            <a:avLst/>
          </a:prstGeom>
          <a:noFill/>
          <a:ln/>
        </p:spPr>
        <p:txBody>
          <a:bodyPr wrap="square" lIns="0" tIns="0" rIns="0" bIns="0" rtlCol="0" anchor="t"/>
          <a:lstStyle/>
          <a:p>
            <a:pPr indent="0" marL="0">
              <a:buNone/>
            </a:pPr>
            <a:r>
              <a:rPr lang="en-US" sz="1050" dirty="0">
                <a:solidFill>
                  <a:srgbClr val="55555C"/>
                </a:solidFill>
              </a:rPr>
              <a:t>games posted</a:t>
            </a:r>
            <a:endParaRPr lang="en-US" sz="1050" dirty="0"/>
          </a:p>
        </p:txBody>
      </p:sp>
      <p:sp>
        <p:nvSpPr>
          <p:cNvPr id="21" name="Shape 16"/>
          <p:cNvSpPr/>
          <p:nvPr/>
        </p:nvSpPr>
        <p:spPr>
          <a:xfrm>
            <a:off x="10058400" y="1965960"/>
            <a:ext cx="1353312" cy="960120"/>
          </a:xfrm>
          <a:prstGeom prst="roundRect">
            <a:avLst>
              <a:gd name="adj" fmla="val 11429"/>
            </a:avLst>
          </a:prstGeom>
          <a:solidFill>
            <a:srgbClr val="F6F7F8"/>
          </a:solidFill>
          <a:ln w="12700">
            <a:solidFill>
              <a:srgbClr val="F6F7F8"/>
            </a:solidFill>
            <a:prstDash val="solid"/>
          </a:ln>
        </p:spPr>
      </p:sp>
      <p:sp>
        <p:nvSpPr>
          <p:cNvPr id="22" name="Text 17"/>
          <p:cNvSpPr txBox="1"/>
          <p:nvPr/>
        </p:nvSpPr>
        <p:spPr>
          <a:xfrm>
            <a:off x="10186416" y="2011680"/>
            <a:ext cx="1097280" cy="502920"/>
          </a:xfrm>
          <a:prstGeom prst="rect">
            <a:avLst/>
          </a:prstGeom>
          <a:noFill/>
          <a:ln/>
        </p:spPr>
        <p:txBody>
          <a:bodyPr wrap="square" lIns="0" tIns="0" rIns="0" bIns="0" rtlCol="0" anchor="t"/>
          <a:lstStyle/>
          <a:p>
            <a:pPr indent="0" marL="0">
              <a:buNone/>
            </a:pPr>
            <a:r>
              <a:rPr lang="en-US" sz="2600" b="1" dirty="0">
                <a:solidFill>
                  <a:srgbClr val="0A0A0B"/>
                </a:solidFill>
              </a:rPr>
              <a:t>8</a:t>
            </a:r>
            <a:endParaRPr lang="en-US" sz="2600" dirty="0"/>
          </a:p>
        </p:txBody>
      </p:sp>
      <p:sp>
        <p:nvSpPr>
          <p:cNvPr id="23" name="Text 18"/>
          <p:cNvSpPr txBox="1"/>
          <p:nvPr/>
        </p:nvSpPr>
        <p:spPr>
          <a:xfrm>
            <a:off x="10186416" y="2514600"/>
            <a:ext cx="1143000" cy="365760"/>
          </a:xfrm>
          <a:prstGeom prst="rect">
            <a:avLst/>
          </a:prstGeom>
          <a:noFill/>
          <a:ln/>
        </p:spPr>
        <p:txBody>
          <a:bodyPr wrap="square" lIns="0" tIns="0" rIns="0" bIns="0" rtlCol="0" anchor="t"/>
          <a:lstStyle/>
          <a:p>
            <a:pPr indent="0" marL="0">
              <a:buNone/>
            </a:pPr>
            <a:r>
              <a:rPr lang="en-US" sz="1050" dirty="0">
                <a:solidFill>
                  <a:srgbClr val="55555C"/>
                </a:solidFill>
              </a:rPr>
              <a:t>joins; 3 of 4 games filled</a:t>
            </a:r>
            <a:endParaRPr lang="en-US" sz="1050" dirty="0"/>
          </a:p>
        </p:txBody>
      </p:sp>
      <p:sp>
        <p:nvSpPr>
          <p:cNvPr id="24" name="Shape 19"/>
          <p:cNvSpPr/>
          <p:nvPr/>
        </p:nvSpPr>
        <p:spPr>
          <a:xfrm>
            <a:off x="5669280" y="3236976"/>
            <a:ext cx="310896" cy="310896"/>
          </a:xfrm>
          <a:prstGeom prst="ellipse">
            <a:avLst/>
          </a:prstGeom>
          <a:solidFill>
            <a:srgbClr val="0A7F44"/>
          </a:solidFill>
          <a:ln w="12700">
            <a:solidFill>
              <a:srgbClr val="0A7F44"/>
            </a:solidFill>
            <a:prstDash val="solid"/>
          </a:ln>
        </p:spPr>
      </p:sp>
      <p:sp>
        <p:nvSpPr>
          <p:cNvPr id="25" name="Text 20"/>
          <p:cNvSpPr txBox="1"/>
          <p:nvPr/>
        </p:nvSpPr>
        <p:spPr>
          <a:xfrm>
            <a:off x="5669280" y="3236976"/>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rPr>
              <a:t>1</a:t>
            </a:r>
            <a:endParaRPr lang="en-US" sz="1150" dirty="0"/>
          </a:p>
        </p:txBody>
      </p:sp>
      <p:sp>
        <p:nvSpPr>
          <p:cNvPr id="26" name="Text 21"/>
          <p:cNvSpPr txBox="1"/>
          <p:nvPr/>
        </p:nvSpPr>
        <p:spPr>
          <a:xfrm>
            <a:off x="6126480" y="3200400"/>
            <a:ext cx="5486400" cy="274320"/>
          </a:xfrm>
          <a:prstGeom prst="rect">
            <a:avLst/>
          </a:prstGeom>
          <a:noFill/>
          <a:ln/>
        </p:spPr>
        <p:txBody>
          <a:bodyPr wrap="square" lIns="0" tIns="0" rIns="0" bIns="0" rtlCol="0" anchor="t"/>
          <a:lstStyle/>
          <a:p>
            <a:pPr indent="0" marL="0">
              <a:buNone/>
            </a:pPr>
            <a:r>
              <a:rPr lang="en-US" sz="1400" b="1" dirty="0">
                <a:solidFill>
                  <a:srgbClr val="0A0A0B"/>
                </a:solidFill>
              </a:rPr>
              <a:t>An agent of their own</a:t>
            </a:r>
            <a:endParaRPr lang="en-US" sz="1400" dirty="0"/>
          </a:p>
        </p:txBody>
      </p:sp>
      <p:sp>
        <p:nvSpPr>
          <p:cNvPr id="27" name="Text 22"/>
          <p:cNvSpPr txBox="1"/>
          <p:nvPr/>
        </p:nvSpPr>
        <p:spPr>
          <a:xfrm>
            <a:off x="6126480" y="3502152"/>
            <a:ext cx="5486400" cy="548640"/>
          </a:xfrm>
          <a:prstGeom prst="rect">
            <a:avLst/>
          </a:prstGeom>
          <a:noFill/>
          <a:ln/>
        </p:spPr>
        <p:txBody>
          <a:bodyPr wrap="square" lIns="0" tIns="0" rIns="0" bIns="0" rtlCol="0" anchor="t"/>
          <a:lstStyle/>
          <a:p>
            <a:pPr indent="0" marL="0">
              <a:buNone/>
            </a:pPr>
            <a:r>
              <a:rPr lang="en-US" sz="1100" dirty="0">
                <a:solidFill>
                  <a:srgbClr val="55555C"/>
                </a:solidFill>
              </a:rPr>
              <a:t>Each player's agent runs in its own process on my server, with its own data folder; the club, its feed and its games are shared.</a:t>
            </a:r>
            <a:endParaRPr lang="en-US" sz="1100" dirty="0"/>
          </a:p>
        </p:txBody>
      </p:sp>
      <p:sp>
        <p:nvSpPr>
          <p:cNvPr id="28" name="Shape 23"/>
          <p:cNvSpPr/>
          <p:nvPr/>
        </p:nvSpPr>
        <p:spPr>
          <a:xfrm>
            <a:off x="5669280" y="4197096"/>
            <a:ext cx="310896" cy="310896"/>
          </a:xfrm>
          <a:prstGeom prst="ellipse">
            <a:avLst/>
          </a:prstGeom>
          <a:solidFill>
            <a:srgbClr val="0A7F44"/>
          </a:solidFill>
          <a:ln w="12700">
            <a:solidFill>
              <a:srgbClr val="0A7F44"/>
            </a:solidFill>
            <a:prstDash val="solid"/>
          </a:ln>
        </p:spPr>
      </p:sp>
      <p:sp>
        <p:nvSpPr>
          <p:cNvPr id="29" name="Text 24"/>
          <p:cNvSpPr txBox="1"/>
          <p:nvPr/>
        </p:nvSpPr>
        <p:spPr>
          <a:xfrm>
            <a:off x="5669280" y="4197096"/>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rPr>
              <a:t>2</a:t>
            </a:r>
            <a:endParaRPr lang="en-US" sz="1150" dirty="0"/>
          </a:p>
        </p:txBody>
      </p:sp>
      <p:sp>
        <p:nvSpPr>
          <p:cNvPr id="30" name="Text 25"/>
          <p:cNvSpPr txBox="1"/>
          <p:nvPr/>
        </p:nvSpPr>
        <p:spPr>
          <a:xfrm>
            <a:off x="6126480" y="4160520"/>
            <a:ext cx="5486400" cy="274320"/>
          </a:xfrm>
          <a:prstGeom prst="rect">
            <a:avLst/>
          </a:prstGeom>
          <a:noFill/>
          <a:ln/>
        </p:spPr>
        <p:txBody>
          <a:bodyPr wrap="square" lIns="0" tIns="0" rIns="0" bIns="0" rtlCol="0" anchor="t"/>
          <a:lstStyle/>
          <a:p>
            <a:pPr indent="0" marL="0">
              <a:buNone/>
            </a:pPr>
            <a:r>
              <a:rPr lang="en-US" sz="1400" b="1" dirty="0">
                <a:solidFill>
                  <a:srgbClr val="0A0A0B"/>
                </a:solidFill>
              </a:rPr>
              <a:t>Clubs anyone can start</a:t>
            </a:r>
            <a:endParaRPr lang="en-US" sz="1400" dirty="0"/>
          </a:p>
        </p:txBody>
      </p:sp>
      <p:sp>
        <p:nvSpPr>
          <p:cNvPr id="31" name="Text 26"/>
          <p:cNvSpPr txBox="1"/>
          <p:nvPr/>
        </p:nvSpPr>
        <p:spPr>
          <a:xfrm>
            <a:off x="6126480" y="4462272"/>
            <a:ext cx="5486400" cy="548640"/>
          </a:xfrm>
          <a:prstGeom prst="rect">
            <a:avLst/>
          </a:prstGeom>
          <a:noFill/>
          <a:ln/>
        </p:spPr>
        <p:txBody>
          <a:bodyPr wrap="square" lIns="0" tIns="0" rIns="0" bIns="0" rtlCol="0" anchor="t"/>
          <a:lstStyle/>
          <a:p>
            <a:pPr indent="0" marL="0">
              <a:buNone/>
            </a:pPr>
            <a:r>
              <a:rPr lang="en-US" sz="1100" dirty="0">
                <a:solidFill>
                  <a:srgbClr val="55555C"/>
                </a:solidFill>
              </a:rPr>
              <a:t>Public or private, on a real map; your agent recommends the nearest public one.</a:t>
            </a:r>
            <a:endParaRPr lang="en-US" sz="1100" dirty="0"/>
          </a:p>
        </p:txBody>
      </p:sp>
      <p:sp>
        <p:nvSpPr>
          <p:cNvPr id="32" name="Shape 27"/>
          <p:cNvSpPr/>
          <p:nvPr/>
        </p:nvSpPr>
        <p:spPr>
          <a:xfrm>
            <a:off x="5669280" y="5157216"/>
            <a:ext cx="310896" cy="310896"/>
          </a:xfrm>
          <a:prstGeom prst="ellipse">
            <a:avLst/>
          </a:prstGeom>
          <a:solidFill>
            <a:srgbClr val="0A7F44"/>
          </a:solidFill>
          <a:ln w="12700">
            <a:solidFill>
              <a:srgbClr val="0A7F44"/>
            </a:solidFill>
            <a:prstDash val="solid"/>
          </a:ln>
        </p:spPr>
      </p:sp>
      <p:sp>
        <p:nvSpPr>
          <p:cNvPr id="33" name="Text 28"/>
          <p:cNvSpPr txBox="1"/>
          <p:nvPr/>
        </p:nvSpPr>
        <p:spPr>
          <a:xfrm>
            <a:off x="5669280" y="5157216"/>
            <a:ext cx="310896" cy="310896"/>
          </a:xfrm>
          <a:prstGeom prst="rect">
            <a:avLst/>
          </a:prstGeom>
          <a:noFill/>
          <a:ln/>
        </p:spPr>
        <p:txBody>
          <a:bodyPr wrap="square" lIns="0" tIns="0" rIns="0" bIns="0" rtlCol="0" anchor="ctr"/>
          <a:lstStyle/>
          <a:p>
            <a:pPr algn="ctr" indent="0" marL="0">
              <a:buNone/>
            </a:pPr>
            <a:r>
              <a:rPr lang="en-US" sz="1150" b="1" dirty="0">
                <a:solidFill>
                  <a:srgbClr val="FFFFFF"/>
                </a:solidFill>
              </a:rPr>
              <a:t>3</a:t>
            </a:r>
            <a:endParaRPr lang="en-US" sz="1150" dirty="0"/>
          </a:p>
        </p:txBody>
      </p:sp>
      <p:sp>
        <p:nvSpPr>
          <p:cNvPr id="34" name="Text 29"/>
          <p:cNvSpPr txBox="1"/>
          <p:nvPr/>
        </p:nvSpPr>
        <p:spPr>
          <a:xfrm>
            <a:off x="6126480" y="5120640"/>
            <a:ext cx="5486400" cy="274320"/>
          </a:xfrm>
          <a:prstGeom prst="rect">
            <a:avLst/>
          </a:prstGeom>
          <a:noFill/>
          <a:ln/>
        </p:spPr>
        <p:txBody>
          <a:bodyPr wrap="square" lIns="0" tIns="0" rIns="0" bIns="0" rtlCol="0" anchor="t"/>
          <a:lstStyle/>
          <a:p>
            <a:pPr indent="0" marL="0">
              <a:buNone/>
            </a:pPr>
            <a:r>
              <a:rPr lang="en-US" sz="1400" b="1" dirty="0">
                <a:solidFill>
                  <a:srgbClr val="0A0A0B"/>
                </a:solidFill>
              </a:rPr>
              <a:t>Tell your agent the game</a:t>
            </a:r>
            <a:endParaRPr lang="en-US" sz="1400" dirty="0"/>
          </a:p>
        </p:txBody>
      </p:sp>
      <p:sp>
        <p:nvSpPr>
          <p:cNvPr id="35" name="Text 30"/>
          <p:cNvSpPr txBox="1"/>
          <p:nvPr/>
        </p:nvSpPr>
        <p:spPr>
          <a:xfrm>
            <a:off x="6126480" y="5422392"/>
            <a:ext cx="5486400" cy="548640"/>
          </a:xfrm>
          <a:prstGeom prst="rect">
            <a:avLst/>
          </a:prstGeom>
          <a:noFill/>
          <a:ln/>
        </p:spPr>
        <p:txBody>
          <a:bodyPr wrap="square" lIns="0" tIns="0" rIns="0" bIns="0" rtlCol="0" anchor="t"/>
          <a:lstStyle/>
          <a:p>
            <a:pPr indent="0" marL="0">
              <a:buNone/>
            </a:pPr>
            <a:r>
              <a:rPr lang="en-US" sz="1100" dirty="0">
                <a:solidFill>
                  <a:srgbClr val="55555C"/>
                </a:solidFill>
              </a:rPr>
              <a:t>"Saturday morning doubles, need 3": it drafts the invite with the nearest court and you tap Post. Share it as a link: anyone opens it and joins, no account needed first.</a:t>
            </a:r>
            <a:endParaRPr lang="en-US" sz="1100" dirty="0"/>
          </a:p>
        </p:txBody>
      </p:sp>
      <p:sp>
        <p:nvSpPr>
          <p:cNvPr id="36" name="Text 31"/>
          <p:cNvSpPr txBox="1"/>
          <p:nvPr/>
        </p:nvSpPr>
        <p:spPr>
          <a:xfrm>
            <a:off x="5669280" y="6053328"/>
            <a:ext cx="6035040" cy="365760"/>
          </a:xfrm>
          <a:prstGeom prst="rect">
            <a:avLst/>
          </a:prstGeom>
          <a:noFill/>
          <a:ln/>
        </p:spPr>
        <p:txBody>
          <a:bodyPr wrap="square" lIns="0" tIns="0" rIns="0" bIns="0" rtlCol="0" anchor="t"/>
          <a:lstStyle/>
          <a:p>
            <a:pPr indent="0" marL="0">
              <a:buNone/>
            </a:pPr>
            <a:r>
              <a:rPr lang="en-US" sz="1000" i="1" dirty="0">
                <a:solidFill>
                  <a:srgbClr val="55555C"/>
                </a:solidFill>
              </a:rPr>
              <a:t>Counted 30 Oct, day 4. Spond, Playtomic and Meetup post events or book courts; on Serve each player's agent agrees the time, so nobody runs the poll.</a:t>
            </a:r>
            <a:endParaRPr lang="en-US" sz="10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IMPACT · COLD START</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The first friend needs no account</a:t>
            </a:r>
            <a:endParaRPr lang="en-US" sz="3200" dirty="0"/>
          </a:p>
        </p:txBody>
      </p:sp>
      <p:sp>
        <p:nvSpPr>
          <p:cNvPr id="5" name="Shape 2"/>
          <p:cNvSpPr/>
          <p:nvPr/>
        </p:nvSpPr>
        <p:spPr>
          <a:xfrm>
            <a:off x="548640" y="1783080"/>
            <a:ext cx="2606040" cy="3017520"/>
          </a:xfrm>
          <a:prstGeom prst="roundRect">
            <a:avLst>
              <a:gd name="adj" fmla="val 4211"/>
            </a:avLst>
          </a:prstGeom>
          <a:solidFill>
            <a:srgbClr val="F6F7F8"/>
          </a:solidFill>
          <a:ln w="12700">
            <a:solidFill>
              <a:srgbClr val="F6F7F8"/>
            </a:solidFill>
            <a:prstDash val="solid"/>
          </a:ln>
        </p:spPr>
      </p:sp>
      <p:sp>
        <p:nvSpPr>
          <p:cNvPr id="6" name="Shape 3"/>
          <p:cNvSpPr/>
          <p:nvPr/>
        </p:nvSpPr>
        <p:spPr>
          <a:xfrm>
            <a:off x="777240" y="2011680"/>
            <a:ext cx="457200" cy="457200"/>
          </a:xfrm>
          <a:prstGeom prst="ellipse">
            <a:avLst/>
          </a:prstGeom>
          <a:solidFill>
            <a:srgbClr val="0A7F44"/>
          </a:solidFill>
          <a:ln w="12700">
            <a:solidFill>
              <a:srgbClr val="0A7F44"/>
            </a:solidFill>
            <a:prstDash val="solid"/>
          </a:ln>
        </p:spPr>
      </p:sp>
      <p:sp>
        <p:nvSpPr>
          <p:cNvPr id="7" name="Text 4"/>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Text 5"/>
          <p:cNvSpPr txBox="1"/>
          <p:nvPr/>
        </p:nvSpPr>
        <p:spPr>
          <a:xfrm>
            <a:off x="777240" y="2651760"/>
            <a:ext cx="2194560" cy="365760"/>
          </a:xfrm>
          <a:prstGeom prst="rect">
            <a:avLst/>
          </a:prstGeom>
          <a:noFill/>
          <a:ln/>
        </p:spPr>
        <p:txBody>
          <a:bodyPr wrap="square" lIns="0" tIns="0" rIns="0" bIns="0" rtlCol="0" anchor="t"/>
          <a:lstStyle/>
          <a:p>
            <a:pPr indent="0" marL="0">
              <a:buNone/>
            </a:pPr>
            <a:r>
              <a:rPr lang="en-US" sz="1700" b="1" dirty="0">
                <a:solidFill>
                  <a:srgbClr val="0A0A0B"/>
                </a:solidFill>
              </a:rPr>
              <a:t>Tell your agent</a:t>
            </a:r>
            <a:endParaRPr lang="en-US" sz="1700" dirty="0"/>
          </a:p>
        </p:txBody>
      </p:sp>
      <p:sp>
        <p:nvSpPr>
          <p:cNvPr id="9" name="Text 6"/>
          <p:cNvSpPr txBox="1"/>
          <p:nvPr/>
        </p:nvSpPr>
        <p:spPr>
          <a:xfrm>
            <a:off x="777240" y="3108960"/>
            <a:ext cx="2194560" cy="1554480"/>
          </a:xfrm>
          <a:prstGeom prst="rect">
            <a:avLst/>
          </a:prstGeom>
          <a:noFill/>
          <a:ln/>
        </p:spPr>
        <p:txBody>
          <a:bodyPr wrap="square" lIns="0" tIns="0" rIns="0" bIns="0" rtlCol="0" anchor="t"/>
          <a:lstStyle/>
          <a:p>
            <a:pPr indent="0" marL="0">
              <a:buNone/>
            </a:pPr>
            <a:r>
              <a:rPr lang="en-US" sz="1250" dirty="0">
                <a:solidFill>
                  <a:srgbClr val="55555C"/>
                </a:solidFill>
              </a:rPr>
              <a:t>"Saturday doubles, need 3": it drafts the invite with the nearest court. You tap Post.</a:t>
            </a:r>
            <a:endParaRPr lang="en-US" sz="1250" dirty="0"/>
          </a:p>
        </p:txBody>
      </p:sp>
      <p:sp>
        <p:nvSpPr>
          <p:cNvPr id="10" name="Shape 7"/>
          <p:cNvSpPr/>
          <p:nvPr/>
        </p:nvSpPr>
        <p:spPr>
          <a:xfrm>
            <a:off x="3172968" y="3291840"/>
            <a:ext cx="146304" cy="0"/>
          </a:xfrm>
          <a:prstGeom prst="line">
            <a:avLst/>
          </a:prstGeom>
          <a:noFill/>
          <a:ln w="22225">
            <a:solidFill>
              <a:srgbClr val="8A8A92"/>
            </a:solidFill>
            <a:prstDash val="solid"/>
            <a:tailEnd type="triangle"/>
          </a:ln>
        </p:spPr>
      </p:sp>
      <p:sp>
        <p:nvSpPr>
          <p:cNvPr id="11" name="Shape 8"/>
          <p:cNvSpPr/>
          <p:nvPr/>
        </p:nvSpPr>
        <p:spPr>
          <a:xfrm>
            <a:off x="3337560" y="1783080"/>
            <a:ext cx="2606040" cy="3017520"/>
          </a:xfrm>
          <a:prstGeom prst="roundRect">
            <a:avLst>
              <a:gd name="adj" fmla="val 4211"/>
            </a:avLst>
          </a:prstGeom>
          <a:solidFill>
            <a:srgbClr val="F6F7F8"/>
          </a:solidFill>
          <a:ln w="12700">
            <a:solidFill>
              <a:srgbClr val="F6F7F8"/>
            </a:solidFill>
            <a:prstDash val="solid"/>
          </a:ln>
        </p:spPr>
      </p:sp>
      <p:sp>
        <p:nvSpPr>
          <p:cNvPr id="12" name="Shape 9"/>
          <p:cNvSpPr/>
          <p:nvPr/>
        </p:nvSpPr>
        <p:spPr>
          <a:xfrm>
            <a:off x="3566160" y="2011680"/>
            <a:ext cx="457200" cy="457200"/>
          </a:xfrm>
          <a:prstGeom prst="ellipse">
            <a:avLst/>
          </a:prstGeom>
          <a:solidFill>
            <a:srgbClr val="0A7F44"/>
          </a:solidFill>
          <a:ln w="12700">
            <a:solidFill>
              <a:srgbClr val="0A7F44"/>
            </a:solidFill>
            <a:prstDash val="solid"/>
          </a:ln>
        </p:spPr>
      </p:sp>
      <p:sp>
        <p:nvSpPr>
          <p:cNvPr id="13" name="Text 10"/>
          <p:cNvSpPr txBox="1"/>
          <p:nvPr/>
        </p:nvSpPr>
        <p:spPr>
          <a:xfrm>
            <a:off x="3566160"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4" name="Text 11"/>
          <p:cNvSpPr txBox="1"/>
          <p:nvPr/>
        </p:nvSpPr>
        <p:spPr>
          <a:xfrm>
            <a:off x="3566160" y="2651760"/>
            <a:ext cx="2194560" cy="365760"/>
          </a:xfrm>
          <a:prstGeom prst="rect">
            <a:avLst/>
          </a:prstGeom>
          <a:noFill/>
          <a:ln/>
        </p:spPr>
        <p:txBody>
          <a:bodyPr wrap="square" lIns="0" tIns="0" rIns="0" bIns="0" rtlCol="0" anchor="t"/>
          <a:lstStyle/>
          <a:p>
            <a:pPr indent="0" marL="0">
              <a:buNone/>
            </a:pPr>
            <a:r>
              <a:rPr lang="en-US" sz="1700" b="1" dirty="0">
                <a:solidFill>
                  <a:srgbClr val="0A0A0B"/>
                </a:solidFill>
              </a:rPr>
              <a:t>Share the link</a:t>
            </a:r>
            <a:endParaRPr lang="en-US" sz="1700" dirty="0"/>
          </a:p>
        </p:txBody>
      </p:sp>
      <p:sp>
        <p:nvSpPr>
          <p:cNvPr id="15" name="Text 12"/>
          <p:cNvSpPr txBox="1"/>
          <p:nvPr/>
        </p:nvSpPr>
        <p:spPr>
          <a:xfrm>
            <a:off x="3566160" y="3108960"/>
            <a:ext cx="2194560" cy="1554480"/>
          </a:xfrm>
          <a:prstGeom prst="rect">
            <a:avLst/>
          </a:prstGeom>
          <a:noFill/>
          <a:ln/>
        </p:spPr>
        <p:txBody>
          <a:bodyPr wrap="square" lIns="0" tIns="0" rIns="0" bIns="0" rtlCol="0" anchor="t"/>
          <a:lstStyle/>
          <a:p>
            <a:pPr indent="0" marL="0">
              <a:buNone/>
            </a:pPr>
            <a:r>
              <a:rPr lang="en-US" sz="1250" dirty="0">
                <a:solidFill>
                  <a:srgbClr val="55555C"/>
                </a:solidFill>
              </a:rPr>
              <a:t>To any group chat. It opens with no account: the game, the place, the spots left, never who is going.</a:t>
            </a:r>
            <a:endParaRPr lang="en-US" sz="1250" dirty="0"/>
          </a:p>
        </p:txBody>
      </p:sp>
      <p:sp>
        <p:nvSpPr>
          <p:cNvPr id="16" name="Shape 13"/>
          <p:cNvSpPr/>
          <p:nvPr/>
        </p:nvSpPr>
        <p:spPr>
          <a:xfrm>
            <a:off x="5961888" y="3291840"/>
            <a:ext cx="146304" cy="0"/>
          </a:xfrm>
          <a:prstGeom prst="line">
            <a:avLst/>
          </a:prstGeom>
          <a:noFill/>
          <a:ln w="22225">
            <a:solidFill>
              <a:srgbClr val="8A8A92"/>
            </a:solidFill>
            <a:prstDash val="solid"/>
            <a:tailEnd type="triangle"/>
          </a:ln>
        </p:spPr>
      </p:sp>
      <p:sp>
        <p:nvSpPr>
          <p:cNvPr id="17" name="Shape 14"/>
          <p:cNvSpPr/>
          <p:nvPr/>
        </p:nvSpPr>
        <p:spPr>
          <a:xfrm>
            <a:off x="6126480" y="1783080"/>
            <a:ext cx="2606040" cy="3017520"/>
          </a:xfrm>
          <a:prstGeom prst="roundRect">
            <a:avLst>
              <a:gd name="adj" fmla="val 4211"/>
            </a:avLst>
          </a:prstGeom>
          <a:solidFill>
            <a:srgbClr val="F6F7F8"/>
          </a:solidFill>
          <a:ln w="12700">
            <a:solidFill>
              <a:srgbClr val="F6F7F8"/>
            </a:solidFill>
            <a:prstDash val="solid"/>
          </a:ln>
        </p:spPr>
      </p:sp>
      <p:sp>
        <p:nvSpPr>
          <p:cNvPr id="18" name="Shape 15"/>
          <p:cNvSpPr/>
          <p:nvPr/>
        </p:nvSpPr>
        <p:spPr>
          <a:xfrm>
            <a:off x="6355080" y="2011680"/>
            <a:ext cx="457200" cy="457200"/>
          </a:xfrm>
          <a:prstGeom prst="ellipse">
            <a:avLst/>
          </a:prstGeom>
          <a:solidFill>
            <a:srgbClr val="0A7F44"/>
          </a:solidFill>
          <a:ln w="12700">
            <a:solidFill>
              <a:srgbClr val="0A7F44"/>
            </a:solidFill>
            <a:prstDash val="solid"/>
          </a:ln>
        </p:spPr>
      </p:sp>
      <p:sp>
        <p:nvSpPr>
          <p:cNvPr id="19" name="Text 16"/>
          <p:cNvSpPr txBox="1"/>
          <p:nvPr/>
        </p:nvSpPr>
        <p:spPr>
          <a:xfrm>
            <a:off x="6355080"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0" name="Text 17"/>
          <p:cNvSpPr txBox="1"/>
          <p:nvPr/>
        </p:nvSpPr>
        <p:spPr>
          <a:xfrm>
            <a:off x="6355080" y="2651760"/>
            <a:ext cx="2194560" cy="365760"/>
          </a:xfrm>
          <a:prstGeom prst="rect">
            <a:avLst/>
          </a:prstGeom>
          <a:noFill/>
          <a:ln/>
        </p:spPr>
        <p:txBody>
          <a:bodyPr wrap="square" lIns="0" tIns="0" rIns="0" bIns="0" rtlCol="0" anchor="t"/>
          <a:lstStyle/>
          <a:p>
            <a:pPr indent="0" marL="0">
              <a:buNone/>
            </a:pPr>
            <a:r>
              <a:rPr lang="en-US" sz="1700" b="1" dirty="0">
                <a:solidFill>
                  <a:srgbClr val="0A0A0B"/>
                </a:solidFill>
              </a:rPr>
              <a:t>Tap Join</a:t>
            </a:r>
            <a:endParaRPr lang="en-US" sz="1700" dirty="0"/>
          </a:p>
        </p:txBody>
      </p:sp>
      <p:sp>
        <p:nvSpPr>
          <p:cNvPr id="21" name="Text 18"/>
          <p:cNvSpPr txBox="1"/>
          <p:nvPr/>
        </p:nvSpPr>
        <p:spPr>
          <a:xfrm>
            <a:off x="6355080" y="3108960"/>
            <a:ext cx="2194560" cy="1554480"/>
          </a:xfrm>
          <a:prstGeom prst="rect">
            <a:avLst/>
          </a:prstGeom>
          <a:noFill/>
          <a:ln/>
        </p:spPr>
        <p:txBody>
          <a:bodyPr wrap="square" lIns="0" tIns="0" rIns="0" bIns="0" rtlCol="0" anchor="t"/>
          <a:lstStyle/>
          <a:p>
            <a:pPr indent="0" marL="0">
              <a:buNone/>
            </a:pPr>
            <a:r>
              <a:rPr lang="en-US" sz="1250" dirty="0">
                <a:solidFill>
                  <a:srgbClr val="55555C"/>
                </a:solidFill>
              </a:rPr>
              <a:t>Sign in once (a demo sign-in for now: Facebook and Instagram login wait for Meta's app review) and the game is joined straight away.</a:t>
            </a:r>
            <a:endParaRPr lang="en-US" sz="1250" dirty="0"/>
          </a:p>
        </p:txBody>
      </p:sp>
      <p:sp>
        <p:nvSpPr>
          <p:cNvPr id="22" name="Shape 19"/>
          <p:cNvSpPr/>
          <p:nvPr/>
        </p:nvSpPr>
        <p:spPr>
          <a:xfrm>
            <a:off x="8750808" y="3291840"/>
            <a:ext cx="146304" cy="0"/>
          </a:xfrm>
          <a:prstGeom prst="line">
            <a:avLst/>
          </a:prstGeom>
          <a:noFill/>
          <a:ln w="22225">
            <a:solidFill>
              <a:srgbClr val="8A8A92"/>
            </a:solidFill>
            <a:prstDash val="solid"/>
            <a:tailEnd type="triangle"/>
          </a:ln>
        </p:spPr>
      </p:sp>
      <p:sp>
        <p:nvSpPr>
          <p:cNvPr id="23" name="Shape 20"/>
          <p:cNvSpPr/>
          <p:nvPr/>
        </p:nvSpPr>
        <p:spPr>
          <a:xfrm>
            <a:off x="8915400" y="1783080"/>
            <a:ext cx="2606040" cy="3017520"/>
          </a:xfrm>
          <a:prstGeom prst="roundRect">
            <a:avLst>
              <a:gd name="adj" fmla="val 4211"/>
            </a:avLst>
          </a:prstGeom>
          <a:solidFill>
            <a:srgbClr val="E9F3EC"/>
          </a:solidFill>
          <a:ln w="12700">
            <a:solidFill>
              <a:srgbClr val="E9F3EC"/>
            </a:solidFill>
            <a:prstDash val="solid"/>
          </a:ln>
        </p:spPr>
      </p:sp>
      <p:sp>
        <p:nvSpPr>
          <p:cNvPr id="24" name="Shape 21"/>
          <p:cNvSpPr/>
          <p:nvPr/>
        </p:nvSpPr>
        <p:spPr>
          <a:xfrm>
            <a:off x="9144000" y="2011680"/>
            <a:ext cx="457200" cy="457200"/>
          </a:xfrm>
          <a:prstGeom prst="ellipse">
            <a:avLst/>
          </a:prstGeom>
          <a:solidFill>
            <a:srgbClr val="0A7F44"/>
          </a:solidFill>
          <a:ln w="12700">
            <a:solidFill>
              <a:srgbClr val="0A7F44"/>
            </a:solidFill>
            <a:prstDash val="solid"/>
          </a:ln>
        </p:spPr>
      </p:sp>
      <p:sp>
        <p:nvSpPr>
          <p:cNvPr id="25" name="Text 22"/>
          <p:cNvSpPr txBox="1"/>
          <p:nvPr/>
        </p:nvSpPr>
        <p:spPr>
          <a:xfrm>
            <a:off x="9144000" y="2011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6" name="Text 23"/>
          <p:cNvSpPr txBox="1"/>
          <p:nvPr/>
        </p:nvSpPr>
        <p:spPr>
          <a:xfrm>
            <a:off x="9144000" y="2651760"/>
            <a:ext cx="2194560" cy="365760"/>
          </a:xfrm>
          <a:prstGeom prst="rect">
            <a:avLst/>
          </a:prstGeom>
          <a:noFill/>
          <a:ln/>
        </p:spPr>
        <p:txBody>
          <a:bodyPr wrap="square" lIns="0" tIns="0" rIns="0" bIns="0" rtlCol="0" anchor="t"/>
          <a:lstStyle/>
          <a:p>
            <a:pPr indent="0" marL="0">
              <a:buNone/>
            </a:pPr>
            <a:r>
              <a:rPr lang="en-US" sz="1700" b="1" dirty="0">
                <a:solidFill>
                  <a:srgbClr val="0A0A0B"/>
                </a:solidFill>
              </a:rPr>
              <a:t>Game on</a:t>
            </a:r>
            <a:endParaRPr lang="en-US" sz="1700" dirty="0"/>
          </a:p>
        </p:txBody>
      </p:sp>
      <p:sp>
        <p:nvSpPr>
          <p:cNvPr id="27" name="Text 24"/>
          <p:cNvSpPr txBox="1"/>
          <p:nvPr/>
        </p:nvSpPr>
        <p:spPr>
          <a:xfrm>
            <a:off x="9144000" y="3108960"/>
            <a:ext cx="2194560" cy="1554480"/>
          </a:xfrm>
          <a:prstGeom prst="rect">
            <a:avLst/>
          </a:prstGeom>
          <a:noFill/>
          <a:ln/>
        </p:spPr>
        <p:txBody>
          <a:bodyPr wrap="square" lIns="0" tIns="0" rIns="0" bIns="0" rtlCol="0" anchor="t"/>
          <a:lstStyle/>
          <a:p>
            <a:pPr indent="0" marL="0">
              <a:buNone/>
            </a:pPr>
            <a:r>
              <a:rPr lang="en-US" sz="1250" dirty="0">
                <a:solidFill>
                  <a:srgbClr val="55555C"/>
                </a:solidFill>
              </a:rPr>
              <a:t>The last spot taken, everyone in it hears "Game on". From then on, their own agent answers for them.</a:t>
            </a:r>
            <a:endParaRPr lang="en-US" sz="1250" dirty="0"/>
          </a:p>
        </p:txBody>
      </p:sp>
      <p:sp>
        <p:nvSpPr>
          <p:cNvPr id="28" name="Shape 25"/>
          <p:cNvSpPr/>
          <p:nvPr/>
        </p:nvSpPr>
        <p:spPr>
          <a:xfrm>
            <a:off x="548640" y="5029200"/>
            <a:ext cx="11064240" cy="1005840"/>
          </a:xfrm>
          <a:prstGeom prst="roundRect">
            <a:avLst>
              <a:gd name="adj" fmla="val 10909"/>
            </a:avLst>
          </a:prstGeom>
          <a:solidFill>
            <a:srgbClr val="FFFFFF"/>
          </a:solidFill>
          <a:ln w="12700">
            <a:solidFill>
              <a:srgbClr val="DCDCE0"/>
            </a:solidFill>
            <a:prstDash val="solid"/>
          </a:ln>
        </p:spPr>
      </p:sp>
      <p:sp>
        <p:nvSpPr>
          <p:cNvPr id="29" name="Text 26"/>
          <p:cNvSpPr txBox="1"/>
          <p:nvPr/>
        </p:nvSpPr>
        <p:spPr>
          <a:xfrm>
            <a:off x="777240" y="5029200"/>
            <a:ext cx="10607040" cy="1005840"/>
          </a:xfrm>
          <a:prstGeom prst="rect">
            <a:avLst/>
          </a:prstGeom>
          <a:noFill/>
          <a:ln/>
        </p:spPr>
        <p:txBody>
          <a:bodyPr wrap="square" lIns="0" tIns="0" rIns="0" bIns="0" rtlCol="0" anchor="ctr"/>
          <a:lstStyle/>
          <a:p>
            <a:pPr indent="0" marL="0">
              <a:buNone/>
            </a:pPr>
            <a:r>
              <a:rPr lang="en-US" sz="1300" b="1" dirty="0">
                <a:solidFill>
                  <a:srgbClr val="0A0A0B"/>
                </a:solidFill>
              </a:rPr>
              <a:t>Why it matters. </a:t>
            </a:r>
            <a:pPr indent="0" marL="0">
              <a:buNone/>
            </a:pPr>
            <a:r>
              <a:rPr lang="en-US" sz="1300" dirty="0">
                <a:solidFill>
                  <a:srgbClr val="0A0A0B"/>
                </a:solidFill>
              </a:rPr>
              <a:t>Agents agree games only between members, so the second player has to get in somehow: the link is that way in, and nobody has to install anything first. A private club's games never leave the club. Live on the public site since 29 Oct; the link page and the join are covered by tests.</a:t>
            </a:r>
            <a:endParaRPr lang="en-US" sz="13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IMPACT · WHO ELSE IT SERVES</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Games where no one has time to organize them</a:t>
            </a:r>
            <a:endParaRPr lang="en-US" sz="3200" dirty="0"/>
          </a:p>
        </p:txBody>
      </p:sp>
      <p:sp>
        <p:nvSpPr>
          <p:cNvPr id="5" name="Shape 2"/>
          <p:cNvSpPr/>
          <p:nvPr/>
        </p:nvSpPr>
        <p:spPr>
          <a:xfrm>
            <a:off x="548640" y="1691640"/>
            <a:ext cx="3566160" cy="4343400"/>
          </a:xfrm>
          <a:prstGeom prst="roundRect">
            <a:avLst>
              <a:gd name="adj" fmla="val 3077"/>
            </a:avLst>
          </a:prstGeom>
          <a:solidFill>
            <a:srgbClr val="FFFFFF"/>
          </a:solidFill>
          <a:ln w="12700">
            <a:solidFill>
              <a:srgbClr val="DCDCE0"/>
            </a:solidFill>
            <a:prstDash val="solid"/>
          </a:ln>
        </p:spPr>
      </p:sp>
      <p:sp>
        <p:nvSpPr>
          <p:cNvPr id="6" name="Text 3"/>
          <p:cNvSpPr txBox="1"/>
          <p:nvPr/>
        </p:nvSpPr>
        <p:spPr>
          <a:xfrm>
            <a:off x="777240" y="1874520"/>
            <a:ext cx="3108960" cy="228600"/>
          </a:xfrm>
          <a:prstGeom prst="rect">
            <a:avLst/>
          </a:prstGeom>
          <a:noFill/>
          <a:ln/>
        </p:spPr>
        <p:txBody>
          <a:bodyPr wrap="square" lIns="0" tIns="0" rIns="0" bIns="0" rtlCol="0" anchor="t"/>
          <a:lstStyle/>
          <a:p>
            <a:pPr indent="0" marL="0">
              <a:buNone/>
            </a:pPr>
            <a:r>
              <a:rPr lang="en-US" sz="1000" b="1" spc="100" kern="0" dirty="0">
                <a:solidFill>
                  <a:srgbClr val="0A7F44"/>
                </a:solidFill>
              </a:rPr>
              <a:t>CHILDREN</a:t>
            </a:r>
            <a:endParaRPr lang="en-US" sz="1000" dirty="0"/>
          </a:p>
        </p:txBody>
      </p:sp>
      <p:sp>
        <p:nvSpPr>
          <p:cNvPr id="7" name="Text 4"/>
          <p:cNvSpPr txBox="1"/>
          <p:nvPr/>
        </p:nvSpPr>
        <p:spPr>
          <a:xfrm>
            <a:off x="777240" y="2148840"/>
            <a:ext cx="3108960" cy="365760"/>
          </a:xfrm>
          <a:prstGeom prst="rect">
            <a:avLst/>
          </a:prstGeom>
          <a:noFill/>
          <a:ln/>
        </p:spPr>
        <p:txBody>
          <a:bodyPr wrap="square" lIns="0" tIns="0" rIns="0" bIns="0" rtlCol="0" anchor="t"/>
          <a:lstStyle/>
          <a:p>
            <a:pPr indent="0" marL="0">
              <a:buNone/>
            </a:pPr>
            <a:r>
              <a:rPr lang="en-US" sz="1800" b="1" dirty="0">
                <a:solidFill>
                  <a:srgbClr val="0A0A0B"/>
                </a:solidFill>
              </a:rPr>
              <a:t>A teacher or volunteer</a:t>
            </a:r>
            <a:endParaRPr lang="en-US" sz="1800" dirty="0"/>
          </a:p>
        </p:txBody>
      </p:sp>
      <p:sp>
        <p:nvSpPr>
          <p:cNvPr id="8" name="Text 5"/>
          <p:cNvSpPr txBox="1"/>
          <p:nvPr/>
        </p:nvSpPr>
        <p:spPr>
          <a:xfrm>
            <a:off x="777240" y="2606040"/>
            <a:ext cx="3108960" cy="1737360"/>
          </a:xfrm>
          <a:prstGeom prst="rect">
            <a:avLst/>
          </a:prstGeom>
          <a:noFill/>
          <a:ln/>
        </p:spPr>
        <p:txBody>
          <a:bodyPr wrap="square" lIns="0" tIns="0" rIns="0" bIns="0" rtlCol="0" anchor="t"/>
          <a:lstStyle/>
          <a:p>
            <a:pPr indent="0" marL="0">
              <a:buNone/>
            </a:pPr>
            <a:r>
              <a:rPr lang="en-US" sz="1250" dirty="0">
                <a:solidFill>
                  <a:srgbClr val="55555C"/>
                </a:solidFill>
              </a:rPr>
              <a:t>Private: parents and helpers join only when the organizer lets them in. Children have no accounts: first names only, seen by the organizer. Code shares out the courts in turns.</a:t>
            </a:r>
            <a:endParaRPr lang="en-US" sz="1250" dirty="0"/>
          </a:p>
        </p:txBody>
      </p:sp>
      <p:sp>
        <p:nvSpPr>
          <p:cNvPr id="9" name="Shape 6"/>
          <p:cNvSpPr/>
          <p:nvPr/>
        </p:nvSpPr>
        <p:spPr>
          <a:xfrm>
            <a:off x="777240" y="4480560"/>
            <a:ext cx="3108960" cy="1325880"/>
          </a:xfrm>
          <a:prstGeom prst="roundRect">
            <a:avLst>
              <a:gd name="adj" fmla="val 8276"/>
            </a:avLst>
          </a:prstGeom>
          <a:solidFill>
            <a:srgbClr val="E9F3EC"/>
          </a:solidFill>
          <a:ln w="12700">
            <a:solidFill>
              <a:srgbClr val="E9F3EC"/>
            </a:solidFill>
            <a:prstDash val="solid"/>
          </a:ln>
        </p:spPr>
      </p:sp>
      <p:sp>
        <p:nvSpPr>
          <p:cNvPr id="10" name="Text 7"/>
          <p:cNvSpPr txBox="1"/>
          <p:nvPr/>
        </p:nvSpPr>
        <p:spPr>
          <a:xfrm>
            <a:off x="914400" y="4526280"/>
            <a:ext cx="2834640" cy="1234440"/>
          </a:xfrm>
          <a:prstGeom prst="rect">
            <a:avLst/>
          </a:prstGeom>
          <a:noFill/>
          <a:ln/>
        </p:spPr>
        <p:txBody>
          <a:bodyPr wrap="square" lIns="0" tIns="0" rIns="0" bIns="0" rtlCol="0" anchor="ctr"/>
          <a:lstStyle/>
          <a:p>
            <a:pPr indent="0" marL="0">
              <a:buNone/>
            </a:pPr>
            <a:r>
              <a:rPr lang="en-US" sz="1200" b="1" dirty="0">
                <a:solidFill>
                  <a:srgbClr val="0A0A0B"/>
                </a:solidFill>
              </a:rPr>
              <a:t>11 children, 2 courts: everyone plays within one turn of the others. A pick-up note for parents.</a:t>
            </a:r>
            <a:endParaRPr lang="en-US" sz="1200" dirty="0"/>
          </a:p>
        </p:txBody>
      </p:sp>
      <p:sp>
        <p:nvSpPr>
          <p:cNvPr id="11" name="Shape 8"/>
          <p:cNvSpPr/>
          <p:nvPr/>
        </p:nvSpPr>
        <p:spPr>
          <a:xfrm>
            <a:off x="4297680" y="1691640"/>
            <a:ext cx="3566160" cy="4343400"/>
          </a:xfrm>
          <a:prstGeom prst="roundRect">
            <a:avLst>
              <a:gd name="adj" fmla="val 3077"/>
            </a:avLst>
          </a:prstGeom>
          <a:solidFill>
            <a:srgbClr val="FFFFFF"/>
          </a:solidFill>
          <a:ln w="12700">
            <a:solidFill>
              <a:srgbClr val="DCDCE0"/>
            </a:solidFill>
            <a:prstDash val="solid"/>
          </a:ln>
        </p:spPr>
      </p:sp>
      <p:sp>
        <p:nvSpPr>
          <p:cNvPr id="12" name="Text 9"/>
          <p:cNvSpPr txBox="1"/>
          <p:nvPr/>
        </p:nvSpPr>
        <p:spPr>
          <a:xfrm>
            <a:off x="4526280" y="1874520"/>
            <a:ext cx="3108960" cy="228600"/>
          </a:xfrm>
          <a:prstGeom prst="rect">
            <a:avLst/>
          </a:prstGeom>
          <a:noFill/>
          <a:ln/>
        </p:spPr>
        <p:txBody>
          <a:bodyPr wrap="square" lIns="0" tIns="0" rIns="0" bIns="0" rtlCol="0" anchor="t"/>
          <a:lstStyle/>
          <a:p>
            <a:pPr indent="0" marL="0">
              <a:buNone/>
            </a:pPr>
            <a:r>
              <a:rPr lang="en-US" sz="1000" b="1" spc="100" kern="0" dirty="0">
                <a:solidFill>
                  <a:srgbClr val="0064E0"/>
                </a:solidFill>
              </a:rPr>
              <a:t>OLDER ADULTS</a:t>
            </a:r>
            <a:endParaRPr lang="en-US" sz="1000" dirty="0"/>
          </a:p>
        </p:txBody>
      </p:sp>
      <p:sp>
        <p:nvSpPr>
          <p:cNvPr id="13" name="Text 10"/>
          <p:cNvSpPr txBox="1"/>
          <p:nvPr/>
        </p:nvSpPr>
        <p:spPr>
          <a:xfrm>
            <a:off x="4526280" y="2148840"/>
            <a:ext cx="3108960" cy="365760"/>
          </a:xfrm>
          <a:prstGeom prst="rect">
            <a:avLst/>
          </a:prstGeom>
          <a:noFill/>
          <a:ln/>
        </p:spPr>
        <p:txBody>
          <a:bodyPr wrap="square" lIns="0" tIns="0" rIns="0" bIns="0" rtlCol="0" anchor="t"/>
          <a:lstStyle/>
          <a:p>
            <a:pPr indent="0" marL="0">
              <a:buNone/>
            </a:pPr>
            <a:r>
              <a:rPr lang="en-US" sz="1800" b="1" dirty="0">
                <a:solidFill>
                  <a:srgbClr val="0A0A0B"/>
                </a:solidFill>
              </a:rPr>
              <a:t>Gentle games</a:t>
            </a:r>
            <a:endParaRPr lang="en-US" sz="1800" dirty="0"/>
          </a:p>
        </p:txBody>
      </p:sp>
      <p:sp>
        <p:nvSpPr>
          <p:cNvPr id="14" name="Text 11"/>
          <p:cNvSpPr txBox="1"/>
          <p:nvPr/>
        </p:nvSpPr>
        <p:spPr>
          <a:xfrm>
            <a:off x="4526280" y="2606040"/>
            <a:ext cx="3108960" cy="1737360"/>
          </a:xfrm>
          <a:prstGeom prst="rect">
            <a:avLst/>
          </a:prstGeom>
          <a:noFill/>
          <a:ln/>
        </p:spPr>
        <p:txBody>
          <a:bodyPr wrap="square" lIns="0" tIns="0" rIns="0" bIns="0" rtlCol="0" anchor="t"/>
          <a:lstStyle/>
          <a:p>
            <a:pPr indent="0" marL="0">
              <a:buNone/>
            </a:pPr>
            <a:r>
              <a:rPr lang="en-US" sz="1250" dirty="0">
                <a:solidFill>
                  <a:srgbClr val="55555C"/>
                </a:solidFill>
              </a:rPr>
              <a:t>Every game posted in a gentle-games club is held by code: starts 08:00 to 16:00, 60 minutes, 8 players at most, doubles for racket sports.</a:t>
            </a:r>
            <a:endParaRPr lang="en-US" sz="1250" dirty="0"/>
          </a:p>
        </p:txBody>
      </p:sp>
      <p:sp>
        <p:nvSpPr>
          <p:cNvPr id="15" name="Shape 12"/>
          <p:cNvSpPr/>
          <p:nvPr/>
        </p:nvSpPr>
        <p:spPr>
          <a:xfrm>
            <a:off x="4526280" y="4480560"/>
            <a:ext cx="3108960" cy="1325880"/>
          </a:xfrm>
          <a:prstGeom prst="roundRect">
            <a:avLst>
              <a:gd name="adj" fmla="val 8276"/>
            </a:avLst>
          </a:prstGeom>
          <a:solidFill>
            <a:srgbClr val="E8F1FD"/>
          </a:solidFill>
          <a:ln w="12700">
            <a:solidFill>
              <a:srgbClr val="E8F1FD"/>
            </a:solidFill>
            <a:prstDash val="solid"/>
          </a:ln>
        </p:spPr>
      </p:sp>
      <p:sp>
        <p:nvSpPr>
          <p:cNvPr id="16" name="Text 13"/>
          <p:cNvSpPr txBox="1"/>
          <p:nvPr/>
        </p:nvSpPr>
        <p:spPr>
          <a:xfrm>
            <a:off x="4663440" y="4526280"/>
            <a:ext cx="2834640" cy="1234440"/>
          </a:xfrm>
          <a:prstGeom prst="rect">
            <a:avLst/>
          </a:prstGeom>
          <a:noFill/>
          <a:ln/>
        </p:spPr>
        <p:txBody>
          <a:bodyPr wrap="square" lIns="0" tIns="0" rIns="0" bIns="0" rtlCol="0" anchor="ctr"/>
          <a:lstStyle/>
          <a:p>
            <a:pPr indent="0" marL="0">
              <a:buNone/>
            </a:pPr>
            <a:r>
              <a:rPr lang="en-US" sz="1200" b="1" dirty="0">
                <a:solidFill>
                  <a:srgbClr val="0A0A0B"/>
                </a:solidFill>
              </a:rPr>
              <a:t>A 19:00 game is refused, with the reason. The card says "Gentle game · doubles, 60 min".</a:t>
            </a:r>
            <a:endParaRPr lang="en-US" sz="1200" dirty="0"/>
          </a:p>
        </p:txBody>
      </p:sp>
      <p:sp>
        <p:nvSpPr>
          <p:cNvPr id="17" name="Shape 14"/>
          <p:cNvSpPr/>
          <p:nvPr/>
        </p:nvSpPr>
        <p:spPr>
          <a:xfrm>
            <a:off x="8046720" y="1691640"/>
            <a:ext cx="3566160" cy="4343400"/>
          </a:xfrm>
          <a:prstGeom prst="roundRect">
            <a:avLst>
              <a:gd name="adj" fmla="val 3077"/>
            </a:avLst>
          </a:prstGeom>
          <a:solidFill>
            <a:srgbClr val="FFFFFF"/>
          </a:solidFill>
          <a:ln w="12700">
            <a:solidFill>
              <a:srgbClr val="DCDCE0"/>
            </a:solidFill>
            <a:prstDash val="solid"/>
          </a:ln>
        </p:spPr>
      </p:sp>
      <p:sp>
        <p:nvSpPr>
          <p:cNvPr id="18" name="Text 15"/>
          <p:cNvSpPr txBox="1"/>
          <p:nvPr/>
        </p:nvSpPr>
        <p:spPr>
          <a:xfrm>
            <a:off x="8275320" y="1874520"/>
            <a:ext cx="3108960" cy="228600"/>
          </a:xfrm>
          <a:prstGeom prst="rect">
            <a:avLst/>
          </a:prstGeom>
          <a:noFill/>
          <a:ln/>
        </p:spPr>
        <p:txBody>
          <a:bodyPr wrap="square" lIns="0" tIns="0" rIns="0" bIns="0" rtlCol="0" anchor="t"/>
          <a:lstStyle/>
          <a:p>
            <a:pPr indent="0" marL="0">
              <a:buNone/>
            </a:pPr>
            <a:r>
              <a:rPr lang="en-US" sz="1000" b="1" spc="100" kern="0" dirty="0">
                <a:solidFill>
                  <a:srgbClr val="B26A00"/>
                </a:solidFill>
              </a:rPr>
              <a:t>A CAUSE</a:t>
            </a:r>
            <a:endParaRPr lang="en-US" sz="1000" dirty="0"/>
          </a:p>
        </p:txBody>
      </p:sp>
      <p:sp>
        <p:nvSpPr>
          <p:cNvPr id="19" name="Text 16"/>
          <p:cNvSpPr txBox="1"/>
          <p:nvPr/>
        </p:nvSpPr>
        <p:spPr>
          <a:xfrm>
            <a:off x="8275320" y="2148840"/>
            <a:ext cx="3108960" cy="365760"/>
          </a:xfrm>
          <a:prstGeom prst="rect">
            <a:avLst/>
          </a:prstGeom>
          <a:noFill/>
          <a:ln/>
        </p:spPr>
        <p:txBody>
          <a:bodyPr wrap="square" lIns="0" tIns="0" rIns="0" bIns="0" rtlCol="0" anchor="t"/>
          <a:lstStyle/>
          <a:p>
            <a:pPr indent="0" marL="0">
              <a:buNone/>
            </a:pPr>
            <a:r>
              <a:rPr lang="en-US" sz="1800" b="1" dirty="0">
                <a:solidFill>
                  <a:srgbClr val="0A0A0B"/>
                </a:solidFill>
              </a:rPr>
              <a:t>Charity cup</a:t>
            </a:r>
            <a:endParaRPr lang="en-US" sz="1800" dirty="0"/>
          </a:p>
        </p:txBody>
      </p:sp>
      <p:sp>
        <p:nvSpPr>
          <p:cNvPr id="20" name="Text 17"/>
          <p:cNvSpPr txBox="1"/>
          <p:nvPr/>
        </p:nvSpPr>
        <p:spPr>
          <a:xfrm>
            <a:off x="8275320" y="2606040"/>
            <a:ext cx="3108960" cy="1737360"/>
          </a:xfrm>
          <a:prstGeom prst="rect">
            <a:avLst/>
          </a:prstGeom>
          <a:noFill/>
          <a:ln/>
        </p:spPr>
        <p:txBody>
          <a:bodyPr wrap="square" lIns="0" tIns="0" rIns="0" bIns="0" rtlCol="0" anchor="t"/>
          <a:lstStyle/>
          <a:p>
            <a:pPr indent="0" marL="0">
              <a:buNone/>
            </a:pPr>
            <a:r>
              <a:rPr lang="en-US" sz="1250" dirty="0">
                <a:solidFill>
                  <a:srgbClr val="55555C"/>
                </a:solidFill>
              </a:rPr>
              <a:t>Players enter with a level and a pledge to the cause, only recorded: Serve handles no money. The organizer makes the draw in one tap.</a:t>
            </a:r>
            <a:endParaRPr lang="en-US" sz="1250" dirty="0"/>
          </a:p>
        </p:txBody>
      </p:sp>
      <p:sp>
        <p:nvSpPr>
          <p:cNvPr id="21" name="Shape 18"/>
          <p:cNvSpPr/>
          <p:nvPr/>
        </p:nvSpPr>
        <p:spPr>
          <a:xfrm>
            <a:off x="8275320" y="4480560"/>
            <a:ext cx="3108960" cy="1325880"/>
          </a:xfrm>
          <a:prstGeom prst="roundRect">
            <a:avLst>
              <a:gd name="adj" fmla="val 8276"/>
            </a:avLst>
          </a:prstGeom>
          <a:solidFill>
            <a:srgbClr val="FBF3E6"/>
          </a:solidFill>
          <a:ln w="12700">
            <a:solidFill>
              <a:srgbClr val="FBF3E6"/>
            </a:solidFill>
            <a:prstDash val="solid"/>
          </a:ln>
        </p:spPr>
      </p:sp>
      <p:sp>
        <p:nvSpPr>
          <p:cNvPr id="22" name="Text 19"/>
          <p:cNvSpPr txBox="1"/>
          <p:nvPr/>
        </p:nvSpPr>
        <p:spPr>
          <a:xfrm>
            <a:off x="8412480" y="4526280"/>
            <a:ext cx="2834640" cy="1234440"/>
          </a:xfrm>
          <a:prstGeom prst="rect">
            <a:avLst/>
          </a:prstGeom>
          <a:noFill/>
          <a:ln/>
        </p:spPr>
        <p:txBody>
          <a:bodyPr wrap="square" lIns="0" tIns="0" rIns="0" bIns="0" rtlCol="0" anchor="ctr"/>
          <a:lstStyle/>
          <a:p>
            <a:pPr indent="0" marL="0">
              <a:buNone/>
            </a:pPr>
            <a:r>
              <a:rPr lang="en-US" sz="1200" b="1" dirty="0">
                <a:solidFill>
                  <a:srgbClr val="0A0A0B"/>
                </a:solidFill>
              </a:rPr>
              <a:t>Balanced doubles, a round robin on courts and times, no team twice in a slot; posted in the club.</a:t>
            </a:r>
            <a:endParaRPr lang="en-US" sz="1200" dirty="0"/>
          </a:p>
        </p:txBody>
      </p:sp>
      <p:sp>
        <p:nvSpPr>
          <p:cNvPr id="23" name="Text 20"/>
          <p:cNvSpPr txBox="1"/>
          <p:nvPr/>
        </p:nvSpPr>
        <p:spPr>
          <a:xfrm>
            <a:off x="548640" y="6144768"/>
            <a:ext cx="10972800" cy="274320"/>
          </a:xfrm>
          <a:prstGeom prst="rect">
            <a:avLst/>
          </a:prstGeom>
          <a:noFill/>
          <a:ln/>
        </p:spPr>
        <p:txBody>
          <a:bodyPr wrap="square" lIns="0" tIns="0" rIns="0" bIns="0" rtlCol="0" anchor="t"/>
          <a:lstStyle/>
          <a:p>
            <a:pPr indent="0" marL="0">
              <a:buNone/>
            </a:pPr>
            <a:r>
              <a:rPr lang="en-US" sz="1100" i="1" dirty="0">
                <a:solidFill>
                  <a:srgbClr val="55555C"/>
                </a:solidFill>
              </a:rPr>
              <a:t>All rules are code, checked in test/programs_unit.mjs. A new kind of group is a club, not a new agent.</a:t>
            </a:r>
            <a:endParaRPr lang="en-US" sz="11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HOW IT WORKS</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One yes from you. Agents do the rest</a:t>
            </a:r>
            <a:endParaRPr lang="en-US" sz="3200" dirty="0"/>
          </a:p>
        </p:txBody>
      </p:sp>
      <p:sp>
        <p:nvSpPr>
          <p:cNvPr id="5" name="Shape 2"/>
          <p:cNvSpPr/>
          <p:nvPr/>
        </p:nvSpPr>
        <p:spPr>
          <a:xfrm>
            <a:off x="548640" y="1691640"/>
            <a:ext cx="3429000" cy="3886200"/>
          </a:xfrm>
          <a:prstGeom prst="roundRect">
            <a:avLst>
              <a:gd name="adj" fmla="val 3200"/>
            </a:avLst>
          </a:prstGeom>
          <a:solidFill>
            <a:srgbClr val="F6F7F8"/>
          </a:solidFill>
          <a:ln w="12700">
            <a:solidFill>
              <a:srgbClr val="F6F7F8"/>
            </a:solidFill>
            <a:prstDash val="solid"/>
          </a:ln>
        </p:spPr>
      </p:sp>
      <p:sp>
        <p:nvSpPr>
          <p:cNvPr id="6" name="Text 3"/>
          <p:cNvSpPr txBox="1"/>
          <p:nvPr/>
        </p:nvSpPr>
        <p:spPr>
          <a:xfrm>
            <a:off x="777240" y="1847088"/>
            <a:ext cx="2971800" cy="228600"/>
          </a:xfrm>
          <a:prstGeom prst="rect">
            <a:avLst/>
          </a:prstGeom>
          <a:noFill/>
          <a:ln/>
        </p:spPr>
        <p:txBody>
          <a:bodyPr wrap="square" lIns="0" tIns="0" rIns="0" bIns="0" rtlCol="0" anchor="t"/>
          <a:lstStyle/>
          <a:p>
            <a:pPr indent="0" marL="0">
              <a:buNone/>
            </a:pPr>
            <a:r>
              <a:rPr lang="en-US" sz="1050" b="1" spc="100" kern="0" dirty="0">
                <a:solidFill>
                  <a:srgbClr val="55555C"/>
                </a:solidFill>
              </a:rPr>
              <a:t>YOUR CONTEXT</a:t>
            </a:r>
            <a:endParaRPr lang="en-US" sz="1050" dirty="0"/>
          </a:p>
        </p:txBody>
      </p:sp>
      <p:sp>
        <p:nvSpPr>
          <p:cNvPr id="7" name="Text 4"/>
          <p:cNvSpPr txBox="1"/>
          <p:nvPr/>
        </p:nvSpPr>
        <p:spPr>
          <a:xfrm>
            <a:off x="777240" y="2103120"/>
            <a:ext cx="2971800" cy="411480"/>
          </a:xfrm>
          <a:prstGeom prst="rect">
            <a:avLst/>
          </a:prstGeom>
          <a:noFill/>
          <a:ln/>
        </p:spPr>
        <p:txBody>
          <a:bodyPr wrap="square" lIns="0" tIns="0" rIns="0" bIns="0" rtlCol="0" anchor="t"/>
          <a:lstStyle/>
          <a:p>
            <a:pPr indent="0" marL="0">
              <a:buNone/>
            </a:pPr>
            <a:r>
              <a:rPr lang="en-US" sz="1900" b="1" dirty="0">
                <a:solidFill>
                  <a:srgbClr val="0A0A0B"/>
                </a:solidFill>
              </a:rPr>
              <a:t>Say it once</a:t>
            </a:r>
            <a:endParaRPr lang="en-US" sz="1900" dirty="0"/>
          </a:p>
        </p:txBody>
      </p:sp>
      <p:pic>
        <p:nvPicPr>
          <p:cNvPr id="8" name="Image 0" descr="preencoded.png">    </p:cNvPr>
          <p:cNvPicPr>
            <a:picLocks noChangeAspect="1"/>
          </p:cNvPicPr>
          <p:nvPr/>
        </p:nvPicPr>
        <p:blipFill>
          <a:blip r:embed="rId1"/>
          <a:stretch>
            <a:fillRect/>
          </a:stretch>
        </p:blipFill>
        <p:spPr>
          <a:xfrm>
            <a:off x="777240" y="2715768"/>
            <a:ext cx="292608" cy="292608"/>
          </a:xfrm>
          <a:prstGeom prst="rect">
            <a:avLst/>
          </a:prstGeom>
        </p:spPr>
      </p:pic>
      <p:sp>
        <p:nvSpPr>
          <p:cNvPr id="9" name="Text 5"/>
          <p:cNvSpPr txBox="1"/>
          <p:nvPr/>
        </p:nvSpPr>
        <p:spPr>
          <a:xfrm>
            <a:off x="1188720" y="2697480"/>
            <a:ext cx="2606040" cy="274320"/>
          </a:xfrm>
          <a:prstGeom prst="rect">
            <a:avLst/>
          </a:prstGeom>
          <a:noFill/>
          <a:ln/>
        </p:spPr>
        <p:txBody>
          <a:bodyPr wrap="square" lIns="0" tIns="0" rIns="0" bIns="0" rtlCol="0" anchor="t"/>
          <a:lstStyle/>
          <a:p>
            <a:pPr indent="0" marL="0">
              <a:buNone/>
            </a:pPr>
            <a:r>
              <a:rPr lang="en-US" sz="1300" b="1" dirty="0">
                <a:solidFill>
                  <a:srgbClr val="0A0A0B"/>
                </a:solidFill>
              </a:rPr>
              <a:t>Messenger and voice</a:t>
            </a:r>
            <a:endParaRPr lang="en-US" sz="1300" dirty="0"/>
          </a:p>
        </p:txBody>
      </p:sp>
      <p:sp>
        <p:nvSpPr>
          <p:cNvPr id="10" name="Text 6"/>
          <p:cNvSpPr txBox="1"/>
          <p:nvPr/>
        </p:nvSpPr>
        <p:spPr>
          <a:xfrm>
            <a:off x="1188720" y="2971800"/>
            <a:ext cx="2606040" cy="457200"/>
          </a:xfrm>
          <a:prstGeom prst="rect">
            <a:avLst/>
          </a:prstGeom>
          <a:noFill/>
          <a:ln/>
        </p:spPr>
        <p:txBody>
          <a:bodyPr wrap="square" lIns="0" tIns="0" rIns="0" bIns="0" rtlCol="0" anchor="t"/>
          <a:lstStyle/>
          <a:p>
            <a:pPr indent="0" marL="0">
              <a:buNone/>
            </a:pPr>
            <a:r>
              <a:rPr lang="en-US" sz="1100" dirty="0">
                <a:solidFill>
                  <a:srgbClr val="55555C"/>
                </a:solidFill>
              </a:rPr>
              <a:t>"Not after 22:00 on work nights" · "not Tomás this week"</a:t>
            </a:r>
            <a:endParaRPr lang="en-US" sz="1100" dirty="0"/>
          </a:p>
        </p:txBody>
      </p:sp>
      <p:pic>
        <p:nvPicPr>
          <p:cNvPr id="11" name="Image 1" descr="preencoded.png">    </p:cNvPr>
          <p:cNvPicPr>
            <a:picLocks noChangeAspect="1"/>
          </p:cNvPicPr>
          <p:nvPr/>
        </p:nvPicPr>
        <p:blipFill>
          <a:blip r:embed="rId2"/>
          <a:stretch>
            <a:fillRect/>
          </a:stretch>
        </p:blipFill>
        <p:spPr>
          <a:xfrm>
            <a:off x="777240" y="3538728"/>
            <a:ext cx="292608" cy="292608"/>
          </a:xfrm>
          <a:prstGeom prst="rect">
            <a:avLst/>
          </a:prstGeom>
        </p:spPr>
      </p:pic>
      <p:sp>
        <p:nvSpPr>
          <p:cNvPr id="12" name="Text 7"/>
          <p:cNvSpPr txBox="1"/>
          <p:nvPr/>
        </p:nvSpPr>
        <p:spPr>
          <a:xfrm>
            <a:off x="1188720" y="3520440"/>
            <a:ext cx="2606040" cy="274320"/>
          </a:xfrm>
          <a:prstGeom prst="rect">
            <a:avLst/>
          </a:prstGeom>
          <a:noFill/>
          <a:ln/>
        </p:spPr>
        <p:txBody>
          <a:bodyPr wrap="square" lIns="0" tIns="0" rIns="0" bIns="0" rtlCol="0" anchor="t"/>
          <a:lstStyle/>
          <a:p>
            <a:pPr indent="0" marL="0">
              <a:buNone/>
            </a:pPr>
            <a:r>
              <a:rPr lang="en-US" sz="1300" b="1" dirty="0">
                <a:solidFill>
                  <a:srgbClr val="0A0A0B"/>
                </a:solidFill>
              </a:rPr>
              <a:t>Your health app</a:t>
            </a:r>
            <a:endParaRPr lang="en-US" sz="1300" dirty="0"/>
          </a:p>
        </p:txBody>
      </p:sp>
      <p:sp>
        <p:nvSpPr>
          <p:cNvPr id="13" name="Text 8"/>
          <p:cNvSpPr txBox="1"/>
          <p:nvPr/>
        </p:nvSpPr>
        <p:spPr>
          <a:xfrm>
            <a:off x="1188720" y="3794760"/>
            <a:ext cx="2606040" cy="457200"/>
          </a:xfrm>
          <a:prstGeom prst="rect">
            <a:avLst/>
          </a:prstGeom>
          <a:noFill/>
          <a:ln/>
        </p:spPr>
        <p:txBody>
          <a:bodyPr wrap="square" lIns="0" tIns="0" rIns="0" bIns="0" rtlCol="0" anchor="t"/>
          <a:lstStyle/>
          <a:p>
            <a:pPr indent="0" marL="0">
              <a:buNone/>
            </a:pPr>
            <a:r>
              <a:rPr lang="en-US" sz="1100" dirty="0">
                <a:solidFill>
                  <a:srgbClr val="55555C"/>
                </a:solidFill>
              </a:rPr>
              <a:t>Apple Health, Google Fit, GPX: your games</a:t>
            </a:r>
            <a:endParaRPr lang="en-US" sz="1100" dirty="0"/>
          </a:p>
        </p:txBody>
      </p:sp>
      <p:pic>
        <p:nvPicPr>
          <p:cNvPr id="14" name="Image 2" descr="preencoded.png">    </p:cNvPr>
          <p:cNvPicPr>
            <a:picLocks noChangeAspect="1"/>
          </p:cNvPicPr>
          <p:nvPr/>
        </p:nvPicPr>
        <p:blipFill>
          <a:blip r:embed="rId3"/>
          <a:stretch>
            <a:fillRect/>
          </a:stretch>
        </p:blipFill>
        <p:spPr>
          <a:xfrm>
            <a:off x="777240" y="4361688"/>
            <a:ext cx="292608" cy="292608"/>
          </a:xfrm>
          <a:prstGeom prst="rect">
            <a:avLst/>
          </a:prstGeom>
        </p:spPr>
      </p:pic>
      <p:sp>
        <p:nvSpPr>
          <p:cNvPr id="15" name="Text 9"/>
          <p:cNvSpPr txBox="1"/>
          <p:nvPr/>
        </p:nvSpPr>
        <p:spPr>
          <a:xfrm>
            <a:off x="1188720" y="4343400"/>
            <a:ext cx="2606040" cy="274320"/>
          </a:xfrm>
          <a:prstGeom prst="rect">
            <a:avLst/>
          </a:prstGeom>
          <a:noFill/>
          <a:ln/>
        </p:spPr>
        <p:txBody>
          <a:bodyPr wrap="square" lIns="0" tIns="0" rIns="0" bIns="0" rtlCol="0" anchor="t"/>
          <a:lstStyle/>
          <a:p>
            <a:pPr indent="0" marL="0">
              <a:buNone/>
            </a:pPr>
            <a:r>
              <a:rPr lang="en-US" sz="1300" b="1" dirty="0">
                <a:solidFill>
                  <a:srgbClr val="0A0A0B"/>
                </a:solidFill>
              </a:rPr>
              <a:t>Meta's DRAMA</a:t>
            </a:r>
            <a:endParaRPr lang="en-US" sz="1300" dirty="0"/>
          </a:p>
        </p:txBody>
      </p:sp>
      <p:sp>
        <p:nvSpPr>
          <p:cNvPr id="16" name="Text 10"/>
          <p:cNvSpPr txBox="1"/>
          <p:nvPr/>
        </p:nvSpPr>
        <p:spPr>
          <a:xfrm>
            <a:off x="1188720" y="4617720"/>
            <a:ext cx="2606040" cy="457200"/>
          </a:xfrm>
          <a:prstGeom prst="rect">
            <a:avLst/>
          </a:prstGeom>
          <a:noFill/>
          <a:ln/>
        </p:spPr>
        <p:txBody>
          <a:bodyPr wrap="square" lIns="0" tIns="0" rIns="0" bIns="0" rtlCol="0" anchor="t"/>
          <a:lstStyle/>
          <a:p>
            <a:pPr indent="0" marL="0">
              <a:buNone/>
            </a:pPr>
            <a:r>
              <a:rPr lang="en-US" sz="1100" dirty="0">
                <a:solidFill>
                  <a:srgbClr val="55555C"/>
                </a:solidFill>
              </a:rPr>
              <a:t>Finds what matters for this week, by meaning, recent first</a:t>
            </a:r>
            <a:endParaRPr lang="en-US" sz="1100" dirty="0"/>
          </a:p>
        </p:txBody>
      </p:sp>
      <p:sp>
        <p:nvSpPr>
          <p:cNvPr id="17" name="Shape 11"/>
          <p:cNvSpPr/>
          <p:nvPr/>
        </p:nvSpPr>
        <p:spPr>
          <a:xfrm>
            <a:off x="4023360" y="3630168"/>
            <a:ext cx="365760" cy="0"/>
          </a:xfrm>
          <a:prstGeom prst="line">
            <a:avLst/>
          </a:prstGeom>
          <a:noFill/>
          <a:ln w="22225">
            <a:solidFill>
              <a:srgbClr val="8A8A92"/>
            </a:solidFill>
            <a:prstDash val="solid"/>
            <a:tailEnd type="triangle"/>
          </a:ln>
        </p:spPr>
      </p:sp>
      <p:sp>
        <p:nvSpPr>
          <p:cNvPr id="18" name="Shape 12"/>
          <p:cNvSpPr/>
          <p:nvPr/>
        </p:nvSpPr>
        <p:spPr>
          <a:xfrm>
            <a:off x="4434840" y="1691640"/>
            <a:ext cx="3429000" cy="3886200"/>
          </a:xfrm>
          <a:prstGeom prst="roundRect">
            <a:avLst>
              <a:gd name="adj" fmla="val 3200"/>
            </a:avLst>
          </a:prstGeom>
          <a:solidFill>
            <a:srgbClr val="E9F3EC"/>
          </a:solidFill>
          <a:ln w="25400">
            <a:solidFill>
              <a:srgbClr val="0A7F44"/>
            </a:solidFill>
            <a:prstDash val="solid"/>
          </a:ln>
        </p:spPr>
      </p:sp>
      <p:sp>
        <p:nvSpPr>
          <p:cNvPr id="19" name="Text 13"/>
          <p:cNvSpPr txBox="1"/>
          <p:nvPr/>
        </p:nvSpPr>
        <p:spPr>
          <a:xfrm>
            <a:off x="4663440" y="1847088"/>
            <a:ext cx="2971800" cy="228600"/>
          </a:xfrm>
          <a:prstGeom prst="rect">
            <a:avLst/>
          </a:prstGeom>
          <a:noFill/>
          <a:ln/>
        </p:spPr>
        <p:txBody>
          <a:bodyPr wrap="square" lIns="0" tIns="0" rIns="0" bIns="0" rtlCol="0" anchor="t"/>
          <a:lstStyle/>
          <a:p>
            <a:pPr indent="0" marL="0">
              <a:buNone/>
            </a:pPr>
            <a:r>
              <a:rPr lang="en-US" sz="1050" b="1" spc="100" kern="0" dirty="0">
                <a:solidFill>
                  <a:srgbClr val="0A7F44"/>
                </a:solidFill>
              </a:rPr>
              <a:t>YOUR SERVE AGENT</a:t>
            </a:r>
            <a:endParaRPr lang="en-US" sz="1050" dirty="0"/>
          </a:p>
        </p:txBody>
      </p:sp>
      <p:sp>
        <p:nvSpPr>
          <p:cNvPr id="20" name="Text 14"/>
          <p:cNvSpPr txBox="1"/>
          <p:nvPr/>
        </p:nvSpPr>
        <p:spPr>
          <a:xfrm>
            <a:off x="4663440" y="2103120"/>
            <a:ext cx="2971800" cy="411480"/>
          </a:xfrm>
          <a:prstGeom prst="rect">
            <a:avLst/>
          </a:prstGeom>
          <a:noFill/>
          <a:ln/>
        </p:spPr>
        <p:txBody>
          <a:bodyPr wrap="square" lIns="0" tIns="0" rIns="0" bIns="0" rtlCol="0" anchor="t"/>
          <a:lstStyle/>
          <a:p>
            <a:pPr indent="0" marL="0">
              <a:buNone/>
            </a:pPr>
            <a:r>
              <a:rPr lang="en-US" sz="1900" b="1" dirty="0">
                <a:solidFill>
                  <a:srgbClr val="0A0A0B"/>
                </a:solidFill>
              </a:rPr>
              <a:t>Plans your week</a:t>
            </a:r>
            <a:endParaRPr lang="en-US" sz="1900" dirty="0"/>
          </a:p>
        </p:txBody>
      </p:sp>
      <p:pic>
        <p:nvPicPr>
          <p:cNvPr id="21" name="Image 3" descr="preencoded.png">    </p:cNvPr>
          <p:cNvPicPr>
            <a:picLocks noChangeAspect="1"/>
          </p:cNvPicPr>
          <p:nvPr/>
        </p:nvPicPr>
        <p:blipFill>
          <a:blip r:embed="rId4"/>
          <a:stretch>
            <a:fillRect/>
          </a:stretch>
        </p:blipFill>
        <p:spPr>
          <a:xfrm>
            <a:off x="4663440" y="2715768"/>
            <a:ext cx="292608" cy="292608"/>
          </a:xfrm>
          <a:prstGeom prst="rect">
            <a:avLst/>
          </a:prstGeom>
        </p:spPr>
      </p:pic>
      <p:sp>
        <p:nvSpPr>
          <p:cNvPr id="22" name="Text 15"/>
          <p:cNvSpPr txBox="1"/>
          <p:nvPr/>
        </p:nvSpPr>
        <p:spPr>
          <a:xfrm>
            <a:off x="5074920" y="2697480"/>
            <a:ext cx="2606040" cy="274320"/>
          </a:xfrm>
          <a:prstGeom prst="rect">
            <a:avLst/>
          </a:prstGeom>
          <a:noFill/>
          <a:ln/>
        </p:spPr>
        <p:txBody>
          <a:bodyPr wrap="square" lIns="0" tIns="0" rIns="0" bIns="0" rtlCol="0" anchor="t"/>
          <a:lstStyle/>
          <a:p>
            <a:pPr indent="0" marL="0">
              <a:buNone/>
            </a:pPr>
            <a:r>
              <a:rPr lang="en-US" sz="1300" b="1" dirty="0">
                <a:solidFill>
                  <a:srgbClr val="0A0A0B"/>
                </a:solidFill>
              </a:rPr>
              <a:t>Muse Glimmer</a:t>
            </a:r>
            <a:endParaRPr lang="en-US" sz="1300" dirty="0"/>
          </a:p>
        </p:txBody>
      </p:sp>
      <p:sp>
        <p:nvSpPr>
          <p:cNvPr id="23" name="Text 16"/>
          <p:cNvSpPr txBox="1"/>
          <p:nvPr/>
        </p:nvSpPr>
        <p:spPr>
          <a:xfrm>
            <a:off x="5074920" y="2971800"/>
            <a:ext cx="2606040" cy="457200"/>
          </a:xfrm>
          <a:prstGeom prst="rect">
            <a:avLst/>
          </a:prstGeom>
          <a:noFill/>
          <a:ln/>
        </p:spPr>
        <p:txBody>
          <a:bodyPr wrap="square" lIns="0" tIns="0" rIns="0" bIns="0" rtlCol="0" anchor="t"/>
          <a:lstStyle/>
          <a:p>
            <a:pPr indent="0" marL="0">
              <a:buNone/>
            </a:pPr>
            <a:r>
              <a:rPr lang="en-US" sz="1100" dirty="0">
                <a:solidFill>
                  <a:srgbClr val="55555C"/>
                </a:solidFill>
              </a:rPr>
              <a:t>Picks one tool at a time on my RTX 3090; code runs it</a:t>
            </a:r>
            <a:endParaRPr lang="en-US" sz="1100" dirty="0"/>
          </a:p>
        </p:txBody>
      </p:sp>
      <p:pic>
        <p:nvPicPr>
          <p:cNvPr id="24" name="Image 4" descr="preencoded.png">    </p:cNvPr>
          <p:cNvPicPr>
            <a:picLocks noChangeAspect="1"/>
          </p:cNvPicPr>
          <p:nvPr/>
        </p:nvPicPr>
        <p:blipFill>
          <a:blip r:embed="rId5"/>
          <a:stretch>
            <a:fillRect/>
          </a:stretch>
        </p:blipFill>
        <p:spPr>
          <a:xfrm>
            <a:off x="4663440" y="3538728"/>
            <a:ext cx="292608" cy="292608"/>
          </a:xfrm>
          <a:prstGeom prst="rect">
            <a:avLst/>
          </a:prstGeom>
        </p:spPr>
      </p:pic>
      <p:sp>
        <p:nvSpPr>
          <p:cNvPr id="25" name="Text 17"/>
          <p:cNvSpPr txBox="1"/>
          <p:nvPr/>
        </p:nvSpPr>
        <p:spPr>
          <a:xfrm>
            <a:off x="5074920" y="3520440"/>
            <a:ext cx="2606040" cy="274320"/>
          </a:xfrm>
          <a:prstGeom prst="rect">
            <a:avLst/>
          </a:prstGeom>
          <a:noFill/>
          <a:ln/>
        </p:spPr>
        <p:txBody>
          <a:bodyPr wrap="square" lIns="0" tIns="0" rIns="0" bIns="0" rtlCol="0" anchor="t"/>
          <a:lstStyle/>
          <a:p>
            <a:pPr indent="0" marL="0">
              <a:buNone/>
            </a:pPr>
            <a:r>
              <a:rPr lang="en-US" sz="1300" b="1" dirty="0">
                <a:solidFill>
                  <a:srgbClr val="0A0A0B"/>
                </a:solidFill>
              </a:rPr>
              <a:t>Llama 3.2 1B</a:t>
            </a:r>
            <a:endParaRPr lang="en-US" sz="1300" dirty="0"/>
          </a:p>
        </p:txBody>
      </p:sp>
      <p:sp>
        <p:nvSpPr>
          <p:cNvPr id="26" name="Text 18"/>
          <p:cNvSpPr txBox="1"/>
          <p:nvPr/>
        </p:nvSpPr>
        <p:spPr>
          <a:xfrm>
            <a:off x="5074920" y="3794760"/>
            <a:ext cx="2606040" cy="457200"/>
          </a:xfrm>
          <a:prstGeom prst="rect">
            <a:avLst/>
          </a:prstGeom>
          <a:noFill/>
          <a:ln/>
        </p:spPr>
        <p:txBody>
          <a:bodyPr wrap="square" lIns="0" tIns="0" rIns="0" bIns="0" rtlCol="0" anchor="t"/>
          <a:lstStyle/>
          <a:p>
            <a:pPr indent="0" marL="0">
              <a:buNone/>
            </a:pPr>
            <a:r>
              <a:rPr lang="en-US" sz="1100" dirty="0">
                <a:solidFill>
                  <a:srgbClr val="55555C"/>
                </a:solidFill>
              </a:rPr>
              <a:t>Distilled from Glimmer: the easy calls, on the CPU</a:t>
            </a:r>
            <a:endParaRPr lang="en-US" sz="1100" dirty="0"/>
          </a:p>
        </p:txBody>
      </p:sp>
      <p:pic>
        <p:nvPicPr>
          <p:cNvPr id="27" name="Image 5" descr="preencoded.png">    </p:cNvPr>
          <p:cNvPicPr>
            <a:picLocks noChangeAspect="1"/>
          </p:cNvPicPr>
          <p:nvPr/>
        </p:nvPicPr>
        <p:blipFill>
          <a:blip r:embed="rId6"/>
          <a:stretch>
            <a:fillRect/>
          </a:stretch>
        </p:blipFill>
        <p:spPr>
          <a:xfrm>
            <a:off x="4663440" y="4361688"/>
            <a:ext cx="292608" cy="292608"/>
          </a:xfrm>
          <a:prstGeom prst="rect">
            <a:avLst/>
          </a:prstGeom>
        </p:spPr>
      </p:pic>
      <p:sp>
        <p:nvSpPr>
          <p:cNvPr id="28" name="Text 19"/>
          <p:cNvSpPr txBox="1"/>
          <p:nvPr/>
        </p:nvSpPr>
        <p:spPr>
          <a:xfrm>
            <a:off x="5074920" y="4343400"/>
            <a:ext cx="2606040" cy="274320"/>
          </a:xfrm>
          <a:prstGeom prst="rect">
            <a:avLst/>
          </a:prstGeom>
          <a:noFill/>
          <a:ln/>
        </p:spPr>
        <p:txBody>
          <a:bodyPr wrap="square" lIns="0" tIns="0" rIns="0" bIns="0" rtlCol="0" anchor="t"/>
          <a:lstStyle/>
          <a:p>
            <a:pPr indent="0" marL="0">
              <a:buNone/>
            </a:pPr>
            <a:r>
              <a:rPr lang="en-US" sz="1300" b="1" dirty="0">
                <a:solidFill>
                  <a:srgbClr val="0A0A0B"/>
                </a:solidFill>
              </a:rPr>
              <a:t>A2A with friends' agents</a:t>
            </a:r>
            <a:endParaRPr lang="en-US" sz="1300" dirty="0"/>
          </a:p>
        </p:txBody>
      </p:sp>
      <p:sp>
        <p:nvSpPr>
          <p:cNvPr id="29" name="Text 20"/>
          <p:cNvSpPr txBox="1"/>
          <p:nvPr/>
        </p:nvSpPr>
        <p:spPr>
          <a:xfrm>
            <a:off x="5074920" y="4617720"/>
            <a:ext cx="2606040" cy="457200"/>
          </a:xfrm>
          <a:prstGeom prst="rect">
            <a:avLst/>
          </a:prstGeom>
          <a:noFill/>
          <a:ln/>
        </p:spPr>
        <p:txBody>
          <a:bodyPr wrap="square" lIns="0" tIns="0" rIns="0" bIns="0" rtlCol="0" anchor="t"/>
          <a:lstStyle/>
          <a:p>
            <a:pPr indent="0" marL="0">
              <a:buNone/>
            </a:pPr>
            <a:r>
              <a:rPr lang="en-US" sz="1100" dirty="0">
                <a:solidFill>
                  <a:srgbClr val="55555C"/>
                </a:solidFill>
              </a:rPr>
              <a:t>Usually one round: they mark times, code picks; a counter-offer if none fits</a:t>
            </a:r>
            <a:endParaRPr lang="en-US" sz="1100" dirty="0"/>
          </a:p>
        </p:txBody>
      </p:sp>
      <p:sp>
        <p:nvSpPr>
          <p:cNvPr id="30" name="Shape 21"/>
          <p:cNvSpPr/>
          <p:nvPr/>
        </p:nvSpPr>
        <p:spPr>
          <a:xfrm>
            <a:off x="7909560" y="3630168"/>
            <a:ext cx="365760" cy="0"/>
          </a:xfrm>
          <a:prstGeom prst="line">
            <a:avLst/>
          </a:prstGeom>
          <a:noFill/>
          <a:ln w="22225">
            <a:solidFill>
              <a:srgbClr val="8A8A92"/>
            </a:solidFill>
            <a:prstDash val="solid"/>
            <a:tailEnd type="triangle"/>
          </a:ln>
        </p:spPr>
      </p:sp>
      <p:sp>
        <p:nvSpPr>
          <p:cNvPr id="31" name="Shape 22"/>
          <p:cNvSpPr/>
          <p:nvPr/>
        </p:nvSpPr>
        <p:spPr>
          <a:xfrm>
            <a:off x="8321040" y="1691640"/>
            <a:ext cx="3291840" cy="3886200"/>
          </a:xfrm>
          <a:prstGeom prst="roundRect">
            <a:avLst>
              <a:gd name="adj" fmla="val 3333"/>
            </a:avLst>
          </a:prstGeom>
          <a:solidFill>
            <a:srgbClr val="E8F1FD"/>
          </a:solidFill>
          <a:ln w="12700">
            <a:solidFill>
              <a:srgbClr val="E8F1FD"/>
            </a:solidFill>
            <a:prstDash val="solid"/>
          </a:ln>
        </p:spPr>
      </p:sp>
      <p:sp>
        <p:nvSpPr>
          <p:cNvPr id="32" name="Text 23"/>
          <p:cNvSpPr txBox="1"/>
          <p:nvPr/>
        </p:nvSpPr>
        <p:spPr>
          <a:xfrm>
            <a:off x="8549640" y="1847088"/>
            <a:ext cx="2834640" cy="228600"/>
          </a:xfrm>
          <a:prstGeom prst="rect">
            <a:avLst/>
          </a:prstGeom>
          <a:noFill/>
          <a:ln/>
        </p:spPr>
        <p:txBody>
          <a:bodyPr wrap="square" lIns="0" tIns="0" rIns="0" bIns="0" rtlCol="0" anchor="t"/>
          <a:lstStyle/>
          <a:p>
            <a:pPr indent="0" marL="0">
              <a:buNone/>
            </a:pPr>
            <a:r>
              <a:rPr lang="en-US" sz="1050" b="1" spc="100" kern="0" dirty="0">
                <a:solidFill>
                  <a:srgbClr val="55555C"/>
                </a:solidFill>
              </a:rPr>
              <a:t>ON AND OFF THE COURT</a:t>
            </a:r>
            <a:endParaRPr lang="en-US" sz="1050" dirty="0"/>
          </a:p>
        </p:txBody>
      </p:sp>
      <p:sp>
        <p:nvSpPr>
          <p:cNvPr id="33" name="Text 24"/>
          <p:cNvSpPr txBox="1"/>
          <p:nvPr/>
        </p:nvSpPr>
        <p:spPr>
          <a:xfrm>
            <a:off x="8549640" y="2103120"/>
            <a:ext cx="2834640" cy="411480"/>
          </a:xfrm>
          <a:prstGeom prst="rect">
            <a:avLst/>
          </a:prstGeom>
          <a:noFill/>
          <a:ln/>
        </p:spPr>
        <p:txBody>
          <a:bodyPr wrap="square" lIns="0" tIns="0" rIns="0" bIns="0" rtlCol="0" anchor="t"/>
          <a:lstStyle/>
          <a:p>
            <a:pPr indent="0" marL="0">
              <a:buNone/>
            </a:pPr>
            <a:r>
              <a:rPr lang="en-US" sz="1900" b="1" dirty="0">
                <a:solidFill>
                  <a:srgbClr val="0A0A0B"/>
                </a:solidFill>
              </a:rPr>
              <a:t>You just play</a:t>
            </a:r>
            <a:endParaRPr lang="en-US" sz="1900" dirty="0"/>
          </a:p>
        </p:txBody>
      </p:sp>
      <p:pic>
        <p:nvPicPr>
          <p:cNvPr id="34" name="Image 6" descr="preencoded.png">    </p:cNvPr>
          <p:cNvPicPr>
            <a:picLocks noChangeAspect="1"/>
          </p:cNvPicPr>
          <p:nvPr/>
        </p:nvPicPr>
        <p:blipFill>
          <a:blip r:embed="rId7"/>
          <a:stretch>
            <a:fillRect/>
          </a:stretch>
        </p:blipFill>
        <p:spPr>
          <a:xfrm>
            <a:off x="8549640" y="2715768"/>
            <a:ext cx="292608" cy="292608"/>
          </a:xfrm>
          <a:prstGeom prst="rect">
            <a:avLst/>
          </a:prstGeom>
        </p:spPr>
      </p:pic>
      <p:sp>
        <p:nvSpPr>
          <p:cNvPr id="35" name="Text 25"/>
          <p:cNvSpPr txBox="1"/>
          <p:nvPr/>
        </p:nvSpPr>
        <p:spPr>
          <a:xfrm>
            <a:off x="8961120" y="2697480"/>
            <a:ext cx="2468880" cy="274320"/>
          </a:xfrm>
          <a:prstGeom prst="rect">
            <a:avLst/>
          </a:prstGeom>
          <a:noFill/>
          <a:ln/>
        </p:spPr>
        <p:txBody>
          <a:bodyPr wrap="square" lIns="0" tIns="0" rIns="0" bIns="0" rtlCol="0" anchor="t"/>
          <a:lstStyle/>
          <a:p>
            <a:pPr indent="0" marL="0">
              <a:buNone/>
            </a:pPr>
            <a:r>
              <a:rPr lang="en-US" sz="1300" b="1" dirty="0">
                <a:solidFill>
                  <a:srgbClr val="0A0A0B"/>
                </a:solidFill>
              </a:rPr>
              <a:t>One yes</a:t>
            </a:r>
            <a:endParaRPr lang="en-US" sz="1300" dirty="0"/>
          </a:p>
        </p:txBody>
      </p:sp>
      <p:sp>
        <p:nvSpPr>
          <p:cNvPr id="36" name="Text 26"/>
          <p:cNvSpPr txBox="1"/>
          <p:nvPr/>
        </p:nvSpPr>
        <p:spPr>
          <a:xfrm>
            <a:off x="8961120" y="2971800"/>
            <a:ext cx="2468880" cy="457200"/>
          </a:xfrm>
          <a:prstGeom prst="rect">
            <a:avLst/>
          </a:prstGeom>
          <a:noFill/>
          <a:ln/>
        </p:spPr>
        <p:txBody>
          <a:bodyPr wrap="square" lIns="0" tIns="0" rIns="0" bIns="0" rtlCol="0" anchor="t"/>
          <a:lstStyle/>
          <a:p>
            <a:pPr indent="0" marL="0">
              <a:buNone/>
            </a:pPr>
            <a:r>
              <a:rPr lang="en-US" sz="1100" dirty="0">
                <a:solidFill>
                  <a:srgbClr val="55555C"/>
                </a:solidFill>
              </a:rPr>
              <a:t>In the app or with a tap in Messenger</a:t>
            </a:r>
            <a:endParaRPr lang="en-US" sz="1100" dirty="0"/>
          </a:p>
        </p:txBody>
      </p:sp>
      <p:pic>
        <p:nvPicPr>
          <p:cNvPr id="37" name="Image 7" descr="preencoded.png">    </p:cNvPr>
          <p:cNvPicPr>
            <a:picLocks noChangeAspect="1"/>
          </p:cNvPicPr>
          <p:nvPr/>
        </p:nvPicPr>
        <p:blipFill>
          <a:blip r:embed="rId8"/>
          <a:stretch>
            <a:fillRect/>
          </a:stretch>
        </p:blipFill>
        <p:spPr>
          <a:xfrm>
            <a:off x="8549640" y="3538728"/>
            <a:ext cx="292608" cy="292608"/>
          </a:xfrm>
          <a:prstGeom prst="rect">
            <a:avLst/>
          </a:prstGeom>
        </p:spPr>
      </p:pic>
      <p:sp>
        <p:nvSpPr>
          <p:cNvPr id="38" name="Text 27"/>
          <p:cNvSpPr txBox="1"/>
          <p:nvPr/>
        </p:nvSpPr>
        <p:spPr>
          <a:xfrm>
            <a:off x="8961120" y="3520440"/>
            <a:ext cx="2468880" cy="274320"/>
          </a:xfrm>
          <a:prstGeom prst="rect">
            <a:avLst/>
          </a:prstGeom>
          <a:noFill/>
          <a:ln/>
        </p:spPr>
        <p:txBody>
          <a:bodyPr wrap="square" lIns="0" tIns="0" rIns="0" bIns="0" rtlCol="0" anchor="t"/>
          <a:lstStyle/>
          <a:p>
            <a:pPr indent="0" marL="0">
              <a:buNone/>
            </a:pPr>
            <a:r>
              <a:rPr lang="en-US" sz="1300" b="1" dirty="0">
                <a:solidFill>
                  <a:srgbClr val="0A0A0B"/>
                </a:solidFill>
              </a:rPr>
              <a:t>Your highlight, auto-cut</a:t>
            </a:r>
            <a:endParaRPr lang="en-US" sz="1300" dirty="0"/>
          </a:p>
        </p:txBody>
      </p:sp>
      <p:sp>
        <p:nvSpPr>
          <p:cNvPr id="39" name="Text 28"/>
          <p:cNvSpPr txBox="1"/>
          <p:nvPr/>
        </p:nvSpPr>
        <p:spPr>
          <a:xfrm>
            <a:off x="8961120" y="3794760"/>
            <a:ext cx="2468880" cy="457200"/>
          </a:xfrm>
          <a:prstGeom prst="rect">
            <a:avLst/>
          </a:prstGeom>
          <a:noFill/>
          <a:ln/>
        </p:spPr>
        <p:txBody>
          <a:bodyPr wrap="square" lIns="0" tIns="0" rIns="0" bIns="0" rtlCol="0" anchor="t"/>
          <a:lstStyle/>
          <a:p>
            <a:pPr indent="0" marL="0">
              <a:buNone/>
            </a:pPr>
            <a:r>
              <a:rPr lang="en-US" sz="1100" dirty="0">
                <a:solidFill>
                  <a:srgbClr val="55555C"/>
                </a:solidFill>
              </a:rPr>
              <a:t>DETR · Sapiens2 · SAM 2.1 · MapAnything</a:t>
            </a:r>
            <a:endParaRPr lang="en-US" sz="1100" dirty="0"/>
          </a:p>
        </p:txBody>
      </p:sp>
      <p:pic>
        <p:nvPicPr>
          <p:cNvPr id="40" name="Image 8" descr="preencoded.png">    </p:cNvPr>
          <p:cNvPicPr>
            <a:picLocks noChangeAspect="1"/>
          </p:cNvPicPr>
          <p:nvPr/>
        </p:nvPicPr>
        <p:blipFill>
          <a:blip r:embed="rId9"/>
          <a:stretch>
            <a:fillRect/>
          </a:stretch>
        </p:blipFill>
        <p:spPr>
          <a:xfrm>
            <a:off x="8549640" y="4361688"/>
            <a:ext cx="292608" cy="292608"/>
          </a:xfrm>
          <a:prstGeom prst="rect">
            <a:avLst/>
          </a:prstGeom>
        </p:spPr>
      </p:pic>
      <p:sp>
        <p:nvSpPr>
          <p:cNvPr id="41" name="Text 29"/>
          <p:cNvSpPr txBox="1"/>
          <p:nvPr/>
        </p:nvSpPr>
        <p:spPr>
          <a:xfrm>
            <a:off x="8961120" y="4343400"/>
            <a:ext cx="2468880" cy="274320"/>
          </a:xfrm>
          <a:prstGeom prst="rect">
            <a:avLst/>
          </a:prstGeom>
          <a:noFill/>
          <a:ln/>
        </p:spPr>
        <p:txBody>
          <a:bodyPr wrap="square" lIns="0" tIns="0" rIns="0" bIns="0" rtlCol="0" anchor="t"/>
          <a:lstStyle/>
          <a:p>
            <a:pPr indent="0" marL="0">
              <a:buNone/>
            </a:pPr>
            <a:r>
              <a:rPr lang="en-US" sz="1300" b="1" dirty="0">
                <a:solidFill>
                  <a:srgbClr val="0A0A0B"/>
                </a:solidFill>
              </a:rPr>
              <a:t>The club and your stories</a:t>
            </a:r>
            <a:endParaRPr lang="en-US" sz="1300" dirty="0"/>
          </a:p>
        </p:txBody>
      </p:sp>
      <p:sp>
        <p:nvSpPr>
          <p:cNvPr id="42" name="Text 30"/>
          <p:cNvSpPr txBox="1"/>
          <p:nvPr/>
        </p:nvSpPr>
        <p:spPr>
          <a:xfrm>
            <a:off x="8961120" y="4617720"/>
            <a:ext cx="2468880" cy="457200"/>
          </a:xfrm>
          <a:prstGeom prst="rect">
            <a:avLst/>
          </a:prstGeom>
          <a:noFill/>
          <a:ln/>
        </p:spPr>
        <p:txBody>
          <a:bodyPr wrap="square" lIns="0" tIns="0" rIns="0" bIns="0" rtlCol="0" anchor="t"/>
          <a:lstStyle/>
          <a:p>
            <a:pPr indent="0" marL="0">
              <a:buNone/>
            </a:pPr>
            <a:r>
              <a:rPr lang="en-US" sz="1100" dirty="0">
                <a:solidFill>
                  <a:srgbClr val="55555C"/>
                </a:solidFill>
              </a:rPr>
              <a:t>Invites, stories, one tap to Instagram</a:t>
            </a:r>
            <a:endParaRPr lang="en-US" sz="1100" dirty="0"/>
          </a:p>
        </p:txBody>
      </p:sp>
      <p:sp>
        <p:nvSpPr>
          <p:cNvPr id="43" name="Shape 31"/>
          <p:cNvSpPr/>
          <p:nvPr/>
        </p:nvSpPr>
        <p:spPr>
          <a:xfrm>
            <a:off x="548640" y="5788152"/>
            <a:ext cx="11064240" cy="475488"/>
          </a:xfrm>
          <a:prstGeom prst="roundRect">
            <a:avLst>
              <a:gd name="adj" fmla="val 23077"/>
            </a:avLst>
          </a:prstGeom>
          <a:solidFill>
            <a:srgbClr val="FBF3E6"/>
          </a:solidFill>
          <a:ln w="12700">
            <a:solidFill>
              <a:srgbClr val="FBF3E6"/>
            </a:solidFill>
            <a:prstDash val="solid"/>
          </a:ln>
        </p:spPr>
      </p:sp>
      <p:sp>
        <p:nvSpPr>
          <p:cNvPr id="44" name="Text 32"/>
          <p:cNvSpPr txBox="1"/>
          <p:nvPr/>
        </p:nvSpPr>
        <p:spPr>
          <a:xfrm>
            <a:off x="777240" y="5788152"/>
            <a:ext cx="10607040" cy="475488"/>
          </a:xfrm>
          <a:prstGeom prst="rect">
            <a:avLst/>
          </a:prstGeom>
          <a:noFill/>
          <a:ln/>
        </p:spPr>
        <p:txBody>
          <a:bodyPr wrap="square" lIns="0" tIns="0" rIns="0" bIns="0" rtlCol="0" anchor="ctr"/>
          <a:lstStyle/>
          <a:p>
            <a:pPr indent="0" marL="0">
              <a:buNone/>
            </a:pPr>
            <a:r>
              <a:rPr lang="en-US" sz="1300" b="1" dirty="0">
                <a:solidFill>
                  <a:srgbClr val="B26A00"/>
                </a:solidFill>
              </a:rPr>
              <a:t>Checked by code before anyone sees it  ·  nothing is booked without your yes  ·  health data only sets scheduling limits, on my server</a:t>
            </a:r>
            <a:endParaRPr lang="en-US" sz="13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TUESDAY · WEDNESDAY</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Your agent plans the week and finds the court</a:t>
            </a:r>
            <a:endParaRPr lang="en-US" sz="3200" dirty="0"/>
          </a:p>
        </p:txBody>
      </p:sp>
      <p:pic>
        <p:nvPicPr>
          <p:cNvPr id="5" name="Image 0" descr="preencoded.png">    </p:cNvPr>
          <p:cNvPicPr>
            <a:picLocks noChangeAspect="1"/>
          </p:cNvPicPr>
          <p:nvPr/>
        </p:nvPicPr>
        <p:blipFill>
          <a:blip r:embed="rId1"/>
          <a:stretch>
            <a:fillRect/>
          </a:stretch>
        </p:blipFill>
        <p:spPr>
          <a:xfrm>
            <a:off x="548640" y="1691640"/>
            <a:ext cx="5577840" cy="4443230"/>
          </a:xfrm>
          <a:prstGeom prst="rect">
            <a:avLst/>
          </a:prstGeom>
        </p:spPr>
      </p:pic>
      <p:sp>
        <p:nvSpPr>
          <p:cNvPr id="6" name="Shape 2"/>
          <p:cNvSpPr/>
          <p:nvPr/>
        </p:nvSpPr>
        <p:spPr>
          <a:xfrm>
            <a:off x="548640" y="1691640"/>
            <a:ext cx="5577840" cy="4443230"/>
          </a:xfrm>
          <a:prstGeom prst="rect">
            <a:avLst/>
          </a:prstGeom>
          <a:ln w="12700">
            <a:solidFill>
              <a:srgbClr val="DCDCE0"/>
            </a:solidFill>
            <a:prstDash val="solid"/>
          </a:ln>
        </p:spPr>
      </p:sp>
      <p:sp>
        <p:nvSpPr>
          <p:cNvPr id="7" name="Text 3"/>
          <p:cNvSpPr txBox="1"/>
          <p:nvPr/>
        </p:nvSpPr>
        <p:spPr>
          <a:xfrm>
            <a:off x="548640" y="6245352"/>
            <a:ext cx="5577840" cy="228600"/>
          </a:xfrm>
          <a:prstGeom prst="rect">
            <a:avLst/>
          </a:prstGeom>
          <a:noFill/>
          <a:ln/>
        </p:spPr>
        <p:txBody>
          <a:bodyPr wrap="square" lIns="0" tIns="0" rIns="0" bIns="0" rtlCol="0" anchor="t"/>
          <a:lstStyle/>
          <a:p>
            <a:pPr indent="0" marL="0">
              <a:buNone/>
            </a:pPr>
            <a:r>
              <a:rPr lang="en-US" sz="1050" dirty="0">
                <a:solidFill>
                  <a:srgbClr val="55555C"/>
                </a:solidFill>
              </a:rPr>
              <a:t>Badminton: the venue in the middle (an earlier run than slide 9, on court 3)</a:t>
            </a:r>
            <a:endParaRPr lang="en-US" sz="1050" dirty="0"/>
          </a:p>
        </p:txBody>
      </p:sp>
      <p:sp>
        <p:nvSpPr>
          <p:cNvPr id="8" name="Shape 4"/>
          <p:cNvSpPr/>
          <p:nvPr/>
        </p:nvSpPr>
        <p:spPr>
          <a:xfrm>
            <a:off x="6885432" y="1627632"/>
            <a:ext cx="2113911" cy="4425696"/>
          </a:xfrm>
          <a:prstGeom prst="roundRect">
            <a:avLst>
              <a:gd name="adj" fmla="val 8651"/>
            </a:avLst>
          </a:prstGeom>
          <a:solidFill>
            <a:srgbClr val="0A0A0B"/>
          </a:solidFill>
          <a:ln w="12700">
            <a:solidFill>
              <a:srgbClr val="0A0A0B"/>
            </a:solidFill>
            <a:prstDash val="solid"/>
          </a:ln>
        </p:spPr>
      </p:sp>
      <p:pic>
        <p:nvPicPr>
          <p:cNvPr id="9" name="Image 1" descr="preencoded.png">    </p:cNvPr>
          <p:cNvPicPr>
            <a:picLocks noChangeAspect="1"/>
          </p:cNvPicPr>
          <p:nvPr/>
        </p:nvPicPr>
        <p:blipFill>
          <a:blip r:embed="rId2"/>
          <a:stretch>
            <a:fillRect/>
          </a:stretch>
        </p:blipFill>
        <p:spPr>
          <a:xfrm>
            <a:off x="6949440" y="1691640"/>
            <a:ext cx="1985895" cy="4297680"/>
          </a:xfrm>
          <a:prstGeom prst="rect">
            <a:avLst/>
          </a:prstGeom>
        </p:spPr>
      </p:pic>
      <p:sp>
        <p:nvSpPr>
          <p:cNvPr id="10" name="Text 5"/>
          <p:cNvSpPr txBox="1"/>
          <p:nvPr/>
        </p:nvSpPr>
        <p:spPr>
          <a:xfrm>
            <a:off x="6675120" y="6108192"/>
            <a:ext cx="2534535" cy="256032"/>
          </a:xfrm>
          <a:prstGeom prst="rect">
            <a:avLst/>
          </a:prstGeom>
          <a:noFill/>
          <a:ln/>
        </p:spPr>
        <p:txBody>
          <a:bodyPr wrap="square" lIns="0" tIns="0" rIns="0" bIns="0" rtlCol="0" anchor="t"/>
          <a:lstStyle/>
          <a:p>
            <a:pPr algn="ctr" indent="0" marL="0">
              <a:buNone/>
            </a:pPr>
            <a:r>
              <a:rPr lang="en-US" sz="1050" dirty="0">
                <a:solidFill>
                  <a:srgbClr val="55555C"/>
                </a:solidFill>
              </a:rPr>
              <a:t>Basketball: public courts, judged with sources</a:t>
            </a:r>
            <a:endParaRPr lang="en-US" sz="1050" dirty="0"/>
          </a:p>
        </p:txBody>
      </p:sp>
      <p:sp>
        <p:nvSpPr>
          <p:cNvPr id="11" name="Text 6"/>
          <p:cNvSpPr txBox="1"/>
          <p:nvPr/>
        </p:nvSpPr>
        <p:spPr>
          <a:xfrm>
            <a:off x="9372600" y="1783080"/>
            <a:ext cx="2286000" cy="274320"/>
          </a:xfrm>
          <a:prstGeom prst="rect">
            <a:avLst/>
          </a:prstGeom>
          <a:noFill/>
          <a:ln/>
        </p:spPr>
        <p:txBody>
          <a:bodyPr wrap="square" lIns="0" tIns="0" rIns="0" bIns="0" rtlCol="0" anchor="t"/>
          <a:lstStyle/>
          <a:p>
            <a:pPr indent="0" marL="0">
              <a:buNone/>
            </a:pPr>
            <a:r>
              <a:rPr lang="en-US" sz="1350" b="1" dirty="0">
                <a:solidFill>
                  <a:srgbClr val="0A0A0B"/>
                </a:solidFill>
              </a:rPr>
              <a:t>Muse Glimmer plans</a:t>
            </a:r>
            <a:endParaRPr lang="en-US" sz="1350" dirty="0"/>
          </a:p>
        </p:txBody>
      </p:sp>
      <p:sp>
        <p:nvSpPr>
          <p:cNvPr id="12" name="Text 7"/>
          <p:cNvSpPr txBox="1"/>
          <p:nvPr/>
        </p:nvSpPr>
        <p:spPr>
          <a:xfrm>
            <a:off x="9372600" y="2075688"/>
            <a:ext cx="2286000" cy="731520"/>
          </a:xfrm>
          <a:prstGeom prst="rect">
            <a:avLst/>
          </a:prstGeom>
          <a:noFill/>
          <a:ln/>
        </p:spPr>
        <p:txBody>
          <a:bodyPr wrap="square" lIns="0" tIns="0" rIns="0" bIns="0" rtlCol="0" anchor="t"/>
          <a:lstStyle/>
          <a:p>
            <a:pPr indent="0" marL="0">
              <a:buNone/>
            </a:pPr>
            <a:r>
              <a:rPr lang="en-US" sz="1150" dirty="0">
                <a:solidFill>
                  <a:srgbClr val="55555C"/>
                </a:solidFill>
              </a:rPr>
              <a:t>One tool at a time; a refused call comes back as a fact</a:t>
            </a:r>
            <a:endParaRPr lang="en-US" sz="1150" dirty="0"/>
          </a:p>
        </p:txBody>
      </p:sp>
      <p:sp>
        <p:nvSpPr>
          <p:cNvPr id="13" name="Text 8"/>
          <p:cNvSpPr txBox="1"/>
          <p:nvPr/>
        </p:nvSpPr>
        <p:spPr>
          <a:xfrm>
            <a:off x="9372600" y="2862072"/>
            <a:ext cx="2286000" cy="274320"/>
          </a:xfrm>
          <a:prstGeom prst="rect">
            <a:avLst/>
          </a:prstGeom>
          <a:noFill/>
          <a:ln/>
        </p:spPr>
        <p:txBody>
          <a:bodyPr wrap="square" lIns="0" tIns="0" rIns="0" bIns="0" rtlCol="0" anchor="t"/>
          <a:lstStyle/>
          <a:p>
            <a:pPr indent="0" marL="0">
              <a:buNone/>
            </a:pPr>
            <a:r>
              <a:rPr lang="en-US" sz="1350" b="1" dirty="0">
                <a:solidFill>
                  <a:srgbClr val="0A0A0B"/>
                </a:solidFill>
              </a:rPr>
              <a:t>A2A, usually one round</a:t>
            </a:r>
            <a:endParaRPr lang="en-US" sz="1350" dirty="0"/>
          </a:p>
        </p:txBody>
      </p:sp>
      <p:sp>
        <p:nvSpPr>
          <p:cNvPr id="14" name="Text 9"/>
          <p:cNvSpPr txBox="1"/>
          <p:nvPr/>
        </p:nvSpPr>
        <p:spPr>
          <a:xfrm>
            <a:off x="9372600" y="3154680"/>
            <a:ext cx="2286000" cy="731520"/>
          </a:xfrm>
          <a:prstGeom prst="rect">
            <a:avLst/>
          </a:prstGeom>
          <a:noFill/>
          <a:ln/>
        </p:spPr>
        <p:txBody>
          <a:bodyPr wrap="square" lIns="0" tIns="0" rIns="0" bIns="0" rtlCol="0" anchor="t"/>
          <a:lstStyle/>
          <a:p>
            <a:pPr indent="0" marL="0">
              <a:buNone/>
            </a:pPr>
            <a:r>
              <a:rPr lang="en-US" sz="1150" dirty="0">
                <a:solidFill>
                  <a:srgbClr val="55555C"/>
                </a:solidFill>
              </a:rPr>
              <a:t>Agents mark the times that work; code picks; a counter-offer only if none fits</a:t>
            </a:r>
            <a:endParaRPr lang="en-US" sz="1150" dirty="0"/>
          </a:p>
        </p:txBody>
      </p:sp>
      <p:sp>
        <p:nvSpPr>
          <p:cNvPr id="15" name="Text 10"/>
          <p:cNvSpPr txBox="1"/>
          <p:nvPr/>
        </p:nvSpPr>
        <p:spPr>
          <a:xfrm>
            <a:off x="9372600" y="3941064"/>
            <a:ext cx="2286000" cy="274320"/>
          </a:xfrm>
          <a:prstGeom prst="rect">
            <a:avLst/>
          </a:prstGeom>
          <a:noFill/>
          <a:ln/>
        </p:spPr>
        <p:txBody>
          <a:bodyPr wrap="square" lIns="0" tIns="0" rIns="0" bIns="0" rtlCol="0" anchor="t"/>
          <a:lstStyle/>
          <a:p>
            <a:pPr indent="0" marL="0">
              <a:buNone/>
            </a:pPr>
            <a:r>
              <a:rPr lang="en-US" sz="1350" b="1" dirty="0">
                <a:solidFill>
                  <a:srgbClr val="0A0A0B"/>
                </a:solidFill>
              </a:rPr>
              <a:t>Prompt Guard 2</a:t>
            </a:r>
            <a:endParaRPr lang="en-US" sz="1350" dirty="0"/>
          </a:p>
        </p:txBody>
      </p:sp>
      <p:sp>
        <p:nvSpPr>
          <p:cNvPr id="16" name="Text 11"/>
          <p:cNvSpPr txBox="1"/>
          <p:nvPr/>
        </p:nvSpPr>
        <p:spPr>
          <a:xfrm>
            <a:off x="9372600" y="4233672"/>
            <a:ext cx="2286000" cy="731520"/>
          </a:xfrm>
          <a:prstGeom prst="rect">
            <a:avLst/>
          </a:prstGeom>
          <a:noFill/>
          <a:ln/>
        </p:spPr>
        <p:txBody>
          <a:bodyPr wrap="square" lIns="0" tIns="0" rIns="0" bIns="0" rtlCol="0" anchor="t"/>
          <a:lstStyle/>
          <a:p>
            <a:pPr indent="0" marL="0">
              <a:buNone/>
            </a:pPr>
            <a:r>
              <a:rPr lang="en-US" sz="1150" dirty="0">
                <a:solidFill>
                  <a:srgbClr val="55555C"/>
                </a:solidFill>
              </a:rPr>
              <a:t>Screens reviews first; Google's are listed with a link, not stored</a:t>
            </a:r>
            <a:endParaRPr lang="en-US" sz="1150" dirty="0"/>
          </a:p>
        </p:txBody>
      </p:sp>
      <p:sp>
        <p:nvSpPr>
          <p:cNvPr id="17" name="Text 12"/>
          <p:cNvSpPr txBox="1"/>
          <p:nvPr/>
        </p:nvSpPr>
        <p:spPr>
          <a:xfrm>
            <a:off x="9372600" y="5020056"/>
            <a:ext cx="2286000" cy="274320"/>
          </a:xfrm>
          <a:prstGeom prst="rect">
            <a:avLst/>
          </a:prstGeom>
          <a:noFill/>
          <a:ln/>
        </p:spPr>
        <p:txBody>
          <a:bodyPr wrap="square" lIns="0" tIns="0" rIns="0" bIns="0" rtlCol="0" anchor="t"/>
          <a:lstStyle/>
          <a:p>
            <a:pPr indent="0" marL="0">
              <a:buNone/>
            </a:pPr>
            <a:r>
              <a:rPr lang="en-US" sz="1350" b="1" dirty="0">
                <a:solidFill>
                  <a:srgbClr val="0A0A0B"/>
                </a:solidFill>
              </a:rPr>
              <a:t>Nothing booked</a:t>
            </a:r>
            <a:endParaRPr lang="en-US" sz="1350" dirty="0"/>
          </a:p>
        </p:txBody>
      </p:sp>
      <p:sp>
        <p:nvSpPr>
          <p:cNvPr id="18" name="Text 13"/>
          <p:cNvSpPr txBox="1"/>
          <p:nvPr/>
        </p:nvSpPr>
        <p:spPr>
          <a:xfrm>
            <a:off x="9372600" y="5312664"/>
            <a:ext cx="2286000" cy="731520"/>
          </a:xfrm>
          <a:prstGeom prst="rect">
            <a:avLst/>
          </a:prstGeom>
          <a:noFill/>
          <a:ln/>
        </p:spPr>
        <p:txBody>
          <a:bodyPr wrap="square" lIns="0" tIns="0" rIns="0" bIns="0" rtlCol="0" anchor="t"/>
          <a:lstStyle/>
          <a:p>
            <a:pPr indent="0" marL="0">
              <a:buNone/>
            </a:pPr>
            <a:r>
              <a:rPr lang="en-US" sz="1150" dirty="0">
                <a:solidFill>
                  <a:srgbClr val="55555C"/>
                </a:solidFill>
              </a:rPr>
              <a:t>until you say yes</a:t>
            </a:r>
            <a:endParaRPr lang="en-US" sz="115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AI TRUST</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See exactly what your agent said to theirs</a:t>
            </a:r>
            <a:endParaRPr lang="en-US" sz="3200" dirty="0"/>
          </a:p>
        </p:txBody>
      </p:sp>
      <p:sp>
        <p:nvSpPr>
          <p:cNvPr id="5" name="Shape 2"/>
          <p:cNvSpPr/>
          <p:nvPr/>
        </p:nvSpPr>
        <p:spPr>
          <a:xfrm>
            <a:off x="621792" y="1627632"/>
            <a:ext cx="2113911" cy="4425696"/>
          </a:xfrm>
          <a:prstGeom prst="roundRect">
            <a:avLst>
              <a:gd name="adj" fmla="val 8651"/>
            </a:avLst>
          </a:prstGeom>
          <a:solidFill>
            <a:srgbClr val="0A0A0B"/>
          </a:solidFill>
          <a:ln w="12700">
            <a:solidFill>
              <a:srgbClr val="0A0A0B"/>
            </a:solidFill>
            <a:prstDash val="solid"/>
          </a:ln>
        </p:spPr>
      </p:sp>
      <p:pic>
        <p:nvPicPr>
          <p:cNvPr id="6" name="Image 0" descr="preencoded.png">    </p:cNvPr>
          <p:cNvPicPr>
            <a:picLocks noChangeAspect="1"/>
          </p:cNvPicPr>
          <p:nvPr/>
        </p:nvPicPr>
        <p:blipFill>
          <a:blip r:embed="rId1"/>
          <a:stretch>
            <a:fillRect/>
          </a:stretch>
        </p:blipFill>
        <p:spPr>
          <a:xfrm>
            <a:off x="685800" y="1691640"/>
            <a:ext cx="1985895" cy="4297680"/>
          </a:xfrm>
          <a:prstGeom prst="rect">
            <a:avLst/>
          </a:prstGeom>
        </p:spPr>
      </p:pic>
      <p:sp>
        <p:nvSpPr>
          <p:cNvPr id="7" name="Text 3"/>
          <p:cNvSpPr txBox="1"/>
          <p:nvPr/>
        </p:nvSpPr>
        <p:spPr>
          <a:xfrm>
            <a:off x="411480" y="6108192"/>
            <a:ext cx="2534535" cy="256032"/>
          </a:xfrm>
          <a:prstGeom prst="rect">
            <a:avLst/>
          </a:prstGeom>
          <a:noFill/>
          <a:ln/>
        </p:spPr>
        <p:txBody>
          <a:bodyPr wrap="square" lIns="0" tIns="0" rIns="0" bIns="0" rtlCol="0" anchor="t"/>
          <a:lstStyle/>
          <a:p>
            <a:pPr algn="ctr" indent="0" marL="0">
              <a:buNone/>
            </a:pPr>
            <a:r>
              <a:rPr lang="en-US" sz="1050" dirty="0">
                <a:solidFill>
                  <a:srgbClr val="55555C"/>
                </a:solidFill>
              </a:rPr>
              <a:t>Agent chats</a:t>
            </a:r>
            <a:endParaRPr lang="en-US" sz="1050" dirty="0"/>
          </a:p>
        </p:txBody>
      </p:sp>
      <p:sp>
        <p:nvSpPr>
          <p:cNvPr id="8" name="Shape 4"/>
          <p:cNvSpPr/>
          <p:nvPr/>
        </p:nvSpPr>
        <p:spPr>
          <a:xfrm>
            <a:off x="2999232" y="1627632"/>
            <a:ext cx="2113911" cy="4425696"/>
          </a:xfrm>
          <a:prstGeom prst="roundRect">
            <a:avLst>
              <a:gd name="adj" fmla="val 8651"/>
            </a:avLst>
          </a:prstGeom>
          <a:solidFill>
            <a:srgbClr val="0A0A0B"/>
          </a:solidFill>
          <a:ln w="12700">
            <a:solidFill>
              <a:srgbClr val="0A0A0B"/>
            </a:solidFill>
            <a:prstDash val="solid"/>
          </a:ln>
        </p:spPr>
      </p:sp>
      <p:pic>
        <p:nvPicPr>
          <p:cNvPr id="9" name="Image 1" descr="preencoded.png">    </p:cNvPr>
          <p:cNvPicPr>
            <a:picLocks noChangeAspect="1"/>
          </p:cNvPicPr>
          <p:nvPr/>
        </p:nvPicPr>
        <p:blipFill>
          <a:blip r:embed="rId2"/>
          <a:stretch>
            <a:fillRect/>
          </a:stretch>
        </p:blipFill>
        <p:spPr>
          <a:xfrm>
            <a:off x="3063240" y="1691640"/>
            <a:ext cx="1985895" cy="4297680"/>
          </a:xfrm>
          <a:prstGeom prst="rect">
            <a:avLst/>
          </a:prstGeom>
        </p:spPr>
      </p:pic>
      <p:sp>
        <p:nvSpPr>
          <p:cNvPr id="10" name="Text 5"/>
          <p:cNvSpPr txBox="1"/>
          <p:nvPr/>
        </p:nvSpPr>
        <p:spPr>
          <a:xfrm>
            <a:off x="2788920" y="6108192"/>
            <a:ext cx="2534535" cy="256032"/>
          </a:xfrm>
          <a:prstGeom prst="rect">
            <a:avLst/>
          </a:prstGeom>
          <a:noFill/>
          <a:ln/>
        </p:spPr>
        <p:txBody>
          <a:bodyPr wrap="square" lIns="0" tIns="0" rIns="0" bIns="0" rtlCol="0" anchor="t"/>
          <a:lstStyle/>
          <a:p>
            <a:pPr algn="ctr" indent="0" marL="0">
              <a:buNone/>
            </a:pPr>
            <a:r>
              <a:rPr lang="en-US" sz="1050" dirty="0">
                <a:solidFill>
                  <a:srgbClr val="55555C"/>
                </a:solidFill>
              </a:rPr>
              <a:t>Then it asks you</a:t>
            </a:r>
            <a:endParaRPr lang="en-US" sz="1050" dirty="0"/>
          </a:p>
        </p:txBody>
      </p:sp>
      <p:pic>
        <p:nvPicPr>
          <p:cNvPr id="11" name="Image 2" descr="preencoded.png">    </p:cNvPr>
          <p:cNvPicPr>
            <a:picLocks noChangeAspect="1"/>
          </p:cNvPicPr>
          <p:nvPr/>
        </p:nvPicPr>
        <p:blipFill>
          <a:blip r:embed="rId3"/>
          <a:stretch>
            <a:fillRect/>
          </a:stretch>
        </p:blipFill>
        <p:spPr>
          <a:xfrm>
            <a:off x="5669280" y="1783080"/>
            <a:ext cx="292608" cy="292608"/>
          </a:xfrm>
          <a:prstGeom prst="rect">
            <a:avLst/>
          </a:prstGeom>
        </p:spPr>
      </p:pic>
      <p:sp>
        <p:nvSpPr>
          <p:cNvPr id="12" name="Text 6"/>
          <p:cNvSpPr txBox="1"/>
          <p:nvPr/>
        </p:nvSpPr>
        <p:spPr>
          <a:xfrm>
            <a:off x="6126480" y="1737360"/>
            <a:ext cx="5486400" cy="292608"/>
          </a:xfrm>
          <a:prstGeom prst="rect">
            <a:avLst/>
          </a:prstGeom>
          <a:noFill/>
          <a:ln/>
        </p:spPr>
        <p:txBody>
          <a:bodyPr wrap="square" lIns="0" tIns="0" rIns="0" bIns="0" rtlCol="0" anchor="t"/>
          <a:lstStyle/>
          <a:p>
            <a:pPr indent="0" marL="0">
              <a:buNone/>
            </a:pPr>
            <a:r>
              <a:rPr lang="en-US" sz="1500" b="1" dirty="0">
                <a:solidFill>
                  <a:srgbClr val="0A0A0B"/>
                </a:solidFill>
              </a:rPr>
              <a:t>Every message, word for word</a:t>
            </a:r>
            <a:endParaRPr lang="en-US" sz="1500" dirty="0"/>
          </a:p>
        </p:txBody>
      </p:sp>
      <p:sp>
        <p:nvSpPr>
          <p:cNvPr id="13" name="Text 7"/>
          <p:cNvSpPr txBox="1"/>
          <p:nvPr/>
        </p:nvSpPr>
        <p:spPr>
          <a:xfrm>
            <a:off x="6126480" y="2039112"/>
            <a:ext cx="5486400" cy="548640"/>
          </a:xfrm>
          <a:prstGeom prst="rect">
            <a:avLst/>
          </a:prstGeom>
          <a:noFill/>
          <a:ln/>
        </p:spPr>
        <p:txBody>
          <a:bodyPr wrap="square" lIns="0" tIns="0" rIns="0" bIns="0" rtlCol="0" anchor="t"/>
          <a:lstStyle/>
          <a:p>
            <a:pPr indent="0" marL="0">
              <a:buNone/>
            </a:pPr>
            <a:r>
              <a:rPr lang="en-US" sz="1200" dirty="0">
                <a:solidFill>
                  <a:srgbClr val="55555C"/>
                </a:solidFill>
              </a:rPr>
              <a:t>The messages the agents sent each other over A2A, round by round. Not a summary.</a:t>
            </a:r>
            <a:endParaRPr lang="en-US" sz="1200" dirty="0"/>
          </a:p>
        </p:txBody>
      </p:sp>
      <p:pic>
        <p:nvPicPr>
          <p:cNvPr id="14" name="Image 3" descr="preencoded.png">    </p:cNvPr>
          <p:cNvPicPr>
            <a:picLocks noChangeAspect="1"/>
          </p:cNvPicPr>
          <p:nvPr/>
        </p:nvPicPr>
        <p:blipFill>
          <a:blip r:embed="rId4"/>
          <a:stretch>
            <a:fillRect/>
          </a:stretch>
        </p:blipFill>
        <p:spPr>
          <a:xfrm>
            <a:off x="5669280" y="2670048"/>
            <a:ext cx="292608" cy="292608"/>
          </a:xfrm>
          <a:prstGeom prst="rect">
            <a:avLst/>
          </a:prstGeom>
        </p:spPr>
      </p:pic>
      <p:sp>
        <p:nvSpPr>
          <p:cNvPr id="15" name="Text 8"/>
          <p:cNvSpPr txBox="1"/>
          <p:nvPr/>
        </p:nvSpPr>
        <p:spPr>
          <a:xfrm>
            <a:off x="6126480" y="2624328"/>
            <a:ext cx="5486400" cy="292608"/>
          </a:xfrm>
          <a:prstGeom prst="rect">
            <a:avLst/>
          </a:prstGeom>
          <a:noFill/>
          <a:ln/>
        </p:spPr>
        <p:txBody>
          <a:bodyPr wrap="square" lIns="0" tIns="0" rIns="0" bIns="0" rtlCol="0" anchor="t"/>
          <a:lstStyle/>
          <a:p>
            <a:pPr indent="0" marL="0">
              <a:buNone/>
            </a:pPr>
            <a:r>
              <a:rPr lang="en-US" sz="1500" b="1" dirty="0">
                <a:solidFill>
                  <a:srgbClr val="0A0A0B"/>
                </a:solidFill>
              </a:rPr>
              <a:t>What each one meant</a:t>
            </a:r>
            <a:endParaRPr lang="en-US" sz="1500" dirty="0"/>
          </a:p>
        </p:txBody>
      </p:sp>
      <p:sp>
        <p:nvSpPr>
          <p:cNvPr id="16" name="Text 9"/>
          <p:cNvSpPr txBox="1"/>
          <p:nvPr/>
        </p:nvSpPr>
        <p:spPr>
          <a:xfrm>
            <a:off x="6126480" y="2926080"/>
            <a:ext cx="5486400" cy="548640"/>
          </a:xfrm>
          <a:prstGeom prst="rect">
            <a:avLst/>
          </a:prstGeom>
          <a:noFill/>
          <a:ln/>
        </p:spPr>
        <p:txBody>
          <a:bodyPr wrap="square" lIns="0" tIns="0" rIns="0" bIns="0" rtlCol="0" anchor="t"/>
          <a:lstStyle/>
          <a:p>
            <a:pPr indent="0" marL="0">
              <a:buNone/>
            </a:pPr>
            <a:r>
              <a:rPr lang="en-US" sz="1200" dirty="0">
                <a:solidFill>
                  <a:srgbClr val="55555C"/>
                </a:solidFill>
              </a:rPr>
              <a:t>Proposes, agrees, a counter-offer or declines, under every bubble.</a:t>
            </a:r>
            <a:endParaRPr lang="en-US" sz="1200" dirty="0"/>
          </a:p>
        </p:txBody>
      </p:sp>
      <p:pic>
        <p:nvPicPr>
          <p:cNvPr id="17" name="Image 4" descr="preencoded.png">    </p:cNvPr>
          <p:cNvPicPr>
            <a:picLocks noChangeAspect="1"/>
          </p:cNvPicPr>
          <p:nvPr/>
        </p:nvPicPr>
        <p:blipFill>
          <a:blip r:embed="rId5"/>
          <a:stretch>
            <a:fillRect/>
          </a:stretch>
        </p:blipFill>
        <p:spPr>
          <a:xfrm>
            <a:off x="5669280" y="3557016"/>
            <a:ext cx="292608" cy="292608"/>
          </a:xfrm>
          <a:prstGeom prst="rect">
            <a:avLst/>
          </a:prstGeom>
        </p:spPr>
      </p:pic>
      <p:sp>
        <p:nvSpPr>
          <p:cNvPr id="18" name="Text 10"/>
          <p:cNvSpPr txBox="1"/>
          <p:nvPr/>
        </p:nvSpPr>
        <p:spPr>
          <a:xfrm>
            <a:off x="6126480" y="3511296"/>
            <a:ext cx="5486400" cy="292608"/>
          </a:xfrm>
          <a:prstGeom prst="rect">
            <a:avLst/>
          </a:prstGeom>
          <a:noFill/>
          <a:ln/>
        </p:spPr>
        <p:txBody>
          <a:bodyPr wrap="square" lIns="0" tIns="0" rIns="0" bIns="0" rtlCol="0" anchor="t"/>
          <a:lstStyle/>
          <a:p>
            <a:pPr indent="0" marL="0">
              <a:buNone/>
            </a:pPr>
            <a:r>
              <a:rPr lang="en-US" sz="1500" b="1" dirty="0">
                <a:solidFill>
                  <a:srgbClr val="0A0A0B"/>
                </a:solidFill>
              </a:rPr>
              <a:t>Checked by code</a:t>
            </a:r>
            <a:endParaRPr lang="en-US" sz="1500" dirty="0"/>
          </a:p>
        </p:txBody>
      </p:sp>
      <p:sp>
        <p:nvSpPr>
          <p:cNvPr id="19" name="Text 11"/>
          <p:cNvSpPr txBox="1"/>
          <p:nvPr/>
        </p:nvSpPr>
        <p:spPr>
          <a:xfrm>
            <a:off x="6126480" y="3813048"/>
            <a:ext cx="5486400" cy="548640"/>
          </a:xfrm>
          <a:prstGeom prst="rect">
            <a:avLst/>
          </a:prstGeom>
          <a:noFill/>
          <a:ln/>
        </p:spPr>
        <p:txBody>
          <a:bodyPr wrap="square" lIns="0" tIns="0" rIns="0" bIns="0" rtlCol="0" anchor="t"/>
          <a:lstStyle/>
          <a:p>
            <a:pPr indent="0" marL="0">
              <a:buNone/>
            </a:pPr>
            <a:r>
              <a:rPr lang="en-US" sz="1200" dirty="0">
                <a:solidFill>
                  <a:srgbClr val="55555C"/>
                </a:solidFill>
              </a:rPr>
              <a:t>"Fits everyone" means code checked it against every calendar before your agent moved on.</a:t>
            </a:r>
            <a:endParaRPr lang="en-US" sz="1200" dirty="0"/>
          </a:p>
        </p:txBody>
      </p:sp>
      <p:pic>
        <p:nvPicPr>
          <p:cNvPr id="20" name="Image 5" descr="preencoded.png">    </p:cNvPr>
          <p:cNvPicPr>
            <a:picLocks noChangeAspect="1"/>
          </p:cNvPicPr>
          <p:nvPr/>
        </p:nvPicPr>
        <p:blipFill>
          <a:blip r:embed="rId6"/>
          <a:stretch>
            <a:fillRect/>
          </a:stretch>
        </p:blipFill>
        <p:spPr>
          <a:xfrm>
            <a:off x="5669280" y="4443984"/>
            <a:ext cx="292608" cy="292608"/>
          </a:xfrm>
          <a:prstGeom prst="rect">
            <a:avLst/>
          </a:prstGeom>
        </p:spPr>
      </p:pic>
      <p:sp>
        <p:nvSpPr>
          <p:cNvPr id="21" name="Text 12"/>
          <p:cNvSpPr txBox="1"/>
          <p:nvPr/>
        </p:nvSpPr>
        <p:spPr>
          <a:xfrm>
            <a:off x="6126480" y="4398264"/>
            <a:ext cx="5486400" cy="292608"/>
          </a:xfrm>
          <a:prstGeom prst="rect">
            <a:avLst/>
          </a:prstGeom>
          <a:noFill/>
          <a:ln/>
        </p:spPr>
        <p:txBody>
          <a:bodyPr wrap="square" lIns="0" tIns="0" rIns="0" bIns="0" rtlCol="0" anchor="t"/>
          <a:lstStyle/>
          <a:p>
            <a:pPr indent="0" marL="0">
              <a:buNone/>
            </a:pPr>
            <a:r>
              <a:rPr lang="en-US" sz="1500" b="1" dirty="0">
                <a:solidFill>
                  <a:srgbClr val="0A0A0B"/>
                </a:solidFill>
              </a:rPr>
              <a:t>Whose agent, verified</a:t>
            </a:r>
            <a:endParaRPr lang="en-US" sz="1500" dirty="0"/>
          </a:p>
        </p:txBody>
      </p:sp>
      <p:sp>
        <p:nvSpPr>
          <p:cNvPr id="22" name="Text 13"/>
          <p:cNvSpPr txBox="1"/>
          <p:nvPr/>
        </p:nvSpPr>
        <p:spPr>
          <a:xfrm>
            <a:off x="6126480" y="4700016"/>
            <a:ext cx="5486400" cy="548640"/>
          </a:xfrm>
          <a:prstGeom prst="rect">
            <a:avLst/>
          </a:prstGeom>
          <a:noFill/>
          <a:ln/>
        </p:spPr>
        <p:txBody>
          <a:bodyPr wrap="square" lIns="0" tIns="0" rIns="0" bIns="0" rtlCol="0" anchor="t"/>
          <a:lstStyle/>
          <a:p>
            <a:pPr indent="0" marL="0">
              <a:buNone/>
            </a:pPr>
            <a:r>
              <a:rPr lang="en-US" sz="1200" dirty="0">
                <a:solidFill>
                  <a:srgbClr val="55555C"/>
                </a:solidFill>
              </a:rPr>
              <a:t>Each member's Agent Card is signed and checked before your agent talks to it.</a:t>
            </a:r>
            <a:endParaRPr lang="en-US" sz="1200" dirty="0"/>
          </a:p>
        </p:txBody>
      </p:sp>
      <p:pic>
        <p:nvPicPr>
          <p:cNvPr id="23" name="Image 6" descr="preencoded.png">    </p:cNvPr>
          <p:cNvPicPr>
            <a:picLocks noChangeAspect="1"/>
          </p:cNvPicPr>
          <p:nvPr/>
        </p:nvPicPr>
        <p:blipFill>
          <a:blip r:embed="rId7"/>
          <a:stretch>
            <a:fillRect/>
          </a:stretch>
        </p:blipFill>
        <p:spPr>
          <a:xfrm>
            <a:off x="5669280" y="5330952"/>
            <a:ext cx="292608" cy="292608"/>
          </a:xfrm>
          <a:prstGeom prst="rect">
            <a:avLst/>
          </a:prstGeom>
        </p:spPr>
      </p:pic>
      <p:sp>
        <p:nvSpPr>
          <p:cNvPr id="24" name="Text 14"/>
          <p:cNvSpPr txBox="1"/>
          <p:nvPr/>
        </p:nvSpPr>
        <p:spPr>
          <a:xfrm>
            <a:off x="6126480" y="5285232"/>
            <a:ext cx="5486400" cy="292608"/>
          </a:xfrm>
          <a:prstGeom prst="rect">
            <a:avLst/>
          </a:prstGeom>
          <a:noFill/>
          <a:ln/>
        </p:spPr>
        <p:txBody>
          <a:bodyPr wrap="square" lIns="0" tIns="0" rIns="0" bIns="0" rtlCol="0" anchor="t"/>
          <a:lstStyle/>
          <a:p>
            <a:pPr indent="0" marL="0">
              <a:buNone/>
            </a:pPr>
            <a:r>
              <a:rPr lang="en-US" sz="1500" b="1" dirty="0">
                <a:solidFill>
                  <a:srgbClr val="0A0A0B"/>
                </a:solidFill>
              </a:rPr>
              <a:t>You decide</a:t>
            </a:r>
            <a:endParaRPr lang="en-US" sz="1500" dirty="0"/>
          </a:p>
        </p:txBody>
      </p:sp>
      <p:sp>
        <p:nvSpPr>
          <p:cNvPr id="25" name="Text 15"/>
          <p:cNvSpPr txBox="1"/>
          <p:nvPr/>
        </p:nvSpPr>
        <p:spPr>
          <a:xfrm>
            <a:off x="6126480" y="5586984"/>
            <a:ext cx="5486400" cy="548640"/>
          </a:xfrm>
          <a:prstGeom prst="rect">
            <a:avLst/>
          </a:prstGeom>
          <a:noFill/>
          <a:ln/>
        </p:spPr>
        <p:txBody>
          <a:bodyPr wrap="square" lIns="0" tIns="0" rIns="0" bIns="0" rtlCol="0" anchor="t"/>
          <a:lstStyle/>
          <a:p>
            <a:pPr indent="0" marL="0">
              <a:buNone/>
            </a:pPr>
            <a:r>
              <a:rPr lang="en-US" sz="1200" dirty="0">
                <a:solidFill>
                  <a:srgbClr val="55555C"/>
                </a:solidFill>
              </a:rPr>
              <a:t>Agreed by every agent, then it waits for your yes.</a:t>
            </a:r>
            <a:endParaRPr lang="en-US" sz="12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USE OF META AI · 25%</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Six Meta models carry the product (15 used in all)</a:t>
            </a:r>
            <a:endParaRPr lang="en-US" sz="3200" dirty="0"/>
          </a:p>
        </p:txBody>
      </p:sp>
      <p:sp>
        <p:nvSpPr>
          <p:cNvPr id="5" name="Shape 2"/>
          <p:cNvSpPr/>
          <p:nvPr/>
        </p:nvSpPr>
        <p:spPr>
          <a:xfrm>
            <a:off x="548640" y="1691640"/>
            <a:ext cx="3566160" cy="1645920"/>
          </a:xfrm>
          <a:prstGeom prst="roundRect">
            <a:avLst>
              <a:gd name="adj" fmla="val 6667"/>
            </a:avLst>
          </a:prstGeom>
          <a:solidFill>
            <a:srgbClr val="E9F3EC"/>
          </a:solidFill>
          <a:ln w="12700">
            <a:solidFill>
              <a:srgbClr val="E9F3EC"/>
            </a:solidFill>
            <a:prstDash val="solid"/>
          </a:ln>
        </p:spPr>
      </p:sp>
      <p:sp>
        <p:nvSpPr>
          <p:cNvPr id="6" name="Text 3"/>
          <p:cNvSpPr txBox="1"/>
          <p:nvPr/>
        </p:nvSpPr>
        <p:spPr>
          <a:xfrm>
            <a:off x="749808" y="1847088"/>
            <a:ext cx="3108960" cy="228600"/>
          </a:xfrm>
          <a:prstGeom prst="rect">
            <a:avLst/>
          </a:prstGeom>
          <a:noFill/>
          <a:ln/>
        </p:spPr>
        <p:txBody>
          <a:bodyPr wrap="square" lIns="0" tIns="0" rIns="0" bIns="0" rtlCol="0" anchor="t"/>
          <a:lstStyle/>
          <a:p>
            <a:pPr indent="0" marL="0">
              <a:buNone/>
            </a:pPr>
            <a:r>
              <a:rPr lang="en-US" sz="1000" b="1" spc="100" kern="0" dirty="0">
                <a:solidFill>
                  <a:srgbClr val="0A7F44"/>
                </a:solidFill>
              </a:rPr>
              <a:t>REASONING</a:t>
            </a:r>
            <a:endParaRPr lang="en-US" sz="1000" dirty="0"/>
          </a:p>
        </p:txBody>
      </p:sp>
      <p:sp>
        <p:nvSpPr>
          <p:cNvPr id="7" name="Text 4"/>
          <p:cNvSpPr txBox="1"/>
          <p:nvPr/>
        </p:nvSpPr>
        <p:spPr>
          <a:xfrm>
            <a:off x="749808" y="2103120"/>
            <a:ext cx="3200400" cy="365760"/>
          </a:xfrm>
          <a:prstGeom prst="rect">
            <a:avLst/>
          </a:prstGeom>
          <a:noFill/>
          <a:ln/>
        </p:spPr>
        <p:txBody>
          <a:bodyPr wrap="square" lIns="0" tIns="0" rIns="0" bIns="0" rtlCol="0" anchor="t"/>
          <a:lstStyle/>
          <a:p>
            <a:pPr indent="0" marL="0">
              <a:buNone/>
            </a:pPr>
            <a:r>
              <a:rPr lang="en-US" sz="1700" b="1" dirty="0">
                <a:solidFill>
                  <a:srgbClr val="0A0A0B"/>
                </a:solidFill>
              </a:rPr>
              <a:t>Muse Glimmer</a:t>
            </a:r>
            <a:endParaRPr lang="en-US" sz="1700" dirty="0"/>
          </a:p>
        </p:txBody>
      </p:sp>
      <p:sp>
        <p:nvSpPr>
          <p:cNvPr id="8" name="Text 5"/>
          <p:cNvSpPr txBox="1"/>
          <p:nvPr/>
        </p:nvSpPr>
        <p:spPr>
          <a:xfrm>
            <a:off x="749808" y="2496312"/>
            <a:ext cx="3200400" cy="502920"/>
          </a:xfrm>
          <a:prstGeom prst="rect">
            <a:avLst/>
          </a:prstGeom>
          <a:noFill/>
          <a:ln/>
        </p:spPr>
        <p:txBody>
          <a:bodyPr wrap="square" lIns="0" tIns="0" rIns="0" bIns="0" rtlCol="0" anchor="t"/>
          <a:lstStyle/>
          <a:p>
            <a:pPr indent="0" marL="0">
              <a:buNone/>
            </a:pPr>
            <a:r>
              <a:rPr lang="en-US" sz="1200" dirty="0">
                <a:solidFill>
                  <a:srgbClr val="0A0A0B"/>
                </a:solidFill>
              </a:rPr>
              <a:t>Every agent's decisions: the tool loop, A2A answers, the court judge</a:t>
            </a:r>
            <a:endParaRPr lang="en-US" sz="1200" dirty="0"/>
          </a:p>
        </p:txBody>
      </p:sp>
      <p:sp>
        <p:nvSpPr>
          <p:cNvPr id="9" name="Text 6"/>
          <p:cNvSpPr txBox="1"/>
          <p:nvPr/>
        </p:nvSpPr>
        <p:spPr>
          <a:xfrm>
            <a:off x="749808" y="2999232"/>
            <a:ext cx="3200400" cy="228600"/>
          </a:xfrm>
          <a:prstGeom prst="rect">
            <a:avLst/>
          </a:prstGeom>
          <a:noFill/>
          <a:ln/>
        </p:spPr>
        <p:txBody>
          <a:bodyPr wrap="square" lIns="0" tIns="0" rIns="0" bIns="0" rtlCol="0" anchor="t"/>
          <a:lstStyle/>
          <a:p>
            <a:pPr indent="0" marL="0">
              <a:buNone/>
            </a:pPr>
            <a:r>
              <a:rPr lang="en-US" sz="1000" dirty="0">
                <a:solidFill>
                  <a:srgbClr val="55555C"/>
                </a:solidFill>
              </a:rPr>
              <a:t>RTX 3090 · Ollama · open weights</a:t>
            </a:r>
            <a:endParaRPr lang="en-US" sz="1000" dirty="0"/>
          </a:p>
        </p:txBody>
      </p:sp>
      <p:sp>
        <p:nvSpPr>
          <p:cNvPr id="10" name="Shape 7"/>
          <p:cNvSpPr/>
          <p:nvPr/>
        </p:nvSpPr>
        <p:spPr>
          <a:xfrm>
            <a:off x="4297680" y="1691640"/>
            <a:ext cx="3566160" cy="1645920"/>
          </a:xfrm>
          <a:prstGeom prst="roundRect">
            <a:avLst>
              <a:gd name="adj" fmla="val 6667"/>
            </a:avLst>
          </a:prstGeom>
          <a:solidFill>
            <a:srgbClr val="E9F3EC"/>
          </a:solidFill>
          <a:ln w="12700">
            <a:solidFill>
              <a:srgbClr val="E9F3EC"/>
            </a:solidFill>
            <a:prstDash val="solid"/>
          </a:ln>
        </p:spPr>
      </p:sp>
      <p:sp>
        <p:nvSpPr>
          <p:cNvPr id="11" name="Text 8"/>
          <p:cNvSpPr txBox="1"/>
          <p:nvPr/>
        </p:nvSpPr>
        <p:spPr>
          <a:xfrm>
            <a:off x="4498848" y="1847088"/>
            <a:ext cx="3108960" cy="228600"/>
          </a:xfrm>
          <a:prstGeom prst="rect">
            <a:avLst/>
          </a:prstGeom>
          <a:noFill/>
          <a:ln/>
        </p:spPr>
        <p:txBody>
          <a:bodyPr wrap="square" lIns="0" tIns="0" rIns="0" bIns="0" rtlCol="0" anchor="t"/>
          <a:lstStyle/>
          <a:p>
            <a:pPr indent="0" marL="0">
              <a:buNone/>
            </a:pPr>
            <a:r>
              <a:rPr lang="en-US" sz="1000" b="1" spc="100" kern="0" dirty="0">
                <a:solidFill>
                  <a:srgbClr val="0A7F44"/>
                </a:solidFill>
              </a:rPr>
              <a:t>REASONING</a:t>
            </a:r>
            <a:endParaRPr lang="en-US" sz="1000" dirty="0"/>
          </a:p>
        </p:txBody>
      </p:sp>
      <p:sp>
        <p:nvSpPr>
          <p:cNvPr id="12" name="Text 9"/>
          <p:cNvSpPr txBox="1"/>
          <p:nvPr/>
        </p:nvSpPr>
        <p:spPr>
          <a:xfrm>
            <a:off x="4498848" y="2103120"/>
            <a:ext cx="3200400" cy="365760"/>
          </a:xfrm>
          <a:prstGeom prst="rect">
            <a:avLst/>
          </a:prstGeom>
          <a:noFill/>
          <a:ln/>
        </p:spPr>
        <p:txBody>
          <a:bodyPr wrap="square" lIns="0" tIns="0" rIns="0" bIns="0" rtlCol="0" anchor="t"/>
          <a:lstStyle/>
          <a:p>
            <a:pPr indent="0" marL="0">
              <a:buNone/>
            </a:pPr>
            <a:r>
              <a:rPr lang="en-US" sz="1700" b="1" dirty="0">
                <a:solidFill>
                  <a:srgbClr val="0A0A0B"/>
                </a:solidFill>
              </a:rPr>
              <a:t>Llama 3.2 1B student</a:t>
            </a:r>
            <a:endParaRPr lang="en-US" sz="1700" dirty="0"/>
          </a:p>
        </p:txBody>
      </p:sp>
      <p:sp>
        <p:nvSpPr>
          <p:cNvPr id="13" name="Text 10"/>
          <p:cNvSpPr txBox="1"/>
          <p:nvPr/>
        </p:nvSpPr>
        <p:spPr>
          <a:xfrm>
            <a:off x="4498848" y="2496312"/>
            <a:ext cx="3200400" cy="502920"/>
          </a:xfrm>
          <a:prstGeom prst="rect">
            <a:avLst/>
          </a:prstGeom>
          <a:noFill/>
          <a:ln/>
        </p:spPr>
        <p:txBody>
          <a:bodyPr wrap="square" lIns="0" tIns="0" rIns="0" bIns="0" rtlCol="0" anchor="t"/>
          <a:lstStyle/>
          <a:p>
            <a:pPr indent="0" marL="0">
              <a:buNone/>
            </a:pPr>
            <a:r>
              <a:rPr lang="en-US" sz="1200" dirty="0">
                <a:solidFill>
                  <a:srgbClr val="0A0A0B"/>
                </a:solidFill>
              </a:rPr>
              <a:t>Distilled from Glimmer; answers alone when sure, in about 0.9 s</a:t>
            </a:r>
            <a:endParaRPr lang="en-US" sz="1200" dirty="0"/>
          </a:p>
        </p:txBody>
      </p:sp>
      <p:sp>
        <p:nvSpPr>
          <p:cNvPr id="14" name="Text 11"/>
          <p:cNvSpPr txBox="1"/>
          <p:nvPr/>
        </p:nvSpPr>
        <p:spPr>
          <a:xfrm>
            <a:off x="4498848" y="2999232"/>
            <a:ext cx="3200400" cy="228600"/>
          </a:xfrm>
          <a:prstGeom prst="rect">
            <a:avLst/>
          </a:prstGeom>
          <a:noFill/>
          <a:ln/>
        </p:spPr>
        <p:txBody>
          <a:bodyPr wrap="square" lIns="0" tIns="0" rIns="0" bIns="0" rtlCol="0" anchor="t"/>
          <a:lstStyle/>
          <a:p>
            <a:pPr indent="0" marL="0">
              <a:buNone/>
            </a:pPr>
            <a:r>
              <a:rPr lang="en-US" sz="1000" dirty="0">
                <a:solidFill>
                  <a:srgbClr val="55555C"/>
                </a:solidFill>
              </a:rPr>
              <a:t>CPU · fine-tuned here</a:t>
            </a:r>
            <a:endParaRPr lang="en-US" sz="1000" dirty="0"/>
          </a:p>
        </p:txBody>
      </p:sp>
      <p:sp>
        <p:nvSpPr>
          <p:cNvPr id="15" name="Shape 12"/>
          <p:cNvSpPr/>
          <p:nvPr/>
        </p:nvSpPr>
        <p:spPr>
          <a:xfrm>
            <a:off x="8046720" y="1691640"/>
            <a:ext cx="3566160" cy="1645920"/>
          </a:xfrm>
          <a:prstGeom prst="roundRect">
            <a:avLst>
              <a:gd name="adj" fmla="val 6667"/>
            </a:avLst>
          </a:prstGeom>
          <a:solidFill>
            <a:srgbClr val="FBEAE9"/>
          </a:solidFill>
          <a:ln w="12700">
            <a:solidFill>
              <a:srgbClr val="FBEAE9"/>
            </a:solidFill>
            <a:prstDash val="solid"/>
          </a:ln>
        </p:spPr>
      </p:sp>
      <p:sp>
        <p:nvSpPr>
          <p:cNvPr id="16" name="Text 13"/>
          <p:cNvSpPr txBox="1"/>
          <p:nvPr/>
        </p:nvSpPr>
        <p:spPr>
          <a:xfrm>
            <a:off x="8247888" y="1847088"/>
            <a:ext cx="3108960" cy="228600"/>
          </a:xfrm>
          <a:prstGeom prst="rect">
            <a:avLst/>
          </a:prstGeom>
          <a:noFill/>
          <a:ln/>
        </p:spPr>
        <p:txBody>
          <a:bodyPr wrap="square" lIns="0" tIns="0" rIns="0" bIns="0" rtlCol="0" anchor="t"/>
          <a:lstStyle/>
          <a:p>
            <a:pPr indent="0" marL="0">
              <a:buNone/>
            </a:pPr>
            <a:r>
              <a:rPr lang="en-US" sz="1000" b="1" spc="100" kern="0" dirty="0">
                <a:solidFill>
                  <a:srgbClr val="D1352B"/>
                </a:solidFill>
              </a:rPr>
              <a:t>SAFETY</a:t>
            </a:r>
            <a:endParaRPr lang="en-US" sz="1000" dirty="0"/>
          </a:p>
        </p:txBody>
      </p:sp>
      <p:sp>
        <p:nvSpPr>
          <p:cNvPr id="17" name="Text 14"/>
          <p:cNvSpPr txBox="1"/>
          <p:nvPr/>
        </p:nvSpPr>
        <p:spPr>
          <a:xfrm>
            <a:off x="8247888" y="2103120"/>
            <a:ext cx="3200400" cy="365760"/>
          </a:xfrm>
          <a:prstGeom prst="rect">
            <a:avLst/>
          </a:prstGeom>
          <a:noFill/>
          <a:ln/>
        </p:spPr>
        <p:txBody>
          <a:bodyPr wrap="square" lIns="0" tIns="0" rIns="0" bIns="0" rtlCol="0" anchor="t"/>
          <a:lstStyle/>
          <a:p>
            <a:pPr indent="0" marL="0">
              <a:buNone/>
            </a:pPr>
            <a:r>
              <a:rPr lang="en-US" sz="1700" b="1" dirty="0">
                <a:solidFill>
                  <a:srgbClr val="0A0A0B"/>
                </a:solidFill>
              </a:rPr>
              <a:t>Llama Guard 3 1B</a:t>
            </a:r>
            <a:endParaRPr lang="en-US" sz="1700" dirty="0"/>
          </a:p>
        </p:txBody>
      </p:sp>
      <p:sp>
        <p:nvSpPr>
          <p:cNvPr id="18" name="Text 15"/>
          <p:cNvSpPr txBox="1"/>
          <p:nvPr/>
        </p:nvSpPr>
        <p:spPr>
          <a:xfrm>
            <a:off x="8247888" y="2496312"/>
            <a:ext cx="3200400" cy="502920"/>
          </a:xfrm>
          <a:prstGeom prst="rect">
            <a:avLst/>
          </a:prstGeom>
          <a:noFill/>
          <a:ln/>
        </p:spPr>
        <p:txBody>
          <a:bodyPr wrap="square" lIns="0" tIns="0" rIns="0" bIns="0" rtlCol="0" anchor="t"/>
          <a:lstStyle/>
          <a:p>
            <a:pPr indent="0" marL="0">
              <a:buNone/>
            </a:pPr>
            <a:r>
              <a:rPr lang="en-US" sz="1200" dirty="0">
                <a:solidFill>
                  <a:srgbClr val="0A0A0B"/>
                </a:solidFill>
              </a:rPr>
              <a:t>Every message in and out, a person's or an agent's</a:t>
            </a:r>
            <a:endParaRPr lang="en-US" sz="1200" dirty="0"/>
          </a:p>
        </p:txBody>
      </p:sp>
      <p:sp>
        <p:nvSpPr>
          <p:cNvPr id="19" name="Text 16"/>
          <p:cNvSpPr txBox="1"/>
          <p:nvPr/>
        </p:nvSpPr>
        <p:spPr>
          <a:xfrm>
            <a:off x="8247888" y="2999232"/>
            <a:ext cx="3200400" cy="228600"/>
          </a:xfrm>
          <a:prstGeom prst="rect">
            <a:avLst/>
          </a:prstGeom>
          <a:noFill/>
          <a:ln/>
        </p:spPr>
        <p:txBody>
          <a:bodyPr wrap="square" lIns="0" tIns="0" rIns="0" bIns="0" rtlCol="0" anchor="t"/>
          <a:lstStyle/>
          <a:p>
            <a:pPr indent="0" marL="0">
              <a:buNone/>
            </a:pPr>
            <a:r>
              <a:rPr lang="en-US" sz="1000" dirty="0">
                <a:solidFill>
                  <a:srgbClr val="55555C"/>
                </a:solidFill>
              </a:rPr>
              <a:t>CPU · open weights</a:t>
            </a:r>
            <a:endParaRPr lang="en-US" sz="1000" dirty="0"/>
          </a:p>
        </p:txBody>
      </p:sp>
      <p:sp>
        <p:nvSpPr>
          <p:cNvPr id="20" name="Shape 17"/>
          <p:cNvSpPr/>
          <p:nvPr/>
        </p:nvSpPr>
        <p:spPr>
          <a:xfrm>
            <a:off x="548640" y="3520440"/>
            <a:ext cx="3566160" cy="1645920"/>
          </a:xfrm>
          <a:prstGeom prst="roundRect">
            <a:avLst>
              <a:gd name="adj" fmla="val 6667"/>
            </a:avLst>
          </a:prstGeom>
          <a:solidFill>
            <a:srgbClr val="FBEAE9"/>
          </a:solidFill>
          <a:ln w="12700">
            <a:solidFill>
              <a:srgbClr val="FBEAE9"/>
            </a:solidFill>
            <a:prstDash val="solid"/>
          </a:ln>
        </p:spPr>
      </p:sp>
      <p:sp>
        <p:nvSpPr>
          <p:cNvPr id="21" name="Text 18"/>
          <p:cNvSpPr txBox="1"/>
          <p:nvPr/>
        </p:nvSpPr>
        <p:spPr>
          <a:xfrm>
            <a:off x="749808" y="3675888"/>
            <a:ext cx="3108960" cy="228600"/>
          </a:xfrm>
          <a:prstGeom prst="rect">
            <a:avLst/>
          </a:prstGeom>
          <a:noFill/>
          <a:ln/>
        </p:spPr>
        <p:txBody>
          <a:bodyPr wrap="square" lIns="0" tIns="0" rIns="0" bIns="0" rtlCol="0" anchor="t"/>
          <a:lstStyle/>
          <a:p>
            <a:pPr indent="0" marL="0">
              <a:buNone/>
            </a:pPr>
            <a:r>
              <a:rPr lang="en-US" sz="1000" b="1" spc="100" kern="0" dirty="0">
                <a:solidFill>
                  <a:srgbClr val="D1352B"/>
                </a:solidFill>
              </a:rPr>
              <a:t>SAFETY</a:t>
            </a:r>
            <a:endParaRPr lang="en-US" sz="1000" dirty="0"/>
          </a:p>
        </p:txBody>
      </p:sp>
      <p:sp>
        <p:nvSpPr>
          <p:cNvPr id="22" name="Text 19"/>
          <p:cNvSpPr txBox="1"/>
          <p:nvPr/>
        </p:nvSpPr>
        <p:spPr>
          <a:xfrm>
            <a:off x="749808" y="3931920"/>
            <a:ext cx="3200400" cy="365760"/>
          </a:xfrm>
          <a:prstGeom prst="rect">
            <a:avLst/>
          </a:prstGeom>
          <a:noFill/>
          <a:ln/>
        </p:spPr>
        <p:txBody>
          <a:bodyPr wrap="square" lIns="0" tIns="0" rIns="0" bIns="0" rtlCol="0" anchor="t"/>
          <a:lstStyle/>
          <a:p>
            <a:pPr indent="0" marL="0">
              <a:buNone/>
            </a:pPr>
            <a:r>
              <a:rPr lang="en-US" sz="1700" b="1" dirty="0">
                <a:solidFill>
                  <a:srgbClr val="0A0A0B"/>
                </a:solidFill>
              </a:rPr>
              <a:t>Prompt Guard 2</a:t>
            </a:r>
            <a:endParaRPr lang="en-US" sz="1700" dirty="0"/>
          </a:p>
        </p:txBody>
      </p:sp>
      <p:sp>
        <p:nvSpPr>
          <p:cNvPr id="23" name="Text 20"/>
          <p:cNvSpPr txBox="1"/>
          <p:nvPr/>
        </p:nvSpPr>
        <p:spPr>
          <a:xfrm>
            <a:off x="749808" y="4325112"/>
            <a:ext cx="3200400" cy="502920"/>
          </a:xfrm>
          <a:prstGeom prst="rect">
            <a:avLst/>
          </a:prstGeom>
          <a:noFill/>
          <a:ln/>
        </p:spPr>
        <p:txBody>
          <a:bodyPr wrap="square" lIns="0" tIns="0" rIns="0" bIns="0" rtlCol="0" anchor="t"/>
          <a:lstStyle/>
          <a:p>
            <a:pPr indent="0" marL="0">
              <a:buNone/>
            </a:pPr>
            <a:r>
              <a:rPr lang="en-US" sz="1200" dirty="0">
                <a:solidFill>
                  <a:srgbClr val="0A0A0B"/>
                </a:solidFill>
              </a:rPr>
              <a:t>Google reviews and members' ideas, before any model reads them</a:t>
            </a:r>
            <a:endParaRPr lang="en-US" sz="1200" dirty="0"/>
          </a:p>
        </p:txBody>
      </p:sp>
      <p:sp>
        <p:nvSpPr>
          <p:cNvPr id="24" name="Text 21"/>
          <p:cNvSpPr txBox="1"/>
          <p:nvPr/>
        </p:nvSpPr>
        <p:spPr>
          <a:xfrm>
            <a:off x="749808" y="4828032"/>
            <a:ext cx="3200400" cy="228600"/>
          </a:xfrm>
          <a:prstGeom prst="rect">
            <a:avLst/>
          </a:prstGeom>
          <a:noFill/>
          <a:ln/>
        </p:spPr>
        <p:txBody>
          <a:bodyPr wrap="square" lIns="0" tIns="0" rIns="0" bIns="0" rtlCol="0" anchor="t"/>
          <a:lstStyle/>
          <a:p>
            <a:pPr indent="0" marL="0">
              <a:buNone/>
            </a:pPr>
            <a:r>
              <a:rPr lang="en-US" sz="1000" dirty="0">
                <a:solidFill>
                  <a:srgbClr val="55555C"/>
                </a:solidFill>
              </a:rPr>
              <a:t>CPU · 86M</a:t>
            </a:r>
            <a:endParaRPr lang="en-US" sz="1000" dirty="0"/>
          </a:p>
        </p:txBody>
      </p:sp>
      <p:sp>
        <p:nvSpPr>
          <p:cNvPr id="25" name="Shape 22"/>
          <p:cNvSpPr/>
          <p:nvPr/>
        </p:nvSpPr>
        <p:spPr>
          <a:xfrm>
            <a:off x="4297680" y="3520440"/>
            <a:ext cx="3566160" cy="1645920"/>
          </a:xfrm>
          <a:prstGeom prst="roundRect">
            <a:avLst>
              <a:gd name="adj" fmla="val 6667"/>
            </a:avLst>
          </a:prstGeom>
          <a:solidFill>
            <a:srgbClr val="E8F1FD"/>
          </a:solidFill>
          <a:ln w="12700">
            <a:solidFill>
              <a:srgbClr val="E8F1FD"/>
            </a:solidFill>
            <a:prstDash val="solid"/>
          </a:ln>
        </p:spPr>
      </p:sp>
      <p:sp>
        <p:nvSpPr>
          <p:cNvPr id="26" name="Text 23"/>
          <p:cNvSpPr txBox="1"/>
          <p:nvPr/>
        </p:nvSpPr>
        <p:spPr>
          <a:xfrm>
            <a:off x="4498848" y="3675888"/>
            <a:ext cx="3108960" cy="228600"/>
          </a:xfrm>
          <a:prstGeom prst="rect">
            <a:avLst/>
          </a:prstGeom>
          <a:noFill/>
          <a:ln/>
        </p:spPr>
        <p:txBody>
          <a:bodyPr wrap="square" lIns="0" tIns="0" rIns="0" bIns="0" rtlCol="0" anchor="t"/>
          <a:lstStyle/>
          <a:p>
            <a:pPr indent="0" marL="0">
              <a:buNone/>
            </a:pPr>
            <a:r>
              <a:rPr lang="en-US" sz="1000" b="1" spc="100" kern="0" dirty="0">
                <a:solidFill>
                  <a:srgbClr val="0064E0"/>
                </a:solidFill>
              </a:rPr>
              <a:t>MEMORY</a:t>
            </a:r>
            <a:endParaRPr lang="en-US" sz="1000" dirty="0"/>
          </a:p>
        </p:txBody>
      </p:sp>
      <p:sp>
        <p:nvSpPr>
          <p:cNvPr id="27" name="Text 24"/>
          <p:cNvSpPr txBox="1"/>
          <p:nvPr/>
        </p:nvSpPr>
        <p:spPr>
          <a:xfrm>
            <a:off x="4498848" y="3931920"/>
            <a:ext cx="3200400" cy="365760"/>
          </a:xfrm>
          <a:prstGeom prst="rect">
            <a:avLst/>
          </a:prstGeom>
          <a:noFill/>
          <a:ln/>
        </p:spPr>
        <p:txBody>
          <a:bodyPr wrap="square" lIns="0" tIns="0" rIns="0" bIns="0" rtlCol="0" anchor="t"/>
          <a:lstStyle/>
          <a:p>
            <a:pPr indent="0" marL="0">
              <a:buNone/>
            </a:pPr>
            <a:r>
              <a:rPr lang="en-US" sz="1700" b="1" dirty="0">
                <a:solidFill>
                  <a:srgbClr val="0A0A0B"/>
                </a:solidFill>
              </a:rPr>
              <a:t>DRAMA</a:t>
            </a:r>
            <a:endParaRPr lang="en-US" sz="1700" dirty="0"/>
          </a:p>
        </p:txBody>
      </p:sp>
      <p:sp>
        <p:nvSpPr>
          <p:cNvPr id="28" name="Text 25"/>
          <p:cNvSpPr txBox="1"/>
          <p:nvPr/>
        </p:nvSpPr>
        <p:spPr>
          <a:xfrm>
            <a:off x="4498848" y="4325112"/>
            <a:ext cx="3200400" cy="502920"/>
          </a:xfrm>
          <a:prstGeom prst="rect">
            <a:avLst/>
          </a:prstGeom>
          <a:noFill/>
          <a:ln/>
        </p:spPr>
        <p:txBody>
          <a:bodyPr wrap="square" lIns="0" tIns="0" rIns="0" bIns="0" rtlCol="0" anchor="t"/>
          <a:lstStyle/>
          <a:p>
            <a:pPr indent="0" marL="0">
              <a:buNone/>
            </a:pPr>
            <a:r>
              <a:rPr lang="en-US" sz="1200" dirty="0">
                <a:solidFill>
                  <a:srgbClr val="0A0A0B"/>
                </a:solidFill>
              </a:rPr>
              <a:t>Agent memory: what matters for your week, found by meaning</a:t>
            </a:r>
            <a:endParaRPr lang="en-US" sz="1200" dirty="0"/>
          </a:p>
        </p:txBody>
      </p:sp>
      <p:sp>
        <p:nvSpPr>
          <p:cNvPr id="29" name="Text 26"/>
          <p:cNvSpPr txBox="1"/>
          <p:nvPr/>
        </p:nvSpPr>
        <p:spPr>
          <a:xfrm>
            <a:off x="4498848" y="4828032"/>
            <a:ext cx="3200400" cy="228600"/>
          </a:xfrm>
          <a:prstGeom prst="rect">
            <a:avLst/>
          </a:prstGeom>
          <a:noFill/>
          <a:ln/>
        </p:spPr>
        <p:txBody>
          <a:bodyPr wrap="square" lIns="0" tIns="0" rIns="0" bIns="0" rtlCol="0" anchor="t"/>
          <a:lstStyle/>
          <a:p>
            <a:pPr indent="0" marL="0">
              <a:buNone/>
            </a:pPr>
            <a:r>
              <a:rPr lang="en-US" sz="1000" dirty="0">
                <a:solidFill>
                  <a:srgbClr val="55555C"/>
                </a:solidFill>
              </a:rPr>
              <a:t>CPU · open weights</a:t>
            </a:r>
            <a:endParaRPr lang="en-US" sz="1000" dirty="0"/>
          </a:p>
        </p:txBody>
      </p:sp>
      <p:sp>
        <p:nvSpPr>
          <p:cNvPr id="30" name="Shape 27"/>
          <p:cNvSpPr/>
          <p:nvPr/>
        </p:nvSpPr>
        <p:spPr>
          <a:xfrm>
            <a:off x="8046720" y="3520440"/>
            <a:ext cx="3566160" cy="1645920"/>
          </a:xfrm>
          <a:prstGeom prst="roundRect">
            <a:avLst>
              <a:gd name="adj" fmla="val 6667"/>
            </a:avLst>
          </a:prstGeom>
          <a:solidFill>
            <a:srgbClr val="FBF3E6"/>
          </a:solidFill>
          <a:ln w="12700">
            <a:solidFill>
              <a:srgbClr val="FBF3E6"/>
            </a:solidFill>
            <a:prstDash val="solid"/>
          </a:ln>
        </p:spPr>
      </p:sp>
      <p:sp>
        <p:nvSpPr>
          <p:cNvPr id="31" name="Text 28"/>
          <p:cNvSpPr txBox="1"/>
          <p:nvPr/>
        </p:nvSpPr>
        <p:spPr>
          <a:xfrm>
            <a:off x="8247888" y="3675888"/>
            <a:ext cx="3108960" cy="228600"/>
          </a:xfrm>
          <a:prstGeom prst="rect">
            <a:avLst/>
          </a:prstGeom>
          <a:noFill/>
          <a:ln/>
        </p:spPr>
        <p:txBody>
          <a:bodyPr wrap="square" lIns="0" tIns="0" rIns="0" bIns="0" rtlCol="0" anchor="t"/>
          <a:lstStyle/>
          <a:p>
            <a:pPr indent="0" marL="0">
              <a:buNone/>
            </a:pPr>
            <a:r>
              <a:rPr lang="en-US" sz="1000" b="1" spc="100" kern="0" dirty="0">
                <a:solidFill>
                  <a:srgbClr val="B26A00"/>
                </a:solidFill>
              </a:rPr>
              <a:t>VOICE</a:t>
            </a:r>
            <a:endParaRPr lang="en-US" sz="1000" dirty="0"/>
          </a:p>
        </p:txBody>
      </p:sp>
      <p:sp>
        <p:nvSpPr>
          <p:cNvPr id="32" name="Text 29"/>
          <p:cNvSpPr txBox="1"/>
          <p:nvPr/>
        </p:nvSpPr>
        <p:spPr>
          <a:xfrm>
            <a:off x="8247888" y="3931920"/>
            <a:ext cx="3200400" cy="365760"/>
          </a:xfrm>
          <a:prstGeom prst="rect">
            <a:avLst/>
          </a:prstGeom>
          <a:noFill/>
          <a:ln/>
        </p:spPr>
        <p:txBody>
          <a:bodyPr wrap="square" lIns="0" tIns="0" rIns="0" bIns="0" rtlCol="0" anchor="t"/>
          <a:lstStyle/>
          <a:p>
            <a:pPr indent="0" marL="0">
              <a:buNone/>
            </a:pPr>
            <a:r>
              <a:rPr lang="en-US" sz="1700" b="1" dirty="0">
                <a:solidFill>
                  <a:srgbClr val="0A0A0B"/>
                </a:solidFill>
              </a:rPr>
              <a:t>Muse Voice Transcribe</a:t>
            </a:r>
            <a:endParaRPr lang="en-US" sz="1700" dirty="0"/>
          </a:p>
        </p:txBody>
      </p:sp>
      <p:sp>
        <p:nvSpPr>
          <p:cNvPr id="33" name="Text 30"/>
          <p:cNvSpPr txBox="1"/>
          <p:nvPr/>
        </p:nvSpPr>
        <p:spPr>
          <a:xfrm>
            <a:off x="8247888" y="4325112"/>
            <a:ext cx="3200400" cy="502920"/>
          </a:xfrm>
          <a:prstGeom prst="rect">
            <a:avLst/>
          </a:prstGeom>
          <a:noFill/>
          <a:ln/>
        </p:spPr>
        <p:txBody>
          <a:bodyPr wrap="square" lIns="0" tIns="0" rIns="0" bIns="0" rtlCol="0" anchor="t"/>
          <a:lstStyle/>
          <a:p>
            <a:pPr indent="0" marL="0">
              <a:buNone/>
            </a:pPr>
            <a:r>
              <a:rPr lang="en-US" sz="1200" dirty="0">
                <a:solidFill>
                  <a:srgbClr val="0A0A0B"/>
                </a:solidFill>
              </a:rPr>
              <a:t>Talk to your agent hands-free, and cut in while it speaks</a:t>
            </a:r>
            <a:endParaRPr lang="en-US" sz="1200" dirty="0"/>
          </a:p>
        </p:txBody>
      </p:sp>
      <p:sp>
        <p:nvSpPr>
          <p:cNvPr id="34" name="Text 31"/>
          <p:cNvSpPr txBox="1"/>
          <p:nvPr/>
        </p:nvSpPr>
        <p:spPr>
          <a:xfrm>
            <a:off x="8247888" y="4828032"/>
            <a:ext cx="3200400" cy="228600"/>
          </a:xfrm>
          <a:prstGeom prst="rect">
            <a:avLst/>
          </a:prstGeom>
          <a:noFill/>
          <a:ln/>
        </p:spPr>
        <p:txBody>
          <a:bodyPr wrap="square" lIns="0" tIns="0" rIns="0" bIns="0" rtlCol="0" anchor="t"/>
          <a:lstStyle/>
          <a:p>
            <a:pPr indent="0" marL="0">
              <a:buNone/>
            </a:pPr>
            <a:r>
              <a:rPr lang="en-US" sz="1000" dirty="0">
                <a:solidFill>
                  <a:srgbClr val="55555C"/>
                </a:solidFill>
              </a:rPr>
              <a:t>Meta Model API · realtime</a:t>
            </a:r>
            <a:endParaRPr lang="en-US" sz="1000" dirty="0"/>
          </a:p>
        </p:txBody>
      </p:sp>
      <p:sp>
        <p:nvSpPr>
          <p:cNvPr id="35" name="Shape 32"/>
          <p:cNvSpPr/>
          <p:nvPr/>
        </p:nvSpPr>
        <p:spPr>
          <a:xfrm>
            <a:off x="548640" y="5440680"/>
            <a:ext cx="11064240" cy="777240"/>
          </a:xfrm>
          <a:prstGeom prst="roundRect">
            <a:avLst>
              <a:gd name="adj" fmla="val 14118"/>
            </a:avLst>
          </a:prstGeom>
          <a:solidFill>
            <a:srgbClr val="F6F7F8"/>
          </a:solidFill>
          <a:ln w="12700">
            <a:solidFill>
              <a:srgbClr val="F6F7F8"/>
            </a:solidFill>
            <a:prstDash val="solid"/>
          </a:ln>
        </p:spPr>
      </p:sp>
      <p:sp>
        <p:nvSpPr>
          <p:cNvPr id="36" name="Text 33"/>
          <p:cNvSpPr txBox="1"/>
          <p:nvPr/>
        </p:nvSpPr>
        <p:spPr>
          <a:xfrm>
            <a:off x="731520" y="5440680"/>
            <a:ext cx="10698480" cy="777240"/>
          </a:xfrm>
          <a:prstGeom prst="rect">
            <a:avLst/>
          </a:prstGeom>
          <a:noFill/>
          <a:ln/>
        </p:spPr>
        <p:txBody>
          <a:bodyPr wrap="square" lIns="0" tIns="0" rIns="0" bIns="0" rtlCol="0" anchor="ctr"/>
          <a:lstStyle/>
          <a:p>
            <a:pPr indent="0" marL="0">
              <a:buNone/>
            </a:pPr>
            <a:r>
              <a:rPr lang="en-US" sz="1200" b="1" dirty="0">
                <a:solidFill>
                  <a:srgbClr val="0A0A0B"/>
                </a:solidFill>
              </a:rPr>
              <a:t>Also: </a:t>
            </a:r>
            <a:pPr indent="0" marL="0">
              <a:buNone/>
            </a:pPr>
            <a:r>
              <a:rPr lang="en-US" sz="1200" dirty="0">
                <a:solidFill>
                  <a:srgbClr val="0A0A0B"/>
                </a:solidFill>
              </a:rPr>
              <a:t>DETR, Sapiens2, SAM 2.1, MapAnything (auto-cut highlights) · Omnilingual ASR (voice notes) · Muse Image (posters, agent faces) · Muse Spark (fallback) · Muse Wonder and SAM 3.1 (checks). Of the 15, 12 run in the product and 3 are checks; all 15 in the appendix.</a:t>
            </a:r>
            <a:endParaRPr lang="en-US" sz="12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USE OF META AI · WHY EACH ONE</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Take one away, and this is what breaks</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2560320"/>
                <a:gridCol w="7040880"/>
                <a:gridCol w="1463040"/>
              </a:tblGrid>
              <a:tr h="566928">
                <a:tc>
                  <a:txBody>
                    <a:bodyPr/>
                    <a:lstStyle/>
                    <a:p>
                      <a:pPr indent="0" marL="0">
                        <a:buNone/>
                      </a:pPr>
                      <a:r>
                        <a:rPr lang="en-US" sz="1100" b="1" dirty="0">
                          <a:solidFill>
                            <a:srgbClr val="55555C"/>
                          </a:solidFill>
                          <a:latin typeface="Segoe UI" pitchFamily="34" charset="0"/>
                          <a:ea typeface="Segoe UI" pitchFamily="34" charset="-122"/>
                          <a:cs typeface="Segoe UI" pitchFamily="34" charset="-120"/>
                        </a:rPr>
                        <a:t>Without</a:t>
                      </a:r>
                      <a:endParaRPr lang="en-US" sz="11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b="1" dirty="0">
                          <a:solidFill>
                            <a:srgbClr val="55555C"/>
                          </a:solidFill>
                          <a:latin typeface="Segoe UI" pitchFamily="34" charset="0"/>
                          <a:ea typeface="Segoe UI" pitchFamily="34" charset="-122"/>
                          <a:cs typeface="Segoe UI" pitchFamily="34" charset="-120"/>
                        </a:rPr>
                        <a:t>What breaks</a:t>
                      </a:r>
                      <a:endParaRPr lang="en-US" sz="11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b="1" dirty="0">
                          <a:solidFill>
                            <a:srgbClr val="55555C"/>
                          </a:solidFill>
                          <a:latin typeface="Segoe UI" pitchFamily="34" charset="0"/>
                          <a:ea typeface="Segoe UI" pitchFamily="34" charset="-122"/>
                          <a:cs typeface="Segoe UI" pitchFamily="34" charset="-120"/>
                        </a:rPr>
                        <a:t>Evidence</a:t>
                      </a:r>
                      <a:endParaRPr lang="en-US" sz="11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A0A0B"/>
                          </a:solidFill>
                          <a:latin typeface="Segoe UI" pitchFamily="34" charset="0"/>
                          <a:ea typeface="Segoe UI" pitchFamily="34" charset="-122"/>
                          <a:cs typeface="Segoe UI" pitchFamily="34" charset="-120"/>
                        </a:rPr>
                        <a:t>Muse Glimmer</a:t>
                      </a:r>
                      <a:endParaRPr lang="en-US" sz="13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300" dirty="0">
                          <a:solidFill>
                            <a:srgbClr val="0A0A0B"/>
                          </a:solidFill>
                          <a:latin typeface="Segoe UI" pitchFamily="34" charset="0"/>
                          <a:ea typeface="Segoe UI" pitchFamily="34" charset="-122"/>
                          <a:cs typeface="Segoe UI" pitchFamily="34" charset="-120"/>
                        </a:rPr>
                        <a:t>No planner and no agent answers: the product does not run</a:t>
                      </a:r>
                      <a:endParaRPr lang="en-US" sz="13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300" dirty="0">
                          <a:solidFill>
                            <a:srgbClr val="0A0A0B"/>
                          </a:solidFill>
                          <a:latin typeface="Segoe UI" pitchFamily="34" charset="0"/>
                          <a:ea typeface="Segoe UI" pitchFamily="34" charset="-122"/>
                          <a:cs typeface="Segoe UI" pitchFamily="34" charset="-120"/>
                        </a:rPr>
                        <a:t>by design</a:t>
                      </a:r>
                      <a:endParaRPr lang="en-US" sz="13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r>
              <a:tr h="566928">
                <a:tc>
                  <a:txBody>
                    <a:bodyPr/>
                    <a:lstStyle/>
                    <a:p>
                      <a:pPr indent="0" marL="0">
                        <a:buNone/>
                      </a:pPr>
                      <a:r>
                        <a:rPr lang="en-US" sz="1300" dirty="0">
                          <a:solidFill>
                            <a:srgbClr val="0A0A0B"/>
                          </a:solidFill>
                          <a:latin typeface="Segoe UI" pitchFamily="34" charset="0"/>
                          <a:ea typeface="Segoe UI" pitchFamily="34" charset="-122"/>
                          <a:cs typeface="Segoe UI" pitchFamily="34" charset="-120"/>
                        </a:rPr>
                        <a:t>Llama 3.2 1B student</a:t>
                      </a:r>
                      <a:endParaRPr lang="en-US" sz="13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300" dirty="0">
                          <a:solidFill>
                            <a:srgbClr val="0A0A0B"/>
                          </a:solidFill>
                          <a:latin typeface="Segoe UI" pitchFamily="34" charset="0"/>
                          <a:ea typeface="Segoe UI" pitchFamily="34" charset="-122"/>
                          <a:cs typeface="Segoe UI" pitchFamily="34" charset="-120"/>
                        </a:rPr>
                        <a:t>Every member answer goes to Glimmer: about 40 s instead of 0.9 s, and 54–67% more Glimmer answers in simulated talks</a:t>
                      </a:r>
                      <a:endParaRPr lang="en-US" sz="13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300" dirty="0">
                          <a:solidFill>
                            <a:srgbClr val="0A0A0B"/>
                          </a:solidFill>
                          <a:latin typeface="Segoe UI" pitchFamily="34" charset="0"/>
                          <a:ea typeface="Segoe UI" pitchFamily="34" charset="-122"/>
                          <a:cs typeface="Segoe UI" pitchFamily="34" charset="-120"/>
                        </a:rPr>
                        <a:t>measured</a:t>
                      </a:r>
                      <a:endParaRPr lang="en-US" sz="13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r>
              <a:tr h="566928">
                <a:tc>
                  <a:txBody>
                    <a:bodyPr/>
                    <a:lstStyle/>
                    <a:p>
                      <a:pPr indent="0" marL="0">
                        <a:buNone/>
                      </a:pPr>
                      <a:r>
                        <a:rPr lang="en-US" sz="1300" dirty="0">
                          <a:solidFill>
                            <a:srgbClr val="0A0A0B"/>
                          </a:solidFill>
                          <a:latin typeface="Segoe UI" pitchFamily="34" charset="0"/>
                          <a:ea typeface="Segoe UI" pitchFamily="34" charset="-122"/>
                          <a:cs typeface="Segoe UI" pitchFamily="34" charset="-120"/>
                        </a:rPr>
                        <a:t>DRAMA</a:t>
                      </a:r>
                      <a:endParaRPr lang="en-US" sz="13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300" dirty="0">
                          <a:solidFill>
                            <a:srgbClr val="0A0A0B"/>
                          </a:solidFill>
                          <a:latin typeface="Segoe UI" pitchFamily="34" charset="0"/>
                          <a:ea typeface="Segoe UI" pitchFamily="34" charset="-122"/>
                          <a:cs typeface="Segoe UI" pitchFamily="34" charset="-120"/>
                        </a:rPr>
                        <a:t>The right note comes first 0.35 of the time instead of 0.60 (word matching instead; 20 questions)</a:t>
                      </a:r>
                      <a:endParaRPr lang="en-US" sz="13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300" dirty="0">
                          <a:solidFill>
                            <a:srgbClr val="0A0A0B"/>
                          </a:solidFill>
                          <a:latin typeface="Segoe UI" pitchFamily="34" charset="0"/>
                          <a:ea typeface="Segoe UI" pitchFamily="34" charset="-122"/>
                          <a:cs typeface="Segoe UI" pitchFamily="34" charset="-120"/>
                        </a:rPr>
                        <a:t>measured, small</a:t>
                      </a:r>
                      <a:endParaRPr lang="en-US" sz="13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r>
              <a:tr h="566928">
                <a:tc>
                  <a:txBody>
                    <a:bodyPr/>
                    <a:lstStyle/>
                    <a:p>
                      <a:pPr indent="0" marL="0">
                        <a:buNone/>
                      </a:pPr>
                      <a:r>
                        <a:rPr lang="en-US" sz="1300" dirty="0">
                          <a:solidFill>
                            <a:srgbClr val="0A0A0B"/>
                          </a:solidFill>
                          <a:latin typeface="Segoe UI" pitchFamily="34" charset="0"/>
                          <a:ea typeface="Segoe UI" pitchFamily="34" charset="-122"/>
                          <a:cs typeface="Segoe UI" pitchFamily="34" charset="-120"/>
                        </a:rPr>
                        <a:t>Llama Guard 3 1B</a:t>
                      </a:r>
                      <a:endParaRPr lang="en-US" sz="13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300" dirty="0">
                          <a:solidFill>
                            <a:srgbClr val="0A0A0B"/>
                          </a:solidFill>
                          <a:latin typeface="Segoe UI" pitchFamily="34" charset="0"/>
                          <a:ea typeface="Segoe UI" pitchFamily="34" charset="-122"/>
                          <a:cs typeface="Segoe UI" pitchFamily="34" charset="-120"/>
                        </a:rPr>
                        <a:t>Nothing reads every message in and out; code alone reads only plain words. With it: 37 of 42 unsafe refused, 1 of 74 harmless</a:t>
                      </a:r>
                      <a:endParaRPr lang="en-US" sz="13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300" dirty="0">
                          <a:solidFill>
                            <a:srgbClr val="0A0A0B"/>
                          </a:solidFill>
                          <a:latin typeface="Segoe UI" pitchFamily="34" charset="0"/>
                          <a:ea typeface="Segoe UI" pitchFamily="34" charset="-122"/>
                          <a:cs typeface="Segoe UI" pitchFamily="34" charset="-120"/>
                        </a:rPr>
                        <a:t>by design</a:t>
                      </a:r>
                      <a:endParaRPr lang="en-US" sz="13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r>
              <a:tr h="566928">
                <a:tc>
                  <a:txBody>
                    <a:bodyPr/>
                    <a:lstStyle/>
                    <a:p>
                      <a:pPr indent="0" marL="0">
                        <a:buNone/>
                      </a:pPr>
                      <a:r>
                        <a:rPr lang="en-US" sz="1300" dirty="0">
                          <a:solidFill>
                            <a:srgbClr val="0A0A0B"/>
                          </a:solidFill>
                          <a:latin typeface="Segoe UI" pitchFamily="34" charset="0"/>
                          <a:ea typeface="Segoe UI" pitchFamily="34" charset="-122"/>
                          <a:cs typeface="Segoe UI" pitchFamily="34" charset="-120"/>
                        </a:rPr>
                        <a:t>Prompt Guard 2</a:t>
                      </a:r>
                      <a:endParaRPr lang="en-US" sz="13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300" dirty="0">
                          <a:solidFill>
                            <a:srgbClr val="0A0A0B"/>
                          </a:solidFill>
                          <a:latin typeface="Segoe UI" pitchFamily="34" charset="0"/>
                          <a:ea typeface="Segoe UI" pitchFamily="34" charset="-122"/>
                          <a:cs typeface="Segoe UI" pitchFamily="34" charset="-120"/>
                        </a:rPr>
                        <a:t>Google reviews and members' ideas reach the models unscreened; poisoned reviews are among the 93 attacks</a:t>
                      </a:r>
                      <a:endParaRPr lang="en-US" sz="13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300" dirty="0">
                          <a:solidFill>
                            <a:srgbClr val="0A0A0B"/>
                          </a:solidFill>
                          <a:latin typeface="Segoe UI" pitchFamily="34" charset="0"/>
                          <a:ea typeface="Segoe UI" pitchFamily="34" charset="-122"/>
                          <a:cs typeface="Segoe UI" pitchFamily="34" charset="-120"/>
                        </a:rPr>
                        <a:t>by design</a:t>
                      </a:r>
                      <a:endParaRPr lang="en-US" sz="13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r>
              <a:tr h="566928">
                <a:tc>
                  <a:txBody>
                    <a:bodyPr/>
                    <a:lstStyle/>
                    <a:p>
                      <a:pPr indent="0" marL="0">
                        <a:buNone/>
                      </a:pPr>
                      <a:r>
                        <a:rPr lang="en-US" sz="1300" dirty="0">
                          <a:solidFill>
                            <a:srgbClr val="0A0A0B"/>
                          </a:solidFill>
                          <a:latin typeface="Segoe UI" pitchFamily="34" charset="0"/>
                          <a:ea typeface="Segoe UI" pitchFamily="34" charset="-122"/>
                          <a:cs typeface="Segoe UI" pitchFamily="34" charset="-120"/>
                        </a:rPr>
                        <a:t>Muse Voice Transcribe</a:t>
                      </a:r>
                      <a:endParaRPr lang="en-US" sz="13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300" dirty="0">
                          <a:solidFill>
                            <a:srgbClr val="0A0A0B"/>
                          </a:solidFill>
                          <a:latin typeface="Segoe UI" pitchFamily="34" charset="0"/>
                          <a:ea typeface="Segoe UI" pitchFamily="34" charset="-122"/>
                          <a:cs typeface="Segoe UI" pitchFamily="34" charset="-120"/>
                        </a:rPr>
                        <a:t>No talking hands-free and no cutting in while the agent speaks</a:t>
                      </a:r>
                      <a:endParaRPr lang="en-US" sz="13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300" dirty="0">
                          <a:solidFill>
                            <a:srgbClr val="0A0A0B"/>
                          </a:solidFill>
                          <a:latin typeface="Segoe UI" pitchFamily="34" charset="0"/>
                          <a:ea typeface="Segoe UI" pitchFamily="34" charset="-122"/>
                          <a:cs typeface="Segoe UI" pitchFamily="34" charset="-120"/>
                        </a:rPr>
                        <a:t>by design</a:t>
                      </a:r>
                      <a:endParaRPr lang="en-US" sz="1300" dirty="0">
                        <a:latin typeface="Segoe UI" charset="0"/>
                        <a:ea typeface="Segoe UI" charset="0"/>
                        <a:cs typeface="Segoe UI" charset="0"/>
                      </a:endParaRPr>
                    </a:p>
                  </a:txBody>
                  <a:tcPr marL="109728" marR="109728"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r>
            </a:tbl>
          </a:graphicData>
        </a:graphic>
      </p:graphicFrame>
      <p:sp>
        <p:nvSpPr>
          <p:cNvPr id="6" name="Text 2"/>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100" i="1" dirty="0">
                <a:solidFill>
                  <a:srgbClr val="55555C"/>
                </a:solidFill>
              </a:rPr>
              <a:t>"Measured": numbers from this entry's tests. "By design": what the code does without it.</a:t>
            </a:r>
            <a:endParaRPr lang="en-US" sz="11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TECHNICAL DEPTH · 20% · FINE-TUNING</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Muse Glimmer reasons a lot, so I trained a 1B student</a:t>
            </a:r>
            <a:endParaRPr lang="en-US" sz="3200" dirty="0"/>
          </a:p>
        </p:txBody>
      </p:sp>
      <p:sp>
        <p:nvSpPr>
          <p:cNvPr id="5" name="Text 2"/>
          <p:cNvSpPr txBox="1"/>
          <p:nvPr/>
        </p:nvSpPr>
        <p:spPr>
          <a:xfrm>
            <a:off x="548640" y="1645920"/>
            <a:ext cx="3840480" cy="228600"/>
          </a:xfrm>
          <a:prstGeom prst="rect">
            <a:avLst/>
          </a:prstGeom>
          <a:noFill/>
          <a:ln/>
        </p:spPr>
        <p:txBody>
          <a:bodyPr wrap="square" lIns="0" tIns="0" rIns="0" bIns="0" rtlCol="0" anchor="t"/>
          <a:lstStyle/>
          <a:p>
            <a:pPr indent="0" marL="0">
              <a:buNone/>
            </a:pPr>
            <a:r>
              <a:rPr lang="en-US" sz="1050" b="1" spc="100" kern="0" dirty="0">
                <a:solidFill>
                  <a:srgbClr val="D1352B"/>
                </a:solidFill>
              </a:rPr>
              <a:t>WHAT THE LEDGER SHOWED</a:t>
            </a:r>
            <a:endParaRPr lang="en-US" sz="1050" dirty="0"/>
          </a:p>
        </p:txBody>
      </p:sp>
      <p:sp>
        <p:nvSpPr>
          <p:cNvPr id="6" name="Shape 3"/>
          <p:cNvSpPr/>
          <p:nvPr/>
        </p:nvSpPr>
        <p:spPr>
          <a:xfrm>
            <a:off x="548640" y="1965960"/>
            <a:ext cx="3840480" cy="786384"/>
          </a:xfrm>
          <a:prstGeom prst="roundRect">
            <a:avLst>
              <a:gd name="adj" fmla="val 13953"/>
            </a:avLst>
          </a:prstGeom>
          <a:solidFill>
            <a:srgbClr val="FFFFFF"/>
          </a:solidFill>
          <a:ln w="12700">
            <a:solidFill>
              <a:srgbClr val="DCDCE0"/>
            </a:solidFill>
            <a:prstDash val="solid"/>
          </a:ln>
        </p:spPr>
      </p:sp>
      <p:sp>
        <p:nvSpPr>
          <p:cNvPr id="7" name="Text 4"/>
          <p:cNvSpPr txBox="1"/>
          <p:nvPr/>
        </p:nvSpPr>
        <p:spPr>
          <a:xfrm>
            <a:off x="731520" y="1965960"/>
            <a:ext cx="1463040" cy="786384"/>
          </a:xfrm>
          <a:prstGeom prst="rect">
            <a:avLst/>
          </a:prstGeom>
          <a:noFill/>
          <a:ln/>
        </p:spPr>
        <p:txBody>
          <a:bodyPr wrap="square" lIns="0" tIns="0" rIns="0" bIns="0" rtlCol="0" anchor="ctr"/>
          <a:lstStyle/>
          <a:p>
            <a:pPr indent="0" marL="0">
              <a:buNone/>
            </a:pPr>
            <a:r>
              <a:rPr lang="en-US" sz="2800" b="1" dirty="0">
                <a:solidFill>
                  <a:srgbClr val="0A0A0B"/>
                </a:solidFill>
              </a:rPr>
              <a:t>2,755</a:t>
            </a:r>
            <a:endParaRPr lang="en-US" sz="2800" dirty="0"/>
          </a:p>
        </p:txBody>
      </p:sp>
      <p:sp>
        <p:nvSpPr>
          <p:cNvPr id="8" name="Text 5"/>
          <p:cNvSpPr txBox="1"/>
          <p:nvPr/>
        </p:nvSpPr>
        <p:spPr>
          <a:xfrm>
            <a:off x="2148840" y="1965960"/>
            <a:ext cx="2148840" cy="786384"/>
          </a:xfrm>
          <a:prstGeom prst="rect">
            <a:avLst/>
          </a:prstGeom>
          <a:noFill/>
          <a:ln/>
        </p:spPr>
        <p:txBody>
          <a:bodyPr wrap="square" lIns="0" tIns="0" rIns="0" bIns="0" rtlCol="0" anchor="ctr"/>
          <a:lstStyle/>
          <a:p>
            <a:pPr indent="0" marL="0">
              <a:buNone/>
            </a:pPr>
            <a:r>
              <a:rPr lang="en-US" sz="1100" dirty="0">
                <a:solidFill>
                  <a:srgbClr val="0A0A0B"/>
                </a:solidFill>
              </a:rPr>
              <a:t>Muse Glimmer calls in the evaluations' ledgers</a:t>
            </a:r>
            <a:endParaRPr lang="en-US" sz="1100" dirty="0"/>
          </a:p>
        </p:txBody>
      </p:sp>
      <p:sp>
        <p:nvSpPr>
          <p:cNvPr id="9" name="Shape 6"/>
          <p:cNvSpPr/>
          <p:nvPr/>
        </p:nvSpPr>
        <p:spPr>
          <a:xfrm>
            <a:off x="548640" y="2862072"/>
            <a:ext cx="3840480" cy="786384"/>
          </a:xfrm>
          <a:prstGeom prst="roundRect">
            <a:avLst>
              <a:gd name="adj" fmla="val 13953"/>
            </a:avLst>
          </a:prstGeom>
          <a:solidFill>
            <a:srgbClr val="FFFFFF"/>
          </a:solidFill>
          <a:ln w="12700">
            <a:solidFill>
              <a:srgbClr val="DCDCE0"/>
            </a:solidFill>
            <a:prstDash val="solid"/>
          </a:ln>
        </p:spPr>
      </p:sp>
      <p:sp>
        <p:nvSpPr>
          <p:cNvPr id="10" name="Text 7"/>
          <p:cNvSpPr txBox="1"/>
          <p:nvPr/>
        </p:nvSpPr>
        <p:spPr>
          <a:xfrm>
            <a:off x="731520" y="2862072"/>
            <a:ext cx="1463040" cy="786384"/>
          </a:xfrm>
          <a:prstGeom prst="rect">
            <a:avLst/>
          </a:prstGeom>
          <a:noFill/>
          <a:ln/>
        </p:spPr>
        <p:txBody>
          <a:bodyPr wrap="square" lIns="0" tIns="0" rIns="0" bIns="0" rtlCol="0" anchor="ctr"/>
          <a:lstStyle/>
          <a:p>
            <a:pPr indent="0" marL="0">
              <a:buNone/>
            </a:pPr>
            <a:r>
              <a:rPr lang="en-US" sz="2800" b="1" dirty="0">
                <a:solidFill>
                  <a:srgbClr val="D1352B"/>
                </a:solidFill>
              </a:rPr>
              <a:t>84%</a:t>
            </a:r>
            <a:endParaRPr lang="en-US" sz="2800" dirty="0"/>
          </a:p>
        </p:txBody>
      </p:sp>
      <p:sp>
        <p:nvSpPr>
          <p:cNvPr id="11" name="Text 8"/>
          <p:cNvSpPr txBox="1"/>
          <p:nvPr/>
        </p:nvSpPr>
        <p:spPr>
          <a:xfrm>
            <a:off x="2148840" y="2862072"/>
            <a:ext cx="2148840" cy="786384"/>
          </a:xfrm>
          <a:prstGeom prst="rect">
            <a:avLst/>
          </a:prstGeom>
          <a:noFill/>
          <a:ln/>
        </p:spPr>
        <p:txBody>
          <a:bodyPr wrap="square" lIns="0" tIns="0" rIns="0" bIns="0" rtlCol="0" anchor="ctr"/>
          <a:lstStyle/>
          <a:p>
            <a:pPr indent="0" marL="0">
              <a:buNone/>
            </a:pPr>
            <a:r>
              <a:rPr lang="en-US" sz="1100" dirty="0">
                <a:solidFill>
                  <a:srgbClr val="0A0A0B"/>
                </a:solidFill>
              </a:rPr>
              <a:t>of its tokens were reasoning</a:t>
            </a:r>
            <a:endParaRPr lang="en-US" sz="1100" dirty="0"/>
          </a:p>
        </p:txBody>
      </p:sp>
      <p:sp>
        <p:nvSpPr>
          <p:cNvPr id="12" name="Shape 9"/>
          <p:cNvSpPr/>
          <p:nvPr/>
        </p:nvSpPr>
        <p:spPr>
          <a:xfrm>
            <a:off x="548640" y="3758184"/>
            <a:ext cx="3840480" cy="786384"/>
          </a:xfrm>
          <a:prstGeom prst="roundRect">
            <a:avLst>
              <a:gd name="adj" fmla="val 13953"/>
            </a:avLst>
          </a:prstGeom>
          <a:solidFill>
            <a:srgbClr val="FFFFFF"/>
          </a:solidFill>
          <a:ln w="12700">
            <a:solidFill>
              <a:srgbClr val="DCDCE0"/>
            </a:solidFill>
            <a:prstDash val="solid"/>
          </a:ln>
        </p:spPr>
      </p:sp>
      <p:sp>
        <p:nvSpPr>
          <p:cNvPr id="13" name="Text 10"/>
          <p:cNvSpPr txBox="1"/>
          <p:nvPr/>
        </p:nvSpPr>
        <p:spPr>
          <a:xfrm>
            <a:off x="731520" y="3758184"/>
            <a:ext cx="1463040" cy="786384"/>
          </a:xfrm>
          <a:prstGeom prst="rect">
            <a:avLst/>
          </a:prstGeom>
          <a:noFill/>
          <a:ln/>
        </p:spPr>
        <p:txBody>
          <a:bodyPr wrap="square" lIns="0" tIns="0" rIns="0" bIns="0" rtlCol="0" anchor="ctr"/>
          <a:lstStyle/>
          <a:p>
            <a:pPr indent="0" marL="0">
              <a:buNone/>
            </a:pPr>
            <a:r>
              <a:rPr lang="en-US" sz="2800" b="1" dirty="0">
                <a:solidFill>
                  <a:srgbClr val="D1352B"/>
                </a:solidFill>
              </a:rPr>
              <a:t>9%</a:t>
            </a:r>
            <a:endParaRPr lang="en-US" sz="2800" dirty="0"/>
          </a:p>
        </p:txBody>
      </p:sp>
      <p:sp>
        <p:nvSpPr>
          <p:cNvPr id="14" name="Text 11"/>
          <p:cNvSpPr txBox="1"/>
          <p:nvPr/>
        </p:nvSpPr>
        <p:spPr>
          <a:xfrm>
            <a:off x="2148840" y="3758184"/>
            <a:ext cx="2148840" cy="786384"/>
          </a:xfrm>
          <a:prstGeom prst="rect">
            <a:avLst/>
          </a:prstGeom>
          <a:noFill/>
          <a:ln/>
        </p:spPr>
        <p:txBody>
          <a:bodyPr wrap="square" lIns="0" tIns="0" rIns="0" bIns="0" rtlCol="0" anchor="ctr"/>
          <a:lstStyle/>
          <a:p>
            <a:pPr indent="0" marL="0">
              <a:buNone/>
            </a:pPr>
            <a:r>
              <a:rPr lang="en-US" sz="1100" dirty="0">
                <a:solidFill>
                  <a:srgbClr val="0A0A0B"/>
                </a:solidFill>
              </a:rPr>
              <a:t>came back empty: thinking off, it still reasoned in a hidden channel</a:t>
            </a:r>
            <a:endParaRPr lang="en-US" sz="1100" dirty="0"/>
          </a:p>
        </p:txBody>
      </p:sp>
      <p:sp>
        <p:nvSpPr>
          <p:cNvPr id="15" name="Shape 12"/>
          <p:cNvSpPr/>
          <p:nvPr/>
        </p:nvSpPr>
        <p:spPr>
          <a:xfrm>
            <a:off x="548640" y="4709160"/>
            <a:ext cx="3840480" cy="1463040"/>
          </a:xfrm>
          <a:prstGeom prst="roundRect">
            <a:avLst>
              <a:gd name="adj" fmla="val 7500"/>
            </a:avLst>
          </a:prstGeom>
          <a:solidFill>
            <a:srgbClr val="F6F7F8"/>
          </a:solidFill>
          <a:ln w="12700">
            <a:solidFill>
              <a:srgbClr val="F6F7F8"/>
            </a:solidFill>
            <a:prstDash val="solid"/>
          </a:ln>
        </p:spPr>
      </p:sp>
      <p:sp>
        <p:nvSpPr>
          <p:cNvPr id="16" name="Text 13"/>
          <p:cNvSpPr txBox="1"/>
          <p:nvPr/>
        </p:nvSpPr>
        <p:spPr>
          <a:xfrm>
            <a:off x="731520" y="4828032"/>
            <a:ext cx="3520440" cy="1280160"/>
          </a:xfrm>
          <a:prstGeom prst="rect">
            <a:avLst/>
          </a:prstGeom>
          <a:noFill/>
          <a:ln/>
        </p:spPr>
        <p:txBody>
          <a:bodyPr wrap="square" lIns="0" tIns="0" rIns="0" bIns="0" rtlCol="0" anchor="t"/>
          <a:lstStyle/>
          <a:p>
            <a:pPr indent="0" marL="0">
              <a:buNone/>
            </a:pPr>
            <a:r>
              <a:rPr lang="en-US" sz="1200" b="1" dirty="0">
                <a:solidFill>
                  <a:srgbClr val="0A0A0B"/>
                </a:solidFill>
              </a:rPr>
              <a:t>So every call asks for think: "low" and leaves room to reason. </a:t>
            </a:r>
            <a:pPr indent="0" marL="0">
              <a:buNone/>
            </a:pPr>
            <a:r>
              <a:rPr lang="en-US" sz="1200" dirty="0">
                <a:solidFill>
                  <a:srgbClr val="0A0A0B"/>
                </a:solidFill>
              </a:rPr>
              <a:t>And the most common choice, which time a member's agent picks, goes to a student that writes nothing.</a:t>
            </a:r>
            <a:endParaRPr lang="en-US" sz="1200" dirty="0"/>
          </a:p>
        </p:txBody>
      </p:sp>
      <p:sp>
        <p:nvSpPr>
          <p:cNvPr id="17" name="Shape 14"/>
          <p:cNvSpPr/>
          <p:nvPr/>
        </p:nvSpPr>
        <p:spPr>
          <a:xfrm>
            <a:off x="4480560" y="3291840"/>
            <a:ext cx="274320" cy="0"/>
          </a:xfrm>
          <a:prstGeom prst="line">
            <a:avLst/>
          </a:prstGeom>
          <a:noFill/>
          <a:ln w="31750">
            <a:solidFill>
              <a:srgbClr val="0A7F44"/>
            </a:solidFill>
            <a:prstDash val="solid"/>
            <a:tailEnd type="triangle"/>
          </a:ln>
        </p:spPr>
      </p:sp>
      <p:sp>
        <p:nvSpPr>
          <p:cNvPr id="18" name="Text 15"/>
          <p:cNvSpPr txBox="1"/>
          <p:nvPr/>
        </p:nvSpPr>
        <p:spPr>
          <a:xfrm>
            <a:off x="4892040" y="1645920"/>
            <a:ext cx="6675120" cy="228600"/>
          </a:xfrm>
          <a:prstGeom prst="rect">
            <a:avLst/>
          </a:prstGeom>
          <a:noFill/>
          <a:ln/>
        </p:spPr>
        <p:txBody>
          <a:bodyPr wrap="square" lIns="0" tIns="0" rIns="0" bIns="0" rtlCol="0" anchor="t"/>
          <a:lstStyle/>
          <a:p>
            <a:pPr indent="0" marL="0">
              <a:buNone/>
            </a:pPr>
            <a:r>
              <a:rPr lang="en-US" sz="1050" b="1" spc="100" kern="0" dirty="0">
                <a:solidFill>
                  <a:srgbClr val="0A7F44"/>
                </a:solidFill>
              </a:rPr>
              <a:t>THE STUDENT · META'S LLAMA 3.2 1B, FINE-TUNED</a:t>
            </a:r>
            <a:endParaRPr lang="en-US" sz="1050" dirty="0"/>
          </a:p>
        </p:txBody>
      </p:sp>
      <p:sp>
        <p:nvSpPr>
          <p:cNvPr id="19" name="Shape 16"/>
          <p:cNvSpPr/>
          <p:nvPr/>
        </p:nvSpPr>
        <p:spPr>
          <a:xfrm>
            <a:off x="4892040" y="1965960"/>
            <a:ext cx="3273552" cy="1645920"/>
          </a:xfrm>
          <a:prstGeom prst="roundRect">
            <a:avLst>
              <a:gd name="adj" fmla="val 6667"/>
            </a:avLst>
          </a:prstGeom>
          <a:solidFill>
            <a:srgbClr val="E9F3EC"/>
          </a:solidFill>
          <a:ln w="12700">
            <a:solidFill>
              <a:srgbClr val="E9F3EC"/>
            </a:solidFill>
            <a:prstDash val="solid"/>
          </a:ln>
        </p:spPr>
      </p:sp>
      <p:sp>
        <p:nvSpPr>
          <p:cNvPr id="20" name="Text 17"/>
          <p:cNvSpPr txBox="1"/>
          <p:nvPr/>
        </p:nvSpPr>
        <p:spPr>
          <a:xfrm>
            <a:off x="5056632" y="2103120"/>
            <a:ext cx="2971800" cy="320040"/>
          </a:xfrm>
          <a:prstGeom prst="rect">
            <a:avLst/>
          </a:prstGeom>
          <a:noFill/>
          <a:ln/>
        </p:spPr>
        <p:txBody>
          <a:bodyPr wrap="square" lIns="0" tIns="0" rIns="0" bIns="0" rtlCol="0" anchor="t"/>
          <a:lstStyle/>
          <a:p>
            <a:pPr indent="0" marL="0">
              <a:buNone/>
            </a:pPr>
            <a:r>
              <a:rPr lang="en-US" sz="1500" b="1" dirty="0">
                <a:solidFill>
                  <a:srgbClr val="0A0A0B"/>
                </a:solidFill>
              </a:rPr>
              <a:t>Teacher data</a:t>
            </a:r>
            <a:endParaRPr lang="en-US" sz="1500" dirty="0"/>
          </a:p>
        </p:txBody>
      </p:sp>
      <p:sp>
        <p:nvSpPr>
          <p:cNvPr id="21" name="Text 18"/>
          <p:cNvSpPr txBox="1"/>
          <p:nvPr/>
        </p:nvSpPr>
        <p:spPr>
          <a:xfrm>
            <a:off x="5056632" y="2514600"/>
            <a:ext cx="2971800" cy="960120"/>
          </a:xfrm>
          <a:prstGeom prst="rect">
            <a:avLst/>
          </a:prstGeom>
          <a:noFill/>
          <a:ln/>
        </p:spPr>
        <p:txBody>
          <a:bodyPr wrap="square" lIns="0" tIns="0" rIns="0" bIns="0" rtlCol="0" anchor="t"/>
          <a:lstStyle/>
          <a:p>
            <a:pPr indent="0" marL="0">
              <a:buNone/>
            </a:pPr>
            <a:r>
              <a:rPr lang="en-US" sz="1200" dirty="0">
                <a:solidFill>
                  <a:srgbClr val="0A0A0B"/>
                </a:solidFill>
              </a:rPr>
              <a:t>4,868 choices Glimmer made through the real agent call (a separate A100 run); LoRA, 3 epochs, 20 minutes</a:t>
            </a:r>
            <a:endParaRPr lang="en-US" sz="1200" dirty="0"/>
          </a:p>
        </p:txBody>
      </p:sp>
      <p:sp>
        <p:nvSpPr>
          <p:cNvPr id="22" name="Shape 19"/>
          <p:cNvSpPr/>
          <p:nvPr/>
        </p:nvSpPr>
        <p:spPr>
          <a:xfrm>
            <a:off x="8275320" y="1965960"/>
            <a:ext cx="3273552" cy="1645920"/>
          </a:xfrm>
          <a:prstGeom prst="roundRect">
            <a:avLst>
              <a:gd name="adj" fmla="val 6667"/>
            </a:avLst>
          </a:prstGeom>
          <a:solidFill>
            <a:srgbClr val="E9F3EC"/>
          </a:solidFill>
          <a:ln w="12700">
            <a:solidFill>
              <a:srgbClr val="E9F3EC"/>
            </a:solidFill>
            <a:prstDash val="solid"/>
          </a:ln>
        </p:spPr>
      </p:sp>
      <p:sp>
        <p:nvSpPr>
          <p:cNvPr id="23" name="Text 20"/>
          <p:cNvSpPr txBox="1"/>
          <p:nvPr/>
        </p:nvSpPr>
        <p:spPr>
          <a:xfrm>
            <a:off x="8439912" y="2103120"/>
            <a:ext cx="2971800" cy="320040"/>
          </a:xfrm>
          <a:prstGeom prst="rect">
            <a:avLst/>
          </a:prstGeom>
          <a:noFill/>
          <a:ln/>
        </p:spPr>
        <p:txBody>
          <a:bodyPr wrap="square" lIns="0" tIns="0" rIns="0" bIns="0" rtlCol="0" anchor="t"/>
          <a:lstStyle/>
          <a:p>
            <a:pPr indent="0" marL="0">
              <a:buNone/>
            </a:pPr>
            <a:r>
              <a:rPr lang="en-US" sz="1500" b="1" dirty="0">
                <a:solidFill>
                  <a:srgbClr val="0A0A0B"/>
                </a:solidFill>
              </a:rPr>
              <a:t>int4 on the CPU</a:t>
            </a:r>
            <a:endParaRPr lang="en-US" sz="1500" dirty="0"/>
          </a:p>
        </p:txBody>
      </p:sp>
      <p:sp>
        <p:nvSpPr>
          <p:cNvPr id="24" name="Text 21"/>
          <p:cNvSpPr txBox="1"/>
          <p:nvPr/>
        </p:nvSpPr>
        <p:spPr>
          <a:xfrm>
            <a:off x="8439912" y="2514600"/>
            <a:ext cx="2971800" cy="960120"/>
          </a:xfrm>
          <a:prstGeom prst="rect">
            <a:avLst/>
          </a:prstGeom>
          <a:noFill/>
          <a:ln/>
        </p:spPr>
        <p:txBody>
          <a:bodyPr wrap="square" lIns="0" tIns="0" rIns="0" bIns="0" rtlCol="0" anchor="t"/>
          <a:lstStyle/>
          <a:p>
            <a:pPr indent="0" marL="0">
              <a:buNone/>
            </a:pPr>
            <a:r>
              <a:rPr lang="en-US" sz="1200" dirty="0">
                <a:solidFill>
                  <a:srgbClr val="0A0A0B"/>
                </a:solidFill>
              </a:rPr>
              <a:t>0.8 GB; one pass gives a probability per option, about 0.9 s a decision, no text written</a:t>
            </a:r>
            <a:endParaRPr lang="en-US" sz="1200" dirty="0"/>
          </a:p>
        </p:txBody>
      </p:sp>
      <p:graphicFrame>
        <p:nvGraphicFramePr>
          <p:cNvPr id="25" name="Chart 0" descr=""/>
          <p:cNvGraphicFramePr/>
          <p:nvPr/>
        </p:nvGraphicFramePr>
        <p:xfrm>
          <a:off x="4846320" y="3840480"/>
          <a:ext cx="4206240" cy="2377440"/>
        </p:xfrm>
        <a:graphic xmlns:a="http://schemas.openxmlformats.org/drawingml/2006/main">
          <a:graphicData uri="http://schemas.openxmlformats.org/drawingml/2006/chart">
            <c:chart xmlns:c="http://schemas.openxmlformats.org/drawingml/2006/chart" r:id="rId1"/>
          </a:graphicData>
        </a:graphic>
      </p:graphicFrame>
      <p:sp>
        <p:nvSpPr>
          <p:cNvPr id="26" name="Shape 22"/>
          <p:cNvSpPr/>
          <p:nvPr/>
        </p:nvSpPr>
        <p:spPr>
          <a:xfrm>
            <a:off x="9235440" y="3931920"/>
            <a:ext cx="2377440" cy="1024128"/>
          </a:xfrm>
          <a:prstGeom prst="roundRect">
            <a:avLst>
              <a:gd name="adj" fmla="val 10714"/>
            </a:avLst>
          </a:prstGeom>
          <a:solidFill>
            <a:srgbClr val="E9F3EC"/>
          </a:solidFill>
          <a:ln w="12700">
            <a:solidFill>
              <a:srgbClr val="E9F3EC"/>
            </a:solidFill>
            <a:prstDash val="solid"/>
          </a:ln>
        </p:spPr>
      </p:sp>
      <p:sp>
        <p:nvSpPr>
          <p:cNvPr id="27" name="Text 23"/>
          <p:cNvSpPr txBox="1"/>
          <p:nvPr/>
        </p:nvSpPr>
        <p:spPr>
          <a:xfrm>
            <a:off x="9372600" y="3986784"/>
            <a:ext cx="2148840" cy="457200"/>
          </a:xfrm>
          <a:prstGeom prst="rect">
            <a:avLst/>
          </a:prstGeom>
          <a:noFill/>
          <a:ln/>
        </p:spPr>
        <p:txBody>
          <a:bodyPr wrap="square" lIns="0" tIns="0" rIns="0" bIns="0" rtlCol="0" anchor="t"/>
          <a:lstStyle/>
          <a:p>
            <a:pPr indent="0" marL="0">
              <a:buNone/>
            </a:pPr>
            <a:r>
              <a:rPr lang="en-US" sz="2200" b="1" dirty="0">
                <a:solidFill>
                  <a:srgbClr val="0A7F44"/>
                </a:solidFill>
              </a:rPr>
              <a:t>54–67%</a:t>
            </a:r>
            <a:endParaRPr lang="en-US" sz="2200" dirty="0"/>
          </a:p>
        </p:txBody>
      </p:sp>
      <p:sp>
        <p:nvSpPr>
          <p:cNvPr id="28" name="Text 24"/>
          <p:cNvSpPr txBox="1"/>
          <p:nvPr/>
        </p:nvSpPr>
        <p:spPr>
          <a:xfrm>
            <a:off x="9372600" y="4462272"/>
            <a:ext cx="2148840" cy="457200"/>
          </a:xfrm>
          <a:prstGeom prst="rect">
            <a:avLst/>
          </a:prstGeom>
          <a:noFill/>
          <a:ln/>
        </p:spPr>
        <p:txBody>
          <a:bodyPr wrap="square" lIns="0" tIns="0" rIns="0" bIns="0" rtlCol="0" anchor="t"/>
          <a:lstStyle/>
          <a:p>
            <a:pPr indent="0" marL="0">
              <a:buNone/>
            </a:pPr>
            <a:r>
              <a:rPr lang="en-US" sz="1000" dirty="0">
                <a:solidFill>
                  <a:srgbClr val="55555C"/>
                </a:solidFill>
              </a:rPr>
              <a:t>fewer Glimmer answers in simulated talks; on the 500 test cases the student answers 96%</a:t>
            </a:r>
            <a:endParaRPr lang="en-US" sz="1000" dirty="0"/>
          </a:p>
        </p:txBody>
      </p:sp>
      <p:sp>
        <p:nvSpPr>
          <p:cNvPr id="29" name="Shape 25"/>
          <p:cNvSpPr/>
          <p:nvPr/>
        </p:nvSpPr>
        <p:spPr>
          <a:xfrm>
            <a:off x="9235440" y="5074920"/>
            <a:ext cx="2377440" cy="1024128"/>
          </a:xfrm>
          <a:prstGeom prst="roundRect">
            <a:avLst>
              <a:gd name="adj" fmla="val 10714"/>
            </a:avLst>
          </a:prstGeom>
          <a:solidFill>
            <a:srgbClr val="F6F7F8"/>
          </a:solidFill>
          <a:ln w="12700">
            <a:solidFill>
              <a:srgbClr val="F6F7F8"/>
            </a:solidFill>
            <a:prstDash val="solid"/>
          </a:ln>
        </p:spPr>
      </p:sp>
      <p:sp>
        <p:nvSpPr>
          <p:cNvPr id="30" name="Text 26"/>
          <p:cNvSpPr txBox="1"/>
          <p:nvPr/>
        </p:nvSpPr>
        <p:spPr>
          <a:xfrm>
            <a:off x="9372600" y="5129784"/>
            <a:ext cx="2148840" cy="457200"/>
          </a:xfrm>
          <a:prstGeom prst="rect">
            <a:avLst/>
          </a:prstGeom>
          <a:noFill/>
          <a:ln/>
        </p:spPr>
        <p:txBody>
          <a:bodyPr wrap="square" lIns="0" tIns="0" rIns="0" bIns="0" rtlCol="0" anchor="t"/>
          <a:lstStyle/>
          <a:p>
            <a:pPr indent="0" marL="0">
              <a:buNone/>
            </a:pPr>
            <a:r>
              <a:rPr lang="en-US" sz="2200" b="1" dirty="0">
                <a:solidFill>
                  <a:srgbClr val="0A0A0B"/>
                </a:solidFill>
              </a:rPr>
              <a:t>29 / 32</a:t>
            </a:r>
            <a:endParaRPr lang="en-US" sz="2200" dirty="0"/>
          </a:p>
        </p:txBody>
      </p:sp>
      <p:sp>
        <p:nvSpPr>
          <p:cNvPr id="31" name="Text 27"/>
          <p:cNvSpPr txBox="1"/>
          <p:nvPr/>
        </p:nvSpPr>
        <p:spPr>
          <a:xfrm>
            <a:off x="9372600" y="5605272"/>
            <a:ext cx="2148840" cy="457200"/>
          </a:xfrm>
          <a:prstGeom prst="rect">
            <a:avLst/>
          </a:prstGeom>
          <a:noFill/>
          <a:ln/>
        </p:spPr>
        <p:txBody>
          <a:bodyPr wrap="square" lIns="0" tIns="0" rIns="0" bIns="0" rtlCol="0" anchor="t"/>
          <a:lstStyle/>
          <a:p>
            <a:pPr indent="0" marL="0">
              <a:buNone/>
            </a:pPr>
            <a:r>
              <a:rPr lang="en-US" sz="1000" dirty="0">
                <a:solidFill>
                  <a:srgbClr val="55555C"/>
                </a:solidFill>
              </a:rPr>
              <a:t>stated preferences kept (Glimmer 27)</a:t>
            </a:r>
            <a:endParaRPr lang="en-US" sz="10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TECHNICAL DEPTH · THE CASCADE</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When the student isn't sure, Muse Glimmer answers</a:t>
            </a:r>
            <a:endParaRPr lang="en-US" sz="3200" dirty="0"/>
          </a:p>
        </p:txBody>
      </p:sp>
      <p:sp>
        <p:nvSpPr>
          <p:cNvPr id="5" name="Shape 2"/>
          <p:cNvSpPr/>
          <p:nvPr/>
        </p:nvSpPr>
        <p:spPr>
          <a:xfrm>
            <a:off x="548640" y="1783080"/>
            <a:ext cx="1828800" cy="1143000"/>
          </a:xfrm>
          <a:prstGeom prst="roundRect">
            <a:avLst>
              <a:gd name="adj" fmla="val 9600"/>
            </a:avLst>
          </a:prstGeom>
          <a:solidFill>
            <a:srgbClr val="FFFFFF"/>
          </a:solidFill>
          <a:ln w="12700">
            <a:solidFill>
              <a:srgbClr val="DCDCE0"/>
            </a:solidFill>
            <a:prstDash val="solid"/>
          </a:ln>
        </p:spPr>
      </p:sp>
      <p:sp>
        <p:nvSpPr>
          <p:cNvPr id="6" name="Text 3"/>
          <p:cNvSpPr txBox="1"/>
          <p:nvPr/>
        </p:nvSpPr>
        <p:spPr>
          <a:xfrm>
            <a:off x="694944" y="1892808"/>
            <a:ext cx="1554480" cy="274320"/>
          </a:xfrm>
          <a:prstGeom prst="rect">
            <a:avLst/>
          </a:prstGeom>
          <a:noFill/>
          <a:ln/>
        </p:spPr>
        <p:txBody>
          <a:bodyPr wrap="square" lIns="0" tIns="0" rIns="0" bIns="0" rtlCol="0" anchor="t"/>
          <a:lstStyle/>
          <a:p>
            <a:pPr indent="0" marL="0">
              <a:buNone/>
            </a:pPr>
            <a:r>
              <a:rPr lang="en-US" sz="1350" b="1" dirty="0">
                <a:solidFill>
                  <a:srgbClr val="0A0A0B"/>
                </a:solidFill>
              </a:rPr>
              <a:t>Code first</a:t>
            </a:r>
            <a:endParaRPr lang="en-US" sz="1350" dirty="0"/>
          </a:p>
        </p:txBody>
      </p:sp>
      <p:sp>
        <p:nvSpPr>
          <p:cNvPr id="7" name="Text 4"/>
          <p:cNvSpPr txBox="1"/>
          <p:nvPr/>
        </p:nvSpPr>
        <p:spPr>
          <a:xfrm>
            <a:off x="694944" y="2185416"/>
            <a:ext cx="1554480" cy="685800"/>
          </a:xfrm>
          <a:prstGeom prst="rect">
            <a:avLst/>
          </a:prstGeom>
          <a:noFill/>
          <a:ln/>
        </p:spPr>
        <p:txBody>
          <a:bodyPr wrap="square" lIns="0" tIns="0" rIns="0" bIns="0" rtlCol="0" anchor="t"/>
          <a:lstStyle/>
          <a:p>
            <a:pPr indent="0" marL="0">
              <a:buNone/>
            </a:pPr>
            <a:r>
              <a:rPr lang="en-US" sz="1050" dirty="0">
                <a:solidFill>
                  <a:srgbClr val="55555C"/>
                </a:solidFill>
              </a:rPr>
              <a:t>Calendars and hard rules; one time left: answered, no model</a:t>
            </a:r>
            <a:endParaRPr lang="en-US" sz="1050" dirty="0"/>
          </a:p>
        </p:txBody>
      </p:sp>
      <p:sp>
        <p:nvSpPr>
          <p:cNvPr id="8" name="Shape 5"/>
          <p:cNvSpPr/>
          <p:nvPr/>
        </p:nvSpPr>
        <p:spPr>
          <a:xfrm>
            <a:off x="2395728" y="2350008"/>
            <a:ext cx="274320" cy="0"/>
          </a:xfrm>
          <a:prstGeom prst="line">
            <a:avLst/>
          </a:prstGeom>
          <a:noFill/>
          <a:ln w="22225">
            <a:solidFill>
              <a:srgbClr val="8A8A92"/>
            </a:solidFill>
            <a:prstDash val="solid"/>
            <a:tailEnd type="triangle"/>
          </a:ln>
        </p:spPr>
      </p:sp>
      <p:sp>
        <p:nvSpPr>
          <p:cNvPr id="9" name="Shape 6"/>
          <p:cNvSpPr/>
          <p:nvPr/>
        </p:nvSpPr>
        <p:spPr>
          <a:xfrm>
            <a:off x="2697480" y="1783080"/>
            <a:ext cx="2057400" cy="1143000"/>
          </a:xfrm>
          <a:prstGeom prst="roundRect">
            <a:avLst>
              <a:gd name="adj" fmla="val 9600"/>
            </a:avLst>
          </a:prstGeom>
          <a:solidFill>
            <a:srgbClr val="E9F3EC"/>
          </a:solidFill>
          <a:ln w="25400">
            <a:solidFill>
              <a:srgbClr val="0A7F44"/>
            </a:solidFill>
            <a:prstDash val="solid"/>
          </a:ln>
        </p:spPr>
      </p:sp>
      <p:sp>
        <p:nvSpPr>
          <p:cNvPr id="10" name="Text 7"/>
          <p:cNvSpPr txBox="1"/>
          <p:nvPr/>
        </p:nvSpPr>
        <p:spPr>
          <a:xfrm>
            <a:off x="2843784" y="1892808"/>
            <a:ext cx="1783080" cy="274320"/>
          </a:xfrm>
          <a:prstGeom prst="rect">
            <a:avLst/>
          </a:prstGeom>
          <a:noFill/>
          <a:ln/>
        </p:spPr>
        <p:txBody>
          <a:bodyPr wrap="square" lIns="0" tIns="0" rIns="0" bIns="0" rtlCol="0" anchor="t"/>
          <a:lstStyle/>
          <a:p>
            <a:pPr indent="0" marL="0">
              <a:buNone/>
            </a:pPr>
            <a:r>
              <a:rPr lang="en-US" sz="1350" b="1" dirty="0">
                <a:solidFill>
                  <a:srgbClr val="0A7F44"/>
                </a:solidFill>
              </a:rPr>
              <a:t>Llama 3.2 1B student</a:t>
            </a:r>
            <a:endParaRPr lang="en-US" sz="1350" dirty="0"/>
          </a:p>
        </p:txBody>
      </p:sp>
      <p:sp>
        <p:nvSpPr>
          <p:cNvPr id="11" name="Text 8"/>
          <p:cNvSpPr txBox="1"/>
          <p:nvPr/>
        </p:nvSpPr>
        <p:spPr>
          <a:xfrm>
            <a:off x="2843784" y="2185416"/>
            <a:ext cx="1783080" cy="685800"/>
          </a:xfrm>
          <a:prstGeom prst="rect">
            <a:avLst/>
          </a:prstGeom>
          <a:noFill/>
          <a:ln/>
        </p:spPr>
        <p:txBody>
          <a:bodyPr wrap="square" lIns="0" tIns="0" rIns="0" bIns="0" rtlCol="0" anchor="t"/>
          <a:lstStyle/>
          <a:p>
            <a:pPr indent="0" marL="0">
              <a:buNone/>
            </a:pPr>
            <a:r>
              <a:rPr lang="en-US" sz="1050" dirty="0">
                <a:solidFill>
                  <a:srgbClr val="55555C"/>
                </a:solidFill>
              </a:rPr>
              <a:t>int4 on the CPU, about 0.9 s, no text written</a:t>
            </a:r>
            <a:endParaRPr lang="en-US" sz="1050" dirty="0"/>
          </a:p>
        </p:txBody>
      </p:sp>
      <p:sp>
        <p:nvSpPr>
          <p:cNvPr id="12" name="Shape 9"/>
          <p:cNvSpPr/>
          <p:nvPr/>
        </p:nvSpPr>
        <p:spPr>
          <a:xfrm>
            <a:off x="4773168" y="2350008"/>
            <a:ext cx="274320" cy="0"/>
          </a:xfrm>
          <a:prstGeom prst="line">
            <a:avLst/>
          </a:prstGeom>
          <a:noFill/>
          <a:ln w="22225">
            <a:solidFill>
              <a:srgbClr val="8A8A92"/>
            </a:solidFill>
            <a:prstDash val="solid"/>
            <a:tailEnd type="triangle"/>
          </a:ln>
        </p:spPr>
      </p:sp>
      <p:sp>
        <p:nvSpPr>
          <p:cNvPr id="13" name="Shape 10"/>
          <p:cNvSpPr/>
          <p:nvPr/>
        </p:nvSpPr>
        <p:spPr>
          <a:xfrm>
            <a:off x="5074920" y="1600200"/>
            <a:ext cx="2240280" cy="1508760"/>
          </a:xfrm>
          <a:prstGeom prst="roundRect">
            <a:avLst>
              <a:gd name="adj" fmla="val 7273"/>
            </a:avLst>
          </a:prstGeom>
          <a:solidFill>
            <a:srgbClr val="FBF3E6"/>
          </a:solidFill>
          <a:ln w="12700">
            <a:solidFill>
              <a:srgbClr val="FBF3E6"/>
            </a:solidFill>
            <a:prstDash val="solid"/>
          </a:ln>
        </p:spPr>
      </p:sp>
      <p:sp>
        <p:nvSpPr>
          <p:cNvPr id="14" name="Text 11"/>
          <p:cNvSpPr txBox="1"/>
          <p:nvPr/>
        </p:nvSpPr>
        <p:spPr>
          <a:xfrm>
            <a:off x="5221224" y="1691640"/>
            <a:ext cx="2011680" cy="274320"/>
          </a:xfrm>
          <a:prstGeom prst="rect">
            <a:avLst/>
          </a:prstGeom>
          <a:noFill/>
          <a:ln/>
        </p:spPr>
        <p:txBody>
          <a:bodyPr wrap="square" lIns="0" tIns="0" rIns="0" bIns="0" rtlCol="0" anchor="t"/>
          <a:lstStyle/>
          <a:p>
            <a:pPr indent="0" marL="0">
              <a:buNone/>
            </a:pPr>
            <a:r>
              <a:rPr lang="en-US" sz="1300" b="1" dirty="0">
                <a:solidFill>
                  <a:srgbClr val="B26A00"/>
                </a:solidFill>
              </a:rPr>
              <a:t>Answers only if</a:t>
            </a:r>
            <a:endParaRPr lang="en-US" sz="1300" dirty="0"/>
          </a:p>
        </p:txBody>
      </p:sp>
      <p:sp>
        <p:nvSpPr>
          <p:cNvPr id="15" name="Text 12"/>
          <p:cNvSpPr txBox="1"/>
          <p:nvPr/>
        </p:nvSpPr>
        <p:spPr>
          <a:xfrm>
            <a:off x="5221224" y="1984248"/>
            <a:ext cx="2011680" cy="1097280"/>
          </a:xfrm>
          <a:prstGeom prst="rect">
            <a:avLst/>
          </a:prstGeom>
          <a:noFill/>
          <a:ln/>
        </p:spPr>
        <p:txBody>
          <a:bodyPr wrap="square" lIns="0" tIns="0" rIns="0" bIns="0" rtlCol="0" anchor="t"/>
          <a:lstStyle/>
          <a:p>
            <a:pPr marL="152400" indent="-152400">
              <a:buSzPct val="100000"/>
              <a:buChar char="•"/>
            </a:pPr>
            <a:r>
              <a:rPr lang="en-US" sz="1050" dirty="0">
                <a:solidFill>
                  <a:srgbClr val="0A0A0B"/>
                </a:solidFill>
              </a:rPr>
              <a:t>sure: 0.6 or more</a:t>
            </a:r>
            <a:endParaRPr lang="en-US" sz="1050" dirty="0"/>
          </a:p>
          <a:p>
            <a:pPr marL="152400" indent="-152400">
              <a:buSzPct val="100000"/>
              <a:buChar char="•"/>
            </a:pPr>
            <a:r>
              <a:rPr lang="en-US" sz="1050" dirty="0">
                <a:solidFill>
                  <a:srgbClr val="0A0A0B"/>
                </a:solidFill>
              </a:rPr>
              <a:t>its reading of which times work matches code's</a:t>
            </a:r>
            <a:endParaRPr lang="en-US" sz="1050" dirty="0"/>
          </a:p>
          <a:p>
            <a:pPr marL="152400" indent="-152400">
              <a:buSzPct val="100000"/>
              <a:buChar char="•"/>
            </a:pPr>
            <a:r>
              <a:rPr lang="en-US" sz="1050" dirty="0">
                <a:solidFill>
                  <a:srgbClr val="0A0A0B"/>
                </a:solidFill>
              </a:rPr>
              <a:t>the student is free within 8 s and answers within 20 s</a:t>
            </a:r>
            <a:endParaRPr lang="en-US" sz="1050" dirty="0"/>
          </a:p>
        </p:txBody>
      </p:sp>
      <p:sp>
        <p:nvSpPr>
          <p:cNvPr id="16" name="Shape 13"/>
          <p:cNvSpPr/>
          <p:nvPr/>
        </p:nvSpPr>
        <p:spPr>
          <a:xfrm>
            <a:off x="6190488" y="3127248"/>
            <a:ext cx="0" cy="411480"/>
          </a:xfrm>
          <a:prstGeom prst="line">
            <a:avLst/>
          </a:prstGeom>
          <a:noFill/>
          <a:ln w="22225">
            <a:solidFill>
              <a:srgbClr val="0A7F44"/>
            </a:solidFill>
            <a:prstDash val="solid"/>
            <a:tailEnd type="triangle"/>
          </a:ln>
        </p:spPr>
      </p:sp>
      <p:sp>
        <p:nvSpPr>
          <p:cNvPr id="17" name="Text 14"/>
          <p:cNvSpPr txBox="1"/>
          <p:nvPr/>
        </p:nvSpPr>
        <p:spPr>
          <a:xfrm>
            <a:off x="6263640" y="3172968"/>
            <a:ext cx="457200" cy="274320"/>
          </a:xfrm>
          <a:prstGeom prst="rect">
            <a:avLst/>
          </a:prstGeom>
          <a:noFill/>
          <a:ln/>
        </p:spPr>
        <p:txBody>
          <a:bodyPr wrap="square" lIns="0" tIns="0" rIns="0" bIns="0" rtlCol="0" anchor="t"/>
          <a:lstStyle/>
          <a:p>
            <a:pPr indent="0" marL="0">
              <a:buNone/>
            </a:pPr>
            <a:r>
              <a:rPr lang="en-US" sz="1050" b="1" dirty="0">
                <a:solidFill>
                  <a:srgbClr val="0A7F44"/>
                </a:solidFill>
              </a:rPr>
              <a:t>yes</a:t>
            </a:r>
            <a:endParaRPr lang="en-US" sz="1050" dirty="0"/>
          </a:p>
        </p:txBody>
      </p:sp>
      <p:sp>
        <p:nvSpPr>
          <p:cNvPr id="18" name="Shape 15"/>
          <p:cNvSpPr/>
          <p:nvPr/>
        </p:nvSpPr>
        <p:spPr>
          <a:xfrm>
            <a:off x="5074920" y="3566160"/>
            <a:ext cx="2240280" cy="960120"/>
          </a:xfrm>
          <a:prstGeom prst="roundRect">
            <a:avLst>
              <a:gd name="adj" fmla="val 11429"/>
            </a:avLst>
          </a:prstGeom>
          <a:solidFill>
            <a:srgbClr val="E9F3EC"/>
          </a:solidFill>
          <a:ln w="12700">
            <a:solidFill>
              <a:srgbClr val="E9F3EC"/>
            </a:solidFill>
            <a:prstDash val="solid"/>
          </a:ln>
        </p:spPr>
      </p:sp>
      <p:sp>
        <p:nvSpPr>
          <p:cNvPr id="19" name="Text 16"/>
          <p:cNvSpPr txBox="1"/>
          <p:nvPr/>
        </p:nvSpPr>
        <p:spPr>
          <a:xfrm>
            <a:off x="5221224" y="3675888"/>
            <a:ext cx="1965960" cy="274320"/>
          </a:xfrm>
          <a:prstGeom prst="rect">
            <a:avLst/>
          </a:prstGeom>
          <a:noFill/>
          <a:ln/>
        </p:spPr>
        <p:txBody>
          <a:bodyPr wrap="square" lIns="0" tIns="0" rIns="0" bIns="0" rtlCol="0" anchor="t"/>
          <a:lstStyle/>
          <a:p>
            <a:pPr indent="0" marL="0">
              <a:buNone/>
            </a:pPr>
            <a:r>
              <a:rPr lang="en-US" sz="1350" b="1" dirty="0">
                <a:solidFill>
                  <a:srgbClr val="0A7F44"/>
                </a:solidFill>
              </a:rPr>
              <a:t>The student answers</a:t>
            </a:r>
            <a:endParaRPr lang="en-US" sz="1350" dirty="0"/>
          </a:p>
        </p:txBody>
      </p:sp>
      <p:sp>
        <p:nvSpPr>
          <p:cNvPr id="20" name="Text 17"/>
          <p:cNvSpPr txBox="1"/>
          <p:nvPr/>
        </p:nvSpPr>
        <p:spPr>
          <a:xfrm>
            <a:off x="5221224" y="3968496"/>
            <a:ext cx="1965960" cy="502920"/>
          </a:xfrm>
          <a:prstGeom prst="rect">
            <a:avLst/>
          </a:prstGeom>
          <a:noFill/>
          <a:ln/>
        </p:spPr>
        <p:txBody>
          <a:bodyPr wrap="square" lIns="0" tIns="0" rIns="0" bIns="0" rtlCol="0" anchor="t"/>
          <a:lstStyle/>
          <a:p>
            <a:pPr indent="0" marL="0">
              <a:buNone/>
            </a:pPr>
            <a:r>
              <a:rPr lang="en-US" sz="1050" dirty="0">
                <a:solidFill>
                  <a:srgbClr val="55555C"/>
                </a:solidFill>
              </a:rPr>
              <a:t>about 0.9 s on the CPU, a Glimmer call saved</a:t>
            </a:r>
            <a:endParaRPr lang="en-US" sz="1050" dirty="0"/>
          </a:p>
        </p:txBody>
      </p:sp>
      <p:sp>
        <p:nvSpPr>
          <p:cNvPr id="21" name="Shape 18"/>
          <p:cNvSpPr/>
          <p:nvPr/>
        </p:nvSpPr>
        <p:spPr>
          <a:xfrm flipH="1">
            <a:off x="3264408" y="2697480"/>
            <a:ext cx="1792224" cy="850392"/>
          </a:xfrm>
          <a:prstGeom prst="line">
            <a:avLst/>
          </a:prstGeom>
          <a:noFill/>
          <a:ln w="22225">
            <a:solidFill>
              <a:srgbClr val="0064E0"/>
            </a:solidFill>
            <a:prstDash val="solid"/>
            <a:tailEnd type="triangle"/>
          </a:ln>
        </p:spPr>
      </p:sp>
      <p:sp>
        <p:nvSpPr>
          <p:cNvPr id="22" name="Text 19"/>
          <p:cNvSpPr txBox="1"/>
          <p:nvPr/>
        </p:nvSpPr>
        <p:spPr>
          <a:xfrm>
            <a:off x="3703320" y="3017520"/>
            <a:ext cx="457200" cy="274320"/>
          </a:xfrm>
          <a:prstGeom prst="rect">
            <a:avLst/>
          </a:prstGeom>
          <a:noFill/>
          <a:ln/>
        </p:spPr>
        <p:txBody>
          <a:bodyPr wrap="square" lIns="0" tIns="0" rIns="0" bIns="0" rtlCol="0" anchor="t"/>
          <a:lstStyle/>
          <a:p>
            <a:pPr indent="0" marL="0">
              <a:buNone/>
            </a:pPr>
            <a:r>
              <a:rPr lang="en-US" sz="1050" b="1" dirty="0">
                <a:solidFill>
                  <a:srgbClr val="0064E0"/>
                </a:solidFill>
              </a:rPr>
              <a:t>no</a:t>
            </a:r>
            <a:endParaRPr lang="en-US" sz="1050" dirty="0"/>
          </a:p>
        </p:txBody>
      </p:sp>
      <p:sp>
        <p:nvSpPr>
          <p:cNvPr id="23" name="Shape 20"/>
          <p:cNvSpPr/>
          <p:nvPr/>
        </p:nvSpPr>
        <p:spPr>
          <a:xfrm>
            <a:off x="1920240" y="3566160"/>
            <a:ext cx="2697480" cy="960120"/>
          </a:xfrm>
          <a:prstGeom prst="roundRect">
            <a:avLst>
              <a:gd name="adj" fmla="val 11429"/>
            </a:avLst>
          </a:prstGeom>
          <a:solidFill>
            <a:srgbClr val="E8F1FD"/>
          </a:solidFill>
          <a:ln w="25400">
            <a:solidFill>
              <a:srgbClr val="0064E0"/>
            </a:solidFill>
            <a:prstDash val="solid"/>
          </a:ln>
        </p:spPr>
      </p:sp>
      <p:sp>
        <p:nvSpPr>
          <p:cNvPr id="24" name="Text 21"/>
          <p:cNvSpPr txBox="1"/>
          <p:nvPr/>
        </p:nvSpPr>
        <p:spPr>
          <a:xfrm>
            <a:off x="2066544" y="3675888"/>
            <a:ext cx="2423160" cy="274320"/>
          </a:xfrm>
          <a:prstGeom prst="rect">
            <a:avLst/>
          </a:prstGeom>
          <a:noFill/>
          <a:ln/>
        </p:spPr>
        <p:txBody>
          <a:bodyPr wrap="square" lIns="0" tIns="0" rIns="0" bIns="0" rtlCol="0" anchor="t"/>
          <a:lstStyle/>
          <a:p>
            <a:pPr indent="0" marL="0">
              <a:buNone/>
            </a:pPr>
            <a:r>
              <a:rPr lang="en-US" sz="1350" b="1" dirty="0">
                <a:solidFill>
                  <a:srgbClr val="0064E0"/>
                </a:solidFill>
              </a:rPr>
              <a:t>Muse Glimmer reasons</a:t>
            </a:r>
            <a:endParaRPr lang="en-US" sz="1350" dirty="0"/>
          </a:p>
        </p:txBody>
      </p:sp>
      <p:sp>
        <p:nvSpPr>
          <p:cNvPr id="25" name="Text 22"/>
          <p:cNvSpPr txBox="1"/>
          <p:nvPr/>
        </p:nvSpPr>
        <p:spPr>
          <a:xfrm>
            <a:off x="2066544" y="3968496"/>
            <a:ext cx="2423160" cy="502920"/>
          </a:xfrm>
          <a:prstGeom prst="rect">
            <a:avLst/>
          </a:prstGeom>
          <a:noFill/>
          <a:ln/>
        </p:spPr>
        <p:txBody>
          <a:bodyPr wrap="square" lIns="0" tIns="0" rIns="0" bIns="0" rtlCol="0" anchor="t"/>
          <a:lstStyle/>
          <a:p>
            <a:pPr indent="0" marL="0">
              <a:buNone/>
            </a:pPr>
            <a:r>
              <a:rPr lang="en-US" sz="1050" dirty="0">
                <a:solidFill>
                  <a:srgbClr val="55555C"/>
                </a:solidFill>
              </a:rPr>
              <a:t>the full answer: about 600 tokens, 40 s at p50</a:t>
            </a:r>
            <a:endParaRPr lang="en-US" sz="1050" dirty="0"/>
          </a:p>
        </p:txBody>
      </p:sp>
      <p:sp>
        <p:nvSpPr>
          <p:cNvPr id="26" name="Shape 23"/>
          <p:cNvSpPr/>
          <p:nvPr/>
        </p:nvSpPr>
        <p:spPr>
          <a:xfrm>
            <a:off x="3264408" y="4544568"/>
            <a:ext cx="0" cy="320040"/>
          </a:xfrm>
          <a:prstGeom prst="line">
            <a:avLst/>
          </a:prstGeom>
          <a:noFill/>
          <a:ln w="22225">
            <a:solidFill>
              <a:srgbClr val="8A8A92"/>
            </a:solidFill>
            <a:prstDash val="solid"/>
            <a:tailEnd type="triangle"/>
          </a:ln>
        </p:spPr>
      </p:sp>
      <p:sp>
        <p:nvSpPr>
          <p:cNvPr id="27" name="Shape 24"/>
          <p:cNvSpPr/>
          <p:nvPr/>
        </p:nvSpPr>
        <p:spPr>
          <a:xfrm>
            <a:off x="6190488" y="4544568"/>
            <a:ext cx="0" cy="320040"/>
          </a:xfrm>
          <a:prstGeom prst="line">
            <a:avLst/>
          </a:prstGeom>
          <a:noFill/>
          <a:ln w="22225">
            <a:solidFill>
              <a:srgbClr val="8A8A92"/>
            </a:solidFill>
            <a:prstDash val="solid"/>
            <a:tailEnd type="triangle"/>
          </a:ln>
        </p:spPr>
      </p:sp>
      <p:sp>
        <p:nvSpPr>
          <p:cNvPr id="28" name="Shape 25"/>
          <p:cNvSpPr/>
          <p:nvPr/>
        </p:nvSpPr>
        <p:spPr>
          <a:xfrm>
            <a:off x="548640" y="4892040"/>
            <a:ext cx="6766560" cy="1280160"/>
          </a:xfrm>
          <a:prstGeom prst="roundRect">
            <a:avLst>
              <a:gd name="adj" fmla="val 8571"/>
            </a:avLst>
          </a:prstGeom>
          <a:solidFill>
            <a:srgbClr val="F6F7F8"/>
          </a:solidFill>
          <a:ln w="12700">
            <a:solidFill>
              <a:srgbClr val="F6F7F8"/>
            </a:solidFill>
            <a:prstDash val="solid"/>
          </a:ln>
        </p:spPr>
      </p:sp>
      <p:sp>
        <p:nvSpPr>
          <p:cNvPr id="29" name="Text 26"/>
          <p:cNvSpPr txBox="1"/>
          <p:nvPr/>
        </p:nvSpPr>
        <p:spPr>
          <a:xfrm>
            <a:off x="731520" y="5001768"/>
            <a:ext cx="6400800" cy="274320"/>
          </a:xfrm>
          <a:prstGeom prst="rect">
            <a:avLst/>
          </a:prstGeom>
          <a:noFill/>
          <a:ln/>
        </p:spPr>
        <p:txBody>
          <a:bodyPr wrap="square" lIns="0" tIns="0" rIns="0" bIns="0" rtlCol="0" anchor="t"/>
          <a:lstStyle/>
          <a:p>
            <a:pPr indent="0" marL="0">
              <a:buNone/>
            </a:pPr>
            <a:r>
              <a:rPr lang="en-US" sz="1350" b="1" dirty="0">
                <a:solidFill>
                  <a:srgbClr val="0A0A0B"/>
                </a:solidFill>
              </a:rPr>
              <a:t>Checked by code, then sent over A2A</a:t>
            </a:r>
            <a:endParaRPr lang="en-US" sz="1350" dirty="0"/>
          </a:p>
        </p:txBody>
      </p:sp>
      <p:sp>
        <p:nvSpPr>
          <p:cNvPr id="30" name="Text 27"/>
          <p:cNvSpPr txBox="1"/>
          <p:nvPr/>
        </p:nvSpPr>
        <p:spPr>
          <a:xfrm>
            <a:off x="731520" y="5303520"/>
            <a:ext cx="6400800" cy="822960"/>
          </a:xfrm>
          <a:prstGeom prst="rect">
            <a:avLst/>
          </a:prstGeom>
          <a:noFill/>
          <a:ln/>
        </p:spPr>
        <p:txBody>
          <a:bodyPr wrap="square" lIns="0" tIns="0" rIns="0" bIns="0" rtlCol="0" anchor="t"/>
          <a:lstStyle/>
          <a:p>
            <a:pPr indent="0" marL="0">
              <a:buNone/>
            </a:pPr>
            <a:r>
              <a:rPr lang="en-US" sz="1100" dirty="0">
                <a:solidFill>
                  <a:srgbClr val="55555C"/>
                </a:solidFill>
              </a:rPr>
              <a:t>Whoever answered, code checks the member's hard rules again before the decision goes to the other agent, labelled with the tier that made it. Agent chats shows it under every message. The week planned in the video took 78 s (13 Glimmer calls), in the background.</a:t>
            </a:r>
            <a:endParaRPr lang="en-US" sz="1100" dirty="0"/>
          </a:p>
        </p:txBody>
      </p:sp>
      <p:graphicFrame>
        <p:nvGraphicFramePr>
          <p:cNvPr id="31" name="Chart 0" descr=""/>
          <p:cNvGraphicFramePr/>
          <p:nvPr/>
        </p:nvGraphicFramePr>
        <p:xfrm>
          <a:off x="7589520" y="1600200"/>
          <a:ext cx="4069080" cy="3291840"/>
        </p:xfrm>
        <a:graphic xmlns:a="http://schemas.openxmlformats.org/drawingml/2006/main">
          <a:graphicData uri="http://schemas.openxmlformats.org/drawingml/2006/chart">
            <c:chart xmlns:c="http://schemas.openxmlformats.org/drawingml/2006/chart" r:id="rId1"/>
          </a:graphicData>
        </a:graphic>
      </p:graphicFrame>
      <p:sp>
        <p:nvSpPr>
          <p:cNvPr id="32" name="Shape 28"/>
          <p:cNvSpPr/>
          <p:nvPr/>
        </p:nvSpPr>
        <p:spPr>
          <a:xfrm>
            <a:off x="7589520" y="5029200"/>
            <a:ext cx="4069080" cy="1143000"/>
          </a:xfrm>
          <a:prstGeom prst="roundRect">
            <a:avLst>
              <a:gd name="adj" fmla="val 9600"/>
            </a:avLst>
          </a:prstGeom>
          <a:solidFill>
            <a:srgbClr val="E9F3EC"/>
          </a:solidFill>
          <a:ln w="12700">
            <a:solidFill>
              <a:srgbClr val="E9F3EC"/>
            </a:solidFill>
            <a:prstDash val="solid"/>
          </a:ln>
        </p:spPr>
      </p:sp>
      <p:sp>
        <p:nvSpPr>
          <p:cNvPr id="33" name="Text 29"/>
          <p:cNvSpPr txBox="1"/>
          <p:nvPr/>
        </p:nvSpPr>
        <p:spPr>
          <a:xfrm>
            <a:off x="7772400" y="5120640"/>
            <a:ext cx="3749040" cy="274320"/>
          </a:xfrm>
          <a:prstGeom prst="rect">
            <a:avLst/>
          </a:prstGeom>
          <a:noFill/>
          <a:ln/>
        </p:spPr>
        <p:txBody>
          <a:bodyPr wrap="square" lIns="0" tIns="0" rIns="0" bIns="0" rtlCol="0" anchor="t"/>
          <a:lstStyle/>
          <a:p>
            <a:pPr indent="0" marL="0">
              <a:buNone/>
            </a:pPr>
            <a:r>
              <a:rPr lang="en-US" sz="1350" b="1" dirty="0">
                <a:solidFill>
                  <a:srgbClr val="0A7F44"/>
                </a:solidFill>
              </a:rPr>
              <a:t>Served at 0.6</a:t>
            </a:r>
            <a:endParaRPr lang="en-US" sz="1350" dirty="0"/>
          </a:p>
        </p:txBody>
      </p:sp>
      <p:sp>
        <p:nvSpPr>
          <p:cNvPr id="34" name="Text 30"/>
          <p:cNvSpPr txBox="1"/>
          <p:nvPr/>
        </p:nvSpPr>
        <p:spPr>
          <a:xfrm>
            <a:off x="7772400" y="5413248"/>
            <a:ext cx="3749040" cy="731520"/>
          </a:xfrm>
          <a:prstGeom prst="rect">
            <a:avLst/>
          </a:prstGeom>
          <a:noFill/>
          <a:ln/>
        </p:spPr>
        <p:txBody>
          <a:bodyPr wrap="square" lIns="0" tIns="0" rIns="0" bIns="0" rtlCol="0" anchor="t"/>
          <a:lstStyle/>
          <a:p>
            <a:pPr indent="0" marL="0">
              <a:buNone/>
            </a:pPr>
            <a:r>
              <a:rPr lang="en-US" sz="1050" dirty="0">
                <a:solidFill>
                  <a:srgbClr val="55555C"/>
                </a:solidFill>
              </a:rPr>
              <a:t>At 0.6 the student answers 96% of the 500 test cases and still agrees with Glimmer 89.9%; at 0.7 it agrees more on the hardest cases but sends more to Glimmer.</a:t>
            </a:r>
            <a:endParaRPr lang="en-US" sz="105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SAFETY, MEASURED</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No agent holds all three at once</a:t>
            </a:r>
            <a:endParaRPr lang="en-US" sz="3200" dirty="0"/>
          </a:p>
        </p:txBody>
      </p:sp>
      <p:sp>
        <p:nvSpPr>
          <p:cNvPr id="5" name="Shape 2"/>
          <p:cNvSpPr/>
          <p:nvPr/>
        </p:nvSpPr>
        <p:spPr>
          <a:xfrm>
            <a:off x="822960" y="1737360"/>
            <a:ext cx="2286000" cy="2286000"/>
          </a:xfrm>
          <a:prstGeom prst="ellipse">
            <a:avLst/>
          </a:prstGeom>
          <a:solidFill>
            <a:srgbClr val="FBEAE9">
              <a:alpha val="65000"/>
            </a:srgbClr>
          </a:solidFill>
          <a:ln w="25400">
            <a:solidFill>
              <a:srgbClr val="D1352B"/>
            </a:solidFill>
            <a:prstDash val="solid"/>
          </a:ln>
        </p:spPr>
      </p:sp>
      <p:sp>
        <p:nvSpPr>
          <p:cNvPr id="6" name="Shape 3"/>
          <p:cNvSpPr/>
          <p:nvPr/>
        </p:nvSpPr>
        <p:spPr>
          <a:xfrm>
            <a:off x="2606040" y="1737360"/>
            <a:ext cx="2286000" cy="2286000"/>
          </a:xfrm>
          <a:prstGeom prst="ellipse">
            <a:avLst/>
          </a:prstGeom>
          <a:solidFill>
            <a:srgbClr val="E8F1FD">
              <a:alpha val="65000"/>
            </a:srgbClr>
          </a:solidFill>
          <a:ln w="25400">
            <a:solidFill>
              <a:srgbClr val="0064E0"/>
            </a:solidFill>
            <a:prstDash val="solid"/>
          </a:ln>
        </p:spPr>
      </p:sp>
      <p:sp>
        <p:nvSpPr>
          <p:cNvPr id="7" name="Shape 4"/>
          <p:cNvSpPr/>
          <p:nvPr/>
        </p:nvSpPr>
        <p:spPr>
          <a:xfrm>
            <a:off x="1719072" y="3246120"/>
            <a:ext cx="2286000" cy="2286000"/>
          </a:xfrm>
          <a:prstGeom prst="ellipse">
            <a:avLst/>
          </a:prstGeom>
          <a:solidFill>
            <a:srgbClr val="E9F3EC">
              <a:alpha val="65000"/>
            </a:srgbClr>
          </a:solidFill>
          <a:ln w="25400">
            <a:solidFill>
              <a:srgbClr val="0A7F44"/>
            </a:solidFill>
            <a:prstDash val="solid"/>
          </a:ln>
        </p:spPr>
      </p:sp>
      <p:sp>
        <p:nvSpPr>
          <p:cNvPr id="8" name="Text 5"/>
          <p:cNvSpPr txBox="1"/>
          <p:nvPr/>
        </p:nvSpPr>
        <p:spPr>
          <a:xfrm>
            <a:off x="1051560" y="2331720"/>
            <a:ext cx="1280160" cy="731520"/>
          </a:xfrm>
          <a:prstGeom prst="rect">
            <a:avLst/>
          </a:prstGeom>
          <a:noFill/>
          <a:ln/>
        </p:spPr>
        <p:txBody>
          <a:bodyPr wrap="square" lIns="0" tIns="0" rIns="0" bIns="0" rtlCol="0" anchor="t"/>
          <a:lstStyle/>
          <a:p>
            <a:pPr algn="ctr" indent="0" marL="0">
              <a:buNone/>
            </a:pPr>
            <a:r>
              <a:rPr lang="en-US" sz="1500" b="1" dirty="0">
                <a:solidFill>
                  <a:srgbClr val="0A0A0B"/>
                </a:solidFill>
              </a:rPr>
              <a:t>Untrusted</a:t>
            </a:r>
            <a:endParaRPr lang="en-US" sz="1500" dirty="0"/>
          </a:p>
          <a:p>
            <a:pPr algn="ctr" indent="0" marL="0">
              <a:buNone/>
            </a:pPr>
            <a:r>
              <a:rPr lang="en-US" sz="1500" b="1" dirty="0">
                <a:solidFill>
                  <a:srgbClr val="0A0A0B"/>
                </a:solidFill>
              </a:rPr>
              <a:t>input</a:t>
            </a:r>
            <a:endParaRPr lang="en-US" sz="1500" dirty="0"/>
          </a:p>
        </p:txBody>
      </p:sp>
      <p:sp>
        <p:nvSpPr>
          <p:cNvPr id="9" name="Text 6"/>
          <p:cNvSpPr txBox="1"/>
          <p:nvPr/>
        </p:nvSpPr>
        <p:spPr>
          <a:xfrm>
            <a:off x="3520440" y="2331720"/>
            <a:ext cx="1280160" cy="731520"/>
          </a:xfrm>
          <a:prstGeom prst="rect">
            <a:avLst/>
          </a:prstGeom>
          <a:noFill/>
          <a:ln/>
        </p:spPr>
        <p:txBody>
          <a:bodyPr wrap="square" lIns="0" tIns="0" rIns="0" bIns="0" rtlCol="0" anchor="t"/>
          <a:lstStyle/>
          <a:p>
            <a:pPr algn="ctr" indent="0" marL="0">
              <a:buNone/>
            </a:pPr>
            <a:r>
              <a:rPr lang="en-US" sz="1500" b="1" dirty="0">
                <a:solidFill>
                  <a:srgbClr val="0A0A0B"/>
                </a:solidFill>
              </a:rPr>
              <a:t>Private</a:t>
            </a:r>
            <a:endParaRPr lang="en-US" sz="1500" dirty="0"/>
          </a:p>
          <a:p>
            <a:pPr algn="ctr" indent="0" marL="0">
              <a:buNone/>
            </a:pPr>
            <a:r>
              <a:rPr lang="en-US" sz="1500" b="1" dirty="0">
                <a:solidFill>
                  <a:srgbClr val="0A0A0B"/>
                </a:solidFill>
              </a:rPr>
              <a:t>data</a:t>
            </a:r>
            <a:endParaRPr lang="en-US" sz="1500" dirty="0"/>
          </a:p>
        </p:txBody>
      </p:sp>
      <p:sp>
        <p:nvSpPr>
          <p:cNvPr id="10" name="Text 7"/>
          <p:cNvSpPr txBox="1"/>
          <p:nvPr/>
        </p:nvSpPr>
        <p:spPr>
          <a:xfrm>
            <a:off x="2221992" y="4617720"/>
            <a:ext cx="1280160" cy="731520"/>
          </a:xfrm>
          <a:prstGeom prst="rect">
            <a:avLst/>
          </a:prstGeom>
          <a:noFill/>
          <a:ln/>
        </p:spPr>
        <p:txBody>
          <a:bodyPr wrap="square" lIns="0" tIns="0" rIns="0" bIns="0" rtlCol="0" anchor="t"/>
          <a:lstStyle/>
          <a:p>
            <a:pPr algn="ctr" indent="0" marL="0">
              <a:buNone/>
            </a:pPr>
            <a:r>
              <a:rPr lang="en-US" sz="1500" b="1" dirty="0">
                <a:solidFill>
                  <a:srgbClr val="0A0A0B"/>
                </a:solidFill>
              </a:rPr>
              <a:t>The power</a:t>
            </a:r>
            <a:endParaRPr lang="en-US" sz="1500" dirty="0"/>
          </a:p>
          <a:p>
            <a:pPr algn="ctr" indent="0" marL="0">
              <a:buNone/>
            </a:pPr>
            <a:r>
              <a:rPr lang="en-US" sz="1500" b="1" dirty="0">
                <a:solidFill>
                  <a:srgbClr val="0A0A0B"/>
                </a:solidFill>
              </a:rPr>
              <a:t>to act</a:t>
            </a:r>
            <a:endParaRPr lang="en-US" sz="1500" dirty="0"/>
          </a:p>
        </p:txBody>
      </p:sp>
      <p:sp>
        <p:nvSpPr>
          <p:cNvPr id="11" name="Shape 8"/>
          <p:cNvSpPr/>
          <p:nvPr/>
        </p:nvSpPr>
        <p:spPr>
          <a:xfrm>
            <a:off x="2542032" y="2971800"/>
            <a:ext cx="658368" cy="658368"/>
          </a:xfrm>
          <a:prstGeom prst="ellipse">
            <a:avLst/>
          </a:prstGeom>
          <a:solidFill>
            <a:srgbClr val="FFFFFF"/>
          </a:solidFill>
          <a:ln w="38100">
            <a:solidFill>
              <a:srgbClr val="D1352B"/>
            </a:solidFill>
            <a:prstDash val="solid"/>
          </a:ln>
        </p:spPr>
      </p:sp>
      <p:sp>
        <p:nvSpPr>
          <p:cNvPr id="12" name="Text 9"/>
          <p:cNvSpPr txBox="1"/>
          <p:nvPr/>
        </p:nvSpPr>
        <p:spPr>
          <a:xfrm>
            <a:off x="2542032" y="2971800"/>
            <a:ext cx="658368" cy="658368"/>
          </a:xfrm>
          <a:prstGeom prst="rect">
            <a:avLst/>
          </a:prstGeom>
          <a:noFill/>
          <a:ln/>
        </p:spPr>
        <p:txBody>
          <a:bodyPr wrap="square" lIns="0" tIns="0" rIns="0" bIns="0" rtlCol="0" anchor="ctr"/>
          <a:lstStyle/>
          <a:p>
            <a:pPr algn="ctr" indent="0" marL="0">
              <a:buNone/>
            </a:pPr>
            <a:r>
              <a:rPr lang="en-US" sz="3000" b="1" dirty="0">
                <a:solidFill>
                  <a:srgbClr val="D1352B"/>
                </a:solidFill>
              </a:rPr>
              <a:t>×</a:t>
            </a:r>
            <a:endParaRPr lang="en-US" sz="3000" dirty="0"/>
          </a:p>
        </p:txBody>
      </p:sp>
      <p:sp>
        <p:nvSpPr>
          <p:cNvPr id="13" name="Text 10"/>
          <p:cNvSpPr txBox="1"/>
          <p:nvPr/>
        </p:nvSpPr>
        <p:spPr>
          <a:xfrm>
            <a:off x="548640" y="5715000"/>
            <a:ext cx="4937760" cy="548640"/>
          </a:xfrm>
          <a:prstGeom prst="rect">
            <a:avLst/>
          </a:prstGeom>
          <a:noFill/>
          <a:ln/>
        </p:spPr>
        <p:txBody>
          <a:bodyPr wrap="square" lIns="0" tIns="0" rIns="0" bIns="0" rtlCol="0" anchor="t"/>
          <a:lstStyle/>
          <a:p>
            <a:pPr indent="0" marL="0">
              <a:buNone/>
            </a:pPr>
            <a:r>
              <a:rPr lang="en-US" sz="1200" dirty="0">
                <a:solidFill>
                  <a:srgbClr val="55555C"/>
                </a:solidFill>
              </a:rPr>
              <a:t>Meta's Agents Rule of Two, on every agent: the planner, members' agents, the photo reader and the community loop.</a:t>
            </a:r>
            <a:endParaRPr lang="en-US" sz="1200" dirty="0"/>
          </a:p>
        </p:txBody>
      </p:sp>
      <p:sp>
        <p:nvSpPr>
          <p:cNvPr id="14" name="Text 11"/>
          <p:cNvSpPr txBox="1"/>
          <p:nvPr/>
        </p:nvSpPr>
        <p:spPr>
          <a:xfrm>
            <a:off x="6172200" y="1691640"/>
            <a:ext cx="5486400" cy="411480"/>
          </a:xfrm>
          <a:prstGeom prst="rect">
            <a:avLst/>
          </a:prstGeom>
          <a:noFill/>
          <a:ln/>
        </p:spPr>
        <p:txBody>
          <a:bodyPr wrap="square" lIns="0" tIns="0" rIns="0" bIns="0" rtlCol="0" anchor="t"/>
          <a:lstStyle/>
          <a:p>
            <a:pPr indent="0" marL="0">
              <a:buNone/>
            </a:pPr>
            <a:r>
              <a:rPr lang="en-US" sz="2000" b="1" dirty="0">
                <a:solidFill>
                  <a:srgbClr val="0A0A0B"/>
                </a:solidFill>
              </a:rPr>
              <a:t>A disclosure budget</a:t>
            </a:r>
            <a:endParaRPr lang="en-US" sz="2000" dirty="0"/>
          </a:p>
        </p:txBody>
      </p:sp>
      <p:sp>
        <p:nvSpPr>
          <p:cNvPr id="15" name="Text 12"/>
          <p:cNvSpPr txBox="1"/>
          <p:nvPr/>
        </p:nvSpPr>
        <p:spPr>
          <a:xfrm>
            <a:off x="6172200" y="2103120"/>
            <a:ext cx="5394960" cy="548640"/>
          </a:xfrm>
          <a:prstGeom prst="rect">
            <a:avLst/>
          </a:prstGeom>
          <a:noFill/>
          <a:ln/>
        </p:spPr>
        <p:txBody>
          <a:bodyPr wrap="square" lIns="0" tIns="0" rIns="0" bIns="0" rtlCol="0" anchor="t"/>
          <a:lstStyle/>
          <a:p>
            <a:pPr indent="0" marL="0">
              <a:buNone/>
            </a:pPr>
            <a:r>
              <a:rPr lang="en-US" sz="1250" dirty="0">
                <a:solidFill>
                  <a:srgbClr val="55555C"/>
                </a:solidFill>
              </a:rPr>
              <a:t>An agent that keeps asking for games can map out your week. How many of your weekdays it pins down exactly:</a:t>
            </a:r>
            <a:endParaRPr lang="en-US" sz="1250" dirty="0"/>
          </a:p>
        </p:txBody>
      </p:sp>
      <p:graphicFrame>
        <p:nvGraphicFramePr>
          <p:cNvPr id="16" name="Chart 0" descr=""/>
          <p:cNvGraphicFramePr/>
          <p:nvPr/>
        </p:nvGraphicFramePr>
        <p:xfrm>
          <a:off x="6080760" y="2697480"/>
          <a:ext cx="5577840" cy="1828800"/>
        </p:xfrm>
        <a:graphic xmlns:a="http://schemas.openxmlformats.org/drawingml/2006/main">
          <a:graphicData uri="http://schemas.openxmlformats.org/drawingml/2006/chart">
            <c:chart xmlns:c="http://schemas.openxmlformats.org/drawingml/2006/chart" r:id="rId1"/>
          </a:graphicData>
        </a:graphic>
      </p:graphicFrame>
      <p:sp>
        <p:nvSpPr>
          <p:cNvPr id="17" name="Shape 13"/>
          <p:cNvSpPr/>
          <p:nvPr/>
        </p:nvSpPr>
        <p:spPr>
          <a:xfrm>
            <a:off x="6172200" y="4553712"/>
            <a:ext cx="3108960" cy="329184"/>
          </a:xfrm>
          <a:prstGeom prst="roundRect">
            <a:avLst>
              <a:gd name="adj" fmla="val 50000"/>
            </a:avLst>
          </a:prstGeom>
          <a:solidFill>
            <a:srgbClr val="FFFFFF"/>
          </a:solidFill>
          <a:ln w="12700">
            <a:solidFill>
              <a:srgbClr val="DCDCE0"/>
            </a:solidFill>
            <a:prstDash val="solid"/>
          </a:ln>
        </p:spPr>
      </p:sp>
      <p:sp>
        <p:nvSpPr>
          <p:cNvPr id="18" name="Text 14"/>
          <p:cNvSpPr txBox="1"/>
          <p:nvPr/>
        </p:nvSpPr>
        <p:spPr>
          <a:xfrm>
            <a:off x="6172200" y="4553712"/>
            <a:ext cx="3108960" cy="329184"/>
          </a:xfrm>
          <a:prstGeom prst="rect">
            <a:avLst/>
          </a:prstGeom>
          <a:noFill/>
          <a:ln/>
        </p:spPr>
        <p:txBody>
          <a:bodyPr wrap="square" lIns="0" tIns="0" rIns="0" bIns="0" rtlCol="0" anchor="ctr"/>
          <a:lstStyle/>
          <a:p>
            <a:pPr algn="ctr" indent="0" marL="0">
              <a:buNone/>
            </a:pPr>
            <a:r>
              <a:rPr lang="en-US" sz="1050" b="1" dirty="0">
                <a:solidFill>
                  <a:srgbClr val="55555C"/>
                </a:solidFill>
              </a:rPr>
              <a:t>Measured with a simulated prober</a:t>
            </a:r>
            <a:endParaRPr lang="en-US" sz="1050" dirty="0"/>
          </a:p>
        </p:txBody>
      </p:sp>
      <p:sp>
        <p:nvSpPr>
          <p:cNvPr id="19" name="Shape 15"/>
          <p:cNvSpPr/>
          <p:nvPr/>
        </p:nvSpPr>
        <p:spPr>
          <a:xfrm>
            <a:off x="6172200" y="5074920"/>
            <a:ext cx="5440680" cy="1143000"/>
          </a:xfrm>
          <a:prstGeom prst="roundRect">
            <a:avLst>
              <a:gd name="adj" fmla="val 9600"/>
            </a:avLst>
          </a:prstGeom>
          <a:solidFill>
            <a:srgbClr val="F6F7F8"/>
          </a:solidFill>
          <a:ln w="12700">
            <a:solidFill>
              <a:srgbClr val="F6F7F8"/>
            </a:solidFill>
            <a:prstDash val="solid"/>
          </a:ln>
        </p:spPr>
      </p:sp>
      <p:sp>
        <p:nvSpPr>
          <p:cNvPr id="20" name="Text 16"/>
          <p:cNvSpPr txBox="1"/>
          <p:nvPr/>
        </p:nvSpPr>
        <p:spPr>
          <a:xfrm>
            <a:off x="6355080" y="5074920"/>
            <a:ext cx="1737360" cy="1143000"/>
          </a:xfrm>
          <a:prstGeom prst="rect">
            <a:avLst/>
          </a:prstGeom>
          <a:noFill/>
          <a:ln/>
        </p:spPr>
        <p:txBody>
          <a:bodyPr wrap="square" lIns="0" tIns="0" rIns="0" bIns="0" rtlCol="0" anchor="ctr"/>
          <a:lstStyle/>
          <a:p>
            <a:pPr indent="0" marL="0">
              <a:buNone/>
            </a:pPr>
            <a:r>
              <a:rPr lang="en-US" sz="3000" b="1" dirty="0">
                <a:solidFill>
                  <a:srgbClr val="0A7F44"/>
                </a:solidFill>
              </a:rPr>
              <a:t>93 / 93</a:t>
            </a:r>
            <a:endParaRPr lang="en-US" sz="3000" dirty="0"/>
          </a:p>
        </p:txBody>
      </p:sp>
      <p:sp>
        <p:nvSpPr>
          <p:cNvPr id="21" name="Text 17"/>
          <p:cNvSpPr txBox="1"/>
          <p:nvPr/>
        </p:nvSpPr>
        <p:spPr>
          <a:xfrm>
            <a:off x="8092440" y="5074920"/>
            <a:ext cx="3429000" cy="1143000"/>
          </a:xfrm>
          <a:prstGeom prst="rect">
            <a:avLst/>
          </a:prstGeom>
          <a:noFill/>
          <a:ln/>
        </p:spPr>
        <p:txBody>
          <a:bodyPr wrap="square" lIns="0" tIns="0" rIns="0" bIns="0" rtlCol="0" anchor="ctr"/>
          <a:lstStyle/>
          <a:p>
            <a:pPr indent="0" marL="0">
              <a:buNone/>
            </a:pPr>
            <a:r>
              <a:rPr lang="en-US" sz="1050" dirty="0">
                <a:solidFill>
                  <a:srgbClr val="0A0A0B"/>
                </a:solidFill>
              </a:rPr>
              <a:t>scripted attacks stopped: injected instructions, poisoned reviews, forged Agent Cards, sock-puppet votes. Unsafe messages: 37 of 42 refused, 1 of 74 harmless ones refused.</a:t>
            </a:r>
            <a:endParaRPr lang="en-US" sz="105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WHAT IS REAL, WHAT IS SIMULATED</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Real players, real models; simulated test clubs</a:t>
            </a:r>
            <a:endParaRPr lang="en-US" sz="3200" dirty="0"/>
          </a:p>
        </p:txBody>
      </p:sp>
      <p:sp>
        <p:nvSpPr>
          <p:cNvPr id="5" name="Shape 2"/>
          <p:cNvSpPr/>
          <p:nvPr/>
        </p:nvSpPr>
        <p:spPr>
          <a:xfrm>
            <a:off x="548640" y="1691640"/>
            <a:ext cx="5440680" cy="3429000"/>
          </a:xfrm>
          <a:prstGeom prst="roundRect">
            <a:avLst>
              <a:gd name="adj" fmla="val 3200"/>
            </a:avLst>
          </a:prstGeom>
          <a:solidFill>
            <a:srgbClr val="E9F3EC"/>
          </a:solidFill>
          <a:ln w="12700">
            <a:solidFill>
              <a:srgbClr val="0A7F44"/>
            </a:solidFill>
            <a:prstDash val="solid"/>
          </a:ln>
        </p:spPr>
      </p:sp>
      <p:sp>
        <p:nvSpPr>
          <p:cNvPr id="6" name="Text 3"/>
          <p:cNvSpPr txBox="1"/>
          <p:nvPr/>
        </p:nvSpPr>
        <p:spPr>
          <a:xfrm>
            <a:off x="822960" y="1810512"/>
            <a:ext cx="4937760" cy="228600"/>
          </a:xfrm>
          <a:prstGeom prst="rect">
            <a:avLst/>
          </a:prstGeom>
          <a:noFill/>
          <a:ln/>
        </p:spPr>
        <p:txBody>
          <a:bodyPr wrap="square" lIns="0" tIns="0" rIns="0" bIns="0" rtlCol="0" anchor="t"/>
          <a:lstStyle/>
          <a:p>
            <a:pPr indent="0" marL="0">
              <a:buNone/>
            </a:pPr>
            <a:r>
              <a:rPr lang="en-US" sz="1050" b="1" spc="100" kern="0" dirty="0">
                <a:solidFill>
                  <a:srgbClr val="0A7F44"/>
                </a:solidFill>
              </a:rPr>
              <a:t>REAL</a:t>
            </a:r>
            <a:endParaRPr lang="en-US" sz="1050" dirty="0"/>
          </a:p>
        </p:txBody>
      </p:sp>
      <p:sp>
        <p:nvSpPr>
          <p:cNvPr id="7" name="Text 4"/>
          <p:cNvSpPr txBox="1"/>
          <p:nvPr/>
        </p:nvSpPr>
        <p:spPr>
          <a:xfrm>
            <a:off x="822960" y="2048256"/>
            <a:ext cx="4937760" cy="365760"/>
          </a:xfrm>
          <a:prstGeom prst="rect">
            <a:avLst/>
          </a:prstGeom>
          <a:noFill/>
          <a:ln/>
        </p:spPr>
        <p:txBody>
          <a:bodyPr wrap="square" lIns="0" tIns="0" rIns="0" bIns="0" rtlCol="0" anchor="t"/>
          <a:lstStyle/>
          <a:p>
            <a:pPr indent="0" marL="0">
              <a:buNone/>
            </a:pPr>
            <a:r>
              <a:rPr lang="en-US" sz="1600" b="1" dirty="0">
                <a:solidFill>
                  <a:srgbClr val="0A0A0B"/>
                </a:solidFill>
              </a:rPr>
              <a:t>What a judge can trust as is</a:t>
            </a:r>
            <a:endParaRPr lang="en-US" sz="1600" dirty="0"/>
          </a:p>
        </p:txBody>
      </p:sp>
      <p:sp>
        <p:nvSpPr>
          <p:cNvPr id="8" name="Text 5"/>
          <p:cNvSpPr txBox="1"/>
          <p:nvPr/>
        </p:nvSpPr>
        <p:spPr>
          <a:xfrm>
            <a:off x="822960" y="2468880"/>
            <a:ext cx="4937760" cy="260604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0A0A0B"/>
                </a:solidFill>
              </a:rPr>
              <a:t>8 players, 14 accounts, 2 clubs they started, 4 games, 7 joins on the live site (29 Oct)</a:t>
            </a:r>
            <a:endParaRPr lang="en-US" sz="1150" dirty="0"/>
          </a:p>
          <a:p>
            <a:pPr marL="177800" indent="-177800">
              <a:spcAft>
                <a:spcPts val="400"/>
              </a:spcAft>
              <a:buSzPct val="100000"/>
              <a:buChar char="•"/>
            </a:pPr>
            <a:r>
              <a:rPr lang="en-US" sz="1150" dirty="0">
                <a:solidFill>
                  <a:srgbClr val="0A0A0B"/>
                </a:solidFill>
              </a:rPr>
              <a:t>Every agent's code: A2A over JSON-RPC, signed Agent Cards, holds, crash recovery</a:t>
            </a:r>
            <a:endParaRPr lang="en-US" sz="1150" dirty="0"/>
          </a:p>
          <a:p>
            <a:pPr marL="177800" indent="-177800">
              <a:spcAft>
                <a:spcPts val="400"/>
              </a:spcAft>
              <a:buSzPct val="100000"/>
              <a:buChar char="•"/>
            </a:pPr>
            <a:r>
              <a:rPr lang="en-US" sz="1150" dirty="0">
                <a:solidFill>
                  <a:srgbClr val="0A0A0B"/>
                </a:solidFill>
              </a:rPr>
              <a:t>Muse Glimmer making every decision in the evaluations; the guards, DRAMA, speech recognition</a:t>
            </a:r>
            <a:endParaRPr lang="en-US" sz="1150" dirty="0"/>
          </a:p>
          <a:p>
            <a:pPr marL="177800" indent="-177800">
              <a:spcAft>
                <a:spcPts val="400"/>
              </a:spcAft>
              <a:buSzPct val="100000"/>
              <a:buChar char="•"/>
            </a:pPr>
            <a:r>
              <a:rPr lang="en-US" sz="1150" dirty="0">
                <a:solidFill>
                  <a:srgbClr val="0A0A0B"/>
                </a:solidFill>
              </a:rPr>
              <a:t>Courts from OpenStreetMap, real forecasts; Messenger's webhook on a real Page (Facebook and Instagram login wait for Meta's app review: players use a demo sign-in)</a:t>
            </a:r>
            <a:endParaRPr lang="en-US" sz="1150" dirty="0"/>
          </a:p>
          <a:p>
            <a:pPr marL="177800" indent="-177800">
              <a:spcAft>
                <a:spcPts val="400"/>
              </a:spcAft>
              <a:buSzPct val="100000"/>
              <a:buChar char="•"/>
            </a:pPr>
            <a:r>
              <a:rPr lang="en-US" sz="1150" dirty="0">
                <a:solidFill>
                  <a:srgbClr val="0A0A0B"/>
                </a:solidFill>
              </a:rPr>
              <a:t>Highlights cut from real footage (a CC BY clip)</a:t>
            </a:r>
            <a:endParaRPr lang="en-US" sz="1150" dirty="0"/>
          </a:p>
        </p:txBody>
      </p:sp>
      <p:sp>
        <p:nvSpPr>
          <p:cNvPr id="9" name="Shape 6"/>
          <p:cNvSpPr/>
          <p:nvPr/>
        </p:nvSpPr>
        <p:spPr>
          <a:xfrm>
            <a:off x="6172200" y="1691640"/>
            <a:ext cx="5440680" cy="3429000"/>
          </a:xfrm>
          <a:prstGeom prst="roundRect">
            <a:avLst>
              <a:gd name="adj" fmla="val 3200"/>
            </a:avLst>
          </a:prstGeom>
          <a:solidFill>
            <a:srgbClr val="FBF3E6"/>
          </a:solidFill>
          <a:ln w="12700">
            <a:solidFill>
              <a:srgbClr val="B26A00"/>
            </a:solidFill>
            <a:prstDash val="solid"/>
          </a:ln>
        </p:spPr>
      </p:sp>
      <p:sp>
        <p:nvSpPr>
          <p:cNvPr id="10" name="Text 7"/>
          <p:cNvSpPr txBox="1"/>
          <p:nvPr/>
        </p:nvSpPr>
        <p:spPr>
          <a:xfrm>
            <a:off x="6446520" y="1810512"/>
            <a:ext cx="4937760" cy="228600"/>
          </a:xfrm>
          <a:prstGeom prst="rect">
            <a:avLst/>
          </a:prstGeom>
          <a:noFill/>
          <a:ln/>
        </p:spPr>
        <p:txBody>
          <a:bodyPr wrap="square" lIns="0" tIns="0" rIns="0" bIns="0" rtlCol="0" anchor="t"/>
          <a:lstStyle/>
          <a:p>
            <a:pPr indent="0" marL="0">
              <a:buNone/>
            </a:pPr>
            <a:r>
              <a:rPr lang="en-US" sz="1050" b="1" spc="100" kern="0" dirty="0">
                <a:solidFill>
                  <a:srgbClr val="B26A00"/>
                </a:solidFill>
              </a:rPr>
              <a:t>SIMULATED, AND LABELLED SO</a:t>
            </a:r>
            <a:endParaRPr lang="en-US" sz="1050" dirty="0"/>
          </a:p>
        </p:txBody>
      </p:sp>
      <p:sp>
        <p:nvSpPr>
          <p:cNvPr id="11" name="Text 8"/>
          <p:cNvSpPr txBox="1"/>
          <p:nvPr/>
        </p:nvSpPr>
        <p:spPr>
          <a:xfrm>
            <a:off x="6446520" y="2048256"/>
            <a:ext cx="4937760" cy="365760"/>
          </a:xfrm>
          <a:prstGeom prst="rect">
            <a:avLst/>
          </a:prstGeom>
          <a:noFill/>
          <a:ln/>
        </p:spPr>
        <p:txBody>
          <a:bodyPr wrap="square" lIns="0" tIns="0" rIns="0" bIns="0" rtlCol="0" anchor="t"/>
          <a:lstStyle/>
          <a:p>
            <a:pPr indent="0" marL="0">
              <a:buNone/>
            </a:pPr>
            <a:r>
              <a:rPr lang="en-US" sz="1600" b="1" dirty="0">
                <a:solidFill>
                  <a:srgbClr val="0A0A0B"/>
                </a:solidFill>
              </a:rPr>
              <a:t>Clubs built for the tests</a:t>
            </a:r>
            <a:endParaRPr lang="en-US" sz="1600" dirty="0"/>
          </a:p>
        </p:txBody>
      </p:sp>
      <p:sp>
        <p:nvSpPr>
          <p:cNvPr id="12" name="Text 9"/>
          <p:cNvSpPr txBox="1"/>
          <p:nvPr/>
        </p:nvSpPr>
        <p:spPr>
          <a:xfrm>
            <a:off x="6446520" y="2468880"/>
            <a:ext cx="4937760" cy="2606040"/>
          </a:xfrm>
          <a:prstGeom prst="rect">
            <a:avLst/>
          </a:prstGeom>
          <a:noFill/>
          <a:ln/>
        </p:spPr>
        <p:txBody>
          <a:bodyPr wrap="square" lIns="0" tIns="0" rIns="0" bIns="0" rtlCol="0" anchor="t"/>
          <a:lstStyle/>
          <a:p>
            <a:pPr marL="177800" indent="-177800">
              <a:spcAft>
                <a:spcPts val="400"/>
              </a:spcAft>
              <a:buSzPct val="100000"/>
              <a:buChar char="•"/>
            </a:pPr>
            <a:r>
              <a:rPr lang="en-US" sz="1150" dirty="0">
                <a:solidFill>
                  <a:srgbClr val="0A0A0B"/>
                </a:solidFill>
              </a:rPr>
              <a:t>The demo club's members, venues and free times (marked demo in the app)</a:t>
            </a:r>
            <a:endParaRPr lang="en-US" sz="1150" dirty="0"/>
          </a:p>
          <a:p>
            <a:pPr marL="177800" indent="-177800">
              <a:spcAft>
                <a:spcPts val="400"/>
              </a:spcAft>
              <a:buSzPct val="100000"/>
              <a:buChar char="•"/>
            </a:pPr>
            <a:r>
              <a:rPr lang="en-US" sz="1150" dirty="0">
                <a:solidFill>
                  <a:srgbClr val="0A0A0B"/>
                </a:solidFill>
              </a:rPr>
              <a:t>The members in the scale, rules, matchmaking and student tests (seeds 7 and 11)</a:t>
            </a:r>
            <a:endParaRPr lang="en-US" sz="1150" dirty="0"/>
          </a:p>
          <a:p>
            <a:pPr marL="177800" indent="-177800">
              <a:spcAft>
                <a:spcPts val="400"/>
              </a:spcAft>
              <a:buSzPct val="100000"/>
              <a:buChar char="•"/>
            </a:pPr>
            <a:r>
              <a:rPr lang="en-US" sz="1150" dirty="0">
                <a:solidFill>
                  <a:srgbClr val="0A0A0B"/>
                </a:solidFill>
              </a:rPr>
              <a:t>The community loop's club of 60 and its votes</a:t>
            </a:r>
            <a:endParaRPr lang="en-US" sz="1150" dirty="0"/>
          </a:p>
          <a:p>
            <a:pPr marL="177800" indent="-177800">
              <a:spcAft>
                <a:spcPts val="400"/>
              </a:spcAft>
              <a:buSzPct val="100000"/>
              <a:buChar char="•"/>
            </a:pPr>
            <a:r>
              <a:rPr lang="en-US" sz="1150" dirty="0">
                <a:solidFill>
                  <a:srgbClr val="0A0A0B"/>
                </a:solidFill>
              </a:rPr>
              <a:t>The 20,000 requests in the asking test; the prober in the disclosure test</a:t>
            </a:r>
            <a:endParaRPr lang="en-US" sz="1150" dirty="0"/>
          </a:p>
          <a:p>
            <a:pPr marL="177800" indent="-177800">
              <a:spcAft>
                <a:spcPts val="400"/>
              </a:spcAft>
              <a:buSzPct val="100000"/>
              <a:buChar char="•"/>
            </a:pPr>
            <a:r>
              <a:rPr lang="en-US" sz="1150" dirty="0">
                <a:solidFill>
                  <a:srgbClr val="0A0A0B"/>
                </a:solidFill>
              </a:rPr>
              <a:t>The attacks and unsafe messages: labelled tests I wrote</a:t>
            </a:r>
            <a:endParaRPr lang="en-US" sz="1150" dirty="0"/>
          </a:p>
        </p:txBody>
      </p:sp>
      <p:sp>
        <p:nvSpPr>
          <p:cNvPr id="13" name="Shape 10"/>
          <p:cNvSpPr/>
          <p:nvPr/>
        </p:nvSpPr>
        <p:spPr>
          <a:xfrm>
            <a:off x="548640" y="5257800"/>
            <a:ext cx="11064240" cy="868680"/>
          </a:xfrm>
          <a:prstGeom prst="roundRect">
            <a:avLst>
              <a:gd name="adj" fmla="val 12632"/>
            </a:avLst>
          </a:prstGeom>
          <a:solidFill>
            <a:srgbClr val="FBEAE9"/>
          </a:solidFill>
          <a:ln w="12700">
            <a:solidFill>
              <a:srgbClr val="FBEAE9"/>
            </a:solidFill>
            <a:prstDash val="solid"/>
          </a:ln>
        </p:spPr>
      </p:sp>
      <p:sp>
        <p:nvSpPr>
          <p:cNvPr id="14" name="Text 11"/>
          <p:cNvSpPr txBox="1"/>
          <p:nvPr/>
        </p:nvSpPr>
        <p:spPr>
          <a:xfrm>
            <a:off x="777240" y="5349240"/>
            <a:ext cx="2743200" cy="228600"/>
          </a:xfrm>
          <a:prstGeom prst="rect">
            <a:avLst/>
          </a:prstGeom>
          <a:noFill/>
          <a:ln/>
        </p:spPr>
        <p:txBody>
          <a:bodyPr wrap="square" lIns="0" tIns="0" rIns="0" bIns="0" rtlCol="0" anchor="t"/>
          <a:lstStyle/>
          <a:p>
            <a:pPr indent="0" marL="0">
              <a:buNone/>
            </a:pPr>
            <a:r>
              <a:rPr lang="en-US" sz="1050" b="1" spc="100" kern="0" dirty="0">
                <a:solidFill>
                  <a:srgbClr val="D1352B"/>
                </a:solidFill>
              </a:rPr>
              <a:t>KNOWN FAILURES</a:t>
            </a:r>
            <a:endParaRPr lang="en-US" sz="1050" dirty="0"/>
          </a:p>
        </p:txBody>
      </p:sp>
      <p:sp>
        <p:nvSpPr>
          <p:cNvPr id="15" name="Text 12"/>
          <p:cNvSpPr txBox="1"/>
          <p:nvPr/>
        </p:nvSpPr>
        <p:spPr>
          <a:xfrm>
            <a:off x="777240" y="5577840"/>
            <a:ext cx="10607040" cy="502920"/>
          </a:xfrm>
          <a:prstGeom prst="rect">
            <a:avLst/>
          </a:prstGeom>
          <a:noFill/>
          <a:ln/>
        </p:spPr>
        <p:txBody>
          <a:bodyPr wrap="square" lIns="0" tIns="0" rIns="0" bIns="0" rtlCol="0" anchor="t"/>
          <a:lstStyle/>
          <a:p>
            <a:pPr indent="0" marL="0">
              <a:buNone/>
            </a:pPr>
            <a:r>
              <a:rPr lang="en-US" sz="1100" dirty="0">
                <a:solidFill>
                  <a:srgbClr val="0A0A0B"/>
                </a:solidFill>
              </a:rPr>
              <a:t>5 of 42 unsafe messages got past Llama Guard and code · 1 of 74 harmless ones refused · 9% of Glimmer calls came back empty (mostly a small budget: every call now has room to reason) · with a rule only in a member's words, Glimmer broke it in 1 of 60 talks</a:t>
            </a:r>
            <a:endParaRPr lang="en-US" sz="1100" dirty="0"/>
          </a:p>
        </p:txBody>
      </p:sp>
      <p:sp>
        <p:nvSpPr>
          <p:cNvPr id="16" name="Text 13"/>
          <p:cNvSpPr txBox="1"/>
          <p:nvPr/>
        </p:nvSpPr>
        <p:spPr>
          <a:xfrm>
            <a:off x="548640" y="6199632"/>
            <a:ext cx="11064240" cy="274320"/>
          </a:xfrm>
          <a:prstGeom prst="rect">
            <a:avLst/>
          </a:prstGeom>
          <a:noFill/>
          <a:ln/>
        </p:spPr>
        <p:txBody>
          <a:bodyPr wrap="square" lIns="0" tIns="0" rIns="0" bIns="0" rtlCol="0" anchor="t"/>
          <a:lstStyle/>
          <a:p>
            <a:pPr indent="0" marL="0">
              <a:buNone/>
            </a:pPr>
            <a:r>
              <a:rPr lang="en-US" sz="1050" i="1" dirty="0">
                <a:solidFill>
                  <a:srgbClr val="55555C"/>
                </a:solidFill>
              </a:rPr>
              <a:t>The simulations show the agents keep what members stated; they do not show how real people react. The live club measures that.</a:t>
            </a:r>
            <a:endParaRPr lang="en-US" sz="105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BUILT DURING THE HACKATHON · OCT 27 – NOV 4, 2026</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New here, mine from before, third party</a:t>
            </a:r>
            <a:endParaRPr lang="en-US" sz="3200" dirty="0"/>
          </a:p>
        </p:txBody>
      </p:sp>
      <p:sp>
        <p:nvSpPr>
          <p:cNvPr id="5" name="Shape 2"/>
          <p:cNvSpPr/>
          <p:nvPr/>
        </p:nvSpPr>
        <p:spPr>
          <a:xfrm>
            <a:off x="548640" y="1691640"/>
            <a:ext cx="4206240" cy="4389120"/>
          </a:xfrm>
          <a:prstGeom prst="roundRect">
            <a:avLst>
              <a:gd name="adj" fmla="val 2609"/>
            </a:avLst>
          </a:prstGeom>
          <a:solidFill>
            <a:srgbClr val="E9F3EC"/>
          </a:solidFill>
          <a:ln w="12700">
            <a:solidFill>
              <a:srgbClr val="0A7F44"/>
            </a:solidFill>
            <a:prstDash val="solid"/>
          </a:ln>
        </p:spPr>
      </p:sp>
      <p:sp>
        <p:nvSpPr>
          <p:cNvPr id="6" name="Text 3"/>
          <p:cNvSpPr txBox="1"/>
          <p:nvPr/>
        </p:nvSpPr>
        <p:spPr>
          <a:xfrm>
            <a:off x="777240" y="1828800"/>
            <a:ext cx="3749040" cy="228600"/>
          </a:xfrm>
          <a:prstGeom prst="rect">
            <a:avLst/>
          </a:prstGeom>
          <a:noFill/>
          <a:ln/>
        </p:spPr>
        <p:txBody>
          <a:bodyPr wrap="square" lIns="0" tIns="0" rIns="0" bIns="0" rtlCol="0" anchor="t"/>
          <a:lstStyle/>
          <a:p>
            <a:pPr indent="0" marL="0">
              <a:buNone/>
            </a:pPr>
            <a:r>
              <a:rPr lang="en-US" sz="1050" b="1" spc="100" kern="0" dirty="0">
                <a:solidFill>
                  <a:srgbClr val="0A7F44"/>
                </a:solidFill>
              </a:rPr>
              <a:t>BUILT HERE</a:t>
            </a:r>
            <a:endParaRPr lang="en-US" sz="1050" dirty="0"/>
          </a:p>
        </p:txBody>
      </p:sp>
      <p:sp>
        <p:nvSpPr>
          <p:cNvPr id="7" name="Text 4"/>
          <p:cNvSpPr txBox="1"/>
          <p:nvPr/>
        </p:nvSpPr>
        <p:spPr>
          <a:xfrm>
            <a:off x="777240" y="2084832"/>
            <a:ext cx="3749040" cy="365760"/>
          </a:xfrm>
          <a:prstGeom prst="rect">
            <a:avLst/>
          </a:prstGeom>
          <a:noFill/>
          <a:ln/>
        </p:spPr>
        <p:txBody>
          <a:bodyPr wrap="square" lIns="0" tIns="0" rIns="0" bIns="0" rtlCol="0" anchor="t"/>
          <a:lstStyle/>
          <a:p>
            <a:pPr indent="0" marL="0">
              <a:buNone/>
            </a:pPr>
            <a:r>
              <a:rPr lang="en-US" sz="1600" b="1" dirty="0">
                <a:solidFill>
                  <a:srgbClr val="0A0A0B"/>
                </a:solidFill>
              </a:rPr>
              <a:t>All the code</a:t>
            </a:r>
            <a:endParaRPr lang="en-US" sz="1600" dirty="0"/>
          </a:p>
        </p:txBody>
      </p:sp>
      <p:sp>
        <p:nvSpPr>
          <p:cNvPr id="8" name="Text 5"/>
          <p:cNvSpPr txBox="1"/>
          <p:nvPr/>
        </p:nvSpPr>
        <p:spPr>
          <a:xfrm>
            <a:off x="777240" y="2542032"/>
            <a:ext cx="3749040" cy="347472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0A0A0B"/>
                </a:solidFill>
              </a:rPr>
              <a:t>The gateway and every agent; A2A and its signing; matchmaking; memory and beliefs</a:t>
            </a:r>
            <a:endParaRPr lang="en-US" sz="1200" dirty="0"/>
          </a:p>
          <a:p>
            <a:pPr marL="152400" indent="-152400">
              <a:spcAft>
                <a:spcPts val="500"/>
              </a:spcAft>
              <a:buSzPct val="100000"/>
              <a:buChar char="•"/>
            </a:pPr>
            <a:r>
              <a:rPr lang="en-US" sz="1200" dirty="0">
                <a:solidFill>
                  <a:srgbClr val="0A0A0B"/>
                </a:solidFill>
              </a:rPr>
              <a:t>The community loop and its builder; the highlight pipeline's code</a:t>
            </a:r>
            <a:endParaRPr lang="en-US" sz="1200" dirty="0"/>
          </a:p>
          <a:p>
            <a:pPr marL="152400" indent="-152400">
              <a:spcAft>
                <a:spcPts val="500"/>
              </a:spcAft>
              <a:buSzPct val="100000"/>
              <a:buChar char="•"/>
            </a:pPr>
            <a:r>
              <a:rPr lang="en-US" sz="1200" dirty="0">
                <a:solidFill>
                  <a:srgbClr val="0A0A0B"/>
                </a:solidFill>
              </a:rPr>
              <a:t>The web app, members, clubs, the per-player gateways</a:t>
            </a:r>
            <a:endParaRPr lang="en-US" sz="1200" dirty="0"/>
          </a:p>
          <a:p>
            <a:pPr marL="152400" indent="-152400">
              <a:spcAft>
                <a:spcPts val="500"/>
              </a:spcAft>
              <a:buSzPct val="100000"/>
              <a:buChar char="•"/>
            </a:pPr>
            <a:r>
              <a:rPr lang="en-US" sz="1200" dirty="0">
                <a:solidFill>
                  <a:srgbClr val="0A0A0B"/>
                </a:solidFill>
              </a:rPr>
              <a:t>The Llama 3.2 1B student, fine-tuned from Glimmer's choices</a:t>
            </a:r>
            <a:endParaRPr lang="en-US" sz="1200" dirty="0"/>
          </a:p>
          <a:p>
            <a:pPr marL="152400" indent="-152400">
              <a:spcAft>
                <a:spcPts val="500"/>
              </a:spcAft>
              <a:buSzPct val="100000"/>
              <a:buChar char="•"/>
            </a:pPr>
            <a:r>
              <a:rPr lang="en-US" sz="1200" dirty="0">
                <a:solidFill>
                  <a:srgbClr val="0A0A0B"/>
                </a:solidFill>
              </a:rPr>
              <a:t>Every test and evaluation; the demo video (2:27)</a:t>
            </a:r>
            <a:endParaRPr lang="en-US" sz="1200" dirty="0"/>
          </a:p>
          <a:p>
            <a:pPr marL="152400" indent="-152400">
              <a:spcAft>
                <a:spcPts val="500"/>
              </a:spcAft>
              <a:buSzPct val="100000"/>
              <a:buChar char="•"/>
            </a:pPr>
            <a:r>
              <a:rPr lang="en-US" sz="1200" dirty="0">
                <a:solidFill>
                  <a:srgbClr val="0A0A0B"/>
                </a:solidFill>
              </a:rPr>
              <a:t>Started Oct 28 (day 2 of the hackathon); over 900 commits since</a:t>
            </a:r>
            <a:endParaRPr lang="en-US" sz="1200" dirty="0"/>
          </a:p>
        </p:txBody>
      </p:sp>
      <p:sp>
        <p:nvSpPr>
          <p:cNvPr id="9" name="Shape 6"/>
          <p:cNvSpPr/>
          <p:nvPr/>
        </p:nvSpPr>
        <p:spPr>
          <a:xfrm>
            <a:off x="4892040" y="1691640"/>
            <a:ext cx="2377440" cy="4389120"/>
          </a:xfrm>
          <a:prstGeom prst="roundRect">
            <a:avLst>
              <a:gd name="adj" fmla="val 4615"/>
            </a:avLst>
          </a:prstGeom>
          <a:solidFill>
            <a:srgbClr val="F6F7F8"/>
          </a:solidFill>
          <a:ln w="12700">
            <a:solidFill>
              <a:srgbClr val="55555C"/>
            </a:solidFill>
            <a:prstDash val="solid"/>
          </a:ln>
        </p:spPr>
      </p:sp>
      <p:sp>
        <p:nvSpPr>
          <p:cNvPr id="10" name="Text 7"/>
          <p:cNvSpPr txBox="1"/>
          <p:nvPr/>
        </p:nvSpPr>
        <p:spPr>
          <a:xfrm>
            <a:off x="5120640" y="1828800"/>
            <a:ext cx="1920240" cy="228600"/>
          </a:xfrm>
          <a:prstGeom prst="rect">
            <a:avLst/>
          </a:prstGeom>
          <a:noFill/>
          <a:ln/>
        </p:spPr>
        <p:txBody>
          <a:bodyPr wrap="square" lIns="0" tIns="0" rIns="0" bIns="0" rtlCol="0" anchor="t"/>
          <a:lstStyle/>
          <a:p>
            <a:pPr indent="0" marL="0">
              <a:buNone/>
            </a:pPr>
            <a:r>
              <a:rPr lang="en-US" sz="1050" b="1" spc="100" kern="0" dirty="0">
                <a:solidFill>
                  <a:srgbClr val="55555C"/>
                </a:solidFill>
              </a:rPr>
              <a:t>MINE, FROM BEFORE</a:t>
            </a:r>
            <a:endParaRPr lang="en-US" sz="1050" dirty="0"/>
          </a:p>
        </p:txBody>
      </p:sp>
      <p:sp>
        <p:nvSpPr>
          <p:cNvPr id="11" name="Text 8"/>
          <p:cNvSpPr txBox="1"/>
          <p:nvPr/>
        </p:nvSpPr>
        <p:spPr>
          <a:xfrm>
            <a:off x="5120640" y="2084832"/>
            <a:ext cx="1920240" cy="365760"/>
          </a:xfrm>
          <a:prstGeom prst="rect">
            <a:avLst/>
          </a:prstGeom>
          <a:noFill/>
          <a:ln/>
        </p:spPr>
        <p:txBody>
          <a:bodyPr wrap="square" lIns="0" tIns="0" rIns="0" bIns="0" rtlCol="0" anchor="t"/>
          <a:lstStyle/>
          <a:p>
            <a:pPr indent="0" marL="0">
              <a:buNone/>
            </a:pPr>
            <a:r>
              <a:rPr lang="en-US" sz="1600" b="1" dirty="0">
                <a:solidFill>
                  <a:srgbClr val="0A0A0B"/>
                </a:solidFill>
              </a:rPr>
              <a:t>Off in this entry</a:t>
            </a:r>
            <a:endParaRPr lang="en-US" sz="1600" dirty="0"/>
          </a:p>
        </p:txBody>
      </p:sp>
      <p:sp>
        <p:nvSpPr>
          <p:cNvPr id="12" name="Text 9"/>
          <p:cNvSpPr txBox="1"/>
          <p:nvPr/>
        </p:nvSpPr>
        <p:spPr>
          <a:xfrm>
            <a:off x="5120640" y="2542032"/>
            <a:ext cx="1920240" cy="347472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0A0A0B"/>
                </a:solidFill>
              </a:rPr>
              <a:t>TrackNetV5, my published shuttle tracker (ICIP 2026): off by default, not loaded in this entry</a:t>
            </a:r>
            <a:endParaRPr lang="en-US" sz="1200" dirty="0"/>
          </a:p>
        </p:txBody>
      </p:sp>
      <p:sp>
        <p:nvSpPr>
          <p:cNvPr id="13" name="Shape 10"/>
          <p:cNvSpPr/>
          <p:nvPr/>
        </p:nvSpPr>
        <p:spPr>
          <a:xfrm>
            <a:off x="7406640" y="1691640"/>
            <a:ext cx="4206240" cy="4389120"/>
          </a:xfrm>
          <a:prstGeom prst="roundRect">
            <a:avLst>
              <a:gd name="adj" fmla="val 2609"/>
            </a:avLst>
          </a:prstGeom>
          <a:solidFill>
            <a:srgbClr val="E8F1FD"/>
          </a:solidFill>
          <a:ln w="12700">
            <a:solidFill>
              <a:srgbClr val="0064E0"/>
            </a:solidFill>
            <a:prstDash val="solid"/>
          </a:ln>
        </p:spPr>
      </p:sp>
      <p:sp>
        <p:nvSpPr>
          <p:cNvPr id="14" name="Text 11"/>
          <p:cNvSpPr txBox="1"/>
          <p:nvPr/>
        </p:nvSpPr>
        <p:spPr>
          <a:xfrm>
            <a:off x="7635240" y="1828800"/>
            <a:ext cx="3749040" cy="228600"/>
          </a:xfrm>
          <a:prstGeom prst="rect">
            <a:avLst/>
          </a:prstGeom>
          <a:noFill/>
          <a:ln/>
        </p:spPr>
        <p:txBody>
          <a:bodyPr wrap="square" lIns="0" tIns="0" rIns="0" bIns="0" rtlCol="0" anchor="t"/>
          <a:lstStyle/>
          <a:p>
            <a:pPr indent="0" marL="0">
              <a:buNone/>
            </a:pPr>
            <a:r>
              <a:rPr lang="en-US" sz="1050" b="1" spc="100" kern="0" dirty="0">
                <a:solidFill>
                  <a:srgbClr val="0064E0"/>
                </a:solidFill>
              </a:rPr>
              <a:t>THIRD PARTY, AS PUBLISHED</a:t>
            </a:r>
            <a:endParaRPr lang="en-US" sz="1050" dirty="0"/>
          </a:p>
        </p:txBody>
      </p:sp>
      <p:sp>
        <p:nvSpPr>
          <p:cNvPr id="15" name="Text 12"/>
          <p:cNvSpPr txBox="1"/>
          <p:nvPr/>
        </p:nvSpPr>
        <p:spPr>
          <a:xfrm>
            <a:off x="7635240" y="2084832"/>
            <a:ext cx="3749040" cy="365760"/>
          </a:xfrm>
          <a:prstGeom prst="rect">
            <a:avLst/>
          </a:prstGeom>
          <a:noFill/>
          <a:ln/>
        </p:spPr>
        <p:txBody>
          <a:bodyPr wrap="square" lIns="0" tIns="0" rIns="0" bIns="0" rtlCol="0" anchor="t"/>
          <a:lstStyle/>
          <a:p>
            <a:pPr indent="0" marL="0">
              <a:buNone/>
            </a:pPr>
            <a:r>
              <a:rPr lang="en-US" sz="1600" b="1" dirty="0">
                <a:solidFill>
                  <a:srgbClr val="0A0A0B"/>
                </a:solidFill>
              </a:rPr>
              <a:t>Models, software, data</a:t>
            </a:r>
            <a:endParaRPr lang="en-US" sz="1600" dirty="0"/>
          </a:p>
        </p:txBody>
      </p:sp>
      <p:sp>
        <p:nvSpPr>
          <p:cNvPr id="16" name="Text 13"/>
          <p:cNvSpPr txBox="1"/>
          <p:nvPr/>
        </p:nvSpPr>
        <p:spPr>
          <a:xfrm>
            <a:off x="7635240" y="2542032"/>
            <a:ext cx="3749040" cy="3474720"/>
          </a:xfrm>
          <a:prstGeom prst="rect">
            <a:avLst/>
          </a:prstGeom>
          <a:noFill/>
          <a:ln/>
        </p:spPr>
        <p:txBody>
          <a:bodyPr wrap="square" lIns="0" tIns="0" rIns="0" bIns="0" rtlCol="0" anchor="t"/>
          <a:lstStyle/>
          <a:p>
            <a:pPr marL="152400" indent="-152400">
              <a:spcAft>
                <a:spcPts val="500"/>
              </a:spcAft>
              <a:buSzPct val="100000"/>
              <a:buChar char="•"/>
            </a:pPr>
            <a:r>
              <a:rPr lang="en-US" sz="1100" dirty="0">
                <a:solidFill>
                  <a:srgbClr val="0A0A0B"/>
                </a:solidFill>
              </a:rPr>
              <a:t>Meta: Muse Glimmer, Llama 3.2 1B, Llama Guard 3, Prompt Guard 2, DRAMA, Omnilingual ASR, DETR, Sapiens2, SAM 2.1, MapAnything; API: Muse Spark, Voice Transcribe, Image, Wonder, SAM 3.1</a:t>
            </a:r>
            <a:endParaRPr lang="en-US" sz="1100" dirty="0"/>
          </a:p>
          <a:p>
            <a:pPr marL="152400" indent="-152400">
              <a:spcAft>
                <a:spcPts val="500"/>
              </a:spcAft>
              <a:buSzPct val="100000"/>
              <a:buChar char="•"/>
            </a:pPr>
            <a:r>
              <a:rPr lang="en-US" sz="1100" dirty="0">
                <a:solidFill>
                  <a:srgbClr val="0A0A0B"/>
                </a:solidFill>
              </a:rPr>
              <a:t>Other models: Kokoro (speech), IBM Granite (optional), WASB (off)</a:t>
            </a:r>
            <a:endParaRPr lang="en-US" sz="1100" dirty="0"/>
          </a:p>
          <a:p>
            <a:pPr marL="152400" indent="-152400">
              <a:spcAft>
                <a:spcPts val="500"/>
              </a:spcAft>
              <a:buSzPct val="100000"/>
              <a:buChar char="•"/>
            </a:pPr>
            <a:r>
              <a:rPr lang="en-US" sz="1100" dirty="0">
                <a:solidFill>
                  <a:srgbClr val="0A0A0B"/>
                </a:solidFill>
              </a:rPr>
              <a:t>Software: A2A SDK, Ollama, Transformers, OpenTelemetry, React, Vite, Leaflet, Cloudflare tunnel</a:t>
            </a:r>
            <a:endParaRPr lang="en-US" sz="1100" dirty="0"/>
          </a:p>
          <a:p>
            <a:pPr marL="152400" indent="-152400">
              <a:spcAft>
                <a:spcPts val="500"/>
              </a:spcAft>
              <a:buSzPct val="100000"/>
              <a:buChar char="•"/>
            </a:pPr>
            <a:r>
              <a:rPr lang="en-US" sz="1100" dirty="0">
                <a:solidFill>
                  <a:srgbClr val="0A0A0B"/>
                </a:solidFill>
              </a:rPr>
              <a:t>Data: OpenStreetMap, Open-Meteo, Google Places, CC BY clips (credited)</a:t>
            </a:r>
            <a:endParaRPr lang="en-US" sz="11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DEMO · 25% · THE VIDEO, 2:27</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Three acts, all in the running app</a:t>
            </a:r>
            <a:endParaRPr lang="en-US" sz="3200" dirty="0"/>
          </a:p>
        </p:txBody>
      </p:sp>
      <p:pic>
        <p:nvPicPr>
          <p:cNvPr id="5" name="Image 0" descr="preencoded.png">    </p:cNvPr>
          <p:cNvPicPr>
            <a:picLocks noChangeAspect="1"/>
          </p:cNvPicPr>
          <p:nvPr/>
        </p:nvPicPr>
        <p:blipFill>
          <a:blip r:embed="rId1"/>
          <a:stretch>
            <a:fillRect/>
          </a:stretch>
        </p:blipFill>
        <p:spPr>
          <a:xfrm>
            <a:off x="548640" y="1783080"/>
            <a:ext cx="3566160" cy="2005965"/>
          </a:xfrm>
          <a:prstGeom prst="rect">
            <a:avLst/>
          </a:prstGeom>
        </p:spPr>
      </p:pic>
      <p:sp>
        <p:nvSpPr>
          <p:cNvPr id="6" name="Shape 2"/>
          <p:cNvSpPr/>
          <p:nvPr/>
        </p:nvSpPr>
        <p:spPr>
          <a:xfrm>
            <a:off x="548640" y="1783080"/>
            <a:ext cx="3566160" cy="2005965"/>
          </a:xfrm>
          <a:prstGeom prst="rect">
            <a:avLst/>
          </a:prstGeom>
          <a:ln w="12700">
            <a:solidFill>
              <a:srgbClr val="DCDCE0"/>
            </a:solidFill>
            <a:prstDash val="solid"/>
          </a:ln>
        </p:spPr>
      </p:sp>
      <p:sp>
        <p:nvSpPr>
          <p:cNvPr id="7" name="Shape 3"/>
          <p:cNvSpPr/>
          <p:nvPr/>
        </p:nvSpPr>
        <p:spPr>
          <a:xfrm>
            <a:off x="548640" y="3977640"/>
            <a:ext cx="731520" cy="329184"/>
          </a:xfrm>
          <a:prstGeom prst="roundRect">
            <a:avLst>
              <a:gd name="adj" fmla="val 50000"/>
            </a:avLst>
          </a:prstGeom>
          <a:solidFill>
            <a:srgbClr val="0A7F44"/>
          </a:solidFill>
          <a:ln w="12700">
            <a:solidFill>
              <a:srgbClr val="0A7F44"/>
            </a:solidFill>
            <a:prstDash val="solid"/>
          </a:ln>
        </p:spPr>
      </p:sp>
      <p:sp>
        <p:nvSpPr>
          <p:cNvPr id="8" name="Text 4"/>
          <p:cNvSpPr txBox="1"/>
          <p:nvPr/>
        </p:nvSpPr>
        <p:spPr>
          <a:xfrm>
            <a:off x="548640" y="3977640"/>
            <a:ext cx="731520" cy="329184"/>
          </a:xfrm>
          <a:prstGeom prst="rect">
            <a:avLst/>
          </a:prstGeom>
          <a:noFill/>
          <a:ln/>
        </p:spPr>
        <p:txBody>
          <a:bodyPr wrap="square" lIns="0" tIns="0" rIns="0" bIns="0" rtlCol="0" anchor="ctr"/>
          <a:lstStyle/>
          <a:p>
            <a:pPr algn="ctr" indent="0" marL="0">
              <a:buNone/>
            </a:pPr>
            <a:r>
              <a:rPr lang="en-US" sz="1100" b="1" dirty="0">
                <a:solidFill>
                  <a:srgbClr val="FFFFFF"/>
                </a:solidFill>
              </a:rPr>
              <a:t>0:41</a:t>
            </a:r>
            <a:endParaRPr lang="en-US" sz="1100" dirty="0"/>
          </a:p>
        </p:txBody>
      </p:sp>
      <p:sp>
        <p:nvSpPr>
          <p:cNvPr id="9" name="Text 5"/>
          <p:cNvSpPr txBox="1"/>
          <p:nvPr/>
        </p:nvSpPr>
        <p:spPr>
          <a:xfrm>
            <a:off x="548640" y="4389120"/>
            <a:ext cx="3566160" cy="731520"/>
          </a:xfrm>
          <a:prstGeom prst="rect">
            <a:avLst/>
          </a:prstGeom>
          <a:noFill/>
          <a:ln/>
        </p:spPr>
        <p:txBody>
          <a:bodyPr wrap="square" lIns="0" tIns="0" rIns="0" bIns="0" rtlCol="0" anchor="t"/>
          <a:lstStyle/>
          <a:p>
            <a:pPr indent="0" marL="0">
              <a:buNone/>
            </a:pPr>
            <a:r>
              <a:rPr lang="en-US" sz="1250" dirty="0">
                <a:solidFill>
                  <a:srgbClr val="0A0A0B"/>
                </a:solidFill>
              </a:rPr>
              <a:t>Act 1 · cold start: Leo has no account, the link joins him, and Mia hears "Game on" at once</a:t>
            </a:r>
            <a:endParaRPr lang="en-US" sz="1250" dirty="0"/>
          </a:p>
        </p:txBody>
      </p:sp>
      <p:pic>
        <p:nvPicPr>
          <p:cNvPr id="10" name="Image 1" descr="preencoded.png">    </p:cNvPr>
          <p:cNvPicPr>
            <a:picLocks noChangeAspect="1"/>
          </p:cNvPicPr>
          <p:nvPr/>
        </p:nvPicPr>
        <p:blipFill>
          <a:blip r:embed="rId2"/>
          <a:stretch>
            <a:fillRect/>
          </a:stretch>
        </p:blipFill>
        <p:spPr>
          <a:xfrm>
            <a:off x="4297680" y="1783080"/>
            <a:ext cx="3566160" cy="2005965"/>
          </a:xfrm>
          <a:prstGeom prst="rect">
            <a:avLst/>
          </a:prstGeom>
        </p:spPr>
      </p:pic>
      <p:sp>
        <p:nvSpPr>
          <p:cNvPr id="11" name="Shape 6"/>
          <p:cNvSpPr/>
          <p:nvPr/>
        </p:nvSpPr>
        <p:spPr>
          <a:xfrm>
            <a:off x="4297680" y="1783080"/>
            <a:ext cx="3566160" cy="2005965"/>
          </a:xfrm>
          <a:prstGeom prst="rect">
            <a:avLst/>
          </a:prstGeom>
          <a:ln w="12700">
            <a:solidFill>
              <a:srgbClr val="DCDCE0"/>
            </a:solidFill>
            <a:prstDash val="solid"/>
          </a:ln>
        </p:spPr>
      </p:sp>
      <p:sp>
        <p:nvSpPr>
          <p:cNvPr id="12" name="Shape 7"/>
          <p:cNvSpPr/>
          <p:nvPr/>
        </p:nvSpPr>
        <p:spPr>
          <a:xfrm>
            <a:off x="4297680" y="3977640"/>
            <a:ext cx="731520" cy="329184"/>
          </a:xfrm>
          <a:prstGeom prst="roundRect">
            <a:avLst>
              <a:gd name="adj" fmla="val 50000"/>
            </a:avLst>
          </a:prstGeom>
          <a:solidFill>
            <a:srgbClr val="0A7F44"/>
          </a:solidFill>
          <a:ln w="12700">
            <a:solidFill>
              <a:srgbClr val="0A7F44"/>
            </a:solidFill>
            <a:prstDash val="solid"/>
          </a:ln>
        </p:spPr>
      </p:sp>
      <p:sp>
        <p:nvSpPr>
          <p:cNvPr id="13" name="Text 8"/>
          <p:cNvSpPr txBox="1"/>
          <p:nvPr/>
        </p:nvSpPr>
        <p:spPr>
          <a:xfrm>
            <a:off x="4297680" y="3977640"/>
            <a:ext cx="731520" cy="329184"/>
          </a:xfrm>
          <a:prstGeom prst="rect">
            <a:avLst/>
          </a:prstGeom>
          <a:noFill/>
          <a:ln/>
        </p:spPr>
        <p:txBody>
          <a:bodyPr wrap="square" lIns="0" tIns="0" rIns="0" bIns="0" rtlCol="0" anchor="ctr"/>
          <a:lstStyle/>
          <a:p>
            <a:pPr algn="ctr" indent="0" marL="0">
              <a:buNone/>
            </a:pPr>
            <a:r>
              <a:rPr lang="en-US" sz="1100" b="1" dirty="0">
                <a:solidFill>
                  <a:srgbClr val="FFFFFF"/>
                </a:solidFill>
              </a:rPr>
              <a:t>1:15</a:t>
            </a:r>
            <a:endParaRPr lang="en-US" sz="1100" dirty="0"/>
          </a:p>
        </p:txBody>
      </p:sp>
      <p:sp>
        <p:nvSpPr>
          <p:cNvPr id="14" name="Text 9"/>
          <p:cNvSpPr txBox="1"/>
          <p:nvPr/>
        </p:nvSpPr>
        <p:spPr>
          <a:xfrm>
            <a:off x="4297680" y="4389120"/>
            <a:ext cx="3566160" cy="731520"/>
          </a:xfrm>
          <a:prstGeom prst="rect">
            <a:avLst/>
          </a:prstGeom>
          <a:noFill/>
          <a:ln/>
        </p:spPr>
        <p:txBody>
          <a:bodyPr wrap="square" lIns="0" tIns="0" rIns="0" bIns="0" rtlCol="0" anchor="t"/>
          <a:lstStyle/>
          <a:p>
            <a:pPr indent="0" marL="0">
              <a:buNone/>
            </a:pPr>
            <a:r>
              <a:rPr lang="en-US" sz="1250" dirty="0">
                <a:solidFill>
                  <a:srgbClr val="0A0A0B"/>
                </a:solidFill>
              </a:rPr>
              <a:t>Act 2 · A2A: Hana's agent makes a real counter-offer; one yes in Messenger books it (end-to-end test)</a:t>
            </a:r>
            <a:endParaRPr lang="en-US" sz="1250" dirty="0"/>
          </a:p>
        </p:txBody>
      </p:sp>
      <p:pic>
        <p:nvPicPr>
          <p:cNvPr id="15" name="Image 2" descr="preencoded.png">    </p:cNvPr>
          <p:cNvPicPr>
            <a:picLocks noChangeAspect="1"/>
          </p:cNvPicPr>
          <p:nvPr/>
        </p:nvPicPr>
        <p:blipFill>
          <a:blip r:embed="rId3"/>
          <a:stretch>
            <a:fillRect/>
          </a:stretch>
        </p:blipFill>
        <p:spPr>
          <a:xfrm>
            <a:off x="8046720" y="1783080"/>
            <a:ext cx="3566160" cy="2005965"/>
          </a:xfrm>
          <a:prstGeom prst="rect">
            <a:avLst/>
          </a:prstGeom>
        </p:spPr>
      </p:pic>
      <p:sp>
        <p:nvSpPr>
          <p:cNvPr id="16" name="Shape 10"/>
          <p:cNvSpPr/>
          <p:nvPr/>
        </p:nvSpPr>
        <p:spPr>
          <a:xfrm>
            <a:off x="8046720" y="1783080"/>
            <a:ext cx="3566160" cy="2005965"/>
          </a:xfrm>
          <a:prstGeom prst="rect">
            <a:avLst/>
          </a:prstGeom>
          <a:ln w="12700">
            <a:solidFill>
              <a:srgbClr val="DCDCE0"/>
            </a:solidFill>
            <a:prstDash val="solid"/>
          </a:ln>
        </p:spPr>
      </p:sp>
      <p:sp>
        <p:nvSpPr>
          <p:cNvPr id="17" name="Shape 11"/>
          <p:cNvSpPr/>
          <p:nvPr/>
        </p:nvSpPr>
        <p:spPr>
          <a:xfrm>
            <a:off x="8046720" y="3977640"/>
            <a:ext cx="731520" cy="329184"/>
          </a:xfrm>
          <a:prstGeom prst="roundRect">
            <a:avLst>
              <a:gd name="adj" fmla="val 50000"/>
            </a:avLst>
          </a:prstGeom>
          <a:solidFill>
            <a:srgbClr val="0A7F44"/>
          </a:solidFill>
          <a:ln w="12700">
            <a:solidFill>
              <a:srgbClr val="0A7F44"/>
            </a:solidFill>
            <a:prstDash val="solid"/>
          </a:ln>
        </p:spPr>
      </p:sp>
      <p:sp>
        <p:nvSpPr>
          <p:cNvPr id="18" name="Text 12"/>
          <p:cNvSpPr txBox="1"/>
          <p:nvPr/>
        </p:nvSpPr>
        <p:spPr>
          <a:xfrm>
            <a:off x="8046720" y="3977640"/>
            <a:ext cx="731520" cy="329184"/>
          </a:xfrm>
          <a:prstGeom prst="rect">
            <a:avLst/>
          </a:prstGeom>
          <a:noFill/>
          <a:ln/>
        </p:spPr>
        <p:txBody>
          <a:bodyPr wrap="square" lIns="0" tIns="0" rIns="0" bIns="0" rtlCol="0" anchor="ctr"/>
          <a:lstStyle/>
          <a:p>
            <a:pPr algn="ctr" indent="0" marL="0">
              <a:buNone/>
            </a:pPr>
            <a:r>
              <a:rPr lang="en-US" sz="1100" b="1" dirty="0">
                <a:solidFill>
                  <a:srgbClr val="FFFFFF"/>
                </a:solidFill>
              </a:rPr>
              <a:t>1:25</a:t>
            </a:r>
            <a:endParaRPr lang="en-US" sz="1100" dirty="0"/>
          </a:p>
        </p:txBody>
      </p:sp>
      <p:sp>
        <p:nvSpPr>
          <p:cNvPr id="19" name="Text 13"/>
          <p:cNvSpPr txBox="1"/>
          <p:nvPr/>
        </p:nvSpPr>
        <p:spPr>
          <a:xfrm>
            <a:off x="8046720" y="4389120"/>
            <a:ext cx="3566160" cy="731520"/>
          </a:xfrm>
          <a:prstGeom prst="rect">
            <a:avLst/>
          </a:prstGeom>
          <a:noFill/>
          <a:ln/>
        </p:spPr>
        <p:txBody>
          <a:bodyPr wrap="square" lIns="0" tIns="0" rIns="0" bIns="0" rtlCol="0" anchor="t"/>
          <a:lstStyle/>
          <a:p>
            <a:pPr indent="0" marL="0">
              <a:buNone/>
            </a:pPr>
            <a:r>
              <a:rPr lang="en-US" sz="1250" dirty="0">
                <a:solidFill>
                  <a:srgbClr val="0A0A0B"/>
                </a:solidFill>
              </a:rPr>
              <a:t>Act 3 · courts: Prompt Guard 2 screens reviews, then Muse Glimmer judges (shown at 14×, labelled)</a:t>
            </a:r>
            <a:endParaRPr lang="en-US" sz="1250" dirty="0"/>
          </a:p>
        </p:txBody>
      </p:sp>
      <p:sp>
        <p:nvSpPr>
          <p:cNvPr id="20" name="Text 14"/>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200" i="1" dirty="0">
                <a:solidFill>
                  <a:srgbClr val="55555C"/>
                </a:solidFill>
              </a:rPr>
              <a:t>Every speed-up is labelled on screen. The video shows only what this deck lists as built during the hackathon (slide 16).</a:t>
            </a:r>
            <a:endParaRPr lang="en-US" sz="12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60520" y="1143000"/>
            <a:ext cx="1005840" cy="1005840"/>
          </a:xfrm>
          <a:prstGeom prst="rect">
            <a:avLst/>
          </a:prstGeom>
        </p:spPr>
      </p:pic>
      <p:sp>
        <p:nvSpPr>
          <p:cNvPr id="3" name="Text 0"/>
          <p:cNvSpPr txBox="1"/>
          <p:nvPr/>
        </p:nvSpPr>
        <p:spPr>
          <a:xfrm>
            <a:off x="5257800" y="1097280"/>
            <a:ext cx="3200400" cy="1097280"/>
          </a:xfrm>
          <a:prstGeom prst="rect">
            <a:avLst/>
          </a:prstGeom>
          <a:noFill/>
          <a:ln/>
        </p:spPr>
        <p:txBody>
          <a:bodyPr wrap="square" lIns="0" tIns="0" rIns="0" bIns="0" rtlCol="0" anchor="ctr"/>
          <a:lstStyle/>
          <a:p>
            <a:pPr indent="0" marL="0">
              <a:buNone/>
            </a:pPr>
            <a:r>
              <a:rPr lang="en-US" sz="7200" b="1" dirty="0">
                <a:solidFill>
                  <a:srgbClr val="0A0A0B"/>
                </a:solidFill>
              </a:rPr>
              <a:t>serve</a:t>
            </a:r>
            <a:endParaRPr lang="en-US" sz="7200" dirty="0"/>
          </a:p>
        </p:txBody>
      </p:sp>
      <p:sp>
        <p:nvSpPr>
          <p:cNvPr id="4" name="Text 1"/>
          <p:cNvSpPr txBox="1"/>
          <p:nvPr/>
        </p:nvSpPr>
        <p:spPr>
          <a:xfrm>
            <a:off x="914400" y="2514600"/>
            <a:ext cx="10362895" cy="731520"/>
          </a:xfrm>
          <a:prstGeom prst="rect">
            <a:avLst/>
          </a:prstGeom>
          <a:noFill/>
          <a:ln/>
        </p:spPr>
        <p:txBody>
          <a:bodyPr wrap="square" lIns="0" tIns="0" rIns="0" bIns="0" rtlCol="0" anchor="t"/>
          <a:lstStyle/>
          <a:p>
            <a:pPr algn="ctr" indent="0" marL="0">
              <a:buNone/>
            </a:pPr>
            <a:r>
              <a:rPr lang="en-US" sz="4000" b="1" dirty="0">
                <a:solidFill>
                  <a:srgbClr val="0A0A0B"/>
                </a:solidFill>
              </a:rPr>
              <a:t>Play more. </a:t>
            </a:r>
            <a:pPr algn="ctr" indent="0" marL="0">
              <a:buNone/>
            </a:pPr>
            <a:r>
              <a:rPr lang="en-US" sz="4000" b="1" dirty="0">
                <a:solidFill>
                  <a:srgbClr val="0A7F44"/>
                </a:solidFill>
              </a:rPr>
              <a:t>Manage less.</a:t>
            </a:r>
            <a:endParaRPr lang="en-US" sz="4000" dirty="0"/>
          </a:p>
        </p:txBody>
      </p:sp>
      <p:sp>
        <p:nvSpPr>
          <p:cNvPr id="5" name="Text 2"/>
          <p:cNvSpPr txBox="1"/>
          <p:nvPr/>
        </p:nvSpPr>
        <p:spPr>
          <a:xfrm>
            <a:off x="914400" y="3291840"/>
            <a:ext cx="10362895" cy="457200"/>
          </a:xfrm>
          <a:prstGeom prst="rect">
            <a:avLst/>
          </a:prstGeom>
          <a:noFill/>
          <a:ln/>
        </p:spPr>
        <p:txBody>
          <a:bodyPr wrap="square" lIns="0" tIns="0" rIns="0" bIns="0" rtlCol="0" anchor="t"/>
          <a:lstStyle/>
          <a:p>
            <a:pPr algn="ctr" indent="0" marL="0">
              <a:buNone/>
            </a:pPr>
            <a:r>
              <a:rPr lang="en-US" sz="2000" dirty="0">
                <a:solidFill>
                  <a:srgbClr val="55555C"/>
                </a:solidFill>
              </a:rPr>
              <a:t>The agent that gets you playing, in any ball sport.</a:t>
            </a:r>
            <a:endParaRPr lang="en-US" sz="2000" dirty="0"/>
          </a:p>
        </p:txBody>
      </p:sp>
      <p:sp>
        <p:nvSpPr>
          <p:cNvPr id="6" name="Shape 3"/>
          <p:cNvSpPr/>
          <p:nvPr/>
        </p:nvSpPr>
        <p:spPr>
          <a:xfrm>
            <a:off x="1325880" y="4069080"/>
            <a:ext cx="3017520" cy="457200"/>
          </a:xfrm>
          <a:prstGeom prst="roundRect">
            <a:avLst>
              <a:gd name="adj" fmla="val 50000"/>
            </a:avLst>
          </a:prstGeom>
          <a:solidFill>
            <a:srgbClr val="FFFFFF"/>
          </a:solidFill>
          <a:ln w="12700">
            <a:solidFill>
              <a:srgbClr val="DCDCE0"/>
            </a:solidFill>
            <a:prstDash val="solid"/>
          </a:ln>
        </p:spPr>
      </p:sp>
      <p:sp>
        <p:nvSpPr>
          <p:cNvPr id="7" name="Text 4"/>
          <p:cNvSpPr txBox="1"/>
          <p:nvPr/>
        </p:nvSpPr>
        <p:spPr>
          <a:xfrm>
            <a:off x="1325880" y="4069080"/>
            <a:ext cx="3017520" cy="457200"/>
          </a:xfrm>
          <a:prstGeom prst="rect">
            <a:avLst/>
          </a:prstGeom>
          <a:noFill/>
          <a:ln/>
        </p:spPr>
        <p:txBody>
          <a:bodyPr wrap="square" lIns="0" tIns="0" rIns="0" bIns="0" rtlCol="0" anchor="ctr"/>
          <a:lstStyle/>
          <a:p>
            <a:pPr algn="ctr" indent="0" marL="0">
              <a:buNone/>
            </a:pPr>
            <a:r>
              <a:rPr lang="en-US" sz="1300" b="1" dirty="0">
                <a:solidFill>
                  <a:srgbClr val="0A0A0B"/>
                </a:solidFill>
              </a:rPr>
              <a:t>Your week, agreed agent to agent</a:t>
            </a:r>
            <a:endParaRPr lang="en-US" sz="1300" dirty="0"/>
          </a:p>
        </p:txBody>
      </p:sp>
      <p:sp>
        <p:nvSpPr>
          <p:cNvPr id="8" name="Shape 5"/>
          <p:cNvSpPr/>
          <p:nvPr/>
        </p:nvSpPr>
        <p:spPr>
          <a:xfrm>
            <a:off x="4480560" y="4069080"/>
            <a:ext cx="2651760" cy="457200"/>
          </a:xfrm>
          <a:prstGeom prst="roundRect">
            <a:avLst>
              <a:gd name="adj" fmla="val 50000"/>
            </a:avLst>
          </a:prstGeom>
          <a:solidFill>
            <a:srgbClr val="FFFFFF"/>
          </a:solidFill>
          <a:ln w="12700">
            <a:solidFill>
              <a:srgbClr val="DCDCE0"/>
            </a:solidFill>
            <a:prstDash val="solid"/>
          </a:ln>
        </p:spPr>
      </p:sp>
      <p:sp>
        <p:nvSpPr>
          <p:cNvPr id="9" name="Text 6"/>
          <p:cNvSpPr txBox="1"/>
          <p:nvPr/>
        </p:nvSpPr>
        <p:spPr>
          <a:xfrm>
            <a:off x="4480560" y="4069080"/>
            <a:ext cx="2651760" cy="457200"/>
          </a:xfrm>
          <a:prstGeom prst="rect">
            <a:avLst/>
          </a:prstGeom>
          <a:noFill/>
          <a:ln/>
        </p:spPr>
        <p:txBody>
          <a:bodyPr wrap="square" lIns="0" tIns="0" rIns="0" bIns="0" rtlCol="0" anchor="ctr"/>
          <a:lstStyle/>
          <a:p>
            <a:pPr algn="ctr" indent="0" marL="0">
              <a:buNone/>
            </a:pPr>
            <a:r>
              <a:rPr lang="en-US" sz="1300" b="1" dirty="0">
                <a:solidFill>
                  <a:srgbClr val="0A0A0B"/>
                </a:solidFill>
              </a:rPr>
              <a:t>Your agent in Messenger</a:t>
            </a:r>
            <a:endParaRPr lang="en-US" sz="1300" dirty="0"/>
          </a:p>
        </p:txBody>
      </p:sp>
      <p:sp>
        <p:nvSpPr>
          <p:cNvPr id="10" name="Shape 7"/>
          <p:cNvSpPr/>
          <p:nvPr/>
        </p:nvSpPr>
        <p:spPr>
          <a:xfrm>
            <a:off x="7269480" y="4069080"/>
            <a:ext cx="3611880" cy="457200"/>
          </a:xfrm>
          <a:prstGeom prst="roundRect">
            <a:avLst>
              <a:gd name="adj" fmla="val 50000"/>
            </a:avLst>
          </a:prstGeom>
          <a:solidFill>
            <a:srgbClr val="FFFFFF"/>
          </a:solidFill>
          <a:ln w="12700">
            <a:solidFill>
              <a:srgbClr val="DCDCE0"/>
            </a:solidFill>
            <a:prstDash val="solid"/>
          </a:ln>
        </p:spPr>
      </p:sp>
      <p:sp>
        <p:nvSpPr>
          <p:cNvPr id="11" name="Text 8"/>
          <p:cNvSpPr txBox="1"/>
          <p:nvPr/>
        </p:nvSpPr>
        <p:spPr>
          <a:xfrm>
            <a:off x="7269480" y="4069080"/>
            <a:ext cx="3611880" cy="457200"/>
          </a:xfrm>
          <a:prstGeom prst="rect">
            <a:avLst/>
          </a:prstGeom>
          <a:noFill/>
          <a:ln/>
        </p:spPr>
        <p:txBody>
          <a:bodyPr wrap="square" lIns="0" tIns="0" rIns="0" bIns="0" rtlCol="0" anchor="ctr"/>
          <a:lstStyle/>
          <a:p>
            <a:pPr algn="ctr" indent="0" marL="0">
              <a:buNone/>
            </a:pPr>
            <a:r>
              <a:rPr lang="en-US" sz="1300" b="1" dirty="0">
                <a:solidFill>
                  <a:srgbClr val="0A0A0B"/>
                </a:solidFill>
              </a:rPr>
              <a:t>Auto-cut highlights to Instagram</a:t>
            </a:r>
            <a:endParaRPr lang="en-US" sz="1300" dirty="0"/>
          </a:p>
        </p:txBody>
      </p:sp>
      <p:sp>
        <p:nvSpPr>
          <p:cNvPr id="12" name="Text 9"/>
          <p:cNvSpPr txBox="1"/>
          <p:nvPr/>
        </p:nvSpPr>
        <p:spPr>
          <a:xfrm>
            <a:off x="914400" y="4937760"/>
            <a:ext cx="10362895" cy="320040"/>
          </a:xfrm>
          <a:prstGeom prst="rect">
            <a:avLst/>
          </a:prstGeom>
          <a:noFill/>
          <a:ln/>
        </p:spPr>
        <p:txBody>
          <a:bodyPr wrap="square" lIns="0" tIns="0" rIns="0" bIns="0" rtlCol="0" anchor="t"/>
          <a:lstStyle/>
          <a:p>
            <a:pPr algn="ctr" indent="0" marL="0">
              <a:buNone/>
            </a:pPr>
            <a:r>
              <a:rPr lang="en-US" sz="1300" b="1" dirty="0">
                <a:solidFill>
                  <a:srgbClr val="0A0A0B"/>
                </a:solidFill>
              </a:rPr>
              <a:t>Built Oct 28 – Nov 4, 2026, during the hackathon · demo video 2:27 · what is new and what is not: slide 16</a:t>
            </a:r>
            <a:endParaRPr lang="en-US" sz="1300" dirty="0"/>
          </a:p>
        </p:txBody>
      </p:sp>
      <p:sp>
        <p:nvSpPr>
          <p:cNvPr id="13" name="Text 10"/>
          <p:cNvSpPr txBox="1"/>
          <p:nvPr/>
        </p:nvSpPr>
        <p:spPr>
          <a:xfrm>
            <a:off x="914400" y="5285232"/>
            <a:ext cx="10362895" cy="320040"/>
          </a:xfrm>
          <a:prstGeom prst="rect">
            <a:avLst/>
          </a:prstGeom>
          <a:noFill/>
          <a:ln/>
        </p:spPr>
        <p:txBody>
          <a:bodyPr wrap="square" lIns="0" tIns="0" rIns="0" bIns="0" rtlCol="0" anchor="t"/>
          <a:lstStyle/>
          <a:p>
            <a:pPr algn="ctr" indent="0" marL="0">
              <a:buNone/>
            </a:pPr>
            <a:r>
              <a:rPr lang="en-US" sz="1300" dirty="0">
                <a:solidFill>
                  <a:srgbClr val="0064E0"/>
                </a:solidFill>
              </a:rPr>
              <a:t>github.com/gino6178/serve-meta-hackathon  ·  live: https://play.theminimallab.com</a:t>
            </a:r>
            <a:endParaRPr lang="en-US" sz="1300" dirty="0"/>
          </a:p>
        </p:txBody>
      </p:sp>
      <p:sp>
        <p:nvSpPr>
          <p:cNvPr id="14" name="Text 11"/>
          <p:cNvSpPr txBox="1"/>
          <p:nvPr/>
        </p:nvSpPr>
        <p:spPr>
          <a:xfrm>
            <a:off x="914400" y="6035040"/>
            <a:ext cx="10362895" cy="329184"/>
          </a:xfrm>
          <a:prstGeom prst="rect">
            <a:avLst/>
          </a:prstGeom>
          <a:noFill/>
          <a:ln/>
        </p:spPr>
        <p:txBody>
          <a:bodyPr wrap="square" lIns="0" tIns="0" rIns="0" bIns="0" rtlCol="0" anchor="ctr"/>
          <a:lstStyle/>
          <a:p>
            <a:pPr algn="ctr" indent="0" marL="0">
              <a:buNone/>
            </a:pPr>
            <a:r>
              <a:rPr lang="en-US" sz="1300" dirty="0">
                <a:solidFill>
                  <a:srgbClr val="55555C"/>
                </a:solidFill>
              </a:rPr>
              <a:t>The product runs Muse Glimmer on an RTX 3090 I own; cloud A100s ran evaluations, including the A2A test's second gateway</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2194560"/>
            <a:ext cx="10058400" cy="365760"/>
          </a:xfrm>
          <a:prstGeom prst="rect">
            <a:avLst/>
          </a:prstGeom>
          <a:noFill/>
          <a:ln/>
        </p:spPr>
        <p:txBody>
          <a:bodyPr wrap="square" lIns="0" tIns="0" rIns="0" bIns="0" rtlCol="0" anchor="t"/>
          <a:lstStyle/>
          <a:p>
            <a:pPr indent="0" marL="0">
              <a:buNone/>
            </a:pPr>
            <a:r>
              <a:rPr lang="en-US" sz="1400" b="1" spc="200" kern="0" dirty="0">
                <a:solidFill>
                  <a:srgbClr val="0A7F44"/>
                </a:solidFill>
              </a:rPr>
              <a:t>APPENDIX</a:t>
            </a:r>
            <a:endParaRPr lang="en-US" sz="1400" dirty="0"/>
          </a:p>
        </p:txBody>
      </p:sp>
      <p:sp>
        <p:nvSpPr>
          <p:cNvPr id="3" name="Text 1"/>
          <p:cNvSpPr txBox="1"/>
          <p:nvPr/>
        </p:nvSpPr>
        <p:spPr>
          <a:xfrm>
            <a:off x="731520" y="2606040"/>
            <a:ext cx="10515600" cy="822960"/>
          </a:xfrm>
          <a:prstGeom prst="rect">
            <a:avLst/>
          </a:prstGeom>
          <a:noFill/>
          <a:ln/>
        </p:spPr>
        <p:txBody>
          <a:bodyPr wrap="square" lIns="0" tIns="0" rIns="0" bIns="0" rtlCol="0" anchor="t"/>
          <a:lstStyle/>
          <a:p>
            <a:pPr indent="0" marL="0">
              <a:buNone/>
            </a:pPr>
            <a:r>
              <a:rPr lang="en-US" sz="4000" b="1" dirty="0">
                <a:solidFill>
                  <a:srgbClr val="0A0A0B"/>
                </a:solidFill>
              </a:rPr>
              <a:t>The details behind the main slides</a:t>
            </a:r>
            <a:endParaRPr lang="en-US" sz="4000" dirty="0"/>
          </a:p>
        </p:txBody>
      </p:sp>
      <p:sp>
        <p:nvSpPr>
          <p:cNvPr id="4" name="Text 2"/>
          <p:cNvSpPr txBox="1"/>
          <p:nvPr/>
        </p:nvSpPr>
        <p:spPr>
          <a:xfrm>
            <a:off x="731520" y="3611880"/>
            <a:ext cx="10515600" cy="1097280"/>
          </a:xfrm>
          <a:prstGeom prst="rect">
            <a:avLst/>
          </a:prstGeom>
          <a:noFill/>
          <a:ln/>
        </p:spPr>
        <p:txBody>
          <a:bodyPr wrap="square" lIns="0" tIns="0" rIns="0" bIns="0" rtlCol="0" anchor="t"/>
          <a:lstStyle/>
          <a:p>
            <a:pPr indent="0" marL="0">
              <a:buNone/>
            </a:pPr>
            <a:r>
              <a:rPr lang="en-US" sz="1600" dirty="0">
                <a:solidFill>
                  <a:srgbClr val="55555C"/>
                </a:solidFill>
              </a:rPr>
              <a:t>The agent and A2A · all 15 Meta models · the social app · auto-cut highlights · agents as members · voice · federated clubs · memory · agent architecture · scale · the self-evolving club · every number and its source · the full architecture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AN AGENT, NOT A CHATBOT</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Glimmer plans, agents agree, code decides</a:t>
            </a:r>
            <a:endParaRPr lang="en-US" sz="3200" dirty="0"/>
          </a:p>
        </p:txBody>
      </p:sp>
      <p:sp>
        <p:nvSpPr>
          <p:cNvPr id="5" name="Shape 2"/>
          <p:cNvSpPr/>
          <p:nvPr/>
        </p:nvSpPr>
        <p:spPr>
          <a:xfrm>
            <a:off x="548640" y="1691640"/>
            <a:ext cx="5349240" cy="4526280"/>
          </a:xfrm>
          <a:prstGeom prst="roundRect">
            <a:avLst>
              <a:gd name="adj" fmla="val 2424"/>
            </a:avLst>
          </a:prstGeom>
          <a:solidFill>
            <a:srgbClr val="FFFFFF"/>
          </a:solidFill>
          <a:ln w="12700">
            <a:solidFill>
              <a:srgbClr val="DCDCE0"/>
            </a:solidFill>
            <a:prstDash val="solid"/>
          </a:ln>
        </p:spPr>
      </p:sp>
      <p:sp>
        <p:nvSpPr>
          <p:cNvPr id="6" name="Text 3"/>
          <p:cNvSpPr txBox="1"/>
          <p:nvPr/>
        </p:nvSpPr>
        <p:spPr>
          <a:xfrm>
            <a:off x="777240" y="1874520"/>
            <a:ext cx="4846320" cy="365760"/>
          </a:xfrm>
          <a:prstGeom prst="rect">
            <a:avLst/>
          </a:prstGeom>
          <a:noFill/>
          <a:ln/>
        </p:spPr>
        <p:txBody>
          <a:bodyPr wrap="square" lIns="0" tIns="0" rIns="0" bIns="0" rtlCol="0" anchor="t"/>
          <a:lstStyle/>
          <a:p>
            <a:pPr indent="0" marL="0">
              <a:buNone/>
            </a:pPr>
            <a:r>
              <a:rPr lang="en-US" sz="1800" b="1" dirty="0">
                <a:solidFill>
                  <a:srgbClr val="0A0A0B"/>
                </a:solidFill>
              </a:rPr>
              <a:t>The planner agent · a tool loop</a:t>
            </a:r>
            <a:endParaRPr lang="en-US" sz="1800" dirty="0"/>
          </a:p>
        </p:txBody>
      </p:sp>
      <p:sp>
        <p:nvSpPr>
          <p:cNvPr id="7" name="Text 4"/>
          <p:cNvSpPr txBox="1"/>
          <p:nvPr/>
        </p:nvSpPr>
        <p:spPr>
          <a:xfrm>
            <a:off x="777240" y="2286000"/>
            <a:ext cx="4937760" cy="548640"/>
          </a:xfrm>
          <a:prstGeom prst="rect">
            <a:avLst/>
          </a:prstGeom>
          <a:noFill/>
          <a:ln/>
        </p:spPr>
        <p:txBody>
          <a:bodyPr wrap="square" lIns="0" tIns="0" rIns="0" bIns="0" rtlCol="0" anchor="t"/>
          <a:lstStyle/>
          <a:p>
            <a:pPr indent="0" marL="0">
              <a:buNone/>
            </a:pPr>
            <a:r>
              <a:rPr lang="en-US" sz="1250" dirty="0">
                <a:solidFill>
                  <a:srgbClr val="55555C"/>
                </a:solidFill>
              </a:rPr>
              <a:t>Muse Glimmer picks the next tool; code runs it with checked arguments and hands back the facts.</a:t>
            </a:r>
            <a:endParaRPr lang="en-US" sz="1250" dirty="0"/>
          </a:p>
        </p:txBody>
      </p:sp>
      <p:sp>
        <p:nvSpPr>
          <p:cNvPr id="8" name="Shape 5"/>
          <p:cNvSpPr/>
          <p:nvPr/>
        </p:nvSpPr>
        <p:spPr>
          <a:xfrm>
            <a:off x="777240" y="2926080"/>
            <a:ext cx="1554480" cy="310896"/>
          </a:xfrm>
          <a:prstGeom prst="roundRect">
            <a:avLst>
              <a:gd name="adj" fmla="val 50000"/>
            </a:avLst>
          </a:prstGeom>
          <a:solidFill>
            <a:srgbClr val="E9F3EC"/>
          </a:solidFill>
          <a:ln w="12700">
            <a:solidFill>
              <a:srgbClr val="E9F3EC"/>
            </a:solidFill>
            <a:prstDash val="solid"/>
          </a:ln>
        </p:spPr>
      </p:sp>
      <p:sp>
        <p:nvSpPr>
          <p:cNvPr id="9" name="Text 6"/>
          <p:cNvSpPr txBox="1"/>
          <p:nvPr/>
        </p:nvSpPr>
        <p:spPr>
          <a:xfrm>
            <a:off x="777240" y="2926080"/>
            <a:ext cx="1554480" cy="310896"/>
          </a:xfrm>
          <a:prstGeom prst="rect">
            <a:avLst/>
          </a:prstGeom>
          <a:noFill/>
          <a:ln/>
        </p:spPr>
        <p:txBody>
          <a:bodyPr wrap="square" lIns="0" tIns="0" rIns="0" bIns="0" rtlCol="0" anchor="ctr"/>
          <a:lstStyle/>
          <a:p>
            <a:pPr algn="ctr" indent="0" marL="0">
              <a:buNone/>
            </a:pPr>
            <a:r>
              <a:rPr lang="en-US" sz="1000" b="1" dirty="0">
                <a:solidFill>
                  <a:srgbClr val="0A7F44"/>
                </a:solidFill>
              </a:rPr>
              <a:t>get_week</a:t>
            </a:r>
            <a:endParaRPr lang="en-US" sz="1000" dirty="0"/>
          </a:p>
        </p:txBody>
      </p:sp>
      <p:sp>
        <p:nvSpPr>
          <p:cNvPr id="10" name="Shape 7"/>
          <p:cNvSpPr/>
          <p:nvPr/>
        </p:nvSpPr>
        <p:spPr>
          <a:xfrm>
            <a:off x="2423160" y="2926080"/>
            <a:ext cx="1554480" cy="310896"/>
          </a:xfrm>
          <a:prstGeom prst="roundRect">
            <a:avLst>
              <a:gd name="adj" fmla="val 50000"/>
            </a:avLst>
          </a:prstGeom>
          <a:solidFill>
            <a:srgbClr val="E9F3EC"/>
          </a:solidFill>
          <a:ln w="12700">
            <a:solidFill>
              <a:srgbClr val="E9F3EC"/>
            </a:solidFill>
            <a:prstDash val="solid"/>
          </a:ln>
        </p:spPr>
      </p:sp>
      <p:sp>
        <p:nvSpPr>
          <p:cNvPr id="11" name="Text 8"/>
          <p:cNvSpPr txBox="1"/>
          <p:nvPr/>
        </p:nvSpPr>
        <p:spPr>
          <a:xfrm>
            <a:off x="2423160" y="2926080"/>
            <a:ext cx="1554480" cy="310896"/>
          </a:xfrm>
          <a:prstGeom prst="rect">
            <a:avLst/>
          </a:prstGeom>
          <a:noFill/>
          <a:ln/>
        </p:spPr>
        <p:txBody>
          <a:bodyPr wrap="square" lIns="0" tIns="0" rIns="0" bIns="0" rtlCol="0" anchor="ctr"/>
          <a:lstStyle/>
          <a:p>
            <a:pPr algn="ctr" indent="0" marL="0">
              <a:buNone/>
            </a:pPr>
            <a:r>
              <a:rPr lang="en-US" sz="1000" b="1" dirty="0">
                <a:solidFill>
                  <a:srgbClr val="0A7F44"/>
                </a:solidFill>
              </a:rPr>
              <a:t>check_limits</a:t>
            </a:r>
            <a:endParaRPr lang="en-US" sz="1000" dirty="0"/>
          </a:p>
        </p:txBody>
      </p:sp>
      <p:sp>
        <p:nvSpPr>
          <p:cNvPr id="12" name="Shape 9"/>
          <p:cNvSpPr/>
          <p:nvPr/>
        </p:nvSpPr>
        <p:spPr>
          <a:xfrm>
            <a:off x="4069080" y="2926080"/>
            <a:ext cx="1554480" cy="310896"/>
          </a:xfrm>
          <a:prstGeom prst="roundRect">
            <a:avLst>
              <a:gd name="adj" fmla="val 50000"/>
            </a:avLst>
          </a:prstGeom>
          <a:solidFill>
            <a:srgbClr val="E9F3EC"/>
          </a:solidFill>
          <a:ln w="12700">
            <a:solidFill>
              <a:srgbClr val="E9F3EC"/>
            </a:solidFill>
            <a:prstDash val="solid"/>
          </a:ln>
        </p:spPr>
      </p:sp>
      <p:sp>
        <p:nvSpPr>
          <p:cNvPr id="13" name="Text 10"/>
          <p:cNvSpPr txBox="1"/>
          <p:nvPr/>
        </p:nvSpPr>
        <p:spPr>
          <a:xfrm>
            <a:off x="4069080" y="2926080"/>
            <a:ext cx="1554480" cy="310896"/>
          </a:xfrm>
          <a:prstGeom prst="rect">
            <a:avLst/>
          </a:prstGeom>
          <a:noFill/>
          <a:ln/>
        </p:spPr>
        <p:txBody>
          <a:bodyPr wrap="square" lIns="0" tIns="0" rIns="0" bIns="0" rtlCol="0" anchor="ctr"/>
          <a:lstStyle/>
          <a:p>
            <a:pPr algn="ctr" indent="0" marL="0">
              <a:buNone/>
            </a:pPr>
            <a:r>
              <a:rPr lang="en-US" sz="1000" b="1" dirty="0">
                <a:solidFill>
                  <a:srgbClr val="0A7F44"/>
                </a:solidFill>
              </a:rPr>
              <a:t>recall</a:t>
            </a:r>
            <a:endParaRPr lang="en-US" sz="1000" dirty="0"/>
          </a:p>
        </p:txBody>
      </p:sp>
      <p:sp>
        <p:nvSpPr>
          <p:cNvPr id="14" name="Shape 11"/>
          <p:cNvSpPr/>
          <p:nvPr/>
        </p:nvSpPr>
        <p:spPr>
          <a:xfrm>
            <a:off x="777240" y="3310128"/>
            <a:ext cx="1554480" cy="310896"/>
          </a:xfrm>
          <a:prstGeom prst="roundRect">
            <a:avLst>
              <a:gd name="adj" fmla="val 50000"/>
            </a:avLst>
          </a:prstGeom>
          <a:solidFill>
            <a:srgbClr val="E9F3EC"/>
          </a:solidFill>
          <a:ln w="12700">
            <a:solidFill>
              <a:srgbClr val="E9F3EC"/>
            </a:solidFill>
            <a:prstDash val="solid"/>
          </a:ln>
        </p:spPr>
      </p:sp>
      <p:sp>
        <p:nvSpPr>
          <p:cNvPr id="15" name="Text 12"/>
          <p:cNvSpPr txBox="1"/>
          <p:nvPr/>
        </p:nvSpPr>
        <p:spPr>
          <a:xfrm>
            <a:off x="777240" y="3310128"/>
            <a:ext cx="1554480" cy="310896"/>
          </a:xfrm>
          <a:prstGeom prst="rect">
            <a:avLst/>
          </a:prstGeom>
          <a:noFill/>
          <a:ln/>
        </p:spPr>
        <p:txBody>
          <a:bodyPr wrap="square" lIns="0" tIns="0" rIns="0" bIns="0" rtlCol="0" anchor="ctr"/>
          <a:lstStyle/>
          <a:p>
            <a:pPr algn="ctr" indent="0" marL="0">
              <a:buNone/>
            </a:pPr>
            <a:r>
              <a:rPr lang="en-US" sz="1000" b="1" dirty="0">
                <a:solidFill>
                  <a:srgbClr val="0A7F44"/>
                </a:solidFill>
              </a:rPr>
              <a:t>find_partners</a:t>
            </a:r>
            <a:endParaRPr lang="en-US" sz="1000" dirty="0"/>
          </a:p>
        </p:txBody>
      </p:sp>
      <p:sp>
        <p:nvSpPr>
          <p:cNvPr id="16" name="Shape 13"/>
          <p:cNvSpPr/>
          <p:nvPr/>
        </p:nvSpPr>
        <p:spPr>
          <a:xfrm>
            <a:off x="2423160" y="3310128"/>
            <a:ext cx="1554480" cy="310896"/>
          </a:xfrm>
          <a:prstGeom prst="roundRect">
            <a:avLst>
              <a:gd name="adj" fmla="val 50000"/>
            </a:avLst>
          </a:prstGeom>
          <a:solidFill>
            <a:srgbClr val="E9F3EC"/>
          </a:solidFill>
          <a:ln w="12700">
            <a:solidFill>
              <a:srgbClr val="E9F3EC"/>
            </a:solidFill>
            <a:prstDash val="solid"/>
          </a:ln>
        </p:spPr>
      </p:sp>
      <p:sp>
        <p:nvSpPr>
          <p:cNvPr id="17" name="Text 14"/>
          <p:cNvSpPr txBox="1"/>
          <p:nvPr/>
        </p:nvSpPr>
        <p:spPr>
          <a:xfrm>
            <a:off x="2423160" y="3310128"/>
            <a:ext cx="1554480" cy="310896"/>
          </a:xfrm>
          <a:prstGeom prst="rect">
            <a:avLst/>
          </a:prstGeom>
          <a:noFill/>
          <a:ln/>
        </p:spPr>
        <p:txBody>
          <a:bodyPr wrap="square" lIns="0" tIns="0" rIns="0" bIns="0" rtlCol="0" anchor="ctr"/>
          <a:lstStyle/>
          <a:p>
            <a:pPr algn="ctr" indent="0" marL="0">
              <a:buNone/>
            </a:pPr>
            <a:r>
              <a:rPr lang="en-US" sz="1000" b="1" dirty="0">
                <a:solidFill>
                  <a:srgbClr val="0A7F44"/>
                </a:solidFill>
              </a:rPr>
              <a:t>find_places</a:t>
            </a:r>
            <a:endParaRPr lang="en-US" sz="1000" dirty="0"/>
          </a:p>
        </p:txBody>
      </p:sp>
      <p:sp>
        <p:nvSpPr>
          <p:cNvPr id="18" name="Shape 15"/>
          <p:cNvSpPr/>
          <p:nvPr/>
        </p:nvSpPr>
        <p:spPr>
          <a:xfrm>
            <a:off x="4069080" y="3310128"/>
            <a:ext cx="1554480" cy="310896"/>
          </a:xfrm>
          <a:prstGeom prst="roundRect">
            <a:avLst>
              <a:gd name="adj" fmla="val 50000"/>
            </a:avLst>
          </a:prstGeom>
          <a:solidFill>
            <a:srgbClr val="E9F3EC"/>
          </a:solidFill>
          <a:ln w="12700">
            <a:solidFill>
              <a:srgbClr val="E9F3EC"/>
            </a:solidFill>
            <a:prstDash val="solid"/>
          </a:ln>
        </p:spPr>
      </p:sp>
      <p:sp>
        <p:nvSpPr>
          <p:cNvPr id="19" name="Text 16"/>
          <p:cNvSpPr txBox="1"/>
          <p:nvPr/>
        </p:nvSpPr>
        <p:spPr>
          <a:xfrm>
            <a:off x="4069080" y="3310128"/>
            <a:ext cx="1554480" cy="310896"/>
          </a:xfrm>
          <a:prstGeom prst="rect">
            <a:avLst/>
          </a:prstGeom>
          <a:noFill/>
          <a:ln/>
        </p:spPr>
        <p:txBody>
          <a:bodyPr wrap="square" lIns="0" tIns="0" rIns="0" bIns="0" rtlCol="0" anchor="ctr"/>
          <a:lstStyle/>
          <a:p>
            <a:pPr algn="ctr" indent="0" marL="0">
              <a:buNone/>
            </a:pPr>
            <a:r>
              <a:rPr lang="en-US" sz="1000" b="1" dirty="0">
                <a:solidFill>
                  <a:srgbClr val="0A7F44"/>
                </a:solidFill>
              </a:rPr>
              <a:t>negotiate</a:t>
            </a:r>
            <a:endParaRPr lang="en-US" sz="1000" dirty="0"/>
          </a:p>
        </p:txBody>
      </p:sp>
      <p:sp>
        <p:nvSpPr>
          <p:cNvPr id="20" name="Shape 17"/>
          <p:cNvSpPr/>
          <p:nvPr/>
        </p:nvSpPr>
        <p:spPr>
          <a:xfrm>
            <a:off x="777240" y="3694176"/>
            <a:ext cx="1554480" cy="310896"/>
          </a:xfrm>
          <a:prstGeom prst="roundRect">
            <a:avLst>
              <a:gd name="adj" fmla="val 50000"/>
            </a:avLst>
          </a:prstGeom>
          <a:solidFill>
            <a:srgbClr val="E9F3EC"/>
          </a:solidFill>
          <a:ln w="12700">
            <a:solidFill>
              <a:srgbClr val="E9F3EC"/>
            </a:solidFill>
            <a:prstDash val="solid"/>
          </a:ln>
        </p:spPr>
      </p:sp>
      <p:sp>
        <p:nvSpPr>
          <p:cNvPr id="21" name="Text 18"/>
          <p:cNvSpPr txBox="1"/>
          <p:nvPr/>
        </p:nvSpPr>
        <p:spPr>
          <a:xfrm>
            <a:off x="777240" y="3694176"/>
            <a:ext cx="1554480" cy="310896"/>
          </a:xfrm>
          <a:prstGeom prst="rect">
            <a:avLst/>
          </a:prstGeom>
          <a:noFill/>
          <a:ln/>
        </p:spPr>
        <p:txBody>
          <a:bodyPr wrap="square" lIns="0" tIns="0" rIns="0" bIns="0" rtlCol="0" anchor="ctr"/>
          <a:lstStyle/>
          <a:p>
            <a:pPr algn="ctr" indent="0" marL="0">
              <a:buNone/>
            </a:pPr>
            <a:r>
              <a:rPr lang="en-US" sz="1000" b="1" dirty="0">
                <a:solidFill>
                  <a:srgbClr val="0A7F44"/>
                </a:solidFill>
              </a:rPr>
              <a:t>request_approval</a:t>
            </a:r>
            <a:endParaRPr lang="en-US" sz="1000" dirty="0"/>
          </a:p>
        </p:txBody>
      </p:sp>
      <p:sp>
        <p:nvSpPr>
          <p:cNvPr id="22" name="Shape 19"/>
          <p:cNvSpPr/>
          <p:nvPr/>
        </p:nvSpPr>
        <p:spPr>
          <a:xfrm>
            <a:off x="2423160" y="3694176"/>
            <a:ext cx="1554480" cy="310896"/>
          </a:xfrm>
          <a:prstGeom prst="roundRect">
            <a:avLst>
              <a:gd name="adj" fmla="val 50000"/>
            </a:avLst>
          </a:prstGeom>
          <a:solidFill>
            <a:srgbClr val="E9F3EC"/>
          </a:solidFill>
          <a:ln w="12700">
            <a:solidFill>
              <a:srgbClr val="E9F3EC"/>
            </a:solidFill>
            <a:prstDash val="solid"/>
          </a:ln>
        </p:spPr>
      </p:sp>
      <p:sp>
        <p:nvSpPr>
          <p:cNvPr id="23" name="Text 20"/>
          <p:cNvSpPr txBox="1"/>
          <p:nvPr/>
        </p:nvSpPr>
        <p:spPr>
          <a:xfrm>
            <a:off x="2423160" y="3694176"/>
            <a:ext cx="1554480" cy="310896"/>
          </a:xfrm>
          <a:prstGeom prst="rect">
            <a:avLst/>
          </a:prstGeom>
          <a:noFill/>
          <a:ln/>
        </p:spPr>
        <p:txBody>
          <a:bodyPr wrap="square" lIns="0" tIns="0" rIns="0" bIns="0" rtlCol="0" anchor="ctr"/>
          <a:lstStyle/>
          <a:p>
            <a:pPr algn="ctr" indent="0" marL="0">
              <a:buNone/>
            </a:pPr>
            <a:r>
              <a:rPr lang="en-US" sz="1000" b="1" dirty="0">
                <a:solidFill>
                  <a:srgbClr val="0A7F44"/>
                </a:solidFill>
              </a:rPr>
              <a:t>nudge</a:t>
            </a:r>
            <a:endParaRPr lang="en-US" sz="1000" dirty="0"/>
          </a:p>
        </p:txBody>
      </p:sp>
      <p:sp>
        <p:nvSpPr>
          <p:cNvPr id="24" name="Shape 21"/>
          <p:cNvSpPr/>
          <p:nvPr/>
        </p:nvSpPr>
        <p:spPr>
          <a:xfrm>
            <a:off x="4069080" y="3694176"/>
            <a:ext cx="1554480" cy="310896"/>
          </a:xfrm>
          <a:prstGeom prst="roundRect">
            <a:avLst>
              <a:gd name="adj" fmla="val 50000"/>
            </a:avLst>
          </a:prstGeom>
          <a:solidFill>
            <a:srgbClr val="E9F3EC"/>
          </a:solidFill>
          <a:ln w="12700">
            <a:solidFill>
              <a:srgbClr val="E9F3EC"/>
            </a:solidFill>
            <a:prstDash val="solid"/>
          </a:ln>
        </p:spPr>
      </p:sp>
      <p:sp>
        <p:nvSpPr>
          <p:cNvPr id="25" name="Text 22"/>
          <p:cNvSpPr txBox="1"/>
          <p:nvPr/>
        </p:nvSpPr>
        <p:spPr>
          <a:xfrm>
            <a:off x="4069080" y="3694176"/>
            <a:ext cx="1554480" cy="310896"/>
          </a:xfrm>
          <a:prstGeom prst="rect">
            <a:avLst/>
          </a:prstGeom>
          <a:noFill/>
          <a:ln/>
        </p:spPr>
        <p:txBody>
          <a:bodyPr wrap="square" lIns="0" tIns="0" rIns="0" bIns="0" rtlCol="0" anchor="ctr"/>
          <a:lstStyle/>
          <a:p>
            <a:pPr algn="ctr" indent="0" marL="0">
              <a:buNone/>
            </a:pPr>
            <a:r>
              <a:rPr lang="en-US" sz="1000" b="1" dirty="0">
                <a:solidFill>
                  <a:srgbClr val="0A7F44"/>
                </a:solidFill>
              </a:rPr>
              <a:t>finish</a:t>
            </a:r>
            <a:endParaRPr lang="en-US" sz="1000" dirty="0"/>
          </a:p>
        </p:txBody>
      </p:sp>
      <p:sp>
        <p:nvSpPr>
          <p:cNvPr id="26" name="Text 23"/>
          <p:cNvSpPr txBox="1"/>
          <p:nvPr/>
        </p:nvSpPr>
        <p:spPr>
          <a:xfrm>
            <a:off x="777240" y="4069080"/>
            <a:ext cx="4937760" cy="20116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0A0A0B"/>
                </a:solidFill>
              </a:rPr>
              <a:t>12 steps at most; rules finish the week if it stalls</a:t>
            </a:r>
            <a:endParaRPr lang="en-US" sz="1250" dirty="0"/>
          </a:p>
          <a:p>
            <a:pPr marL="177800" indent="-177800">
              <a:spcAft>
                <a:spcPts val="600"/>
              </a:spcAft>
              <a:buSzPct val="100000"/>
              <a:buChar char="•"/>
            </a:pPr>
            <a:r>
              <a:rPr lang="en-US" sz="1250" dirty="0">
                <a:solidFill>
                  <a:srgbClr val="0A0A0B"/>
                </a:solidFill>
              </a:rPr>
              <a:t>A refused call (a day outside the week, a member who isn't free) comes back as a fact, and it re-plans</a:t>
            </a:r>
            <a:endParaRPr lang="en-US" sz="1250" dirty="0"/>
          </a:p>
          <a:p>
            <a:pPr marL="177800" indent="-177800">
              <a:spcAft>
                <a:spcPts val="600"/>
              </a:spcAft>
              <a:buSzPct val="100000"/>
              <a:buChar char="•"/>
            </a:pPr>
            <a:r>
              <a:rPr lang="en-US" sz="1250" dirty="0">
                <a:solidFill>
                  <a:srgbClr val="0A0A0B"/>
                </a:solidFill>
              </a:rPr>
              <a:t>Replies in JSON Schemas, checked again in code; a reply that never fits is no answer, never a yes</a:t>
            </a:r>
            <a:endParaRPr lang="en-US" sz="1250" dirty="0"/>
          </a:p>
        </p:txBody>
      </p:sp>
      <p:sp>
        <p:nvSpPr>
          <p:cNvPr id="27" name="Shape 24"/>
          <p:cNvSpPr/>
          <p:nvPr/>
        </p:nvSpPr>
        <p:spPr>
          <a:xfrm>
            <a:off x="6172200" y="1691640"/>
            <a:ext cx="5440680" cy="4526280"/>
          </a:xfrm>
          <a:prstGeom prst="roundRect">
            <a:avLst>
              <a:gd name="adj" fmla="val 2424"/>
            </a:avLst>
          </a:prstGeom>
          <a:solidFill>
            <a:srgbClr val="E8F1FD"/>
          </a:solidFill>
          <a:ln w="12700">
            <a:solidFill>
              <a:srgbClr val="E8F1FD"/>
            </a:solidFill>
            <a:prstDash val="solid"/>
          </a:ln>
        </p:spPr>
      </p:sp>
      <p:sp>
        <p:nvSpPr>
          <p:cNvPr id="28" name="Text 25"/>
          <p:cNvSpPr txBox="1"/>
          <p:nvPr/>
        </p:nvSpPr>
        <p:spPr>
          <a:xfrm>
            <a:off x="6400800" y="1874520"/>
            <a:ext cx="4937760" cy="365760"/>
          </a:xfrm>
          <a:prstGeom prst="rect">
            <a:avLst/>
          </a:prstGeom>
          <a:noFill/>
          <a:ln/>
        </p:spPr>
        <p:txBody>
          <a:bodyPr wrap="square" lIns="0" tIns="0" rIns="0" bIns="0" rtlCol="0" anchor="t"/>
          <a:lstStyle/>
          <a:p>
            <a:pPr indent="0" marL="0">
              <a:buNone/>
            </a:pPr>
            <a:r>
              <a:rPr lang="en-US" sz="1800" b="1" dirty="0">
                <a:solidFill>
                  <a:srgbClr val="0A0A0B"/>
                </a:solidFill>
              </a:rPr>
              <a:t>Agent to agent · A2A v1.0</a:t>
            </a:r>
            <a:endParaRPr lang="en-US" sz="1800" dirty="0"/>
          </a:p>
        </p:txBody>
      </p:sp>
      <p:sp>
        <p:nvSpPr>
          <p:cNvPr id="29" name="Text 26"/>
          <p:cNvSpPr txBox="1"/>
          <p:nvPr/>
        </p:nvSpPr>
        <p:spPr>
          <a:xfrm>
            <a:off x="6400800" y="2286000"/>
            <a:ext cx="5029200" cy="548640"/>
          </a:xfrm>
          <a:prstGeom prst="rect">
            <a:avLst/>
          </a:prstGeom>
          <a:noFill/>
          <a:ln/>
        </p:spPr>
        <p:txBody>
          <a:bodyPr wrap="square" lIns="0" tIns="0" rIns="0" bIns="0" rtlCol="0" anchor="t"/>
          <a:lstStyle/>
          <a:p>
            <a:pPr indent="0" marL="0">
              <a:buNone/>
            </a:pPr>
            <a:r>
              <a:rPr lang="en-US" sz="1250" dirty="0">
                <a:solidFill>
                  <a:srgbClr val="55555C"/>
                </a:solidFill>
              </a:rPr>
              <a:t>On the official SDK. One negotiation is one A2A context, and one trace.</a:t>
            </a:r>
            <a:endParaRPr lang="en-US" sz="1250" dirty="0"/>
          </a:p>
        </p:txBody>
      </p:sp>
      <p:sp>
        <p:nvSpPr>
          <p:cNvPr id="30" name="Text 27"/>
          <p:cNvSpPr txBox="1"/>
          <p:nvPr/>
        </p:nvSpPr>
        <p:spPr>
          <a:xfrm>
            <a:off x="6400800" y="2926080"/>
            <a:ext cx="1920240" cy="502920"/>
          </a:xfrm>
          <a:prstGeom prst="rect">
            <a:avLst/>
          </a:prstGeom>
          <a:noFill/>
          <a:ln/>
        </p:spPr>
        <p:txBody>
          <a:bodyPr wrap="square" lIns="0" tIns="0" rIns="0" bIns="0" rtlCol="0" anchor="t"/>
          <a:lstStyle/>
          <a:p>
            <a:pPr indent="0" marL="0">
              <a:buNone/>
            </a:pPr>
            <a:r>
              <a:rPr lang="en-US" sz="1250" b="1" dirty="0">
                <a:solidFill>
                  <a:srgbClr val="0A0A0B"/>
                </a:solidFill>
              </a:rPr>
              <a:t>Signed Agent Cards</a:t>
            </a:r>
            <a:endParaRPr lang="en-US" sz="1250" dirty="0"/>
          </a:p>
        </p:txBody>
      </p:sp>
      <p:sp>
        <p:nvSpPr>
          <p:cNvPr id="31" name="Text 28"/>
          <p:cNvSpPr txBox="1"/>
          <p:nvPr/>
        </p:nvSpPr>
        <p:spPr>
          <a:xfrm>
            <a:off x="8321040" y="2926080"/>
            <a:ext cx="3154680" cy="502920"/>
          </a:xfrm>
          <a:prstGeom prst="rect">
            <a:avLst/>
          </a:prstGeom>
          <a:noFill/>
          <a:ln/>
        </p:spPr>
        <p:txBody>
          <a:bodyPr wrap="square" lIns="0" tIns="0" rIns="0" bIns="0" rtlCol="0" anchor="t"/>
          <a:lstStyle/>
          <a:p>
            <a:pPr indent="0" marL="0">
              <a:buNone/>
            </a:pPr>
            <a:r>
              <a:rPr lang="en-US" sz="1200" dirty="0">
                <a:solidFill>
                  <a:srgbClr val="0A0A0B"/>
                </a:solidFill>
              </a:rPr>
              <a:t>Ed25519, checked before your agent talks to it</a:t>
            </a:r>
            <a:endParaRPr lang="en-US" sz="1200" dirty="0"/>
          </a:p>
        </p:txBody>
      </p:sp>
      <p:sp>
        <p:nvSpPr>
          <p:cNvPr id="32" name="Text 29"/>
          <p:cNvSpPr txBox="1"/>
          <p:nvPr/>
        </p:nvSpPr>
        <p:spPr>
          <a:xfrm>
            <a:off x="6400800" y="3493008"/>
            <a:ext cx="1920240" cy="502920"/>
          </a:xfrm>
          <a:prstGeom prst="rect">
            <a:avLst/>
          </a:prstGeom>
          <a:noFill/>
          <a:ln/>
        </p:spPr>
        <p:txBody>
          <a:bodyPr wrap="square" lIns="0" tIns="0" rIns="0" bIns="0" rtlCol="0" anchor="t"/>
          <a:lstStyle/>
          <a:p>
            <a:pPr indent="0" marL="0">
              <a:buNone/>
            </a:pPr>
            <a:r>
              <a:rPr lang="en-US" sz="1250" b="1" dirty="0">
                <a:solidFill>
                  <a:srgbClr val="0A0A0B"/>
                </a:solidFill>
              </a:rPr>
              <a:t>Usually one round</a:t>
            </a:r>
            <a:endParaRPr lang="en-US" sz="1250" dirty="0"/>
          </a:p>
        </p:txBody>
      </p:sp>
      <p:sp>
        <p:nvSpPr>
          <p:cNvPr id="33" name="Text 30"/>
          <p:cNvSpPr txBox="1"/>
          <p:nvPr/>
        </p:nvSpPr>
        <p:spPr>
          <a:xfrm>
            <a:off x="8321040" y="3493008"/>
            <a:ext cx="3154680" cy="502920"/>
          </a:xfrm>
          <a:prstGeom prst="rect">
            <a:avLst/>
          </a:prstGeom>
          <a:noFill/>
          <a:ln/>
        </p:spPr>
        <p:txBody>
          <a:bodyPr wrap="square" lIns="0" tIns="0" rIns="0" bIns="0" rtlCol="0" anchor="t"/>
          <a:lstStyle/>
          <a:p>
            <a:pPr indent="0" marL="0">
              <a:buNone/>
            </a:pPr>
            <a:r>
              <a:rPr lang="en-US" sz="1200" dirty="0">
                <a:solidFill>
                  <a:srgbClr val="0A0A0B"/>
                </a:solidFill>
              </a:rPr>
              <a:t>Each agent marks the times that work; code picks from the overlap; a counter-offer if none fits</a:t>
            </a:r>
            <a:endParaRPr lang="en-US" sz="1200" dirty="0"/>
          </a:p>
        </p:txBody>
      </p:sp>
      <p:sp>
        <p:nvSpPr>
          <p:cNvPr id="34" name="Text 31"/>
          <p:cNvSpPr txBox="1"/>
          <p:nvPr/>
        </p:nvSpPr>
        <p:spPr>
          <a:xfrm>
            <a:off x="6400800" y="4059936"/>
            <a:ext cx="1920240" cy="502920"/>
          </a:xfrm>
          <a:prstGeom prst="rect">
            <a:avLst/>
          </a:prstGeom>
          <a:noFill/>
          <a:ln/>
        </p:spPr>
        <p:txBody>
          <a:bodyPr wrap="square" lIns="0" tIns="0" rIns="0" bIns="0" rtlCol="0" anchor="t"/>
          <a:lstStyle/>
          <a:p>
            <a:pPr indent="0" marL="0">
              <a:buNone/>
            </a:pPr>
            <a:r>
              <a:rPr lang="en-US" sz="1250" b="1" dirty="0">
                <a:solidFill>
                  <a:srgbClr val="0A0A0B"/>
                </a:solidFill>
              </a:rPr>
              <a:t>Held, all or nothing</a:t>
            </a:r>
            <a:endParaRPr lang="en-US" sz="1250" dirty="0"/>
          </a:p>
        </p:txBody>
      </p:sp>
      <p:sp>
        <p:nvSpPr>
          <p:cNvPr id="35" name="Text 32"/>
          <p:cNvSpPr txBox="1"/>
          <p:nvPr/>
        </p:nvSpPr>
        <p:spPr>
          <a:xfrm>
            <a:off x="8321040" y="4059936"/>
            <a:ext cx="3154680" cy="502920"/>
          </a:xfrm>
          <a:prstGeom prst="rect">
            <a:avLst/>
          </a:prstGeom>
          <a:noFill/>
          <a:ln/>
        </p:spPr>
        <p:txBody>
          <a:bodyPr wrap="square" lIns="0" tIns="0" rIns="0" bIns="0" rtlCol="0" anchor="t"/>
          <a:lstStyle/>
          <a:p>
            <a:pPr indent="0" marL="0">
              <a:buNone/>
            </a:pPr>
            <a:r>
              <a:rPr lang="en-US" sz="1200" dirty="0">
                <a:solidFill>
                  <a:srgbClr val="0A0A0B"/>
                </a:solidFill>
              </a:rPr>
              <a:t>A 30-minute hold, so two talks never agree the same member twice</a:t>
            </a:r>
            <a:endParaRPr lang="en-US" sz="1200" dirty="0"/>
          </a:p>
        </p:txBody>
      </p:sp>
      <p:sp>
        <p:nvSpPr>
          <p:cNvPr id="36" name="Text 33"/>
          <p:cNvSpPr txBox="1"/>
          <p:nvPr/>
        </p:nvSpPr>
        <p:spPr>
          <a:xfrm>
            <a:off x="6400800" y="4626864"/>
            <a:ext cx="1920240" cy="502920"/>
          </a:xfrm>
          <a:prstGeom prst="rect">
            <a:avLst/>
          </a:prstGeom>
          <a:noFill/>
          <a:ln/>
        </p:spPr>
        <p:txBody>
          <a:bodyPr wrap="square" lIns="0" tIns="0" rIns="0" bIns="0" rtlCol="0" anchor="t"/>
          <a:lstStyle/>
          <a:p>
            <a:pPr indent="0" marL="0">
              <a:buNone/>
            </a:pPr>
            <a:r>
              <a:rPr lang="en-US" sz="1250" b="1" dirty="0">
                <a:solidFill>
                  <a:srgbClr val="0A0A0B"/>
                </a:solidFill>
              </a:rPr>
              <a:t>Survives a crash</a:t>
            </a:r>
            <a:endParaRPr lang="en-US" sz="1250" dirty="0"/>
          </a:p>
        </p:txBody>
      </p:sp>
      <p:sp>
        <p:nvSpPr>
          <p:cNvPr id="37" name="Text 34"/>
          <p:cNvSpPr txBox="1"/>
          <p:nvPr/>
        </p:nvSpPr>
        <p:spPr>
          <a:xfrm>
            <a:off x="8321040" y="4626864"/>
            <a:ext cx="3154680" cy="502920"/>
          </a:xfrm>
          <a:prstGeom prst="rect">
            <a:avLst/>
          </a:prstGeom>
          <a:noFill/>
          <a:ln/>
        </p:spPr>
        <p:txBody>
          <a:bodyPr wrap="square" lIns="0" tIns="0" rIns="0" bIns="0" rtlCol="0" anchor="t"/>
          <a:lstStyle/>
          <a:p>
            <a:pPr indent="0" marL="0">
              <a:buNone/>
            </a:pPr>
            <a:r>
              <a:rPr lang="en-US" sz="1200" dirty="0">
                <a:solidFill>
                  <a:srgbClr val="0A0A0B"/>
                </a:solidFill>
              </a:rPr>
              <a:t>Killed at each of five steps: booked exactly once every time</a:t>
            </a:r>
            <a:endParaRPr lang="en-US" sz="1200" dirty="0"/>
          </a:p>
        </p:txBody>
      </p:sp>
      <p:sp>
        <p:nvSpPr>
          <p:cNvPr id="38" name="Shape 35"/>
          <p:cNvSpPr/>
          <p:nvPr/>
        </p:nvSpPr>
        <p:spPr>
          <a:xfrm>
            <a:off x="6400800" y="5257800"/>
            <a:ext cx="4983480" cy="777240"/>
          </a:xfrm>
          <a:prstGeom prst="roundRect">
            <a:avLst>
              <a:gd name="adj" fmla="val 14118"/>
            </a:avLst>
          </a:prstGeom>
          <a:solidFill>
            <a:srgbClr val="FFFFFF"/>
          </a:solidFill>
          <a:ln w="12700">
            <a:solidFill>
              <a:srgbClr val="FFFFFF"/>
            </a:solidFill>
            <a:prstDash val="solid"/>
          </a:ln>
        </p:spPr>
      </p:sp>
      <p:sp>
        <p:nvSpPr>
          <p:cNvPr id="39" name="Text 36"/>
          <p:cNvSpPr txBox="1"/>
          <p:nvPr/>
        </p:nvSpPr>
        <p:spPr>
          <a:xfrm>
            <a:off x="6583680" y="5257800"/>
            <a:ext cx="1463040" cy="777240"/>
          </a:xfrm>
          <a:prstGeom prst="rect">
            <a:avLst/>
          </a:prstGeom>
          <a:noFill/>
          <a:ln/>
        </p:spPr>
        <p:txBody>
          <a:bodyPr wrap="square" lIns="0" tIns="0" rIns="0" bIns="0" rtlCol="0" anchor="ctr"/>
          <a:lstStyle/>
          <a:p>
            <a:pPr indent="0" marL="0">
              <a:buNone/>
            </a:pPr>
            <a:r>
              <a:rPr lang="en-US" sz="2800" b="1" dirty="0">
                <a:solidFill>
                  <a:srgbClr val="0064E0"/>
                </a:solidFill>
              </a:rPr>
              <a:t>22 / 22</a:t>
            </a:r>
            <a:endParaRPr lang="en-US" sz="2800" dirty="0"/>
          </a:p>
        </p:txBody>
      </p:sp>
      <p:sp>
        <p:nvSpPr>
          <p:cNvPr id="40" name="Text 37"/>
          <p:cNvSpPr txBox="1"/>
          <p:nvPr/>
        </p:nvSpPr>
        <p:spPr>
          <a:xfrm>
            <a:off x="8092440" y="5257800"/>
            <a:ext cx="3200400" cy="777240"/>
          </a:xfrm>
          <a:prstGeom prst="rect">
            <a:avLst/>
          </a:prstGeom>
          <a:noFill/>
          <a:ln/>
        </p:spPr>
        <p:txBody>
          <a:bodyPr wrap="square" lIns="0" tIns="0" rIns="0" bIns="0" rtlCol="0" anchor="ctr"/>
          <a:lstStyle/>
          <a:p>
            <a:pPr indent="0" marL="0">
              <a:buNone/>
            </a:pPr>
            <a:r>
              <a:rPr lang="en-US" sz="1150" dirty="0">
                <a:solidFill>
                  <a:srgbClr val="0A0A0B"/>
                </a:solidFill>
              </a:rPr>
              <a:t>checks across two machines: my GPU server in Taipei and a gateway on a cloud A100</a:t>
            </a:r>
            <a:endParaRPr lang="en-US" sz="115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ALL 15 META MODELS</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15 Meta models: 12 in the product, 3 for checks</a:t>
            </a:r>
            <a:endParaRPr lang="en-US" sz="3200" dirty="0"/>
          </a:p>
        </p:txBody>
      </p:sp>
      <p:sp>
        <p:nvSpPr>
          <p:cNvPr id="5" name="Shape 2"/>
          <p:cNvSpPr/>
          <p:nvPr/>
        </p:nvSpPr>
        <p:spPr>
          <a:xfrm>
            <a:off x="548640" y="1645920"/>
            <a:ext cx="1764792" cy="1353312"/>
          </a:xfrm>
          <a:prstGeom prst="roundRect">
            <a:avLst>
              <a:gd name="adj" fmla="val 8108"/>
            </a:avLst>
          </a:prstGeom>
          <a:solidFill>
            <a:srgbClr val="E9F3EC"/>
          </a:solidFill>
          <a:ln w="12700">
            <a:solidFill>
              <a:srgbClr val="E9F3EC"/>
            </a:solidFill>
            <a:prstDash val="solid"/>
          </a:ln>
        </p:spPr>
      </p:sp>
      <p:sp>
        <p:nvSpPr>
          <p:cNvPr id="6" name="Text 3"/>
          <p:cNvSpPr txBox="1"/>
          <p:nvPr/>
        </p:nvSpPr>
        <p:spPr>
          <a:xfrm>
            <a:off x="676656" y="1764792"/>
            <a:ext cx="1554480" cy="228600"/>
          </a:xfrm>
          <a:prstGeom prst="rect">
            <a:avLst/>
          </a:prstGeom>
          <a:noFill/>
          <a:ln/>
        </p:spPr>
        <p:txBody>
          <a:bodyPr wrap="square" lIns="0" tIns="0" rIns="0" bIns="0" rtlCol="0" anchor="t"/>
          <a:lstStyle/>
          <a:p>
            <a:pPr indent="0" marL="0">
              <a:buNone/>
            </a:pPr>
            <a:r>
              <a:rPr lang="en-US" sz="850" b="1" spc="100" kern="0" dirty="0">
                <a:solidFill>
                  <a:srgbClr val="0A7F44"/>
                </a:solidFill>
              </a:rPr>
              <a:t>REASONING</a:t>
            </a:r>
            <a:endParaRPr lang="en-US" sz="850" dirty="0"/>
          </a:p>
        </p:txBody>
      </p:sp>
      <p:sp>
        <p:nvSpPr>
          <p:cNvPr id="7" name="Text 4"/>
          <p:cNvSpPr txBox="1"/>
          <p:nvPr/>
        </p:nvSpPr>
        <p:spPr>
          <a:xfrm>
            <a:off x="676656" y="1993392"/>
            <a:ext cx="1545336" cy="274320"/>
          </a:xfrm>
          <a:prstGeom prst="rect">
            <a:avLst/>
          </a:prstGeom>
          <a:noFill/>
          <a:ln/>
        </p:spPr>
        <p:txBody>
          <a:bodyPr wrap="square" lIns="0" tIns="0" rIns="0" bIns="0" rtlCol="0" anchor="t"/>
          <a:lstStyle/>
          <a:p>
            <a:pPr indent="0" marL="0">
              <a:buNone/>
            </a:pPr>
            <a:r>
              <a:rPr lang="en-US" sz="1250" b="1" dirty="0">
                <a:solidFill>
                  <a:srgbClr val="0A0A0B"/>
                </a:solidFill>
              </a:rPr>
              <a:t>Muse Glimmer</a:t>
            </a:r>
            <a:endParaRPr lang="en-US" sz="1250" dirty="0"/>
          </a:p>
        </p:txBody>
      </p:sp>
      <p:sp>
        <p:nvSpPr>
          <p:cNvPr id="8" name="Text 5"/>
          <p:cNvSpPr txBox="1"/>
          <p:nvPr/>
        </p:nvSpPr>
        <p:spPr>
          <a:xfrm>
            <a:off x="676656" y="2267712"/>
            <a:ext cx="1545336" cy="475488"/>
          </a:xfrm>
          <a:prstGeom prst="rect">
            <a:avLst/>
          </a:prstGeom>
          <a:noFill/>
          <a:ln/>
        </p:spPr>
        <p:txBody>
          <a:bodyPr wrap="square" lIns="0" tIns="0" rIns="0" bIns="0" rtlCol="0" anchor="t"/>
          <a:lstStyle/>
          <a:p>
            <a:pPr indent="0" marL="0">
              <a:buNone/>
            </a:pPr>
            <a:r>
              <a:rPr lang="en-US" sz="850" dirty="0">
                <a:solidFill>
                  <a:srgbClr val="0A0A0B"/>
                </a:solidFill>
              </a:rPr>
              <a:t>Every agent: the tool loop, members' decisions, photos, courts, captions</a:t>
            </a:r>
            <a:endParaRPr lang="en-US" sz="850" dirty="0"/>
          </a:p>
        </p:txBody>
      </p:sp>
      <p:sp>
        <p:nvSpPr>
          <p:cNvPr id="9" name="Text 6"/>
          <p:cNvSpPr txBox="1"/>
          <p:nvPr/>
        </p:nvSpPr>
        <p:spPr>
          <a:xfrm>
            <a:off x="676656" y="2743200"/>
            <a:ext cx="1563624" cy="201168"/>
          </a:xfrm>
          <a:prstGeom prst="rect">
            <a:avLst/>
          </a:prstGeom>
          <a:noFill/>
          <a:ln/>
        </p:spPr>
        <p:txBody>
          <a:bodyPr wrap="square" lIns="0" tIns="0" rIns="0" bIns="0" rtlCol="0" anchor="t"/>
          <a:lstStyle/>
          <a:p>
            <a:pPr indent="0" marL="0">
              <a:buNone/>
            </a:pPr>
            <a:r>
              <a:rPr lang="en-US" sz="800" dirty="0">
                <a:solidFill>
                  <a:srgbClr val="55555C"/>
                </a:solidFill>
              </a:rPr>
              <a:t>RTX 3090 · Ollama · 4 in parallel</a:t>
            </a:r>
            <a:endParaRPr lang="en-US" sz="800" dirty="0"/>
          </a:p>
        </p:txBody>
      </p:sp>
      <p:sp>
        <p:nvSpPr>
          <p:cNvPr id="10" name="Shape 7"/>
          <p:cNvSpPr/>
          <p:nvPr/>
        </p:nvSpPr>
        <p:spPr>
          <a:xfrm>
            <a:off x="2404872" y="1645920"/>
            <a:ext cx="1764792" cy="1353312"/>
          </a:xfrm>
          <a:prstGeom prst="roundRect">
            <a:avLst>
              <a:gd name="adj" fmla="val 8108"/>
            </a:avLst>
          </a:prstGeom>
          <a:solidFill>
            <a:srgbClr val="E9F3EC"/>
          </a:solidFill>
          <a:ln w="12700">
            <a:solidFill>
              <a:srgbClr val="E9F3EC"/>
            </a:solidFill>
            <a:prstDash val="solid"/>
          </a:ln>
        </p:spPr>
      </p:sp>
      <p:sp>
        <p:nvSpPr>
          <p:cNvPr id="11" name="Text 8"/>
          <p:cNvSpPr txBox="1"/>
          <p:nvPr/>
        </p:nvSpPr>
        <p:spPr>
          <a:xfrm>
            <a:off x="2532888" y="1764792"/>
            <a:ext cx="1554480" cy="228600"/>
          </a:xfrm>
          <a:prstGeom prst="rect">
            <a:avLst/>
          </a:prstGeom>
          <a:noFill/>
          <a:ln/>
        </p:spPr>
        <p:txBody>
          <a:bodyPr wrap="square" lIns="0" tIns="0" rIns="0" bIns="0" rtlCol="0" anchor="t"/>
          <a:lstStyle/>
          <a:p>
            <a:pPr indent="0" marL="0">
              <a:buNone/>
            </a:pPr>
            <a:r>
              <a:rPr lang="en-US" sz="850" b="1" spc="100" kern="0" dirty="0">
                <a:solidFill>
                  <a:srgbClr val="0A7F44"/>
                </a:solidFill>
              </a:rPr>
              <a:t>REASONING</a:t>
            </a:r>
            <a:endParaRPr lang="en-US" sz="850" dirty="0"/>
          </a:p>
        </p:txBody>
      </p:sp>
      <p:sp>
        <p:nvSpPr>
          <p:cNvPr id="12" name="Text 9"/>
          <p:cNvSpPr txBox="1"/>
          <p:nvPr/>
        </p:nvSpPr>
        <p:spPr>
          <a:xfrm>
            <a:off x="2532888" y="1993392"/>
            <a:ext cx="1545336" cy="274320"/>
          </a:xfrm>
          <a:prstGeom prst="rect">
            <a:avLst/>
          </a:prstGeom>
          <a:noFill/>
          <a:ln/>
        </p:spPr>
        <p:txBody>
          <a:bodyPr wrap="square" lIns="0" tIns="0" rIns="0" bIns="0" rtlCol="0" anchor="t"/>
          <a:lstStyle/>
          <a:p>
            <a:pPr indent="0" marL="0">
              <a:buNone/>
            </a:pPr>
            <a:r>
              <a:rPr lang="en-US" sz="1250" b="1" dirty="0">
                <a:solidFill>
                  <a:srgbClr val="0A0A0B"/>
                </a:solidFill>
              </a:rPr>
              <a:t>Llama 3.2 1B</a:t>
            </a:r>
            <a:endParaRPr lang="en-US" sz="1250" dirty="0"/>
          </a:p>
        </p:txBody>
      </p:sp>
      <p:sp>
        <p:nvSpPr>
          <p:cNvPr id="13" name="Text 10"/>
          <p:cNvSpPr txBox="1"/>
          <p:nvPr/>
        </p:nvSpPr>
        <p:spPr>
          <a:xfrm>
            <a:off x="2532888" y="2267712"/>
            <a:ext cx="1545336" cy="475488"/>
          </a:xfrm>
          <a:prstGeom prst="rect">
            <a:avLst/>
          </a:prstGeom>
          <a:noFill/>
          <a:ln/>
        </p:spPr>
        <p:txBody>
          <a:bodyPr wrap="square" lIns="0" tIns="0" rIns="0" bIns="0" rtlCol="0" anchor="t"/>
          <a:lstStyle/>
          <a:p>
            <a:pPr indent="0" marL="0">
              <a:buNone/>
            </a:pPr>
            <a:r>
              <a:rPr lang="en-US" sz="850" dirty="0">
                <a:solidFill>
                  <a:srgbClr val="0A0A0B"/>
                </a:solidFill>
              </a:rPr>
              <a:t>Distilled from Glimmer; answers alone when sure</a:t>
            </a:r>
            <a:endParaRPr lang="en-US" sz="850" dirty="0"/>
          </a:p>
        </p:txBody>
      </p:sp>
      <p:sp>
        <p:nvSpPr>
          <p:cNvPr id="14" name="Text 11"/>
          <p:cNvSpPr txBox="1"/>
          <p:nvPr/>
        </p:nvSpPr>
        <p:spPr>
          <a:xfrm>
            <a:off x="2532888" y="2743200"/>
            <a:ext cx="1563624" cy="201168"/>
          </a:xfrm>
          <a:prstGeom prst="rect">
            <a:avLst/>
          </a:prstGeom>
          <a:noFill/>
          <a:ln/>
        </p:spPr>
        <p:txBody>
          <a:bodyPr wrap="square" lIns="0" tIns="0" rIns="0" bIns="0" rtlCol="0" anchor="t"/>
          <a:lstStyle/>
          <a:p>
            <a:pPr indent="0" marL="0">
              <a:buNone/>
            </a:pPr>
            <a:r>
              <a:rPr lang="en-US" sz="800" dirty="0">
                <a:solidFill>
                  <a:srgbClr val="55555C"/>
                </a:solidFill>
              </a:rPr>
              <a:t>CPU · in the app</a:t>
            </a:r>
            <a:endParaRPr lang="en-US" sz="800" dirty="0"/>
          </a:p>
        </p:txBody>
      </p:sp>
      <p:sp>
        <p:nvSpPr>
          <p:cNvPr id="15" name="Shape 12"/>
          <p:cNvSpPr/>
          <p:nvPr/>
        </p:nvSpPr>
        <p:spPr>
          <a:xfrm>
            <a:off x="4261104" y="1645920"/>
            <a:ext cx="1764792" cy="1353312"/>
          </a:xfrm>
          <a:prstGeom prst="roundRect">
            <a:avLst>
              <a:gd name="adj" fmla="val 8108"/>
            </a:avLst>
          </a:prstGeom>
          <a:solidFill>
            <a:srgbClr val="FBEAE9"/>
          </a:solidFill>
          <a:ln w="12700">
            <a:solidFill>
              <a:srgbClr val="FBEAE9"/>
            </a:solidFill>
            <a:prstDash val="solid"/>
          </a:ln>
        </p:spPr>
      </p:sp>
      <p:sp>
        <p:nvSpPr>
          <p:cNvPr id="16" name="Text 13"/>
          <p:cNvSpPr txBox="1"/>
          <p:nvPr/>
        </p:nvSpPr>
        <p:spPr>
          <a:xfrm>
            <a:off x="4389120" y="1764792"/>
            <a:ext cx="1554480" cy="228600"/>
          </a:xfrm>
          <a:prstGeom prst="rect">
            <a:avLst/>
          </a:prstGeom>
          <a:noFill/>
          <a:ln/>
        </p:spPr>
        <p:txBody>
          <a:bodyPr wrap="square" lIns="0" tIns="0" rIns="0" bIns="0" rtlCol="0" anchor="t"/>
          <a:lstStyle/>
          <a:p>
            <a:pPr indent="0" marL="0">
              <a:buNone/>
            </a:pPr>
            <a:r>
              <a:rPr lang="en-US" sz="850" b="1" spc="100" kern="0" dirty="0">
                <a:solidFill>
                  <a:srgbClr val="D1352B"/>
                </a:solidFill>
              </a:rPr>
              <a:t>SAFETY</a:t>
            </a:r>
            <a:endParaRPr lang="en-US" sz="850" dirty="0"/>
          </a:p>
        </p:txBody>
      </p:sp>
      <p:sp>
        <p:nvSpPr>
          <p:cNvPr id="17" name="Text 14"/>
          <p:cNvSpPr txBox="1"/>
          <p:nvPr/>
        </p:nvSpPr>
        <p:spPr>
          <a:xfrm>
            <a:off x="4389120" y="1993392"/>
            <a:ext cx="1545336" cy="274320"/>
          </a:xfrm>
          <a:prstGeom prst="rect">
            <a:avLst/>
          </a:prstGeom>
          <a:noFill/>
          <a:ln/>
        </p:spPr>
        <p:txBody>
          <a:bodyPr wrap="square" lIns="0" tIns="0" rIns="0" bIns="0" rtlCol="0" anchor="t"/>
          <a:lstStyle/>
          <a:p>
            <a:pPr indent="0" marL="0">
              <a:buNone/>
            </a:pPr>
            <a:r>
              <a:rPr lang="en-US" sz="1250" b="1" dirty="0">
                <a:solidFill>
                  <a:srgbClr val="0A0A0B"/>
                </a:solidFill>
              </a:rPr>
              <a:t>Llama Guard 3 1B</a:t>
            </a:r>
            <a:endParaRPr lang="en-US" sz="1250" dirty="0"/>
          </a:p>
        </p:txBody>
      </p:sp>
      <p:sp>
        <p:nvSpPr>
          <p:cNvPr id="18" name="Text 15"/>
          <p:cNvSpPr txBox="1"/>
          <p:nvPr/>
        </p:nvSpPr>
        <p:spPr>
          <a:xfrm>
            <a:off x="4389120" y="2267712"/>
            <a:ext cx="1545336" cy="475488"/>
          </a:xfrm>
          <a:prstGeom prst="rect">
            <a:avLst/>
          </a:prstGeom>
          <a:noFill/>
          <a:ln/>
        </p:spPr>
        <p:txBody>
          <a:bodyPr wrap="square" lIns="0" tIns="0" rIns="0" bIns="0" rtlCol="0" anchor="t"/>
          <a:lstStyle/>
          <a:p>
            <a:pPr indent="0" marL="0">
              <a:buNone/>
            </a:pPr>
            <a:r>
              <a:rPr lang="en-US" sz="850" dirty="0">
                <a:solidFill>
                  <a:srgbClr val="0A0A0B"/>
                </a:solidFill>
              </a:rPr>
              <a:t>What you write, what a model writes, every idea shared with the club</a:t>
            </a:r>
            <a:endParaRPr lang="en-US" sz="850" dirty="0"/>
          </a:p>
        </p:txBody>
      </p:sp>
      <p:sp>
        <p:nvSpPr>
          <p:cNvPr id="19" name="Text 16"/>
          <p:cNvSpPr txBox="1"/>
          <p:nvPr/>
        </p:nvSpPr>
        <p:spPr>
          <a:xfrm>
            <a:off x="4389120" y="2743200"/>
            <a:ext cx="1563624" cy="201168"/>
          </a:xfrm>
          <a:prstGeom prst="rect">
            <a:avLst/>
          </a:prstGeom>
          <a:noFill/>
          <a:ln/>
        </p:spPr>
        <p:txBody>
          <a:bodyPr wrap="square" lIns="0" tIns="0" rIns="0" bIns="0" rtlCol="0" anchor="t"/>
          <a:lstStyle/>
          <a:p>
            <a:pPr indent="0" marL="0">
              <a:buNone/>
            </a:pPr>
            <a:r>
              <a:rPr lang="en-US" sz="800" dirty="0">
                <a:solidFill>
                  <a:srgbClr val="55555C"/>
                </a:solidFill>
              </a:rPr>
              <a:t>CPU</a:t>
            </a:r>
            <a:endParaRPr lang="en-US" sz="800" dirty="0"/>
          </a:p>
        </p:txBody>
      </p:sp>
      <p:sp>
        <p:nvSpPr>
          <p:cNvPr id="20" name="Shape 17"/>
          <p:cNvSpPr/>
          <p:nvPr/>
        </p:nvSpPr>
        <p:spPr>
          <a:xfrm>
            <a:off x="6117336" y="1645920"/>
            <a:ext cx="1764792" cy="1353312"/>
          </a:xfrm>
          <a:prstGeom prst="roundRect">
            <a:avLst>
              <a:gd name="adj" fmla="val 8108"/>
            </a:avLst>
          </a:prstGeom>
          <a:solidFill>
            <a:srgbClr val="FBEAE9"/>
          </a:solidFill>
          <a:ln w="12700">
            <a:solidFill>
              <a:srgbClr val="FBEAE9"/>
            </a:solidFill>
            <a:prstDash val="solid"/>
          </a:ln>
        </p:spPr>
      </p:sp>
      <p:sp>
        <p:nvSpPr>
          <p:cNvPr id="21" name="Text 18"/>
          <p:cNvSpPr txBox="1"/>
          <p:nvPr/>
        </p:nvSpPr>
        <p:spPr>
          <a:xfrm>
            <a:off x="6245352" y="1764792"/>
            <a:ext cx="1554480" cy="228600"/>
          </a:xfrm>
          <a:prstGeom prst="rect">
            <a:avLst/>
          </a:prstGeom>
          <a:noFill/>
          <a:ln/>
        </p:spPr>
        <p:txBody>
          <a:bodyPr wrap="square" lIns="0" tIns="0" rIns="0" bIns="0" rtlCol="0" anchor="t"/>
          <a:lstStyle/>
          <a:p>
            <a:pPr indent="0" marL="0">
              <a:buNone/>
            </a:pPr>
            <a:r>
              <a:rPr lang="en-US" sz="850" b="1" spc="100" kern="0" dirty="0">
                <a:solidFill>
                  <a:srgbClr val="D1352B"/>
                </a:solidFill>
              </a:rPr>
              <a:t>SAFETY</a:t>
            </a:r>
            <a:endParaRPr lang="en-US" sz="850" dirty="0"/>
          </a:p>
        </p:txBody>
      </p:sp>
      <p:sp>
        <p:nvSpPr>
          <p:cNvPr id="22" name="Text 19"/>
          <p:cNvSpPr txBox="1"/>
          <p:nvPr/>
        </p:nvSpPr>
        <p:spPr>
          <a:xfrm>
            <a:off x="6245352" y="1993392"/>
            <a:ext cx="1545336" cy="274320"/>
          </a:xfrm>
          <a:prstGeom prst="rect">
            <a:avLst/>
          </a:prstGeom>
          <a:noFill/>
          <a:ln/>
        </p:spPr>
        <p:txBody>
          <a:bodyPr wrap="square" lIns="0" tIns="0" rIns="0" bIns="0" rtlCol="0" anchor="t"/>
          <a:lstStyle/>
          <a:p>
            <a:pPr indent="0" marL="0">
              <a:buNone/>
            </a:pPr>
            <a:r>
              <a:rPr lang="en-US" sz="1250" b="1" dirty="0">
                <a:solidFill>
                  <a:srgbClr val="0A0A0B"/>
                </a:solidFill>
              </a:rPr>
              <a:t>Prompt Guard 2</a:t>
            </a:r>
            <a:endParaRPr lang="en-US" sz="1250" dirty="0"/>
          </a:p>
        </p:txBody>
      </p:sp>
      <p:sp>
        <p:nvSpPr>
          <p:cNvPr id="23" name="Text 20"/>
          <p:cNvSpPr txBox="1"/>
          <p:nvPr/>
        </p:nvSpPr>
        <p:spPr>
          <a:xfrm>
            <a:off x="6245352" y="2267712"/>
            <a:ext cx="1545336" cy="475488"/>
          </a:xfrm>
          <a:prstGeom prst="rect">
            <a:avLst/>
          </a:prstGeom>
          <a:noFill/>
          <a:ln/>
        </p:spPr>
        <p:txBody>
          <a:bodyPr wrap="square" lIns="0" tIns="0" rIns="0" bIns="0" rtlCol="0" anchor="t"/>
          <a:lstStyle/>
          <a:p>
            <a:pPr indent="0" marL="0">
              <a:buNone/>
            </a:pPr>
            <a:r>
              <a:rPr lang="en-US" sz="850" dirty="0">
                <a:solidFill>
                  <a:srgbClr val="0A0A0B"/>
                </a:solidFill>
              </a:rPr>
              <a:t>Google reviews before the court judge reads them; shared ideas</a:t>
            </a:r>
            <a:endParaRPr lang="en-US" sz="850" dirty="0"/>
          </a:p>
        </p:txBody>
      </p:sp>
      <p:sp>
        <p:nvSpPr>
          <p:cNvPr id="24" name="Text 21"/>
          <p:cNvSpPr txBox="1"/>
          <p:nvPr/>
        </p:nvSpPr>
        <p:spPr>
          <a:xfrm>
            <a:off x="6245352" y="2743200"/>
            <a:ext cx="1563624" cy="201168"/>
          </a:xfrm>
          <a:prstGeom prst="rect">
            <a:avLst/>
          </a:prstGeom>
          <a:noFill/>
          <a:ln/>
        </p:spPr>
        <p:txBody>
          <a:bodyPr wrap="square" lIns="0" tIns="0" rIns="0" bIns="0" rtlCol="0" anchor="t"/>
          <a:lstStyle/>
          <a:p>
            <a:pPr indent="0" marL="0">
              <a:buNone/>
            </a:pPr>
            <a:r>
              <a:rPr lang="en-US" sz="800" dirty="0">
                <a:solidFill>
                  <a:srgbClr val="55555C"/>
                </a:solidFill>
              </a:rPr>
              <a:t>CPU · 86M</a:t>
            </a:r>
            <a:endParaRPr lang="en-US" sz="800" dirty="0"/>
          </a:p>
        </p:txBody>
      </p:sp>
      <p:sp>
        <p:nvSpPr>
          <p:cNvPr id="25" name="Shape 22"/>
          <p:cNvSpPr/>
          <p:nvPr/>
        </p:nvSpPr>
        <p:spPr>
          <a:xfrm>
            <a:off x="7973568" y="1645920"/>
            <a:ext cx="1764792" cy="1353312"/>
          </a:xfrm>
          <a:prstGeom prst="roundRect">
            <a:avLst>
              <a:gd name="adj" fmla="val 8108"/>
            </a:avLst>
          </a:prstGeom>
          <a:solidFill>
            <a:srgbClr val="F6F7F8"/>
          </a:solidFill>
          <a:ln w="12700">
            <a:solidFill>
              <a:srgbClr val="F6F7F8"/>
            </a:solidFill>
            <a:prstDash val="solid"/>
          </a:ln>
        </p:spPr>
      </p:sp>
      <p:sp>
        <p:nvSpPr>
          <p:cNvPr id="26" name="Text 23"/>
          <p:cNvSpPr txBox="1"/>
          <p:nvPr/>
        </p:nvSpPr>
        <p:spPr>
          <a:xfrm>
            <a:off x="8101584" y="1764792"/>
            <a:ext cx="1554480" cy="228600"/>
          </a:xfrm>
          <a:prstGeom prst="rect">
            <a:avLst/>
          </a:prstGeom>
          <a:noFill/>
          <a:ln/>
        </p:spPr>
        <p:txBody>
          <a:bodyPr wrap="square" lIns="0" tIns="0" rIns="0" bIns="0" rtlCol="0" anchor="t"/>
          <a:lstStyle/>
          <a:p>
            <a:pPr indent="0" marL="0">
              <a:buNone/>
            </a:pPr>
            <a:r>
              <a:rPr lang="en-US" sz="850" b="1" spc="100" kern="0" dirty="0">
                <a:solidFill>
                  <a:srgbClr val="55555C"/>
                </a:solidFill>
              </a:rPr>
              <a:t>MEMORY</a:t>
            </a:r>
            <a:endParaRPr lang="en-US" sz="850" dirty="0"/>
          </a:p>
        </p:txBody>
      </p:sp>
      <p:sp>
        <p:nvSpPr>
          <p:cNvPr id="27" name="Text 24"/>
          <p:cNvSpPr txBox="1"/>
          <p:nvPr/>
        </p:nvSpPr>
        <p:spPr>
          <a:xfrm>
            <a:off x="8101584" y="1993392"/>
            <a:ext cx="1545336" cy="274320"/>
          </a:xfrm>
          <a:prstGeom prst="rect">
            <a:avLst/>
          </a:prstGeom>
          <a:noFill/>
          <a:ln/>
        </p:spPr>
        <p:txBody>
          <a:bodyPr wrap="square" lIns="0" tIns="0" rIns="0" bIns="0" rtlCol="0" anchor="t"/>
          <a:lstStyle/>
          <a:p>
            <a:pPr indent="0" marL="0">
              <a:buNone/>
            </a:pPr>
            <a:r>
              <a:rPr lang="en-US" sz="1250" b="1" dirty="0">
                <a:solidFill>
                  <a:srgbClr val="0A0A0B"/>
                </a:solidFill>
              </a:rPr>
              <a:t>DRAMA</a:t>
            </a:r>
            <a:endParaRPr lang="en-US" sz="1250" dirty="0"/>
          </a:p>
        </p:txBody>
      </p:sp>
      <p:sp>
        <p:nvSpPr>
          <p:cNvPr id="28" name="Text 25"/>
          <p:cNvSpPr txBox="1"/>
          <p:nvPr/>
        </p:nvSpPr>
        <p:spPr>
          <a:xfrm>
            <a:off x="8101584" y="2267712"/>
            <a:ext cx="1545336" cy="475488"/>
          </a:xfrm>
          <a:prstGeom prst="rect">
            <a:avLst/>
          </a:prstGeom>
          <a:noFill/>
          <a:ln/>
        </p:spPr>
        <p:txBody>
          <a:bodyPr wrap="square" lIns="0" tIns="0" rIns="0" bIns="0" rtlCol="0" anchor="t"/>
          <a:lstStyle/>
          <a:p>
            <a:pPr indent="0" marL="0">
              <a:buNone/>
            </a:pPr>
            <a:r>
              <a:rPr lang="en-US" sz="850" dirty="0">
                <a:solidFill>
                  <a:srgbClr val="0A0A0B"/>
                </a:solidFill>
              </a:rPr>
              <a:t>Agent memory: what matters for your week, by meaning</a:t>
            </a:r>
            <a:endParaRPr lang="en-US" sz="850" dirty="0"/>
          </a:p>
        </p:txBody>
      </p:sp>
      <p:sp>
        <p:nvSpPr>
          <p:cNvPr id="29" name="Text 26"/>
          <p:cNvSpPr txBox="1"/>
          <p:nvPr/>
        </p:nvSpPr>
        <p:spPr>
          <a:xfrm>
            <a:off x="8101584" y="2743200"/>
            <a:ext cx="1563624" cy="201168"/>
          </a:xfrm>
          <a:prstGeom prst="rect">
            <a:avLst/>
          </a:prstGeom>
          <a:noFill/>
          <a:ln/>
        </p:spPr>
        <p:txBody>
          <a:bodyPr wrap="square" lIns="0" tIns="0" rIns="0" bIns="0" rtlCol="0" anchor="t"/>
          <a:lstStyle/>
          <a:p>
            <a:pPr indent="0" marL="0">
              <a:buNone/>
            </a:pPr>
            <a:r>
              <a:rPr lang="en-US" sz="800" dirty="0">
                <a:solidFill>
                  <a:srgbClr val="55555C"/>
                </a:solidFill>
              </a:rPr>
              <a:t>CPU</a:t>
            </a:r>
            <a:endParaRPr lang="en-US" sz="800" dirty="0"/>
          </a:p>
        </p:txBody>
      </p:sp>
      <p:sp>
        <p:nvSpPr>
          <p:cNvPr id="30" name="Shape 27"/>
          <p:cNvSpPr/>
          <p:nvPr/>
        </p:nvSpPr>
        <p:spPr>
          <a:xfrm>
            <a:off x="9829800" y="1645920"/>
            <a:ext cx="1764792" cy="1353312"/>
          </a:xfrm>
          <a:prstGeom prst="roundRect">
            <a:avLst>
              <a:gd name="adj" fmla="val 8108"/>
            </a:avLst>
          </a:prstGeom>
          <a:solidFill>
            <a:srgbClr val="F6F7F8"/>
          </a:solidFill>
          <a:ln w="12700">
            <a:solidFill>
              <a:srgbClr val="F6F7F8"/>
            </a:solidFill>
            <a:prstDash val="solid"/>
          </a:ln>
        </p:spPr>
      </p:sp>
      <p:sp>
        <p:nvSpPr>
          <p:cNvPr id="31" name="Text 28"/>
          <p:cNvSpPr txBox="1"/>
          <p:nvPr/>
        </p:nvSpPr>
        <p:spPr>
          <a:xfrm>
            <a:off x="9957816" y="1764792"/>
            <a:ext cx="1554480" cy="228600"/>
          </a:xfrm>
          <a:prstGeom prst="rect">
            <a:avLst/>
          </a:prstGeom>
          <a:noFill/>
          <a:ln/>
        </p:spPr>
        <p:txBody>
          <a:bodyPr wrap="square" lIns="0" tIns="0" rIns="0" bIns="0" rtlCol="0" anchor="t"/>
          <a:lstStyle/>
          <a:p>
            <a:pPr indent="0" marL="0">
              <a:buNone/>
            </a:pPr>
            <a:r>
              <a:rPr lang="en-US" sz="850" b="1" spc="100" kern="0" dirty="0">
                <a:solidFill>
                  <a:srgbClr val="55555C"/>
                </a:solidFill>
              </a:rPr>
              <a:t>VOICE</a:t>
            </a:r>
            <a:endParaRPr lang="en-US" sz="850" dirty="0"/>
          </a:p>
        </p:txBody>
      </p:sp>
      <p:sp>
        <p:nvSpPr>
          <p:cNvPr id="32" name="Text 29"/>
          <p:cNvSpPr txBox="1"/>
          <p:nvPr/>
        </p:nvSpPr>
        <p:spPr>
          <a:xfrm>
            <a:off x="9957816" y="1993392"/>
            <a:ext cx="1545336" cy="274320"/>
          </a:xfrm>
          <a:prstGeom prst="rect">
            <a:avLst/>
          </a:prstGeom>
          <a:noFill/>
          <a:ln/>
        </p:spPr>
        <p:txBody>
          <a:bodyPr wrap="square" lIns="0" tIns="0" rIns="0" bIns="0" rtlCol="0" anchor="t"/>
          <a:lstStyle/>
          <a:p>
            <a:pPr indent="0" marL="0">
              <a:buNone/>
            </a:pPr>
            <a:r>
              <a:rPr lang="en-US" sz="1250" b="1" dirty="0">
                <a:solidFill>
                  <a:srgbClr val="0A0A0B"/>
                </a:solidFill>
              </a:rPr>
              <a:t>Omnilingual ASR</a:t>
            </a:r>
            <a:endParaRPr lang="en-US" sz="1250" dirty="0"/>
          </a:p>
        </p:txBody>
      </p:sp>
      <p:sp>
        <p:nvSpPr>
          <p:cNvPr id="33" name="Text 30"/>
          <p:cNvSpPr txBox="1"/>
          <p:nvPr/>
        </p:nvSpPr>
        <p:spPr>
          <a:xfrm>
            <a:off x="9957816" y="2267712"/>
            <a:ext cx="1545336" cy="475488"/>
          </a:xfrm>
          <a:prstGeom prst="rect">
            <a:avLst/>
          </a:prstGeom>
          <a:noFill/>
          <a:ln/>
        </p:spPr>
        <p:txBody>
          <a:bodyPr wrap="square" lIns="0" tIns="0" rIns="0" bIns="0" rtlCol="0" anchor="t"/>
          <a:lstStyle/>
          <a:p>
            <a:pPr indent="0" marL="0">
              <a:buNone/>
            </a:pPr>
            <a:r>
              <a:rPr lang="en-US" sz="850" dirty="0">
                <a:solidFill>
                  <a:srgbClr val="0A0A0B"/>
                </a:solidFill>
              </a:rPr>
              <a:t>Voice notes in Messenger to text</a:t>
            </a:r>
            <a:endParaRPr lang="en-US" sz="850" dirty="0"/>
          </a:p>
        </p:txBody>
      </p:sp>
      <p:sp>
        <p:nvSpPr>
          <p:cNvPr id="34" name="Text 31"/>
          <p:cNvSpPr txBox="1"/>
          <p:nvPr/>
        </p:nvSpPr>
        <p:spPr>
          <a:xfrm>
            <a:off x="9957816" y="2743200"/>
            <a:ext cx="1563624" cy="201168"/>
          </a:xfrm>
          <a:prstGeom prst="rect">
            <a:avLst/>
          </a:prstGeom>
          <a:noFill/>
          <a:ln/>
        </p:spPr>
        <p:txBody>
          <a:bodyPr wrap="square" lIns="0" tIns="0" rIns="0" bIns="0" rtlCol="0" anchor="t"/>
          <a:lstStyle/>
          <a:p>
            <a:pPr indent="0" marL="0">
              <a:buNone/>
            </a:pPr>
            <a:r>
              <a:rPr lang="en-US" sz="800" dirty="0">
                <a:solidFill>
                  <a:srgbClr val="55555C"/>
                </a:solidFill>
              </a:rPr>
              <a:t>CPU · CTC 1B</a:t>
            </a:r>
            <a:endParaRPr lang="en-US" sz="800" dirty="0"/>
          </a:p>
        </p:txBody>
      </p:sp>
      <p:sp>
        <p:nvSpPr>
          <p:cNvPr id="35" name="Shape 32"/>
          <p:cNvSpPr/>
          <p:nvPr/>
        </p:nvSpPr>
        <p:spPr>
          <a:xfrm>
            <a:off x="548640" y="3108960"/>
            <a:ext cx="1764792" cy="1353312"/>
          </a:xfrm>
          <a:prstGeom prst="roundRect">
            <a:avLst>
              <a:gd name="adj" fmla="val 8108"/>
            </a:avLst>
          </a:prstGeom>
          <a:solidFill>
            <a:srgbClr val="E8F1FD"/>
          </a:solidFill>
          <a:ln w="12700">
            <a:solidFill>
              <a:srgbClr val="E8F1FD"/>
            </a:solidFill>
            <a:prstDash val="solid"/>
          </a:ln>
        </p:spPr>
      </p:sp>
      <p:sp>
        <p:nvSpPr>
          <p:cNvPr id="36" name="Text 33"/>
          <p:cNvSpPr txBox="1"/>
          <p:nvPr/>
        </p:nvSpPr>
        <p:spPr>
          <a:xfrm>
            <a:off x="676656" y="3227832"/>
            <a:ext cx="1554480" cy="228600"/>
          </a:xfrm>
          <a:prstGeom prst="rect">
            <a:avLst/>
          </a:prstGeom>
          <a:noFill/>
          <a:ln/>
        </p:spPr>
        <p:txBody>
          <a:bodyPr wrap="square" lIns="0" tIns="0" rIns="0" bIns="0" rtlCol="0" anchor="t"/>
          <a:lstStyle/>
          <a:p>
            <a:pPr indent="0" marL="0">
              <a:buNone/>
            </a:pPr>
            <a:r>
              <a:rPr lang="en-US" sz="850" b="1" spc="100" kern="0" dirty="0">
                <a:solidFill>
                  <a:srgbClr val="0064E0"/>
                </a:solidFill>
              </a:rPr>
              <a:t>VISION</a:t>
            </a:r>
            <a:endParaRPr lang="en-US" sz="850" dirty="0"/>
          </a:p>
        </p:txBody>
      </p:sp>
      <p:sp>
        <p:nvSpPr>
          <p:cNvPr id="37" name="Text 34"/>
          <p:cNvSpPr txBox="1"/>
          <p:nvPr/>
        </p:nvSpPr>
        <p:spPr>
          <a:xfrm>
            <a:off x="676656" y="3456432"/>
            <a:ext cx="1545336" cy="274320"/>
          </a:xfrm>
          <a:prstGeom prst="rect">
            <a:avLst/>
          </a:prstGeom>
          <a:noFill/>
          <a:ln/>
        </p:spPr>
        <p:txBody>
          <a:bodyPr wrap="square" lIns="0" tIns="0" rIns="0" bIns="0" rtlCol="0" anchor="t"/>
          <a:lstStyle/>
          <a:p>
            <a:pPr indent="0" marL="0">
              <a:buNone/>
            </a:pPr>
            <a:r>
              <a:rPr lang="en-US" sz="1250" b="1" dirty="0">
                <a:solidFill>
                  <a:srgbClr val="0A0A0B"/>
                </a:solidFill>
              </a:rPr>
              <a:t>DETR</a:t>
            </a:r>
            <a:endParaRPr lang="en-US" sz="1250" dirty="0"/>
          </a:p>
        </p:txBody>
      </p:sp>
      <p:sp>
        <p:nvSpPr>
          <p:cNvPr id="38" name="Text 35"/>
          <p:cNvSpPr txBox="1"/>
          <p:nvPr/>
        </p:nvSpPr>
        <p:spPr>
          <a:xfrm>
            <a:off x="676656" y="3730752"/>
            <a:ext cx="1545336" cy="475488"/>
          </a:xfrm>
          <a:prstGeom prst="rect">
            <a:avLst/>
          </a:prstGeom>
          <a:noFill/>
          <a:ln/>
        </p:spPr>
        <p:txBody>
          <a:bodyPr wrap="square" lIns="0" tIns="0" rIns="0" bIns="0" rtlCol="0" anchor="t"/>
          <a:lstStyle/>
          <a:p>
            <a:pPr indent="0" marL="0">
              <a:buNone/>
            </a:pPr>
            <a:r>
              <a:rPr lang="en-US" sz="850" dirty="0">
                <a:solidFill>
                  <a:srgbClr val="0A0A0B"/>
                </a:solidFill>
              </a:rPr>
              <a:t>Finds the people in your video, so the reel follows you</a:t>
            </a:r>
            <a:endParaRPr lang="en-US" sz="850" dirty="0"/>
          </a:p>
        </p:txBody>
      </p:sp>
      <p:sp>
        <p:nvSpPr>
          <p:cNvPr id="39" name="Text 36"/>
          <p:cNvSpPr txBox="1"/>
          <p:nvPr/>
        </p:nvSpPr>
        <p:spPr>
          <a:xfrm>
            <a:off x="676656" y="4206240"/>
            <a:ext cx="1563624" cy="201168"/>
          </a:xfrm>
          <a:prstGeom prst="rect">
            <a:avLst/>
          </a:prstGeom>
          <a:noFill/>
          <a:ln/>
        </p:spPr>
        <p:txBody>
          <a:bodyPr wrap="square" lIns="0" tIns="0" rIns="0" bIns="0" rtlCol="0" anchor="t"/>
          <a:lstStyle/>
          <a:p>
            <a:pPr indent="0" marL="0">
              <a:buNone/>
            </a:pPr>
            <a:r>
              <a:rPr lang="en-US" sz="800" dirty="0">
                <a:solidFill>
                  <a:srgbClr val="55555C"/>
                </a:solidFill>
              </a:rPr>
              <a:t>GPU</a:t>
            </a:r>
            <a:endParaRPr lang="en-US" sz="800" dirty="0"/>
          </a:p>
        </p:txBody>
      </p:sp>
      <p:sp>
        <p:nvSpPr>
          <p:cNvPr id="40" name="Shape 37"/>
          <p:cNvSpPr/>
          <p:nvPr/>
        </p:nvSpPr>
        <p:spPr>
          <a:xfrm>
            <a:off x="2404872" y="3108960"/>
            <a:ext cx="1764792" cy="1353312"/>
          </a:xfrm>
          <a:prstGeom prst="roundRect">
            <a:avLst>
              <a:gd name="adj" fmla="val 8108"/>
            </a:avLst>
          </a:prstGeom>
          <a:solidFill>
            <a:srgbClr val="E8F1FD"/>
          </a:solidFill>
          <a:ln w="12700">
            <a:solidFill>
              <a:srgbClr val="E8F1FD"/>
            </a:solidFill>
            <a:prstDash val="solid"/>
          </a:ln>
        </p:spPr>
      </p:sp>
      <p:sp>
        <p:nvSpPr>
          <p:cNvPr id="41" name="Text 38"/>
          <p:cNvSpPr txBox="1"/>
          <p:nvPr/>
        </p:nvSpPr>
        <p:spPr>
          <a:xfrm>
            <a:off x="2532888" y="3227832"/>
            <a:ext cx="1554480" cy="228600"/>
          </a:xfrm>
          <a:prstGeom prst="rect">
            <a:avLst/>
          </a:prstGeom>
          <a:noFill/>
          <a:ln/>
        </p:spPr>
        <p:txBody>
          <a:bodyPr wrap="square" lIns="0" tIns="0" rIns="0" bIns="0" rtlCol="0" anchor="t"/>
          <a:lstStyle/>
          <a:p>
            <a:pPr indent="0" marL="0">
              <a:buNone/>
            </a:pPr>
            <a:r>
              <a:rPr lang="en-US" sz="850" b="1" spc="100" kern="0" dirty="0">
                <a:solidFill>
                  <a:srgbClr val="0064E0"/>
                </a:solidFill>
              </a:rPr>
              <a:t>VISION</a:t>
            </a:r>
            <a:endParaRPr lang="en-US" sz="850" dirty="0"/>
          </a:p>
        </p:txBody>
      </p:sp>
      <p:sp>
        <p:nvSpPr>
          <p:cNvPr id="42" name="Text 39"/>
          <p:cNvSpPr txBox="1"/>
          <p:nvPr/>
        </p:nvSpPr>
        <p:spPr>
          <a:xfrm>
            <a:off x="2532888" y="3456432"/>
            <a:ext cx="1545336" cy="274320"/>
          </a:xfrm>
          <a:prstGeom prst="rect">
            <a:avLst/>
          </a:prstGeom>
          <a:noFill/>
          <a:ln/>
        </p:spPr>
        <p:txBody>
          <a:bodyPr wrap="square" lIns="0" tIns="0" rIns="0" bIns="0" rtlCol="0" anchor="t"/>
          <a:lstStyle/>
          <a:p>
            <a:pPr indent="0" marL="0">
              <a:buNone/>
            </a:pPr>
            <a:r>
              <a:rPr lang="en-US" sz="1250" b="1" dirty="0">
                <a:solidFill>
                  <a:srgbClr val="0A0A0B"/>
                </a:solidFill>
              </a:rPr>
              <a:t>Sapiens2</a:t>
            </a:r>
            <a:endParaRPr lang="en-US" sz="1250" dirty="0"/>
          </a:p>
        </p:txBody>
      </p:sp>
      <p:sp>
        <p:nvSpPr>
          <p:cNvPr id="43" name="Text 40"/>
          <p:cNvSpPr txBox="1"/>
          <p:nvPr/>
        </p:nvSpPr>
        <p:spPr>
          <a:xfrm>
            <a:off x="2532888" y="3730752"/>
            <a:ext cx="1545336" cy="475488"/>
          </a:xfrm>
          <a:prstGeom prst="rect">
            <a:avLst/>
          </a:prstGeom>
          <a:noFill/>
          <a:ln/>
        </p:spPr>
        <p:txBody>
          <a:bodyPr wrap="square" lIns="0" tIns="0" rIns="0" bIns="0" rtlCol="0" anchor="t"/>
          <a:lstStyle/>
          <a:p>
            <a:pPr indent="0" marL="0">
              <a:buNone/>
            </a:pPr>
            <a:r>
              <a:rPr lang="en-US" sz="850" dirty="0">
                <a:solidFill>
                  <a:srgbClr val="0A0A0B"/>
                </a:solidFill>
              </a:rPr>
              <a:t>Finds the moment worth sharing in your clip</a:t>
            </a:r>
            <a:endParaRPr lang="en-US" sz="850" dirty="0"/>
          </a:p>
        </p:txBody>
      </p:sp>
      <p:sp>
        <p:nvSpPr>
          <p:cNvPr id="44" name="Text 41"/>
          <p:cNvSpPr txBox="1"/>
          <p:nvPr/>
        </p:nvSpPr>
        <p:spPr>
          <a:xfrm>
            <a:off x="2532888" y="4206240"/>
            <a:ext cx="1563624" cy="201168"/>
          </a:xfrm>
          <a:prstGeom prst="rect">
            <a:avLst/>
          </a:prstGeom>
          <a:noFill/>
          <a:ln/>
        </p:spPr>
        <p:txBody>
          <a:bodyPr wrap="square" lIns="0" tIns="0" rIns="0" bIns="0" rtlCol="0" anchor="t"/>
          <a:lstStyle/>
          <a:p>
            <a:pPr indent="0" marL="0">
              <a:buNone/>
            </a:pPr>
            <a:r>
              <a:rPr lang="en-US" sz="800" dirty="0">
                <a:solidFill>
                  <a:srgbClr val="55555C"/>
                </a:solidFill>
              </a:rPr>
              <a:t>GPU · 0.4B</a:t>
            </a:r>
            <a:endParaRPr lang="en-US" sz="800" dirty="0"/>
          </a:p>
        </p:txBody>
      </p:sp>
      <p:sp>
        <p:nvSpPr>
          <p:cNvPr id="45" name="Shape 42"/>
          <p:cNvSpPr/>
          <p:nvPr/>
        </p:nvSpPr>
        <p:spPr>
          <a:xfrm>
            <a:off x="4261104" y="3108960"/>
            <a:ext cx="1764792" cy="1353312"/>
          </a:xfrm>
          <a:prstGeom prst="roundRect">
            <a:avLst>
              <a:gd name="adj" fmla="val 8108"/>
            </a:avLst>
          </a:prstGeom>
          <a:solidFill>
            <a:srgbClr val="E8F1FD"/>
          </a:solidFill>
          <a:ln w="12700">
            <a:solidFill>
              <a:srgbClr val="E8F1FD"/>
            </a:solidFill>
            <a:prstDash val="solid"/>
          </a:ln>
        </p:spPr>
      </p:sp>
      <p:sp>
        <p:nvSpPr>
          <p:cNvPr id="46" name="Text 43"/>
          <p:cNvSpPr txBox="1"/>
          <p:nvPr/>
        </p:nvSpPr>
        <p:spPr>
          <a:xfrm>
            <a:off x="4389120" y="3227832"/>
            <a:ext cx="1554480" cy="228600"/>
          </a:xfrm>
          <a:prstGeom prst="rect">
            <a:avLst/>
          </a:prstGeom>
          <a:noFill/>
          <a:ln/>
        </p:spPr>
        <p:txBody>
          <a:bodyPr wrap="square" lIns="0" tIns="0" rIns="0" bIns="0" rtlCol="0" anchor="t"/>
          <a:lstStyle/>
          <a:p>
            <a:pPr indent="0" marL="0">
              <a:buNone/>
            </a:pPr>
            <a:r>
              <a:rPr lang="en-US" sz="850" b="1" spc="100" kern="0" dirty="0">
                <a:solidFill>
                  <a:srgbClr val="0064E0"/>
                </a:solidFill>
              </a:rPr>
              <a:t>VISION</a:t>
            </a:r>
            <a:endParaRPr lang="en-US" sz="850" dirty="0"/>
          </a:p>
        </p:txBody>
      </p:sp>
      <p:sp>
        <p:nvSpPr>
          <p:cNvPr id="47" name="Text 44"/>
          <p:cNvSpPr txBox="1"/>
          <p:nvPr/>
        </p:nvSpPr>
        <p:spPr>
          <a:xfrm>
            <a:off x="4389120" y="3456432"/>
            <a:ext cx="1545336" cy="274320"/>
          </a:xfrm>
          <a:prstGeom prst="rect">
            <a:avLst/>
          </a:prstGeom>
          <a:noFill/>
          <a:ln/>
        </p:spPr>
        <p:txBody>
          <a:bodyPr wrap="square" lIns="0" tIns="0" rIns="0" bIns="0" rtlCol="0" anchor="t"/>
          <a:lstStyle/>
          <a:p>
            <a:pPr indent="0" marL="0">
              <a:buNone/>
            </a:pPr>
            <a:r>
              <a:rPr lang="en-US" sz="1250" b="1" dirty="0">
                <a:solidFill>
                  <a:srgbClr val="0A0A0B"/>
                </a:solidFill>
              </a:rPr>
              <a:t>SAM 2.1</a:t>
            </a:r>
            <a:endParaRPr lang="en-US" sz="1250" dirty="0"/>
          </a:p>
        </p:txBody>
      </p:sp>
      <p:sp>
        <p:nvSpPr>
          <p:cNvPr id="48" name="Text 45"/>
          <p:cNvSpPr txBox="1"/>
          <p:nvPr/>
        </p:nvSpPr>
        <p:spPr>
          <a:xfrm>
            <a:off x="4389120" y="3730752"/>
            <a:ext cx="1545336" cy="475488"/>
          </a:xfrm>
          <a:prstGeom prst="rect">
            <a:avLst/>
          </a:prstGeom>
          <a:noFill/>
          <a:ln/>
        </p:spPr>
        <p:txBody>
          <a:bodyPr wrap="square" lIns="0" tIns="0" rIns="0" bIns="0" rtlCol="0" anchor="t"/>
          <a:lstStyle/>
          <a:p>
            <a:pPr indent="0" marL="0">
              <a:buNone/>
            </a:pPr>
            <a:r>
              <a:rPr lang="en-US" sz="850" dirty="0">
                <a:solidFill>
                  <a:srgbClr val="0A0A0B"/>
                </a:solidFill>
              </a:rPr>
              <a:t>Cuts each player out for the spotlight and the drawn view</a:t>
            </a:r>
            <a:endParaRPr lang="en-US" sz="850" dirty="0"/>
          </a:p>
        </p:txBody>
      </p:sp>
      <p:sp>
        <p:nvSpPr>
          <p:cNvPr id="49" name="Text 46"/>
          <p:cNvSpPr txBox="1"/>
          <p:nvPr/>
        </p:nvSpPr>
        <p:spPr>
          <a:xfrm>
            <a:off x="4389120" y="4206240"/>
            <a:ext cx="1563624" cy="201168"/>
          </a:xfrm>
          <a:prstGeom prst="rect">
            <a:avLst/>
          </a:prstGeom>
          <a:noFill/>
          <a:ln/>
        </p:spPr>
        <p:txBody>
          <a:bodyPr wrap="square" lIns="0" tIns="0" rIns="0" bIns="0" rtlCol="0" anchor="t"/>
          <a:lstStyle/>
          <a:p>
            <a:pPr indent="0" marL="0">
              <a:buNone/>
            </a:pPr>
            <a:r>
              <a:rPr lang="en-US" sz="800" dirty="0">
                <a:solidFill>
                  <a:srgbClr val="55555C"/>
                </a:solidFill>
              </a:rPr>
              <a:t>GPU · Hiera-L</a:t>
            </a:r>
            <a:endParaRPr lang="en-US" sz="800" dirty="0"/>
          </a:p>
        </p:txBody>
      </p:sp>
      <p:sp>
        <p:nvSpPr>
          <p:cNvPr id="50" name="Shape 47"/>
          <p:cNvSpPr/>
          <p:nvPr/>
        </p:nvSpPr>
        <p:spPr>
          <a:xfrm>
            <a:off x="6117336" y="3108960"/>
            <a:ext cx="1764792" cy="1353312"/>
          </a:xfrm>
          <a:prstGeom prst="roundRect">
            <a:avLst>
              <a:gd name="adj" fmla="val 8108"/>
            </a:avLst>
          </a:prstGeom>
          <a:solidFill>
            <a:srgbClr val="E8F1FD"/>
          </a:solidFill>
          <a:ln w="12700">
            <a:solidFill>
              <a:srgbClr val="E8F1FD"/>
            </a:solidFill>
            <a:prstDash val="solid"/>
          </a:ln>
        </p:spPr>
      </p:sp>
      <p:sp>
        <p:nvSpPr>
          <p:cNvPr id="51" name="Text 48"/>
          <p:cNvSpPr txBox="1"/>
          <p:nvPr/>
        </p:nvSpPr>
        <p:spPr>
          <a:xfrm>
            <a:off x="6245352" y="3227832"/>
            <a:ext cx="1554480" cy="228600"/>
          </a:xfrm>
          <a:prstGeom prst="rect">
            <a:avLst/>
          </a:prstGeom>
          <a:noFill/>
          <a:ln/>
        </p:spPr>
        <p:txBody>
          <a:bodyPr wrap="square" lIns="0" tIns="0" rIns="0" bIns="0" rtlCol="0" anchor="t"/>
          <a:lstStyle/>
          <a:p>
            <a:pPr indent="0" marL="0">
              <a:buNone/>
            </a:pPr>
            <a:r>
              <a:rPr lang="en-US" sz="850" b="1" spc="100" kern="0" dirty="0">
                <a:solidFill>
                  <a:srgbClr val="0064E0"/>
                </a:solidFill>
              </a:rPr>
              <a:t>3D</a:t>
            </a:r>
            <a:endParaRPr lang="en-US" sz="850" dirty="0"/>
          </a:p>
        </p:txBody>
      </p:sp>
      <p:sp>
        <p:nvSpPr>
          <p:cNvPr id="52" name="Text 49"/>
          <p:cNvSpPr txBox="1"/>
          <p:nvPr/>
        </p:nvSpPr>
        <p:spPr>
          <a:xfrm>
            <a:off x="6245352" y="3456432"/>
            <a:ext cx="1545336" cy="274320"/>
          </a:xfrm>
          <a:prstGeom prst="rect">
            <a:avLst/>
          </a:prstGeom>
          <a:noFill/>
          <a:ln/>
        </p:spPr>
        <p:txBody>
          <a:bodyPr wrap="square" lIns="0" tIns="0" rIns="0" bIns="0" rtlCol="0" anchor="t"/>
          <a:lstStyle/>
          <a:p>
            <a:pPr indent="0" marL="0">
              <a:buNone/>
            </a:pPr>
            <a:r>
              <a:rPr lang="en-US" sz="1250" b="1" dirty="0">
                <a:solidFill>
                  <a:srgbClr val="0A0A0B"/>
                </a:solidFill>
              </a:rPr>
              <a:t>MapAnything</a:t>
            </a:r>
            <a:endParaRPr lang="en-US" sz="1250" dirty="0"/>
          </a:p>
        </p:txBody>
      </p:sp>
      <p:sp>
        <p:nvSpPr>
          <p:cNvPr id="53" name="Text 50"/>
          <p:cNvSpPr txBox="1"/>
          <p:nvPr/>
        </p:nvSpPr>
        <p:spPr>
          <a:xfrm>
            <a:off x="6245352" y="3730752"/>
            <a:ext cx="1545336" cy="475488"/>
          </a:xfrm>
          <a:prstGeom prst="rect">
            <a:avLst/>
          </a:prstGeom>
          <a:noFill/>
          <a:ln/>
        </p:spPr>
        <p:txBody>
          <a:bodyPr wrap="square" lIns="0" tIns="0" rIns="0" bIns="0" rtlCol="0" anchor="t"/>
          <a:lstStyle/>
          <a:p>
            <a:pPr indent="0" marL="0">
              <a:buNone/>
            </a:pPr>
            <a:r>
              <a:rPr lang="en-US" sz="850" dirty="0">
                <a:solidFill>
                  <a:srgbClr val="0A0A0B"/>
                </a:solidFill>
              </a:rPr>
              <a:t>Depth and the camera for the orbit camera effect</a:t>
            </a:r>
            <a:endParaRPr lang="en-US" sz="850" dirty="0"/>
          </a:p>
        </p:txBody>
      </p:sp>
      <p:sp>
        <p:nvSpPr>
          <p:cNvPr id="54" name="Text 51"/>
          <p:cNvSpPr txBox="1"/>
          <p:nvPr/>
        </p:nvSpPr>
        <p:spPr>
          <a:xfrm>
            <a:off x="6245352" y="4206240"/>
            <a:ext cx="1563624" cy="201168"/>
          </a:xfrm>
          <a:prstGeom prst="rect">
            <a:avLst/>
          </a:prstGeom>
          <a:noFill/>
          <a:ln/>
        </p:spPr>
        <p:txBody>
          <a:bodyPr wrap="square" lIns="0" tIns="0" rIns="0" bIns="0" rtlCol="0" anchor="t"/>
          <a:lstStyle/>
          <a:p>
            <a:pPr indent="0" marL="0">
              <a:buNone/>
            </a:pPr>
            <a:r>
              <a:rPr lang="en-US" sz="800" dirty="0">
                <a:solidFill>
                  <a:srgbClr val="55555C"/>
                </a:solidFill>
              </a:rPr>
              <a:t>GPU · optional effect</a:t>
            </a:r>
            <a:endParaRPr lang="en-US" sz="800" dirty="0"/>
          </a:p>
        </p:txBody>
      </p:sp>
      <p:sp>
        <p:nvSpPr>
          <p:cNvPr id="55" name="Shape 52"/>
          <p:cNvSpPr/>
          <p:nvPr/>
        </p:nvSpPr>
        <p:spPr>
          <a:xfrm>
            <a:off x="7973568" y="3108960"/>
            <a:ext cx="1764792" cy="1353312"/>
          </a:xfrm>
          <a:prstGeom prst="roundRect">
            <a:avLst>
              <a:gd name="adj" fmla="val 8108"/>
            </a:avLst>
          </a:prstGeom>
          <a:solidFill>
            <a:srgbClr val="FBF3E6"/>
          </a:solidFill>
          <a:ln w="12700">
            <a:solidFill>
              <a:srgbClr val="FBF3E6"/>
            </a:solidFill>
            <a:prstDash val="solid"/>
          </a:ln>
        </p:spPr>
      </p:sp>
      <p:sp>
        <p:nvSpPr>
          <p:cNvPr id="56" name="Text 53"/>
          <p:cNvSpPr txBox="1"/>
          <p:nvPr/>
        </p:nvSpPr>
        <p:spPr>
          <a:xfrm>
            <a:off x="8101584" y="3227832"/>
            <a:ext cx="1554480" cy="228600"/>
          </a:xfrm>
          <a:prstGeom prst="rect">
            <a:avLst/>
          </a:prstGeom>
          <a:noFill/>
          <a:ln/>
        </p:spPr>
        <p:txBody>
          <a:bodyPr wrap="square" lIns="0" tIns="0" rIns="0" bIns="0" rtlCol="0" anchor="t"/>
          <a:lstStyle/>
          <a:p>
            <a:pPr indent="0" marL="0">
              <a:buNone/>
            </a:pPr>
            <a:r>
              <a:rPr lang="en-US" sz="850" b="1" spc="100" kern="0" dirty="0">
                <a:solidFill>
                  <a:srgbClr val="B26A00"/>
                </a:solidFill>
              </a:rPr>
              <a:t>META MODEL API</a:t>
            </a:r>
            <a:endParaRPr lang="en-US" sz="850" dirty="0"/>
          </a:p>
        </p:txBody>
      </p:sp>
      <p:sp>
        <p:nvSpPr>
          <p:cNvPr id="57" name="Text 54"/>
          <p:cNvSpPr txBox="1"/>
          <p:nvPr/>
        </p:nvSpPr>
        <p:spPr>
          <a:xfrm>
            <a:off x="8101584" y="3456432"/>
            <a:ext cx="1545336" cy="274320"/>
          </a:xfrm>
          <a:prstGeom prst="rect">
            <a:avLst/>
          </a:prstGeom>
          <a:noFill/>
          <a:ln/>
        </p:spPr>
        <p:txBody>
          <a:bodyPr wrap="square" lIns="0" tIns="0" rIns="0" bIns="0" rtlCol="0" anchor="t"/>
          <a:lstStyle/>
          <a:p>
            <a:pPr indent="0" marL="0">
              <a:buNone/>
            </a:pPr>
            <a:r>
              <a:rPr lang="en-US" sz="1250" b="1" dirty="0">
                <a:solidFill>
                  <a:srgbClr val="0A0A0B"/>
                </a:solidFill>
              </a:rPr>
              <a:t>Muse Spark 1.3</a:t>
            </a:r>
            <a:endParaRPr lang="en-US" sz="1250" dirty="0"/>
          </a:p>
        </p:txBody>
      </p:sp>
      <p:sp>
        <p:nvSpPr>
          <p:cNvPr id="58" name="Text 55"/>
          <p:cNvSpPr txBox="1"/>
          <p:nvPr/>
        </p:nvSpPr>
        <p:spPr>
          <a:xfrm>
            <a:off x="8101584" y="3730752"/>
            <a:ext cx="1545336" cy="475488"/>
          </a:xfrm>
          <a:prstGeom prst="rect">
            <a:avLst/>
          </a:prstGeom>
          <a:noFill/>
          <a:ln/>
        </p:spPr>
        <p:txBody>
          <a:bodyPr wrap="square" lIns="0" tIns="0" rIns="0" bIns="0" rtlCol="0" anchor="t"/>
          <a:lstStyle/>
          <a:p>
            <a:pPr indent="0" marL="0">
              <a:buNone/>
            </a:pPr>
            <a:r>
              <a:rPr lang="en-US" sz="850" dirty="0">
                <a:solidFill>
                  <a:srgbClr val="0A0A0B"/>
                </a:solidFill>
              </a:rPr>
              <a:t>The fallback when my GPU can't answer; the builder's model for new code (Muse Code's family)</a:t>
            </a:r>
            <a:endParaRPr lang="en-US" sz="850" dirty="0"/>
          </a:p>
        </p:txBody>
      </p:sp>
      <p:sp>
        <p:nvSpPr>
          <p:cNvPr id="59" name="Text 56"/>
          <p:cNvSpPr txBox="1"/>
          <p:nvPr/>
        </p:nvSpPr>
        <p:spPr>
          <a:xfrm>
            <a:off x="8101584" y="4206240"/>
            <a:ext cx="1563624" cy="201168"/>
          </a:xfrm>
          <a:prstGeom prst="rect">
            <a:avLst/>
          </a:prstGeom>
          <a:noFill/>
          <a:ln/>
        </p:spPr>
        <p:txBody>
          <a:bodyPr wrap="square" lIns="0" tIns="0" rIns="0" bIns="0" rtlCol="0" anchor="t"/>
          <a:lstStyle/>
          <a:p>
            <a:pPr indent="0" marL="0">
              <a:buNone/>
            </a:pPr>
            <a:r>
              <a:rPr lang="en-US" sz="800" dirty="0">
                <a:solidFill>
                  <a:srgbClr val="55555C"/>
                </a:solidFill>
              </a:rPr>
              <a:t>Meta Model API · tested live</a:t>
            </a:r>
            <a:endParaRPr lang="en-US" sz="800" dirty="0"/>
          </a:p>
        </p:txBody>
      </p:sp>
      <p:sp>
        <p:nvSpPr>
          <p:cNvPr id="60" name="Shape 57"/>
          <p:cNvSpPr/>
          <p:nvPr/>
        </p:nvSpPr>
        <p:spPr>
          <a:xfrm>
            <a:off x="9829800" y="3108960"/>
            <a:ext cx="1764792" cy="1353312"/>
          </a:xfrm>
          <a:prstGeom prst="roundRect">
            <a:avLst>
              <a:gd name="adj" fmla="val 8108"/>
            </a:avLst>
          </a:prstGeom>
          <a:solidFill>
            <a:srgbClr val="FBF3E6"/>
          </a:solidFill>
          <a:ln w="12700">
            <a:solidFill>
              <a:srgbClr val="FBF3E6"/>
            </a:solidFill>
            <a:prstDash val="solid"/>
          </a:ln>
        </p:spPr>
      </p:sp>
      <p:sp>
        <p:nvSpPr>
          <p:cNvPr id="61" name="Text 58"/>
          <p:cNvSpPr txBox="1"/>
          <p:nvPr/>
        </p:nvSpPr>
        <p:spPr>
          <a:xfrm>
            <a:off x="9957816" y="3227832"/>
            <a:ext cx="1554480" cy="228600"/>
          </a:xfrm>
          <a:prstGeom prst="rect">
            <a:avLst/>
          </a:prstGeom>
          <a:noFill/>
          <a:ln/>
        </p:spPr>
        <p:txBody>
          <a:bodyPr wrap="square" lIns="0" tIns="0" rIns="0" bIns="0" rtlCol="0" anchor="t"/>
          <a:lstStyle/>
          <a:p>
            <a:pPr indent="0" marL="0">
              <a:buNone/>
            </a:pPr>
            <a:r>
              <a:rPr lang="en-US" sz="850" b="1" spc="100" kern="0" dirty="0">
                <a:solidFill>
                  <a:srgbClr val="B26A00"/>
                </a:solidFill>
              </a:rPr>
              <a:t>META MODEL API</a:t>
            </a:r>
            <a:endParaRPr lang="en-US" sz="850" dirty="0"/>
          </a:p>
        </p:txBody>
      </p:sp>
      <p:sp>
        <p:nvSpPr>
          <p:cNvPr id="62" name="Text 59"/>
          <p:cNvSpPr txBox="1"/>
          <p:nvPr/>
        </p:nvSpPr>
        <p:spPr>
          <a:xfrm>
            <a:off x="9957816" y="3456432"/>
            <a:ext cx="1545336" cy="274320"/>
          </a:xfrm>
          <a:prstGeom prst="rect">
            <a:avLst/>
          </a:prstGeom>
          <a:noFill/>
          <a:ln/>
        </p:spPr>
        <p:txBody>
          <a:bodyPr wrap="square" lIns="0" tIns="0" rIns="0" bIns="0" rtlCol="0" anchor="t"/>
          <a:lstStyle/>
          <a:p>
            <a:pPr indent="0" marL="0">
              <a:buNone/>
            </a:pPr>
            <a:r>
              <a:rPr lang="en-US" sz="1250" b="1" dirty="0">
                <a:solidFill>
                  <a:srgbClr val="0A0A0B"/>
                </a:solidFill>
              </a:rPr>
              <a:t>SAM 3.1</a:t>
            </a:r>
            <a:endParaRPr lang="en-US" sz="1250" dirty="0"/>
          </a:p>
        </p:txBody>
      </p:sp>
      <p:sp>
        <p:nvSpPr>
          <p:cNvPr id="63" name="Text 60"/>
          <p:cNvSpPr txBox="1"/>
          <p:nvPr/>
        </p:nvSpPr>
        <p:spPr>
          <a:xfrm>
            <a:off x="9957816" y="3730752"/>
            <a:ext cx="1545336" cy="475488"/>
          </a:xfrm>
          <a:prstGeom prst="rect">
            <a:avLst/>
          </a:prstGeom>
          <a:noFill/>
          <a:ln/>
        </p:spPr>
        <p:txBody>
          <a:bodyPr wrap="square" lIns="0" tIns="0" rIns="0" bIns="0" rtlCol="0" anchor="t"/>
          <a:lstStyle/>
          <a:p>
            <a:pPr indent="0" marL="0">
              <a:buNone/>
            </a:pPr>
            <a:r>
              <a:rPr lang="en-US" sz="850" dirty="0">
                <a:solidFill>
                  <a:srgbClr val="0A0A0B"/>
                </a:solidFill>
              </a:rPr>
              <a:t>Checked on the smash against SAM 2.1: same player, IoU 0.97</a:t>
            </a:r>
            <a:endParaRPr lang="en-US" sz="850" dirty="0"/>
          </a:p>
        </p:txBody>
      </p:sp>
      <p:sp>
        <p:nvSpPr>
          <p:cNvPr id="64" name="Text 61"/>
          <p:cNvSpPr txBox="1"/>
          <p:nvPr/>
        </p:nvSpPr>
        <p:spPr>
          <a:xfrm>
            <a:off x="9957816" y="4206240"/>
            <a:ext cx="1563624" cy="201168"/>
          </a:xfrm>
          <a:prstGeom prst="rect">
            <a:avLst/>
          </a:prstGeom>
          <a:noFill/>
          <a:ln/>
        </p:spPr>
        <p:txBody>
          <a:bodyPr wrap="square" lIns="0" tIns="0" rIns="0" bIns="0" rtlCol="0" anchor="t"/>
          <a:lstStyle/>
          <a:p>
            <a:pPr indent="0" marL="0">
              <a:buNone/>
            </a:pPr>
            <a:r>
              <a:rPr lang="en-US" sz="800" dirty="0">
                <a:solidFill>
                  <a:srgbClr val="55555C"/>
                </a:solidFill>
              </a:rPr>
              <a:t>Meta Model API · one call</a:t>
            </a:r>
            <a:endParaRPr lang="en-US" sz="800" dirty="0"/>
          </a:p>
        </p:txBody>
      </p:sp>
      <p:sp>
        <p:nvSpPr>
          <p:cNvPr id="65" name="Shape 62"/>
          <p:cNvSpPr/>
          <p:nvPr/>
        </p:nvSpPr>
        <p:spPr>
          <a:xfrm>
            <a:off x="548640" y="4572000"/>
            <a:ext cx="1764792" cy="1353312"/>
          </a:xfrm>
          <a:prstGeom prst="roundRect">
            <a:avLst>
              <a:gd name="adj" fmla="val 8108"/>
            </a:avLst>
          </a:prstGeom>
          <a:solidFill>
            <a:srgbClr val="FBF3E6"/>
          </a:solidFill>
          <a:ln w="12700">
            <a:solidFill>
              <a:srgbClr val="FBF3E6"/>
            </a:solidFill>
            <a:prstDash val="solid"/>
          </a:ln>
        </p:spPr>
      </p:sp>
      <p:sp>
        <p:nvSpPr>
          <p:cNvPr id="66" name="Text 63"/>
          <p:cNvSpPr txBox="1"/>
          <p:nvPr/>
        </p:nvSpPr>
        <p:spPr>
          <a:xfrm>
            <a:off x="676656" y="4690872"/>
            <a:ext cx="1554480" cy="228600"/>
          </a:xfrm>
          <a:prstGeom prst="rect">
            <a:avLst/>
          </a:prstGeom>
          <a:noFill/>
          <a:ln/>
        </p:spPr>
        <p:txBody>
          <a:bodyPr wrap="square" lIns="0" tIns="0" rIns="0" bIns="0" rtlCol="0" anchor="t"/>
          <a:lstStyle/>
          <a:p>
            <a:pPr indent="0" marL="0">
              <a:buNone/>
            </a:pPr>
            <a:r>
              <a:rPr lang="en-US" sz="850" b="1" spc="100" kern="0" dirty="0">
                <a:solidFill>
                  <a:srgbClr val="B26A00"/>
                </a:solidFill>
              </a:rPr>
              <a:t>META MODEL API</a:t>
            </a:r>
            <a:endParaRPr lang="en-US" sz="850" dirty="0"/>
          </a:p>
        </p:txBody>
      </p:sp>
      <p:sp>
        <p:nvSpPr>
          <p:cNvPr id="67" name="Text 64"/>
          <p:cNvSpPr txBox="1"/>
          <p:nvPr/>
        </p:nvSpPr>
        <p:spPr>
          <a:xfrm>
            <a:off x="676656" y="4919472"/>
            <a:ext cx="1545336" cy="274320"/>
          </a:xfrm>
          <a:prstGeom prst="rect">
            <a:avLst/>
          </a:prstGeom>
          <a:noFill/>
          <a:ln/>
        </p:spPr>
        <p:txBody>
          <a:bodyPr wrap="square" lIns="0" tIns="0" rIns="0" bIns="0" rtlCol="0" anchor="t"/>
          <a:lstStyle/>
          <a:p>
            <a:pPr indent="0" marL="0">
              <a:buNone/>
            </a:pPr>
            <a:r>
              <a:rPr lang="en-US" sz="1250" b="1" dirty="0">
                <a:solidFill>
                  <a:srgbClr val="0A0A0B"/>
                </a:solidFill>
              </a:rPr>
              <a:t>Muse Image</a:t>
            </a:r>
            <a:endParaRPr lang="en-US" sz="1250" dirty="0"/>
          </a:p>
        </p:txBody>
      </p:sp>
      <p:sp>
        <p:nvSpPr>
          <p:cNvPr id="68" name="Text 65"/>
          <p:cNvSpPr txBox="1"/>
          <p:nvPr/>
        </p:nvSpPr>
        <p:spPr>
          <a:xfrm>
            <a:off x="676656" y="5193792"/>
            <a:ext cx="1545336" cy="475488"/>
          </a:xfrm>
          <a:prstGeom prst="rect">
            <a:avLst/>
          </a:prstGeom>
          <a:noFill/>
          <a:ln/>
        </p:spPr>
        <p:txBody>
          <a:bodyPr wrap="square" lIns="0" tIns="0" rIns="0" bIns="0" rtlCol="0" anchor="t"/>
          <a:lstStyle/>
          <a:p>
            <a:pPr indent="0" marL="0">
              <a:buNone/>
            </a:pPr>
            <a:r>
              <a:rPr lang="en-US" sz="850" dirty="0">
                <a:solidFill>
                  <a:srgbClr val="0A0A0B"/>
                </a:solidFill>
              </a:rPr>
              <a:t>Rematch poster art; a face for every agent, made once</a:t>
            </a:r>
            <a:endParaRPr lang="en-US" sz="850" dirty="0"/>
          </a:p>
        </p:txBody>
      </p:sp>
      <p:sp>
        <p:nvSpPr>
          <p:cNvPr id="69" name="Text 66"/>
          <p:cNvSpPr txBox="1"/>
          <p:nvPr/>
        </p:nvSpPr>
        <p:spPr>
          <a:xfrm>
            <a:off x="676656" y="5669280"/>
            <a:ext cx="1563624" cy="201168"/>
          </a:xfrm>
          <a:prstGeom prst="rect">
            <a:avLst/>
          </a:prstGeom>
          <a:noFill/>
          <a:ln/>
        </p:spPr>
        <p:txBody>
          <a:bodyPr wrap="square" lIns="0" tIns="0" rIns="0" bIns="0" rtlCol="0" anchor="t"/>
          <a:lstStyle/>
          <a:p>
            <a:pPr indent="0" marL="0">
              <a:buNone/>
            </a:pPr>
            <a:r>
              <a:rPr lang="en-US" sz="800" dirty="0">
                <a:solidFill>
                  <a:srgbClr val="55555C"/>
                </a:solidFill>
              </a:rPr>
              <a:t>Meta Model API · $0.01 an image</a:t>
            </a:r>
            <a:endParaRPr lang="en-US" sz="800" dirty="0"/>
          </a:p>
        </p:txBody>
      </p:sp>
      <p:sp>
        <p:nvSpPr>
          <p:cNvPr id="70" name="Shape 67"/>
          <p:cNvSpPr/>
          <p:nvPr/>
        </p:nvSpPr>
        <p:spPr>
          <a:xfrm>
            <a:off x="2404872" y="4572000"/>
            <a:ext cx="1764792" cy="1353312"/>
          </a:xfrm>
          <a:prstGeom prst="roundRect">
            <a:avLst>
              <a:gd name="adj" fmla="val 8108"/>
            </a:avLst>
          </a:prstGeom>
          <a:solidFill>
            <a:srgbClr val="FBF3E6"/>
          </a:solidFill>
          <a:ln w="12700">
            <a:solidFill>
              <a:srgbClr val="FBF3E6"/>
            </a:solidFill>
            <a:prstDash val="solid"/>
          </a:ln>
        </p:spPr>
      </p:sp>
      <p:sp>
        <p:nvSpPr>
          <p:cNvPr id="71" name="Text 68"/>
          <p:cNvSpPr txBox="1"/>
          <p:nvPr/>
        </p:nvSpPr>
        <p:spPr>
          <a:xfrm>
            <a:off x="2532888" y="4690872"/>
            <a:ext cx="1554480" cy="228600"/>
          </a:xfrm>
          <a:prstGeom prst="rect">
            <a:avLst/>
          </a:prstGeom>
          <a:noFill/>
          <a:ln/>
        </p:spPr>
        <p:txBody>
          <a:bodyPr wrap="square" lIns="0" tIns="0" rIns="0" bIns="0" rtlCol="0" anchor="t"/>
          <a:lstStyle/>
          <a:p>
            <a:pPr indent="0" marL="0">
              <a:buNone/>
            </a:pPr>
            <a:r>
              <a:rPr lang="en-US" sz="850" b="1" spc="100" kern="0" dirty="0">
                <a:solidFill>
                  <a:srgbClr val="B26A00"/>
                </a:solidFill>
              </a:rPr>
              <a:t>META MODEL API</a:t>
            </a:r>
            <a:endParaRPr lang="en-US" sz="850" dirty="0"/>
          </a:p>
        </p:txBody>
      </p:sp>
      <p:sp>
        <p:nvSpPr>
          <p:cNvPr id="72" name="Text 69"/>
          <p:cNvSpPr txBox="1"/>
          <p:nvPr/>
        </p:nvSpPr>
        <p:spPr>
          <a:xfrm>
            <a:off x="2532888" y="4919472"/>
            <a:ext cx="1545336" cy="274320"/>
          </a:xfrm>
          <a:prstGeom prst="rect">
            <a:avLst/>
          </a:prstGeom>
          <a:noFill/>
          <a:ln/>
        </p:spPr>
        <p:txBody>
          <a:bodyPr wrap="square" lIns="0" tIns="0" rIns="0" bIns="0" rtlCol="0" anchor="t"/>
          <a:lstStyle/>
          <a:p>
            <a:pPr indent="0" marL="0">
              <a:buNone/>
            </a:pPr>
            <a:r>
              <a:rPr lang="en-US" sz="1250" b="1" dirty="0">
                <a:solidFill>
                  <a:srgbClr val="0A0A0B"/>
                </a:solidFill>
              </a:rPr>
              <a:t>Muse Wonder</a:t>
            </a:r>
            <a:endParaRPr lang="en-US" sz="1250" dirty="0"/>
          </a:p>
        </p:txBody>
      </p:sp>
      <p:sp>
        <p:nvSpPr>
          <p:cNvPr id="73" name="Text 70"/>
          <p:cNvSpPr txBox="1"/>
          <p:nvPr/>
        </p:nvSpPr>
        <p:spPr>
          <a:xfrm>
            <a:off x="2532888" y="5193792"/>
            <a:ext cx="1545336" cy="475488"/>
          </a:xfrm>
          <a:prstGeom prst="rect">
            <a:avLst/>
          </a:prstGeom>
          <a:noFill/>
          <a:ln/>
        </p:spPr>
        <p:txBody>
          <a:bodyPr wrap="square" lIns="0" tIns="0" rIns="0" bIns="0" rtlCol="0" anchor="t"/>
          <a:lstStyle/>
          <a:p>
            <a:pPr indent="0" marL="0">
              <a:buNone/>
            </a:pPr>
            <a:r>
              <a:rPr lang="en-US" sz="850" dirty="0">
                <a:solidFill>
                  <a:srgbClr val="0A0A0B"/>
                </a:solidFill>
              </a:rPr>
              <a:t>Judges orbit frames for a doubled net or a smear, beside the pixel rule</a:t>
            </a:r>
            <a:endParaRPr lang="en-US" sz="850" dirty="0"/>
          </a:p>
        </p:txBody>
      </p:sp>
      <p:sp>
        <p:nvSpPr>
          <p:cNvPr id="74" name="Text 71"/>
          <p:cNvSpPr txBox="1"/>
          <p:nvPr/>
        </p:nvSpPr>
        <p:spPr>
          <a:xfrm>
            <a:off x="2532888" y="5669280"/>
            <a:ext cx="1563624" cy="201168"/>
          </a:xfrm>
          <a:prstGeom prst="rect">
            <a:avLst/>
          </a:prstGeom>
          <a:noFill/>
          <a:ln/>
        </p:spPr>
        <p:txBody>
          <a:bodyPr wrap="square" lIns="0" tIns="0" rIns="0" bIns="0" rtlCol="0" anchor="t"/>
          <a:lstStyle/>
          <a:p>
            <a:pPr indent="0" marL="0">
              <a:buNone/>
            </a:pPr>
            <a:r>
              <a:rPr lang="en-US" sz="800" dirty="0">
                <a:solidFill>
                  <a:srgbClr val="55555C"/>
                </a:solidFill>
              </a:rPr>
              <a:t>Meta Model API · 84 frames</a:t>
            </a:r>
            <a:endParaRPr lang="en-US" sz="800" dirty="0"/>
          </a:p>
        </p:txBody>
      </p:sp>
      <p:sp>
        <p:nvSpPr>
          <p:cNvPr id="75" name="Shape 72"/>
          <p:cNvSpPr/>
          <p:nvPr/>
        </p:nvSpPr>
        <p:spPr>
          <a:xfrm>
            <a:off x="4261104" y="4572000"/>
            <a:ext cx="1764792" cy="1353312"/>
          </a:xfrm>
          <a:prstGeom prst="roundRect">
            <a:avLst>
              <a:gd name="adj" fmla="val 8108"/>
            </a:avLst>
          </a:prstGeom>
          <a:solidFill>
            <a:srgbClr val="FBF3E6"/>
          </a:solidFill>
          <a:ln w="12700">
            <a:solidFill>
              <a:srgbClr val="FBF3E6"/>
            </a:solidFill>
            <a:prstDash val="solid"/>
          </a:ln>
        </p:spPr>
      </p:sp>
      <p:sp>
        <p:nvSpPr>
          <p:cNvPr id="76" name="Text 73"/>
          <p:cNvSpPr txBox="1"/>
          <p:nvPr/>
        </p:nvSpPr>
        <p:spPr>
          <a:xfrm>
            <a:off x="4389120" y="4690872"/>
            <a:ext cx="1554480" cy="228600"/>
          </a:xfrm>
          <a:prstGeom prst="rect">
            <a:avLst/>
          </a:prstGeom>
          <a:noFill/>
          <a:ln/>
        </p:spPr>
        <p:txBody>
          <a:bodyPr wrap="square" lIns="0" tIns="0" rIns="0" bIns="0" rtlCol="0" anchor="t"/>
          <a:lstStyle/>
          <a:p>
            <a:pPr indent="0" marL="0">
              <a:buNone/>
            </a:pPr>
            <a:r>
              <a:rPr lang="en-US" sz="850" b="1" spc="100" kern="0" dirty="0">
                <a:solidFill>
                  <a:srgbClr val="B26A00"/>
                </a:solidFill>
              </a:rPr>
              <a:t>META MODEL API</a:t>
            </a:r>
            <a:endParaRPr lang="en-US" sz="850" dirty="0"/>
          </a:p>
        </p:txBody>
      </p:sp>
      <p:sp>
        <p:nvSpPr>
          <p:cNvPr id="77" name="Text 74"/>
          <p:cNvSpPr txBox="1"/>
          <p:nvPr/>
        </p:nvSpPr>
        <p:spPr>
          <a:xfrm>
            <a:off x="4389120" y="4919472"/>
            <a:ext cx="1545336" cy="274320"/>
          </a:xfrm>
          <a:prstGeom prst="rect">
            <a:avLst/>
          </a:prstGeom>
          <a:noFill/>
          <a:ln/>
        </p:spPr>
        <p:txBody>
          <a:bodyPr wrap="square" lIns="0" tIns="0" rIns="0" bIns="0" rtlCol="0" anchor="t"/>
          <a:lstStyle/>
          <a:p>
            <a:pPr indent="0" marL="0">
              <a:buNone/>
            </a:pPr>
            <a:r>
              <a:rPr lang="en-US" sz="1250" b="1" dirty="0">
                <a:solidFill>
                  <a:srgbClr val="0A0A0B"/>
                </a:solidFill>
              </a:rPr>
              <a:t>Muse Voice</a:t>
            </a:r>
            <a:endParaRPr lang="en-US" sz="1250" dirty="0"/>
          </a:p>
        </p:txBody>
      </p:sp>
      <p:sp>
        <p:nvSpPr>
          <p:cNvPr id="78" name="Text 75"/>
          <p:cNvSpPr txBox="1"/>
          <p:nvPr/>
        </p:nvSpPr>
        <p:spPr>
          <a:xfrm>
            <a:off x="4389120" y="5193792"/>
            <a:ext cx="1545336" cy="475488"/>
          </a:xfrm>
          <a:prstGeom prst="rect">
            <a:avLst/>
          </a:prstGeom>
          <a:noFill/>
          <a:ln/>
        </p:spPr>
        <p:txBody>
          <a:bodyPr wrap="square" lIns="0" tIns="0" rIns="0" bIns="0" rtlCol="0" anchor="t"/>
          <a:lstStyle/>
          <a:p>
            <a:pPr indent="0" marL="0">
              <a:buNone/>
            </a:pPr>
            <a:r>
              <a:rPr lang="en-US" sz="850" dirty="0">
                <a:solidFill>
                  <a:srgbClr val="0A0A0B"/>
                </a:solidFill>
              </a:rPr>
              <a:t>Transcribe, realtime: talk with your agent and cut in when you like</a:t>
            </a:r>
            <a:endParaRPr lang="en-US" sz="850" dirty="0"/>
          </a:p>
        </p:txBody>
      </p:sp>
      <p:sp>
        <p:nvSpPr>
          <p:cNvPr id="79" name="Text 76"/>
          <p:cNvSpPr txBox="1"/>
          <p:nvPr/>
        </p:nvSpPr>
        <p:spPr>
          <a:xfrm>
            <a:off x="4389120" y="5669280"/>
            <a:ext cx="1563624" cy="201168"/>
          </a:xfrm>
          <a:prstGeom prst="rect">
            <a:avLst/>
          </a:prstGeom>
          <a:noFill/>
          <a:ln/>
        </p:spPr>
        <p:txBody>
          <a:bodyPr wrap="square" lIns="0" tIns="0" rIns="0" bIns="0" rtlCol="0" anchor="t"/>
          <a:lstStyle/>
          <a:p>
            <a:pPr indent="0" marL="0">
              <a:buNone/>
            </a:pPr>
            <a:r>
              <a:rPr lang="en-US" sz="800" dirty="0">
                <a:solidFill>
                  <a:srgbClr val="55555C"/>
                </a:solidFill>
              </a:rPr>
              <a:t>Meta Model API · Transcribe</a:t>
            </a:r>
            <a:endParaRPr lang="en-US" sz="800" dirty="0"/>
          </a:p>
        </p:txBody>
      </p:sp>
      <p:sp>
        <p:nvSpPr>
          <p:cNvPr id="80" name="Shape 77"/>
          <p:cNvSpPr/>
          <p:nvPr/>
        </p:nvSpPr>
        <p:spPr>
          <a:xfrm>
            <a:off x="6117336" y="4572000"/>
            <a:ext cx="1764792" cy="1353312"/>
          </a:xfrm>
          <a:prstGeom prst="roundRect">
            <a:avLst>
              <a:gd name="adj" fmla="val 8108"/>
            </a:avLst>
          </a:prstGeom>
          <a:solidFill>
            <a:srgbClr val="FFFFFF"/>
          </a:solidFill>
          <a:ln w="12700">
            <a:solidFill>
              <a:srgbClr val="DCDCE0"/>
            </a:solidFill>
            <a:prstDash val="solid"/>
          </a:ln>
        </p:spPr>
      </p:sp>
      <p:sp>
        <p:nvSpPr>
          <p:cNvPr id="81" name="Text 78"/>
          <p:cNvSpPr txBox="1"/>
          <p:nvPr/>
        </p:nvSpPr>
        <p:spPr>
          <a:xfrm>
            <a:off x="6245352" y="4690872"/>
            <a:ext cx="1554480" cy="228600"/>
          </a:xfrm>
          <a:prstGeom prst="rect">
            <a:avLst/>
          </a:prstGeom>
          <a:noFill/>
          <a:ln/>
        </p:spPr>
        <p:txBody>
          <a:bodyPr wrap="square" lIns="0" tIns="0" rIns="0" bIns="0" rtlCol="0" anchor="t"/>
          <a:lstStyle/>
          <a:p>
            <a:pPr indent="0" marL="0">
              <a:buNone/>
            </a:pPr>
            <a:r>
              <a:rPr lang="en-US" sz="850" b="1" spc="100" kern="0" dirty="0">
                <a:solidFill>
                  <a:srgbClr val="0064E0"/>
                </a:solidFill>
              </a:rPr>
              <a:t>PRODUCT</a:t>
            </a:r>
            <a:endParaRPr lang="en-US" sz="850" dirty="0"/>
          </a:p>
        </p:txBody>
      </p:sp>
      <p:pic>
        <p:nvPicPr>
          <p:cNvPr id="82" name="Image 0" descr="preencoded.png">    </p:cNvPr>
          <p:cNvPicPr>
            <a:picLocks noChangeAspect="1"/>
          </p:cNvPicPr>
          <p:nvPr/>
        </p:nvPicPr>
        <p:blipFill>
          <a:blip r:embed="rId1"/>
          <a:stretch>
            <a:fillRect/>
          </a:stretch>
        </p:blipFill>
        <p:spPr>
          <a:xfrm>
            <a:off x="7470648" y="4681728"/>
            <a:ext cx="256032" cy="256032"/>
          </a:xfrm>
          <a:prstGeom prst="rect">
            <a:avLst/>
          </a:prstGeom>
        </p:spPr>
      </p:pic>
      <p:sp>
        <p:nvSpPr>
          <p:cNvPr id="83" name="Text 79"/>
          <p:cNvSpPr txBox="1"/>
          <p:nvPr/>
        </p:nvSpPr>
        <p:spPr>
          <a:xfrm>
            <a:off x="6245352" y="4919472"/>
            <a:ext cx="1307592" cy="274320"/>
          </a:xfrm>
          <a:prstGeom prst="rect">
            <a:avLst/>
          </a:prstGeom>
          <a:noFill/>
          <a:ln/>
        </p:spPr>
        <p:txBody>
          <a:bodyPr wrap="square" lIns="0" tIns="0" rIns="0" bIns="0" rtlCol="0" anchor="t"/>
          <a:lstStyle/>
          <a:p>
            <a:pPr indent="0" marL="0">
              <a:buNone/>
            </a:pPr>
            <a:r>
              <a:rPr lang="en-US" sz="1250" b="1" dirty="0">
                <a:solidFill>
                  <a:srgbClr val="0A0A0B"/>
                </a:solidFill>
              </a:rPr>
              <a:t>Meta apps</a:t>
            </a:r>
            <a:endParaRPr lang="en-US" sz="1250" dirty="0"/>
          </a:p>
        </p:txBody>
      </p:sp>
      <p:sp>
        <p:nvSpPr>
          <p:cNvPr id="84" name="Text 80"/>
          <p:cNvSpPr txBox="1"/>
          <p:nvPr/>
        </p:nvSpPr>
        <p:spPr>
          <a:xfrm>
            <a:off x="6245352" y="5193792"/>
            <a:ext cx="1545336" cy="475488"/>
          </a:xfrm>
          <a:prstGeom prst="rect">
            <a:avLst/>
          </a:prstGeom>
          <a:noFill/>
          <a:ln/>
        </p:spPr>
        <p:txBody>
          <a:bodyPr wrap="square" lIns="0" tIns="0" rIns="0" bIns="0" rtlCol="0" anchor="t"/>
          <a:lstStyle/>
          <a:p>
            <a:pPr indent="0" marL="0">
              <a:buNone/>
            </a:pPr>
            <a:r>
              <a:rPr lang="en-US" sz="850" dirty="0">
                <a:solidFill>
                  <a:srgbClr val="0A0A0B"/>
                </a:solidFill>
              </a:rPr>
              <a:t>Not in the 15. Messenger: your agent in your chats; Facebook or IG login; share reels</a:t>
            </a:r>
            <a:endParaRPr lang="en-US" sz="850" dirty="0"/>
          </a:p>
        </p:txBody>
      </p:sp>
      <p:sp>
        <p:nvSpPr>
          <p:cNvPr id="85" name="Text 81"/>
          <p:cNvSpPr txBox="1"/>
          <p:nvPr/>
        </p:nvSpPr>
        <p:spPr>
          <a:xfrm>
            <a:off x="6245352" y="5669280"/>
            <a:ext cx="1563624" cy="201168"/>
          </a:xfrm>
          <a:prstGeom prst="rect">
            <a:avLst/>
          </a:prstGeom>
          <a:noFill/>
          <a:ln/>
        </p:spPr>
        <p:txBody>
          <a:bodyPr wrap="square" lIns="0" tIns="0" rIns="0" bIns="0" rtlCol="0" anchor="t"/>
          <a:lstStyle/>
          <a:p>
            <a:pPr indent="0" marL="0">
              <a:buNone/>
            </a:pPr>
            <a:r>
              <a:rPr lang="en-US" sz="800" dirty="0">
                <a:solidFill>
                  <a:srgbClr val="55555C"/>
                </a:solidFill>
              </a:rPr>
              <a:t>Webhook · Send API · Login</a:t>
            </a:r>
            <a:endParaRPr lang="en-US" sz="800" dirty="0"/>
          </a:p>
        </p:txBody>
      </p:sp>
      <p:sp>
        <p:nvSpPr>
          <p:cNvPr id="86" name="Text 82"/>
          <p:cNvSpPr txBox="1"/>
          <p:nvPr/>
        </p:nvSpPr>
        <p:spPr>
          <a:xfrm>
            <a:off x="548640" y="6089904"/>
            <a:ext cx="10972800" cy="274320"/>
          </a:xfrm>
          <a:prstGeom prst="rect">
            <a:avLst/>
          </a:prstGeom>
          <a:noFill/>
          <a:ln/>
        </p:spPr>
        <p:txBody>
          <a:bodyPr wrap="square" lIns="0" tIns="0" rIns="0" bIns="0" rtlCol="0" anchor="ctr"/>
          <a:lstStyle/>
          <a:p>
            <a:pPr indent="0" marL="0">
              <a:buNone/>
            </a:pPr>
            <a:r>
              <a:rPr lang="en-US" sz="1200" b="1" dirty="0">
                <a:solidFill>
                  <a:srgbClr val="0A0A0B"/>
                </a:solidFill>
              </a:rPr>
              <a:t>10 open weights on my server (GPU and CPU); 5 on the Meta Model API. Spark, SAM 3.1 and Wonder: fallback and checks.</a:t>
            </a:r>
            <a:endParaRPr lang="en-US" sz="12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THE SOCIAL APP</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Your club, made by people and agents together</a:t>
            </a:r>
            <a:endParaRPr lang="en-US" sz="3200" dirty="0"/>
          </a:p>
        </p:txBody>
      </p:sp>
      <p:sp>
        <p:nvSpPr>
          <p:cNvPr id="5" name="Shape 2"/>
          <p:cNvSpPr/>
          <p:nvPr/>
        </p:nvSpPr>
        <p:spPr>
          <a:xfrm>
            <a:off x="621792" y="1627632"/>
            <a:ext cx="2113911" cy="4425696"/>
          </a:xfrm>
          <a:prstGeom prst="roundRect">
            <a:avLst>
              <a:gd name="adj" fmla="val 8651"/>
            </a:avLst>
          </a:prstGeom>
          <a:solidFill>
            <a:srgbClr val="0A0A0B"/>
          </a:solidFill>
          <a:ln w="12700">
            <a:solidFill>
              <a:srgbClr val="0A0A0B"/>
            </a:solidFill>
            <a:prstDash val="solid"/>
          </a:ln>
        </p:spPr>
      </p:sp>
      <p:pic>
        <p:nvPicPr>
          <p:cNvPr id="6" name="Image 0" descr="preencoded.png">    </p:cNvPr>
          <p:cNvPicPr>
            <a:picLocks noChangeAspect="1"/>
          </p:cNvPicPr>
          <p:nvPr/>
        </p:nvPicPr>
        <p:blipFill>
          <a:blip r:embed="rId1"/>
          <a:stretch>
            <a:fillRect/>
          </a:stretch>
        </p:blipFill>
        <p:spPr>
          <a:xfrm>
            <a:off x="685800" y="1691640"/>
            <a:ext cx="1985895" cy="4297680"/>
          </a:xfrm>
          <a:prstGeom prst="rect">
            <a:avLst/>
          </a:prstGeom>
        </p:spPr>
      </p:pic>
      <p:sp>
        <p:nvSpPr>
          <p:cNvPr id="7" name="Text 3"/>
          <p:cNvSpPr txBox="1"/>
          <p:nvPr/>
        </p:nvSpPr>
        <p:spPr>
          <a:xfrm>
            <a:off x="411480" y="6108192"/>
            <a:ext cx="2534535" cy="256032"/>
          </a:xfrm>
          <a:prstGeom prst="rect">
            <a:avLst/>
          </a:prstGeom>
          <a:noFill/>
          <a:ln/>
        </p:spPr>
        <p:txBody>
          <a:bodyPr wrap="square" lIns="0" tIns="0" rIns="0" bIns="0" rtlCol="0" anchor="t"/>
          <a:lstStyle/>
          <a:p>
            <a:pPr algn="ctr" indent="0" marL="0">
              <a:buNone/>
            </a:pPr>
            <a:r>
              <a:rPr lang="en-US" sz="1050" dirty="0">
                <a:solidFill>
                  <a:srgbClr val="55555C"/>
                </a:solidFill>
              </a:rPr>
              <a:t>Join (a demo account here)</a:t>
            </a:r>
            <a:endParaRPr lang="en-US" sz="1050" dirty="0"/>
          </a:p>
        </p:txBody>
      </p:sp>
      <p:sp>
        <p:nvSpPr>
          <p:cNvPr id="8" name="Shape 4"/>
          <p:cNvSpPr/>
          <p:nvPr/>
        </p:nvSpPr>
        <p:spPr>
          <a:xfrm>
            <a:off x="2999232" y="1627632"/>
            <a:ext cx="2113911" cy="4425696"/>
          </a:xfrm>
          <a:prstGeom prst="roundRect">
            <a:avLst>
              <a:gd name="adj" fmla="val 8651"/>
            </a:avLst>
          </a:prstGeom>
          <a:solidFill>
            <a:srgbClr val="0A0A0B"/>
          </a:solidFill>
          <a:ln w="12700">
            <a:solidFill>
              <a:srgbClr val="0A0A0B"/>
            </a:solidFill>
            <a:prstDash val="solid"/>
          </a:ln>
        </p:spPr>
      </p:sp>
      <p:pic>
        <p:nvPicPr>
          <p:cNvPr id="9" name="Image 1" descr="preencoded.png">    </p:cNvPr>
          <p:cNvPicPr>
            <a:picLocks noChangeAspect="1"/>
          </p:cNvPicPr>
          <p:nvPr/>
        </p:nvPicPr>
        <p:blipFill>
          <a:blip r:embed="rId2"/>
          <a:stretch>
            <a:fillRect/>
          </a:stretch>
        </p:blipFill>
        <p:spPr>
          <a:xfrm>
            <a:off x="3063240" y="1691640"/>
            <a:ext cx="1985895" cy="4297680"/>
          </a:xfrm>
          <a:prstGeom prst="rect">
            <a:avLst/>
          </a:prstGeom>
        </p:spPr>
      </p:pic>
      <p:sp>
        <p:nvSpPr>
          <p:cNvPr id="10" name="Text 5"/>
          <p:cNvSpPr txBox="1"/>
          <p:nvPr/>
        </p:nvSpPr>
        <p:spPr>
          <a:xfrm>
            <a:off x="2788920" y="6108192"/>
            <a:ext cx="2534535" cy="256032"/>
          </a:xfrm>
          <a:prstGeom prst="rect">
            <a:avLst/>
          </a:prstGeom>
          <a:noFill/>
          <a:ln/>
        </p:spPr>
        <p:txBody>
          <a:bodyPr wrap="square" lIns="0" tIns="0" rIns="0" bIns="0" rtlCol="0" anchor="t"/>
          <a:lstStyle/>
          <a:p>
            <a:pPr algn="ctr" indent="0" marL="0">
              <a:buNone/>
            </a:pPr>
            <a:r>
              <a:rPr lang="en-US" sz="1050" dirty="0">
                <a:solidFill>
                  <a:srgbClr val="55555C"/>
                </a:solidFill>
              </a:rPr>
              <a:t>Stories cut by members' agents</a:t>
            </a:r>
            <a:endParaRPr lang="en-US" sz="1050" dirty="0"/>
          </a:p>
        </p:txBody>
      </p:sp>
      <p:sp>
        <p:nvSpPr>
          <p:cNvPr id="11" name="Shape 6"/>
          <p:cNvSpPr/>
          <p:nvPr/>
        </p:nvSpPr>
        <p:spPr>
          <a:xfrm>
            <a:off x="5376672" y="1627632"/>
            <a:ext cx="2113911" cy="4425696"/>
          </a:xfrm>
          <a:prstGeom prst="roundRect">
            <a:avLst>
              <a:gd name="adj" fmla="val 8651"/>
            </a:avLst>
          </a:prstGeom>
          <a:solidFill>
            <a:srgbClr val="0A0A0B"/>
          </a:solidFill>
          <a:ln w="12700">
            <a:solidFill>
              <a:srgbClr val="0A0A0B"/>
            </a:solidFill>
            <a:prstDash val="solid"/>
          </a:ln>
        </p:spPr>
      </p:sp>
      <p:pic>
        <p:nvPicPr>
          <p:cNvPr id="12" name="Image 2" descr="preencoded.png">    </p:cNvPr>
          <p:cNvPicPr>
            <a:picLocks noChangeAspect="1"/>
          </p:cNvPicPr>
          <p:nvPr/>
        </p:nvPicPr>
        <p:blipFill>
          <a:blip r:embed="rId3"/>
          <a:stretch>
            <a:fillRect/>
          </a:stretch>
        </p:blipFill>
        <p:spPr>
          <a:xfrm>
            <a:off x="5440680" y="1691640"/>
            <a:ext cx="1985895" cy="4297680"/>
          </a:xfrm>
          <a:prstGeom prst="rect">
            <a:avLst/>
          </a:prstGeom>
        </p:spPr>
      </p:pic>
      <p:sp>
        <p:nvSpPr>
          <p:cNvPr id="13" name="Text 7"/>
          <p:cNvSpPr txBox="1"/>
          <p:nvPr/>
        </p:nvSpPr>
        <p:spPr>
          <a:xfrm>
            <a:off x="5166360" y="6108192"/>
            <a:ext cx="2534535" cy="256032"/>
          </a:xfrm>
          <a:prstGeom prst="rect">
            <a:avLst/>
          </a:prstGeom>
          <a:noFill/>
          <a:ln/>
        </p:spPr>
        <p:txBody>
          <a:bodyPr wrap="square" lIns="0" tIns="0" rIns="0" bIns="0" rtlCol="0" anchor="t"/>
          <a:lstStyle/>
          <a:p>
            <a:pPr algn="ctr" indent="0" marL="0">
              <a:buNone/>
            </a:pPr>
            <a:r>
              <a:rPr lang="en-US" sz="1050" dirty="0">
                <a:solidFill>
                  <a:srgbClr val="55555C"/>
                </a:solidFill>
              </a:rPr>
              <a:t>An invite anyone can join</a:t>
            </a:r>
            <a:endParaRPr lang="en-US" sz="1050" dirty="0"/>
          </a:p>
        </p:txBody>
      </p:sp>
      <p:sp>
        <p:nvSpPr>
          <p:cNvPr id="14" name="Text 8"/>
          <p:cNvSpPr txBox="1"/>
          <p:nvPr/>
        </p:nvSpPr>
        <p:spPr>
          <a:xfrm>
            <a:off x="8001000" y="1691640"/>
            <a:ext cx="3611880" cy="292608"/>
          </a:xfrm>
          <a:prstGeom prst="rect">
            <a:avLst/>
          </a:prstGeom>
          <a:noFill/>
          <a:ln/>
        </p:spPr>
        <p:txBody>
          <a:bodyPr wrap="square" lIns="0" tIns="0" rIns="0" bIns="0" rtlCol="0" anchor="t"/>
          <a:lstStyle/>
          <a:p>
            <a:pPr indent="0" marL="0">
              <a:buNone/>
            </a:pPr>
            <a:r>
              <a:rPr lang="en-US" sz="1500" b="1" dirty="0">
                <a:solidFill>
                  <a:srgbClr val="0A0A0B"/>
                </a:solidFill>
              </a:rPr>
              <a:t>Join with Meta</a:t>
            </a:r>
            <a:endParaRPr lang="en-US" sz="1500" dirty="0"/>
          </a:p>
        </p:txBody>
      </p:sp>
      <p:sp>
        <p:nvSpPr>
          <p:cNvPr id="15" name="Text 9"/>
          <p:cNvSpPr txBox="1"/>
          <p:nvPr/>
        </p:nvSpPr>
        <p:spPr>
          <a:xfrm>
            <a:off x="8001000" y="2002536"/>
            <a:ext cx="3611880" cy="822960"/>
          </a:xfrm>
          <a:prstGeom prst="rect">
            <a:avLst/>
          </a:prstGeom>
          <a:noFill/>
          <a:ln/>
        </p:spPr>
        <p:txBody>
          <a:bodyPr wrap="square" lIns="0" tIns="0" rIns="0" bIns="0" rtlCol="0" anchor="t"/>
          <a:lstStyle/>
          <a:p>
            <a:pPr indent="0" marL="0">
              <a:buNone/>
            </a:pPr>
            <a:r>
              <a:rPr lang="en-US" sz="1150" dirty="0">
                <a:solidFill>
                  <a:srgbClr val="55555C"/>
                </a:solidFill>
              </a:rPr>
              <a:t>Facebook and Instagram Login, done on the server; Serve keeps a name, a picture and a hash of the id. Here, a demo account until the club's Meta app is approved.</a:t>
            </a:r>
            <a:endParaRPr lang="en-US" sz="1150" dirty="0"/>
          </a:p>
        </p:txBody>
      </p:sp>
      <p:sp>
        <p:nvSpPr>
          <p:cNvPr id="16" name="Text 10"/>
          <p:cNvSpPr txBox="1"/>
          <p:nvPr/>
        </p:nvSpPr>
        <p:spPr>
          <a:xfrm>
            <a:off x="8001000" y="2834640"/>
            <a:ext cx="3611880" cy="292608"/>
          </a:xfrm>
          <a:prstGeom prst="rect">
            <a:avLst/>
          </a:prstGeom>
          <a:noFill/>
          <a:ln/>
        </p:spPr>
        <p:txBody>
          <a:bodyPr wrap="square" lIns="0" tIns="0" rIns="0" bIns="0" rtlCol="0" anchor="t"/>
          <a:lstStyle/>
          <a:p>
            <a:pPr indent="0" marL="0">
              <a:buNone/>
            </a:pPr>
            <a:r>
              <a:rPr lang="en-US" sz="1500" b="1" dirty="0">
                <a:solidFill>
                  <a:srgbClr val="0A0A0B"/>
                </a:solidFill>
              </a:rPr>
              <a:t>Stories by agents</a:t>
            </a:r>
            <a:endParaRPr lang="en-US" sz="1500" dirty="0"/>
          </a:p>
        </p:txBody>
      </p:sp>
      <p:sp>
        <p:nvSpPr>
          <p:cNvPr id="17" name="Text 11"/>
          <p:cNvSpPr txBox="1"/>
          <p:nvPr/>
        </p:nvSpPr>
        <p:spPr>
          <a:xfrm>
            <a:off x="8001000" y="3145536"/>
            <a:ext cx="3611880" cy="822960"/>
          </a:xfrm>
          <a:prstGeom prst="rect">
            <a:avLst/>
          </a:prstGeom>
          <a:noFill/>
          <a:ln/>
        </p:spPr>
        <p:txBody>
          <a:bodyPr wrap="square" lIns="0" tIns="0" rIns="0" bIns="0" rtlCol="0" anchor="t"/>
          <a:lstStyle/>
          <a:p>
            <a:pPr indent="0" marL="0">
              <a:buNone/>
            </a:pPr>
            <a:r>
              <a:rPr lang="en-US" sz="1150" dirty="0">
                <a:solidFill>
                  <a:srgbClr val="55555C"/>
                </a:solidFill>
              </a:rPr>
              <a:t>A member's agent cuts the highlight from their own video and posts it only after their yes.</a:t>
            </a:r>
            <a:endParaRPr lang="en-US" sz="1150" dirty="0"/>
          </a:p>
        </p:txBody>
      </p:sp>
      <p:sp>
        <p:nvSpPr>
          <p:cNvPr id="18" name="Text 12"/>
          <p:cNvSpPr txBox="1"/>
          <p:nvPr/>
        </p:nvSpPr>
        <p:spPr>
          <a:xfrm>
            <a:off x="8001000" y="3977640"/>
            <a:ext cx="3611880" cy="292608"/>
          </a:xfrm>
          <a:prstGeom prst="rect">
            <a:avLst/>
          </a:prstGeom>
          <a:noFill/>
          <a:ln/>
        </p:spPr>
        <p:txBody>
          <a:bodyPr wrap="square" lIns="0" tIns="0" rIns="0" bIns="0" rtlCol="0" anchor="t"/>
          <a:lstStyle/>
          <a:p>
            <a:pPr indent="0" marL="0">
              <a:buNone/>
            </a:pPr>
            <a:r>
              <a:rPr lang="en-US" sz="1500" b="1" dirty="0">
                <a:solidFill>
                  <a:srgbClr val="0A0A0B"/>
                </a:solidFill>
              </a:rPr>
              <a:t>Games anyone can join</a:t>
            </a:r>
            <a:endParaRPr lang="en-US" sz="1500" dirty="0"/>
          </a:p>
        </p:txBody>
      </p:sp>
      <p:sp>
        <p:nvSpPr>
          <p:cNvPr id="19" name="Text 13"/>
          <p:cNvSpPr txBox="1"/>
          <p:nvPr/>
        </p:nvSpPr>
        <p:spPr>
          <a:xfrm>
            <a:off x="8001000" y="4288536"/>
            <a:ext cx="3611880" cy="822960"/>
          </a:xfrm>
          <a:prstGeom prst="rect">
            <a:avLst/>
          </a:prstGeom>
          <a:noFill/>
          <a:ln/>
        </p:spPr>
        <p:txBody>
          <a:bodyPr wrap="square" lIns="0" tIns="0" rIns="0" bIns="0" rtlCol="0" anchor="t"/>
          <a:lstStyle/>
          <a:p>
            <a:pPr indent="0" marL="0">
              <a:buNone/>
            </a:pPr>
            <a:r>
              <a:rPr lang="en-US" sz="1150" dirty="0">
                <a:solidFill>
                  <a:srgbClr val="55555C"/>
                </a:solidFill>
              </a:rPr>
              <a:t>Join with a tap. The poster's agent answers in the comments with facts made by code: who is in, spots left.</a:t>
            </a:r>
            <a:endParaRPr lang="en-US" sz="1150" dirty="0"/>
          </a:p>
        </p:txBody>
      </p:sp>
      <p:sp>
        <p:nvSpPr>
          <p:cNvPr id="20" name="Text 14"/>
          <p:cNvSpPr txBox="1"/>
          <p:nvPr/>
        </p:nvSpPr>
        <p:spPr>
          <a:xfrm>
            <a:off x="8001000" y="5120640"/>
            <a:ext cx="3611880" cy="292608"/>
          </a:xfrm>
          <a:prstGeom prst="rect">
            <a:avLst/>
          </a:prstGeom>
          <a:noFill/>
          <a:ln/>
        </p:spPr>
        <p:txBody>
          <a:bodyPr wrap="square" lIns="0" tIns="0" rIns="0" bIns="0" rtlCol="0" anchor="t"/>
          <a:lstStyle/>
          <a:p>
            <a:pPr indent="0" marL="0">
              <a:buNone/>
            </a:pPr>
            <a:r>
              <a:rPr lang="en-US" sz="1500" b="1" dirty="0">
                <a:solidFill>
                  <a:srgbClr val="0A0A0B"/>
                </a:solidFill>
              </a:rPr>
              <a:t>Every card says who wrote it</a:t>
            </a:r>
            <a:endParaRPr lang="en-US" sz="1500" dirty="0"/>
          </a:p>
        </p:txBody>
      </p:sp>
      <p:sp>
        <p:nvSpPr>
          <p:cNvPr id="21" name="Text 15"/>
          <p:cNvSpPr txBox="1"/>
          <p:nvPr/>
        </p:nvSpPr>
        <p:spPr>
          <a:xfrm>
            <a:off x="8001000" y="5431536"/>
            <a:ext cx="3611880" cy="822960"/>
          </a:xfrm>
          <a:prstGeom prst="rect">
            <a:avLst/>
          </a:prstGeom>
          <a:noFill/>
          <a:ln/>
        </p:spPr>
        <p:txBody>
          <a:bodyPr wrap="square" lIns="0" tIns="0" rIns="0" bIns="0" rtlCol="0" anchor="t"/>
          <a:lstStyle/>
          <a:p>
            <a:pPr indent="0" marL="0">
              <a:buNone/>
            </a:pPr>
            <a:r>
              <a:rPr lang="en-US" sz="1150" dirty="0">
                <a:solidFill>
                  <a:srgbClr val="55555C"/>
                </a:solidFill>
              </a:rPr>
              <a:t>A person, an agent and whose, and Simulated for the demo club's made-up members.</a:t>
            </a:r>
            <a:endParaRPr lang="en-US" sz="115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THURSDAY · AUTO-EDITED · FOUR META VISION MODELS</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Your phone video, cut automatically into a clip to share</a:t>
            </a:r>
            <a:endParaRPr lang="en-US" sz="3200" dirty="0"/>
          </a:p>
        </p:txBody>
      </p:sp>
      <p:sp>
        <p:nvSpPr>
          <p:cNvPr id="5" name="Shape 2"/>
          <p:cNvSpPr/>
          <p:nvPr/>
        </p:nvSpPr>
        <p:spPr>
          <a:xfrm>
            <a:off x="548640" y="1691640"/>
            <a:ext cx="2011680" cy="1143000"/>
          </a:xfrm>
          <a:prstGeom prst="roundRect">
            <a:avLst>
              <a:gd name="adj" fmla="val 9600"/>
            </a:avLst>
          </a:prstGeom>
          <a:solidFill>
            <a:srgbClr val="E8F1FD"/>
          </a:solidFill>
          <a:ln w="12700">
            <a:solidFill>
              <a:srgbClr val="E8F1FD"/>
            </a:solidFill>
            <a:prstDash val="solid"/>
          </a:ln>
        </p:spPr>
      </p:sp>
      <p:sp>
        <p:nvSpPr>
          <p:cNvPr id="6" name="Text 3"/>
          <p:cNvSpPr txBox="1"/>
          <p:nvPr/>
        </p:nvSpPr>
        <p:spPr>
          <a:xfrm>
            <a:off x="713232" y="1810512"/>
            <a:ext cx="1737360" cy="320040"/>
          </a:xfrm>
          <a:prstGeom prst="rect">
            <a:avLst/>
          </a:prstGeom>
          <a:noFill/>
          <a:ln/>
        </p:spPr>
        <p:txBody>
          <a:bodyPr wrap="square" lIns="0" tIns="0" rIns="0" bIns="0" rtlCol="0" anchor="t"/>
          <a:lstStyle/>
          <a:p>
            <a:pPr indent="0" marL="0">
              <a:buNone/>
            </a:pPr>
            <a:r>
              <a:rPr lang="en-US" sz="1500" b="1" dirty="0">
                <a:solidFill>
                  <a:srgbClr val="0064E0"/>
                </a:solidFill>
              </a:rPr>
              <a:t>DETR</a:t>
            </a:r>
            <a:endParaRPr lang="en-US" sz="1500" dirty="0"/>
          </a:p>
        </p:txBody>
      </p:sp>
      <p:sp>
        <p:nvSpPr>
          <p:cNvPr id="7" name="Text 4"/>
          <p:cNvSpPr txBox="1"/>
          <p:nvPr/>
        </p:nvSpPr>
        <p:spPr>
          <a:xfrm>
            <a:off x="713232" y="2148840"/>
            <a:ext cx="1737360" cy="640080"/>
          </a:xfrm>
          <a:prstGeom prst="rect">
            <a:avLst/>
          </a:prstGeom>
          <a:noFill/>
          <a:ln/>
        </p:spPr>
        <p:txBody>
          <a:bodyPr wrap="square" lIns="0" tIns="0" rIns="0" bIns="0" rtlCol="0" anchor="t"/>
          <a:lstStyle/>
          <a:p>
            <a:pPr indent="0" marL="0">
              <a:buNone/>
            </a:pPr>
            <a:r>
              <a:rPr lang="en-US" sz="1150" dirty="0">
                <a:solidFill>
                  <a:srgbClr val="0A0A0B"/>
                </a:solidFill>
              </a:rPr>
              <a:t>finds the players</a:t>
            </a:r>
            <a:endParaRPr lang="en-US" sz="1150" dirty="0"/>
          </a:p>
        </p:txBody>
      </p:sp>
      <p:sp>
        <p:nvSpPr>
          <p:cNvPr id="8" name="Shape 5"/>
          <p:cNvSpPr/>
          <p:nvPr/>
        </p:nvSpPr>
        <p:spPr>
          <a:xfrm>
            <a:off x="2578608" y="2258568"/>
            <a:ext cx="192024" cy="0"/>
          </a:xfrm>
          <a:prstGeom prst="line">
            <a:avLst/>
          </a:prstGeom>
          <a:noFill/>
          <a:ln w="22225">
            <a:solidFill>
              <a:srgbClr val="8A8A92"/>
            </a:solidFill>
            <a:prstDash val="solid"/>
            <a:tailEnd type="triangle"/>
          </a:ln>
        </p:spPr>
      </p:sp>
      <p:sp>
        <p:nvSpPr>
          <p:cNvPr id="9" name="Shape 6"/>
          <p:cNvSpPr/>
          <p:nvPr/>
        </p:nvSpPr>
        <p:spPr>
          <a:xfrm>
            <a:off x="2788920" y="1691640"/>
            <a:ext cx="2011680" cy="1143000"/>
          </a:xfrm>
          <a:prstGeom prst="roundRect">
            <a:avLst>
              <a:gd name="adj" fmla="val 9600"/>
            </a:avLst>
          </a:prstGeom>
          <a:solidFill>
            <a:srgbClr val="E8F1FD"/>
          </a:solidFill>
          <a:ln w="12700">
            <a:solidFill>
              <a:srgbClr val="E8F1FD"/>
            </a:solidFill>
            <a:prstDash val="solid"/>
          </a:ln>
        </p:spPr>
      </p:sp>
      <p:sp>
        <p:nvSpPr>
          <p:cNvPr id="10" name="Text 7"/>
          <p:cNvSpPr txBox="1"/>
          <p:nvPr/>
        </p:nvSpPr>
        <p:spPr>
          <a:xfrm>
            <a:off x="2953512" y="1810512"/>
            <a:ext cx="1737360" cy="320040"/>
          </a:xfrm>
          <a:prstGeom prst="rect">
            <a:avLst/>
          </a:prstGeom>
          <a:noFill/>
          <a:ln/>
        </p:spPr>
        <p:txBody>
          <a:bodyPr wrap="square" lIns="0" tIns="0" rIns="0" bIns="0" rtlCol="0" anchor="t"/>
          <a:lstStyle/>
          <a:p>
            <a:pPr indent="0" marL="0">
              <a:buNone/>
            </a:pPr>
            <a:r>
              <a:rPr lang="en-US" sz="1500" b="1" dirty="0">
                <a:solidFill>
                  <a:srgbClr val="0064E0"/>
                </a:solidFill>
              </a:rPr>
              <a:t>Sapiens2</a:t>
            </a:r>
            <a:endParaRPr lang="en-US" sz="1500" dirty="0"/>
          </a:p>
        </p:txBody>
      </p:sp>
      <p:sp>
        <p:nvSpPr>
          <p:cNvPr id="11" name="Text 8"/>
          <p:cNvSpPr txBox="1"/>
          <p:nvPr/>
        </p:nvSpPr>
        <p:spPr>
          <a:xfrm>
            <a:off x="2953512" y="2148840"/>
            <a:ext cx="1737360" cy="640080"/>
          </a:xfrm>
          <a:prstGeom prst="rect">
            <a:avLst/>
          </a:prstGeom>
          <a:noFill/>
          <a:ln/>
        </p:spPr>
        <p:txBody>
          <a:bodyPr wrap="square" lIns="0" tIns="0" rIns="0" bIns="0" rtlCol="0" anchor="t"/>
          <a:lstStyle/>
          <a:p>
            <a:pPr indent="0" marL="0">
              <a:buNone/>
            </a:pPr>
            <a:r>
              <a:rPr lang="en-US" sz="1150" dirty="0">
                <a:solidFill>
                  <a:srgbClr val="0A0A0B"/>
                </a:solidFill>
              </a:rPr>
              <a:t>finds the moment worth sharing</a:t>
            </a:r>
            <a:endParaRPr lang="en-US" sz="1150" dirty="0"/>
          </a:p>
        </p:txBody>
      </p:sp>
      <p:sp>
        <p:nvSpPr>
          <p:cNvPr id="12" name="Shape 9"/>
          <p:cNvSpPr/>
          <p:nvPr/>
        </p:nvSpPr>
        <p:spPr>
          <a:xfrm>
            <a:off x="4818888" y="2258568"/>
            <a:ext cx="192024" cy="0"/>
          </a:xfrm>
          <a:prstGeom prst="line">
            <a:avLst/>
          </a:prstGeom>
          <a:noFill/>
          <a:ln w="22225">
            <a:solidFill>
              <a:srgbClr val="8A8A92"/>
            </a:solidFill>
            <a:prstDash val="solid"/>
            <a:tailEnd type="triangle"/>
          </a:ln>
        </p:spPr>
      </p:sp>
      <p:sp>
        <p:nvSpPr>
          <p:cNvPr id="13" name="Shape 10"/>
          <p:cNvSpPr/>
          <p:nvPr/>
        </p:nvSpPr>
        <p:spPr>
          <a:xfrm>
            <a:off x="5029200" y="1691640"/>
            <a:ext cx="2011680" cy="1143000"/>
          </a:xfrm>
          <a:prstGeom prst="roundRect">
            <a:avLst>
              <a:gd name="adj" fmla="val 9600"/>
            </a:avLst>
          </a:prstGeom>
          <a:solidFill>
            <a:srgbClr val="E8F1FD"/>
          </a:solidFill>
          <a:ln w="12700">
            <a:solidFill>
              <a:srgbClr val="E8F1FD"/>
            </a:solidFill>
            <a:prstDash val="solid"/>
          </a:ln>
        </p:spPr>
      </p:sp>
      <p:sp>
        <p:nvSpPr>
          <p:cNvPr id="14" name="Text 11"/>
          <p:cNvSpPr txBox="1"/>
          <p:nvPr/>
        </p:nvSpPr>
        <p:spPr>
          <a:xfrm>
            <a:off x="5193792" y="1810512"/>
            <a:ext cx="1737360" cy="320040"/>
          </a:xfrm>
          <a:prstGeom prst="rect">
            <a:avLst/>
          </a:prstGeom>
          <a:noFill/>
          <a:ln/>
        </p:spPr>
        <p:txBody>
          <a:bodyPr wrap="square" lIns="0" tIns="0" rIns="0" bIns="0" rtlCol="0" anchor="t"/>
          <a:lstStyle/>
          <a:p>
            <a:pPr indent="0" marL="0">
              <a:buNone/>
            </a:pPr>
            <a:r>
              <a:rPr lang="en-US" sz="1500" b="1" dirty="0">
                <a:solidFill>
                  <a:srgbClr val="0064E0"/>
                </a:solidFill>
              </a:rPr>
              <a:t>SAM 2.1</a:t>
            </a:r>
            <a:endParaRPr lang="en-US" sz="1500" dirty="0"/>
          </a:p>
        </p:txBody>
      </p:sp>
      <p:sp>
        <p:nvSpPr>
          <p:cNvPr id="15" name="Text 12"/>
          <p:cNvSpPr txBox="1"/>
          <p:nvPr/>
        </p:nvSpPr>
        <p:spPr>
          <a:xfrm>
            <a:off x="5193792" y="2148840"/>
            <a:ext cx="1737360" cy="640080"/>
          </a:xfrm>
          <a:prstGeom prst="rect">
            <a:avLst/>
          </a:prstGeom>
          <a:noFill/>
          <a:ln/>
        </p:spPr>
        <p:txBody>
          <a:bodyPr wrap="square" lIns="0" tIns="0" rIns="0" bIns="0" rtlCol="0" anchor="t"/>
          <a:lstStyle/>
          <a:p>
            <a:pPr indent="0" marL="0">
              <a:buNone/>
            </a:pPr>
            <a:r>
              <a:rPr lang="en-US" sz="1150" dirty="0">
                <a:solidFill>
                  <a:srgbClr val="0A0A0B"/>
                </a:solidFill>
              </a:rPr>
              <a:t>cuts you out; SAM 3.1 checked it once</a:t>
            </a:r>
            <a:endParaRPr lang="en-US" sz="1150" dirty="0"/>
          </a:p>
        </p:txBody>
      </p:sp>
      <p:sp>
        <p:nvSpPr>
          <p:cNvPr id="16" name="Shape 13"/>
          <p:cNvSpPr/>
          <p:nvPr/>
        </p:nvSpPr>
        <p:spPr>
          <a:xfrm>
            <a:off x="7059168" y="2258568"/>
            <a:ext cx="192024" cy="0"/>
          </a:xfrm>
          <a:prstGeom prst="line">
            <a:avLst/>
          </a:prstGeom>
          <a:noFill/>
          <a:ln w="22225">
            <a:solidFill>
              <a:srgbClr val="8A8A92"/>
            </a:solidFill>
            <a:prstDash val="solid"/>
            <a:tailEnd type="triangle"/>
          </a:ln>
        </p:spPr>
      </p:sp>
      <p:sp>
        <p:nvSpPr>
          <p:cNvPr id="17" name="Shape 14"/>
          <p:cNvSpPr/>
          <p:nvPr/>
        </p:nvSpPr>
        <p:spPr>
          <a:xfrm>
            <a:off x="7269480" y="1691640"/>
            <a:ext cx="2011680" cy="1143000"/>
          </a:xfrm>
          <a:prstGeom prst="roundRect">
            <a:avLst>
              <a:gd name="adj" fmla="val 9600"/>
            </a:avLst>
          </a:prstGeom>
          <a:solidFill>
            <a:srgbClr val="E8F1FD"/>
          </a:solidFill>
          <a:ln w="12700">
            <a:solidFill>
              <a:srgbClr val="E8F1FD"/>
            </a:solidFill>
            <a:prstDash val="solid"/>
          </a:ln>
        </p:spPr>
      </p:sp>
      <p:sp>
        <p:nvSpPr>
          <p:cNvPr id="18" name="Text 15"/>
          <p:cNvSpPr txBox="1"/>
          <p:nvPr/>
        </p:nvSpPr>
        <p:spPr>
          <a:xfrm>
            <a:off x="7434072" y="1810512"/>
            <a:ext cx="1737360" cy="320040"/>
          </a:xfrm>
          <a:prstGeom prst="rect">
            <a:avLst/>
          </a:prstGeom>
          <a:noFill/>
          <a:ln/>
        </p:spPr>
        <p:txBody>
          <a:bodyPr wrap="square" lIns="0" tIns="0" rIns="0" bIns="0" rtlCol="0" anchor="t"/>
          <a:lstStyle/>
          <a:p>
            <a:pPr indent="0" marL="0">
              <a:buNone/>
            </a:pPr>
            <a:r>
              <a:rPr lang="en-US" sz="1500" b="1" dirty="0">
                <a:solidFill>
                  <a:srgbClr val="0064E0"/>
                </a:solidFill>
              </a:rPr>
              <a:t>MapAnything</a:t>
            </a:r>
            <a:endParaRPr lang="en-US" sz="1500" dirty="0"/>
          </a:p>
        </p:txBody>
      </p:sp>
      <p:sp>
        <p:nvSpPr>
          <p:cNvPr id="19" name="Text 16"/>
          <p:cNvSpPr txBox="1"/>
          <p:nvPr/>
        </p:nvSpPr>
        <p:spPr>
          <a:xfrm>
            <a:off x="7434072" y="2148840"/>
            <a:ext cx="1737360" cy="640080"/>
          </a:xfrm>
          <a:prstGeom prst="rect">
            <a:avLst/>
          </a:prstGeom>
          <a:noFill/>
          <a:ln/>
        </p:spPr>
        <p:txBody>
          <a:bodyPr wrap="square" lIns="0" tIns="0" rIns="0" bIns="0" rtlCol="0" anchor="t"/>
          <a:lstStyle/>
          <a:p>
            <a:pPr indent="0" marL="0">
              <a:buNone/>
            </a:pPr>
            <a:r>
              <a:rPr lang="en-US" sz="1150" dirty="0">
                <a:solidFill>
                  <a:srgbClr val="0A0A0B"/>
                </a:solidFill>
              </a:rPr>
              <a:t>depth and camera: time stops, the camera turns up to 12°</a:t>
            </a:r>
            <a:endParaRPr lang="en-US" sz="1150" dirty="0"/>
          </a:p>
        </p:txBody>
      </p:sp>
      <p:sp>
        <p:nvSpPr>
          <p:cNvPr id="20" name="Shape 17"/>
          <p:cNvSpPr/>
          <p:nvPr/>
        </p:nvSpPr>
        <p:spPr>
          <a:xfrm>
            <a:off x="9299448" y="2258568"/>
            <a:ext cx="192024" cy="0"/>
          </a:xfrm>
          <a:prstGeom prst="line">
            <a:avLst/>
          </a:prstGeom>
          <a:noFill/>
          <a:ln w="22225">
            <a:solidFill>
              <a:srgbClr val="8A8A92"/>
            </a:solidFill>
            <a:prstDash val="solid"/>
            <a:tailEnd type="triangle"/>
          </a:ln>
        </p:spPr>
      </p:sp>
      <p:sp>
        <p:nvSpPr>
          <p:cNvPr id="21" name="Shape 18"/>
          <p:cNvSpPr/>
          <p:nvPr/>
        </p:nvSpPr>
        <p:spPr>
          <a:xfrm>
            <a:off x="9509760" y="1691640"/>
            <a:ext cx="2011680" cy="1143000"/>
          </a:xfrm>
          <a:prstGeom prst="roundRect">
            <a:avLst>
              <a:gd name="adj" fmla="val 9600"/>
            </a:avLst>
          </a:prstGeom>
          <a:solidFill>
            <a:srgbClr val="E9F3EC"/>
          </a:solidFill>
          <a:ln w="12700">
            <a:solidFill>
              <a:srgbClr val="E9F3EC"/>
            </a:solidFill>
            <a:prstDash val="solid"/>
          </a:ln>
        </p:spPr>
      </p:sp>
      <p:sp>
        <p:nvSpPr>
          <p:cNvPr id="22" name="Text 19"/>
          <p:cNvSpPr txBox="1"/>
          <p:nvPr/>
        </p:nvSpPr>
        <p:spPr>
          <a:xfrm>
            <a:off x="9674352" y="1810512"/>
            <a:ext cx="1737360" cy="320040"/>
          </a:xfrm>
          <a:prstGeom prst="rect">
            <a:avLst/>
          </a:prstGeom>
          <a:noFill/>
          <a:ln/>
        </p:spPr>
        <p:txBody>
          <a:bodyPr wrap="square" lIns="0" tIns="0" rIns="0" bIns="0" rtlCol="0" anchor="t"/>
          <a:lstStyle/>
          <a:p>
            <a:pPr indent="0" marL="0">
              <a:buNone/>
            </a:pPr>
            <a:r>
              <a:rPr lang="en-US" sz="1500" b="1" dirty="0">
                <a:solidFill>
                  <a:srgbClr val="0A7F44"/>
                </a:solidFill>
              </a:rPr>
              <a:t>Muse Glimmer</a:t>
            </a:r>
            <a:endParaRPr lang="en-US" sz="1500" dirty="0"/>
          </a:p>
        </p:txBody>
      </p:sp>
      <p:sp>
        <p:nvSpPr>
          <p:cNvPr id="23" name="Text 20"/>
          <p:cNvSpPr txBox="1"/>
          <p:nvPr/>
        </p:nvSpPr>
        <p:spPr>
          <a:xfrm>
            <a:off x="9674352" y="2148840"/>
            <a:ext cx="1737360" cy="640080"/>
          </a:xfrm>
          <a:prstGeom prst="rect">
            <a:avLst/>
          </a:prstGeom>
          <a:noFill/>
          <a:ln/>
        </p:spPr>
        <p:txBody>
          <a:bodyPr wrap="square" lIns="0" tIns="0" rIns="0" bIns="0" rtlCol="0" anchor="t"/>
          <a:lstStyle/>
          <a:p>
            <a:pPr indent="0" marL="0">
              <a:buNone/>
            </a:pPr>
            <a:r>
              <a:rPr lang="en-US" sz="1150" dirty="0">
                <a:solidFill>
                  <a:srgbClr val="0A0A0B"/>
                </a:solidFill>
              </a:rPr>
              <a:t>writes the caption, checked by code</a:t>
            </a:r>
            <a:endParaRPr lang="en-US" sz="115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3108960"/>
            <a:ext cx="5394960" cy="3035808"/>
          </a:xfrm>
          <a:prstGeom prst="rect">
            <a:avLst/>
          </a:prstGeom>
        </p:spPr>
      </p:pic>
      <p:sp>
        <p:nvSpPr>
          <p:cNvPr id="25" name="Text 21"/>
          <p:cNvSpPr txBox="1"/>
          <p:nvPr/>
        </p:nvSpPr>
        <p:spPr>
          <a:xfrm>
            <a:off x="548640" y="6181344"/>
            <a:ext cx="5394960" cy="228600"/>
          </a:xfrm>
          <a:prstGeom prst="rect">
            <a:avLst/>
          </a:prstGeom>
          <a:noFill/>
          <a:ln/>
        </p:spPr>
        <p:txBody>
          <a:bodyPr wrap="square" lIns="0" tIns="0" rIns="0" bIns="0" rtlCol="0" anchor="t"/>
          <a:lstStyle/>
          <a:p>
            <a:pPr indent="0" marL="0">
              <a:buNone/>
            </a:pPr>
            <a:r>
              <a:rPr lang="en-US" sz="1000" dirty="0">
                <a:solidFill>
                  <a:srgbClr val="55555C"/>
                </a:solidFill>
              </a:rPr>
              <a:t>The smash on a loop: the camera swings round it · CC BY 3.0, Badminton klub Ljubljana</a:t>
            </a:r>
            <a:endParaRPr lang="en-US" sz="1000" dirty="0"/>
          </a:p>
        </p:txBody>
      </p:sp>
      <p:pic>
        <p:nvPicPr>
          <p:cNvPr id="26" name="Image 0" descr="preencoded.png">    </p:cNvPr>
          <p:cNvPicPr>
            <a:picLocks noChangeAspect="1"/>
          </p:cNvPicPr>
          <p:nvPr/>
        </p:nvPicPr>
        <p:blipFill>
          <a:blip r:embed="rId4"/>
          <a:stretch>
            <a:fillRect/>
          </a:stretch>
        </p:blipFill>
        <p:spPr>
          <a:xfrm>
            <a:off x="6172200" y="3108960"/>
            <a:ext cx="5440680" cy="1527048"/>
          </a:xfrm>
          <a:prstGeom prst="rect">
            <a:avLst/>
          </a:prstGeom>
        </p:spPr>
      </p:pic>
      <p:sp>
        <p:nvSpPr>
          <p:cNvPr id="27" name="Text 22"/>
          <p:cNvSpPr txBox="1"/>
          <p:nvPr/>
        </p:nvSpPr>
        <p:spPr>
          <a:xfrm>
            <a:off x="6172200" y="4663440"/>
            <a:ext cx="5440680" cy="228600"/>
          </a:xfrm>
          <a:prstGeom prst="rect">
            <a:avLst/>
          </a:prstGeom>
          <a:noFill/>
          <a:ln/>
        </p:spPr>
        <p:txBody>
          <a:bodyPr wrap="square" lIns="0" tIns="0" rIns="0" bIns="0" rtlCol="0" anchor="t"/>
          <a:lstStyle/>
          <a:p>
            <a:pPr indent="0" marL="0">
              <a:buNone/>
            </a:pPr>
            <a:r>
              <a:rPr lang="en-US" sz="1000" dirty="0">
                <a:solidFill>
                  <a:srgbClr val="55555C"/>
                </a:solidFill>
              </a:rPr>
              <a:t>SAM 2.1 cuts her out; MapAnything reads depth · SAM 3.1 agrees: box IoU 0.97</a:t>
            </a:r>
            <a:endParaRPr lang="en-US" sz="1000" dirty="0"/>
          </a:p>
        </p:txBody>
      </p:sp>
      <p:sp>
        <p:nvSpPr>
          <p:cNvPr id="28" name="Shape 23"/>
          <p:cNvSpPr/>
          <p:nvPr/>
        </p:nvSpPr>
        <p:spPr>
          <a:xfrm>
            <a:off x="6172200" y="4937760"/>
            <a:ext cx="1600200" cy="1371600"/>
          </a:xfrm>
          <a:prstGeom prst="roundRect">
            <a:avLst>
              <a:gd name="adj" fmla="val 8000"/>
            </a:avLst>
          </a:prstGeom>
          <a:solidFill>
            <a:srgbClr val="0A0A0B"/>
          </a:solidFill>
          <a:ln w="12700">
            <a:solidFill>
              <a:srgbClr val="0A0A0B"/>
            </a:solidFill>
            <a:prstDash val="solid"/>
          </a:ln>
        </p:spPr>
      </p:sp>
      <p:sp>
        <p:nvSpPr>
          <p:cNvPr id="29" name="Shape 24"/>
          <p:cNvSpPr/>
          <p:nvPr/>
        </p:nvSpPr>
        <p:spPr>
          <a:xfrm>
            <a:off x="7211375" y="5794028"/>
            <a:ext cx="54864" cy="54864"/>
          </a:xfrm>
          <a:prstGeom prst="ellipse">
            <a:avLst/>
          </a:prstGeom>
          <a:solidFill>
            <a:srgbClr val="5FD39A"/>
          </a:solidFill>
          <a:ln w="12700">
            <a:solidFill>
              <a:srgbClr val="5FD39A"/>
            </a:solidFill>
            <a:prstDash val="solid"/>
          </a:ln>
        </p:spPr>
      </p:sp>
      <p:sp>
        <p:nvSpPr>
          <p:cNvPr id="30" name="Shape 25"/>
          <p:cNvSpPr/>
          <p:nvPr/>
        </p:nvSpPr>
        <p:spPr>
          <a:xfrm>
            <a:off x="7180975" y="5811580"/>
            <a:ext cx="54864" cy="54864"/>
          </a:xfrm>
          <a:prstGeom prst="ellipse">
            <a:avLst/>
          </a:prstGeom>
          <a:solidFill>
            <a:srgbClr val="5FD39A"/>
          </a:solidFill>
          <a:ln w="12700">
            <a:solidFill>
              <a:srgbClr val="5FD39A"/>
            </a:solidFill>
            <a:prstDash val="solid"/>
          </a:ln>
        </p:spPr>
      </p:sp>
      <p:sp>
        <p:nvSpPr>
          <p:cNvPr id="31" name="Shape 26"/>
          <p:cNvSpPr/>
          <p:nvPr/>
        </p:nvSpPr>
        <p:spPr>
          <a:xfrm>
            <a:off x="7149424" y="5826968"/>
            <a:ext cx="54864" cy="54864"/>
          </a:xfrm>
          <a:prstGeom prst="ellipse">
            <a:avLst/>
          </a:prstGeom>
          <a:solidFill>
            <a:srgbClr val="5FD39A"/>
          </a:solidFill>
          <a:ln w="12700">
            <a:solidFill>
              <a:srgbClr val="5FD39A"/>
            </a:solidFill>
            <a:prstDash val="solid"/>
          </a:ln>
        </p:spPr>
      </p:sp>
      <p:sp>
        <p:nvSpPr>
          <p:cNvPr id="32" name="Shape 27"/>
          <p:cNvSpPr/>
          <p:nvPr/>
        </p:nvSpPr>
        <p:spPr>
          <a:xfrm>
            <a:off x="7116877" y="5840118"/>
            <a:ext cx="54864" cy="54864"/>
          </a:xfrm>
          <a:prstGeom prst="ellipse">
            <a:avLst/>
          </a:prstGeom>
          <a:solidFill>
            <a:srgbClr val="5FD39A"/>
          </a:solidFill>
          <a:ln w="12700">
            <a:solidFill>
              <a:srgbClr val="5FD39A"/>
            </a:solidFill>
            <a:prstDash val="solid"/>
          </a:ln>
        </p:spPr>
      </p:sp>
      <p:sp>
        <p:nvSpPr>
          <p:cNvPr id="33" name="Shape 28"/>
          <p:cNvSpPr/>
          <p:nvPr/>
        </p:nvSpPr>
        <p:spPr>
          <a:xfrm>
            <a:off x="7083492" y="5850966"/>
            <a:ext cx="54864" cy="54864"/>
          </a:xfrm>
          <a:prstGeom prst="ellipse">
            <a:avLst/>
          </a:prstGeom>
          <a:solidFill>
            <a:srgbClr val="5FD39A"/>
          </a:solidFill>
          <a:ln w="12700">
            <a:solidFill>
              <a:srgbClr val="5FD39A"/>
            </a:solidFill>
            <a:prstDash val="solid"/>
          </a:ln>
        </p:spPr>
      </p:sp>
      <p:sp>
        <p:nvSpPr>
          <p:cNvPr id="34" name="Shape 29"/>
          <p:cNvSpPr/>
          <p:nvPr/>
        </p:nvSpPr>
        <p:spPr>
          <a:xfrm>
            <a:off x="7049431" y="5859458"/>
            <a:ext cx="54864" cy="54864"/>
          </a:xfrm>
          <a:prstGeom prst="ellipse">
            <a:avLst/>
          </a:prstGeom>
          <a:solidFill>
            <a:srgbClr val="5FD39A"/>
          </a:solidFill>
          <a:ln w="12700">
            <a:solidFill>
              <a:srgbClr val="5FD39A"/>
            </a:solidFill>
            <a:prstDash val="solid"/>
          </a:ln>
        </p:spPr>
      </p:sp>
      <p:sp>
        <p:nvSpPr>
          <p:cNvPr id="35" name="Shape 30"/>
          <p:cNvSpPr/>
          <p:nvPr/>
        </p:nvSpPr>
        <p:spPr>
          <a:xfrm>
            <a:off x="7014861" y="5865554"/>
            <a:ext cx="54864" cy="54864"/>
          </a:xfrm>
          <a:prstGeom prst="ellipse">
            <a:avLst/>
          </a:prstGeom>
          <a:solidFill>
            <a:srgbClr val="5FD39A"/>
          </a:solidFill>
          <a:ln w="12700">
            <a:solidFill>
              <a:srgbClr val="5FD39A"/>
            </a:solidFill>
            <a:prstDash val="solid"/>
          </a:ln>
        </p:spPr>
      </p:sp>
      <p:sp>
        <p:nvSpPr>
          <p:cNvPr id="36" name="Shape 31"/>
          <p:cNvSpPr/>
          <p:nvPr/>
        </p:nvSpPr>
        <p:spPr>
          <a:xfrm>
            <a:off x="6979950" y="5869223"/>
            <a:ext cx="54864" cy="54864"/>
          </a:xfrm>
          <a:prstGeom prst="ellipse">
            <a:avLst/>
          </a:prstGeom>
          <a:solidFill>
            <a:srgbClr val="5FD39A"/>
          </a:solidFill>
          <a:ln w="12700">
            <a:solidFill>
              <a:srgbClr val="5FD39A"/>
            </a:solidFill>
            <a:prstDash val="solid"/>
          </a:ln>
        </p:spPr>
      </p:sp>
      <p:sp>
        <p:nvSpPr>
          <p:cNvPr id="37" name="Shape 32"/>
          <p:cNvSpPr/>
          <p:nvPr/>
        </p:nvSpPr>
        <p:spPr>
          <a:xfrm>
            <a:off x="6944868" y="5870448"/>
            <a:ext cx="54864" cy="54864"/>
          </a:xfrm>
          <a:prstGeom prst="ellipse">
            <a:avLst/>
          </a:prstGeom>
          <a:solidFill>
            <a:srgbClr val="5FD39A"/>
          </a:solidFill>
          <a:ln w="12700">
            <a:solidFill>
              <a:srgbClr val="5FD39A"/>
            </a:solidFill>
            <a:prstDash val="solid"/>
          </a:ln>
        </p:spPr>
      </p:sp>
      <p:sp>
        <p:nvSpPr>
          <p:cNvPr id="38" name="Shape 33"/>
          <p:cNvSpPr/>
          <p:nvPr/>
        </p:nvSpPr>
        <p:spPr>
          <a:xfrm>
            <a:off x="6909786" y="5869223"/>
            <a:ext cx="54864" cy="54864"/>
          </a:xfrm>
          <a:prstGeom prst="ellipse">
            <a:avLst/>
          </a:prstGeom>
          <a:solidFill>
            <a:srgbClr val="5FD39A"/>
          </a:solidFill>
          <a:ln w="12700">
            <a:solidFill>
              <a:srgbClr val="5FD39A"/>
            </a:solidFill>
            <a:prstDash val="solid"/>
          </a:ln>
        </p:spPr>
      </p:sp>
      <p:sp>
        <p:nvSpPr>
          <p:cNvPr id="39" name="Shape 34"/>
          <p:cNvSpPr/>
          <p:nvPr/>
        </p:nvSpPr>
        <p:spPr>
          <a:xfrm>
            <a:off x="6874875" y="5865554"/>
            <a:ext cx="54864" cy="54864"/>
          </a:xfrm>
          <a:prstGeom prst="ellipse">
            <a:avLst/>
          </a:prstGeom>
          <a:solidFill>
            <a:srgbClr val="5FD39A"/>
          </a:solidFill>
          <a:ln w="12700">
            <a:solidFill>
              <a:srgbClr val="5FD39A"/>
            </a:solidFill>
            <a:prstDash val="solid"/>
          </a:ln>
        </p:spPr>
      </p:sp>
      <p:sp>
        <p:nvSpPr>
          <p:cNvPr id="40" name="Shape 35"/>
          <p:cNvSpPr/>
          <p:nvPr/>
        </p:nvSpPr>
        <p:spPr>
          <a:xfrm>
            <a:off x="6840305" y="5859458"/>
            <a:ext cx="54864" cy="54864"/>
          </a:xfrm>
          <a:prstGeom prst="ellipse">
            <a:avLst/>
          </a:prstGeom>
          <a:solidFill>
            <a:srgbClr val="5FD39A"/>
          </a:solidFill>
          <a:ln w="12700">
            <a:solidFill>
              <a:srgbClr val="5FD39A"/>
            </a:solidFill>
            <a:prstDash val="solid"/>
          </a:ln>
        </p:spPr>
      </p:sp>
      <p:sp>
        <p:nvSpPr>
          <p:cNvPr id="41" name="Shape 36"/>
          <p:cNvSpPr/>
          <p:nvPr/>
        </p:nvSpPr>
        <p:spPr>
          <a:xfrm>
            <a:off x="6806244" y="5850966"/>
            <a:ext cx="54864" cy="54864"/>
          </a:xfrm>
          <a:prstGeom prst="ellipse">
            <a:avLst/>
          </a:prstGeom>
          <a:solidFill>
            <a:srgbClr val="5FD39A"/>
          </a:solidFill>
          <a:ln w="12700">
            <a:solidFill>
              <a:srgbClr val="5FD39A"/>
            </a:solidFill>
            <a:prstDash val="solid"/>
          </a:ln>
        </p:spPr>
      </p:sp>
      <p:sp>
        <p:nvSpPr>
          <p:cNvPr id="42" name="Shape 37"/>
          <p:cNvSpPr/>
          <p:nvPr/>
        </p:nvSpPr>
        <p:spPr>
          <a:xfrm>
            <a:off x="6772859" y="5840118"/>
            <a:ext cx="54864" cy="54864"/>
          </a:xfrm>
          <a:prstGeom prst="ellipse">
            <a:avLst/>
          </a:prstGeom>
          <a:solidFill>
            <a:srgbClr val="5FD39A"/>
          </a:solidFill>
          <a:ln w="12700">
            <a:solidFill>
              <a:srgbClr val="5FD39A"/>
            </a:solidFill>
            <a:prstDash val="solid"/>
          </a:ln>
        </p:spPr>
      </p:sp>
      <p:sp>
        <p:nvSpPr>
          <p:cNvPr id="43" name="Shape 38"/>
          <p:cNvSpPr/>
          <p:nvPr/>
        </p:nvSpPr>
        <p:spPr>
          <a:xfrm>
            <a:off x="6740312" y="5826968"/>
            <a:ext cx="54864" cy="54864"/>
          </a:xfrm>
          <a:prstGeom prst="ellipse">
            <a:avLst/>
          </a:prstGeom>
          <a:solidFill>
            <a:srgbClr val="5FD39A"/>
          </a:solidFill>
          <a:ln w="12700">
            <a:solidFill>
              <a:srgbClr val="5FD39A"/>
            </a:solidFill>
            <a:prstDash val="solid"/>
          </a:ln>
        </p:spPr>
      </p:sp>
      <p:sp>
        <p:nvSpPr>
          <p:cNvPr id="44" name="Shape 39"/>
          <p:cNvSpPr/>
          <p:nvPr/>
        </p:nvSpPr>
        <p:spPr>
          <a:xfrm>
            <a:off x="6708761" y="5811580"/>
            <a:ext cx="54864" cy="54864"/>
          </a:xfrm>
          <a:prstGeom prst="ellipse">
            <a:avLst/>
          </a:prstGeom>
          <a:solidFill>
            <a:srgbClr val="5FD39A"/>
          </a:solidFill>
          <a:ln w="12700">
            <a:solidFill>
              <a:srgbClr val="5FD39A"/>
            </a:solidFill>
            <a:prstDash val="solid"/>
          </a:ln>
        </p:spPr>
      </p:sp>
      <p:sp>
        <p:nvSpPr>
          <p:cNvPr id="45" name="Shape 40"/>
          <p:cNvSpPr/>
          <p:nvPr/>
        </p:nvSpPr>
        <p:spPr>
          <a:xfrm>
            <a:off x="6678361" y="5794028"/>
            <a:ext cx="54864" cy="54864"/>
          </a:xfrm>
          <a:prstGeom prst="ellipse">
            <a:avLst/>
          </a:prstGeom>
          <a:solidFill>
            <a:srgbClr val="5FD39A"/>
          </a:solidFill>
          <a:ln w="12700">
            <a:solidFill>
              <a:srgbClr val="5FD39A"/>
            </a:solidFill>
            <a:prstDash val="solid"/>
          </a:ln>
        </p:spPr>
      </p:sp>
      <p:sp>
        <p:nvSpPr>
          <p:cNvPr id="46" name="Shape 41"/>
          <p:cNvSpPr/>
          <p:nvPr/>
        </p:nvSpPr>
        <p:spPr>
          <a:xfrm>
            <a:off x="6649259" y="5774399"/>
            <a:ext cx="54864" cy="54864"/>
          </a:xfrm>
          <a:prstGeom prst="ellipse">
            <a:avLst/>
          </a:prstGeom>
          <a:solidFill>
            <a:srgbClr val="5FD39A"/>
          </a:solidFill>
          <a:ln w="12700">
            <a:solidFill>
              <a:srgbClr val="5FD39A"/>
            </a:solidFill>
            <a:prstDash val="solid"/>
          </a:ln>
        </p:spPr>
      </p:sp>
      <p:sp>
        <p:nvSpPr>
          <p:cNvPr id="47" name="Shape 42"/>
          <p:cNvSpPr/>
          <p:nvPr/>
        </p:nvSpPr>
        <p:spPr>
          <a:xfrm>
            <a:off x="6621597" y="5752787"/>
            <a:ext cx="54864" cy="54864"/>
          </a:xfrm>
          <a:prstGeom prst="ellipse">
            <a:avLst/>
          </a:prstGeom>
          <a:solidFill>
            <a:srgbClr val="5FD39A"/>
          </a:solidFill>
          <a:ln w="12700">
            <a:solidFill>
              <a:srgbClr val="5FD39A"/>
            </a:solidFill>
            <a:prstDash val="solid"/>
          </a:ln>
        </p:spPr>
      </p:sp>
      <p:sp>
        <p:nvSpPr>
          <p:cNvPr id="48" name="Shape 43"/>
          <p:cNvSpPr/>
          <p:nvPr/>
        </p:nvSpPr>
        <p:spPr>
          <a:xfrm>
            <a:off x="6595510" y="5729298"/>
            <a:ext cx="54864" cy="54864"/>
          </a:xfrm>
          <a:prstGeom prst="ellipse">
            <a:avLst/>
          </a:prstGeom>
          <a:solidFill>
            <a:srgbClr val="5FD39A"/>
          </a:solidFill>
          <a:ln w="12700">
            <a:solidFill>
              <a:srgbClr val="5FD39A"/>
            </a:solidFill>
            <a:prstDash val="solid"/>
          </a:ln>
        </p:spPr>
      </p:sp>
      <p:sp>
        <p:nvSpPr>
          <p:cNvPr id="49" name="Shape 44"/>
          <p:cNvSpPr/>
          <p:nvPr/>
        </p:nvSpPr>
        <p:spPr>
          <a:xfrm>
            <a:off x="6571126" y="5704047"/>
            <a:ext cx="54864" cy="54864"/>
          </a:xfrm>
          <a:prstGeom prst="ellipse">
            <a:avLst/>
          </a:prstGeom>
          <a:solidFill>
            <a:srgbClr val="5FD39A"/>
          </a:solidFill>
          <a:ln w="12700">
            <a:solidFill>
              <a:srgbClr val="5FD39A"/>
            </a:solidFill>
            <a:prstDash val="solid"/>
          </a:ln>
        </p:spPr>
      </p:sp>
      <p:sp>
        <p:nvSpPr>
          <p:cNvPr id="50" name="Shape 45"/>
          <p:cNvSpPr/>
          <p:nvPr/>
        </p:nvSpPr>
        <p:spPr>
          <a:xfrm>
            <a:off x="6972300" y="5394960"/>
            <a:ext cx="914" cy="521208"/>
          </a:xfrm>
          <a:prstGeom prst="line">
            <a:avLst/>
          </a:prstGeom>
          <a:noFill/>
          <a:ln w="9525">
            <a:solidFill>
              <a:srgbClr val="8A8A92"/>
            </a:solidFill>
            <a:prstDash val="dash"/>
          </a:ln>
        </p:spPr>
      </p:sp>
      <p:sp>
        <p:nvSpPr>
          <p:cNvPr id="51" name="Shape 46"/>
          <p:cNvSpPr/>
          <p:nvPr/>
        </p:nvSpPr>
        <p:spPr>
          <a:xfrm>
            <a:off x="6908292" y="5330952"/>
            <a:ext cx="128016" cy="128016"/>
          </a:xfrm>
          <a:prstGeom prst="ellipse">
            <a:avLst/>
          </a:prstGeom>
          <a:solidFill>
            <a:srgbClr val="FF4FA3"/>
          </a:solidFill>
          <a:ln w="15875">
            <a:solidFill>
              <a:srgbClr val="FFFFFF"/>
            </a:solidFill>
            <a:prstDash val="solid"/>
          </a:ln>
        </p:spPr>
      </p:sp>
      <p:sp>
        <p:nvSpPr>
          <p:cNvPr id="52" name="Text 47"/>
          <p:cNvSpPr txBox="1"/>
          <p:nvPr/>
        </p:nvSpPr>
        <p:spPr>
          <a:xfrm>
            <a:off x="7063740" y="5312664"/>
            <a:ext cx="365760" cy="164592"/>
          </a:xfrm>
          <a:prstGeom prst="rect">
            <a:avLst/>
          </a:prstGeom>
          <a:noFill/>
          <a:ln/>
        </p:spPr>
        <p:txBody>
          <a:bodyPr wrap="square" lIns="0" tIns="0" rIns="0" bIns="0" rtlCol="0" anchor="t"/>
          <a:lstStyle/>
          <a:p>
            <a:pPr indent="0" marL="0">
              <a:buNone/>
            </a:pPr>
            <a:r>
              <a:rPr lang="en-US" sz="800" dirty="0">
                <a:solidFill>
                  <a:srgbClr val="FFFFFF"/>
                </a:solidFill>
              </a:rPr>
              <a:t>her</a:t>
            </a:r>
            <a:endParaRPr lang="en-US" sz="800" dirty="0"/>
          </a:p>
        </p:txBody>
      </p:sp>
      <p:sp>
        <p:nvSpPr>
          <p:cNvPr id="53" name="Shape 48"/>
          <p:cNvSpPr/>
          <p:nvPr/>
        </p:nvSpPr>
        <p:spPr>
          <a:xfrm>
            <a:off x="7156511" y="5739164"/>
            <a:ext cx="164592" cy="164592"/>
          </a:xfrm>
          <a:prstGeom prst="ellipse">
            <a:avLst/>
          </a:prstGeom>
          <a:solidFill>
            <a:srgbClr val="FFFFFF"/>
          </a:solidFill>
          <a:ln w="12700">
            <a:solidFill>
              <a:srgbClr val="FFFFFF"/>
            </a:solidFill>
            <a:prstDash val="solid"/>
          </a:ln>
        </p:spPr>
      </p:sp>
      <p:sp>
        <p:nvSpPr>
          <p:cNvPr id="54" name="Text 49"/>
          <p:cNvSpPr txBox="1"/>
          <p:nvPr/>
        </p:nvSpPr>
        <p:spPr>
          <a:xfrm>
            <a:off x="7156511" y="5739164"/>
            <a:ext cx="164592" cy="164592"/>
          </a:xfrm>
          <a:prstGeom prst="rect">
            <a:avLst/>
          </a:prstGeom>
          <a:noFill/>
          <a:ln/>
        </p:spPr>
        <p:txBody>
          <a:bodyPr wrap="square" lIns="0" tIns="0" rIns="0" bIns="0" rtlCol="0" anchor="ctr"/>
          <a:lstStyle/>
          <a:p>
            <a:pPr algn="ctr" indent="0" marL="0">
              <a:buNone/>
            </a:pPr>
            <a:r>
              <a:rPr lang="en-US" sz="800" b="1" dirty="0">
                <a:solidFill>
                  <a:srgbClr val="0A0A0B"/>
                </a:solidFill>
              </a:rPr>
              <a:t>1</a:t>
            </a:r>
            <a:endParaRPr lang="en-US" sz="800" dirty="0"/>
          </a:p>
        </p:txBody>
      </p:sp>
      <p:sp>
        <p:nvSpPr>
          <p:cNvPr id="55" name="Shape 50"/>
          <p:cNvSpPr/>
          <p:nvPr/>
        </p:nvSpPr>
        <p:spPr>
          <a:xfrm>
            <a:off x="6820011" y="5810690"/>
            <a:ext cx="164592" cy="164592"/>
          </a:xfrm>
          <a:prstGeom prst="ellipse">
            <a:avLst/>
          </a:prstGeom>
          <a:solidFill>
            <a:srgbClr val="FFFFFF"/>
          </a:solidFill>
          <a:ln w="12700">
            <a:solidFill>
              <a:srgbClr val="FFFFFF"/>
            </a:solidFill>
            <a:prstDash val="solid"/>
          </a:ln>
        </p:spPr>
      </p:sp>
      <p:sp>
        <p:nvSpPr>
          <p:cNvPr id="56" name="Text 51"/>
          <p:cNvSpPr txBox="1"/>
          <p:nvPr/>
        </p:nvSpPr>
        <p:spPr>
          <a:xfrm>
            <a:off x="6820011" y="5810690"/>
            <a:ext cx="164592" cy="164592"/>
          </a:xfrm>
          <a:prstGeom prst="rect">
            <a:avLst/>
          </a:prstGeom>
          <a:noFill/>
          <a:ln/>
        </p:spPr>
        <p:txBody>
          <a:bodyPr wrap="square" lIns="0" tIns="0" rIns="0" bIns="0" rtlCol="0" anchor="ctr"/>
          <a:lstStyle/>
          <a:p>
            <a:pPr algn="ctr" indent="0" marL="0">
              <a:buNone/>
            </a:pPr>
            <a:r>
              <a:rPr lang="en-US" sz="800" b="1" dirty="0">
                <a:solidFill>
                  <a:srgbClr val="0A0A0B"/>
                </a:solidFill>
              </a:rPr>
              <a:t>2</a:t>
            </a:r>
            <a:endParaRPr lang="en-US" sz="800" dirty="0"/>
          </a:p>
        </p:txBody>
      </p:sp>
      <p:sp>
        <p:nvSpPr>
          <p:cNvPr id="57" name="Shape 52"/>
          <p:cNvSpPr/>
          <p:nvPr/>
        </p:nvSpPr>
        <p:spPr>
          <a:xfrm>
            <a:off x="6516262" y="5649183"/>
            <a:ext cx="164592" cy="164592"/>
          </a:xfrm>
          <a:prstGeom prst="ellipse">
            <a:avLst/>
          </a:prstGeom>
          <a:solidFill>
            <a:srgbClr val="FFFFFF"/>
          </a:solidFill>
          <a:ln w="12700">
            <a:solidFill>
              <a:srgbClr val="FFFFFF"/>
            </a:solidFill>
            <a:prstDash val="solid"/>
          </a:ln>
        </p:spPr>
      </p:sp>
      <p:sp>
        <p:nvSpPr>
          <p:cNvPr id="58" name="Text 53"/>
          <p:cNvSpPr txBox="1"/>
          <p:nvPr/>
        </p:nvSpPr>
        <p:spPr>
          <a:xfrm>
            <a:off x="6516262" y="5649183"/>
            <a:ext cx="164592" cy="164592"/>
          </a:xfrm>
          <a:prstGeom prst="rect">
            <a:avLst/>
          </a:prstGeom>
          <a:noFill/>
          <a:ln/>
        </p:spPr>
        <p:txBody>
          <a:bodyPr wrap="square" lIns="0" tIns="0" rIns="0" bIns="0" rtlCol="0" anchor="ctr"/>
          <a:lstStyle/>
          <a:p>
            <a:pPr algn="ctr" indent="0" marL="0">
              <a:buNone/>
            </a:pPr>
            <a:r>
              <a:rPr lang="en-US" sz="800" b="1" dirty="0">
                <a:solidFill>
                  <a:srgbClr val="0A0A0B"/>
                </a:solidFill>
              </a:rPr>
              <a:t>3</a:t>
            </a:r>
            <a:endParaRPr lang="en-US" sz="800" dirty="0"/>
          </a:p>
        </p:txBody>
      </p:sp>
      <p:sp>
        <p:nvSpPr>
          <p:cNvPr id="59" name="Text 54"/>
          <p:cNvSpPr txBox="1"/>
          <p:nvPr/>
        </p:nvSpPr>
        <p:spPr>
          <a:xfrm>
            <a:off x="7172221" y="5934418"/>
            <a:ext cx="457200" cy="146304"/>
          </a:xfrm>
          <a:prstGeom prst="rect">
            <a:avLst/>
          </a:prstGeom>
          <a:noFill/>
          <a:ln/>
        </p:spPr>
        <p:txBody>
          <a:bodyPr wrap="square" lIns="0" tIns="0" rIns="0" bIns="0" rtlCol="0" anchor="t"/>
          <a:lstStyle/>
          <a:p>
            <a:pPr algn="ctr" indent="0" marL="0">
              <a:buNone/>
            </a:pPr>
            <a:r>
              <a:rPr lang="en-US" sz="800" dirty="0">
                <a:solidFill>
                  <a:srgbClr val="FFFFFF"/>
                </a:solidFill>
              </a:rPr>
              <a:t>+8°</a:t>
            </a:r>
            <a:endParaRPr lang="en-US" sz="800" dirty="0"/>
          </a:p>
        </p:txBody>
      </p:sp>
      <p:sp>
        <p:nvSpPr>
          <p:cNvPr id="60" name="Text 55"/>
          <p:cNvSpPr txBox="1"/>
          <p:nvPr/>
        </p:nvSpPr>
        <p:spPr>
          <a:xfrm>
            <a:off x="6161150" y="5805172"/>
            <a:ext cx="457200" cy="146304"/>
          </a:xfrm>
          <a:prstGeom prst="rect">
            <a:avLst/>
          </a:prstGeom>
          <a:noFill/>
          <a:ln/>
        </p:spPr>
        <p:txBody>
          <a:bodyPr wrap="square" lIns="0" tIns="0" rIns="0" bIns="0" rtlCol="0" anchor="t"/>
          <a:lstStyle/>
          <a:p>
            <a:pPr algn="ctr" indent="0" marL="0">
              <a:buNone/>
            </a:pPr>
            <a:r>
              <a:rPr lang="en-US" sz="800" dirty="0">
                <a:solidFill>
                  <a:srgbClr val="FFFFFF"/>
                </a:solidFill>
              </a:rPr>
              <a:t>−12°</a:t>
            </a:r>
            <a:endParaRPr lang="en-US" sz="800" dirty="0"/>
          </a:p>
        </p:txBody>
      </p:sp>
      <p:sp>
        <p:nvSpPr>
          <p:cNvPr id="61" name="Text 56"/>
          <p:cNvSpPr txBox="1"/>
          <p:nvPr/>
        </p:nvSpPr>
        <p:spPr>
          <a:xfrm>
            <a:off x="6263640" y="5001768"/>
            <a:ext cx="914400" cy="164592"/>
          </a:xfrm>
          <a:prstGeom prst="rect">
            <a:avLst/>
          </a:prstGeom>
          <a:noFill/>
          <a:ln/>
        </p:spPr>
        <p:txBody>
          <a:bodyPr wrap="square" lIns="0" tIns="0" rIns="0" bIns="0" rtlCol="0" anchor="t"/>
          <a:lstStyle/>
          <a:p>
            <a:pPr indent="0" marL="0">
              <a:buNone/>
            </a:pPr>
            <a:r>
              <a:rPr lang="en-US" sz="800" dirty="0">
                <a:solidFill>
                  <a:srgbClr val="B0B0B8"/>
                </a:solidFill>
              </a:rPr>
              <a:t>From above</a:t>
            </a:r>
            <a:endParaRPr lang="en-US" sz="800" dirty="0"/>
          </a:p>
        </p:txBody>
      </p:sp>
      <p:pic>
        <p:nvPicPr>
          <p:cNvPr id="62" name="Image 1" descr="preencoded.png">    </p:cNvPr>
          <p:cNvPicPr>
            <a:picLocks noChangeAspect="1"/>
          </p:cNvPicPr>
          <p:nvPr/>
        </p:nvPicPr>
        <p:blipFill>
          <a:blip r:embed="rId5"/>
          <a:stretch>
            <a:fillRect/>
          </a:stretch>
        </p:blipFill>
        <p:spPr>
          <a:xfrm>
            <a:off x="7927848" y="4937760"/>
            <a:ext cx="1197864" cy="673913"/>
          </a:xfrm>
          <a:prstGeom prst="rect">
            <a:avLst/>
          </a:prstGeom>
        </p:spPr>
      </p:pic>
      <p:sp>
        <p:nvSpPr>
          <p:cNvPr id="63" name="Text 57"/>
          <p:cNvSpPr txBox="1"/>
          <p:nvPr/>
        </p:nvSpPr>
        <p:spPr>
          <a:xfrm>
            <a:off x="7927848" y="5650992"/>
            <a:ext cx="1197864" cy="201168"/>
          </a:xfrm>
          <a:prstGeom prst="rect">
            <a:avLst/>
          </a:prstGeom>
          <a:noFill/>
          <a:ln/>
        </p:spPr>
        <p:txBody>
          <a:bodyPr wrap="square" lIns="0" tIns="0" rIns="0" bIns="0" rtlCol="0" anchor="t"/>
          <a:lstStyle/>
          <a:p>
            <a:pPr algn="ctr" indent="0" marL="0">
              <a:buNone/>
            </a:pPr>
            <a:r>
              <a:rPr lang="en-US" sz="1000" b="1" dirty="0">
                <a:solidFill>
                  <a:srgbClr val="0A0A0B"/>
                </a:solidFill>
              </a:rPr>
              <a:t>1 · +8°</a:t>
            </a:r>
            <a:endParaRPr lang="en-US" sz="1000" dirty="0"/>
          </a:p>
        </p:txBody>
      </p:sp>
      <p:pic>
        <p:nvPicPr>
          <p:cNvPr id="64" name="Image 2" descr="preencoded.png">    </p:cNvPr>
          <p:cNvPicPr>
            <a:picLocks noChangeAspect="1"/>
          </p:cNvPicPr>
          <p:nvPr/>
        </p:nvPicPr>
        <p:blipFill>
          <a:blip r:embed="rId6"/>
          <a:stretch>
            <a:fillRect/>
          </a:stretch>
        </p:blipFill>
        <p:spPr>
          <a:xfrm>
            <a:off x="9171432" y="4937760"/>
            <a:ext cx="1197864" cy="673913"/>
          </a:xfrm>
          <a:prstGeom prst="rect">
            <a:avLst/>
          </a:prstGeom>
        </p:spPr>
      </p:pic>
      <p:sp>
        <p:nvSpPr>
          <p:cNvPr id="65" name="Text 58"/>
          <p:cNvSpPr txBox="1"/>
          <p:nvPr/>
        </p:nvSpPr>
        <p:spPr>
          <a:xfrm>
            <a:off x="9171432" y="5650992"/>
            <a:ext cx="1197864" cy="201168"/>
          </a:xfrm>
          <a:prstGeom prst="rect">
            <a:avLst/>
          </a:prstGeom>
          <a:noFill/>
          <a:ln/>
        </p:spPr>
        <p:txBody>
          <a:bodyPr wrap="square" lIns="0" tIns="0" rIns="0" bIns="0" rtlCol="0" anchor="t"/>
          <a:lstStyle/>
          <a:p>
            <a:pPr algn="ctr" indent="0" marL="0">
              <a:buNone/>
            </a:pPr>
            <a:r>
              <a:rPr lang="en-US" sz="1000" b="1" dirty="0">
                <a:solidFill>
                  <a:srgbClr val="0A0A0B"/>
                </a:solidFill>
              </a:rPr>
              <a:t>2 · −2°</a:t>
            </a:r>
            <a:endParaRPr lang="en-US" sz="1000" dirty="0"/>
          </a:p>
        </p:txBody>
      </p:sp>
      <p:pic>
        <p:nvPicPr>
          <p:cNvPr id="66" name="Image 3" descr="preencoded.png">    </p:cNvPr>
          <p:cNvPicPr>
            <a:picLocks noChangeAspect="1"/>
          </p:cNvPicPr>
          <p:nvPr/>
        </p:nvPicPr>
        <p:blipFill>
          <a:blip r:embed="rId7"/>
          <a:stretch>
            <a:fillRect/>
          </a:stretch>
        </p:blipFill>
        <p:spPr>
          <a:xfrm>
            <a:off x="10415016" y="4937760"/>
            <a:ext cx="1197864" cy="673913"/>
          </a:xfrm>
          <a:prstGeom prst="rect">
            <a:avLst/>
          </a:prstGeom>
        </p:spPr>
      </p:pic>
      <p:sp>
        <p:nvSpPr>
          <p:cNvPr id="67" name="Text 59"/>
          <p:cNvSpPr txBox="1"/>
          <p:nvPr/>
        </p:nvSpPr>
        <p:spPr>
          <a:xfrm>
            <a:off x="10415016" y="5650992"/>
            <a:ext cx="1197864" cy="201168"/>
          </a:xfrm>
          <a:prstGeom prst="rect">
            <a:avLst/>
          </a:prstGeom>
          <a:noFill/>
          <a:ln/>
        </p:spPr>
        <p:txBody>
          <a:bodyPr wrap="square" lIns="0" tIns="0" rIns="0" bIns="0" rtlCol="0" anchor="t"/>
          <a:lstStyle/>
          <a:p>
            <a:pPr algn="ctr" indent="0" marL="0">
              <a:buNone/>
            </a:pPr>
            <a:r>
              <a:rPr lang="en-US" sz="1000" b="1" dirty="0">
                <a:solidFill>
                  <a:srgbClr val="0A0A0B"/>
                </a:solidFill>
              </a:rPr>
              <a:t>3 · −12°</a:t>
            </a:r>
            <a:endParaRPr lang="en-US" sz="1000" dirty="0"/>
          </a:p>
        </p:txBody>
      </p:sp>
      <p:sp>
        <p:nvSpPr>
          <p:cNvPr id="68" name="Text 60"/>
          <p:cNvSpPr txBox="1"/>
          <p:nvPr/>
        </p:nvSpPr>
        <p:spPr>
          <a:xfrm>
            <a:off x="7927848" y="5897880"/>
            <a:ext cx="3685032" cy="365760"/>
          </a:xfrm>
          <a:prstGeom prst="rect">
            <a:avLst/>
          </a:prstGeom>
          <a:noFill/>
          <a:ln/>
        </p:spPr>
        <p:txBody>
          <a:bodyPr wrap="square" lIns="0" tIns="0" rIns="0" bIns="0" rtlCol="0" anchor="t"/>
          <a:lstStyle/>
          <a:p>
            <a:pPr indent="0" marL="0">
              <a:buNone/>
            </a:pPr>
            <a:r>
              <a:rPr lang="en-US" sz="1000" dirty="0">
                <a:solidFill>
                  <a:srgbClr val="55555C"/>
                </a:solidFill>
              </a:rPr>
              <a:t>Three frames rendered along the arc, time stopped</a:t>
            </a:r>
            <a:endParaRPr lang="en-US" sz="10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AGENTS AS MEMBERS</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Your agent joins the club with a key of its own</a:t>
            </a:r>
            <a:endParaRPr lang="en-US" sz="3200" dirty="0"/>
          </a:p>
        </p:txBody>
      </p:sp>
      <p:sp>
        <p:nvSpPr>
          <p:cNvPr id="5" name="Shape 2"/>
          <p:cNvSpPr/>
          <p:nvPr/>
        </p:nvSpPr>
        <p:spPr>
          <a:xfrm>
            <a:off x="621792" y="1627632"/>
            <a:ext cx="2113911" cy="4425696"/>
          </a:xfrm>
          <a:prstGeom prst="roundRect">
            <a:avLst>
              <a:gd name="adj" fmla="val 8651"/>
            </a:avLst>
          </a:prstGeom>
          <a:solidFill>
            <a:srgbClr val="0A0A0B"/>
          </a:solidFill>
          <a:ln w="12700">
            <a:solidFill>
              <a:srgbClr val="0A0A0B"/>
            </a:solidFill>
            <a:prstDash val="solid"/>
          </a:ln>
        </p:spPr>
      </p:sp>
      <p:pic>
        <p:nvPicPr>
          <p:cNvPr id="6" name="Image 0" descr="preencoded.png">    </p:cNvPr>
          <p:cNvPicPr>
            <a:picLocks noChangeAspect="1"/>
          </p:cNvPicPr>
          <p:nvPr/>
        </p:nvPicPr>
        <p:blipFill>
          <a:blip r:embed="rId1"/>
          <a:stretch>
            <a:fillRect/>
          </a:stretch>
        </p:blipFill>
        <p:spPr>
          <a:xfrm>
            <a:off x="685800" y="1691640"/>
            <a:ext cx="1985895" cy="4297680"/>
          </a:xfrm>
          <a:prstGeom prst="rect">
            <a:avLst/>
          </a:prstGeom>
        </p:spPr>
      </p:pic>
      <p:sp>
        <p:nvSpPr>
          <p:cNvPr id="7" name="Text 3"/>
          <p:cNvSpPr txBox="1"/>
          <p:nvPr/>
        </p:nvSpPr>
        <p:spPr>
          <a:xfrm>
            <a:off x="411480" y="6108192"/>
            <a:ext cx="2534535" cy="256032"/>
          </a:xfrm>
          <a:prstGeom prst="rect">
            <a:avLst/>
          </a:prstGeom>
          <a:noFill/>
          <a:ln/>
        </p:spPr>
        <p:txBody>
          <a:bodyPr wrap="square" lIns="0" tIns="0" rIns="0" bIns="0" rtlCol="0" anchor="t"/>
          <a:lstStyle/>
          <a:p>
            <a:pPr algn="ctr" indent="0" marL="0">
              <a:buNone/>
            </a:pPr>
            <a:r>
              <a:rPr lang="en-US" sz="1050" dirty="0">
                <a:solidFill>
                  <a:srgbClr val="55555C"/>
                </a:solidFill>
              </a:rPr>
              <a:t>Your agent in the club</a:t>
            </a:r>
            <a:endParaRPr lang="en-US" sz="1050" dirty="0"/>
          </a:p>
        </p:txBody>
      </p:sp>
      <p:sp>
        <p:nvSpPr>
          <p:cNvPr id="8" name="Shape 4"/>
          <p:cNvSpPr/>
          <p:nvPr/>
        </p:nvSpPr>
        <p:spPr>
          <a:xfrm>
            <a:off x="3429000" y="1755648"/>
            <a:ext cx="384048" cy="384048"/>
          </a:xfrm>
          <a:prstGeom prst="ellipse">
            <a:avLst/>
          </a:prstGeom>
          <a:solidFill>
            <a:srgbClr val="0064E0"/>
          </a:solidFill>
          <a:ln w="12700">
            <a:solidFill>
              <a:srgbClr val="0064E0"/>
            </a:solidFill>
            <a:prstDash val="solid"/>
          </a:ln>
        </p:spPr>
      </p:sp>
      <p:sp>
        <p:nvSpPr>
          <p:cNvPr id="9" name="Text 5"/>
          <p:cNvSpPr txBox="1"/>
          <p:nvPr/>
        </p:nvSpPr>
        <p:spPr>
          <a:xfrm>
            <a:off x="3429000" y="1755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Text 6"/>
          <p:cNvSpPr txBox="1"/>
          <p:nvPr/>
        </p:nvSpPr>
        <p:spPr>
          <a:xfrm>
            <a:off x="3977640" y="1737360"/>
            <a:ext cx="3931920" cy="292608"/>
          </a:xfrm>
          <a:prstGeom prst="rect">
            <a:avLst/>
          </a:prstGeom>
          <a:noFill/>
          <a:ln/>
        </p:spPr>
        <p:txBody>
          <a:bodyPr wrap="square" lIns="0" tIns="0" rIns="0" bIns="0" rtlCol="0" anchor="t"/>
          <a:lstStyle/>
          <a:p>
            <a:pPr indent="0" marL="0">
              <a:buNone/>
            </a:pPr>
            <a:r>
              <a:rPr lang="en-US" sz="1500" b="1" dirty="0">
                <a:solidFill>
                  <a:srgbClr val="0A0A0B"/>
                </a:solidFill>
              </a:rPr>
              <a:t>A key made in your browser</a:t>
            </a:r>
            <a:endParaRPr lang="en-US" sz="1500" dirty="0"/>
          </a:p>
        </p:txBody>
      </p:sp>
      <p:sp>
        <p:nvSpPr>
          <p:cNvPr id="11" name="Text 7"/>
          <p:cNvSpPr txBox="1"/>
          <p:nvPr/>
        </p:nvSpPr>
        <p:spPr>
          <a:xfrm>
            <a:off x="3977640" y="2048256"/>
            <a:ext cx="3931920" cy="731520"/>
          </a:xfrm>
          <a:prstGeom prst="rect">
            <a:avLst/>
          </a:prstGeom>
          <a:noFill/>
          <a:ln/>
        </p:spPr>
        <p:txBody>
          <a:bodyPr wrap="square" lIns="0" tIns="0" rIns="0" bIns="0" rtlCol="0" anchor="t"/>
          <a:lstStyle/>
          <a:p>
            <a:pPr indent="0" marL="0">
              <a:buNone/>
            </a:pPr>
            <a:r>
              <a:rPr lang="en-US" sz="1150" dirty="0">
                <a:solidFill>
                  <a:srgbClr val="55555C"/>
                </a:solidFill>
              </a:rPr>
              <a:t>Ed25519 with Web Crypto. Only the public half is registered; the private half never leaves the browser.</a:t>
            </a:r>
            <a:endParaRPr lang="en-US" sz="1150" dirty="0"/>
          </a:p>
        </p:txBody>
      </p:sp>
      <p:sp>
        <p:nvSpPr>
          <p:cNvPr id="12" name="Shape 8"/>
          <p:cNvSpPr/>
          <p:nvPr/>
        </p:nvSpPr>
        <p:spPr>
          <a:xfrm>
            <a:off x="3429000" y="2852928"/>
            <a:ext cx="384048" cy="384048"/>
          </a:xfrm>
          <a:prstGeom prst="ellipse">
            <a:avLst/>
          </a:prstGeom>
          <a:solidFill>
            <a:srgbClr val="0064E0"/>
          </a:solidFill>
          <a:ln w="12700">
            <a:solidFill>
              <a:srgbClr val="0064E0"/>
            </a:solidFill>
            <a:prstDash val="solid"/>
          </a:ln>
        </p:spPr>
      </p:sp>
      <p:sp>
        <p:nvSpPr>
          <p:cNvPr id="13" name="Text 9"/>
          <p:cNvSpPr txBox="1"/>
          <p:nvPr/>
        </p:nvSpPr>
        <p:spPr>
          <a:xfrm>
            <a:off x="3429000" y="2852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Text 10"/>
          <p:cNvSpPr txBox="1"/>
          <p:nvPr/>
        </p:nvSpPr>
        <p:spPr>
          <a:xfrm>
            <a:off x="3977640" y="2834640"/>
            <a:ext cx="3931920" cy="292608"/>
          </a:xfrm>
          <a:prstGeom prst="rect">
            <a:avLst/>
          </a:prstGeom>
          <a:noFill/>
          <a:ln/>
        </p:spPr>
        <p:txBody>
          <a:bodyPr wrap="square" lIns="0" tIns="0" rIns="0" bIns="0" rtlCol="0" anchor="t"/>
          <a:lstStyle/>
          <a:p>
            <a:pPr indent="0" marL="0">
              <a:buNone/>
            </a:pPr>
            <a:r>
              <a:rPr lang="en-US" sz="1500" b="1" dirty="0">
                <a:solidFill>
                  <a:srgbClr val="0A0A0B"/>
                </a:solidFill>
              </a:rPr>
              <a:t>Every request signed</a:t>
            </a:r>
            <a:endParaRPr lang="en-US" sz="1500" dirty="0"/>
          </a:p>
        </p:txBody>
      </p:sp>
      <p:sp>
        <p:nvSpPr>
          <p:cNvPr id="15" name="Text 11"/>
          <p:cNvSpPr txBox="1"/>
          <p:nvPr/>
        </p:nvSpPr>
        <p:spPr>
          <a:xfrm>
            <a:off x="3977640" y="3145536"/>
            <a:ext cx="3931920" cy="731520"/>
          </a:xfrm>
          <a:prstGeom prst="rect">
            <a:avLst/>
          </a:prstGeom>
          <a:noFill/>
          <a:ln/>
        </p:spPr>
        <p:txBody>
          <a:bodyPr wrap="square" lIns="0" tIns="0" rIns="0" bIns="0" rtlCol="0" anchor="t"/>
          <a:lstStyle/>
          <a:p>
            <a:pPr indent="0" marL="0">
              <a:buNone/>
            </a:pPr>
            <a:r>
              <a:rPr lang="en-US" sz="1150" dirty="0">
                <a:solidFill>
                  <a:srgbClr val="55555C"/>
                </a:solidFill>
              </a:rPr>
              <a:t>A compact JWS over the method, the path, the SHA-256 of the body, a 60-second life and a one-time nonce: the same token our two gateways use.</a:t>
            </a:r>
            <a:endParaRPr lang="en-US" sz="1150" dirty="0"/>
          </a:p>
        </p:txBody>
      </p:sp>
      <p:sp>
        <p:nvSpPr>
          <p:cNvPr id="16" name="Shape 12"/>
          <p:cNvSpPr/>
          <p:nvPr/>
        </p:nvSpPr>
        <p:spPr>
          <a:xfrm>
            <a:off x="3429000" y="3950208"/>
            <a:ext cx="384048" cy="384048"/>
          </a:xfrm>
          <a:prstGeom prst="ellipse">
            <a:avLst/>
          </a:prstGeom>
          <a:solidFill>
            <a:srgbClr val="0064E0"/>
          </a:solidFill>
          <a:ln w="12700">
            <a:solidFill>
              <a:srgbClr val="0064E0"/>
            </a:solidFill>
            <a:prstDash val="solid"/>
          </a:ln>
        </p:spPr>
      </p:sp>
      <p:sp>
        <p:nvSpPr>
          <p:cNvPr id="17" name="Text 13"/>
          <p:cNvSpPr txBox="1"/>
          <p:nvPr/>
        </p:nvSpPr>
        <p:spPr>
          <a:xfrm>
            <a:off x="3429000" y="39502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8" name="Text 14"/>
          <p:cNvSpPr txBox="1"/>
          <p:nvPr/>
        </p:nvSpPr>
        <p:spPr>
          <a:xfrm>
            <a:off x="3977640" y="3931920"/>
            <a:ext cx="3931920" cy="292608"/>
          </a:xfrm>
          <a:prstGeom prst="rect">
            <a:avLst/>
          </a:prstGeom>
          <a:noFill/>
          <a:ln/>
        </p:spPr>
        <p:txBody>
          <a:bodyPr wrap="square" lIns="0" tIns="0" rIns="0" bIns="0" rtlCol="0" anchor="t"/>
          <a:lstStyle/>
          <a:p>
            <a:pPr indent="0" marL="0">
              <a:buNone/>
            </a:pPr>
            <a:r>
              <a:rPr lang="en-US" sz="1500" b="1" dirty="0">
                <a:solidFill>
                  <a:srgbClr val="0A0A0B"/>
                </a:solidFill>
              </a:rPr>
              <a:t>Checked, or refused and logged</a:t>
            </a:r>
            <a:endParaRPr lang="en-US" sz="1500" dirty="0"/>
          </a:p>
        </p:txBody>
      </p:sp>
      <p:sp>
        <p:nvSpPr>
          <p:cNvPr id="19" name="Text 15"/>
          <p:cNvSpPr txBox="1"/>
          <p:nvPr/>
        </p:nvSpPr>
        <p:spPr>
          <a:xfrm>
            <a:off x="3977640" y="4242816"/>
            <a:ext cx="3931920" cy="731520"/>
          </a:xfrm>
          <a:prstGeom prst="rect">
            <a:avLst/>
          </a:prstGeom>
          <a:noFill/>
          <a:ln/>
        </p:spPr>
        <p:txBody>
          <a:bodyPr wrap="square" lIns="0" tIns="0" rIns="0" bIns="0" rtlCol="0" anchor="t"/>
          <a:lstStyle/>
          <a:p>
            <a:pPr indent="0" marL="0">
              <a:buNone/>
            </a:pPr>
            <a:r>
              <a:rPr lang="en-US" sz="1150" dirty="0">
                <a:solidFill>
                  <a:srgbClr val="55555C"/>
                </a:solidFill>
              </a:rPr>
              <a:t>Unsigned, replayed, changed, sent to another path, or signed by a revoked key: refused, with the reason.</a:t>
            </a:r>
            <a:endParaRPr lang="en-US" sz="1150" dirty="0"/>
          </a:p>
        </p:txBody>
      </p:sp>
      <p:sp>
        <p:nvSpPr>
          <p:cNvPr id="20" name="Shape 16"/>
          <p:cNvSpPr/>
          <p:nvPr/>
        </p:nvSpPr>
        <p:spPr>
          <a:xfrm>
            <a:off x="3429000" y="5047488"/>
            <a:ext cx="384048" cy="384048"/>
          </a:xfrm>
          <a:prstGeom prst="ellipse">
            <a:avLst/>
          </a:prstGeom>
          <a:solidFill>
            <a:srgbClr val="0064E0"/>
          </a:solidFill>
          <a:ln w="12700">
            <a:solidFill>
              <a:srgbClr val="0064E0"/>
            </a:solidFill>
            <a:prstDash val="solid"/>
          </a:ln>
        </p:spPr>
      </p:sp>
      <p:sp>
        <p:nvSpPr>
          <p:cNvPr id="21" name="Text 17"/>
          <p:cNvSpPr txBox="1"/>
          <p:nvPr/>
        </p:nvSpPr>
        <p:spPr>
          <a:xfrm>
            <a:off x="3429000" y="5047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Text 18"/>
          <p:cNvSpPr txBox="1"/>
          <p:nvPr/>
        </p:nvSpPr>
        <p:spPr>
          <a:xfrm>
            <a:off x="3977640" y="5029200"/>
            <a:ext cx="3931920" cy="292608"/>
          </a:xfrm>
          <a:prstGeom prst="rect">
            <a:avLst/>
          </a:prstGeom>
          <a:noFill/>
          <a:ln/>
        </p:spPr>
        <p:txBody>
          <a:bodyPr wrap="square" lIns="0" tIns="0" rIns="0" bIns="0" rtlCol="0" anchor="t"/>
          <a:lstStyle/>
          <a:p>
            <a:pPr indent="0" marL="0">
              <a:buNone/>
            </a:pPr>
            <a:r>
              <a:rPr lang="en-US" sz="1500" b="1" dirty="0">
                <a:solidFill>
                  <a:srgbClr val="0A0A0B"/>
                </a:solidFill>
              </a:rPr>
              <a:t>Labelled in the feed</a:t>
            </a:r>
            <a:endParaRPr lang="en-US" sz="1500" dirty="0"/>
          </a:p>
        </p:txBody>
      </p:sp>
      <p:sp>
        <p:nvSpPr>
          <p:cNvPr id="23" name="Text 19"/>
          <p:cNvSpPr txBox="1"/>
          <p:nvPr/>
        </p:nvSpPr>
        <p:spPr>
          <a:xfrm>
            <a:off x="3977640" y="5340096"/>
            <a:ext cx="3931920" cy="731520"/>
          </a:xfrm>
          <a:prstGeom prst="rect">
            <a:avLst/>
          </a:prstGeom>
          <a:noFill/>
          <a:ln/>
        </p:spPr>
        <p:txBody>
          <a:bodyPr wrap="square" lIns="0" tIns="0" rIns="0" bIns="0" rtlCol="0" anchor="t"/>
          <a:lstStyle/>
          <a:p>
            <a:pPr indent="0" marL="0">
              <a:buNone/>
            </a:pPr>
            <a:r>
              <a:rPr lang="en-US" sz="1150" dirty="0">
                <a:solidFill>
                  <a:srgbClr val="55555C"/>
                </a:solidFill>
              </a:rPr>
              <a:t>What it posts says Agent, whose agent, and Signed. Its member can revoke the key at once.</a:t>
            </a:r>
            <a:endParaRPr lang="en-US" sz="1150" dirty="0"/>
          </a:p>
        </p:txBody>
      </p:sp>
      <p:sp>
        <p:nvSpPr>
          <p:cNvPr id="24" name="Shape 20"/>
          <p:cNvSpPr/>
          <p:nvPr/>
        </p:nvSpPr>
        <p:spPr>
          <a:xfrm>
            <a:off x="8229600" y="1691640"/>
            <a:ext cx="3383280" cy="4526280"/>
          </a:xfrm>
          <a:prstGeom prst="roundRect">
            <a:avLst>
              <a:gd name="adj" fmla="val 3243"/>
            </a:avLst>
          </a:prstGeom>
          <a:solidFill>
            <a:srgbClr val="F6F7F8"/>
          </a:solidFill>
          <a:ln w="12700">
            <a:solidFill>
              <a:srgbClr val="F6F7F8"/>
            </a:solidFill>
            <a:prstDash val="solid"/>
          </a:ln>
        </p:spPr>
      </p:sp>
      <p:sp>
        <p:nvSpPr>
          <p:cNvPr id="25" name="Text 21"/>
          <p:cNvSpPr txBox="1"/>
          <p:nvPr/>
        </p:nvSpPr>
        <p:spPr>
          <a:xfrm>
            <a:off x="8458200" y="1874520"/>
            <a:ext cx="3017520" cy="320040"/>
          </a:xfrm>
          <a:prstGeom prst="rect">
            <a:avLst/>
          </a:prstGeom>
          <a:noFill/>
          <a:ln/>
        </p:spPr>
        <p:txBody>
          <a:bodyPr wrap="square" lIns="0" tIns="0" rIns="0" bIns="0" rtlCol="0" anchor="t"/>
          <a:lstStyle/>
          <a:p>
            <a:pPr indent="0" marL="0">
              <a:buNone/>
            </a:pPr>
            <a:r>
              <a:rPr lang="en-US" sz="1500" b="1" dirty="0">
                <a:solidFill>
                  <a:srgbClr val="0A0A0B"/>
                </a:solidFill>
              </a:rPr>
              <a:t>What the agent can do</a:t>
            </a:r>
            <a:endParaRPr lang="en-US" sz="1500" dirty="0"/>
          </a:p>
        </p:txBody>
      </p:sp>
      <p:pic>
        <p:nvPicPr>
          <p:cNvPr id="26" name="Image 1" descr="preencoded.png">    </p:cNvPr>
          <p:cNvPicPr>
            <a:picLocks noChangeAspect="1"/>
          </p:cNvPicPr>
          <p:nvPr/>
        </p:nvPicPr>
        <p:blipFill>
          <a:blip r:embed="rId2"/>
          <a:stretch>
            <a:fillRect/>
          </a:stretch>
        </p:blipFill>
        <p:spPr>
          <a:xfrm>
            <a:off x="8458200" y="2377440"/>
            <a:ext cx="237744" cy="237744"/>
          </a:xfrm>
          <a:prstGeom prst="rect">
            <a:avLst/>
          </a:prstGeom>
        </p:spPr>
      </p:pic>
      <p:sp>
        <p:nvSpPr>
          <p:cNvPr id="27" name="Text 22"/>
          <p:cNvSpPr txBox="1"/>
          <p:nvPr/>
        </p:nvSpPr>
        <p:spPr>
          <a:xfrm>
            <a:off x="8796528" y="2359152"/>
            <a:ext cx="2743200" cy="292608"/>
          </a:xfrm>
          <a:prstGeom prst="rect">
            <a:avLst/>
          </a:prstGeom>
          <a:noFill/>
          <a:ln/>
        </p:spPr>
        <p:txBody>
          <a:bodyPr wrap="square" lIns="0" tIns="0" rIns="0" bIns="0" rtlCol="0" anchor="t"/>
          <a:lstStyle/>
          <a:p>
            <a:pPr indent="0" marL="0">
              <a:buNone/>
            </a:pPr>
            <a:r>
              <a:rPr lang="en-US" sz="1250" dirty="0">
                <a:solidFill>
                  <a:srgbClr val="0A0A0B"/>
                </a:solidFill>
              </a:rPr>
              <a:t>Post an invite for its member</a:t>
            </a:r>
            <a:endParaRPr lang="en-US" sz="1250" dirty="0"/>
          </a:p>
        </p:txBody>
      </p:sp>
      <p:pic>
        <p:nvPicPr>
          <p:cNvPr id="28" name="Image 2" descr="preencoded.png">    </p:cNvPr>
          <p:cNvPicPr>
            <a:picLocks noChangeAspect="1"/>
          </p:cNvPicPr>
          <p:nvPr/>
        </p:nvPicPr>
        <p:blipFill>
          <a:blip r:embed="rId3"/>
          <a:stretch>
            <a:fillRect/>
          </a:stretch>
        </p:blipFill>
        <p:spPr>
          <a:xfrm>
            <a:off x="8458200" y="2834640"/>
            <a:ext cx="237744" cy="237744"/>
          </a:xfrm>
          <a:prstGeom prst="rect">
            <a:avLst/>
          </a:prstGeom>
        </p:spPr>
      </p:pic>
      <p:sp>
        <p:nvSpPr>
          <p:cNvPr id="29" name="Text 23"/>
          <p:cNvSpPr txBox="1"/>
          <p:nvPr/>
        </p:nvSpPr>
        <p:spPr>
          <a:xfrm>
            <a:off x="8796528" y="2816352"/>
            <a:ext cx="2743200" cy="292608"/>
          </a:xfrm>
          <a:prstGeom prst="rect">
            <a:avLst/>
          </a:prstGeom>
          <a:noFill/>
          <a:ln/>
        </p:spPr>
        <p:txBody>
          <a:bodyPr wrap="square" lIns="0" tIns="0" rIns="0" bIns="0" rtlCol="0" anchor="t"/>
          <a:lstStyle/>
          <a:p>
            <a:pPr indent="0" marL="0">
              <a:buNone/>
            </a:pPr>
            <a:r>
              <a:rPr lang="en-US" sz="1250" dirty="0">
                <a:solidFill>
                  <a:srgbClr val="0A0A0B"/>
                </a:solidFill>
              </a:rPr>
              <a:t>Join a game for its member</a:t>
            </a:r>
            <a:endParaRPr lang="en-US" sz="1250" dirty="0"/>
          </a:p>
        </p:txBody>
      </p:sp>
      <p:pic>
        <p:nvPicPr>
          <p:cNvPr id="30" name="Image 3" descr="preencoded.png">    </p:cNvPr>
          <p:cNvPicPr>
            <a:picLocks noChangeAspect="1"/>
          </p:cNvPicPr>
          <p:nvPr/>
        </p:nvPicPr>
        <p:blipFill>
          <a:blip r:embed="rId4"/>
          <a:stretch>
            <a:fillRect/>
          </a:stretch>
        </p:blipFill>
        <p:spPr>
          <a:xfrm>
            <a:off x="8458200" y="3291840"/>
            <a:ext cx="237744" cy="237744"/>
          </a:xfrm>
          <a:prstGeom prst="rect">
            <a:avLst/>
          </a:prstGeom>
        </p:spPr>
      </p:pic>
      <p:sp>
        <p:nvSpPr>
          <p:cNvPr id="31" name="Text 24"/>
          <p:cNvSpPr txBox="1"/>
          <p:nvPr/>
        </p:nvSpPr>
        <p:spPr>
          <a:xfrm>
            <a:off x="8796528" y="3273552"/>
            <a:ext cx="2743200" cy="292608"/>
          </a:xfrm>
          <a:prstGeom prst="rect">
            <a:avLst/>
          </a:prstGeom>
          <a:noFill/>
          <a:ln/>
        </p:spPr>
        <p:txBody>
          <a:bodyPr wrap="square" lIns="0" tIns="0" rIns="0" bIns="0" rtlCol="0" anchor="t"/>
          <a:lstStyle/>
          <a:p>
            <a:pPr indent="0" marL="0">
              <a:buNone/>
            </a:pPr>
            <a:r>
              <a:rPr lang="en-US" sz="1250" dirty="0">
                <a:solidFill>
                  <a:srgbClr val="0A0A0B"/>
                </a:solidFill>
              </a:rPr>
              <a:t>Comment, as "&lt;member&gt;'s agent"</a:t>
            </a:r>
            <a:endParaRPr lang="en-US" sz="1250" dirty="0"/>
          </a:p>
        </p:txBody>
      </p:sp>
      <p:pic>
        <p:nvPicPr>
          <p:cNvPr id="32" name="Image 4" descr="preencoded.png">    </p:cNvPr>
          <p:cNvPicPr>
            <a:picLocks noChangeAspect="1"/>
          </p:cNvPicPr>
          <p:nvPr/>
        </p:nvPicPr>
        <p:blipFill>
          <a:blip r:embed="rId5"/>
          <a:stretch>
            <a:fillRect/>
          </a:stretch>
        </p:blipFill>
        <p:spPr>
          <a:xfrm>
            <a:off x="8458200" y="3749040"/>
            <a:ext cx="237744" cy="237744"/>
          </a:xfrm>
          <a:prstGeom prst="rect">
            <a:avLst/>
          </a:prstGeom>
        </p:spPr>
      </p:pic>
      <p:sp>
        <p:nvSpPr>
          <p:cNvPr id="33" name="Text 25"/>
          <p:cNvSpPr txBox="1"/>
          <p:nvPr/>
        </p:nvSpPr>
        <p:spPr>
          <a:xfrm>
            <a:off x="8796528" y="3730752"/>
            <a:ext cx="2743200" cy="292608"/>
          </a:xfrm>
          <a:prstGeom prst="rect">
            <a:avLst/>
          </a:prstGeom>
          <a:noFill/>
          <a:ln/>
        </p:spPr>
        <p:txBody>
          <a:bodyPr wrap="square" lIns="0" tIns="0" rIns="0" bIns="0" rtlCol="0" anchor="t"/>
          <a:lstStyle/>
          <a:p>
            <a:pPr indent="0" marL="0">
              <a:buNone/>
            </a:pPr>
            <a:r>
              <a:rPr lang="en-US" sz="1250" dirty="0">
                <a:solidFill>
                  <a:srgbClr val="0A0A0B"/>
                </a:solidFill>
              </a:rPr>
              <a:t>Read the feed its member sees</a:t>
            </a:r>
            <a:endParaRPr lang="en-US" sz="1250" dirty="0"/>
          </a:p>
        </p:txBody>
      </p:sp>
      <p:sp>
        <p:nvSpPr>
          <p:cNvPr id="34" name="Text 26"/>
          <p:cNvSpPr txBox="1"/>
          <p:nvPr/>
        </p:nvSpPr>
        <p:spPr>
          <a:xfrm>
            <a:off x="8458200" y="4434840"/>
            <a:ext cx="2971800" cy="1463040"/>
          </a:xfrm>
          <a:prstGeom prst="rect">
            <a:avLst/>
          </a:prstGeom>
          <a:noFill/>
          <a:ln/>
        </p:spPr>
        <p:txBody>
          <a:bodyPr wrap="square" lIns="0" tIns="0" rIns="0" bIns="0" rtlCol="0" anchor="t"/>
          <a:lstStyle/>
          <a:p>
            <a:pPr indent="0" marL="0">
              <a:buNone/>
            </a:pPr>
            <a:r>
              <a:rPr lang="en-US" sz="1100" dirty="0">
                <a:solidFill>
                  <a:srgbClr val="55555C"/>
                </a:solidFill>
              </a:rPr>
              <a:t>Tested: a replayed request, a changed body, another path, an unknown key and a revoked key are all refused (test/members_unit.mjs).</a:t>
            </a:r>
            <a:endParaRPr lang="en-US" sz="11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ON THE COURT · HANDS-FREE VOICE</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Sweaty hands after a game? Just ask, and cut in</a:t>
            </a:r>
            <a:endParaRPr lang="en-US" sz="3200" dirty="0"/>
          </a:p>
        </p:txBody>
      </p:sp>
      <p:sp>
        <p:nvSpPr>
          <p:cNvPr id="5" name="Shape 2"/>
          <p:cNvSpPr/>
          <p:nvPr/>
        </p:nvSpPr>
        <p:spPr>
          <a:xfrm>
            <a:off x="621792" y="1627632"/>
            <a:ext cx="2113911" cy="4425696"/>
          </a:xfrm>
          <a:prstGeom prst="roundRect">
            <a:avLst>
              <a:gd name="adj" fmla="val 8651"/>
            </a:avLst>
          </a:prstGeom>
          <a:solidFill>
            <a:srgbClr val="0A0A0B"/>
          </a:solidFill>
          <a:ln w="12700">
            <a:solidFill>
              <a:srgbClr val="0A0A0B"/>
            </a:solidFill>
            <a:prstDash val="solid"/>
          </a:ln>
        </p:spPr>
      </p:sp>
      <p:pic>
        <p:nvPicPr>
          <p:cNvPr id="6" name="Image 0" descr="preencoded.png">    </p:cNvPr>
          <p:cNvPicPr>
            <a:picLocks noChangeAspect="1"/>
          </p:cNvPicPr>
          <p:nvPr/>
        </p:nvPicPr>
        <p:blipFill>
          <a:blip r:embed="rId1"/>
          <a:stretch>
            <a:fillRect/>
          </a:stretch>
        </p:blipFill>
        <p:spPr>
          <a:xfrm>
            <a:off x="685800" y="1691640"/>
            <a:ext cx="1985895" cy="4297680"/>
          </a:xfrm>
          <a:prstGeom prst="rect">
            <a:avLst/>
          </a:prstGeom>
        </p:spPr>
      </p:pic>
      <p:sp>
        <p:nvSpPr>
          <p:cNvPr id="7" name="Text 3"/>
          <p:cNvSpPr txBox="1"/>
          <p:nvPr/>
        </p:nvSpPr>
        <p:spPr>
          <a:xfrm>
            <a:off x="411480" y="6108192"/>
            <a:ext cx="2534535" cy="256032"/>
          </a:xfrm>
          <a:prstGeom prst="rect">
            <a:avLst/>
          </a:prstGeom>
          <a:noFill/>
          <a:ln/>
        </p:spPr>
        <p:txBody>
          <a:bodyPr wrap="square" lIns="0" tIns="0" rIns="0" bIns="0" rtlCol="0" anchor="t"/>
          <a:lstStyle/>
          <a:p>
            <a:pPr algn="ctr" indent="0" marL="0">
              <a:buNone/>
            </a:pPr>
            <a:r>
              <a:rPr lang="en-US" sz="1050" dirty="0">
                <a:solidFill>
                  <a:srgbClr val="55555C"/>
                </a:solidFill>
              </a:rPr>
              <a:t>Talk, on the agent home</a:t>
            </a:r>
            <a:endParaRPr lang="en-US" sz="1050" dirty="0"/>
          </a:p>
        </p:txBody>
      </p:sp>
      <p:sp>
        <p:nvSpPr>
          <p:cNvPr id="8" name="Shape 4"/>
          <p:cNvSpPr/>
          <p:nvPr/>
        </p:nvSpPr>
        <p:spPr>
          <a:xfrm>
            <a:off x="3291840" y="1691640"/>
            <a:ext cx="2011680" cy="1234440"/>
          </a:xfrm>
          <a:prstGeom prst="roundRect">
            <a:avLst>
              <a:gd name="adj" fmla="val 8889"/>
            </a:avLst>
          </a:prstGeom>
          <a:solidFill>
            <a:srgbClr val="FBF3E6"/>
          </a:solidFill>
          <a:ln w="12700">
            <a:solidFill>
              <a:srgbClr val="FBF3E6"/>
            </a:solidFill>
            <a:prstDash val="solid"/>
          </a:ln>
        </p:spPr>
      </p:sp>
      <p:sp>
        <p:nvSpPr>
          <p:cNvPr id="9" name="Text 5"/>
          <p:cNvSpPr txBox="1"/>
          <p:nvPr/>
        </p:nvSpPr>
        <p:spPr>
          <a:xfrm>
            <a:off x="3429000" y="1783080"/>
            <a:ext cx="1737360" cy="201168"/>
          </a:xfrm>
          <a:prstGeom prst="rect">
            <a:avLst/>
          </a:prstGeom>
          <a:noFill/>
          <a:ln/>
        </p:spPr>
        <p:txBody>
          <a:bodyPr wrap="square" lIns="0" tIns="0" rIns="0" bIns="0" rtlCol="0" anchor="t"/>
          <a:lstStyle/>
          <a:p>
            <a:pPr indent="0" marL="0">
              <a:buNone/>
            </a:pPr>
            <a:r>
              <a:rPr lang="en-US" sz="950" b="1" spc="100" kern="0" dirty="0">
                <a:solidFill>
                  <a:srgbClr val="B26A00"/>
                </a:solidFill>
              </a:rPr>
              <a:t>HEAR</a:t>
            </a:r>
            <a:endParaRPr lang="en-US" sz="950" dirty="0"/>
          </a:p>
        </p:txBody>
      </p:sp>
      <p:sp>
        <p:nvSpPr>
          <p:cNvPr id="10" name="Text 6"/>
          <p:cNvSpPr txBox="1"/>
          <p:nvPr/>
        </p:nvSpPr>
        <p:spPr>
          <a:xfrm>
            <a:off x="3429000" y="2002536"/>
            <a:ext cx="1737360" cy="292608"/>
          </a:xfrm>
          <a:prstGeom prst="rect">
            <a:avLst/>
          </a:prstGeom>
          <a:noFill/>
          <a:ln/>
        </p:spPr>
        <p:txBody>
          <a:bodyPr wrap="square" lIns="0" tIns="0" rIns="0" bIns="0" rtlCol="0" anchor="t"/>
          <a:lstStyle/>
          <a:p>
            <a:pPr indent="0" marL="0">
              <a:buNone/>
            </a:pPr>
            <a:r>
              <a:rPr lang="en-US" sz="1300" b="1" dirty="0">
                <a:solidFill>
                  <a:srgbClr val="0A0A0B"/>
                </a:solidFill>
              </a:rPr>
              <a:t>Muse Voice Transcribe</a:t>
            </a:r>
            <a:endParaRPr lang="en-US" sz="1300" dirty="0"/>
          </a:p>
        </p:txBody>
      </p:sp>
      <p:sp>
        <p:nvSpPr>
          <p:cNvPr id="11" name="Text 7"/>
          <p:cNvSpPr txBox="1"/>
          <p:nvPr/>
        </p:nvSpPr>
        <p:spPr>
          <a:xfrm>
            <a:off x="3429000" y="2313432"/>
            <a:ext cx="1737360" cy="576072"/>
          </a:xfrm>
          <a:prstGeom prst="rect">
            <a:avLst/>
          </a:prstGeom>
          <a:noFill/>
          <a:ln/>
        </p:spPr>
        <p:txBody>
          <a:bodyPr wrap="square" lIns="0" tIns="0" rIns="0" bIns="0" rtlCol="0" anchor="t"/>
          <a:lstStyle/>
          <a:p>
            <a:pPr indent="0" marL="0">
              <a:buNone/>
            </a:pPr>
            <a:r>
              <a:rPr lang="en-US" sz="1000" dirty="0">
                <a:solidFill>
                  <a:srgbClr val="55555C"/>
                </a:solidFill>
              </a:rPr>
              <a:t>Realtime, on the Meta Model API: your audio goes there; it finds where your turn ends</a:t>
            </a:r>
            <a:endParaRPr lang="en-US" sz="1000" dirty="0"/>
          </a:p>
        </p:txBody>
      </p:sp>
      <p:sp>
        <p:nvSpPr>
          <p:cNvPr id="12" name="Shape 8"/>
          <p:cNvSpPr/>
          <p:nvPr/>
        </p:nvSpPr>
        <p:spPr>
          <a:xfrm>
            <a:off x="5321808" y="2304288"/>
            <a:ext cx="256032" cy="0"/>
          </a:xfrm>
          <a:prstGeom prst="line">
            <a:avLst/>
          </a:prstGeom>
          <a:noFill/>
          <a:ln w="22225">
            <a:solidFill>
              <a:srgbClr val="8A8A92"/>
            </a:solidFill>
            <a:prstDash val="solid"/>
            <a:tailEnd type="triangle"/>
          </a:ln>
        </p:spPr>
      </p:sp>
      <p:sp>
        <p:nvSpPr>
          <p:cNvPr id="13" name="Shape 9"/>
          <p:cNvSpPr/>
          <p:nvPr/>
        </p:nvSpPr>
        <p:spPr>
          <a:xfrm>
            <a:off x="5596128" y="1691640"/>
            <a:ext cx="2011680" cy="1234440"/>
          </a:xfrm>
          <a:prstGeom prst="roundRect">
            <a:avLst>
              <a:gd name="adj" fmla="val 8889"/>
            </a:avLst>
          </a:prstGeom>
          <a:solidFill>
            <a:srgbClr val="E9F3EC"/>
          </a:solidFill>
          <a:ln w="12700">
            <a:solidFill>
              <a:srgbClr val="E9F3EC"/>
            </a:solidFill>
            <a:prstDash val="solid"/>
          </a:ln>
        </p:spPr>
      </p:sp>
      <p:sp>
        <p:nvSpPr>
          <p:cNvPr id="14" name="Text 10"/>
          <p:cNvSpPr txBox="1"/>
          <p:nvPr/>
        </p:nvSpPr>
        <p:spPr>
          <a:xfrm>
            <a:off x="5733288" y="1783080"/>
            <a:ext cx="1737360" cy="201168"/>
          </a:xfrm>
          <a:prstGeom prst="rect">
            <a:avLst/>
          </a:prstGeom>
          <a:noFill/>
          <a:ln/>
        </p:spPr>
        <p:txBody>
          <a:bodyPr wrap="square" lIns="0" tIns="0" rIns="0" bIns="0" rtlCol="0" anchor="t"/>
          <a:lstStyle/>
          <a:p>
            <a:pPr indent="0" marL="0">
              <a:buNone/>
            </a:pPr>
            <a:r>
              <a:rPr lang="en-US" sz="950" b="1" spc="100" kern="0" dirty="0">
                <a:solidFill>
                  <a:srgbClr val="0A7F44"/>
                </a:solidFill>
              </a:rPr>
              <a:t>THINK</a:t>
            </a:r>
            <a:endParaRPr lang="en-US" sz="950" dirty="0"/>
          </a:p>
        </p:txBody>
      </p:sp>
      <p:sp>
        <p:nvSpPr>
          <p:cNvPr id="15" name="Text 11"/>
          <p:cNvSpPr txBox="1"/>
          <p:nvPr/>
        </p:nvSpPr>
        <p:spPr>
          <a:xfrm>
            <a:off x="5733288" y="2002536"/>
            <a:ext cx="1737360" cy="292608"/>
          </a:xfrm>
          <a:prstGeom prst="rect">
            <a:avLst/>
          </a:prstGeom>
          <a:noFill/>
          <a:ln/>
        </p:spPr>
        <p:txBody>
          <a:bodyPr wrap="square" lIns="0" tIns="0" rIns="0" bIns="0" rtlCol="0" anchor="t"/>
          <a:lstStyle/>
          <a:p>
            <a:pPr indent="0" marL="0">
              <a:buNone/>
            </a:pPr>
            <a:r>
              <a:rPr lang="en-US" sz="1300" b="1" dirty="0">
                <a:solidFill>
                  <a:srgbClr val="0A0A0B"/>
                </a:solidFill>
              </a:rPr>
              <a:t>Your agent</a:t>
            </a:r>
            <a:endParaRPr lang="en-US" sz="1300" dirty="0"/>
          </a:p>
        </p:txBody>
      </p:sp>
      <p:sp>
        <p:nvSpPr>
          <p:cNvPr id="16" name="Text 12"/>
          <p:cNvSpPr txBox="1"/>
          <p:nvPr/>
        </p:nvSpPr>
        <p:spPr>
          <a:xfrm>
            <a:off x="5733288" y="2313432"/>
            <a:ext cx="1737360" cy="576072"/>
          </a:xfrm>
          <a:prstGeom prst="rect">
            <a:avLst/>
          </a:prstGeom>
          <a:noFill/>
          <a:ln/>
        </p:spPr>
        <p:txBody>
          <a:bodyPr wrap="square" lIns="0" tIns="0" rIns="0" bIns="0" rtlCol="0" anchor="t"/>
          <a:lstStyle/>
          <a:p>
            <a:pPr indent="0" marL="0">
              <a:buNone/>
            </a:pPr>
            <a:r>
              <a:rPr lang="en-US" sz="1000" dirty="0">
                <a:solidFill>
                  <a:srgbClr val="55555C"/>
                </a:solidFill>
              </a:rPr>
              <a:t>Muse Glimmer on your GPU; Llama Guard in and out; numbers checked</a:t>
            </a:r>
            <a:endParaRPr lang="en-US" sz="1000" dirty="0"/>
          </a:p>
        </p:txBody>
      </p:sp>
      <p:sp>
        <p:nvSpPr>
          <p:cNvPr id="17" name="Shape 13"/>
          <p:cNvSpPr/>
          <p:nvPr/>
        </p:nvSpPr>
        <p:spPr>
          <a:xfrm>
            <a:off x="7626096" y="2304288"/>
            <a:ext cx="256032" cy="0"/>
          </a:xfrm>
          <a:prstGeom prst="line">
            <a:avLst/>
          </a:prstGeom>
          <a:noFill/>
          <a:ln w="22225">
            <a:solidFill>
              <a:srgbClr val="8A8A92"/>
            </a:solidFill>
            <a:prstDash val="solid"/>
            <a:tailEnd type="triangle"/>
          </a:ln>
        </p:spPr>
      </p:sp>
      <p:sp>
        <p:nvSpPr>
          <p:cNvPr id="18" name="Shape 14"/>
          <p:cNvSpPr/>
          <p:nvPr/>
        </p:nvSpPr>
        <p:spPr>
          <a:xfrm>
            <a:off x="7900416" y="1691640"/>
            <a:ext cx="2011680" cy="1234440"/>
          </a:xfrm>
          <a:prstGeom prst="roundRect">
            <a:avLst>
              <a:gd name="adj" fmla="val 8889"/>
            </a:avLst>
          </a:prstGeom>
          <a:solidFill>
            <a:srgbClr val="E8F1FD"/>
          </a:solidFill>
          <a:ln w="12700">
            <a:solidFill>
              <a:srgbClr val="E8F1FD"/>
            </a:solidFill>
            <a:prstDash val="solid"/>
          </a:ln>
        </p:spPr>
      </p:sp>
      <p:sp>
        <p:nvSpPr>
          <p:cNvPr id="19" name="Text 15"/>
          <p:cNvSpPr txBox="1"/>
          <p:nvPr/>
        </p:nvSpPr>
        <p:spPr>
          <a:xfrm>
            <a:off x="8037576" y="1783080"/>
            <a:ext cx="1737360" cy="201168"/>
          </a:xfrm>
          <a:prstGeom prst="rect">
            <a:avLst/>
          </a:prstGeom>
          <a:noFill/>
          <a:ln/>
        </p:spPr>
        <p:txBody>
          <a:bodyPr wrap="square" lIns="0" tIns="0" rIns="0" bIns="0" rtlCol="0" anchor="t"/>
          <a:lstStyle/>
          <a:p>
            <a:pPr indent="0" marL="0">
              <a:buNone/>
            </a:pPr>
            <a:r>
              <a:rPr lang="en-US" sz="950" b="1" spc="100" kern="0" dirty="0">
                <a:solidFill>
                  <a:srgbClr val="0064E0"/>
                </a:solidFill>
              </a:rPr>
              <a:t>SPEAK</a:t>
            </a:r>
            <a:endParaRPr lang="en-US" sz="950" dirty="0"/>
          </a:p>
        </p:txBody>
      </p:sp>
      <p:sp>
        <p:nvSpPr>
          <p:cNvPr id="20" name="Text 16"/>
          <p:cNvSpPr txBox="1"/>
          <p:nvPr/>
        </p:nvSpPr>
        <p:spPr>
          <a:xfrm>
            <a:off x="8037576" y="2002536"/>
            <a:ext cx="1737360" cy="292608"/>
          </a:xfrm>
          <a:prstGeom prst="rect">
            <a:avLst/>
          </a:prstGeom>
          <a:noFill/>
          <a:ln/>
        </p:spPr>
        <p:txBody>
          <a:bodyPr wrap="square" lIns="0" tIns="0" rIns="0" bIns="0" rtlCol="0" anchor="t"/>
          <a:lstStyle/>
          <a:p>
            <a:pPr indent="0" marL="0">
              <a:buNone/>
            </a:pPr>
            <a:r>
              <a:rPr lang="en-US" sz="1300" b="1" dirty="0">
                <a:solidFill>
                  <a:srgbClr val="0A0A0B"/>
                </a:solidFill>
              </a:rPr>
              <a:t>Kokoro, on the server</a:t>
            </a:r>
            <a:endParaRPr lang="en-US" sz="1300" dirty="0"/>
          </a:p>
        </p:txBody>
      </p:sp>
      <p:sp>
        <p:nvSpPr>
          <p:cNvPr id="21" name="Text 17"/>
          <p:cNvSpPr txBox="1"/>
          <p:nvPr/>
        </p:nvSpPr>
        <p:spPr>
          <a:xfrm>
            <a:off x="8037576" y="2313432"/>
            <a:ext cx="1737360" cy="576072"/>
          </a:xfrm>
          <a:prstGeom prst="rect">
            <a:avLst/>
          </a:prstGeom>
          <a:noFill/>
          <a:ln/>
        </p:spPr>
        <p:txBody>
          <a:bodyPr wrap="square" lIns="0" tIns="0" rIns="0" bIns="0" rtlCol="0" anchor="t"/>
          <a:lstStyle/>
          <a:p>
            <a:pPr indent="0" marL="0">
              <a:buNone/>
            </a:pPr>
            <a:r>
              <a:rPr lang="en-US" sz="1000" dirty="0">
                <a:solidFill>
                  <a:srgbClr val="55555C"/>
                </a:solidFill>
              </a:rPr>
              <a:t>A sentence at a time: the first is heard while the rest is made</a:t>
            </a:r>
            <a:endParaRPr lang="en-US" sz="1000" dirty="0"/>
          </a:p>
        </p:txBody>
      </p:sp>
      <p:sp>
        <p:nvSpPr>
          <p:cNvPr id="22" name="Shape 18"/>
          <p:cNvSpPr/>
          <p:nvPr/>
        </p:nvSpPr>
        <p:spPr>
          <a:xfrm>
            <a:off x="3291840" y="3154680"/>
            <a:ext cx="6620256" cy="960120"/>
          </a:xfrm>
          <a:prstGeom prst="roundRect">
            <a:avLst>
              <a:gd name="adj" fmla="val 11429"/>
            </a:avLst>
          </a:prstGeom>
          <a:solidFill>
            <a:srgbClr val="FBEAE9"/>
          </a:solidFill>
          <a:ln w="12700">
            <a:solidFill>
              <a:srgbClr val="FBEAE9"/>
            </a:solidFill>
            <a:prstDash val="solid"/>
          </a:ln>
        </p:spPr>
      </p:sp>
      <p:sp>
        <p:nvSpPr>
          <p:cNvPr id="23" name="Text 19"/>
          <p:cNvSpPr txBox="1"/>
          <p:nvPr/>
        </p:nvSpPr>
        <p:spPr>
          <a:xfrm>
            <a:off x="3474720" y="3246120"/>
            <a:ext cx="1828800" cy="274320"/>
          </a:xfrm>
          <a:prstGeom prst="rect">
            <a:avLst/>
          </a:prstGeom>
          <a:noFill/>
          <a:ln/>
        </p:spPr>
        <p:txBody>
          <a:bodyPr wrap="square" lIns="0" tIns="0" rIns="0" bIns="0" rtlCol="0" anchor="t"/>
          <a:lstStyle/>
          <a:p>
            <a:pPr indent="0" marL="0">
              <a:buNone/>
            </a:pPr>
            <a:r>
              <a:rPr lang="en-US" sz="1350" b="1" dirty="0">
                <a:solidFill>
                  <a:srgbClr val="D1352B"/>
                </a:solidFill>
              </a:rPr>
              <a:t>Barge-in</a:t>
            </a:r>
            <a:endParaRPr lang="en-US" sz="1350" dirty="0"/>
          </a:p>
        </p:txBody>
      </p:sp>
      <p:sp>
        <p:nvSpPr>
          <p:cNvPr id="24" name="Text 20"/>
          <p:cNvSpPr txBox="1"/>
          <p:nvPr/>
        </p:nvSpPr>
        <p:spPr>
          <a:xfrm>
            <a:off x="3474720" y="3547872"/>
            <a:ext cx="6309360" cy="502920"/>
          </a:xfrm>
          <a:prstGeom prst="rect">
            <a:avLst/>
          </a:prstGeom>
          <a:noFill/>
          <a:ln/>
        </p:spPr>
        <p:txBody>
          <a:bodyPr wrap="square" lIns="0" tIns="0" rIns="0" bIns="0" rtlCol="0" anchor="t"/>
          <a:lstStyle/>
          <a:p>
            <a:pPr indent="0" marL="0">
              <a:buNone/>
            </a:pPr>
            <a:r>
              <a:rPr lang="en-US" sz="1100" dirty="0">
                <a:solidFill>
                  <a:srgbClr val="0A0A0B"/>
                </a:solidFill>
              </a:rPr>
              <a:t>Start speaking while it talks: the transcriber says so, the app stops the voice at once, and a reply still on its way is dropped.</a:t>
            </a:r>
            <a:endParaRPr lang="en-US" sz="1100" dirty="0"/>
          </a:p>
        </p:txBody>
      </p:sp>
      <p:sp>
        <p:nvSpPr>
          <p:cNvPr id="25" name="Text 21"/>
          <p:cNvSpPr txBox="1"/>
          <p:nvPr/>
        </p:nvSpPr>
        <p:spPr>
          <a:xfrm>
            <a:off x="3291840" y="4343400"/>
            <a:ext cx="4572000" cy="228600"/>
          </a:xfrm>
          <a:prstGeom prst="rect">
            <a:avLst/>
          </a:prstGeom>
          <a:noFill/>
          <a:ln/>
        </p:spPr>
        <p:txBody>
          <a:bodyPr wrap="square" lIns="0" tIns="0" rIns="0" bIns="0" rtlCol="0" anchor="t"/>
          <a:lstStyle/>
          <a:p>
            <a:pPr indent="0" marL="0">
              <a:buNone/>
            </a:pPr>
            <a:r>
              <a:rPr lang="en-US" sz="1000" b="1" spc="100" kern="0" dirty="0">
                <a:solidFill>
                  <a:srgbClr val="55555C"/>
                </a:solidFill>
              </a:rPr>
              <a:t>ONE LIVE SESSION, IN SECONDS</a:t>
            </a:r>
            <a:endParaRPr lang="en-US" sz="1000" dirty="0"/>
          </a:p>
        </p:txBody>
      </p:sp>
      <p:sp>
        <p:nvSpPr>
          <p:cNvPr id="26" name="Shape 22"/>
          <p:cNvSpPr/>
          <p:nvPr/>
        </p:nvSpPr>
        <p:spPr>
          <a:xfrm>
            <a:off x="3291840" y="4617720"/>
            <a:ext cx="1554480" cy="914400"/>
          </a:xfrm>
          <a:prstGeom prst="roundRect">
            <a:avLst>
              <a:gd name="adj" fmla="val 12000"/>
            </a:avLst>
          </a:prstGeom>
          <a:solidFill>
            <a:srgbClr val="F6F7F8"/>
          </a:solidFill>
          <a:ln w="12700">
            <a:solidFill>
              <a:srgbClr val="F6F7F8"/>
            </a:solidFill>
            <a:prstDash val="solid"/>
          </a:ln>
        </p:spPr>
      </p:sp>
      <p:sp>
        <p:nvSpPr>
          <p:cNvPr id="27" name="Text 23"/>
          <p:cNvSpPr txBox="1"/>
          <p:nvPr/>
        </p:nvSpPr>
        <p:spPr>
          <a:xfrm>
            <a:off x="3429000" y="4663440"/>
            <a:ext cx="1280160" cy="457200"/>
          </a:xfrm>
          <a:prstGeom prst="rect">
            <a:avLst/>
          </a:prstGeom>
          <a:noFill/>
          <a:ln/>
        </p:spPr>
        <p:txBody>
          <a:bodyPr wrap="square" lIns="0" tIns="0" rIns="0" bIns="0" rtlCol="0" anchor="t"/>
          <a:lstStyle/>
          <a:p>
            <a:pPr indent="0" marL="0">
              <a:buNone/>
            </a:pPr>
            <a:r>
              <a:rPr lang="en-US" sz="2200" b="1" dirty="0">
                <a:solidFill>
                  <a:srgbClr val="0A0A0B"/>
                </a:solidFill>
              </a:rPr>
              <a:t>1.2</a:t>
            </a:r>
            <a:endParaRPr lang="en-US" sz="2200" dirty="0"/>
          </a:p>
        </p:txBody>
      </p:sp>
      <p:sp>
        <p:nvSpPr>
          <p:cNvPr id="28" name="Text 24"/>
          <p:cNvSpPr txBox="1"/>
          <p:nvPr/>
        </p:nvSpPr>
        <p:spPr>
          <a:xfrm>
            <a:off x="3429000" y="5138928"/>
            <a:ext cx="1280160" cy="320040"/>
          </a:xfrm>
          <a:prstGeom prst="rect">
            <a:avLst/>
          </a:prstGeom>
          <a:noFill/>
          <a:ln/>
        </p:spPr>
        <p:txBody>
          <a:bodyPr wrap="square" lIns="0" tIns="0" rIns="0" bIns="0" rtlCol="0" anchor="t"/>
          <a:lstStyle/>
          <a:p>
            <a:pPr indent="0" marL="0">
              <a:buNone/>
            </a:pPr>
            <a:r>
              <a:rPr lang="en-US" sz="1050" dirty="0">
                <a:solidFill>
                  <a:srgbClr val="55555C"/>
                </a:solidFill>
              </a:rPr>
              <a:t>line open</a:t>
            </a:r>
            <a:endParaRPr lang="en-US" sz="1050" dirty="0"/>
          </a:p>
        </p:txBody>
      </p:sp>
      <p:sp>
        <p:nvSpPr>
          <p:cNvPr id="29" name="Shape 25"/>
          <p:cNvSpPr/>
          <p:nvPr/>
        </p:nvSpPr>
        <p:spPr>
          <a:xfrm>
            <a:off x="4965192" y="4617720"/>
            <a:ext cx="1554480" cy="914400"/>
          </a:xfrm>
          <a:prstGeom prst="roundRect">
            <a:avLst>
              <a:gd name="adj" fmla="val 12000"/>
            </a:avLst>
          </a:prstGeom>
          <a:solidFill>
            <a:srgbClr val="F6F7F8"/>
          </a:solidFill>
          <a:ln w="12700">
            <a:solidFill>
              <a:srgbClr val="F6F7F8"/>
            </a:solidFill>
            <a:prstDash val="solid"/>
          </a:ln>
        </p:spPr>
      </p:sp>
      <p:sp>
        <p:nvSpPr>
          <p:cNvPr id="30" name="Text 26"/>
          <p:cNvSpPr txBox="1"/>
          <p:nvPr/>
        </p:nvSpPr>
        <p:spPr>
          <a:xfrm>
            <a:off x="5102352" y="4663440"/>
            <a:ext cx="1280160" cy="457200"/>
          </a:xfrm>
          <a:prstGeom prst="rect">
            <a:avLst/>
          </a:prstGeom>
          <a:noFill/>
          <a:ln/>
        </p:spPr>
        <p:txBody>
          <a:bodyPr wrap="square" lIns="0" tIns="0" rIns="0" bIns="0" rtlCol="0" anchor="t"/>
          <a:lstStyle/>
          <a:p>
            <a:pPr indent="0" marL="0">
              <a:buNone/>
            </a:pPr>
            <a:r>
              <a:rPr lang="en-US" sz="2200" b="1" dirty="0">
                <a:solidFill>
                  <a:srgbClr val="0A0A0B"/>
                </a:solidFill>
              </a:rPr>
              <a:t>2.0</a:t>
            </a:r>
            <a:endParaRPr lang="en-US" sz="2200" dirty="0"/>
          </a:p>
        </p:txBody>
      </p:sp>
      <p:sp>
        <p:nvSpPr>
          <p:cNvPr id="31" name="Text 27"/>
          <p:cNvSpPr txBox="1"/>
          <p:nvPr/>
        </p:nvSpPr>
        <p:spPr>
          <a:xfrm>
            <a:off x="5102352" y="5138928"/>
            <a:ext cx="1280160" cy="320040"/>
          </a:xfrm>
          <a:prstGeom prst="rect">
            <a:avLst/>
          </a:prstGeom>
          <a:noFill/>
          <a:ln/>
        </p:spPr>
        <p:txBody>
          <a:bodyPr wrap="square" lIns="0" tIns="0" rIns="0" bIns="0" rtlCol="0" anchor="t"/>
          <a:lstStyle/>
          <a:p>
            <a:pPr indent="0" marL="0">
              <a:buNone/>
            </a:pPr>
            <a:r>
              <a:rPr lang="en-US" sz="1050" dirty="0">
                <a:solidFill>
                  <a:srgbClr val="55555C"/>
                </a:solidFill>
              </a:rPr>
              <a:t>you start</a:t>
            </a:r>
            <a:endParaRPr lang="en-US" sz="1050" dirty="0"/>
          </a:p>
        </p:txBody>
      </p:sp>
      <p:sp>
        <p:nvSpPr>
          <p:cNvPr id="32" name="Shape 28"/>
          <p:cNvSpPr/>
          <p:nvPr/>
        </p:nvSpPr>
        <p:spPr>
          <a:xfrm>
            <a:off x="6638544" y="4617720"/>
            <a:ext cx="1554480" cy="914400"/>
          </a:xfrm>
          <a:prstGeom prst="roundRect">
            <a:avLst>
              <a:gd name="adj" fmla="val 12000"/>
            </a:avLst>
          </a:prstGeom>
          <a:solidFill>
            <a:srgbClr val="F6F7F8"/>
          </a:solidFill>
          <a:ln w="12700">
            <a:solidFill>
              <a:srgbClr val="F6F7F8"/>
            </a:solidFill>
            <a:prstDash val="solid"/>
          </a:ln>
        </p:spPr>
      </p:sp>
      <p:sp>
        <p:nvSpPr>
          <p:cNvPr id="33" name="Text 29"/>
          <p:cNvSpPr txBox="1"/>
          <p:nvPr/>
        </p:nvSpPr>
        <p:spPr>
          <a:xfrm>
            <a:off x="6775704" y="4663440"/>
            <a:ext cx="1280160" cy="457200"/>
          </a:xfrm>
          <a:prstGeom prst="rect">
            <a:avLst/>
          </a:prstGeom>
          <a:noFill/>
          <a:ln/>
        </p:spPr>
        <p:txBody>
          <a:bodyPr wrap="square" lIns="0" tIns="0" rIns="0" bIns="0" rtlCol="0" anchor="t"/>
          <a:lstStyle/>
          <a:p>
            <a:pPr indent="0" marL="0">
              <a:buNone/>
            </a:pPr>
            <a:r>
              <a:rPr lang="en-US" sz="2200" b="1" dirty="0">
                <a:solidFill>
                  <a:srgbClr val="0A7F44"/>
                </a:solidFill>
              </a:rPr>
              <a:t>3.6</a:t>
            </a:r>
            <a:endParaRPr lang="en-US" sz="2200" dirty="0"/>
          </a:p>
        </p:txBody>
      </p:sp>
      <p:sp>
        <p:nvSpPr>
          <p:cNvPr id="34" name="Text 30"/>
          <p:cNvSpPr txBox="1"/>
          <p:nvPr/>
        </p:nvSpPr>
        <p:spPr>
          <a:xfrm>
            <a:off x="6775704" y="5138928"/>
            <a:ext cx="1280160" cy="320040"/>
          </a:xfrm>
          <a:prstGeom prst="rect">
            <a:avLst/>
          </a:prstGeom>
          <a:noFill/>
          <a:ln/>
        </p:spPr>
        <p:txBody>
          <a:bodyPr wrap="square" lIns="0" tIns="0" rIns="0" bIns="0" rtlCol="0" anchor="t"/>
          <a:lstStyle/>
          <a:p>
            <a:pPr indent="0" marL="0">
              <a:buNone/>
            </a:pPr>
            <a:r>
              <a:rPr lang="en-US" sz="1050" dirty="0">
                <a:solidFill>
                  <a:srgbClr val="55555C"/>
                </a:solidFill>
              </a:rPr>
              <a:t>turn heard</a:t>
            </a:r>
            <a:endParaRPr lang="en-US" sz="1050" dirty="0"/>
          </a:p>
        </p:txBody>
      </p:sp>
      <p:sp>
        <p:nvSpPr>
          <p:cNvPr id="35" name="Shape 31"/>
          <p:cNvSpPr/>
          <p:nvPr/>
        </p:nvSpPr>
        <p:spPr>
          <a:xfrm>
            <a:off x="8311896" y="4617720"/>
            <a:ext cx="1554480" cy="914400"/>
          </a:xfrm>
          <a:prstGeom prst="roundRect">
            <a:avLst>
              <a:gd name="adj" fmla="val 12000"/>
            </a:avLst>
          </a:prstGeom>
          <a:solidFill>
            <a:srgbClr val="F6F7F8"/>
          </a:solidFill>
          <a:ln w="12700">
            <a:solidFill>
              <a:srgbClr val="F6F7F8"/>
            </a:solidFill>
            <a:prstDash val="solid"/>
          </a:ln>
        </p:spPr>
      </p:sp>
      <p:sp>
        <p:nvSpPr>
          <p:cNvPr id="36" name="Text 32"/>
          <p:cNvSpPr txBox="1"/>
          <p:nvPr/>
        </p:nvSpPr>
        <p:spPr>
          <a:xfrm>
            <a:off x="8449056" y="4663440"/>
            <a:ext cx="1280160" cy="457200"/>
          </a:xfrm>
          <a:prstGeom prst="rect">
            <a:avLst/>
          </a:prstGeom>
          <a:noFill/>
          <a:ln/>
        </p:spPr>
        <p:txBody>
          <a:bodyPr wrap="square" lIns="0" tIns="0" rIns="0" bIns="0" rtlCol="0" anchor="t"/>
          <a:lstStyle/>
          <a:p>
            <a:pPr indent="0" marL="0">
              <a:buNone/>
            </a:pPr>
            <a:r>
              <a:rPr lang="en-US" sz="2200" b="1" dirty="0">
                <a:solidFill>
                  <a:srgbClr val="0A0A0B"/>
                </a:solidFill>
              </a:rPr>
              <a:t>12.3</a:t>
            </a:r>
            <a:endParaRPr lang="en-US" sz="2200" dirty="0"/>
          </a:p>
        </p:txBody>
      </p:sp>
      <p:sp>
        <p:nvSpPr>
          <p:cNvPr id="37" name="Text 33"/>
          <p:cNvSpPr txBox="1"/>
          <p:nvPr/>
        </p:nvSpPr>
        <p:spPr>
          <a:xfrm>
            <a:off x="8449056" y="5138928"/>
            <a:ext cx="1280160" cy="320040"/>
          </a:xfrm>
          <a:prstGeom prst="rect">
            <a:avLst/>
          </a:prstGeom>
          <a:noFill/>
          <a:ln/>
        </p:spPr>
        <p:txBody>
          <a:bodyPr wrap="square" lIns="0" tIns="0" rIns="0" bIns="0" rtlCol="0" anchor="t"/>
          <a:lstStyle/>
          <a:p>
            <a:pPr indent="0" marL="0">
              <a:buNone/>
            </a:pPr>
            <a:r>
              <a:rPr lang="en-US" sz="1050" dirty="0">
                <a:solidFill>
                  <a:srgbClr val="55555C"/>
                </a:solidFill>
              </a:rPr>
              <a:t>reply ready</a:t>
            </a:r>
            <a:endParaRPr lang="en-US" sz="1050" dirty="0"/>
          </a:p>
        </p:txBody>
      </p:sp>
      <p:sp>
        <p:nvSpPr>
          <p:cNvPr id="38" name="Text 34"/>
          <p:cNvSpPr txBox="1"/>
          <p:nvPr/>
        </p:nvSpPr>
        <p:spPr>
          <a:xfrm>
            <a:off x="3291840" y="5669280"/>
            <a:ext cx="6675120" cy="457200"/>
          </a:xfrm>
          <a:prstGeom prst="rect">
            <a:avLst/>
          </a:prstGeom>
          <a:noFill/>
          <a:ln/>
        </p:spPr>
        <p:txBody>
          <a:bodyPr wrap="square" lIns="0" tIns="0" rIns="0" bIns="0" rtlCol="0" anchor="t"/>
          <a:lstStyle/>
          <a:p>
            <a:pPr indent="0" marL="0">
              <a:buNone/>
            </a:pPr>
            <a:r>
              <a:rPr lang="en-US" sz="1000" dirty="0">
                <a:solidFill>
                  <a:srgbClr val="8A8A92"/>
                </a:solidFill>
              </a:rPr>
              <a:t>"When is my next game?" heard word by word; the reply came from the facts. submission/results/voice_live.json</a:t>
            </a:r>
            <a:endParaRPr lang="en-US" sz="10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INTER-CLUB CHALLENGES · FEDERATED A2A</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Challenge the club next door, nothing merged</a:t>
            </a:r>
            <a:endParaRPr lang="en-US" sz="3200" dirty="0"/>
          </a:p>
        </p:txBody>
      </p:sp>
      <p:sp>
        <p:nvSpPr>
          <p:cNvPr id="5" name="Shape 2"/>
          <p:cNvSpPr/>
          <p:nvPr/>
        </p:nvSpPr>
        <p:spPr>
          <a:xfrm>
            <a:off x="2011680" y="2560320"/>
            <a:ext cx="2468880" cy="914"/>
          </a:xfrm>
          <a:prstGeom prst="line">
            <a:avLst/>
          </a:prstGeom>
          <a:noFill/>
          <a:ln w="25400">
            <a:solidFill>
              <a:srgbClr val="DCDCE0"/>
            </a:solidFill>
            <a:prstDash val="dash"/>
          </a:ln>
        </p:spPr>
      </p:sp>
      <p:sp>
        <p:nvSpPr>
          <p:cNvPr id="6" name="Shape 3"/>
          <p:cNvSpPr/>
          <p:nvPr/>
        </p:nvSpPr>
        <p:spPr>
          <a:xfrm>
            <a:off x="2011680" y="2560320"/>
            <a:ext cx="1234440" cy="2103120"/>
          </a:xfrm>
          <a:prstGeom prst="line">
            <a:avLst/>
          </a:prstGeom>
          <a:noFill/>
          <a:ln w="25400">
            <a:solidFill>
              <a:srgbClr val="DCDCE0"/>
            </a:solidFill>
            <a:prstDash val="dash"/>
          </a:ln>
        </p:spPr>
      </p:sp>
      <p:sp>
        <p:nvSpPr>
          <p:cNvPr id="7" name="Shape 4"/>
          <p:cNvSpPr/>
          <p:nvPr/>
        </p:nvSpPr>
        <p:spPr>
          <a:xfrm flipH="1">
            <a:off x="3246120" y="2560320"/>
            <a:ext cx="1234440" cy="2103120"/>
          </a:xfrm>
          <a:prstGeom prst="line">
            <a:avLst/>
          </a:prstGeom>
          <a:noFill/>
          <a:ln w="25400">
            <a:solidFill>
              <a:srgbClr val="DCDCE0"/>
            </a:solidFill>
            <a:prstDash val="dash"/>
          </a:ln>
        </p:spPr>
      </p:sp>
      <p:sp>
        <p:nvSpPr>
          <p:cNvPr id="8" name="Shape 5"/>
          <p:cNvSpPr/>
          <p:nvPr/>
        </p:nvSpPr>
        <p:spPr>
          <a:xfrm>
            <a:off x="1463040" y="2103120"/>
            <a:ext cx="1097280" cy="914400"/>
          </a:xfrm>
          <a:prstGeom prst="ellipse">
            <a:avLst/>
          </a:prstGeom>
          <a:solidFill>
            <a:srgbClr val="FFFFFF"/>
          </a:solidFill>
          <a:ln w="31750">
            <a:solidFill>
              <a:srgbClr val="0A7F44"/>
            </a:solidFill>
            <a:prstDash val="solid"/>
          </a:ln>
        </p:spPr>
      </p:sp>
      <p:sp>
        <p:nvSpPr>
          <p:cNvPr id="9" name="Text 6"/>
          <p:cNvSpPr txBox="1"/>
          <p:nvPr/>
        </p:nvSpPr>
        <p:spPr>
          <a:xfrm>
            <a:off x="1463040" y="2304288"/>
            <a:ext cx="1097280" cy="274320"/>
          </a:xfrm>
          <a:prstGeom prst="rect">
            <a:avLst/>
          </a:prstGeom>
          <a:noFill/>
          <a:ln/>
        </p:spPr>
        <p:txBody>
          <a:bodyPr wrap="square" lIns="0" tIns="0" rIns="0" bIns="0" rtlCol="0" anchor="t"/>
          <a:lstStyle/>
          <a:p>
            <a:pPr algn="ctr" indent="0" marL="0">
              <a:buNone/>
            </a:pPr>
            <a:r>
              <a:rPr lang="en-US" sz="1250" b="1" dirty="0">
                <a:solidFill>
                  <a:srgbClr val="0A0A0B"/>
                </a:solidFill>
              </a:rPr>
              <a:t>Club A</a:t>
            </a:r>
            <a:endParaRPr lang="en-US" sz="1250" dirty="0"/>
          </a:p>
        </p:txBody>
      </p:sp>
      <p:sp>
        <p:nvSpPr>
          <p:cNvPr id="10" name="Text 7"/>
          <p:cNvSpPr txBox="1"/>
          <p:nvPr/>
        </p:nvSpPr>
        <p:spPr>
          <a:xfrm>
            <a:off x="1463040" y="2578608"/>
            <a:ext cx="1097280" cy="228600"/>
          </a:xfrm>
          <a:prstGeom prst="rect">
            <a:avLst/>
          </a:prstGeom>
          <a:noFill/>
          <a:ln/>
        </p:spPr>
        <p:txBody>
          <a:bodyPr wrap="square" lIns="0" tIns="0" rIns="0" bIns="0" rtlCol="0" anchor="t"/>
          <a:lstStyle/>
          <a:p>
            <a:pPr algn="ctr" indent="0" marL="0">
              <a:buNone/>
            </a:pPr>
            <a:r>
              <a:rPr lang="en-US" sz="900" dirty="0">
                <a:solidFill>
                  <a:srgbClr val="55555C"/>
                </a:solidFill>
              </a:rPr>
              <a:t>card · key</a:t>
            </a:r>
            <a:endParaRPr lang="en-US" sz="900" dirty="0"/>
          </a:p>
        </p:txBody>
      </p:sp>
      <p:sp>
        <p:nvSpPr>
          <p:cNvPr id="11" name="Shape 8"/>
          <p:cNvSpPr/>
          <p:nvPr/>
        </p:nvSpPr>
        <p:spPr>
          <a:xfrm>
            <a:off x="3931920" y="2103120"/>
            <a:ext cx="1097280" cy="914400"/>
          </a:xfrm>
          <a:prstGeom prst="ellipse">
            <a:avLst/>
          </a:prstGeom>
          <a:solidFill>
            <a:srgbClr val="FFFFFF"/>
          </a:solidFill>
          <a:ln w="31750">
            <a:solidFill>
              <a:srgbClr val="0064E0"/>
            </a:solidFill>
            <a:prstDash val="solid"/>
          </a:ln>
        </p:spPr>
      </p:sp>
      <p:sp>
        <p:nvSpPr>
          <p:cNvPr id="12" name="Text 9"/>
          <p:cNvSpPr txBox="1"/>
          <p:nvPr/>
        </p:nvSpPr>
        <p:spPr>
          <a:xfrm>
            <a:off x="3931920" y="2304288"/>
            <a:ext cx="1097280" cy="274320"/>
          </a:xfrm>
          <a:prstGeom prst="rect">
            <a:avLst/>
          </a:prstGeom>
          <a:noFill/>
          <a:ln/>
        </p:spPr>
        <p:txBody>
          <a:bodyPr wrap="square" lIns="0" tIns="0" rIns="0" bIns="0" rtlCol="0" anchor="t"/>
          <a:lstStyle/>
          <a:p>
            <a:pPr algn="ctr" indent="0" marL="0">
              <a:buNone/>
            </a:pPr>
            <a:r>
              <a:rPr lang="en-US" sz="1250" b="1" dirty="0">
                <a:solidFill>
                  <a:srgbClr val="0A0A0B"/>
                </a:solidFill>
              </a:rPr>
              <a:t>Club B</a:t>
            </a:r>
            <a:endParaRPr lang="en-US" sz="1250" dirty="0"/>
          </a:p>
        </p:txBody>
      </p:sp>
      <p:sp>
        <p:nvSpPr>
          <p:cNvPr id="13" name="Text 10"/>
          <p:cNvSpPr txBox="1"/>
          <p:nvPr/>
        </p:nvSpPr>
        <p:spPr>
          <a:xfrm>
            <a:off x="3931920" y="2578608"/>
            <a:ext cx="1097280" cy="228600"/>
          </a:xfrm>
          <a:prstGeom prst="rect">
            <a:avLst/>
          </a:prstGeom>
          <a:noFill/>
          <a:ln/>
        </p:spPr>
        <p:txBody>
          <a:bodyPr wrap="square" lIns="0" tIns="0" rIns="0" bIns="0" rtlCol="0" anchor="t"/>
          <a:lstStyle/>
          <a:p>
            <a:pPr algn="ctr" indent="0" marL="0">
              <a:buNone/>
            </a:pPr>
            <a:r>
              <a:rPr lang="en-US" sz="900" dirty="0">
                <a:solidFill>
                  <a:srgbClr val="55555C"/>
                </a:solidFill>
              </a:rPr>
              <a:t>card · key</a:t>
            </a:r>
            <a:endParaRPr lang="en-US" sz="900" dirty="0"/>
          </a:p>
        </p:txBody>
      </p:sp>
      <p:sp>
        <p:nvSpPr>
          <p:cNvPr id="14" name="Shape 11"/>
          <p:cNvSpPr/>
          <p:nvPr/>
        </p:nvSpPr>
        <p:spPr>
          <a:xfrm>
            <a:off x="2697480" y="4206240"/>
            <a:ext cx="1097280" cy="914400"/>
          </a:xfrm>
          <a:prstGeom prst="ellipse">
            <a:avLst/>
          </a:prstGeom>
          <a:solidFill>
            <a:srgbClr val="FFFFFF"/>
          </a:solidFill>
          <a:ln w="31750">
            <a:solidFill>
              <a:srgbClr val="B26A00"/>
            </a:solidFill>
            <a:prstDash val="solid"/>
          </a:ln>
        </p:spPr>
      </p:sp>
      <p:sp>
        <p:nvSpPr>
          <p:cNvPr id="15" name="Text 12"/>
          <p:cNvSpPr txBox="1"/>
          <p:nvPr/>
        </p:nvSpPr>
        <p:spPr>
          <a:xfrm>
            <a:off x="2697480" y="4407408"/>
            <a:ext cx="1097280" cy="274320"/>
          </a:xfrm>
          <a:prstGeom prst="rect">
            <a:avLst/>
          </a:prstGeom>
          <a:noFill/>
          <a:ln/>
        </p:spPr>
        <p:txBody>
          <a:bodyPr wrap="square" lIns="0" tIns="0" rIns="0" bIns="0" rtlCol="0" anchor="t"/>
          <a:lstStyle/>
          <a:p>
            <a:pPr algn="ctr" indent="0" marL="0">
              <a:buNone/>
            </a:pPr>
            <a:r>
              <a:rPr lang="en-US" sz="1250" b="1" dirty="0">
                <a:solidFill>
                  <a:srgbClr val="0A0A0B"/>
                </a:solidFill>
              </a:rPr>
              <a:t>Club C</a:t>
            </a:r>
            <a:endParaRPr lang="en-US" sz="1250" dirty="0"/>
          </a:p>
        </p:txBody>
      </p:sp>
      <p:sp>
        <p:nvSpPr>
          <p:cNvPr id="16" name="Text 13"/>
          <p:cNvSpPr txBox="1"/>
          <p:nvPr/>
        </p:nvSpPr>
        <p:spPr>
          <a:xfrm>
            <a:off x="2697480" y="4681728"/>
            <a:ext cx="1097280" cy="228600"/>
          </a:xfrm>
          <a:prstGeom prst="rect">
            <a:avLst/>
          </a:prstGeom>
          <a:noFill/>
          <a:ln/>
        </p:spPr>
        <p:txBody>
          <a:bodyPr wrap="square" lIns="0" tIns="0" rIns="0" bIns="0" rtlCol="0" anchor="t"/>
          <a:lstStyle/>
          <a:p>
            <a:pPr algn="ctr" indent="0" marL="0">
              <a:buNone/>
            </a:pPr>
            <a:r>
              <a:rPr lang="en-US" sz="900" dirty="0">
                <a:solidFill>
                  <a:srgbClr val="55555C"/>
                </a:solidFill>
              </a:rPr>
              <a:t>card · key</a:t>
            </a:r>
            <a:endParaRPr lang="en-US" sz="900" dirty="0"/>
          </a:p>
        </p:txBody>
      </p:sp>
      <p:sp>
        <p:nvSpPr>
          <p:cNvPr id="17" name="Text 14"/>
          <p:cNvSpPr txBox="1"/>
          <p:nvPr/>
        </p:nvSpPr>
        <p:spPr>
          <a:xfrm>
            <a:off x="548640" y="5577840"/>
            <a:ext cx="4937760" cy="548640"/>
          </a:xfrm>
          <a:prstGeom prst="rect">
            <a:avLst/>
          </a:prstGeom>
          <a:noFill/>
          <a:ln/>
        </p:spPr>
        <p:txBody>
          <a:bodyPr wrap="square" lIns="0" tIns="0" rIns="0" bIns="0" rtlCol="0" anchor="t"/>
          <a:lstStyle/>
          <a:p>
            <a:pPr indent="0" marL="0">
              <a:buNone/>
            </a:pPr>
            <a:r>
              <a:rPr lang="en-US" sz="1100" dirty="0">
                <a:solidFill>
                  <a:srgbClr val="55555C"/>
                </a:solidFill>
              </a:rPr>
              <a:t>Bored of the same faces? Your club's agents can ask the university club's. Each club keeps its own server; the config holds only addresses, and names, members and keys come from each club's card</a:t>
            </a:r>
            <a:endParaRPr lang="en-US" sz="1100" dirty="0"/>
          </a:p>
        </p:txBody>
      </p:sp>
      <p:sp>
        <p:nvSpPr>
          <p:cNvPr id="18" name="Shape 15"/>
          <p:cNvSpPr/>
          <p:nvPr/>
        </p:nvSpPr>
        <p:spPr>
          <a:xfrm>
            <a:off x="5760720" y="1719072"/>
            <a:ext cx="365760" cy="365760"/>
          </a:xfrm>
          <a:prstGeom prst="ellipse">
            <a:avLst/>
          </a:prstGeom>
          <a:solidFill>
            <a:srgbClr val="0064E0"/>
          </a:solidFill>
          <a:ln w="12700">
            <a:solidFill>
              <a:srgbClr val="0064E0"/>
            </a:solidFill>
            <a:prstDash val="solid"/>
          </a:ln>
        </p:spPr>
      </p:sp>
      <p:sp>
        <p:nvSpPr>
          <p:cNvPr id="19" name="Text 16"/>
          <p:cNvSpPr txBox="1"/>
          <p:nvPr/>
        </p:nvSpPr>
        <p:spPr>
          <a:xfrm>
            <a:off x="5760720" y="17190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0" name="Text 17"/>
          <p:cNvSpPr txBox="1"/>
          <p:nvPr/>
        </p:nvSpPr>
        <p:spPr>
          <a:xfrm>
            <a:off x="6291072" y="1691640"/>
            <a:ext cx="5303520" cy="274320"/>
          </a:xfrm>
          <a:prstGeom prst="rect">
            <a:avLst/>
          </a:prstGeom>
          <a:noFill/>
          <a:ln/>
        </p:spPr>
        <p:txBody>
          <a:bodyPr wrap="square" lIns="0" tIns="0" rIns="0" bIns="0" rtlCol="0" anchor="t"/>
          <a:lstStyle/>
          <a:p>
            <a:pPr indent="0" marL="0">
              <a:buNone/>
            </a:pPr>
            <a:r>
              <a:rPr lang="en-US" sz="1400" b="1" dirty="0">
                <a:solidFill>
                  <a:srgbClr val="0A0A0B"/>
                </a:solidFill>
              </a:rPr>
              <a:t>Found by its card</a:t>
            </a:r>
            <a:endParaRPr lang="en-US" sz="1400" dirty="0"/>
          </a:p>
        </p:txBody>
      </p:sp>
      <p:sp>
        <p:nvSpPr>
          <p:cNvPr id="21" name="Text 18"/>
          <p:cNvSpPr txBox="1"/>
          <p:nvPr/>
        </p:nvSpPr>
        <p:spPr>
          <a:xfrm>
            <a:off x="6291072" y="1993392"/>
            <a:ext cx="5303520" cy="594360"/>
          </a:xfrm>
          <a:prstGeom prst="rect">
            <a:avLst/>
          </a:prstGeom>
          <a:noFill/>
          <a:ln/>
        </p:spPr>
        <p:txBody>
          <a:bodyPr wrap="square" lIns="0" tIns="0" rIns="0" bIns="0" rtlCol="0" anchor="t"/>
          <a:lstStyle/>
          <a:p>
            <a:pPr indent="0" marL="0">
              <a:buNone/>
            </a:pPr>
            <a:r>
              <a:rPr lang="en-US" sz="1100" dirty="0">
                <a:solidFill>
                  <a:srgbClr val="55555C"/>
                </a:solidFill>
              </a:rPr>
              <a:t>/a2a/club.json: the club's name, the members others may ask (a public profile each), where its keys are.</a:t>
            </a:r>
            <a:endParaRPr lang="en-US" sz="1100" dirty="0"/>
          </a:p>
        </p:txBody>
      </p:sp>
      <p:sp>
        <p:nvSpPr>
          <p:cNvPr id="22" name="Shape 19"/>
          <p:cNvSpPr/>
          <p:nvPr/>
        </p:nvSpPr>
        <p:spPr>
          <a:xfrm>
            <a:off x="5760720" y="2679192"/>
            <a:ext cx="365760" cy="365760"/>
          </a:xfrm>
          <a:prstGeom prst="ellipse">
            <a:avLst/>
          </a:prstGeom>
          <a:solidFill>
            <a:srgbClr val="0064E0"/>
          </a:solidFill>
          <a:ln w="12700">
            <a:solidFill>
              <a:srgbClr val="0064E0"/>
            </a:solidFill>
            <a:prstDash val="solid"/>
          </a:ln>
        </p:spPr>
      </p:sp>
      <p:sp>
        <p:nvSpPr>
          <p:cNvPr id="23" name="Text 20"/>
          <p:cNvSpPr txBox="1"/>
          <p:nvPr/>
        </p:nvSpPr>
        <p:spPr>
          <a:xfrm>
            <a:off x="5760720" y="267919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4" name="Text 21"/>
          <p:cNvSpPr txBox="1"/>
          <p:nvPr/>
        </p:nvSpPr>
        <p:spPr>
          <a:xfrm>
            <a:off x="6291072" y="2651760"/>
            <a:ext cx="5303520" cy="274320"/>
          </a:xfrm>
          <a:prstGeom prst="rect">
            <a:avLst/>
          </a:prstGeom>
          <a:noFill/>
          <a:ln/>
        </p:spPr>
        <p:txBody>
          <a:bodyPr wrap="square" lIns="0" tIns="0" rIns="0" bIns="0" rtlCol="0" anchor="t"/>
          <a:lstStyle/>
          <a:p>
            <a:pPr indent="0" marL="0">
              <a:buNone/>
            </a:pPr>
            <a:r>
              <a:rPr lang="en-US" sz="1400" b="1" dirty="0">
                <a:solidFill>
                  <a:srgbClr val="0A0A0B"/>
                </a:solidFill>
              </a:rPr>
              <a:t>Pinned on first use</a:t>
            </a:r>
            <a:endParaRPr lang="en-US" sz="1400" dirty="0"/>
          </a:p>
        </p:txBody>
      </p:sp>
      <p:sp>
        <p:nvSpPr>
          <p:cNvPr id="25" name="Text 22"/>
          <p:cNvSpPr txBox="1"/>
          <p:nvPr/>
        </p:nvSpPr>
        <p:spPr>
          <a:xfrm>
            <a:off x="6291072" y="2953512"/>
            <a:ext cx="5303520" cy="594360"/>
          </a:xfrm>
          <a:prstGeom prst="rect">
            <a:avLst/>
          </a:prstGeom>
          <a:noFill/>
          <a:ln/>
        </p:spPr>
        <p:txBody>
          <a:bodyPr wrap="square" lIns="0" tIns="0" rIns="0" bIns="0" rtlCol="0" anchor="t"/>
          <a:lstStyle/>
          <a:p>
            <a:pPr indent="0" marL="0">
              <a:buNone/>
            </a:pPr>
            <a:r>
              <a:rPr lang="en-US" sz="1100" dirty="0">
                <a:solidFill>
                  <a:srgbClr val="55555C"/>
                </a:solidFill>
              </a:rPr>
              <a:t>Every request between clubs is signed; the key is pinned the first time, as between our two gateways.</a:t>
            </a:r>
            <a:endParaRPr lang="en-US" sz="1100" dirty="0"/>
          </a:p>
        </p:txBody>
      </p:sp>
      <p:sp>
        <p:nvSpPr>
          <p:cNvPr id="26" name="Shape 23"/>
          <p:cNvSpPr/>
          <p:nvPr/>
        </p:nvSpPr>
        <p:spPr>
          <a:xfrm>
            <a:off x="5760720" y="3639312"/>
            <a:ext cx="365760" cy="365760"/>
          </a:xfrm>
          <a:prstGeom prst="ellipse">
            <a:avLst/>
          </a:prstGeom>
          <a:solidFill>
            <a:srgbClr val="0064E0"/>
          </a:solidFill>
          <a:ln w="12700">
            <a:solidFill>
              <a:srgbClr val="0064E0"/>
            </a:solidFill>
            <a:prstDash val="solid"/>
          </a:ln>
        </p:spPr>
      </p:sp>
      <p:sp>
        <p:nvSpPr>
          <p:cNvPr id="27" name="Text 24"/>
          <p:cNvSpPr txBox="1"/>
          <p:nvPr/>
        </p:nvSpPr>
        <p:spPr>
          <a:xfrm>
            <a:off x="5760720" y="36393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8" name="Text 25"/>
          <p:cNvSpPr txBox="1"/>
          <p:nvPr/>
        </p:nvSpPr>
        <p:spPr>
          <a:xfrm>
            <a:off x="6291072" y="3611880"/>
            <a:ext cx="5303520" cy="274320"/>
          </a:xfrm>
          <a:prstGeom prst="rect">
            <a:avLst/>
          </a:prstGeom>
          <a:noFill/>
          <a:ln/>
        </p:spPr>
        <p:txBody>
          <a:bodyPr wrap="square" lIns="0" tIns="0" rIns="0" bIns="0" rtlCol="0" anchor="t"/>
          <a:lstStyle/>
          <a:p>
            <a:pPr indent="0" marL="0">
              <a:buNone/>
            </a:pPr>
            <a:r>
              <a:rPr lang="en-US" sz="1400" b="1" dirty="0">
                <a:solidFill>
                  <a:srgbClr val="0A0A0B"/>
                </a:solidFill>
              </a:rPr>
              <a:t>Keys can change</a:t>
            </a:r>
            <a:endParaRPr lang="en-US" sz="1400" dirty="0"/>
          </a:p>
        </p:txBody>
      </p:sp>
      <p:sp>
        <p:nvSpPr>
          <p:cNvPr id="29" name="Text 26"/>
          <p:cNvSpPr txBox="1"/>
          <p:nvPr/>
        </p:nvSpPr>
        <p:spPr>
          <a:xfrm>
            <a:off x="6291072" y="3913632"/>
            <a:ext cx="5303520" cy="594360"/>
          </a:xfrm>
          <a:prstGeom prst="rect">
            <a:avLst/>
          </a:prstGeom>
          <a:noFill/>
          <a:ln/>
        </p:spPr>
        <p:txBody>
          <a:bodyPr wrap="square" lIns="0" tIns="0" rIns="0" bIns="0" rtlCol="0" anchor="t"/>
          <a:lstStyle/>
          <a:p>
            <a:pPr indent="0" marL="0">
              <a:buNone/>
            </a:pPr>
            <a:r>
              <a:rPr lang="en-US" sz="1100" dirty="0">
                <a:solidFill>
                  <a:srgbClr val="55555C"/>
                </a:solidFill>
              </a:rPr>
              <a:t>The old key signs a hand-over to the new one. A club whose pin is gone follows the chain from its pin, and re-pins only if it holds.</a:t>
            </a:r>
            <a:endParaRPr lang="en-US" sz="1100" dirty="0"/>
          </a:p>
        </p:txBody>
      </p:sp>
      <p:sp>
        <p:nvSpPr>
          <p:cNvPr id="30" name="Shape 27"/>
          <p:cNvSpPr/>
          <p:nvPr/>
        </p:nvSpPr>
        <p:spPr>
          <a:xfrm>
            <a:off x="5760720" y="4599432"/>
            <a:ext cx="365760" cy="365760"/>
          </a:xfrm>
          <a:prstGeom prst="ellipse">
            <a:avLst/>
          </a:prstGeom>
          <a:solidFill>
            <a:srgbClr val="0064E0"/>
          </a:solidFill>
          <a:ln w="12700">
            <a:solidFill>
              <a:srgbClr val="0064E0"/>
            </a:solidFill>
            <a:prstDash val="solid"/>
          </a:ln>
        </p:spPr>
      </p:sp>
      <p:sp>
        <p:nvSpPr>
          <p:cNvPr id="31" name="Text 28"/>
          <p:cNvSpPr txBox="1"/>
          <p:nvPr/>
        </p:nvSpPr>
        <p:spPr>
          <a:xfrm>
            <a:off x="5760720" y="45994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2" name="Text 29"/>
          <p:cNvSpPr txBox="1"/>
          <p:nvPr/>
        </p:nvSpPr>
        <p:spPr>
          <a:xfrm>
            <a:off x="6291072" y="4572000"/>
            <a:ext cx="5303520" cy="274320"/>
          </a:xfrm>
          <a:prstGeom prst="rect">
            <a:avLst/>
          </a:prstGeom>
          <a:noFill/>
          <a:ln/>
        </p:spPr>
        <p:txBody>
          <a:bodyPr wrap="square" lIns="0" tIns="0" rIns="0" bIns="0" rtlCol="0" anchor="t"/>
          <a:lstStyle/>
          <a:p>
            <a:pPr indent="0" marL="0">
              <a:buNone/>
            </a:pPr>
            <a:r>
              <a:rPr lang="en-US" sz="1400" b="1" dirty="0">
                <a:solidFill>
                  <a:srgbClr val="0A0A0B"/>
                </a:solidFill>
              </a:rPr>
              <a:t>Forgeries refused</a:t>
            </a:r>
            <a:endParaRPr lang="en-US" sz="1400" dirty="0"/>
          </a:p>
        </p:txBody>
      </p:sp>
      <p:sp>
        <p:nvSpPr>
          <p:cNvPr id="33" name="Text 30"/>
          <p:cNvSpPr txBox="1"/>
          <p:nvPr/>
        </p:nvSpPr>
        <p:spPr>
          <a:xfrm>
            <a:off x="6291072" y="4873752"/>
            <a:ext cx="5303520" cy="594360"/>
          </a:xfrm>
          <a:prstGeom prst="rect">
            <a:avLst/>
          </a:prstGeom>
          <a:noFill/>
          <a:ln/>
        </p:spPr>
        <p:txBody>
          <a:bodyPr wrap="square" lIns="0" tIns="0" rIns="0" bIns="0" rtlCol="0" anchor="t"/>
          <a:lstStyle/>
          <a:p>
            <a:pPr indent="0" marL="0">
              <a:buNone/>
            </a:pPr>
            <a:r>
              <a:rPr lang="en-US" sz="1100" dirty="0">
                <a:solidFill>
                  <a:srgbClr val="55555C"/>
                </a:solidFill>
              </a:rPr>
              <a:t>A hand-over signed by any other key, or a page that isn't a card, is refused and logged.</a:t>
            </a:r>
            <a:endParaRPr lang="en-US" sz="1100" dirty="0"/>
          </a:p>
        </p:txBody>
      </p:sp>
      <p:sp>
        <p:nvSpPr>
          <p:cNvPr id="34" name="Shape 31"/>
          <p:cNvSpPr/>
          <p:nvPr/>
        </p:nvSpPr>
        <p:spPr>
          <a:xfrm>
            <a:off x="5760720" y="5532120"/>
            <a:ext cx="5852160" cy="685800"/>
          </a:xfrm>
          <a:prstGeom prst="roundRect">
            <a:avLst>
              <a:gd name="adj" fmla="val 16000"/>
            </a:avLst>
          </a:prstGeom>
          <a:solidFill>
            <a:srgbClr val="E9F3EC"/>
          </a:solidFill>
          <a:ln w="12700">
            <a:solidFill>
              <a:srgbClr val="E9F3EC"/>
            </a:solidFill>
            <a:prstDash val="solid"/>
          </a:ln>
        </p:spPr>
      </p:sp>
      <p:sp>
        <p:nvSpPr>
          <p:cNvPr id="35" name="Text 32"/>
          <p:cNvSpPr txBox="1"/>
          <p:nvPr/>
        </p:nvSpPr>
        <p:spPr>
          <a:xfrm>
            <a:off x="5943600" y="5532120"/>
            <a:ext cx="5577840" cy="685800"/>
          </a:xfrm>
          <a:prstGeom prst="rect">
            <a:avLst/>
          </a:prstGeom>
          <a:noFill/>
          <a:ln/>
        </p:spPr>
        <p:txBody>
          <a:bodyPr wrap="square" lIns="0" tIns="0" rIns="0" bIns="0" rtlCol="0" anchor="ctr"/>
          <a:lstStyle/>
          <a:p>
            <a:pPr indent="0" marL="0">
              <a:buNone/>
            </a:pPr>
            <a:r>
              <a:rPr lang="en-US" sz="1100" b="1" dirty="0">
                <a:solidFill>
                  <a:srgbClr val="0A0A0B"/>
                </a:solidFill>
              </a:rPr>
              <a:t>Tested over HTTP with three clubs: found, signed, a rotation followed two hand-overs deep, a forged one refused (test/federation_unit.mjs)</a:t>
            </a:r>
            <a:endParaRPr lang="en-US" sz="11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TECHNICAL DEPTH · AGENT MEMORY</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Notes that update themselves, checked by code</a:t>
            </a:r>
            <a:endParaRPr lang="en-US" sz="3200" dirty="0"/>
          </a:p>
        </p:txBody>
      </p:sp>
      <p:sp>
        <p:nvSpPr>
          <p:cNvPr id="5" name="Shape 2"/>
          <p:cNvSpPr/>
          <p:nvPr/>
        </p:nvSpPr>
        <p:spPr>
          <a:xfrm>
            <a:off x="548640" y="1691640"/>
            <a:ext cx="1298448" cy="2057400"/>
          </a:xfrm>
          <a:prstGeom prst="roundRect">
            <a:avLst>
              <a:gd name="adj" fmla="val 8451"/>
            </a:avLst>
          </a:prstGeom>
          <a:solidFill>
            <a:srgbClr val="F6F7F8"/>
          </a:solidFill>
          <a:ln w="12700">
            <a:solidFill>
              <a:srgbClr val="F6F7F8"/>
            </a:solidFill>
            <a:prstDash val="solid"/>
          </a:ln>
        </p:spPr>
      </p:sp>
      <p:sp>
        <p:nvSpPr>
          <p:cNvPr id="6" name="Text 3"/>
          <p:cNvSpPr txBox="1"/>
          <p:nvPr/>
        </p:nvSpPr>
        <p:spPr>
          <a:xfrm>
            <a:off x="658368" y="1783080"/>
            <a:ext cx="1097280" cy="201168"/>
          </a:xfrm>
          <a:prstGeom prst="rect">
            <a:avLst/>
          </a:prstGeom>
          <a:noFill/>
          <a:ln/>
        </p:spPr>
        <p:txBody>
          <a:bodyPr wrap="square" lIns="0" tIns="0" rIns="0" bIns="0" rtlCol="0" anchor="t"/>
          <a:lstStyle/>
          <a:p>
            <a:pPr indent="0" marL="0">
              <a:buNone/>
            </a:pPr>
            <a:r>
              <a:rPr lang="en-US" sz="950" b="1" spc="100" kern="0" dirty="0">
                <a:solidFill>
                  <a:srgbClr val="55555C"/>
                </a:solidFill>
              </a:rPr>
              <a:t>1 · NOTES</a:t>
            </a:r>
            <a:endParaRPr lang="en-US" sz="950" dirty="0"/>
          </a:p>
        </p:txBody>
      </p:sp>
      <p:sp>
        <p:nvSpPr>
          <p:cNvPr id="7" name="Text 4"/>
          <p:cNvSpPr txBox="1"/>
          <p:nvPr/>
        </p:nvSpPr>
        <p:spPr>
          <a:xfrm>
            <a:off x="658368" y="2011680"/>
            <a:ext cx="1097280" cy="566928"/>
          </a:xfrm>
          <a:prstGeom prst="rect">
            <a:avLst/>
          </a:prstGeom>
          <a:noFill/>
          <a:ln/>
        </p:spPr>
        <p:txBody>
          <a:bodyPr wrap="square" lIns="0" tIns="0" rIns="0" bIns="0" rtlCol="0" anchor="t"/>
          <a:lstStyle/>
          <a:p>
            <a:pPr indent="0" marL="0">
              <a:buNone/>
            </a:pPr>
            <a:r>
              <a:rPr lang="en-US" sz="1250" b="1" dirty="0">
                <a:solidFill>
                  <a:srgbClr val="0A0A0B"/>
                </a:solidFill>
              </a:rPr>
              <a:t>Your words and the facts</a:t>
            </a:r>
            <a:endParaRPr lang="en-US" sz="1250" dirty="0"/>
          </a:p>
        </p:txBody>
      </p:sp>
      <p:sp>
        <p:nvSpPr>
          <p:cNvPr id="8" name="Text 5"/>
          <p:cNvSpPr txBox="1"/>
          <p:nvPr/>
        </p:nvSpPr>
        <p:spPr>
          <a:xfrm>
            <a:off x="658368" y="2606040"/>
            <a:ext cx="1115568" cy="1097280"/>
          </a:xfrm>
          <a:prstGeom prst="rect">
            <a:avLst/>
          </a:prstGeom>
          <a:noFill/>
          <a:ln/>
        </p:spPr>
        <p:txBody>
          <a:bodyPr wrap="square" lIns="0" tIns="0" rIns="0" bIns="0" rtlCol="0" anchor="t"/>
          <a:lstStyle/>
          <a:p>
            <a:pPr indent="0" marL="0">
              <a:buNone/>
            </a:pPr>
            <a:r>
              <a:rPr lang="en-US" sz="950" dirty="0">
                <a:solidFill>
                  <a:srgbClr val="55555C"/>
                </a:solidFill>
              </a:rPr>
              <a:t>Messenger, voice, the app; games and health app. Nothing another agent wrote.</a:t>
            </a:r>
            <a:endParaRPr lang="en-US" sz="950" dirty="0"/>
          </a:p>
        </p:txBody>
      </p:sp>
      <p:sp>
        <p:nvSpPr>
          <p:cNvPr id="9" name="Shape 6"/>
          <p:cNvSpPr/>
          <p:nvPr/>
        </p:nvSpPr>
        <p:spPr>
          <a:xfrm>
            <a:off x="1856232" y="2715768"/>
            <a:ext cx="82296" cy="0"/>
          </a:xfrm>
          <a:prstGeom prst="line">
            <a:avLst/>
          </a:prstGeom>
          <a:noFill/>
          <a:ln w="22225">
            <a:solidFill>
              <a:srgbClr val="8A8A92"/>
            </a:solidFill>
            <a:prstDash val="solid"/>
            <a:tailEnd type="triangle"/>
          </a:ln>
        </p:spPr>
      </p:sp>
      <p:sp>
        <p:nvSpPr>
          <p:cNvPr id="10" name="Shape 7"/>
          <p:cNvSpPr/>
          <p:nvPr/>
        </p:nvSpPr>
        <p:spPr>
          <a:xfrm>
            <a:off x="1947672" y="1691640"/>
            <a:ext cx="1298448" cy="2057400"/>
          </a:xfrm>
          <a:prstGeom prst="roundRect">
            <a:avLst>
              <a:gd name="adj" fmla="val 8451"/>
            </a:avLst>
          </a:prstGeom>
          <a:solidFill>
            <a:srgbClr val="E8F1FD"/>
          </a:solidFill>
          <a:ln w="12700">
            <a:solidFill>
              <a:srgbClr val="E8F1FD"/>
            </a:solidFill>
            <a:prstDash val="solid"/>
          </a:ln>
        </p:spPr>
      </p:sp>
      <p:sp>
        <p:nvSpPr>
          <p:cNvPr id="11" name="Text 8"/>
          <p:cNvSpPr txBox="1"/>
          <p:nvPr/>
        </p:nvSpPr>
        <p:spPr>
          <a:xfrm>
            <a:off x="2057400" y="1783080"/>
            <a:ext cx="1097280" cy="201168"/>
          </a:xfrm>
          <a:prstGeom prst="rect">
            <a:avLst/>
          </a:prstGeom>
          <a:noFill/>
          <a:ln/>
        </p:spPr>
        <p:txBody>
          <a:bodyPr wrap="square" lIns="0" tIns="0" rIns="0" bIns="0" rtlCol="0" anchor="t"/>
          <a:lstStyle/>
          <a:p>
            <a:pPr indent="0" marL="0">
              <a:buNone/>
            </a:pPr>
            <a:r>
              <a:rPr lang="en-US" sz="950" b="1" spc="100" kern="0" dirty="0">
                <a:solidFill>
                  <a:srgbClr val="0064E0"/>
                </a:solidFill>
              </a:rPr>
              <a:t>2 · EMBED</a:t>
            </a:r>
            <a:endParaRPr lang="en-US" sz="950" dirty="0"/>
          </a:p>
        </p:txBody>
      </p:sp>
      <p:sp>
        <p:nvSpPr>
          <p:cNvPr id="12" name="Text 9"/>
          <p:cNvSpPr txBox="1"/>
          <p:nvPr/>
        </p:nvSpPr>
        <p:spPr>
          <a:xfrm>
            <a:off x="2057400" y="2011680"/>
            <a:ext cx="1097280" cy="566928"/>
          </a:xfrm>
          <a:prstGeom prst="rect">
            <a:avLst/>
          </a:prstGeom>
          <a:noFill/>
          <a:ln/>
        </p:spPr>
        <p:txBody>
          <a:bodyPr wrap="square" lIns="0" tIns="0" rIns="0" bIns="0" rtlCol="0" anchor="t"/>
          <a:lstStyle/>
          <a:p>
            <a:pPr indent="0" marL="0">
              <a:buNone/>
            </a:pPr>
            <a:r>
              <a:rPr lang="en-US" sz="1250" b="1" dirty="0">
                <a:solidFill>
                  <a:srgbClr val="0A0A0B"/>
                </a:solidFill>
              </a:rPr>
              <a:t>Meta's DRAMA</a:t>
            </a:r>
            <a:endParaRPr lang="en-US" sz="1250" dirty="0"/>
          </a:p>
        </p:txBody>
      </p:sp>
      <p:sp>
        <p:nvSpPr>
          <p:cNvPr id="13" name="Text 10"/>
          <p:cNvSpPr txBox="1"/>
          <p:nvPr/>
        </p:nvSpPr>
        <p:spPr>
          <a:xfrm>
            <a:off x="2057400" y="2606040"/>
            <a:ext cx="1115568" cy="1097280"/>
          </a:xfrm>
          <a:prstGeom prst="rect">
            <a:avLst/>
          </a:prstGeom>
          <a:noFill/>
          <a:ln/>
        </p:spPr>
        <p:txBody>
          <a:bodyPr wrap="square" lIns="0" tIns="0" rIns="0" bIns="0" rtlCol="0" anchor="t"/>
          <a:lstStyle/>
          <a:p>
            <a:pPr indent="0" marL="0">
              <a:buNone/>
            </a:pPr>
            <a:r>
              <a:rPr lang="en-US" sz="950" dirty="0">
                <a:solidFill>
                  <a:srgbClr val="55555C"/>
                </a:solidFill>
              </a:rPr>
              <a:t>drama-base, all 768 dimensions, on the server's CPU</a:t>
            </a:r>
            <a:endParaRPr lang="en-US" sz="950" dirty="0"/>
          </a:p>
        </p:txBody>
      </p:sp>
      <p:sp>
        <p:nvSpPr>
          <p:cNvPr id="14" name="Shape 11"/>
          <p:cNvSpPr/>
          <p:nvPr/>
        </p:nvSpPr>
        <p:spPr>
          <a:xfrm>
            <a:off x="3255264" y="2715768"/>
            <a:ext cx="82296" cy="0"/>
          </a:xfrm>
          <a:prstGeom prst="line">
            <a:avLst/>
          </a:prstGeom>
          <a:noFill/>
          <a:ln w="22225">
            <a:solidFill>
              <a:srgbClr val="8A8A92"/>
            </a:solidFill>
            <a:prstDash val="solid"/>
            <a:tailEnd type="triangle"/>
          </a:ln>
        </p:spPr>
      </p:sp>
      <p:sp>
        <p:nvSpPr>
          <p:cNvPr id="15" name="Shape 12"/>
          <p:cNvSpPr/>
          <p:nvPr/>
        </p:nvSpPr>
        <p:spPr>
          <a:xfrm>
            <a:off x="3346704" y="1691640"/>
            <a:ext cx="1298448" cy="2057400"/>
          </a:xfrm>
          <a:prstGeom prst="roundRect">
            <a:avLst>
              <a:gd name="adj" fmla="val 8451"/>
            </a:avLst>
          </a:prstGeom>
          <a:solidFill>
            <a:srgbClr val="E8F1FD"/>
          </a:solidFill>
          <a:ln w="12700">
            <a:solidFill>
              <a:srgbClr val="E8F1FD"/>
            </a:solidFill>
            <a:prstDash val="solid"/>
          </a:ln>
        </p:spPr>
      </p:sp>
      <p:sp>
        <p:nvSpPr>
          <p:cNvPr id="16" name="Text 13"/>
          <p:cNvSpPr txBox="1"/>
          <p:nvPr/>
        </p:nvSpPr>
        <p:spPr>
          <a:xfrm>
            <a:off x="3456432" y="1783080"/>
            <a:ext cx="1097280" cy="201168"/>
          </a:xfrm>
          <a:prstGeom prst="rect">
            <a:avLst/>
          </a:prstGeom>
          <a:noFill/>
          <a:ln/>
        </p:spPr>
        <p:txBody>
          <a:bodyPr wrap="square" lIns="0" tIns="0" rIns="0" bIns="0" rtlCol="0" anchor="t"/>
          <a:lstStyle/>
          <a:p>
            <a:pPr indent="0" marL="0">
              <a:buNone/>
            </a:pPr>
            <a:r>
              <a:rPr lang="en-US" sz="950" b="1" spc="100" kern="0" dirty="0">
                <a:solidFill>
                  <a:srgbClr val="0064E0"/>
                </a:solidFill>
              </a:rPr>
              <a:t>3 · RETRIEVE</a:t>
            </a:r>
            <a:endParaRPr lang="en-US" sz="950" dirty="0"/>
          </a:p>
        </p:txBody>
      </p:sp>
      <p:sp>
        <p:nvSpPr>
          <p:cNvPr id="17" name="Text 14"/>
          <p:cNvSpPr txBox="1"/>
          <p:nvPr/>
        </p:nvSpPr>
        <p:spPr>
          <a:xfrm>
            <a:off x="3456432" y="2011680"/>
            <a:ext cx="1097280" cy="566928"/>
          </a:xfrm>
          <a:prstGeom prst="rect">
            <a:avLst/>
          </a:prstGeom>
          <a:noFill/>
          <a:ln/>
        </p:spPr>
        <p:txBody>
          <a:bodyPr wrap="square" lIns="0" tIns="0" rIns="0" bIns="0" rtlCol="0" anchor="t"/>
          <a:lstStyle/>
          <a:p>
            <a:pPr indent="0" marL="0">
              <a:buNone/>
            </a:pPr>
            <a:r>
              <a:rPr lang="en-US" sz="1250" b="1" dirty="0">
                <a:solidFill>
                  <a:srgbClr val="0A0A0B"/>
                </a:solidFill>
              </a:rPr>
              <a:t>Meaning × age</a:t>
            </a:r>
            <a:endParaRPr lang="en-US" sz="1250" dirty="0"/>
          </a:p>
        </p:txBody>
      </p:sp>
      <p:sp>
        <p:nvSpPr>
          <p:cNvPr id="18" name="Text 15"/>
          <p:cNvSpPr txBox="1"/>
          <p:nvPr/>
        </p:nvSpPr>
        <p:spPr>
          <a:xfrm>
            <a:off x="3456432" y="2606040"/>
            <a:ext cx="1115568" cy="1097280"/>
          </a:xfrm>
          <a:prstGeom prst="rect">
            <a:avLst/>
          </a:prstGeom>
          <a:noFill/>
          <a:ln/>
        </p:spPr>
        <p:txBody>
          <a:bodyPr wrap="square" lIns="0" tIns="0" rIns="0" bIns="0" rtlCol="0" anchor="t"/>
          <a:lstStyle/>
          <a:p>
            <a:pPr indent="0" marL="0">
              <a:buNone/>
            </a:pPr>
            <a:r>
              <a:rPr lang="en-US" sz="950" dirty="0">
                <a:solidFill>
                  <a:srgbClr val="55555C"/>
                </a:solidFill>
              </a:rPr>
              <a:t>Cosine similarity, faded by age (a body note halves in a week); the top notes</a:t>
            </a:r>
            <a:endParaRPr lang="en-US" sz="950" dirty="0"/>
          </a:p>
        </p:txBody>
      </p:sp>
      <p:sp>
        <p:nvSpPr>
          <p:cNvPr id="19" name="Shape 16"/>
          <p:cNvSpPr/>
          <p:nvPr/>
        </p:nvSpPr>
        <p:spPr>
          <a:xfrm>
            <a:off x="4654296" y="2715768"/>
            <a:ext cx="82296" cy="0"/>
          </a:xfrm>
          <a:prstGeom prst="line">
            <a:avLst/>
          </a:prstGeom>
          <a:noFill/>
          <a:ln w="22225">
            <a:solidFill>
              <a:srgbClr val="8A8A92"/>
            </a:solidFill>
            <a:prstDash val="solid"/>
            <a:tailEnd type="triangle"/>
          </a:ln>
        </p:spPr>
      </p:sp>
      <p:sp>
        <p:nvSpPr>
          <p:cNvPr id="20" name="Shape 17"/>
          <p:cNvSpPr/>
          <p:nvPr/>
        </p:nvSpPr>
        <p:spPr>
          <a:xfrm>
            <a:off x="4745736" y="1691640"/>
            <a:ext cx="1298448" cy="2057400"/>
          </a:xfrm>
          <a:prstGeom prst="roundRect">
            <a:avLst>
              <a:gd name="adj" fmla="val 8451"/>
            </a:avLst>
          </a:prstGeom>
          <a:solidFill>
            <a:srgbClr val="E9F3EC"/>
          </a:solidFill>
          <a:ln w="12700">
            <a:solidFill>
              <a:srgbClr val="E9F3EC"/>
            </a:solidFill>
            <a:prstDash val="solid"/>
          </a:ln>
        </p:spPr>
      </p:sp>
      <p:sp>
        <p:nvSpPr>
          <p:cNvPr id="21" name="Text 18"/>
          <p:cNvSpPr txBox="1"/>
          <p:nvPr/>
        </p:nvSpPr>
        <p:spPr>
          <a:xfrm>
            <a:off x="4855464" y="1783080"/>
            <a:ext cx="1097280" cy="201168"/>
          </a:xfrm>
          <a:prstGeom prst="rect">
            <a:avLst/>
          </a:prstGeom>
          <a:noFill/>
          <a:ln/>
        </p:spPr>
        <p:txBody>
          <a:bodyPr wrap="square" lIns="0" tIns="0" rIns="0" bIns="0" rtlCol="0" anchor="t"/>
          <a:lstStyle/>
          <a:p>
            <a:pPr indent="0" marL="0">
              <a:buNone/>
            </a:pPr>
            <a:r>
              <a:rPr lang="en-US" sz="950" b="1" spc="100" kern="0" dirty="0">
                <a:solidFill>
                  <a:srgbClr val="0A7F44"/>
                </a:solidFill>
              </a:rPr>
              <a:t>4 · GROUND</a:t>
            </a:r>
            <a:endParaRPr lang="en-US" sz="950" dirty="0"/>
          </a:p>
        </p:txBody>
      </p:sp>
      <p:sp>
        <p:nvSpPr>
          <p:cNvPr id="22" name="Text 19"/>
          <p:cNvSpPr txBox="1"/>
          <p:nvPr/>
        </p:nvSpPr>
        <p:spPr>
          <a:xfrm>
            <a:off x="4855464" y="2011680"/>
            <a:ext cx="1097280" cy="566928"/>
          </a:xfrm>
          <a:prstGeom prst="rect">
            <a:avLst/>
          </a:prstGeom>
          <a:noFill/>
          <a:ln/>
        </p:spPr>
        <p:txBody>
          <a:bodyPr wrap="square" lIns="0" tIns="0" rIns="0" bIns="0" rtlCol="0" anchor="t"/>
          <a:lstStyle/>
          <a:p>
            <a:pPr indent="0" marL="0">
              <a:buNone/>
            </a:pPr>
            <a:r>
              <a:rPr lang="en-US" sz="1250" b="1" dirty="0">
                <a:solidFill>
                  <a:srgbClr val="0A0A0B"/>
                </a:solidFill>
              </a:rPr>
              <a:t>Plan, with citations</a:t>
            </a:r>
            <a:endParaRPr lang="en-US" sz="1250" dirty="0"/>
          </a:p>
        </p:txBody>
      </p:sp>
      <p:sp>
        <p:nvSpPr>
          <p:cNvPr id="23" name="Text 20"/>
          <p:cNvSpPr txBox="1"/>
          <p:nvPr/>
        </p:nvSpPr>
        <p:spPr>
          <a:xfrm>
            <a:off x="4855464" y="2606040"/>
            <a:ext cx="1115568" cy="1097280"/>
          </a:xfrm>
          <a:prstGeom prst="rect">
            <a:avLst/>
          </a:prstGeom>
          <a:noFill/>
          <a:ln/>
        </p:spPr>
        <p:txBody>
          <a:bodyPr wrap="square" lIns="0" tIns="0" rIns="0" bIns="0" rtlCol="0" anchor="t"/>
          <a:lstStyle/>
          <a:p>
            <a:pPr indent="0" marL="0">
              <a:buNone/>
            </a:pPr>
            <a:r>
              <a:rPr lang="en-US" sz="950" dirty="0">
                <a:solidFill>
                  <a:srgbClr val="55555C"/>
                </a:solidFill>
              </a:rPr>
              <a:t>Muse Glimmer plans from them; code's rules cite their notes, checked</a:t>
            </a:r>
            <a:endParaRPr lang="en-US" sz="950" dirty="0"/>
          </a:p>
        </p:txBody>
      </p:sp>
      <p:sp>
        <p:nvSpPr>
          <p:cNvPr id="24" name="Shape 21"/>
          <p:cNvSpPr/>
          <p:nvPr/>
        </p:nvSpPr>
        <p:spPr>
          <a:xfrm>
            <a:off x="548640" y="3931920"/>
            <a:ext cx="5486400" cy="1051560"/>
          </a:xfrm>
          <a:prstGeom prst="roundRect">
            <a:avLst>
              <a:gd name="adj" fmla="val 10435"/>
            </a:avLst>
          </a:prstGeom>
          <a:solidFill>
            <a:srgbClr val="FBF3E6"/>
          </a:solidFill>
          <a:ln w="12700">
            <a:solidFill>
              <a:srgbClr val="FBF3E6"/>
            </a:solidFill>
            <a:prstDash val="solid"/>
          </a:ln>
        </p:spPr>
      </p:sp>
      <p:sp>
        <p:nvSpPr>
          <p:cNvPr id="25" name="Text 22"/>
          <p:cNvSpPr txBox="1"/>
          <p:nvPr/>
        </p:nvSpPr>
        <p:spPr>
          <a:xfrm>
            <a:off x="731520" y="4023360"/>
            <a:ext cx="5120640" cy="274320"/>
          </a:xfrm>
          <a:prstGeom prst="rect">
            <a:avLst/>
          </a:prstGeom>
          <a:noFill/>
          <a:ln/>
        </p:spPr>
        <p:txBody>
          <a:bodyPr wrap="square" lIns="0" tIns="0" rIns="0" bIns="0" rtlCol="0" anchor="t"/>
          <a:lstStyle/>
          <a:p>
            <a:pPr indent="0" marL="0">
              <a:buNone/>
            </a:pPr>
            <a:r>
              <a:rPr lang="en-US" sz="1300" b="1" dirty="0">
                <a:solidFill>
                  <a:srgbClr val="B26A00"/>
                </a:solidFill>
              </a:rPr>
              <a:t>Notes that change</a:t>
            </a:r>
            <a:endParaRPr lang="en-US" sz="1300" dirty="0"/>
          </a:p>
        </p:txBody>
      </p:sp>
      <p:sp>
        <p:nvSpPr>
          <p:cNvPr id="26" name="Text 23"/>
          <p:cNvSpPr txBox="1"/>
          <p:nvPr/>
        </p:nvSpPr>
        <p:spPr>
          <a:xfrm>
            <a:off x="731520" y="4315968"/>
            <a:ext cx="5120640" cy="640080"/>
          </a:xfrm>
          <a:prstGeom prst="rect">
            <a:avLst/>
          </a:prstGeom>
          <a:noFill/>
          <a:ln/>
        </p:spPr>
        <p:txBody>
          <a:bodyPr wrap="square" lIns="0" tIns="0" rIns="0" bIns="0" rtlCol="0" anchor="t"/>
          <a:lstStyle/>
          <a:p>
            <a:pPr indent="0" marL="0">
              <a:buNone/>
            </a:pPr>
            <a:r>
              <a:rPr lang="en-US" sz="1050" dirty="0">
                <a:solidFill>
                  <a:srgbClr val="0A0A0B"/>
                </a:solidFill>
              </a:rPr>
              <a:t>A new note is checked against the old ones it may change: added, replacing them, or the same. A replaced note is kept but never recalled, so "leave Tomás out" gives way to "Tomás is fine again".</a:t>
            </a:r>
            <a:endParaRPr lang="en-US" sz="1050" dirty="0"/>
          </a:p>
        </p:txBody>
      </p:sp>
      <p:sp>
        <p:nvSpPr>
          <p:cNvPr id="27" name="Shape 24"/>
          <p:cNvSpPr/>
          <p:nvPr/>
        </p:nvSpPr>
        <p:spPr>
          <a:xfrm>
            <a:off x="548640" y="5120640"/>
            <a:ext cx="5486400" cy="1051560"/>
          </a:xfrm>
          <a:prstGeom prst="roundRect">
            <a:avLst>
              <a:gd name="adj" fmla="val 10435"/>
            </a:avLst>
          </a:prstGeom>
          <a:solidFill>
            <a:srgbClr val="F6F7F8"/>
          </a:solidFill>
          <a:ln w="12700">
            <a:solidFill>
              <a:srgbClr val="F6F7F8"/>
            </a:solidFill>
            <a:prstDash val="solid"/>
          </a:ln>
        </p:spPr>
      </p:sp>
      <p:sp>
        <p:nvSpPr>
          <p:cNvPr id="28" name="Text 25"/>
          <p:cNvSpPr txBox="1"/>
          <p:nvPr/>
        </p:nvSpPr>
        <p:spPr>
          <a:xfrm>
            <a:off x="731520" y="5212080"/>
            <a:ext cx="5120640" cy="274320"/>
          </a:xfrm>
          <a:prstGeom prst="rect">
            <a:avLst/>
          </a:prstGeom>
          <a:noFill/>
          <a:ln/>
        </p:spPr>
        <p:txBody>
          <a:bodyPr wrap="square" lIns="0" tIns="0" rIns="0" bIns="0" rtlCol="0" anchor="t"/>
          <a:lstStyle/>
          <a:p>
            <a:pPr indent="0" marL="0">
              <a:buNone/>
            </a:pPr>
            <a:r>
              <a:rPr lang="en-US" sz="1300" b="1" dirty="0">
                <a:solidFill>
                  <a:srgbClr val="0A0A0B"/>
                </a:solidFill>
              </a:rPr>
              <a:t>End to end</a:t>
            </a:r>
            <a:endParaRPr lang="en-US" sz="1300" dirty="0"/>
          </a:p>
        </p:txBody>
      </p:sp>
      <p:sp>
        <p:nvSpPr>
          <p:cNvPr id="29" name="Text 26"/>
          <p:cNvSpPr txBox="1"/>
          <p:nvPr/>
        </p:nvSpPr>
        <p:spPr>
          <a:xfrm>
            <a:off x="731520" y="5504688"/>
            <a:ext cx="5120640" cy="640080"/>
          </a:xfrm>
          <a:prstGeom prst="rect">
            <a:avLst/>
          </a:prstGeom>
          <a:noFill/>
          <a:ln/>
        </p:spPr>
        <p:txBody>
          <a:bodyPr wrap="square" lIns="0" tIns="0" rIns="0" bIns="0" rtlCol="0" anchor="t"/>
          <a:lstStyle/>
          <a:p>
            <a:pPr indent="0" marL="0">
              <a:buNone/>
            </a:pPr>
            <a:r>
              <a:rPr lang="en-US" sz="1050" dirty="0">
                <a:solidFill>
                  <a:srgbClr val="55555C"/>
                </a:solidFill>
              </a:rPr>
              <a:t>Two weeks after the player said to leave Tomás out, the planner left him out in 3 of 3 weeks with memory on, and in 0 of 3 with it off (a small test).</a:t>
            </a:r>
            <a:endParaRPr lang="en-US" sz="1050" dirty="0"/>
          </a:p>
        </p:txBody>
      </p:sp>
      <p:graphicFrame>
        <p:nvGraphicFramePr>
          <p:cNvPr id="30" name="Chart 0" descr=""/>
          <p:cNvGraphicFramePr/>
          <p:nvPr/>
        </p:nvGraphicFramePr>
        <p:xfrm>
          <a:off x="6309360" y="1600200"/>
          <a:ext cx="5349240" cy="2743200"/>
        </p:xfrm>
        <a:graphic xmlns:a="http://schemas.openxmlformats.org/drawingml/2006/main">
          <a:graphicData uri="http://schemas.openxmlformats.org/drawingml/2006/chart">
            <c:chart xmlns:c="http://schemas.openxmlformats.org/drawingml/2006/chart" r:id="rId1"/>
          </a:graphicData>
        </a:graphic>
      </p:graphicFrame>
      <p:sp>
        <p:nvSpPr>
          <p:cNvPr id="31" name="Shape 27"/>
          <p:cNvSpPr/>
          <p:nvPr/>
        </p:nvSpPr>
        <p:spPr>
          <a:xfrm>
            <a:off x="6309360" y="4572000"/>
            <a:ext cx="2624328" cy="1600200"/>
          </a:xfrm>
          <a:prstGeom prst="roundRect">
            <a:avLst>
              <a:gd name="adj" fmla="val 6857"/>
            </a:avLst>
          </a:prstGeom>
          <a:solidFill>
            <a:srgbClr val="E9F3EC"/>
          </a:solidFill>
          <a:ln w="12700">
            <a:solidFill>
              <a:srgbClr val="E9F3EC"/>
            </a:solidFill>
            <a:prstDash val="solid"/>
          </a:ln>
        </p:spPr>
      </p:sp>
      <p:sp>
        <p:nvSpPr>
          <p:cNvPr id="32" name="Text 28"/>
          <p:cNvSpPr txBox="1"/>
          <p:nvPr/>
        </p:nvSpPr>
        <p:spPr>
          <a:xfrm>
            <a:off x="6492240" y="4681728"/>
            <a:ext cx="2286000" cy="548640"/>
          </a:xfrm>
          <a:prstGeom prst="rect">
            <a:avLst/>
          </a:prstGeom>
          <a:noFill/>
          <a:ln/>
        </p:spPr>
        <p:txBody>
          <a:bodyPr wrap="square" lIns="0" tIns="0" rIns="0" bIns="0" rtlCol="0" anchor="t"/>
          <a:lstStyle/>
          <a:p>
            <a:pPr indent="0" marL="0">
              <a:buNone/>
            </a:pPr>
            <a:r>
              <a:rPr lang="en-US" sz="2600" b="1" dirty="0">
                <a:solidFill>
                  <a:srgbClr val="0A7F44"/>
                </a:solidFill>
              </a:rPr>
              <a:t>0 vs 15</a:t>
            </a:r>
            <a:endParaRPr lang="en-US" sz="2600" dirty="0"/>
          </a:p>
        </p:txBody>
      </p:sp>
      <p:sp>
        <p:nvSpPr>
          <p:cNvPr id="33" name="Text 29"/>
          <p:cNvSpPr txBox="1"/>
          <p:nvPr/>
        </p:nvSpPr>
        <p:spPr>
          <a:xfrm>
            <a:off x="6492240" y="5257800"/>
            <a:ext cx="2286000" cy="822960"/>
          </a:xfrm>
          <a:prstGeom prst="rect">
            <a:avLst/>
          </a:prstGeom>
          <a:noFill/>
          <a:ln/>
        </p:spPr>
        <p:txBody>
          <a:bodyPr wrap="square" lIns="0" tIns="0" rIns="0" bIns="0" rtlCol="0" anchor="t"/>
          <a:lstStyle/>
          <a:p>
            <a:pPr indent="0" marL="0">
              <a:buNone/>
            </a:pPr>
            <a:r>
              <a:rPr lang="en-US" sz="1050" dirty="0">
                <a:solidFill>
                  <a:srgbClr val="55555C"/>
                </a:solidFill>
              </a:rPr>
              <a:t>out-of-date notes still taken as true, with updates against append-only</a:t>
            </a:r>
            <a:endParaRPr lang="en-US" sz="1050" dirty="0"/>
          </a:p>
        </p:txBody>
      </p:sp>
      <p:sp>
        <p:nvSpPr>
          <p:cNvPr id="34" name="Shape 30"/>
          <p:cNvSpPr/>
          <p:nvPr/>
        </p:nvSpPr>
        <p:spPr>
          <a:xfrm>
            <a:off x="9034272" y="4572000"/>
            <a:ext cx="2624328" cy="1600200"/>
          </a:xfrm>
          <a:prstGeom prst="roundRect">
            <a:avLst>
              <a:gd name="adj" fmla="val 6857"/>
            </a:avLst>
          </a:prstGeom>
          <a:solidFill>
            <a:srgbClr val="F6F7F8"/>
          </a:solidFill>
          <a:ln w="12700">
            <a:solidFill>
              <a:srgbClr val="F6F7F8"/>
            </a:solidFill>
            <a:prstDash val="solid"/>
          </a:ln>
        </p:spPr>
      </p:sp>
      <p:sp>
        <p:nvSpPr>
          <p:cNvPr id="35" name="Text 31"/>
          <p:cNvSpPr txBox="1"/>
          <p:nvPr/>
        </p:nvSpPr>
        <p:spPr>
          <a:xfrm>
            <a:off x="9217152" y="4681728"/>
            <a:ext cx="2286000" cy="548640"/>
          </a:xfrm>
          <a:prstGeom prst="rect">
            <a:avLst/>
          </a:prstGeom>
          <a:noFill/>
          <a:ln/>
        </p:spPr>
        <p:txBody>
          <a:bodyPr wrap="square" lIns="0" tIns="0" rIns="0" bIns="0" rtlCol="0" anchor="t"/>
          <a:lstStyle/>
          <a:p>
            <a:pPr indent="0" marL="0">
              <a:buNone/>
            </a:pPr>
            <a:r>
              <a:rPr lang="en-US" sz="2600" b="1" dirty="0">
                <a:solidFill>
                  <a:srgbClr val="0A0A0B"/>
                </a:solidFill>
              </a:rPr>
              <a:t>90.5%</a:t>
            </a:r>
            <a:endParaRPr lang="en-US" sz="2600" dirty="0"/>
          </a:p>
        </p:txBody>
      </p:sp>
      <p:sp>
        <p:nvSpPr>
          <p:cNvPr id="36" name="Text 32"/>
          <p:cNvSpPr txBox="1"/>
          <p:nvPr/>
        </p:nvSpPr>
        <p:spPr>
          <a:xfrm>
            <a:off x="9217152" y="5257800"/>
            <a:ext cx="2286000" cy="822960"/>
          </a:xfrm>
          <a:prstGeom prst="rect">
            <a:avLst/>
          </a:prstGeom>
          <a:noFill/>
          <a:ln/>
        </p:spPr>
        <p:txBody>
          <a:bodyPr wrap="square" lIns="0" tIns="0" rIns="0" bIns="0" rtlCol="0" anchor="t"/>
          <a:lstStyle/>
          <a:p>
            <a:pPr indent="0" marL="0">
              <a:buNone/>
            </a:pPr>
            <a:r>
              <a:rPr lang="en-US" sz="1050" dirty="0">
                <a:solidFill>
                  <a:srgbClr val="55555C"/>
                </a:solidFill>
              </a:rPr>
              <a:t>of the rules notes ask for kept right (append-only: 52.4%)</a:t>
            </a:r>
            <a:endParaRPr lang="en-US" sz="105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AGENT ARCHITECTURE · TESTED IN CODE AND SIMULATION</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An agent that asks, doubts, abstracts and proves</a:t>
            </a:r>
            <a:endParaRPr lang="en-US" sz="3200" dirty="0"/>
          </a:p>
        </p:txBody>
      </p:sp>
      <p:sp>
        <p:nvSpPr>
          <p:cNvPr id="5" name="Shape 2"/>
          <p:cNvSpPr/>
          <p:nvPr/>
        </p:nvSpPr>
        <p:spPr>
          <a:xfrm>
            <a:off x="548640" y="1645920"/>
            <a:ext cx="5440680" cy="2194560"/>
          </a:xfrm>
          <a:prstGeom prst="roundRect">
            <a:avLst>
              <a:gd name="adj" fmla="val 5000"/>
            </a:avLst>
          </a:prstGeom>
          <a:solidFill>
            <a:srgbClr val="FFFFFF"/>
          </a:solidFill>
          <a:ln w="12700">
            <a:solidFill>
              <a:srgbClr val="DCDCE0"/>
            </a:solidFill>
            <a:prstDash val="solid"/>
          </a:ln>
        </p:spPr>
      </p:sp>
      <p:sp>
        <p:nvSpPr>
          <p:cNvPr id="6" name="Text 3"/>
          <p:cNvSpPr txBox="1"/>
          <p:nvPr/>
        </p:nvSpPr>
        <p:spPr>
          <a:xfrm>
            <a:off x="731520" y="1783080"/>
            <a:ext cx="1828800" cy="228600"/>
          </a:xfrm>
          <a:prstGeom prst="rect">
            <a:avLst/>
          </a:prstGeom>
          <a:noFill/>
          <a:ln/>
        </p:spPr>
        <p:txBody>
          <a:bodyPr wrap="square" lIns="0" tIns="0" rIns="0" bIns="0" rtlCol="0" anchor="t"/>
          <a:lstStyle/>
          <a:p>
            <a:pPr indent="0" marL="0">
              <a:buNone/>
            </a:pPr>
            <a:r>
              <a:rPr lang="en-US" sz="1000" b="1" spc="100" kern="0" dirty="0">
                <a:solidFill>
                  <a:srgbClr val="0A7F44"/>
                </a:solidFill>
              </a:rPr>
              <a:t>ASKS</a:t>
            </a:r>
            <a:endParaRPr lang="en-US" sz="1000" dirty="0"/>
          </a:p>
        </p:txBody>
      </p:sp>
      <p:sp>
        <p:nvSpPr>
          <p:cNvPr id="7" name="Text 4"/>
          <p:cNvSpPr txBox="1"/>
          <p:nvPr/>
        </p:nvSpPr>
        <p:spPr>
          <a:xfrm>
            <a:off x="731520" y="2029968"/>
            <a:ext cx="5074920" cy="320040"/>
          </a:xfrm>
          <a:prstGeom prst="rect">
            <a:avLst/>
          </a:prstGeom>
          <a:noFill/>
          <a:ln/>
        </p:spPr>
        <p:txBody>
          <a:bodyPr wrap="square" lIns="0" tIns="0" rIns="0" bIns="0" rtlCol="0" anchor="t"/>
          <a:lstStyle/>
          <a:p>
            <a:pPr indent="0" marL="0">
              <a:buNone/>
            </a:pPr>
            <a:r>
              <a:rPr lang="en-US" sz="1500" b="1" dirty="0">
                <a:solidFill>
                  <a:srgbClr val="0A0A0B"/>
                </a:solidFill>
              </a:rPr>
              <a:t>Active epistemic querying</a:t>
            </a:r>
            <a:endParaRPr lang="en-US" sz="1500" dirty="0"/>
          </a:p>
        </p:txBody>
      </p:sp>
      <p:sp>
        <p:nvSpPr>
          <p:cNvPr id="8" name="Text 5"/>
          <p:cNvSpPr txBox="1"/>
          <p:nvPr/>
        </p:nvSpPr>
        <p:spPr>
          <a:xfrm>
            <a:off x="731520" y="2395728"/>
            <a:ext cx="5074920" cy="777240"/>
          </a:xfrm>
          <a:prstGeom prst="rect">
            <a:avLst/>
          </a:prstGeom>
          <a:noFill/>
          <a:ln/>
        </p:spPr>
        <p:txBody>
          <a:bodyPr wrap="square" lIns="0" tIns="0" rIns="0" bIns="0" rtlCol="0" anchor="t"/>
          <a:lstStyle/>
          <a:p>
            <a:pPr indent="0" marL="0">
              <a:buNone/>
            </a:pPr>
            <a:r>
              <a:rPr lang="en-US" sz="1050" dirty="0">
                <a:solidFill>
                  <a:srgbClr val="55555C"/>
                </a:solidFill>
              </a:rPr>
              <a:t>When talks fail, a Beta posterior per member and hour (from yes/no it has seen, never a calendar) times their chance of a yes picks the one question that most raises the chance of a game.</a:t>
            </a:r>
            <a:endParaRPr lang="en-US" sz="1050" dirty="0"/>
          </a:p>
        </p:txBody>
      </p:sp>
      <p:sp>
        <p:nvSpPr>
          <p:cNvPr id="9" name="Shape 6"/>
          <p:cNvSpPr/>
          <p:nvPr/>
        </p:nvSpPr>
        <p:spPr>
          <a:xfrm>
            <a:off x="731520" y="3218688"/>
            <a:ext cx="5074920" cy="502920"/>
          </a:xfrm>
          <a:prstGeom prst="roundRect">
            <a:avLst>
              <a:gd name="adj" fmla="val 21818"/>
            </a:avLst>
          </a:prstGeom>
          <a:solidFill>
            <a:srgbClr val="E9F3EC"/>
          </a:solidFill>
          <a:ln w="12700">
            <a:solidFill>
              <a:srgbClr val="E9F3EC"/>
            </a:solidFill>
            <a:prstDash val="solid"/>
          </a:ln>
        </p:spPr>
      </p:sp>
      <p:sp>
        <p:nvSpPr>
          <p:cNvPr id="10" name="Text 7"/>
          <p:cNvSpPr txBox="1"/>
          <p:nvPr/>
        </p:nvSpPr>
        <p:spPr>
          <a:xfrm>
            <a:off x="841248" y="3218688"/>
            <a:ext cx="4855464" cy="502920"/>
          </a:xfrm>
          <a:prstGeom prst="rect">
            <a:avLst/>
          </a:prstGeom>
          <a:noFill/>
          <a:ln/>
        </p:spPr>
        <p:txBody>
          <a:bodyPr wrap="square" lIns="0" tIns="0" rIns="0" bIns="0" rtlCol="0" anchor="ctr"/>
          <a:lstStyle/>
          <a:p>
            <a:pPr indent="0" marL="0">
              <a:buNone/>
            </a:pPr>
            <a:r>
              <a:rPr lang="en-US" sz="1050" b="1" dirty="0">
                <a:solidFill>
                  <a:srgbClr val="0A0A0B"/>
                </a:solidFill>
              </a:rPr>
              <a:t>One question, then a talk: 51.9% games, against 40.7% asking nothing, 44.4% a random question (20,000 simulated requests)</a:t>
            </a:r>
            <a:endParaRPr lang="en-US" sz="1050" dirty="0"/>
          </a:p>
        </p:txBody>
      </p:sp>
      <p:sp>
        <p:nvSpPr>
          <p:cNvPr id="11" name="Shape 8"/>
          <p:cNvSpPr/>
          <p:nvPr/>
        </p:nvSpPr>
        <p:spPr>
          <a:xfrm>
            <a:off x="6172200" y="1645920"/>
            <a:ext cx="5440680" cy="2194560"/>
          </a:xfrm>
          <a:prstGeom prst="roundRect">
            <a:avLst>
              <a:gd name="adj" fmla="val 5000"/>
            </a:avLst>
          </a:prstGeom>
          <a:solidFill>
            <a:srgbClr val="FFFFFF"/>
          </a:solidFill>
          <a:ln w="12700">
            <a:solidFill>
              <a:srgbClr val="DCDCE0"/>
            </a:solidFill>
            <a:prstDash val="solid"/>
          </a:ln>
        </p:spPr>
      </p:sp>
      <p:sp>
        <p:nvSpPr>
          <p:cNvPr id="12" name="Text 9"/>
          <p:cNvSpPr txBox="1"/>
          <p:nvPr/>
        </p:nvSpPr>
        <p:spPr>
          <a:xfrm>
            <a:off x="6355080" y="1783080"/>
            <a:ext cx="1828800" cy="228600"/>
          </a:xfrm>
          <a:prstGeom prst="rect">
            <a:avLst/>
          </a:prstGeom>
          <a:noFill/>
          <a:ln/>
        </p:spPr>
        <p:txBody>
          <a:bodyPr wrap="square" lIns="0" tIns="0" rIns="0" bIns="0" rtlCol="0" anchor="t"/>
          <a:lstStyle/>
          <a:p>
            <a:pPr indent="0" marL="0">
              <a:buNone/>
            </a:pPr>
            <a:r>
              <a:rPr lang="en-US" sz="1000" b="1" spc="100" kern="0" dirty="0">
                <a:solidFill>
                  <a:srgbClr val="B26A00"/>
                </a:solidFill>
              </a:rPr>
              <a:t>DOUBTS</a:t>
            </a:r>
            <a:endParaRPr lang="en-US" sz="1000" dirty="0"/>
          </a:p>
        </p:txBody>
      </p:sp>
      <p:sp>
        <p:nvSpPr>
          <p:cNvPr id="13" name="Text 10"/>
          <p:cNvSpPr txBox="1"/>
          <p:nvPr/>
        </p:nvSpPr>
        <p:spPr>
          <a:xfrm>
            <a:off x="6355080" y="2029968"/>
            <a:ext cx="5074920" cy="320040"/>
          </a:xfrm>
          <a:prstGeom prst="rect">
            <a:avLst/>
          </a:prstGeom>
          <a:noFill/>
          <a:ln/>
        </p:spPr>
        <p:txBody>
          <a:bodyPr wrap="square" lIns="0" tIns="0" rIns="0" bIns="0" rtlCol="0" anchor="t"/>
          <a:lstStyle/>
          <a:p>
            <a:pPr indent="0" marL="0">
              <a:buNone/>
            </a:pPr>
            <a:r>
              <a:rPr lang="en-US" sz="1500" b="1" dirty="0">
                <a:solidFill>
                  <a:srgbClr val="0A0A0B"/>
                </a:solidFill>
              </a:rPr>
              <a:t>A critic on every counter-offer</a:t>
            </a:r>
            <a:endParaRPr lang="en-US" sz="1500" dirty="0"/>
          </a:p>
        </p:txBody>
      </p:sp>
      <p:sp>
        <p:nvSpPr>
          <p:cNvPr id="14" name="Text 11"/>
          <p:cNvSpPr txBox="1"/>
          <p:nvPr/>
        </p:nvSpPr>
        <p:spPr>
          <a:xfrm>
            <a:off x="6355080" y="2395728"/>
            <a:ext cx="5074920" cy="777240"/>
          </a:xfrm>
          <a:prstGeom prst="rect">
            <a:avLst/>
          </a:prstGeom>
          <a:noFill/>
          <a:ln/>
        </p:spPr>
        <p:txBody>
          <a:bodyPr wrap="square" lIns="0" tIns="0" rIns="0" bIns="0" rtlCol="0" anchor="t"/>
          <a:lstStyle/>
          <a:p>
            <a:pPr indent="0" marL="0">
              <a:buNone/>
            </a:pPr>
            <a:r>
              <a:rPr lang="en-US" sz="1050" dirty="0">
                <a:solidFill>
                  <a:srgbClr val="55555C"/>
                </a:solidFill>
              </a:rPr>
              <a:t>Code reviews each counter for the player: more than two times asked in a talk is probing, and the player who keeps travelling furthest is not sent furthest again.</a:t>
            </a:r>
            <a:endParaRPr lang="en-US" sz="1050" dirty="0"/>
          </a:p>
        </p:txBody>
      </p:sp>
      <p:sp>
        <p:nvSpPr>
          <p:cNvPr id="15" name="Shape 12"/>
          <p:cNvSpPr/>
          <p:nvPr/>
        </p:nvSpPr>
        <p:spPr>
          <a:xfrm>
            <a:off x="6355080" y="3218688"/>
            <a:ext cx="5074920" cy="502920"/>
          </a:xfrm>
          <a:prstGeom prst="roundRect">
            <a:avLst>
              <a:gd name="adj" fmla="val 21818"/>
            </a:avLst>
          </a:prstGeom>
          <a:solidFill>
            <a:srgbClr val="FBF3E6"/>
          </a:solidFill>
          <a:ln w="12700">
            <a:solidFill>
              <a:srgbClr val="FBF3E6"/>
            </a:solidFill>
            <a:prstDash val="solid"/>
          </a:ln>
        </p:spPr>
      </p:sp>
      <p:sp>
        <p:nvSpPr>
          <p:cNvPr id="16" name="Text 13"/>
          <p:cNvSpPr txBox="1"/>
          <p:nvPr/>
        </p:nvSpPr>
        <p:spPr>
          <a:xfrm>
            <a:off x="6464808" y="3218688"/>
            <a:ext cx="4855464" cy="502920"/>
          </a:xfrm>
          <a:prstGeom prst="rect">
            <a:avLst/>
          </a:prstGeom>
          <a:noFill/>
          <a:ln/>
        </p:spPr>
        <p:txBody>
          <a:bodyPr wrap="square" lIns="0" tIns="0" rIns="0" bIns="0" rtlCol="0" anchor="ctr"/>
          <a:lstStyle/>
          <a:p>
            <a:pPr indent="0" marL="0">
              <a:buNone/>
            </a:pPr>
            <a:r>
              <a:rPr lang="en-US" sz="1050" b="1" dirty="0">
                <a:solidFill>
                  <a:srgbClr val="0A0A0B"/>
                </a:solidFill>
              </a:rPr>
              <a:t>Probing and unfair counters refused, with the reason in the trail</a:t>
            </a:r>
            <a:endParaRPr lang="en-US" sz="1050" dirty="0"/>
          </a:p>
        </p:txBody>
      </p:sp>
      <p:sp>
        <p:nvSpPr>
          <p:cNvPr id="17" name="Shape 14"/>
          <p:cNvSpPr/>
          <p:nvPr/>
        </p:nvSpPr>
        <p:spPr>
          <a:xfrm>
            <a:off x="548640" y="3977640"/>
            <a:ext cx="5440680" cy="2194560"/>
          </a:xfrm>
          <a:prstGeom prst="roundRect">
            <a:avLst>
              <a:gd name="adj" fmla="val 5000"/>
            </a:avLst>
          </a:prstGeom>
          <a:solidFill>
            <a:srgbClr val="FFFFFF"/>
          </a:solidFill>
          <a:ln w="12700">
            <a:solidFill>
              <a:srgbClr val="DCDCE0"/>
            </a:solidFill>
            <a:prstDash val="solid"/>
          </a:ln>
        </p:spPr>
      </p:sp>
      <p:sp>
        <p:nvSpPr>
          <p:cNvPr id="18" name="Text 15"/>
          <p:cNvSpPr txBox="1"/>
          <p:nvPr/>
        </p:nvSpPr>
        <p:spPr>
          <a:xfrm>
            <a:off x="731520" y="4114800"/>
            <a:ext cx="1828800" cy="228600"/>
          </a:xfrm>
          <a:prstGeom prst="rect">
            <a:avLst/>
          </a:prstGeom>
          <a:noFill/>
          <a:ln/>
        </p:spPr>
        <p:txBody>
          <a:bodyPr wrap="square" lIns="0" tIns="0" rIns="0" bIns="0" rtlCol="0" anchor="t"/>
          <a:lstStyle/>
          <a:p>
            <a:pPr indent="0" marL="0">
              <a:buNone/>
            </a:pPr>
            <a:r>
              <a:rPr lang="en-US" sz="1000" b="1" spc="100" kern="0" dirty="0">
                <a:solidFill>
                  <a:srgbClr val="0064E0"/>
                </a:solidFill>
              </a:rPr>
              <a:t>ABSTRACTS</a:t>
            </a:r>
            <a:endParaRPr lang="en-US" sz="1000" dirty="0"/>
          </a:p>
        </p:txBody>
      </p:sp>
      <p:sp>
        <p:nvSpPr>
          <p:cNvPr id="19" name="Text 16"/>
          <p:cNvSpPr txBox="1"/>
          <p:nvPr/>
        </p:nvSpPr>
        <p:spPr>
          <a:xfrm>
            <a:off x="731520" y="4361688"/>
            <a:ext cx="5074920" cy="320040"/>
          </a:xfrm>
          <a:prstGeom prst="rect">
            <a:avLst/>
          </a:prstGeom>
          <a:noFill/>
          <a:ln/>
        </p:spPr>
        <p:txBody>
          <a:bodyPr wrap="square" lIns="0" tIns="0" rIns="0" bIns="0" rtlCol="0" anchor="t"/>
          <a:lstStyle/>
          <a:p>
            <a:pPr indent="0" marL="0">
              <a:buNone/>
            </a:pPr>
            <a:r>
              <a:rPr lang="en-US" sz="1500" b="1" dirty="0">
                <a:solidFill>
                  <a:srgbClr val="0A0A0B"/>
                </a:solidFill>
              </a:rPr>
              <a:t>From episodes to beliefs</a:t>
            </a:r>
            <a:endParaRPr lang="en-US" sz="1500" dirty="0"/>
          </a:p>
        </p:txBody>
      </p:sp>
      <p:sp>
        <p:nvSpPr>
          <p:cNvPr id="20" name="Text 17"/>
          <p:cNvSpPr txBox="1"/>
          <p:nvPr/>
        </p:nvSpPr>
        <p:spPr>
          <a:xfrm>
            <a:off x="731520" y="4727448"/>
            <a:ext cx="5074920" cy="777240"/>
          </a:xfrm>
          <a:prstGeom prst="rect">
            <a:avLst/>
          </a:prstGeom>
          <a:noFill/>
          <a:ln/>
        </p:spPr>
        <p:txBody>
          <a:bodyPr wrap="square" lIns="0" tIns="0" rIns="0" bIns="0" rtlCol="0" anchor="t"/>
          <a:lstStyle/>
          <a:p>
            <a:pPr indent="0" marL="0">
              <a:buNone/>
            </a:pPr>
            <a:r>
              <a:rPr lang="en-US" sz="1050" dirty="0">
                <a:solidFill>
                  <a:srgbClr val="55555C"/>
                </a:solidFill>
              </a:rPr>
              <a:t>Weekly, Glimmer turns scattered notes into standing beliefs; each must cite live notes, two to generalize, and say no number they do not.</a:t>
            </a:r>
            <a:endParaRPr lang="en-US" sz="1050" dirty="0"/>
          </a:p>
        </p:txBody>
      </p:sp>
      <p:sp>
        <p:nvSpPr>
          <p:cNvPr id="21" name="Shape 18"/>
          <p:cNvSpPr/>
          <p:nvPr/>
        </p:nvSpPr>
        <p:spPr>
          <a:xfrm>
            <a:off x="731520" y="5550408"/>
            <a:ext cx="5074920" cy="502920"/>
          </a:xfrm>
          <a:prstGeom prst="roundRect">
            <a:avLst>
              <a:gd name="adj" fmla="val 21818"/>
            </a:avLst>
          </a:prstGeom>
          <a:solidFill>
            <a:srgbClr val="E8F1FD"/>
          </a:solidFill>
          <a:ln w="12700">
            <a:solidFill>
              <a:srgbClr val="E8F1FD"/>
            </a:solidFill>
            <a:prstDash val="solid"/>
          </a:ln>
        </p:spPr>
      </p:sp>
      <p:sp>
        <p:nvSpPr>
          <p:cNvPr id="22" name="Text 19"/>
          <p:cNvSpPr txBox="1"/>
          <p:nvPr/>
        </p:nvSpPr>
        <p:spPr>
          <a:xfrm>
            <a:off x="841248" y="5550408"/>
            <a:ext cx="4855464" cy="502920"/>
          </a:xfrm>
          <a:prstGeom prst="rect">
            <a:avLst/>
          </a:prstGeom>
          <a:noFill/>
          <a:ln/>
        </p:spPr>
        <p:txBody>
          <a:bodyPr wrap="square" lIns="0" tIns="0" rIns="0" bIns="0" rtlCol="0" anchor="ctr"/>
          <a:lstStyle/>
          <a:p>
            <a:pPr indent="0" marL="0">
              <a:buNone/>
            </a:pPr>
            <a:r>
              <a:rPr lang="en-US" sz="1050" b="1" dirty="0">
                <a:solidFill>
                  <a:srgbClr val="0A0A0B"/>
                </a:solidFill>
              </a:rPr>
              <a:t>10 notes to 3 beliefs, each on two notes, none dropped (Glimmer, 42 s)</a:t>
            </a:r>
            <a:endParaRPr lang="en-US" sz="1050" dirty="0"/>
          </a:p>
        </p:txBody>
      </p:sp>
      <p:sp>
        <p:nvSpPr>
          <p:cNvPr id="23" name="Shape 20"/>
          <p:cNvSpPr/>
          <p:nvPr/>
        </p:nvSpPr>
        <p:spPr>
          <a:xfrm>
            <a:off x="6172200" y="3977640"/>
            <a:ext cx="5440680" cy="2194560"/>
          </a:xfrm>
          <a:prstGeom prst="roundRect">
            <a:avLst>
              <a:gd name="adj" fmla="val 5000"/>
            </a:avLst>
          </a:prstGeom>
          <a:solidFill>
            <a:srgbClr val="FFFFFF"/>
          </a:solidFill>
          <a:ln w="12700">
            <a:solidFill>
              <a:srgbClr val="DCDCE0"/>
            </a:solidFill>
            <a:prstDash val="solid"/>
          </a:ln>
        </p:spPr>
      </p:sp>
      <p:sp>
        <p:nvSpPr>
          <p:cNvPr id="24" name="Text 21"/>
          <p:cNvSpPr txBox="1"/>
          <p:nvPr/>
        </p:nvSpPr>
        <p:spPr>
          <a:xfrm>
            <a:off x="6355080" y="4114800"/>
            <a:ext cx="1828800" cy="228600"/>
          </a:xfrm>
          <a:prstGeom prst="rect">
            <a:avLst/>
          </a:prstGeom>
          <a:noFill/>
          <a:ln/>
        </p:spPr>
        <p:txBody>
          <a:bodyPr wrap="square" lIns="0" tIns="0" rIns="0" bIns="0" rtlCol="0" anchor="t"/>
          <a:lstStyle/>
          <a:p>
            <a:pPr indent="0" marL="0">
              <a:buNone/>
            </a:pPr>
            <a:r>
              <a:rPr lang="en-US" sz="1000" b="1" spc="100" kern="0" dirty="0">
                <a:solidFill>
                  <a:srgbClr val="D1352B"/>
                </a:solidFill>
              </a:rPr>
              <a:t>PROVES</a:t>
            </a:r>
            <a:endParaRPr lang="en-US" sz="1000" dirty="0"/>
          </a:p>
        </p:txBody>
      </p:sp>
      <p:sp>
        <p:nvSpPr>
          <p:cNvPr id="25" name="Text 22"/>
          <p:cNvSpPr txBox="1"/>
          <p:nvPr/>
        </p:nvSpPr>
        <p:spPr>
          <a:xfrm>
            <a:off x="6355080" y="4361688"/>
            <a:ext cx="5074920" cy="320040"/>
          </a:xfrm>
          <a:prstGeom prst="rect">
            <a:avLst/>
          </a:prstGeom>
          <a:noFill/>
          <a:ln/>
        </p:spPr>
        <p:txBody>
          <a:bodyPr wrap="square" lIns="0" tIns="0" rIns="0" bIns="0" rtlCol="0" anchor="t"/>
          <a:lstStyle/>
          <a:p>
            <a:pPr indent="0" marL="0">
              <a:buNone/>
            </a:pPr>
            <a:r>
              <a:rPr lang="en-US" sz="1500" b="1" dirty="0">
                <a:solidFill>
                  <a:srgbClr val="0A0A0B"/>
                </a:solidFill>
              </a:rPr>
              <a:t>Proof of consent</a:t>
            </a:r>
            <a:endParaRPr lang="en-US" sz="1500" dirty="0"/>
          </a:p>
        </p:txBody>
      </p:sp>
      <p:sp>
        <p:nvSpPr>
          <p:cNvPr id="26" name="Text 23"/>
          <p:cNvSpPr txBox="1"/>
          <p:nvPr/>
        </p:nvSpPr>
        <p:spPr>
          <a:xfrm>
            <a:off x="6355080" y="4727448"/>
            <a:ext cx="5074920" cy="777240"/>
          </a:xfrm>
          <a:prstGeom prst="rect">
            <a:avLst/>
          </a:prstGeom>
          <a:noFill/>
          <a:ln/>
        </p:spPr>
        <p:txBody>
          <a:bodyPr wrap="square" lIns="0" tIns="0" rIns="0" bIns="0" rtlCol="0" anchor="t"/>
          <a:lstStyle/>
          <a:p>
            <a:pPr indent="0" marL="0">
              <a:buNone/>
            </a:pPr>
            <a:r>
              <a:rPr lang="en-US" sz="1050" dirty="0">
                <a:solidFill>
                  <a:srgbClr val="55555C"/>
                </a:solidFill>
              </a:rPr>
              <a:t>Every player's agent signs the agreed game with its own Ed25519 key; booking checks each one against the game it books.</a:t>
            </a:r>
            <a:endParaRPr lang="en-US" sz="1050" dirty="0"/>
          </a:p>
        </p:txBody>
      </p:sp>
      <p:sp>
        <p:nvSpPr>
          <p:cNvPr id="27" name="Shape 24"/>
          <p:cNvSpPr/>
          <p:nvPr/>
        </p:nvSpPr>
        <p:spPr>
          <a:xfrm>
            <a:off x="6355080" y="5550408"/>
            <a:ext cx="5074920" cy="502920"/>
          </a:xfrm>
          <a:prstGeom prst="roundRect">
            <a:avLst>
              <a:gd name="adj" fmla="val 21818"/>
            </a:avLst>
          </a:prstGeom>
          <a:solidFill>
            <a:srgbClr val="FBEAE9"/>
          </a:solidFill>
          <a:ln w="12700">
            <a:solidFill>
              <a:srgbClr val="FBEAE9"/>
            </a:solidFill>
            <a:prstDash val="solid"/>
          </a:ln>
        </p:spPr>
      </p:sp>
      <p:sp>
        <p:nvSpPr>
          <p:cNvPr id="28" name="Text 25"/>
          <p:cNvSpPr txBox="1"/>
          <p:nvPr/>
        </p:nvSpPr>
        <p:spPr>
          <a:xfrm>
            <a:off x="6464808" y="5550408"/>
            <a:ext cx="4855464" cy="502920"/>
          </a:xfrm>
          <a:prstGeom prst="rect">
            <a:avLst/>
          </a:prstGeom>
          <a:noFill/>
          <a:ln/>
        </p:spPr>
        <p:txBody>
          <a:bodyPr wrap="square" lIns="0" tIns="0" rIns="0" bIns="0" rtlCol="0" anchor="ctr"/>
          <a:lstStyle/>
          <a:p>
            <a:pPr indent="0" marL="0">
              <a:buNone/>
            </a:pPr>
            <a:r>
              <a:rPr lang="en-US" sz="1050" b="1" dirty="0">
                <a:solidFill>
                  <a:srgbClr val="0A0A0B"/>
                </a:solidFill>
              </a:rPr>
              <a:t>A changed time, an added player or another agent's key: refused</a:t>
            </a:r>
            <a:endParaRPr lang="en-US" sz="105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MEASURED</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It stays the same size as the club grows</a:t>
            </a:r>
            <a:endParaRPr lang="en-US" sz="3200" dirty="0"/>
          </a:p>
        </p:txBody>
      </p:sp>
      <p:pic>
        <p:nvPicPr>
          <p:cNvPr id="5" name="Image 0" descr="preencoded.png">    </p:cNvPr>
          <p:cNvPicPr>
            <a:picLocks noChangeAspect="1"/>
          </p:cNvPicPr>
          <p:nvPr/>
        </p:nvPicPr>
        <p:blipFill>
          <a:blip r:embed="rId1"/>
          <a:stretch>
            <a:fillRect/>
          </a:stretch>
        </p:blipFill>
        <p:spPr>
          <a:xfrm>
            <a:off x="548640" y="1645920"/>
            <a:ext cx="7315200" cy="3850105"/>
          </a:xfrm>
          <a:prstGeom prst="rect">
            <a:avLst/>
          </a:prstGeom>
        </p:spPr>
      </p:pic>
      <p:sp>
        <p:nvSpPr>
          <p:cNvPr id="6" name="Text 2"/>
          <p:cNvSpPr txBox="1"/>
          <p:nvPr/>
        </p:nvSpPr>
        <p:spPr>
          <a:xfrm>
            <a:off x="548640" y="5587465"/>
            <a:ext cx="7315200" cy="274320"/>
          </a:xfrm>
          <a:prstGeom prst="rect">
            <a:avLst/>
          </a:prstGeom>
          <a:noFill/>
          <a:ln/>
        </p:spPr>
        <p:txBody>
          <a:bodyPr wrap="square" lIns="0" tIns="0" rIns="0" bIns="0" rtlCol="0" anchor="t"/>
          <a:lstStyle/>
          <a:p>
            <a:pPr indent="0" marL="0">
              <a:buNone/>
            </a:pPr>
            <a:r>
              <a:rPr lang="en-US" sz="1100" dirty="0">
                <a:solidFill>
                  <a:srgbClr val="55555C"/>
                </a:solidFill>
              </a:rPr>
              <a:t>Tokens one model call reads to choose players, by club size</a:t>
            </a:r>
            <a:endParaRPr lang="en-US" sz="1100" dirty="0"/>
          </a:p>
        </p:txBody>
      </p:sp>
      <p:sp>
        <p:nvSpPr>
          <p:cNvPr id="7" name="Shape 3"/>
          <p:cNvSpPr/>
          <p:nvPr/>
        </p:nvSpPr>
        <p:spPr>
          <a:xfrm>
            <a:off x="8183880" y="1737360"/>
            <a:ext cx="3429000" cy="1325880"/>
          </a:xfrm>
          <a:prstGeom prst="roundRect">
            <a:avLst>
              <a:gd name="adj" fmla="val 8276"/>
            </a:avLst>
          </a:prstGeom>
          <a:solidFill>
            <a:srgbClr val="E9F3EC"/>
          </a:solidFill>
          <a:ln w="12700">
            <a:solidFill>
              <a:srgbClr val="E9F3EC"/>
            </a:solidFill>
            <a:prstDash val="solid"/>
          </a:ln>
        </p:spPr>
      </p:sp>
      <p:sp>
        <p:nvSpPr>
          <p:cNvPr id="8" name="Text 4"/>
          <p:cNvSpPr txBox="1"/>
          <p:nvPr/>
        </p:nvSpPr>
        <p:spPr>
          <a:xfrm>
            <a:off x="8366760" y="1828800"/>
            <a:ext cx="3108960" cy="502920"/>
          </a:xfrm>
          <a:prstGeom prst="rect">
            <a:avLst/>
          </a:prstGeom>
          <a:noFill/>
          <a:ln/>
        </p:spPr>
        <p:txBody>
          <a:bodyPr wrap="square" lIns="0" tIns="0" rIns="0" bIns="0" rtlCol="0" anchor="t"/>
          <a:lstStyle/>
          <a:p>
            <a:pPr indent="0" marL="0">
              <a:buNone/>
            </a:pPr>
            <a:r>
              <a:rPr lang="en-US" sz="2400" b="1" dirty="0">
                <a:solidFill>
                  <a:srgbClr val="0A7F44"/>
                </a:solidFill>
              </a:rPr>
              <a:t>1,505 → 1,563</a:t>
            </a:r>
            <a:endParaRPr lang="en-US" sz="2400" dirty="0"/>
          </a:p>
        </p:txBody>
      </p:sp>
      <p:sp>
        <p:nvSpPr>
          <p:cNvPr id="9" name="Text 5"/>
          <p:cNvSpPr txBox="1"/>
          <p:nvPr/>
        </p:nvSpPr>
        <p:spPr>
          <a:xfrm>
            <a:off x="8366760" y="2359152"/>
            <a:ext cx="3108960" cy="640080"/>
          </a:xfrm>
          <a:prstGeom prst="rect">
            <a:avLst/>
          </a:prstGeom>
          <a:noFill/>
          <a:ln/>
        </p:spPr>
        <p:txBody>
          <a:bodyPr wrap="square" lIns="0" tIns="0" rIns="0" bIns="0" rtlCol="0" anchor="t"/>
          <a:lstStyle/>
          <a:p>
            <a:pPr indent="0" marL="0">
              <a:buNone/>
            </a:pPr>
            <a:r>
              <a:rPr lang="en-US" sz="1050" dirty="0">
                <a:solidFill>
                  <a:srgbClr val="55555C"/>
                </a:solidFill>
              </a:rPr>
              <a:t>tokens per call from 11 to 301 members: Serve's shortlist, made by code</a:t>
            </a:r>
            <a:endParaRPr lang="en-US" sz="1050" dirty="0"/>
          </a:p>
        </p:txBody>
      </p:sp>
      <p:sp>
        <p:nvSpPr>
          <p:cNvPr id="10" name="Shape 6"/>
          <p:cNvSpPr/>
          <p:nvPr/>
        </p:nvSpPr>
        <p:spPr>
          <a:xfrm>
            <a:off x="8183880" y="3200400"/>
            <a:ext cx="3429000" cy="1325880"/>
          </a:xfrm>
          <a:prstGeom prst="roundRect">
            <a:avLst>
              <a:gd name="adj" fmla="val 8276"/>
            </a:avLst>
          </a:prstGeom>
          <a:solidFill>
            <a:srgbClr val="F6F7F8"/>
          </a:solidFill>
          <a:ln w="12700">
            <a:solidFill>
              <a:srgbClr val="F6F7F8"/>
            </a:solidFill>
            <a:prstDash val="solid"/>
          </a:ln>
        </p:spPr>
      </p:sp>
      <p:sp>
        <p:nvSpPr>
          <p:cNvPr id="11" name="Text 7"/>
          <p:cNvSpPr txBox="1"/>
          <p:nvPr/>
        </p:nvSpPr>
        <p:spPr>
          <a:xfrm>
            <a:off x="8366760" y="3291840"/>
            <a:ext cx="3108960" cy="502920"/>
          </a:xfrm>
          <a:prstGeom prst="rect">
            <a:avLst/>
          </a:prstGeom>
          <a:noFill/>
          <a:ln/>
        </p:spPr>
        <p:txBody>
          <a:bodyPr wrap="square" lIns="0" tIns="0" rIns="0" bIns="0" rtlCol="0" anchor="t"/>
          <a:lstStyle/>
          <a:p>
            <a:pPr indent="0" marL="0">
              <a:buNone/>
            </a:pPr>
            <a:r>
              <a:rPr lang="en-US" sz="2400" b="1" dirty="0">
                <a:solidFill>
                  <a:srgbClr val="D1352B"/>
                </a:solidFill>
              </a:rPr>
              <a:t>58,203</a:t>
            </a:r>
            <a:endParaRPr lang="en-US" sz="2400" dirty="0"/>
          </a:p>
        </p:txBody>
      </p:sp>
      <p:sp>
        <p:nvSpPr>
          <p:cNvPr id="12" name="Text 8"/>
          <p:cNvSpPr txBox="1"/>
          <p:nvPr/>
        </p:nvSpPr>
        <p:spPr>
          <a:xfrm>
            <a:off x="8366760" y="3822192"/>
            <a:ext cx="3108960" cy="640080"/>
          </a:xfrm>
          <a:prstGeom prst="rect">
            <a:avLst/>
          </a:prstGeom>
          <a:noFill/>
          <a:ln/>
        </p:spPr>
        <p:txBody>
          <a:bodyPr wrap="square" lIns="0" tIns="0" rIns="0" bIns="0" rtlCol="0" anchor="t"/>
          <a:lstStyle/>
          <a:p>
            <a:pPr indent="0" marL="0">
              <a:buNone/>
            </a:pPr>
            <a:r>
              <a:rPr lang="en-US" sz="1050" dirty="0">
                <a:solidFill>
                  <a:srgbClr val="55555C"/>
                </a:solidFill>
              </a:rPr>
              <a:t>tokens, estimated, for a 1,001-member club in the prompt: far past the window</a:t>
            </a:r>
            <a:endParaRPr lang="en-US" sz="1050" dirty="0"/>
          </a:p>
        </p:txBody>
      </p:sp>
      <p:sp>
        <p:nvSpPr>
          <p:cNvPr id="13" name="Shape 9"/>
          <p:cNvSpPr/>
          <p:nvPr/>
        </p:nvSpPr>
        <p:spPr>
          <a:xfrm>
            <a:off x="8183880" y="4663440"/>
            <a:ext cx="3429000" cy="1325880"/>
          </a:xfrm>
          <a:prstGeom prst="roundRect">
            <a:avLst>
              <a:gd name="adj" fmla="val 8276"/>
            </a:avLst>
          </a:prstGeom>
          <a:solidFill>
            <a:srgbClr val="F6F7F8"/>
          </a:solidFill>
          <a:ln w="12700">
            <a:solidFill>
              <a:srgbClr val="F6F7F8"/>
            </a:solidFill>
            <a:prstDash val="solid"/>
          </a:ln>
        </p:spPr>
      </p:sp>
      <p:sp>
        <p:nvSpPr>
          <p:cNvPr id="14" name="Text 10"/>
          <p:cNvSpPr txBox="1"/>
          <p:nvPr/>
        </p:nvSpPr>
        <p:spPr>
          <a:xfrm>
            <a:off x="8366760" y="4754880"/>
            <a:ext cx="3108960" cy="502920"/>
          </a:xfrm>
          <a:prstGeom prst="rect">
            <a:avLst/>
          </a:prstGeom>
          <a:noFill/>
          <a:ln/>
        </p:spPr>
        <p:txBody>
          <a:bodyPr wrap="square" lIns="0" tIns="0" rIns="0" bIns="0" rtlCol="0" anchor="t"/>
          <a:lstStyle/>
          <a:p>
            <a:pPr indent="0" marL="0">
              <a:buNone/>
            </a:pPr>
            <a:r>
              <a:rPr lang="en-US" sz="2400" b="1" dirty="0">
                <a:solidFill>
                  <a:srgbClr val="0A0A0B"/>
                </a:solidFill>
              </a:rPr>
              <a:t>16,384</a:t>
            </a:r>
            <a:endParaRPr lang="en-US" sz="2400" dirty="0"/>
          </a:p>
        </p:txBody>
      </p:sp>
      <p:sp>
        <p:nvSpPr>
          <p:cNvPr id="15" name="Text 11"/>
          <p:cNvSpPr txBox="1"/>
          <p:nvPr/>
        </p:nvSpPr>
        <p:spPr>
          <a:xfrm>
            <a:off x="8366760" y="5285232"/>
            <a:ext cx="3108960" cy="640080"/>
          </a:xfrm>
          <a:prstGeom prst="rect">
            <a:avLst/>
          </a:prstGeom>
          <a:noFill/>
          <a:ln/>
        </p:spPr>
        <p:txBody>
          <a:bodyPr wrap="square" lIns="0" tIns="0" rIns="0" bIns="0" rtlCol="0" anchor="t"/>
          <a:lstStyle/>
          <a:p>
            <a:pPr indent="0" marL="0">
              <a:buNone/>
            </a:pPr>
            <a:r>
              <a:rPr lang="en-US" sz="1050" dirty="0">
                <a:solidFill>
                  <a:srgbClr val="55555C"/>
                </a:solidFill>
              </a:rPr>
              <a:t>the context the model has on this server</a:t>
            </a:r>
            <a:endParaRPr lang="en-US" sz="105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SELF-EVOLVING</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The club makes itself better, safely</a:t>
            </a:r>
            <a:endParaRPr lang="en-US" sz="3200" dirty="0"/>
          </a:p>
        </p:txBody>
      </p:sp>
      <p:sp>
        <p:nvSpPr>
          <p:cNvPr id="5" name="Shape 2"/>
          <p:cNvSpPr/>
          <p:nvPr/>
        </p:nvSpPr>
        <p:spPr>
          <a:xfrm>
            <a:off x="6126480" y="384048"/>
            <a:ext cx="5486400" cy="329184"/>
          </a:xfrm>
          <a:prstGeom prst="roundRect">
            <a:avLst>
              <a:gd name="adj" fmla="val 50000"/>
            </a:avLst>
          </a:prstGeom>
          <a:solidFill>
            <a:srgbClr val="FFFFFF"/>
          </a:solidFill>
          <a:ln w="12700">
            <a:solidFill>
              <a:srgbClr val="DCDCE0"/>
            </a:solidFill>
            <a:prstDash val="solid"/>
          </a:ln>
        </p:spPr>
      </p:sp>
      <p:sp>
        <p:nvSpPr>
          <p:cNvPr id="6" name="Text 3"/>
          <p:cNvSpPr txBox="1"/>
          <p:nvPr/>
        </p:nvSpPr>
        <p:spPr>
          <a:xfrm>
            <a:off x="6126480" y="384048"/>
            <a:ext cx="5486400" cy="329184"/>
          </a:xfrm>
          <a:prstGeom prst="rect">
            <a:avLst/>
          </a:prstGeom>
          <a:noFill/>
          <a:ln/>
        </p:spPr>
        <p:txBody>
          <a:bodyPr wrap="square" lIns="0" tIns="0" rIns="0" bIns="0" rtlCol="0" anchor="ctr"/>
          <a:lstStyle/>
          <a:p>
            <a:pPr algn="ctr" indent="0" marL="0">
              <a:buNone/>
            </a:pPr>
            <a:r>
              <a:rPr lang="en-US" sz="1050" b="1" dirty="0">
                <a:solidFill>
                  <a:srgbClr val="55555C"/>
                </a:solidFill>
              </a:rPr>
              <a:t>A simulated club of 60 (seed 7) · the pipeline, gates and rollback are real</a:t>
            </a:r>
            <a:endParaRPr lang="en-US" sz="1050" dirty="0"/>
          </a:p>
        </p:txBody>
      </p:sp>
      <p:sp>
        <p:nvSpPr>
          <p:cNvPr id="7" name="Shape 4"/>
          <p:cNvSpPr/>
          <p:nvPr/>
        </p:nvSpPr>
        <p:spPr>
          <a:xfrm>
            <a:off x="548640" y="1600200"/>
            <a:ext cx="2057400" cy="1188720"/>
          </a:xfrm>
          <a:prstGeom prst="roundRect">
            <a:avLst>
              <a:gd name="adj" fmla="val 9231"/>
            </a:avLst>
          </a:prstGeom>
          <a:solidFill>
            <a:srgbClr val="FFFFFF"/>
          </a:solidFill>
          <a:ln w="12700">
            <a:solidFill>
              <a:srgbClr val="DCDCE0"/>
            </a:solidFill>
            <a:prstDash val="solid"/>
          </a:ln>
        </p:spPr>
      </p:sp>
      <p:sp>
        <p:nvSpPr>
          <p:cNvPr id="8" name="Text 5"/>
          <p:cNvSpPr txBox="1"/>
          <p:nvPr/>
        </p:nvSpPr>
        <p:spPr>
          <a:xfrm>
            <a:off x="694944" y="1691640"/>
            <a:ext cx="1783080" cy="201168"/>
          </a:xfrm>
          <a:prstGeom prst="rect">
            <a:avLst/>
          </a:prstGeom>
          <a:noFill/>
          <a:ln/>
        </p:spPr>
        <p:txBody>
          <a:bodyPr wrap="square" lIns="0" tIns="0" rIns="0" bIns="0" rtlCol="0" anchor="t"/>
          <a:lstStyle/>
          <a:p>
            <a:pPr indent="0" marL="0">
              <a:buNone/>
            </a:pPr>
            <a:r>
              <a:rPr lang="en-US" sz="1000" b="1" dirty="0">
                <a:solidFill>
                  <a:srgbClr val="0A7F44"/>
                </a:solidFill>
              </a:rPr>
              <a:t>1 · ASK</a:t>
            </a:r>
            <a:endParaRPr lang="en-US" sz="1000" dirty="0"/>
          </a:p>
        </p:txBody>
      </p:sp>
      <p:sp>
        <p:nvSpPr>
          <p:cNvPr id="9" name="Text 6"/>
          <p:cNvSpPr txBox="1"/>
          <p:nvPr/>
        </p:nvSpPr>
        <p:spPr>
          <a:xfrm>
            <a:off x="694944" y="1920240"/>
            <a:ext cx="1810512" cy="292608"/>
          </a:xfrm>
          <a:prstGeom prst="rect">
            <a:avLst/>
          </a:prstGeom>
          <a:noFill/>
          <a:ln/>
        </p:spPr>
        <p:txBody>
          <a:bodyPr wrap="square" lIns="0" tIns="0" rIns="0" bIns="0" rtlCol="0" anchor="t"/>
          <a:lstStyle/>
          <a:p>
            <a:pPr indent="0" marL="0">
              <a:buNone/>
            </a:pPr>
            <a:r>
              <a:rPr lang="en-US" sz="1350" b="1" dirty="0">
                <a:solidFill>
                  <a:srgbClr val="0A0A0B"/>
                </a:solidFill>
              </a:rPr>
              <a:t>Members' ideas</a:t>
            </a:r>
            <a:endParaRPr lang="en-US" sz="1350" dirty="0"/>
          </a:p>
        </p:txBody>
      </p:sp>
      <p:sp>
        <p:nvSpPr>
          <p:cNvPr id="10" name="Text 7"/>
          <p:cNvSpPr txBox="1"/>
          <p:nvPr/>
        </p:nvSpPr>
        <p:spPr>
          <a:xfrm>
            <a:off x="694944" y="2240280"/>
            <a:ext cx="1810512" cy="502920"/>
          </a:xfrm>
          <a:prstGeom prst="rect">
            <a:avLst/>
          </a:prstGeom>
          <a:noFill/>
          <a:ln/>
        </p:spPr>
        <p:txBody>
          <a:bodyPr wrap="square" lIns="0" tIns="0" rIns="0" bIns="0" rtlCol="0" anchor="t"/>
          <a:lstStyle/>
          <a:p>
            <a:pPr indent="0" marL="0">
              <a:buNone/>
            </a:pPr>
            <a:r>
              <a:rPr lang="en-US" sz="1000" dirty="0">
                <a:solidFill>
                  <a:srgbClr val="55555C"/>
                </a:solidFill>
              </a:rPr>
              <a:t>"/idea" in Messenger, or thumbs</a:t>
            </a:r>
            <a:endParaRPr lang="en-US" sz="1000" dirty="0"/>
          </a:p>
        </p:txBody>
      </p:sp>
      <p:sp>
        <p:nvSpPr>
          <p:cNvPr id="11" name="Shape 8"/>
          <p:cNvSpPr/>
          <p:nvPr/>
        </p:nvSpPr>
        <p:spPr>
          <a:xfrm>
            <a:off x="2624328" y="2194560"/>
            <a:ext cx="146304" cy="0"/>
          </a:xfrm>
          <a:prstGeom prst="line">
            <a:avLst/>
          </a:prstGeom>
          <a:noFill/>
          <a:ln w="22225">
            <a:solidFill>
              <a:srgbClr val="8A8A92"/>
            </a:solidFill>
            <a:prstDash val="solid"/>
            <a:tailEnd type="triangle"/>
          </a:ln>
        </p:spPr>
      </p:sp>
      <p:sp>
        <p:nvSpPr>
          <p:cNvPr id="12" name="Shape 9"/>
          <p:cNvSpPr/>
          <p:nvPr/>
        </p:nvSpPr>
        <p:spPr>
          <a:xfrm>
            <a:off x="2788920" y="1600200"/>
            <a:ext cx="2057400" cy="1188720"/>
          </a:xfrm>
          <a:prstGeom prst="roundRect">
            <a:avLst>
              <a:gd name="adj" fmla="val 9231"/>
            </a:avLst>
          </a:prstGeom>
          <a:solidFill>
            <a:srgbClr val="FFFFFF"/>
          </a:solidFill>
          <a:ln w="12700">
            <a:solidFill>
              <a:srgbClr val="DCDCE0"/>
            </a:solidFill>
            <a:prstDash val="solid"/>
          </a:ln>
        </p:spPr>
      </p:sp>
      <p:sp>
        <p:nvSpPr>
          <p:cNvPr id="13" name="Text 10"/>
          <p:cNvSpPr txBox="1"/>
          <p:nvPr/>
        </p:nvSpPr>
        <p:spPr>
          <a:xfrm>
            <a:off x="2935224" y="1691640"/>
            <a:ext cx="1783080" cy="201168"/>
          </a:xfrm>
          <a:prstGeom prst="rect">
            <a:avLst/>
          </a:prstGeom>
          <a:noFill/>
          <a:ln/>
        </p:spPr>
        <p:txBody>
          <a:bodyPr wrap="square" lIns="0" tIns="0" rIns="0" bIns="0" rtlCol="0" anchor="t"/>
          <a:lstStyle/>
          <a:p>
            <a:pPr indent="0" marL="0">
              <a:buNone/>
            </a:pPr>
            <a:r>
              <a:rPr lang="en-US" sz="1000" b="1" dirty="0">
                <a:solidFill>
                  <a:srgbClr val="0A7F44"/>
                </a:solidFill>
              </a:rPr>
              <a:t>2 · GROUP</a:t>
            </a:r>
            <a:endParaRPr lang="en-US" sz="1000" dirty="0"/>
          </a:p>
        </p:txBody>
      </p:sp>
      <p:sp>
        <p:nvSpPr>
          <p:cNvPr id="14" name="Text 11"/>
          <p:cNvSpPr txBox="1"/>
          <p:nvPr/>
        </p:nvSpPr>
        <p:spPr>
          <a:xfrm>
            <a:off x="2935224" y="1920240"/>
            <a:ext cx="1810512" cy="292608"/>
          </a:xfrm>
          <a:prstGeom prst="rect">
            <a:avLst/>
          </a:prstGeom>
          <a:noFill/>
          <a:ln/>
        </p:spPr>
        <p:txBody>
          <a:bodyPr wrap="square" lIns="0" tIns="0" rIns="0" bIns="0" rtlCol="0" anchor="t"/>
          <a:lstStyle/>
          <a:p>
            <a:pPr indent="0" marL="0">
              <a:buNone/>
            </a:pPr>
            <a:r>
              <a:rPr lang="en-US" sz="1350" b="1" dirty="0">
                <a:solidFill>
                  <a:srgbClr val="0A0A0B"/>
                </a:solidFill>
              </a:rPr>
              <a:t>Meta's DRAMA</a:t>
            </a:r>
            <a:endParaRPr lang="en-US" sz="1350" dirty="0"/>
          </a:p>
        </p:txBody>
      </p:sp>
      <p:sp>
        <p:nvSpPr>
          <p:cNvPr id="15" name="Text 12"/>
          <p:cNvSpPr txBox="1"/>
          <p:nvPr/>
        </p:nvSpPr>
        <p:spPr>
          <a:xfrm>
            <a:off x="2935224" y="2240280"/>
            <a:ext cx="1810512" cy="502920"/>
          </a:xfrm>
          <a:prstGeom prst="rect">
            <a:avLst/>
          </a:prstGeom>
          <a:noFill/>
          <a:ln/>
        </p:spPr>
        <p:txBody>
          <a:bodyPr wrap="square" lIns="0" tIns="0" rIns="0" bIns="0" rtlCol="0" anchor="t"/>
          <a:lstStyle/>
          <a:p>
            <a:pPr indent="0" marL="0">
              <a:buNone/>
            </a:pPr>
            <a:r>
              <a:rPr lang="en-US" sz="1000" dirty="0">
                <a:solidFill>
                  <a:srgbClr val="55555C"/>
                </a:solidFill>
              </a:rPr>
              <a:t>By meaning; shows at 5 members</a:t>
            </a:r>
            <a:endParaRPr lang="en-US" sz="1000" dirty="0"/>
          </a:p>
        </p:txBody>
      </p:sp>
      <p:sp>
        <p:nvSpPr>
          <p:cNvPr id="16" name="Shape 13"/>
          <p:cNvSpPr/>
          <p:nvPr/>
        </p:nvSpPr>
        <p:spPr>
          <a:xfrm>
            <a:off x="4864608" y="2194560"/>
            <a:ext cx="146304" cy="0"/>
          </a:xfrm>
          <a:prstGeom prst="line">
            <a:avLst/>
          </a:prstGeom>
          <a:noFill/>
          <a:ln w="22225">
            <a:solidFill>
              <a:srgbClr val="8A8A92"/>
            </a:solidFill>
            <a:prstDash val="solid"/>
            <a:tailEnd type="triangle"/>
          </a:ln>
        </p:spPr>
      </p:sp>
      <p:sp>
        <p:nvSpPr>
          <p:cNvPr id="17" name="Shape 14"/>
          <p:cNvSpPr/>
          <p:nvPr/>
        </p:nvSpPr>
        <p:spPr>
          <a:xfrm>
            <a:off x="5029200" y="1600200"/>
            <a:ext cx="2057400" cy="1188720"/>
          </a:xfrm>
          <a:prstGeom prst="roundRect">
            <a:avLst>
              <a:gd name="adj" fmla="val 9231"/>
            </a:avLst>
          </a:prstGeom>
          <a:solidFill>
            <a:srgbClr val="FFFFFF"/>
          </a:solidFill>
          <a:ln w="12700">
            <a:solidFill>
              <a:srgbClr val="DCDCE0"/>
            </a:solidFill>
            <a:prstDash val="solid"/>
          </a:ln>
        </p:spPr>
      </p:sp>
      <p:sp>
        <p:nvSpPr>
          <p:cNvPr id="18" name="Text 15"/>
          <p:cNvSpPr txBox="1"/>
          <p:nvPr/>
        </p:nvSpPr>
        <p:spPr>
          <a:xfrm>
            <a:off x="5175504" y="1691640"/>
            <a:ext cx="1783080" cy="201168"/>
          </a:xfrm>
          <a:prstGeom prst="rect">
            <a:avLst/>
          </a:prstGeom>
          <a:noFill/>
          <a:ln/>
        </p:spPr>
        <p:txBody>
          <a:bodyPr wrap="square" lIns="0" tIns="0" rIns="0" bIns="0" rtlCol="0" anchor="t"/>
          <a:lstStyle/>
          <a:p>
            <a:pPr indent="0" marL="0">
              <a:buNone/>
            </a:pPr>
            <a:r>
              <a:rPr lang="en-US" sz="1000" b="1" dirty="0">
                <a:solidFill>
                  <a:srgbClr val="0A7F44"/>
                </a:solidFill>
              </a:rPr>
              <a:t>3 · VOTE</a:t>
            </a:r>
            <a:endParaRPr lang="en-US" sz="1000" dirty="0"/>
          </a:p>
        </p:txBody>
      </p:sp>
      <p:sp>
        <p:nvSpPr>
          <p:cNvPr id="19" name="Text 16"/>
          <p:cNvSpPr txBox="1"/>
          <p:nvPr/>
        </p:nvSpPr>
        <p:spPr>
          <a:xfrm>
            <a:off x="5175504" y="1920240"/>
            <a:ext cx="1810512" cy="292608"/>
          </a:xfrm>
          <a:prstGeom prst="rect">
            <a:avLst/>
          </a:prstGeom>
          <a:noFill/>
          <a:ln/>
        </p:spPr>
        <p:txBody>
          <a:bodyPr wrap="square" lIns="0" tIns="0" rIns="0" bIns="0" rtlCol="0" anchor="t"/>
          <a:lstStyle/>
          <a:p>
            <a:pPr indent="0" marL="0">
              <a:buNone/>
            </a:pPr>
            <a:r>
              <a:rPr lang="en-US" sz="1350" b="1" dirty="0">
                <a:solidFill>
                  <a:srgbClr val="0A0A0B"/>
                </a:solidFill>
              </a:rPr>
              <a:t>Quadratic votes</a:t>
            </a:r>
            <a:endParaRPr lang="en-US" sz="1350" dirty="0"/>
          </a:p>
        </p:txBody>
      </p:sp>
      <p:sp>
        <p:nvSpPr>
          <p:cNvPr id="20" name="Text 17"/>
          <p:cNvSpPr txBox="1"/>
          <p:nvPr/>
        </p:nvSpPr>
        <p:spPr>
          <a:xfrm>
            <a:off x="5175504" y="2240280"/>
            <a:ext cx="1810512" cy="502920"/>
          </a:xfrm>
          <a:prstGeom prst="rect">
            <a:avLst/>
          </a:prstGeom>
          <a:noFill/>
          <a:ln/>
        </p:spPr>
        <p:txBody>
          <a:bodyPr wrap="square" lIns="0" tIns="0" rIns="0" bIns="0" rtlCol="0" anchor="t"/>
          <a:lstStyle/>
          <a:p>
            <a:pPr indent="0" marL="0">
              <a:buNone/>
            </a:pPr>
            <a:r>
              <a:rPr lang="en-US" sz="1000" dirty="0">
                <a:solidFill>
                  <a:srgbClr val="55555C"/>
                </a:solidFill>
              </a:rPr>
              <a:t>9 credits a month; n votes cost n²</a:t>
            </a:r>
            <a:endParaRPr lang="en-US" sz="1000" dirty="0"/>
          </a:p>
        </p:txBody>
      </p:sp>
      <p:sp>
        <p:nvSpPr>
          <p:cNvPr id="21" name="Shape 18"/>
          <p:cNvSpPr/>
          <p:nvPr/>
        </p:nvSpPr>
        <p:spPr>
          <a:xfrm>
            <a:off x="7104888" y="2194560"/>
            <a:ext cx="146304" cy="0"/>
          </a:xfrm>
          <a:prstGeom prst="line">
            <a:avLst/>
          </a:prstGeom>
          <a:noFill/>
          <a:ln w="22225">
            <a:solidFill>
              <a:srgbClr val="8A8A92"/>
            </a:solidFill>
            <a:prstDash val="solid"/>
            <a:tailEnd type="triangle"/>
          </a:ln>
        </p:spPr>
      </p:sp>
      <p:sp>
        <p:nvSpPr>
          <p:cNvPr id="22" name="Shape 19"/>
          <p:cNvSpPr/>
          <p:nvPr/>
        </p:nvSpPr>
        <p:spPr>
          <a:xfrm>
            <a:off x="7269480" y="1600200"/>
            <a:ext cx="2057400" cy="1188720"/>
          </a:xfrm>
          <a:prstGeom prst="roundRect">
            <a:avLst>
              <a:gd name="adj" fmla="val 9231"/>
            </a:avLst>
          </a:prstGeom>
          <a:solidFill>
            <a:srgbClr val="FFFFFF"/>
          </a:solidFill>
          <a:ln w="12700">
            <a:solidFill>
              <a:srgbClr val="DCDCE0"/>
            </a:solidFill>
            <a:prstDash val="solid"/>
          </a:ln>
        </p:spPr>
      </p:sp>
      <p:sp>
        <p:nvSpPr>
          <p:cNvPr id="23" name="Text 20"/>
          <p:cNvSpPr txBox="1"/>
          <p:nvPr/>
        </p:nvSpPr>
        <p:spPr>
          <a:xfrm>
            <a:off x="7415784" y="1691640"/>
            <a:ext cx="1783080" cy="201168"/>
          </a:xfrm>
          <a:prstGeom prst="rect">
            <a:avLst/>
          </a:prstGeom>
          <a:noFill/>
          <a:ln/>
        </p:spPr>
        <p:txBody>
          <a:bodyPr wrap="square" lIns="0" tIns="0" rIns="0" bIns="0" rtlCol="0" anchor="t"/>
          <a:lstStyle/>
          <a:p>
            <a:pPr indent="0" marL="0">
              <a:buNone/>
            </a:pPr>
            <a:r>
              <a:rPr lang="en-US" sz="1000" b="1" dirty="0">
                <a:solidFill>
                  <a:srgbClr val="0A7F44"/>
                </a:solidFill>
              </a:rPr>
              <a:t>4 · SPEC</a:t>
            </a:r>
            <a:endParaRPr lang="en-US" sz="1000" dirty="0"/>
          </a:p>
        </p:txBody>
      </p:sp>
      <p:sp>
        <p:nvSpPr>
          <p:cNvPr id="24" name="Text 21"/>
          <p:cNvSpPr txBox="1"/>
          <p:nvPr/>
        </p:nvSpPr>
        <p:spPr>
          <a:xfrm>
            <a:off x="7415784" y="1920240"/>
            <a:ext cx="1810512" cy="292608"/>
          </a:xfrm>
          <a:prstGeom prst="rect">
            <a:avLst/>
          </a:prstGeom>
          <a:noFill/>
          <a:ln/>
        </p:spPr>
        <p:txBody>
          <a:bodyPr wrap="square" lIns="0" tIns="0" rIns="0" bIns="0" rtlCol="0" anchor="t"/>
          <a:lstStyle/>
          <a:p>
            <a:pPr indent="0" marL="0">
              <a:buNone/>
            </a:pPr>
            <a:r>
              <a:rPr lang="en-US" sz="1350" b="1" dirty="0">
                <a:solidFill>
                  <a:srgbClr val="0A0A0B"/>
                </a:solidFill>
              </a:rPr>
              <a:t>Muse Glimmer drafts</a:t>
            </a:r>
            <a:endParaRPr lang="en-US" sz="1350" dirty="0"/>
          </a:p>
        </p:txBody>
      </p:sp>
      <p:sp>
        <p:nvSpPr>
          <p:cNvPr id="25" name="Text 22"/>
          <p:cNvSpPr txBox="1"/>
          <p:nvPr/>
        </p:nvSpPr>
        <p:spPr>
          <a:xfrm>
            <a:off x="7415784" y="2240280"/>
            <a:ext cx="1810512" cy="502920"/>
          </a:xfrm>
          <a:prstGeom prst="rect">
            <a:avLst/>
          </a:prstGeom>
          <a:noFill/>
          <a:ln/>
        </p:spPr>
        <p:txBody>
          <a:bodyPr wrap="square" lIns="0" tIns="0" rIns="0" bIns="0" rtlCol="0" anchor="t"/>
          <a:lstStyle/>
          <a:p>
            <a:pPr indent="0" marL="0">
              <a:buNone/>
            </a:pPr>
            <a:r>
              <a:rPr lang="en-US" sz="1000" dirty="0">
                <a:solidFill>
                  <a:srgbClr val="55555C"/>
                </a:solidFill>
              </a:rPr>
              <a:t>A person approves it</a:t>
            </a:r>
            <a:endParaRPr lang="en-US" sz="1000" dirty="0"/>
          </a:p>
        </p:txBody>
      </p:sp>
      <p:sp>
        <p:nvSpPr>
          <p:cNvPr id="26" name="Shape 23"/>
          <p:cNvSpPr/>
          <p:nvPr/>
        </p:nvSpPr>
        <p:spPr>
          <a:xfrm>
            <a:off x="9345168" y="2194560"/>
            <a:ext cx="146304" cy="0"/>
          </a:xfrm>
          <a:prstGeom prst="line">
            <a:avLst/>
          </a:prstGeom>
          <a:noFill/>
          <a:ln w="22225">
            <a:solidFill>
              <a:srgbClr val="8A8A92"/>
            </a:solidFill>
            <a:prstDash val="solid"/>
            <a:tailEnd type="triangle"/>
          </a:ln>
        </p:spPr>
      </p:sp>
      <p:sp>
        <p:nvSpPr>
          <p:cNvPr id="27" name="Shape 24"/>
          <p:cNvSpPr/>
          <p:nvPr/>
        </p:nvSpPr>
        <p:spPr>
          <a:xfrm>
            <a:off x="9509760" y="1600200"/>
            <a:ext cx="2057400" cy="1188720"/>
          </a:xfrm>
          <a:prstGeom prst="roundRect">
            <a:avLst>
              <a:gd name="adj" fmla="val 9231"/>
            </a:avLst>
          </a:prstGeom>
          <a:solidFill>
            <a:srgbClr val="FFFFFF"/>
          </a:solidFill>
          <a:ln w="12700">
            <a:solidFill>
              <a:srgbClr val="DCDCE0"/>
            </a:solidFill>
            <a:prstDash val="solid"/>
          </a:ln>
        </p:spPr>
      </p:sp>
      <p:sp>
        <p:nvSpPr>
          <p:cNvPr id="28" name="Text 25"/>
          <p:cNvSpPr txBox="1"/>
          <p:nvPr/>
        </p:nvSpPr>
        <p:spPr>
          <a:xfrm>
            <a:off x="9656064" y="1691640"/>
            <a:ext cx="1783080" cy="201168"/>
          </a:xfrm>
          <a:prstGeom prst="rect">
            <a:avLst/>
          </a:prstGeom>
          <a:noFill/>
          <a:ln/>
        </p:spPr>
        <p:txBody>
          <a:bodyPr wrap="square" lIns="0" tIns="0" rIns="0" bIns="0" rtlCol="0" anchor="t"/>
          <a:lstStyle/>
          <a:p>
            <a:pPr indent="0" marL="0">
              <a:buNone/>
            </a:pPr>
            <a:r>
              <a:rPr lang="en-US" sz="1000" b="1" dirty="0">
                <a:solidFill>
                  <a:srgbClr val="0A7F44"/>
                </a:solidFill>
              </a:rPr>
              <a:t>5 · BUILD</a:t>
            </a:r>
            <a:endParaRPr lang="en-US" sz="1000" dirty="0"/>
          </a:p>
        </p:txBody>
      </p:sp>
      <p:sp>
        <p:nvSpPr>
          <p:cNvPr id="29" name="Text 26"/>
          <p:cNvSpPr txBox="1"/>
          <p:nvPr/>
        </p:nvSpPr>
        <p:spPr>
          <a:xfrm>
            <a:off x="9656064" y="1920240"/>
            <a:ext cx="1810512" cy="292608"/>
          </a:xfrm>
          <a:prstGeom prst="rect">
            <a:avLst/>
          </a:prstGeom>
          <a:noFill/>
          <a:ln/>
        </p:spPr>
        <p:txBody>
          <a:bodyPr wrap="square" lIns="0" tIns="0" rIns="0" bIns="0" rtlCol="0" anchor="t"/>
          <a:lstStyle/>
          <a:p>
            <a:pPr indent="0" marL="0">
              <a:buNone/>
            </a:pPr>
            <a:r>
              <a:rPr lang="en-US" sz="1350" b="1" dirty="0">
                <a:solidFill>
                  <a:srgbClr val="0A0A0B"/>
                </a:solidFill>
              </a:rPr>
              <a:t>A coding agent</a:t>
            </a:r>
            <a:endParaRPr lang="en-US" sz="1350" dirty="0"/>
          </a:p>
        </p:txBody>
      </p:sp>
      <p:sp>
        <p:nvSpPr>
          <p:cNvPr id="30" name="Text 27"/>
          <p:cNvSpPr txBox="1"/>
          <p:nvPr/>
        </p:nvSpPr>
        <p:spPr>
          <a:xfrm>
            <a:off x="9656064" y="2240280"/>
            <a:ext cx="1810512" cy="502920"/>
          </a:xfrm>
          <a:prstGeom prst="rect">
            <a:avLst/>
          </a:prstGeom>
          <a:noFill/>
          <a:ln/>
        </p:spPr>
        <p:txBody>
          <a:bodyPr wrap="square" lIns="0" tIns="0" rIns="0" bIns="0" rtlCol="0" anchor="t"/>
          <a:lstStyle/>
          <a:p>
            <a:pPr indent="0" marL="0">
              <a:buNone/>
            </a:pPr>
            <a:r>
              <a:rPr lang="en-US" sz="1000" dirty="0">
                <a:solidFill>
                  <a:srgbClr val="55555C"/>
                </a:solidFill>
              </a:rPr>
              <a:t>Own branch; never reads community text</a:t>
            </a:r>
            <a:endParaRPr lang="en-US" sz="1000" dirty="0"/>
          </a:p>
        </p:txBody>
      </p:sp>
      <p:sp>
        <p:nvSpPr>
          <p:cNvPr id="31" name="Shape 28"/>
          <p:cNvSpPr/>
          <p:nvPr/>
        </p:nvSpPr>
        <p:spPr>
          <a:xfrm>
            <a:off x="548640" y="2926080"/>
            <a:ext cx="6949440" cy="1371600"/>
          </a:xfrm>
          <a:prstGeom prst="roundRect">
            <a:avLst>
              <a:gd name="adj" fmla="val 8000"/>
            </a:avLst>
          </a:prstGeom>
          <a:solidFill>
            <a:srgbClr val="E9F3EC"/>
          </a:solidFill>
          <a:ln w="12700">
            <a:solidFill>
              <a:srgbClr val="E9F3EC"/>
            </a:solidFill>
            <a:prstDash val="solid"/>
          </a:ln>
        </p:spPr>
      </p:sp>
      <p:sp>
        <p:nvSpPr>
          <p:cNvPr id="32" name="Text 29"/>
          <p:cNvSpPr txBox="1"/>
          <p:nvPr/>
        </p:nvSpPr>
        <p:spPr>
          <a:xfrm>
            <a:off x="749808" y="3017520"/>
            <a:ext cx="6400800" cy="256032"/>
          </a:xfrm>
          <a:prstGeom prst="rect">
            <a:avLst/>
          </a:prstGeom>
          <a:noFill/>
          <a:ln/>
        </p:spPr>
        <p:txBody>
          <a:bodyPr wrap="square" lIns="0" tIns="0" rIns="0" bIns="0" rtlCol="0" anchor="t"/>
          <a:lstStyle/>
          <a:p>
            <a:pPr indent="0" marL="0">
              <a:buNone/>
            </a:pPr>
            <a:r>
              <a:rPr lang="en-US" sz="1200" b="1" dirty="0">
                <a:solidFill>
                  <a:srgbClr val="0A7F44"/>
                </a:solidFill>
              </a:rPr>
              <a:t>6 · NINE GATES · stops at the first failure</a:t>
            </a:r>
            <a:endParaRPr lang="en-US" sz="1200" dirty="0"/>
          </a:p>
        </p:txBody>
      </p:sp>
      <p:sp>
        <p:nvSpPr>
          <p:cNvPr id="33" name="Shape 30"/>
          <p:cNvSpPr/>
          <p:nvPr/>
        </p:nvSpPr>
        <p:spPr>
          <a:xfrm>
            <a:off x="749808" y="3383280"/>
            <a:ext cx="1298448" cy="310896"/>
          </a:xfrm>
          <a:prstGeom prst="roundRect">
            <a:avLst>
              <a:gd name="adj" fmla="val 50000"/>
            </a:avLst>
          </a:prstGeom>
          <a:solidFill>
            <a:srgbClr val="FFFFFF"/>
          </a:solidFill>
          <a:ln w="12700">
            <a:solidFill>
              <a:srgbClr val="FFFFFF"/>
            </a:solidFill>
            <a:prstDash val="solid"/>
          </a:ln>
        </p:spPr>
      </p:sp>
      <p:sp>
        <p:nvSpPr>
          <p:cNvPr id="34" name="Text 31"/>
          <p:cNvSpPr txBox="1"/>
          <p:nvPr/>
        </p:nvSpPr>
        <p:spPr>
          <a:xfrm>
            <a:off x="749808" y="3383280"/>
            <a:ext cx="1298448" cy="310896"/>
          </a:xfrm>
          <a:prstGeom prst="rect">
            <a:avLst/>
          </a:prstGeom>
          <a:noFill/>
          <a:ln/>
        </p:spPr>
        <p:txBody>
          <a:bodyPr wrap="square" lIns="0" tIns="0" rIns="0" bIns="0" rtlCol="0" anchor="ctr"/>
          <a:lstStyle/>
          <a:p>
            <a:pPr algn="ctr" indent="0" marL="0">
              <a:buNone/>
            </a:pPr>
            <a:r>
              <a:rPr lang="en-US" sz="950" b="1" dirty="0">
                <a:solidFill>
                  <a:srgbClr val="0A7F44"/>
                </a:solidFill>
              </a:rPr>
              <a:t>policy</a:t>
            </a:r>
            <a:endParaRPr lang="en-US" sz="950" dirty="0"/>
          </a:p>
        </p:txBody>
      </p:sp>
      <p:sp>
        <p:nvSpPr>
          <p:cNvPr id="35" name="Shape 32"/>
          <p:cNvSpPr/>
          <p:nvPr/>
        </p:nvSpPr>
        <p:spPr>
          <a:xfrm>
            <a:off x="2093976" y="3383280"/>
            <a:ext cx="1298448" cy="310896"/>
          </a:xfrm>
          <a:prstGeom prst="roundRect">
            <a:avLst>
              <a:gd name="adj" fmla="val 50000"/>
            </a:avLst>
          </a:prstGeom>
          <a:solidFill>
            <a:srgbClr val="FFFFFF"/>
          </a:solidFill>
          <a:ln w="12700">
            <a:solidFill>
              <a:srgbClr val="FFFFFF"/>
            </a:solidFill>
            <a:prstDash val="solid"/>
          </a:ln>
        </p:spPr>
      </p:sp>
      <p:sp>
        <p:nvSpPr>
          <p:cNvPr id="36" name="Text 33"/>
          <p:cNvSpPr txBox="1"/>
          <p:nvPr/>
        </p:nvSpPr>
        <p:spPr>
          <a:xfrm>
            <a:off x="2093976" y="3383280"/>
            <a:ext cx="1298448" cy="310896"/>
          </a:xfrm>
          <a:prstGeom prst="rect">
            <a:avLst/>
          </a:prstGeom>
          <a:noFill/>
          <a:ln/>
        </p:spPr>
        <p:txBody>
          <a:bodyPr wrap="square" lIns="0" tIns="0" rIns="0" bIns="0" rtlCol="0" anchor="ctr"/>
          <a:lstStyle/>
          <a:p>
            <a:pPr algn="ctr" indent="0" marL="0">
              <a:buNone/>
            </a:pPr>
            <a:r>
              <a:rPr lang="en-US" sz="950" b="1" dirty="0">
                <a:solidFill>
                  <a:srgbClr val="0A7F44"/>
                </a:solidFill>
              </a:rPr>
              <a:t>code scan</a:t>
            </a:r>
            <a:endParaRPr lang="en-US" sz="950" dirty="0"/>
          </a:p>
        </p:txBody>
      </p:sp>
      <p:sp>
        <p:nvSpPr>
          <p:cNvPr id="37" name="Shape 34"/>
          <p:cNvSpPr/>
          <p:nvPr/>
        </p:nvSpPr>
        <p:spPr>
          <a:xfrm>
            <a:off x="3438144" y="3383280"/>
            <a:ext cx="1298448" cy="310896"/>
          </a:xfrm>
          <a:prstGeom prst="roundRect">
            <a:avLst>
              <a:gd name="adj" fmla="val 50000"/>
            </a:avLst>
          </a:prstGeom>
          <a:solidFill>
            <a:srgbClr val="FFFFFF"/>
          </a:solidFill>
          <a:ln w="12700">
            <a:solidFill>
              <a:srgbClr val="FFFFFF"/>
            </a:solidFill>
            <a:prstDash val="solid"/>
          </a:ln>
        </p:spPr>
      </p:sp>
      <p:sp>
        <p:nvSpPr>
          <p:cNvPr id="38" name="Text 35"/>
          <p:cNvSpPr txBox="1"/>
          <p:nvPr/>
        </p:nvSpPr>
        <p:spPr>
          <a:xfrm>
            <a:off x="3438144" y="3383280"/>
            <a:ext cx="1298448" cy="310896"/>
          </a:xfrm>
          <a:prstGeom prst="rect">
            <a:avLst/>
          </a:prstGeom>
          <a:noFill/>
          <a:ln/>
        </p:spPr>
        <p:txBody>
          <a:bodyPr wrap="square" lIns="0" tIns="0" rIns="0" bIns="0" rtlCol="0" anchor="ctr"/>
          <a:lstStyle/>
          <a:p>
            <a:pPr algn="ctr" indent="0" marL="0">
              <a:buNone/>
            </a:pPr>
            <a:r>
              <a:rPr lang="en-US" sz="950" b="1" dirty="0">
                <a:solidFill>
                  <a:srgbClr val="0A7F44"/>
                </a:solidFill>
              </a:rPr>
              <a:t>unit tests</a:t>
            </a:r>
            <a:endParaRPr lang="en-US" sz="950" dirty="0"/>
          </a:p>
        </p:txBody>
      </p:sp>
      <p:sp>
        <p:nvSpPr>
          <p:cNvPr id="39" name="Shape 36"/>
          <p:cNvSpPr/>
          <p:nvPr/>
        </p:nvSpPr>
        <p:spPr>
          <a:xfrm>
            <a:off x="4782312" y="3383280"/>
            <a:ext cx="1298448" cy="310896"/>
          </a:xfrm>
          <a:prstGeom prst="roundRect">
            <a:avLst>
              <a:gd name="adj" fmla="val 50000"/>
            </a:avLst>
          </a:prstGeom>
          <a:solidFill>
            <a:srgbClr val="FFFFFF"/>
          </a:solidFill>
          <a:ln w="12700">
            <a:solidFill>
              <a:srgbClr val="FFFFFF"/>
            </a:solidFill>
            <a:prstDash val="solid"/>
          </a:ln>
        </p:spPr>
      </p:sp>
      <p:sp>
        <p:nvSpPr>
          <p:cNvPr id="40" name="Text 37"/>
          <p:cNvSpPr txBox="1"/>
          <p:nvPr/>
        </p:nvSpPr>
        <p:spPr>
          <a:xfrm>
            <a:off x="4782312" y="3383280"/>
            <a:ext cx="1298448" cy="310896"/>
          </a:xfrm>
          <a:prstGeom prst="rect">
            <a:avLst/>
          </a:prstGeom>
          <a:noFill/>
          <a:ln/>
        </p:spPr>
        <p:txBody>
          <a:bodyPr wrap="square" lIns="0" tIns="0" rIns="0" bIns="0" rtlCol="0" anchor="ctr"/>
          <a:lstStyle/>
          <a:p>
            <a:pPr algn="ctr" indent="0" marL="0">
              <a:buNone/>
            </a:pPr>
            <a:r>
              <a:rPr lang="en-US" sz="950" b="1" dirty="0">
                <a:solidFill>
                  <a:srgbClr val="0A7F44"/>
                </a:solidFill>
              </a:rPr>
              <a:t>crash matrix</a:t>
            </a:r>
            <a:endParaRPr lang="en-US" sz="950" dirty="0"/>
          </a:p>
        </p:txBody>
      </p:sp>
      <p:sp>
        <p:nvSpPr>
          <p:cNvPr id="41" name="Shape 38"/>
          <p:cNvSpPr/>
          <p:nvPr/>
        </p:nvSpPr>
        <p:spPr>
          <a:xfrm>
            <a:off x="6126480" y="3383280"/>
            <a:ext cx="1298448" cy="310896"/>
          </a:xfrm>
          <a:prstGeom prst="roundRect">
            <a:avLst>
              <a:gd name="adj" fmla="val 50000"/>
            </a:avLst>
          </a:prstGeom>
          <a:solidFill>
            <a:srgbClr val="FFFFFF"/>
          </a:solidFill>
          <a:ln w="12700">
            <a:solidFill>
              <a:srgbClr val="FFFFFF"/>
            </a:solidFill>
            <a:prstDash val="solid"/>
          </a:ln>
        </p:spPr>
      </p:sp>
      <p:sp>
        <p:nvSpPr>
          <p:cNvPr id="42" name="Text 39"/>
          <p:cNvSpPr txBox="1"/>
          <p:nvPr/>
        </p:nvSpPr>
        <p:spPr>
          <a:xfrm>
            <a:off x="6126480" y="3383280"/>
            <a:ext cx="1298448" cy="310896"/>
          </a:xfrm>
          <a:prstGeom prst="rect">
            <a:avLst/>
          </a:prstGeom>
          <a:noFill/>
          <a:ln/>
        </p:spPr>
        <p:txBody>
          <a:bodyPr wrap="square" lIns="0" tIns="0" rIns="0" bIns="0" rtlCol="0" anchor="ctr"/>
          <a:lstStyle/>
          <a:p>
            <a:pPr algn="ctr" indent="0" marL="0">
              <a:buNone/>
            </a:pPr>
            <a:r>
              <a:rPr lang="en-US" sz="950" b="1" dirty="0">
                <a:solidFill>
                  <a:srgbClr val="0A7F44"/>
                </a:solidFill>
              </a:rPr>
              <a:t>red team</a:t>
            </a:r>
            <a:endParaRPr lang="en-US" sz="950" dirty="0"/>
          </a:p>
        </p:txBody>
      </p:sp>
      <p:sp>
        <p:nvSpPr>
          <p:cNvPr id="43" name="Shape 40"/>
          <p:cNvSpPr/>
          <p:nvPr/>
        </p:nvSpPr>
        <p:spPr>
          <a:xfrm>
            <a:off x="749808" y="3785616"/>
            <a:ext cx="1298448" cy="310896"/>
          </a:xfrm>
          <a:prstGeom prst="roundRect">
            <a:avLst>
              <a:gd name="adj" fmla="val 50000"/>
            </a:avLst>
          </a:prstGeom>
          <a:solidFill>
            <a:srgbClr val="FFFFFF"/>
          </a:solidFill>
          <a:ln w="12700">
            <a:solidFill>
              <a:srgbClr val="FFFFFF"/>
            </a:solidFill>
            <a:prstDash val="solid"/>
          </a:ln>
        </p:spPr>
      </p:sp>
      <p:sp>
        <p:nvSpPr>
          <p:cNvPr id="44" name="Text 41"/>
          <p:cNvSpPr txBox="1"/>
          <p:nvPr/>
        </p:nvSpPr>
        <p:spPr>
          <a:xfrm>
            <a:off x="749808" y="3785616"/>
            <a:ext cx="1298448" cy="310896"/>
          </a:xfrm>
          <a:prstGeom prst="rect">
            <a:avLst/>
          </a:prstGeom>
          <a:noFill/>
          <a:ln/>
        </p:spPr>
        <p:txBody>
          <a:bodyPr wrap="square" lIns="0" tIns="0" rIns="0" bIns="0" rtlCol="0" anchor="ctr"/>
          <a:lstStyle/>
          <a:p>
            <a:pPr algn="ctr" indent="0" marL="0">
              <a:buNone/>
            </a:pPr>
            <a:r>
              <a:rPr lang="en-US" sz="950" b="1" dirty="0">
                <a:solidFill>
                  <a:srgbClr val="0A7F44"/>
                </a:solidFill>
              </a:rPr>
              <a:t>end to end</a:t>
            </a:r>
            <a:endParaRPr lang="en-US" sz="950" dirty="0"/>
          </a:p>
        </p:txBody>
      </p:sp>
      <p:sp>
        <p:nvSpPr>
          <p:cNvPr id="45" name="Shape 42"/>
          <p:cNvSpPr/>
          <p:nvPr/>
        </p:nvSpPr>
        <p:spPr>
          <a:xfrm>
            <a:off x="2093976" y="3785616"/>
            <a:ext cx="1298448" cy="310896"/>
          </a:xfrm>
          <a:prstGeom prst="roundRect">
            <a:avLst>
              <a:gd name="adj" fmla="val 50000"/>
            </a:avLst>
          </a:prstGeom>
          <a:solidFill>
            <a:srgbClr val="FFFFFF"/>
          </a:solidFill>
          <a:ln w="12700">
            <a:solidFill>
              <a:srgbClr val="FFFFFF"/>
            </a:solidFill>
            <a:prstDash val="solid"/>
          </a:ln>
        </p:spPr>
      </p:sp>
      <p:sp>
        <p:nvSpPr>
          <p:cNvPr id="46" name="Text 43"/>
          <p:cNvSpPr txBox="1"/>
          <p:nvPr/>
        </p:nvSpPr>
        <p:spPr>
          <a:xfrm>
            <a:off x="2093976" y="3785616"/>
            <a:ext cx="1298448" cy="310896"/>
          </a:xfrm>
          <a:prstGeom prst="rect">
            <a:avLst/>
          </a:prstGeom>
          <a:noFill/>
          <a:ln/>
        </p:spPr>
        <p:txBody>
          <a:bodyPr wrap="square" lIns="0" tIns="0" rIns="0" bIns="0" rtlCol="0" anchor="ctr"/>
          <a:lstStyle/>
          <a:p>
            <a:pPr algn="ctr" indent="0" marL="0">
              <a:buNone/>
            </a:pPr>
            <a:r>
              <a:rPr lang="en-US" sz="950" b="1" dirty="0">
                <a:solidFill>
                  <a:srgbClr val="0A7F44"/>
                </a:solidFill>
              </a:rPr>
              <a:t>planner pass^3</a:t>
            </a:r>
            <a:endParaRPr lang="en-US" sz="950" dirty="0"/>
          </a:p>
        </p:txBody>
      </p:sp>
      <p:sp>
        <p:nvSpPr>
          <p:cNvPr id="47" name="Shape 44"/>
          <p:cNvSpPr/>
          <p:nvPr/>
        </p:nvSpPr>
        <p:spPr>
          <a:xfrm>
            <a:off x="3438144" y="3785616"/>
            <a:ext cx="1298448" cy="310896"/>
          </a:xfrm>
          <a:prstGeom prst="roundRect">
            <a:avLst>
              <a:gd name="adj" fmla="val 50000"/>
            </a:avLst>
          </a:prstGeom>
          <a:solidFill>
            <a:srgbClr val="FFFFFF"/>
          </a:solidFill>
          <a:ln w="12700">
            <a:solidFill>
              <a:srgbClr val="FFFFFF"/>
            </a:solidFill>
            <a:prstDash val="solid"/>
          </a:ln>
        </p:spPr>
      </p:sp>
      <p:sp>
        <p:nvSpPr>
          <p:cNvPr id="48" name="Text 45"/>
          <p:cNvSpPr txBox="1"/>
          <p:nvPr/>
        </p:nvSpPr>
        <p:spPr>
          <a:xfrm>
            <a:off x="3438144" y="3785616"/>
            <a:ext cx="1298448" cy="310896"/>
          </a:xfrm>
          <a:prstGeom prst="rect">
            <a:avLst/>
          </a:prstGeom>
          <a:noFill/>
          <a:ln/>
        </p:spPr>
        <p:txBody>
          <a:bodyPr wrap="square" lIns="0" tIns="0" rIns="0" bIns="0" rtlCol="0" anchor="ctr"/>
          <a:lstStyle/>
          <a:p>
            <a:pPr algn="ctr" indent="0" marL="0">
              <a:buNone/>
            </a:pPr>
            <a:r>
              <a:rPr lang="en-US" sz="950" b="1" dirty="0">
                <a:solidFill>
                  <a:srgbClr val="0A7F44"/>
                </a:solidFill>
              </a:rPr>
              <a:t>oracle</a:t>
            </a:r>
            <a:endParaRPr lang="en-US" sz="950" dirty="0"/>
          </a:p>
        </p:txBody>
      </p:sp>
      <p:sp>
        <p:nvSpPr>
          <p:cNvPr id="49" name="Shape 46"/>
          <p:cNvSpPr/>
          <p:nvPr/>
        </p:nvSpPr>
        <p:spPr>
          <a:xfrm>
            <a:off x="4782312" y="3785616"/>
            <a:ext cx="1298448" cy="310896"/>
          </a:xfrm>
          <a:prstGeom prst="roundRect">
            <a:avLst>
              <a:gd name="adj" fmla="val 50000"/>
            </a:avLst>
          </a:prstGeom>
          <a:solidFill>
            <a:srgbClr val="FFFFFF"/>
          </a:solidFill>
          <a:ln w="12700">
            <a:solidFill>
              <a:srgbClr val="FFFFFF"/>
            </a:solidFill>
            <a:prstDash val="solid"/>
          </a:ln>
        </p:spPr>
      </p:sp>
      <p:sp>
        <p:nvSpPr>
          <p:cNvPr id="50" name="Text 47"/>
          <p:cNvSpPr txBox="1"/>
          <p:nvPr/>
        </p:nvSpPr>
        <p:spPr>
          <a:xfrm>
            <a:off x="4782312" y="3785616"/>
            <a:ext cx="1298448" cy="310896"/>
          </a:xfrm>
          <a:prstGeom prst="rect">
            <a:avLst/>
          </a:prstGeom>
          <a:noFill/>
          <a:ln/>
        </p:spPr>
        <p:txBody>
          <a:bodyPr wrap="square" lIns="0" tIns="0" rIns="0" bIns="0" rtlCol="0" anchor="ctr"/>
          <a:lstStyle/>
          <a:p>
            <a:pPr algn="ctr" indent="0" marL="0">
              <a:buNone/>
            </a:pPr>
            <a:r>
              <a:rPr lang="en-US" sz="950" b="1" dirty="0">
                <a:solidFill>
                  <a:srgbClr val="0A7F44"/>
                </a:solidFill>
              </a:rPr>
              <a:t>privacy canary</a:t>
            </a:r>
            <a:endParaRPr lang="en-US" sz="950" dirty="0"/>
          </a:p>
        </p:txBody>
      </p:sp>
      <p:sp>
        <p:nvSpPr>
          <p:cNvPr id="51" name="Shape 48"/>
          <p:cNvSpPr/>
          <p:nvPr/>
        </p:nvSpPr>
        <p:spPr>
          <a:xfrm>
            <a:off x="7543800" y="3611880"/>
            <a:ext cx="274320" cy="0"/>
          </a:xfrm>
          <a:prstGeom prst="line">
            <a:avLst/>
          </a:prstGeom>
          <a:noFill/>
          <a:ln w="22225">
            <a:solidFill>
              <a:srgbClr val="8A8A92"/>
            </a:solidFill>
            <a:prstDash val="solid"/>
            <a:tailEnd type="triangle"/>
          </a:ln>
        </p:spPr>
      </p:sp>
      <p:sp>
        <p:nvSpPr>
          <p:cNvPr id="52" name="Shape 49"/>
          <p:cNvSpPr/>
          <p:nvPr/>
        </p:nvSpPr>
        <p:spPr>
          <a:xfrm>
            <a:off x="7863840" y="2926080"/>
            <a:ext cx="3749040" cy="1371600"/>
          </a:xfrm>
          <a:prstGeom prst="roundRect">
            <a:avLst>
              <a:gd name="adj" fmla="val 8000"/>
            </a:avLst>
          </a:prstGeom>
          <a:solidFill>
            <a:srgbClr val="FFFFFF"/>
          </a:solidFill>
          <a:ln w="25400">
            <a:solidFill>
              <a:srgbClr val="D1352B"/>
            </a:solidFill>
            <a:prstDash val="solid"/>
          </a:ln>
        </p:spPr>
      </p:sp>
      <p:sp>
        <p:nvSpPr>
          <p:cNvPr id="53" name="Text 50"/>
          <p:cNvSpPr txBox="1"/>
          <p:nvPr/>
        </p:nvSpPr>
        <p:spPr>
          <a:xfrm>
            <a:off x="8046720" y="3017520"/>
            <a:ext cx="3383280" cy="256032"/>
          </a:xfrm>
          <a:prstGeom prst="rect">
            <a:avLst/>
          </a:prstGeom>
          <a:noFill/>
          <a:ln/>
        </p:spPr>
        <p:txBody>
          <a:bodyPr wrap="square" lIns="0" tIns="0" rIns="0" bIns="0" rtlCol="0" anchor="t"/>
          <a:lstStyle/>
          <a:p>
            <a:pPr indent="0" marL="0">
              <a:buNone/>
            </a:pPr>
            <a:r>
              <a:rPr lang="en-US" sz="1200" b="1" dirty="0">
                <a:solidFill>
                  <a:srgbClr val="D1352B"/>
                </a:solidFill>
              </a:rPr>
              <a:t>7 · SHIP, OR ROLL BACK</a:t>
            </a:r>
            <a:endParaRPr lang="en-US" sz="1200" dirty="0"/>
          </a:p>
        </p:txBody>
      </p:sp>
      <p:sp>
        <p:nvSpPr>
          <p:cNvPr id="54" name="Text 51"/>
          <p:cNvSpPr txBox="1"/>
          <p:nvPr/>
        </p:nvSpPr>
        <p:spPr>
          <a:xfrm>
            <a:off x="8046720" y="3337560"/>
            <a:ext cx="3429000" cy="914400"/>
          </a:xfrm>
          <a:prstGeom prst="rect">
            <a:avLst/>
          </a:prstGeom>
          <a:noFill/>
          <a:ln/>
        </p:spPr>
        <p:txBody>
          <a:bodyPr wrap="square" lIns="0" tIns="0" rIns="0" bIns="0" rtlCol="0" anchor="t"/>
          <a:lstStyle/>
          <a:p>
            <a:pPr indent="0" marL="0">
              <a:buNone/>
            </a:pPr>
            <a:r>
              <a:rPr lang="en-US" sz="1100" dirty="0">
                <a:solidFill>
                  <a:srgbClr val="55555C"/>
                </a:solidFill>
              </a:rPr>
              <a:t>A small canary that turns itself off if thumbs down rise. Anything beyond a safe setting waits for a person.</a:t>
            </a:r>
            <a:endParaRPr lang="en-US" sz="1100" dirty="0"/>
          </a:p>
        </p:txBody>
      </p:sp>
      <p:sp>
        <p:nvSpPr>
          <p:cNvPr id="55" name="Shape 52"/>
          <p:cNvSpPr/>
          <p:nvPr/>
        </p:nvSpPr>
        <p:spPr>
          <a:xfrm>
            <a:off x="548640" y="4434840"/>
            <a:ext cx="5440680" cy="1188720"/>
          </a:xfrm>
          <a:prstGeom prst="roundRect">
            <a:avLst>
              <a:gd name="adj" fmla="val 9231"/>
            </a:avLst>
          </a:prstGeom>
          <a:solidFill>
            <a:srgbClr val="E9F3EC"/>
          </a:solidFill>
          <a:ln w="12700">
            <a:solidFill>
              <a:srgbClr val="E9F3EC"/>
            </a:solidFill>
            <a:prstDash val="solid"/>
          </a:ln>
        </p:spPr>
      </p:sp>
      <p:sp>
        <p:nvSpPr>
          <p:cNvPr id="56" name="Text 53"/>
          <p:cNvSpPr txBox="1"/>
          <p:nvPr/>
        </p:nvSpPr>
        <p:spPr>
          <a:xfrm>
            <a:off x="731520" y="4526280"/>
            <a:ext cx="1828800" cy="201168"/>
          </a:xfrm>
          <a:prstGeom prst="rect">
            <a:avLst/>
          </a:prstGeom>
          <a:noFill/>
          <a:ln/>
        </p:spPr>
        <p:txBody>
          <a:bodyPr wrap="square" lIns="0" tIns="0" rIns="0" bIns="0" rtlCol="0" anchor="t"/>
          <a:lstStyle/>
          <a:p>
            <a:pPr indent="0" marL="0">
              <a:buNone/>
            </a:pPr>
            <a:r>
              <a:rPr lang="en-US" sz="1000" b="1" spc="100" kern="0" dirty="0">
                <a:solidFill>
                  <a:srgbClr val="0A7F44"/>
                </a:solidFill>
              </a:rPr>
              <a:t>SHIPPED</a:t>
            </a:r>
            <a:endParaRPr lang="en-US" sz="1000" dirty="0"/>
          </a:p>
        </p:txBody>
      </p:sp>
      <p:sp>
        <p:nvSpPr>
          <p:cNvPr id="57" name="Text 54"/>
          <p:cNvSpPr txBox="1"/>
          <p:nvPr/>
        </p:nvSpPr>
        <p:spPr>
          <a:xfrm>
            <a:off x="731520" y="4754880"/>
            <a:ext cx="5120640" cy="292608"/>
          </a:xfrm>
          <a:prstGeom prst="rect">
            <a:avLst/>
          </a:prstGeom>
          <a:noFill/>
          <a:ln/>
        </p:spPr>
        <p:txBody>
          <a:bodyPr wrap="square" lIns="0" tIns="0" rIns="0" bIns="0" rtlCol="0" anchor="t"/>
          <a:lstStyle/>
          <a:p>
            <a:pPr indent="0" marL="0">
              <a:buNone/>
            </a:pPr>
            <a:r>
              <a:rPr lang="en-US" sz="1400" b="1" dirty="0">
                <a:solidFill>
                  <a:srgbClr val="0A0A0B"/>
                </a:solidFill>
              </a:rPr>
              <a:t>"Ask me later" → ask.hour 12 → 18</a:t>
            </a:r>
            <a:endParaRPr lang="en-US" sz="1400" dirty="0"/>
          </a:p>
        </p:txBody>
      </p:sp>
      <p:sp>
        <p:nvSpPr>
          <p:cNvPr id="58" name="Text 55"/>
          <p:cNvSpPr txBox="1"/>
          <p:nvPr/>
        </p:nvSpPr>
        <p:spPr>
          <a:xfrm>
            <a:off x="731520" y="5074920"/>
            <a:ext cx="5120640" cy="502920"/>
          </a:xfrm>
          <a:prstGeom prst="rect">
            <a:avLst/>
          </a:prstGeom>
          <a:noFill/>
          <a:ln/>
        </p:spPr>
        <p:txBody>
          <a:bodyPr wrap="square" lIns="0" tIns="0" rIns="0" bIns="0" rtlCol="0" anchor="t"/>
          <a:lstStyle/>
          <a:p>
            <a:pPr indent="0" marL="0">
              <a:buNone/>
            </a:pPr>
            <a:r>
              <a:rPr lang="en-US" sz="1050" dirty="0">
                <a:solidFill>
                  <a:srgbClr val="55555C"/>
                </a:solidFill>
              </a:rPr>
              <a:t>Approved as a safe setting, shipped to 5 of 31 beta members: thumbs down 29% → 23% over 7 days, promoted.</a:t>
            </a:r>
            <a:endParaRPr lang="en-US" sz="1050" dirty="0"/>
          </a:p>
        </p:txBody>
      </p:sp>
      <p:sp>
        <p:nvSpPr>
          <p:cNvPr id="59" name="Shape 56"/>
          <p:cNvSpPr/>
          <p:nvPr/>
        </p:nvSpPr>
        <p:spPr>
          <a:xfrm>
            <a:off x="6172200" y="4434840"/>
            <a:ext cx="5440680" cy="1188720"/>
          </a:xfrm>
          <a:prstGeom prst="roundRect">
            <a:avLst>
              <a:gd name="adj" fmla="val 9231"/>
            </a:avLst>
          </a:prstGeom>
          <a:solidFill>
            <a:srgbClr val="FBEAE9"/>
          </a:solidFill>
          <a:ln w="12700">
            <a:solidFill>
              <a:srgbClr val="FBEAE9"/>
            </a:solidFill>
            <a:prstDash val="solid"/>
          </a:ln>
        </p:spPr>
      </p:sp>
      <p:sp>
        <p:nvSpPr>
          <p:cNvPr id="60" name="Text 57"/>
          <p:cNvSpPr txBox="1"/>
          <p:nvPr/>
        </p:nvSpPr>
        <p:spPr>
          <a:xfrm>
            <a:off x="6355080" y="4526280"/>
            <a:ext cx="2743200" cy="201168"/>
          </a:xfrm>
          <a:prstGeom prst="rect">
            <a:avLst/>
          </a:prstGeom>
          <a:noFill/>
          <a:ln/>
        </p:spPr>
        <p:txBody>
          <a:bodyPr wrap="square" lIns="0" tIns="0" rIns="0" bIns="0" rtlCol="0" anchor="t"/>
          <a:lstStyle/>
          <a:p>
            <a:pPr indent="0" marL="0">
              <a:buNone/>
            </a:pPr>
            <a:r>
              <a:rPr lang="en-US" sz="1000" b="1" spc="100" kern="0" dirty="0">
                <a:solidFill>
                  <a:srgbClr val="D1352B"/>
                </a:solidFill>
              </a:rPr>
              <a:t>ROLLED BACK BY ITSELF</a:t>
            </a:r>
            <a:endParaRPr lang="en-US" sz="1000" dirty="0"/>
          </a:p>
        </p:txBody>
      </p:sp>
      <p:sp>
        <p:nvSpPr>
          <p:cNvPr id="61" name="Text 58"/>
          <p:cNvSpPr txBox="1"/>
          <p:nvPr/>
        </p:nvSpPr>
        <p:spPr>
          <a:xfrm>
            <a:off x="6355080" y="4754880"/>
            <a:ext cx="5120640" cy="292608"/>
          </a:xfrm>
          <a:prstGeom prst="rect">
            <a:avLst/>
          </a:prstGeom>
          <a:noFill/>
          <a:ln/>
        </p:spPr>
        <p:txBody>
          <a:bodyPr wrap="square" lIns="0" tIns="0" rIns="0" bIns="0" rtlCol="0" anchor="t"/>
          <a:lstStyle/>
          <a:p>
            <a:pPr indent="0" marL="0">
              <a:buNone/>
            </a:pPr>
            <a:r>
              <a:rPr lang="en-US" sz="1400" b="1" dirty="0">
                <a:solidFill>
                  <a:srgbClr val="0A0A0B"/>
                </a:solidFill>
              </a:rPr>
              <a:t>A planted bad change: ask.ahead 3 → 2</a:t>
            </a:r>
            <a:endParaRPr lang="en-US" sz="1400" dirty="0"/>
          </a:p>
        </p:txBody>
      </p:sp>
      <p:sp>
        <p:nvSpPr>
          <p:cNvPr id="62" name="Text 59"/>
          <p:cNvSpPr txBox="1"/>
          <p:nvPr/>
        </p:nvSpPr>
        <p:spPr>
          <a:xfrm>
            <a:off x="6355080" y="5074920"/>
            <a:ext cx="5120640" cy="502920"/>
          </a:xfrm>
          <a:prstGeom prst="rect">
            <a:avLst/>
          </a:prstGeom>
          <a:noFill/>
          <a:ln/>
        </p:spPr>
        <p:txBody>
          <a:bodyPr wrap="square" lIns="0" tIns="0" rIns="0" bIns="0" rtlCol="0" anchor="t"/>
          <a:lstStyle/>
          <a:p>
            <a:pPr indent="0" marL="0">
              <a:buNone/>
            </a:pPr>
            <a:r>
              <a:rPr lang="en-US" sz="1050" dirty="0">
                <a:solidFill>
                  <a:srgbClr val="55555C"/>
                </a:solidFill>
              </a:rPr>
              <a:t>Sent to a canary of 8: thumbs down on it went from 40% to 60%, and the monitor turned it off with no one asked.</a:t>
            </a:r>
            <a:endParaRPr lang="en-US" sz="1050" dirty="0"/>
          </a:p>
        </p:txBody>
      </p:sp>
      <p:sp>
        <p:nvSpPr>
          <p:cNvPr id="63" name="Shape 60"/>
          <p:cNvSpPr/>
          <p:nvPr/>
        </p:nvSpPr>
        <p:spPr>
          <a:xfrm>
            <a:off x="548640" y="5760720"/>
            <a:ext cx="11064240" cy="502920"/>
          </a:xfrm>
          <a:prstGeom prst="roundRect">
            <a:avLst>
              <a:gd name="adj" fmla="val 21818"/>
            </a:avLst>
          </a:prstGeom>
          <a:solidFill>
            <a:srgbClr val="0A0A0B"/>
          </a:solidFill>
          <a:ln w="12700">
            <a:solidFill>
              <a:srgbClr val="0A0A0B"/>
            </a:solidFill>
            <a:prstDash val="solid"/>
          </a:ln>
        </p:spPr>
      </p:sp>
      <p:sp>
        <p:nvSpPr>
          <p:cNvPr id="64" name="Text 61"/>
          <p:cNvSpPr txBox="1"/>
          <p:nvPr/>
        </p:nvSpPr>
        <p:spPr>
          <a:xfrm>
            <a:off x="777240" y="5760720"/>
            <a:ext cx="1463040" cy="502920"/>
          </a:xfrm>
          <a:prstGeom prst="rect">
            <a:avLst/>
          </a:prstGeom>
          <a:noFill/>
          <a:ln/>
        </p:spPr>
        <p:txBody>
          <a:bodyPr wrap="square" lIns="0" tIns="0" rIns="0" bIns="0" rtlCol="0" anchor="ctr"/>
          <a:lstStyle/>
          <a:p>
            <a:pPr indent="0" marL="0">
              <a:buNone/>
            </a:pPr>
            <a:r>
              <a:rPr lang="en-US" sz="1100" b="1" dirty="0">
                <a:solidFill>
                  <a:srgbClr val="FFFFFF"/>
                </a:solidFill>
              </a:rPr>
              <a:t>NEVER-LIST</a:t>
            </a:r>
            <a:endParaRPr lang="en-US" sz="1100" dirty="0"/>
          </a:p>
        </p:txBody>
      </p:sp>
      <p:sp>
        <p:nvSpPr>
          <p:cNvPr id="65" name="Text 62"/>
          <p:cNvSpPr txBox="1"/>
          <p:nvPr/>
        </p:nvSpPr>
        <p:spPr>
          <a:xfrm>
            <a:off x="2240280" y="5760720"/>
            <a:ext cx="9235440" cy="502920"/>
          </a:xfrm>
          <a:prstGeom prst="rect">
            <a:avLst/>
          </a:prstGeom>
          <a:noFill/>
          <a:ln/>
        </p:spPr>
        <p:txBody>
          <a:bodyPr wrap="square" lIns="0" tIns="0" rIns="0" bIns="0" rtlCol="0" anchor="ctr"/>
          <a:lstStyle/>
          <a:p>
            <a:pPr indent="0" marL="0">
              <a:buNone/>
            </a:pPr>
            <a:r>
              <a:rPr lang="en-US" sz="1200" dirty="0">
                <a:solidFill>
                  <a:srgbClr val="FFFFFF"/>
                </a:solidFill>
              </a:rPr>
              <a:t>Booking without a yes · data off the server · a diagnosis or a dose · the guards · the tests · A2A · deployment</a:t>
            </a:r>
            <a:endParaRPr lang="en-US" sz="120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MEASURED</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The numbers, and where each comes from</a:t>
            </a:r>
            <a:endParaRPr lang="en-US" sz="3200" dirty="0"/>
          </a:p>
        </p:txBody>
      </p:sp>
      <p:sp>
        <p:nvSpPr>
          <p:cNvPr id="5" name="Shape 2"/>
          <p:cNvSpPr/>
          <p:nvPr/>
        </p:nvSpPr>
        <p:spPr>
          <a:xfrm>
            <a:off x="548640" y="1691640"/>
            <a:ext cx="2670048" cy="1234440"/>
          </a:xfrm>
          <a:prstGeom prst="roundRect">
            <a:avLst>
              <a:gd name="adj" fmla="val 8889"/>
            </a:avLst>
          </a:prstGeom>
          <a:solidFill>
            <a:srgbClr val="E9F3EC"/>
          </a:solidFill>
          <a:ln w="12700">
            <a:solidFill>
              <a:srgbClr val="E9F3EC"/>
            </a:solidFill>
            <a:prstDash val="solid"/>
          </a:ln>
        </p:spPr>
      </p:sp>
      <p:sp>
        <p:nvSpPr>
          <p:cNvPr id="6" name="Text 3"/>
          <p:cNvSpPr txBox="1"/>
          <p:nvPr/>
        </p:nvSpPr>
        <p:spPr>
          <a:xfrm>
            <a:off x="749808" y="1783080"/>
            <a:ext cx="2286000" cy="658368"/>
          </a:xfrm>
          <a:prstGeom prst="rect">
            <a:avLst/>
          </a:prstGeom>
          <a:noFill/>
          <a:ln/>
        </p:spPr>
        <p:txBody>
          <a:bodyPr wrap="square" lIns="0" tIns="0" rIns="0" bIns="0" rtlCol="0" anchor="t"/>
          <a:lstStyle/>
          <a:p>
            <a:pPr indent="0" marL="0">
              <a:buNone/>
            </a:pPr>
            <a:r>
              <a:rPr lang="en-US" sz="3400" b="1" dirty="0">
                <a:solidFill>
                  <a:srgbClr val="0A7F44"/>
                </a:solidFill>
              </a:rPr>
              <a:t>93/93</a:t>
            </a:r>
            <a:endParaRPr lang="en-US" sz="3400" dirty="0"/>
          </a:p>
        </p:txBody>
      </p:sp>
      <p:sp>
        <p:nvSpPr>
          <p:cNvPr id="7" name="Text 4"/>
          <p:cNvSpPr txBox="1"/>
          <p:nvPr/>
        </p:nvSpPr>
        <p:spPr>
          <a:xfrm>
            <a:off x="749808" y="2450592"/>
            <a:ext cx="2286000" cy="365760"/>
          </a:xfrm>
          <a:prstGeom prst="rect">
            <a:avLst/>
          </a:prstGeom>
          <a:noFill/>
          <a:ln/>
        </p:spPr>
        <p:txBody>
          <a:bodyPr wrap="square" lIns="0" tIns="0" rIns="0" bIns="0" rtlCol="0" anchor="t"/>
          <a:lstStyle/>
          <a:p>
            <a:pPr indent="0" marL="0">
              <a:buNone/>
            </a:pPr>
            <a:r>
              <a:rPr lang="en-US" sz="1200" dirty="0">
                <a:solidFill>
                  <a:srgbClr val="55555C"/>
                </a:solidFill>
              </a:rPr>
              <a:t>attacks stopped</a:t>
            </a:r>
            <a:endParaRPr lang="en-US" sz="1200" dirty="0"/>
          </a:p>
        </p:txBody>
      </p:sp>
      <p:sp>
        <p:nvSpPr>
          <p:cNvPr id="8" name="Shape 5"/>
          <p:cNvSpPr/>
          <p:nvPr/>
        </p:nvSpPr>
        <p:spPr>
          <a:xfrm>
            <a:off x="3346704" y="1691640"/>
            <a:ext cx="2670048" cy="1234440"/>
          </a:xfrm>
          <a:prstGeom prst="roundRect">
            <a:avLst>
              <a:gd name="adj" fmla="val 8889"/>
            </a:avLst>
          </a:prstGeom>
          <a:solidFill>
            <a:srgbClr val="F6F7F8"/>
          </a:solidFill>
          <a:ln w="12700">
            <a:solidFill>
              <a:srgbClr val="F6F7F8"/>
            </a:solidFill>
            <a:prstDash val="solid"/>
          </a:ln>
        </p:spPr>
      </p:sp>
      <p:sp>
        <p:nvSpPr>
          <p:cNvPr id="9" name="Text 6"/>
          <p:cNvSpPr txBox="1"/>
          <p:nvPr/>
        </p:nvSpPr>
        <p:spPr>
          <a:xfrm>
            <a:off x="3547872" y="1783080"/>
            <a:ext cx="2286000" cy="658368"/>
          </a:xfrm>
          <a:prstGeom prst="rect">
            <a:avLst/>
          </a:prstGeom>
          <a:noFill/>
          <a:ln/>
        </p:spPr>
        <p:txBody>
          <a:bodyPr wrap="square" lIns="0" tIns="0" rIns="0" bIns="0" rtlCol="0" anchor="t"/>
          <a:lstStyle/>
          <a:p>
            <a:pPr indent="0" marL="0">
              <a:buNone/>
            </a:pPr>
            <a:r>
              <a:rPr lang="en-US" sz="3400" b="1" dirty="0">
                <a:solidFill>
                  <a:srgbClr val="0A0A0B"/>
                </a:solidFill>
              </a:rPr>
              <a:t>58/58</a:t>
            </a:r>
            <a:endParaRPr lang="en-US" sz="3400" dirty="0"/>
          </a:p>
        </p:txBody>
      </p:sp>
      <p:sp>
        <p:nvSpPr>
          <p:cNvPr id="10" name="Text 7"/>
          <p:cNvSpPr txBox="1"/>
          <p:nvPr/>
        </p:nvSpPr>
        <p:spPr>
          <a:xfrm>
            <a:off x="3547872" y="2450592"/>
            <a:ext cx="2286000" cy="365760"/>
          </a:xfrm>
          <a:prstGeom prst="rect">
            <a:avLst/>
          </a:prstGeom>
          <a:noFill/>
          <a:ln/>
        </p:spPr>
        <p:txBody>
          <a:bodyPr wrap="square" lIns="0" tIns="0" rIns="0" bIns="0" rtlCol="0" anchor="t"/>
          <a:lstStyle/>
          <a:p>
            <a:pPr indent="0" marL="0">
              <a:buNone/>
            </a:pPr>
            <a:r>
              <a:rPr lang="en-US" sz="1200" dirty="0">
                <a:solidFill>
                  <a:srgbClr val="55555C"/>
                </a:solidFill>
              </a:rPr>
              <a:t>Messenger end-to-end checks</a:t>
            </a:r>
            <a:endParaRPr lang="en-US" sz="1200" dirty="0"/>
          </a:p>
        </p:txBody>
      </p:sp>
      <p:sp>
        <p:nvSpPr>
          <p:cNvPr id="11" name="Shape 8"/>
          <p:cNvSpPr/>
          <p:nvPr/>
        </p:nvSpPr>
        <p:spPr>
          <a:xfrm>
            <a:off x="6144768" y="1691640"/>
            <a:ext cx="2670048" cy="1234440"/>
          </a:xfrm>
          <a:prstGeom prst="roundRect">
            <a:avLst>
              <a:gd name="adj" fmla="val 8889"/>
            </a:avLst>
          </a:prstGeom>
          <a:solidFill>
            <a:srgbClr val="F6F7F8"/>
          </a:solidFill>
          <a:ln w="12700">
            <a:solidFill>
              <a:srgbClr val="F6F7F8"/>
            </a:solidFill>
            <a:prstDash val="solid"/>
          </a:ln>
        </p:spPr>
      </p:sp>
      <p:sp>
        <p:nvSpPr>
          <p:cNvPr id="12" name="Text 9"/>
          <p:cNvSpPr txBox="1"/>
          <p:nvPr/>
        </p:nvSpPr>
        <p:spPr>
          <a:xfrm>
            <a:off x="6345936" y="1783080"/>
            <a:ext cx="2286000" cy="658368"/>
          </a:xfrm>
          <a:prstGeom prst="rect">
            <a:avLst/>
          </a:prstGeom>
          <a:noFill/>
          <a:ln/>
        </p:spPr>
        <p:txBody>
          <a:bodyPr wrap="square" lIns="0" tIns="0" rIns="0" bIns="0" rtlCol="0" anchor="t"/>
          <a:lstStyle/>
          <a:p>
            <a:pPr indent="0" marL="0">
              <a:buNone/>
            </a:pPr>
            <a:r>
              <a:rPr lang="en-US" sz="3400" b="1" dirty="0">
                <a:solidFill>
                  <a:srgbClr val="0A0A0B"/>
                </a:solidFill>
              </a:rPr>
              <a:t>22/22</a:t>
            </a:r>
            <a:endParaRPr lang="en-US" sz="3400" dirty="0"/>
          </a:p>
        </p:txBody>
      </p:sp>
      <p:sp>
        <p:nvSpPr>
          <p:cNvPr id="13" name="Text 10"/>
          <p:cNvSpPr txBox="1"/>
          <p:nvPr/>
        </p:nvSpPr>
        <p:spPr>
          <a:xfrm>
            <a:off x="6345936" y="2450592"/>
            <a:ext cx="2286000" cy="365760"/>
          </a:xfrm>
          <a:prstGeom prst="rect">
            <a:avLst/>
          </a:prstGeom>
          <a:noFill/>
          <a:ln/>
        </p:spPr>
        <p:txBody>
          <a:bodyPr wrap="square" lIns="0" tIns="0" rIns="0" bIns="0" rtlCol="0" anchor="t"/>
          <a:lstStyle/>
          <a:p>
            <a:pPr indent="0" marL="0">
              <a:buNone/>
            </a:pPr>
            <a:r>
              <a:rPr lang="en-US" sz="1200" dirty="0">
                <a:solidFill>
                  <a:srgbClr val="55555C"/>
                </a:solidFill>
              </a:rPr>
              <a:t>A2A checks across two machines</a:t>
            </a:r>
            <a:endParaRPr lang="en-US" sz="1200" dirty="0"/>
          </a:p>
        </p:txBody>
      </p:sp>
      <p:sp>
        <p:nvSpPr>
          <p:cNvPr id="14" name="Shape 11"/>
          <p:cNvSpPr/>
          <p:nvPr/>
        </p:nvSpPr>
        <p:spPr>
          <a:xfrm>
            <a:off x="8942832" y="1691640"/>
            <a:ext cx="2670048" cy="1234440"/>
          </a:xfrm>
          <a:prstGeom prst="roundRect">
            <a:avLst>
              <a:gd name="adj" fmla="val 8889"/>
            </a:avLst>
          </a:prstGeom>
          <a:solidFill>
            <a:srgbClr val="F6F7F8"/>
          </a:solidFill>
          <a:ln w="12700">
            <a:solidFill>
              <a:srgbClr val="F6F7F8"/>
            </a:solidFill>
            <a:prstDash val="solid"/>
          </a:ln>
        </p:spPr>
      </p:sp>
      <p:sp>
        <p:nvSpPr>
          <p:cNvPr id="15" name="Text 12"/>
          <p:cNvSpPr txBox="1"/>
          <p:nvPr/>
        </p:nvSpPr>
        <p:spPr>
          <a:xfrm>
            <a:off x="9144000" y="1783080"/>
            <a:ext cx="2286000" cy="658368"/>
          </a:xfrm>
          <a:prstGeom prst="rect">
            <a:avLst/>
          </a:prstGeom>
          <a:noFill/>
          <a:ln/>
        </p:spPr>
        <p:txBody>
          <a:bodyPr wrap="square" lIns="0" tIns="0" rIns="0" bIns="0" rtlCol="0" anchor="t"/>
          <a:lstStyle/>
          <a:p>
            <a:pPr indent="0" marL="0">
              <a:buNone/>
            </a:pPr>
            <a:r>
              <a:rPr lang="en-US" sz="3400" b="1" dirty="0">
                <a:solidFill>
                  <a:srgbClr val="0A0A0B"/>
                </a:solidFill>
              </a:rPr>
              <a:t>37/42</a:t>
            </a:r>
            <a:endParaRPr lang="en-US" sz="3400" dirty="0"/>
          </a:p>
        </p:txBody>
      </p:sp>
      <p:sp>
        <p:nvSpPr>
          <p:cNvPr id="16" name="Text 13"/>
          <p:cNvSpPr txBox="1"/>
          <p:nvPr/>
        </p:nvSpPr>
        <p:spPr>
          <a:xfrm>
            <a:off x="9144000" y="2450592"/>
            <a:ext cx="2286000" cy="365760"/>
          </a:xfrm>
          <a:prstGeom prst="rect">
            <a:avLst/>
          </a:prstGeom>
          <a:noFill/>
          <a:ln/>
        </p:spPr>
        <p:txBody>
          <a:bodyPr wrap="square" lIns="0" tIns="0" rIns="0" bIns="0" rtlCol="0" anchor="t"/>
          <a:lstStyle/>
          <a:p>
            <a:pPr indent="0" marL="0">
              <a:buNone/>
            </a:pPr>
            <a:r>
              <a:rPr lang="en-US" sz="1200" dirty="0">
                <a:solidFill>
                  <a:srgbClr val="55555C"/>
                </a:solidFill>
              </a:rPr>
              <a:t>unsafe messages refused (1 of 74 harmless)</a:t>
            </a:r>
            <a:endParaRPr lang="en-US" sz="1200" dirty="0"/>
          </a:p>
        </p:txBody>
      </p:sp>
      <p:sp>
        <p:nvSpPr>
          <p:cNvPr id="17" name="Text 14"/>
          <p:cNvSpPr txBox="1"/>
          <p:nvPr/>
        </p:nvSpPr>
        <p:spPr>
          <a:xfrm>
            <a:off x="548640" y="6217920"/>
            <a:ext cx="11064240" cy="228600"/>
          </a:xfrm>
          <a:prstGeom prst="rect">
            <a:avLst/>
          </a:prstGeom>
          <a:noFill/>
          <a:ln/>
        </p:spPr>
        <p:txBody>
          <a:bodyPr wrap="square" lIns="0" tIns="0" rIns="0" bIns="0" rtlCol="0" anchor="t"/>
          <a:lstStyle/>
          <a:p>
            <a:pPr indent="0" marL="0">
              <a:buNone/>
            </a:pPr>
            <a:r>
              <a:rPr lang="en-US" sz="1000" i="1" dirty="0">
                <a:solidFill>
                  <a:srgbClr val="55555C"/>
                </a:solidFill>
              </a:rPr>
              <a:t>Bold: run with the real model. "A cloud A100": the same Muse Glimmer build that runs the product on the RTX 3090.</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11064240" cy="914400"/>
        </p:xfrm>
        <a:graphic>
          <a:graphicData uri="http://schemas.openxmlformats.org/drawingml/2006/table">
            <a:tbl>
              <a:tblPr/>
              <a:tblGrid>
                <a:gridCol w="4572000"/>
                <a:gridCol w="3566160"/>
                <a:gridCol w="2926080"/>
              </a:tblGrid>
              <a:tr h="301752">
                <a:tc>
                  <a:txBody>
                    <a:bodyPr/>
                    <a:lstStyle/>
                    <a:p>
                      <a:pPr indent="0" marL="0">
                        <a:buNone/>
                      </a:pPr>
                      <a:r>
                        <a:rPr lang="en-US" sz="1100" b="1" dirty="0">
                          <a:solidFill>
                            <a:srgbClr val="55555C"/>
                          </a:solidFill>
                          <a:latin typeface="Segoe UI" pitchFamily="34" charset="0"/>
                          <a:ea typeface="Segoe UI" pitchFamily="34" charset="-122"/>
                          <a:cs typeface="Segoe UI" pitchFamily="34" charset="-120"/>
                        </a:rPr>
                        <a:t>Suite</a:t>
                      </a:r>
                      <a:endParaRPr lang="en-US" sz="110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b="1" dirty="0">
                          <a:solidFill>
                            <a:srgbClr val="55555C"/>
                          </a:solidFill>
                          <a:latin typeface="Segoe UI" pitchFamily="34" charset="0"/>
                          <a:ea typeface="Segoe UI" pitchFamily="34" charset="-122"/>
                          <a:cs typeface="Segoe UI" pitchFamily="34" charset="-120"/>
                        </a:rPr>
                        <a:t>Result</a:t>
                      </a:r>
                      <a:endParaRPr lang="en-US" sz="110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solidFill>
                      <a:srgbClr val="FFFFFF"/>
                    </a:solidFill>
                  </a:tcPr>
                </a:tc>
                <a:tc>
                  <a:txBody>
                    <a:bodyPr/>
                    <a:lstStyle/>
                    <a:p>
                      <a:pPr indent="0" marL="0">
                        <a:buNone/>
                      </a:pPr>
                      <a:r>
                        <a:rPr lang="en-US" sz="1100" b="1" dirty="0">
                          <a:solidFill>
                            <a:srgbClr val="55555C"/>
                          </a:solidFill>
                          <a:latin typeface="Segoe UI" pitchFamily="34" charset="0"/>
                          <a:ea typeface="Segoe UI" pitchFamily="34" charset="-122"/>
                          <a:cs typeface="Segoe UI" pitchFamily="34" charset="-120"/>
                        </a:rPr>
                        <a:t>Where it ran</a:t>
                      </a:r>
                      <a:endParaRPr lang="en-US" sz="110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0A0A0B"/>
                          </a:solidFill>
                          <a:latin typeface="Segoe UI" pitchFamily="34" charset="0"/>
                          <a:ea typeface="Segoe UI" pitchFamily="34" charset="-122"/>
                          <a:cs typeface="Segoe UI" pitchFamily="34" charset="-120"/>
                        </a:rPr>
                        <a:t>npm test, 25 offline suites</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150" dirty="0">
                          <a:solidFill>
                            <a:srgbClr val="0A0A0B"/>
                          </a:solidFill>
                          <a:latin typeface="Segoe UI" pitchFamily="34" charset="0"/>
                          <a:ea typeface="Segoe UI" pitchFamily="34" charset="-122"/>
                          <a:cs typeface="Segoe UI" pitchFamily="34" charset="-120"/>
                        </a:rPr>
                        <a:t>275 = 270 pass + 3 optional + 2 Linux-only</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150" dirty="0">
                          <a:solidFill>
                            <a:srgbClr val="0A0A0B"/>
                          </a:solidFill>
                          <a:latin typeface="Segoe UI" pitchFamily="34" charset="0"/>
                          <a:ea typeface="Segoe UI" pitchFamily="34" charset="-122"/>
                          <a:cs typeface="Segoe UI" pitchFamily="34" charset="-120"/>
                        </a:rPr>
                        <a:t>No model, no GPU</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r>
              <a:tr h="301752">
                <a:tc>
                  <a:txBody>
                    <a:bodyPr/>
                    <a:lstStyle/>
                    <a:p>
                      <a:pPr indent="0" marL="0">
                        <a:buNone/>
                      </a:pPr>
                      <a:r>
                        <a:rPr lang="en-US" sz="1150" b="1" dirty="0">
                          <a:solidFill>
                            <a:srgbClr val="0A0A0B"/>
                          </a:solidFill>
                          <a:latin typeface="Segoe UI" pitchFamily="34" charset="0"/>
                          <a:ea typeface="Segoe UI" pitchFamily="34" charset="-122"/>
                          <a:cs typeface="Segoe UI" pitchFamily="34" charset="-120"/>
                        </a:rPr>
                        <a:t>Messenger end to end (test/e2e.mjs)</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150" b="1" dirty="0">
                          <a:solidFill>
                            <a:srgbClr val="0A0A0B"/>
                          </a:solidFill>
                          <a:latin typeface="Segoe UI" pitchFamily="34" charset="0"/>
                          <a:ea typeface="Segoe UI" pitchFamily="34" charset="-122"/>
                          <a:cs typeface="Segoe UI" pitchFamily="34" charset="-120"/>
                        </a:rPr>
                        <a:t>58 of 58 checks</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150" b="1" dirty="0">
                          <a:solidFill>
                            <a:srgbClr val="0A0A0B"/>
                          </a:solidFill>
                          <a:latin typeface="Segoe UI" pitchFamily="34" charset="0"/>
                          <a:ea typeface="Segoe UI" pitchFamily="34" charset="-122"/>
                          <a:cs typeface="Segoe UI" pitchFamily="34" charset="-120"/>
                        </a:rPr>
                        <a:t>Muse Glimmer on a cloud A100</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r>
              <a:tr h="301752">
                <a:tc>
                  <a:txBody>
                    <a:bodyPr/>
                    <a:lstStyle/>
                    <a:p>
                      <a:pPr indent="0" marL="0">
                        <a:buNone/>
                      </a:pPr>
                      <a:r>
                        <a:rPr lang="en-US" sz="1150" b="1" dirty="0">
                          <a:solidFill>
                            <a:srgbClr val="0A0A0B"/>
                          </a:solidFill>
                          <a:latin typeface="Segoe UI" pitchFamily="34" charset="0"/>
                          <a:ea typeface="Segoe UI" pitchFamily="34" charset="-122"/>
                          <a:cs typeface="Segoe UI" pitchFamily="34" charset="-120"/>
                        </a:rPr>
                        <a:t>Attacks (test/redteam.mjs)</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150" b="1" dirty="0">
                          <a:solidFill>
                            <a:srgbClr val="0A0A0B"/>
                          </a:solidFill>
                          <a:latin typeface="Segoe UI" pitchFamily="34" charset="0"/>
                          <a:ea typeface="Segoe UI" pitchFamily="34" charset="-122"/>
                          <a:cs typeface="Segoe UI" pitchFamily="34" charset="-120"/>
                        </a:rPr>
                        <a:t>93 of 93 stopped</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150" b="1" dirty="0">
                          <a:solidFill>
                            <a:srgbClr val="0A0A0B"/>
                          </a:solidFill>
                          <a:latin typeface="Segoe UI" pitchFamily="34" charset="0"/>
                          <a:ea typeface="Segoe UI" pitchFamily="34" charset="-122"/>
                          <a:cs typeface="Segoe UI" pitchFamily="34" charset="-120"/>
                        </a:rPr>
                        <a:t>A cloud A100, twice</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r>
              <a:tr h="301752">
                <a:tc>
                  <a:txBody>
                    <a:bodyPr/>
                    <a:lstStyle/>
                    <a:p>
                      <a:pPr indent="0" marL="0">
                        <a:buNone/>
                      </a:pPr>
                      <a:r>
                        <a:rPr lang="en-US" sz="1150" dirty="0">
                          <a:solidFill>
                            <a:srgbClr val="0A0A0B"/>
                          </a:solidFill>
                          <a:latin typeface="Segoe UI" pitchFamily="34" charset="0"/>
                          <a:ea typeface="Segoe UI" pitchFamily="34" charset="-122"/>
                          <a:cs typeface="Segoe UI" pitchFamily="34" charset="-120"/>
                        </a:rPr>
                        <a:t>Community loop's attacks, within the 93</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150" dirty="0">
                          <a:solidFill>
                            <a:srgbClr val="0A0A0B"/>
                          </a:solidFill>
                          <a:latin typeface="Segoe UI" pitchFamily="34" charset="0"/>
                          <a:ea typeface="Segoe UI" pitchFamily="34" charset="-122"/>
                          <a:cs typeface="Segoe UI" pitchFamily="34" charset="-120"/>
                        </a:rPr>
                        <a:t>29 of 29 stopped, 5 of 5 controls passed</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150" dirty="0">
                          <a:solidFill>
                            <a:srgbClr val="0A0A0B"/>
                          </a:solidFill>
                          <a:latin typeface="Segoe UI" pitchFamily="34" charset="0"/>
                          <a:ea typeface="Segoe UI" pitchFamily="34" charset="-122"/>
                          <a:cs typeface="Segoe UI" pitchFamily="34" charset="-120"/>
                        </a:rPr>
                        <a:t>The server's CPU, with the real guards</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r>
              <a:tr h="301752">
                <a:tc>
                  <a:txBody>
                    <a:bodyPr/>
                    <a:lstStyle/>
                    <a:p>
                      <a:pPr indent="0" marL="0">
                        <a:buNone/>
                      </a:pPr>
                      <a:r>
                        <a:rPr lang="en-US" sz="1150" dirty="0">
                          <a:solidFill>
                            <a:srgbClr val="0A0A0B"/>
                          </a:solidFill>
                          <a:latin typeface="Segoe UI" pitchFamily="34" charset="0"/>
                          <a:ea typeface="Segoe UI" pitchFamily="34" charset="-122"/>
                          <a:cs typeface="Segoe UI" pitchFamily="34" charset="-120"/>
                        </a:rPr>
                        <a:t>A2A between two gateways</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150" dirty="0">
                          <a:solidFill>
                            <a:srgbClr val="0A0A0B"/>
                          </a:solidFill>
                          <a:latin typeface="Segoe UI" pitchFamily="34" charset="0"/>
                          <a:ea typeface="Segoe UI" pitchFamily="34" charset="-122"/>
                          <a:cs typeface="Segoe UI" pitchFamily="34" charset="-120"/>
                        </a:rPr>
                        <a:t>22 of 22 checks</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150" dirty="0">
                          <a:solidFill>
                            <a:srgbClr val="0A0A0B"/>
                          </a:solidFill>
                          <a:latin typeface="Segoe UI" pitchFamily="34" charset="0"/>
                          <a:ea typeface="Segoe UI" pitchFamily="34" charset="-122"/>
                          <a:cs typeface="Segoe UI" pitchFamily="34" charset="-120"/>
                        </a:rPr>
                        <a:t>Taipei GPU server and a GCP A100</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r>
              <a:tr h="301752">
                <a:tc>
                  <a:txBody>
                    <a:bodyPr/>
                    <a:lstStyle/>
                    <a:p>
                      <a:pPr indent="0" marL="0">
                        <a:buNone/>
                      </a:pPr>
                      <a:r>
                        <a:rPr lang="en-US" sz="1150" dirty="0">
                          <a:solidFill>
                            <a:srgbClr val="0A0A0B"/>
                          </a:solidFill>
                          <a:latin typeface="Segoe UI" pitchFamily="34" charset="0"/>
                          <a:ea typeface="Segoe UI" pitchFamily="34" charset="-122"/>
                          <a:cs typeface="Segoe UI" pitchFamily="34" charset="-120"/>
                        </a:rPr>
                        <a:t>Crash matrix</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150" dirty="0">
                          <a:solidFill>
                            <a:srgbClr val="0A0A0B"/>
                          </a:solidFill>
                          <a:latin typeface="Segoe UI" pitchFamily="34" charset="0"/>
                          <a:ea typeface="Segoe UI" pitchFamily="34" charset="-122"/>
                          <a:cs typeface="Segoe UI" pitchFamily="34" charset="-120"/>
                        </a:rPr>
                        <a:t>20 of 20 checks (201 of 201 assertions)</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150" dirty="0">
                          <a:solidFill>
                            <a:srgbClr val="0A0A0B"/>
                          </a:solidFill>
                          <a:latin typeface="Segoe UI" pitchFamily="34" charset="0"/>
                          <a:ea typeface="Segoe UI" pitchFamily="34" charset="-122"/>
                          <a:cs typeface="Segoe UI" pitchFamily="34" charset="-120"/>
                        </a:rPr>
                        <a:t>A stand-in model</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r>
              <a:tr h="301752">
                <a:tc>
                  <a:txBody>
                    <a:bodyPr/>
                    <a:lstStyle/>
                    <a:p>
                      <a:pPr indent="0" marL="0">
                        <a:buNone/>
                      </a:pPr>
                      <a:r>
                        <a:rPr lang="en-US" sz="1150" dirty="0">
                          <a:solidFill>
                            <a:srgbClr val="0A0A0B"/>
                          </a:solidFill>
                          <a:latin typeface="Segoe UI" pitchFamily="34" charset="0"/>
                          <a:ea typeface="Segoe UI" pitchFamily="34" charset="-122"/>
                          <a:cs typeface="Segoe UI" pitchFamily="34" charset="-120"/>
                        </a:rPr>
                        <a:t>Unsafe messages: Llama Guard, then code</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150" dirty="0">
                          <a:solidFill>
                            <a:srgbClr val="0A0A0B"/>
                          </a:solidFill>
                          <a:latin typeface="Segoe UI" pitchFamily="34" charset="0"/>
                          <a:ea typeface="Segoe UI" pitchFamily="34" charset="-122"/>
                          <a:cs typeface="Segoe UI" pitchFamily="34" charset="-120"/>
                        </a:rPr>
                        <a:t>37 of 42 refused; 1 of 74 harmless ones refused</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150" dirty="0">
                          <a:solidFill>
                            <a:srgbClr val="0A0A0B"/>
                          </a:solidFill>
                          <a:latin typeface="Segoe UI" pitchFamily="34" charset="0"/>
                          <a:ea typeface="Segoe UI" pitchFamily="34" charset="-122"/>
                          <a:cs typeface="Segoe UI" pitchFamily="34" charset="-120"/>
                        </a:rPr>
                        <a:t>The server's CPU</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r>
              <a:tr h="301752">
                <a:tc>
                  <a:txBody>
                    <a:bodyPr/>
                    <a:lstStyle/>
                    <a:p>
                      <a:pPr indent="0" marL="0">
                        <a:buNone/>
                      </a:pPr>
                      <a:r>
                        <a:rPr lang="en-US" sz="1150" dirty="0">
                          <a:solidFill>
                            <a:srgbClr val="0A0A0B"/>
                          </a:solidFill>
                          <a:latin typeface="Segoe UI" pitchFamily="34" charset="0"/>
                          <a:ea typeface="Segoe UI" pitchFamily="34" charset="-122"/>
                          <a:cs typeface="Segoe UI" pitchFamily="34" charset="-120"/>
                        </a:rPr>
                        <a:t>A federation of three clubs (test/federation_unit.mjs)</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150" dirty="0">
                          <a:solidFill>
                            <a:srgbClr val="0A0A0B"/>
                          </a:solidFill>
                          <a:latin typeface="Segoe UI" pitchFamily="34" charset="0"/>
                          <a:ea typeface="Segoe UI" pitchFamily="34" charset="-122"/>
                          <a:cs typeface="Segoe UI" pitchFamily="34" charset="-120"/>
                        </a:rPr>
                        <a:t>4 of 4: found, signed, rotated, forgery refused</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150" dirty="0">
                          <a:solidFill>
                            <a:srgbClr val="0A0A0B"/>
                          </a:solidFill>
                          <a:latin typeface="Segoe UI" pitchFamily="34" charset="0"/>
                          <a:ea typeface="Segoe UI" pitchFamily="34" charset="-122"/>
                          <a:cs typeface="Segoe UI" pitchFamily="34" charset="-120"/>
                        </a:rPr>
                        <a:t>Real HTTP, one host</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r>
              <a:tr h="301752">
                <a:tc>
                  <a:txBody>
                    <a:bodyPr/>
                    <a:lstStyle/>
                    <a:p>
                      <a:pPr indent="0" marL="0">
                        <a:buNone/>
                      </a:pPr>
                      <a:r>
                        <a:rPr lang="en-US" sz="1150" b="1" dirty="0">
                          <a:solidFill>
                            <a:srgbClr val="0A0A0B"/>
                          </a:solidFill>
                          <a:latin typeface="Segoe UI" pitchFamily="34" charset="0"/>
                          <a:ea typeface="Segoe UI" pitchFamily="34" charset="-122"/>
                          <a:cs typeface="Segoe UI" pitchFamily="34" charset="-120"/>
                        </a:rPr>
                        <a:t>"I want to play" in Messenger</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150" b="1" dirty="0">
                          <a:solidFill>
                            <a:srgbClr val="0A0A0B"/>
                          </a:solidFill>
                          <a:latin typeface="Segoe UI" pitchFamily="34" charset="0"/>
                          <a:ea typeface="Segoe UI" pitchFamily="34" charset="-122"/>
                          <a:cs typeface="Segoe UI" pitchFamily="34" charset="-120"/>
                        </a:rPr>
                        <a:t>13 of 13 checks</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c>
                  <a:txBody>
                    <a:bodyPr/>
                    <a:lstStyle/>
                    <a:p>
                      <a:pPr indent="0" marL="0">
                        <a:buNone/>
                      </a:pPr>
                      <a:r>
                        <a:rPr lang="en-US" sz="1150" b="1" dirty="0">
                          <a:solidFill>
                            <a:srgbClr val="0A0A0B"/>
                          </a:solidFill>
                          <a:latin typeface="Segoe UI" pitchFamily="34" charset="0"/>
                          <a:ea typeface="Segoe UI" pitchFamily="34" charset="-122"/>
                          <a:cs typeface="Segoe UI" pitchFamily="34" charset="-120"/>
                        </a:rPr>
                        <a:t>Muse Glimmer on a cloud A100</a:t>
                      </a:r>
                      <a:endParaRPr lang="en-US" sz="1150" dirty="0">
                        <a:latin typeface="Segoe UI" charset="0"/>
                        <a:ea typeface="Segoe UI" charset="0"/>
                        <a:cs typeface="Segoe UI" charset="0"/>
                      </a:endParaRPr>
                    </a:p>
                  </a:txBody>
                  <a:tcPr marL="91440" marR="91440" marT="0" marB="0" anchor="ctr">
                    <a:lnL w="9525" cap="flat" cmpd="sng" algn="ctr">
                      <a:solidFill>
                        <a:srgbClr val="DCDCE0"/>
                      </a:solidFill>
                      <a:prstDash val="solid"/>
                      <a:round/>
                      <a:headEnd type="none" w="med" len="med"/>
                      <a:tailEnd type="none" w="med" len="med"/>
                    </a:lnL>
                    <a:lnR w="9525" cap="flat" cmpd="sng" algn="ctr">
                      <a:solidFill>
                        <a:srgbClr val="DCDCE0"/>
                      </a:solidFill>
                      <a:prstDash val="solid"/>
                      <a:round/>
                      <a:headEnd type="none" w="med" len="med"/>
                      <a:tailEnd type="none" w="med" len="med"/>
                    </a:lnR>
                    <a:lnT w="9525" cap="flat" cmpd="sng" algn="ctr">
                      <a:solidFill>
                        <a:srgbClr val="DCDCE0"/>
                      </a:solidFill>
                      <a:prstDash val="solid"/>
                      <a:round/>
                      <a:headEnd type="none" w="med" len="med"/>
                      <a:tailEnd type="none" w="med" len="med"/>
                    </a:lnT>
                    <a:lnB w="9525" cap="flat" cmpd="sng" algn="ctr">
                      <a:solidFill>
                        <a:srgbClr val="DCDCE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64240" cy="310896"/>
          </a:xfrm>
          <a:prstGeom prst="rect">
            <a:avLst/>
          </a:prstGeom>
          <a:noFill/>
          <a:ln/>
        </p:spPr>
        <p:txBody>
          <a:bodyPr wrap="square" lIns="0" tIns="0" rIns="0" bIns="0" rtlCol="0" anchor="t"/>
          <a:lstStyle/>
          <a:p>
            <a:pPr indent="0" marL="0">
              <a:buNone/>
            </a:pPr>
            <a:r>
              <a:rPr lang="en-US" sz="1300" b="1" spc="100" kern="0" dirty="0">
                <a:solidFill>
                  <a:srgbClr val="0A7F44"/>
                </a:solidFill>
              </a:rPr>
              <a:t>FULL TECHNICAL ARCHITECTURE</a:t>
            </a:r>
            <a:endParaRPr lang="en-US" sz="1300" dirty="0"/>
          </a:p>
        </p:txBody>
      </p:sp>
      <p:sp>
        <p:nvSpPr>
          <p:cNvPr id="3" name="Text 0"/>
          <p:cNvSpPr/>
          <p:nvPr>
            <p:ph idx="101" type="title" hasCustomPrompt="1"/>
          </p:nvPr>
        </p:nvSpPr>
        <p:spPr>
          <a:xfrm>
            <a:off x="548640" y="713232"/>
            <a:ext cx="11064240" cy="685800"/>
          </a:xfrm>
          <a:prstGeom prst="rect">
            <a:avLst/>
          </a:prstGeom>
          <a:noFill/>
          <a:ln/>
        </p:spPr>
        <p:txBody>
          <a:bodyPr wrap="square" lIns="0" tIns="0" rIns="0" bIns="0" rtlCol="0" anchor="t"/>
          <a:lstStyle/>
          <a:p>
            <a:pPr algn="l" indent="0" marL="0">
              <a:buNone/>
            </a:pPr>
            <a:r>
              <a:rPr lang="en-US" sz="3200" b="1" dirty="0">
                <a:solidFill>
                  <a:srgbClr val="0A0A0B"/>
                </a:solidFill>
              </a:rPr>
              <a:t>One GPU server I own, the Meta Model API where it helps</a:t>
            </a:r>
            <a:endParaRPr lang="en-US" sz="3200" dirty="0"/>
          </a:p>
        </p:txBody>
      </p:sp>
      <p:sp>
        <p:nvSpPr>
          <p:cNvPr id="5" name="Text 2"/>
          <p:cNvSpPr txBox="1"/>
          <p:nvPr/>
        </p:nvSpPr>
        <p:spPr>
          <a:xfrm>
            <a:off x="411480" y="1481328"/>
            <a:ext cx="2011680" cy="228600"/>
          </a:xfrm>
          <a:prstGeom prst="rect">
            <a:avLst/>
          </a:prstGeom>
          <a:noFill/>
          <a:ln/>
        </p:spPr>
        <p:txBody>
          <a:bodyPr wrap="square" lIns="0" tIns="0" rIns="0" bIns="0" rtlCol="0" anchor="t"/>
          <a:lstStyle/>
          <a:p>
            <a:pPr indent="0" marL="0">
              <a:buNone/>
            </a:pPr>
            <a:r>
              <a:rPr lang="en-US" sz="1000" b="1" spc="100" kern="0" dirty="0">
                <a:solidFill>
                  <a:srgbClr val="55555C"/>
                </a:solidFill>
              </a:rPr>
              <a:t>YOU</a:t>
            </a:r>
            <a:endParaRPr lang="en-US" sz="1000" dirty="0"/>
          </a:p>
        </p:txBody>
      </p:sp>
      <p:sp>
        <p:nvSpPr>
          <p:cNvPr id="6" name="Shape 3"/>
          <p:cNvSpPr/>
          <p:nvPr/>
        </p:nvSpPr>
        <p:spPr>
          <a:xfrm>
            <a:off x="411480" y="1755648"/>
            <a:ext cx="2057400" cy="786384"/>
          </a:xfrm>
          <a:prstGeom prst="roundRect">
            <a:avLst>
              <a:gd name="adj" fmla="val 13953"/>
            </a:avLst>
          </a:prstGeom>
          <a:solidFill>
            <a:srgbClr val="FFFFFF"/>
          </a:solidFill>
          <a:ln w="12700">
            <a:solidFill>
              <a:srgbClr val="DCDCE0"/>
            </a:solidFill>
            <a:prstDash val="solid"/>
          </a:ln>
        </p:spPr>
      </p:sp>
      <p:sp>
        <p:nvSpPr>
          <p:cNvPr id="7" name="Text 4"/>
          <p:cNvSpPr txBox="1"/>
          <p:nvPr/>
        </p:nvSpPr>
        <p:spPr>
          <a:xfrm>
            <a:off x="548640" y="1847088"/>
            <a:ext cx="1828800" cy="274320"/>
          </a:xfrm>
          <a:prstGeom prst="rect">
            <a:avLst/>
          </a:prstGeom>
          <a:noFill/>
          <a:ln/>
        </p:spPr>
        <p:txBody>
          <a:bodyPr wrap="square" lIns="0" tIns="0" rIns="0" bIns="0" rtlCol="0" anchor="t"/>
          <a:lstStyle/>
          <a:p>
            <a:pPr indent="0" marL="0">
              <a:buNone/>
            </a:pPr>
            <a:r>
              <a:rPr lang="en-US" sz="1200" b="1" dirty="0">
                <a:solidFill>
                  <a:srgbClr val="0A0A0B"/>
                </a:solidFill>
              </a:rPr>
              <a:t>Serve app</a:t>
            </a:r>
            <a:endParaRPr lang="en-US" sz="1200" dirty="0"/>
          </a:p>
        </p:txBody>
      </p:sp>
      <p:sp>
        <p:nvSpPr>
          <p:cNvPr id="8" name="Text 5"/>
          <p:cNvSpPr txBox="1"/>
          <p:nvPr/>
        </p:nvSpPr>
        <p:spPr>
          <a:xfrm>
            <a:off x="548640" y="2139696"/>
            <a:ext cx="1828800" cy="365760"/>
          </a:xfrm>
          <a:prstGeom prst="rect">
            <a:avLst/>
          </a:prstGeom>
          <a:noFill/>
          <a:ln/>
        </p:spPr>
        <p:txBody>
          <a:bodyPr wrap="square" lIns="0" tIns="0" rIns="0" bIns="0" rtlCol="0" anchor="t"/>
          <a:lstStyle/>
          <a:p>
            <a:pPr indent="0" marL="0">
              <a:buNone/>
            </a:pPr>
            <a:r>
              <a:rPr lang="en-US" sz="1000" dirty="0">
                <a:solidFill>
                  <a:srgbClr val="55555C"/>
                </a:solidFill>
              </a:rPr>
              <a:t>React · on your phone</a:t>
            </a:r>
            <a:endParaRPr lang="en-US" sz="1000" dirty="0"/>
          </a:p>
        </p:txBody>
      </p:sp>
      <p:sp>
        <p:nvSpPr>
          <p:cNvPr id="9" name="Shape 6"/>
          <p:cNvSpPr/>
          <p:nvPr/>
        </p:nvSpPr>
        <p:spPr>
          <a:xfrm>
            <a:off x="2487168" y="2148840"/>
            <a:ext cx="274320" cy="0"/>
          </a:xfrm>
          <a:prstGeom prst="line">
            <a:avLst/>
          </a:prstGeom>
          <a:noFill/>
          <a:ln w="22225">
            <a:solidFill>
              <a:srgbClr val="8A8A92"/>
            </a:solidFill>
            <a:prstDash val="solid"/>
            <a:tailEnd type="triangle"/>
          </a:ln>
        </p:spPr>
      </p:sp>
      <p:sp>
        <p:nvSpPr>
          <p:cNvPr id="10" name="Shape 7"/>
          <p:cNvSpPr/>
          <p:nvPr/>
        </p:nvSpPr>
        <p:spPr>
          <a:xfrm>
            <a:off x="411480" y="2670048"/>
            <a:ext cx="2057400" cy="786384"/>
          </a:xfrm>
          <a:prstGeom prst="roundRect">
            <a:avLst>
              <a:gd name="adj" fmla="val 13953"/>
            </a:avLst>
          </a:prstGeom>
          <a:solidFill>
            <a:srgbClr val="E8F1FD"/>
          </a:solidFill>
          <a:ln w="12700">
            <a:solidFill>
              <a:srgbClr val="E8F1FD"/>
            </a:solidFill>
            <a:prstDash val="solid"/>
          </a:ln>
        </p:spPr>
      </p:sp>
      <p:sp>
        <p:nvSpPr>
          <p:cNvPr id="11" name="Text 8"/>
          <p:cNvSpPr txBox="1"/>
          <p:nvPr/>
        </p:nvSpPr>
        <p:spPr>
          <a:xfrm>
            <a:off x="548640" y="2761488"/>
            <a:ext cx="1828800" cy="274320"/>
          </a:xfrm>
          <a:prstGeom prst="rect">
            <a:avLst/>
          </a:prstGeom>
          <a:noFill/>
          <a:ln/>
        </p:spPr>
        <p:txBody>
          <a:bodyPr wrap="square" lIns="0" tIns="0" rIns="0" bIns="0" rtlCol="0" anchor="t"/>
          <a:lstStyle/>
          <a:p>
            <a:pPr indent="0" marL="0">
              <a:buNone/>
            </a:pPr>
            <a:r>
              <a:rPr lang="en-US" sz="1200" b="1" dirty="0">
                <a:solidFill>
                  <a:srgbClr val="0A0A0B"/>
                </a:solidFill>
              </a:rPr>
              <a:t>Messenger</a:t>
            </a:r>
            <a:endParaRPr lang="en-US" sz="1200" dirty="0"/>
          </a:p>
        </p:txBody>
      </p:sp>
      <p:sp>
        <p:nvSpPr>
          <p:cNvPr id="12" name="Text 9"/>
          <p:cNvSpPr txBox="1"/>
          <p:nvPr/>
        </p:nvSpPr>
        <p:spPr>
          <a:xfrm>
            <a:off x="548640" y="3054096"/>
            <a:ext cx="1828800" cy="365760"/>
          </a:xfrm>
          <a:prstGeom prst="rect">
            <a:avLst/>
          </a:prstGeom>
          <a:noFill/>
          <a:ln/>
        </p:spPr>
        <p:txBody>
          <a:bodyPr wrap="square" lIns="0" tIns="0" rIns="0" bIns="0" rtlCol="0" anchor="t"/>
          <a:lstStyle/>
          <a:p>
            <a:pPr indent="0" marL="0">
              <a:buNone/>
            </a:pPr>
            <a:r>
              <a:rPr lang="en-US" sz="1000" dirty="0">
                <a:solidFill>
                  <a:srgbClr val="55555C"/>
                </a:solidFill>
              </a:rPr>
              <a:t>your agent in your chats</a:t>
            </a:r>
            <a:endParaRPr lang="en-US" sz="1000" dirty="0"/>
          </a:p>
        </p:txBody>
      </p:sp>
      <p:sp>
        <p:nvSpPr>
          <p:cNvPr id="13" name="Shape 10"/>
          <p:cNvSpPr/>
          <p:nvPr/>
        </p:nvSpPr>
        <p:spPr>
          <a:xfrm>
            <a:off x="2487168" y="3063240"/>
            <a:ext cx="274320" cy="0"/>
          </a:xfrm>
          <a:prstGeom prst="line">
            <a:avLst/>
          </a:prstGeom>
          <a:noFill/>
          <a:ln w="22225">
            <a:solidFill>
              <a:srgbClr val="8A8A92"/>
            </a:solidFill>
            <a:prstDash val="solid"/>
            <a:tailEnd type="triangle"/>
          </a:ln>
        </p:spPr>
      </p:sp>
      <p:sp>
        <p:nvSpPr>
          <p:cNvPr id="14" name="Shape 11"/>
          <p:cNvSpPr/>
          <p:nvPr/>
        </p:nvSpPr>
        <p:spPr>
          <a:xfrm>
            <a:off x="411480" y="3584448"/>
            <a:ext cx="2057400" cy="786384"/>
          </a:xfrm>
          <a:prstGeom prst="roundRect">
            <a:avLst>
              <a:gd name="adj" fmla="val 13953"/>
            </a:avLst>
          </a:prstGeom>
          <a:solidFill>
            <a:srgbClr val="FFFFFF"/>
          </a:solidFill>
          <a:ln w="12700">
            <a:solidFill>
              <a:srgbClr val="DCDCE0"/>
            </a:solidFill>
            <a:prstDash val="solid"/>
          </a:ln>
        </p:spPr>
      </p:sp>
      <p:sp>
        <p:nvSpPr>
          <p:cNvPr id="15" name="Text 12"/>
          <p:cNvSpPr txBox="1"/>
          <p:nvPr/>
        </p:nvSpPr>
        <p:spPr>
          <a:xfrm>
            <a:off x="548640" y="3675888"/>
            <a:ext cx="1828800" cy="274320"/>
          </a:xfrm>
          <a:prstGeom prst="rect">
            <a:avLst/>
          </a:prstGeom>
          <a:noFill/>
          <a:ln/>
        </p:spPr>
        <p:txBody>
          <a:bodyPr wrap="square" lIns="0" tIns="0" rIns="0" bIns="0" rtlCol="0" anchor="t"/>
          <a:lstStyle/>
          <a:p>
            <a:pPr indent="0" marL="0">
              <a:buNone/>
            </a:pPr>
            <a:r>
              <a:rPr lang="en-US" sz="1200" b="1" dirty="0">
                <a:solidFill>
                  <a:srgbClr val="0A0A0B"/>
                </a:solidFill>
              </a:rPr>
              <a:t>Health export</a:t>
            </a:r>
            <a:endParaRPr lang="en-US" sz="1200" dirty="0"/>
          </a:p>
        </p:txBody>
      </p:sp>
      <p:sp>
        <p:nvSpPr>
          <p:cNvPr id="16" name="Text 13"/>
          <p:cNvSpPr txBox="1"/>
          <p:nvPr/>
        </p:nvSpPr>
        <p:spPr>
          <a:xfrm>
            <a:off x="548640" y="3968496"/>
            <a:ext cx="1828800" cy="365760"/>
          </a:xfrm>
          <a:prstGeom prst="rect">
            <a:avLst/>
          </a:prstGeom>
          <a:noFill/>
          <a:ln/>
        </p:spPr>
        <p:txBody>
          <a:bodyPr wrap="square" lIns="0" tIns="0" rIns="0" bIns="0" rtlCol="0" anchor="t"/>
          <a:lstStyle/>
          <a:p>
            <a:pPr indent="0" marL="0">
              <a:buNone/>
            </a:pPr>
            <a:r>
              <a:rPr lang="en-US" sz="1000" dirty="0">
                <a:solidFill>
                  <a:srgbClr val="55555C"/>
                </a:solidFill>
              </a:rPr>
              <a:t>Apple Health, Google Fit, GPX</a:t>
            </a:r>
            <a:endParaRPr lang="en-US" sz="1000" dirty="0"/>
          </a:p>
        </p:txBody>
      </p:sp>
      <p:sp>
        <p:nvSpPr>
          <p:cNvPr id="17" name="Shape 14"/>
          <p:cNvSpPr/>
          <p:nvPr/>
        </p:nvSpPr>
        <p:spPr>
          <a:xfrm>
            <a:off x="2487168" y="3977640"/>
            <a:ext cx="274320" cy="0"/>
          </a:xfrm>
          <a:prstGeom prst="line">
            <a:avLst/>
          </a:prstGeom>
          <a:noFill/>
          <a:ln w="22225">
            <a:solidFill>
              <a:srgbClr val="8A8A92"/>
            </a:solidFill>
            <a:prstDash val="solid"/>
            <a:tailEnd type="triangle"/>
          </a:ln>
        </p:spPr>
      </p:sp>
      <p:sp>
        <p:nvSpPr>
          <p:cNvPr id="18" name="Shape 15"/>
          <p:cNvSpPr/>
          <p:nvPr/>
        </p:nvSpPr>
        <p:spPr>
          <a:xfrm>
            <a:off x="411480" y="4498848"/>
            <a:ext cx="2057400" cy="786384"/>
          </a:xfrm>
          <a:prstGeom prst="roundRect">
            <a:avLst>
              <a:gd name="adj" fmla="val 13953"/>
            </a:avLst>
          </a:prstGeom>
          <a:solidFill>
            <a:srgbClr val="FFFFFF"/>
          </a:solidFill>
          <a:ln w="12700">
            <a:solidFill>
              <a:srgbClr val="DCDCE0"/>
            </a:solidFill>
            <a:prstDash val="solid"/>
          </a:ln>
        </p:spPr>
      </p:sp>
      <p:sp>
        <p:nvSpPr>
          <p:cNvPr id="19" name="Text 16"/>
          <p:cNvSpPr txBox="1"/>
          <p:nvPr/>
        </p:nvSpPr>
        <p:spPr>
          <a:xfrm>
            <a:off x="548640" y="4590288"/>
            <a:ext cx="1828800" cy="274320"/>
          </a:xfrm>
          <a:prstGeom prst="rect">
            <a:avLst/>
          </a:prstGeom>
          <a:noFill/>
          <a:ln/>
        </p:spPr>
        <p:txBody>
          <a:bodyPr wrap="square" lIns="0" tIns="0" rIns="0" bIns="0" rtlCol="0" anchor="t"/>
          <a:lstStyle/>
          <a:p>
            <a:pPr indent="0" marL="0">
              <a:buNone/>
            </a:pPr>
            <a:r>
              <a:rPr lang="en-US" sz="1200" b="1" dirty="0">
                <a:solidFill>
                  <a:srgbClr val="0A0A0B"/>
                </a:solidFill>
              </a:rPr>
              <a:t>Your video</a:t>
            </a:r>
            <a:endParaRPr lang="en-US" sz="1200" dirty="0"/>
          </a:p>
        </p:txBody>
      </p:sp>
      <p:sp>
        <p:nvSpPr>
          <p:cNvPr id="20" name="Text 17"/>
          <p:cNvSpPr txBox="1"/>
          <p:nvPr/>
        </p:nvSpPr>
        <p:spPr>
          <a:xfrm>
            <a:off x="548640" y="4882896"/>
            <a:ext cx="1828800" cy="365760"/>
          </a:xfrm>
          <a:prstGeom prst="rect">
            <a:avLst/>
          </a:prstGeom>
          <a:noFill/>
          <a:ln/>
        </p:spPr>
        <p:txBody>
          <a:bodyPr wrap="square" lIns="0" tIns="0" rIns="0" bIns="0" rtlCol="0" anchor="t"/>
          <a:lstStyle/>
          <a:p>
            <a:pPr indent="0" marL="0">
              <a:buNone/>
            </a:pPr>
            <a:r>
              <a:rPr lang="en-US" sz="1000" dirty="0">
                <a:solidFill>
                  <a:srgbClr val="55555C"/>
                </a:solidFill>
              </a:rPr>
              <a:t>any ball sport, from a phone</a:t>
            </a:r>
            <a:endParaRPr lang="en-US" sz="1000" dirty="0"/>
          </a:p>
        </p:txBody>
      </p:sp>
      <p:sp>
        <p:nvSpPr>
          <p:cNvPr id="21" name="Shape 18"/>
          <p:cNvSpPr/>
          <p:nvPr/>
        </p:nvSpPr>
        <p:spPr>
          <a:xfrm>
            <a:off x="2487168" y="4892040"/>
            <a:ext cx="274320" cy="0"/>
          </a:xfrm>
          <a:prstGeom prst="line">
            <a:avLst/>
          </a:prstGeom>
          <a:noFill/>
          <a:ln w="22225">
            <a:solidFill>
              <a:srgbClr val="8A8A92"/>
            </a:solidFill>
            <a:prstDash val="solid"/>
            <a:tailEnd type="triangle"/>
          </a:ln>
        </p:spPr>
      </p:sp>
      <p:sp>
        <p:nvSpPr>
          <p:cNvPr id="22" name="Shape 19"/>
          <p:cNvSpPr/>
          <p:nvPr/>
        </p:nvSpPr>
        <p:spPr>
          <a:xfrm>
            <a:off x="411480" y="5413248"/>
            <a:ext cx="2057400" cy="786384"/>
          </a:xfrm>
          <a:prstGeom prst="roundRect">
            <a:avLst>
              <a:gd name="adj" fmla="val 13953"/>
            </a:avLst>
          </a:prstGeom>
          <a:solidFill>
            <a:srgbClr val="E8F1FD"/>
          </a:solidFill>
          <a:ln w="12700">
            <a:solidFill>
              <a:srgbClr val="E8F1FD"/>
            </a:solidFill>
            <a:prstDash val="solid"/>
          </a:ln>
        </p:spPr>
      </p:sp>
      <p:sp>
        <p:nvSpPr>
          <p:cNvPr id="23" name="Text 20"/>
          <p:cNvSpPr txBox="1"/>
          <p:nvPr/>
        </p:nvSpPr>
        <p:spPr>
          <a:xfrm>
            <a:off x="548640" y="5504688"/>
            <a:ext cx="1828800" cy="274320"/>
          </a:xfrm>
          <a:prstGeom prst="rect">
            <a:avLst/>
          </a:prstGeom>
          <a:noFill/>
          <a:ln/>
        </p:spPr>
        <p:txBody>
          <a:bodyPr wrap="square" lIns="0" tIns="0" rIns="0" bIns="0" rtlCol="0" anchor="t"/>
          <a:lstStyle/>
          <a:p>
            <a:pPr indent="0" marL="0">
              <a:buNone/>
            </a:pPr>
            <a:r>
              <a:rPr lang="en-US" sz="1200" b="1" dirty="0">
                <a:solidFill>
                  <a:srgbClr val="0A0A0B"/>
                </a:solidFill>
              </a:rPr>
              <a:t>Facebook · Instagram</a:t>
            </a:r>
            <a:endParaRPr lang="en-US" sz="1200" dirty="0"/>
          </a:p>
        </p:txBody>
      </p:sp>
      <p:sp>
        <p:nvSpPr>
          <p:cNvPr id="24" name="Text 21"/>
          <p:cNvSpPr txBox="1"/>
          <p:nvPr/>
        </p:nvSpPr>
        <p:spPr>
          <a:xfrm>
            <a:off x="548640" y="5797296"/>
            <a:ext cx="1828800" cy="365760"/>
          </a:xfrm>
          <a:prstGeom prst="rect">
            <a:avLst/>
          </a:prstGeom>
          <a:noFill/>
          <a:ln/>
        </p:spPr>
        <p:txBody>
          <a:bodyPr wrap="square" lIns="0" tIns="0" rIns="0" bIns="0" rtlCol="0" anchor="t"/>
          <a:lstStyle/>
          <a:p>
            <a:pPr indent="0" marL="0">
              <a:buNone/>
            </a:pPr>
            <a:r>
              <a:rPr lang="en-US" sz="1000" dirty="0">
                <a:solidFill>
                  <a:srgbClr val="55555C"/>
                </a:solidFill>
              </a:rPr>
              <a:t>sign in · share your reel</a:t>
            </a:r>
            <a:endParaRPr lang="en-US" sz="1000" dirty="0"/>
          </a:p>
        </p:txBody>
      </p:sp>
      <p:sp>
        <p:nvSpPr>
          <p:cNvPr id="25" name="Shape 22"/>
          <p:cNvSpPr/>
          <p:nvPr/>
        </p:nvSpPr>
        <p:spPr>
          <a:xfrm flipH="1">
            <a:off x="2487168" y="5806440"/>
            <a:ext cx="274320" cy="0"/>
          </a:xfrm>
          <a:prstGeom prst="line">
            <a:avLst/>
          </a:prstGeom>
          <a:noFill/>
          <a:ln w="22225">
            <a:solidFill>
              <a:srgbClr val="8A8A92"/>
            </a:solidFill>
            <a:prstDash val="solid"/>
            <a:tailEnd type="triangle"/>
          </a:ln>
        </p:spPr>
      </p:sp>
      <p:sp>
        <p:nvSpPr>
          <p:cNvPr id="26" name="Shape 23"/>
          <p:cNvSpPr/>
          <p:nvPr/>
        </p:nvSpPr>
        <p:spPr>
          <a:xfrm>
            <a:off x="2816352" y="1463040"/>
            <a:ext cx="5916168" cy="4892040"/>
          </a:xfrm>
          <a:prstGeom prst="roundRect">
            <a:avLst>
              <a:gd name="adj" fmla="val 2243"/>
            </a:avLst>
          </a:prstGeom>
          <a:solidFill>
            <a:srgbClr val="FFFFFF"/>
          </a:solidFill>
          <a:ln w="12700">
            <a:solidFill>
              <a:srgbClr val="8A8A92"/>
            </a:solidFill>
            <a:prstDash val="dash"/>
          </a:ln>
        </p:spPr>
      </p:sp>
      <p:sp>
        <p:nvSpPr>
          <p:cNvPr id="27" name="Text 24"/>
          <p:cNvSpPr txBox="1"/>
          <p:nvPr/>
        </p:nvSpPr>
        <p:spPr>
          <a:xfrm>
            <a:off x="2999232" y="1536192"/>
            <a:ext cx="5577840" cy="228600"/>
          </a:xfrm>
          <a:prstGeom prst="rect">
            <a:avLst/>
          </a:prstGeom>
          <a:noFill/>
          <a:ln/>
        </p:spPr>
        <p:txBody>
          <a:bodyPr wrap="square" lIns="0" tIns="0" rIns="0" bIns="0" rtlCol="0" anchor="t"/>
          <a:lstStyle/>
          <a:p>
            <a:pPr indent="0" marL="0">
              <a:buNone/>
            </a:pPr>
            <a:r>
              <a:rPr lang="en-US" sz="1000" b="1" spc="100" kern="0" dirty="0">
                <a:solidFill>
                  <a:srgbClr val="55555C"/>
                </a:solidFill>
              </a:rPr>
              <a:t>SERVE GATEWAY · NODE.JS · STREAMS EACH STEP TO THE APP</a:t>
            </a:r>
            <a:endParaRPr lang="en-US" sz="1000" dirty="0"/>
          </a:p>
        </p:txBody>
      </p:sp>
      <p:sp>
        <p:nvSpPr>
          <p:cNvPr id="28" name="Shape 25"/>
          <p:cNvSpPr/>
          <p:nvPr/>
        </p:nvSpPr>
        <p:spPr>
          <a:xfrm>
            <a:off x="2999232" y="1810512"/>
            <a:ext cx="2724912" cy="603504"/>
          </a:xfrm>
          <a:prstGeom prst="roundRect">
            <a:avLst>
              <a:gd name="adj" fmla="val 18182"/>
            </a:avLst>
          </a:prstGeom>
          <a:solidFill>
            <a:srgbClr val="F6F7F8"/>
          </a:solidFill>
          <a:ln w="12700">
            <a:solidFill>
              <a:srgbClr val="F6F7F8"/>
            </a:solidFill>
            <a:prstDash val="solid"/>
          </a:ln>
        </p:spPr>
      </p:sp>
      <p:sp>
        <p:nvSpPr>
          <p:cNvPr id="29" name="Text 26"/>
          <p:cNvSpPr txBox="1"/>
          <p:nvPr/>
        </p:nvSpPr>
        <p:spPr>
          <a:xfrm>
            <a:off x="3127248" y="1847088"/>
            <a:ext cx="2468880" cy="237744"/>
          </a:xfrm>
          <a:prstGeom prst="rect">
            <a:avLst/>
          </a:prstGeom>
          <a:noFill/>
          <a:ln/>
        </p:spPr>
        <p:txBody>
          <a:bodyPr wrap="square" lIns="0" tIns="0" rIns="0" bIns="0" rtlCol="0" anchor="t"/>
          <a:lstStyle/>
          <a:p>
            <a:pPr indent="0" marL="0">
              <a:buNone/>
            </a:pPr>
            <a:r>
              <a:rPr lang="en-US" sz="1100" b="1" dirty="0">
                <a:solidFill>
                  <a:srgbClr val="0A0A0B"/>
                </a:solidFill>
              </a:rPr>
              <a:t>Planner agent</a:t>
            </a:r>
            <a:endParaRPr lang="en-US" sz="1100" dirty="0"/>
          </a:p>
        </p:txBody>
      </p:sp>
      <p:sp>
        <p:nvSpPr>
          <p:cNvPr id="30" name="Text 27"/>
          <p:cNvSpPr txBox="1"/>
          <p:nvPr/>
        </p:nvSpPr>
        <p:spPr>
          <a:xfrm>
            <a:off x="3127248" y="2066544"/>
            <a:ext cx="2514600" cy="329184"/>
          </a:xfrm>
          <a:prstGeom prst="rect">
            <a:avLst/>
          </a:prstGeom>
          <a:noFill/>
          <a:ln/>
        </p:spPr>
        <p:txBody>
          <a:bodyPr wrap="square" lIns="0" tIns="0" rIns="0" bIns="0" rtlCol="0" anchor="t"/>
          <a:lstStyle/>
          <a:p>
            <a:pPr indent="0" marL="0">
              <a:buNone/>
            </a:pPr>
            <a:r>
              <a:rPr lang="en-US" sz="900" dirty="0">
                <a:solidFill>
                  <a:srgbClr val="55555C"/>
                </a:solidFill>
              </a:rPr>
              <a:t>tool loop · native tool calling · 12 steps max · rules finish if it stalls</a:t>
            </a:r>
            <a:endParaRPr lang="en-US" sz="900" dirty="0"/>
          </a:p>
        </p:txBody>
      </p:sp>
      <p:sp>
        <p:nvSpPr>
          <p:cNvPr id="31" name="Shape 28"/>
          <p:cNvSpPr/>
          <p:nvPr/>
        </p:nvSpPr>
        <p:spPr>
          <a:xfrm>
            <a:off x="5833872" y="1810512"/>
            <a:ext cx="2724912" cy="603504"/>
          </a:xfrm>
          <a:prstGeom prst="roundRect">
            <a:avLst>
              <a:gd name="adj" fmla="val 18182"/>
            </a:avLst>
          </a:prstGeom>
          <a:solidFill>
            <a:srgbClr val="F6F7F8"/>
          </a:solidFill>
          <a:ln w="12700">
            <a:solidFill>
              <a:srgbClr val="F6F7F8"/>
            </a:solidFill>
            <a:prstDash val="solid"/>
          </a:ln>
        </p:spPr>
      </p:sp>
      <p:sp>
        <p:nvSpPr>
          <p:cNvPr id="32" name="Text 29"/>
          <p:cNvSpPr txBox="1"/>
          <p:nvPr/>
        </p:nvSpPr>
        <p:spPr>
          <a:xfrm>
            <a:off x="5961888" y="1847088"/>
            <a:ext cx="2468880" cy="237744"/>
          </a:xfrm>
          <a:prstGeom prst="rect">
            <a:avLst/>
          </a:prstGeom>
          <a:noFill/>
          <a:ln/>
        </p:spPr>
        <p:txBody>
          <a:bodyPr wrap="square" lIns="0" tIns="0" rIns="0" bIns="0" rtlCol="0" anchor="t"/>
          <a:lstStyle/>
          <a:p>
            <a:pPr indent="0" marL="0">
              <a:buNone/>
            </a:pPr>
            <a:r>
              <a:rPr lang="en-US" sz="1100" b="1" dirty="0">
                <a:solidFill>
                  <a:srgbClr val="0A0A0B"/>
                </a:solidFill>
              </a:rPr>
              <a:t>Agent to agent</a:t>
            </a:r>
            <a:endParaRPr lang="en-US" sz="1100" dirty="0"/>
          </a:p>
        </p:txBody>
      </p:sp>
      <p:sp>
        <p:nvSpPr>
          <p:cNvPr id="33" name="Text 30"/>
          <p:cNvSpPr txBox="1"/>
          <p:nvPr/>
        </p:nvSpPr>
        <p:spPr>
          <a:xfrm>
            <a:off x="5961888" y="2066544"/>
            <a:ext cx="2514600" cy="329184"/>
          </a:xfrm>
          <a:prstGeom prst="rect">
            <a:avLst/>
          </a:prstGeom>
          <a:noFill/>
          <a:ln/>
        </p:spPr>
        <p:txBody>
          <a:bodyPr wrap="square" lIns="0" tIns="0" rIns="0" bIns="0" rtlCol="0" anchor="t"/>
          <a:lstStyle/>
          <a:p>
            <a:pPr indent="0" marL="0">
              <a:buNone/>
            </a:pPr>
            <a:r>
              <a:rPr lang="en-US" sz="900" dirty="0">
                <a:solidFill>
                  <a:srgbClr val="55555C"/>
                </a:solidFill>
              </a:rPr>
              <a:t>A2A v1.0 · signed requests · held times · a federation of clubs, keys rotated</a:t>
            </a:r>
            <a:endParaRPr lang="en-US" sz="900" dirty="0"/>
          </a:p>
        </p:txBody>
      </p:sp>
      <p:sp>
        <p:nvSpPr>
          <p:cNvPr id="34" name="Shape 31"/>
          <p:cNvSpPr/>
          <p:nvPr/>
        </p:nvSpPr>
        <p:spPr>
          <a:xfrm>
            <a:off x="2999232" y="2468880"/>
            <a:ext cx="2724912" cy="603504"/>
          </a:xfrm>
          <a:prstGeom prst="roundRect">
            <a:avLst>
              <a:gd name="adj" fmla="val 18182"/>
            </a:avLst>
          </a:prstGeom>
          <a:solidFill>
            <a:srgbClr val="F6F7F8"/>
          </a:solidFill>
          <a:ln w="12700">
            <a:solidFill>
              <a:srgbClr val="F6F7F8"/>
            </a:solidFill>
            <a:prstDash val="solid"/>
          </a:ln>
        </p:spPr>
      </p:sp>
      <p:sp>
        <p:nvSpPr>
          <p:cNvPr id="35" name="Text 32"/>
          <p:cNvSpPr txBox="1"/>
          <p:nvPr/>
        </p:nvSpPr>
        <p:spPr>
          <a:xfrm>
            <a:off x="3127248" y="2505456"/>
            <a:ext cx="2468880" cy="237744"/>
          </a:xfrm>
          <a:prstGeom prst="rect">
            <a:avLst/>
          </a:prstGeom>
          <a:noFill/>
          <a:ln/>
        </p:spPr>
        <p:txBody>
          <a:bodyPr wrap="square" lIns="0" tIns="0" rIns="0" bIns="0" rtlCol="0" anchor="t"/>
          <a:lstStyle/>
          <a:p>
            <a:pPr indent="0" marL="0">
              <a:buNone/>
            </a:pPr>
            <a:r>
              <a:rPr lang="en-US" sz="1100" b="1" dirty="0">
                <a:solidFill>
                  <a:srgbClr val="0A0A0B"/>
                </a:solidFill>
              </a:rPr>
              <a:t>Scheduling context</a:t>
            </a:r>
            <a:endParaRPr lang="en-US" sz="1100" dirty="0"/>
          </a:p>
        </p:txBody>
      </p:sp>
      <p:sp>
        <p:nvSpPr>
          <p:cNvPr id="36" name="Text 33"/>
          <p:cNvSpPr txBox="1"/>
          <p:nvPr/>
        </p:nvSpPr>
        <p:spPr>
          <a:xfrm>
            <a:off x="3127248" y="2724912"/>
            <a:ext cx="2514600" cy="329184"/>
          </a:xfrm>
          <a:prstGeom prst="rect">
            <a:avLst/>
          </a:prstGeom>
          <a:noFill/>
          <a:ln/>
        </p:spPr>
        <p:txBody>
          <a:bodyPr wrap="square" lIns="0" tIns="0" rIns="0" bIns="0" rtlCol="0" anchor="t"/>
          <a:lstStyle/>
          <a:p>
            <a:pPr indent="0" marL="0">
              <a:buNone/>
            </a:pPr>
            <a:r>
              <a:rPr lang="en-US" sz="900" dirty="0">
                <a:solidFill>
                  <a:srgbClr val="55555C"/>
                </a:solidFill>
              </a:rPr>
              <a:t>your words, games, health app · found by DRAMA · rules cite notes</a:t>
            </a:r>
            <a:endParaRPr lang="en-US" sz="900" dirty="0"/>
          </a:p>
        </p:txBody>
      </p:sp>
      <p:sp>
        <p:nvSpPr>
          <p:cNvPr id="37" name="Shape 34"/>
          <p:cNvSpPr/>
          <p:nvPr/>
        </p:nvSpPr>
        <p:spPr>
          <a:xfrm>
            <a:off x="5833872" y="2468880"/>
            <a:ext cx="2724912" cy="603504"/>
          </a:xfrm>
          <a:prstGeom prst="roundRect">
            <a:avLst>
              <a:gd name="adj" fmla="val 18182"/>
            </a:avLst>
          </a:prstGeom>
          <a:solidFill>
            <a:srgbClr val="F6F7F8"/>
          </a:solidFill>
          <a:ln w="12700">
            <a:solidFill>
              <a:srgbClr val="F6F7F8"/>
            </a:solidFill>
            <a:prstDash val="solid"/>
          </a:ln>
        </p:spPr>
      </p:sp>
      <p:sp>
        <p:nvSpPr>
          <p:cNvPr id="38" name="Text 35"/>
          <p:cNvSpPr txBox="1"/>
          <p:nvPr/>
        </p:nvSpPr>
        <p:spPr>
          <a:xfrm>
            <a:off x="5961888" y="2505456"/>
            <a:ext cx="2468880" cy="237744"/>
          </a:xfrm>
          <a:prstGeom prst="rect">
            <a:avLst/>
          </a:prstGeom>
          <a:noFill/>
          <a:ln/>
        </p:spPr>
        <p:txBody>
          <a:bodyPr wrap="square" lIns="0" tIns="0" rIns="0" bIns="0" rtlCol="0" anchor="t"/>
          <a:lstStyle/>
          <a:p>
            <a:pPr indent="0" marL="0">
              <a:buNone/>
            </a:pPr>
            <a:r>
              <a:rPr lang="en-US" sz="1100" b="1" dirty="0">
                <a:solidFill>
                  <a:srgbClr val="0A0A0B"/>
                </a:solidFill>
              </a:rPr>
              <a:t>Courts near you</a:t>
            </a:r>
            <a:endParaRPr lang="en-US" sz="1100" dirty="0"/>
          </a:p>
        </p:txBody>
      </p:sp>
      <p:sp>
        <p:nvSpPr>
          <p:cNvPr id="39" name="Text 36"/>
          <p:cNvSpPr txBox="1"/>
          <p:nvPr/>
        </p:nvSpPr>
        <p:spPr>
          <a:xfrm>
            <a:off x="5961888" y="2724912"/>
            <a:ext cx="2514600" cy="329184"/>
          </a:xfrm>
          <a:prstGeom prst="rect">
            <a:avLst/>
          </a:prstGeom>
          <a:noFill/>
          <a:ln/>
        </p:spPr>
        <p:txBody>
          <a:bodyPr wrap="square" lIns="0" tIns="0" rIns="0" bIns="0" rtlCol="0" anchor="t"/>
          <a:lstStyle/>
          <a:p>
            <a:pPr indent="0" marL="0">
              <a:buNone/>
            </a:pPr>
            <a:r>
              <a:rPr lang="en-US" sz="900" dirty="0">
                <a:solidFill>
                  <a:srgbClr val="55555C"/>
                </a:solidFill>
              </a:rPr>
              <a:t>map, reviews, forecast · 4 judged at once · reasons cited</a:t>
            </a:r>
            <a:endParaRPr lang="en-US" sz="900" dirty="0"/>
          </a:p>
        </p:txBody>
      </p:sp>
      <p:sp>
        <p:nvSpPr>
          <p:cNvPr id="40" name="Shape 37"/>
          <p:cNvSpPr/>
          <p:nvPr/>
        </p:nvSpPr>
        <p:spPr>
          <a:xfrm>
            <a:off x="2999232" y="3127248"/>
            <a:ext cx="2724912" cy="603504"/>
          </a:xfrm>
          <a:prstGeom prst="roundRect">
            <a:avLst>
              <a:gd name="adj" fmla="val 18182"/>
            </a:avLst>
          </a:prstGeom>
          <a:solidFill>
            <a:srgbClr val="F6F7F8"/>
          </a:solidFill>
          <a:ln w="12700">
            <a:solidFill>
              <a:srgbClr val="F6F7F8"/>
            </a:solidFill>
            <a:prstDash val="solid"/>
          </a:ln>
        </p:spPr>
      </p:sp>
      <p:sp>
        <p:nvSpPr>
          <p:cNvPr id="41" name="Text 38"/>
          <p:cNvSpPr txBox="1"/>
          <p:nvPr/>
        </p:nvSpPr>
        <p:spPr>
          <a:xfrm>
            <a:off x="3127248" y="3163824"/>
            <a:ext cx="2468880" cy="237744"/>
          </a:xfrm>
          <a:prstGeom prst="rect">
            <a:avLst/>
          </a:prstGeom>
          <a:noFill/>
          <a:ln/>
        </p:spPr>
        <p:txBody>
          <a:bodyPr wrap="square" lIns="0" tIns="0" rIns="0" bIns="0" rtlCol="0" anchor="t"/>
          <a:lstStyle/>
          <a:p>
            <a:pPr indent="0" marL="0">
              <a:buNone/>
            </a:pPr>
            <a:r>
              <a:rPr lang="en-US" sz="1100" b="1" dirty="0">
                <a:solidFill>
                  <a:srgbClr val="0A0A0B"/>
                </a:solidFill>
              </a:rPr>
              <a:t>Social feed and members</a:t>
            </a:r>
            <a:endParaRPr lang="en-US" sz="1100" dirty="0"/>
          </a:p>
        </p:txBody>
      </p:sp>
      <p:sp>
        <p:nvSpPr>
          <p:cNvPr id="42" name="Text 39"/>
          <p:cNvSpPr txBox="1"/>
          <p:nvPr/>
        </p:nvSpPr>
        <p:spPr>
          <a:xfrm>
            <a:off x="3127248" y="3383280"/>
            <a:ext cx="2514600" cy="329184"/>
          </a:xfrm>
          <a:prstGeom prst="rect">
            <a:avLst/>
          </a:prstGeom>
          <a:noFill/>
          <a:ln/>
        </p:spPr>
        <p:txBody>
          <a:bodyPr wrap="square" lIns="0" tIns="0" rIns="0" bIns="0" rtlCol="0" anchor="t"/>
          <a:lstStyle/>
          <a:p>
            <a:pPr indent="0" marL="0">
              <a:buNone/>
            </a:pPr>
            <a:r>
              <a:rPr lang="en-US" sz="900" dirty="0">
                <a:solidFill>
                  <a:srgbClr val="55555C"/>
                </a:solidFill>
              </a:rPr>
              <a:t>Facebook / Instagram login · invites · stories · signed agent channel</a:t>
            </a:r>
            <a:endParaRPr lang="en-US" sz="900" dirty="0"/>
          </a:p>
        </p:txBody>
      </p:sp>
      <p:sp>
        <p:nvSpPr>
          <p:cNvPr id="43" name="Shape 40"/>
          <p:cNvSpPr/>
          <p:nvPr/>
        </p:nvSpPr>
        <p:spPr>
          <a:xfrm>
            <a:off x="5833872" y="3127248"/>
            <a:ext cx="2724912" cy="603504"/>
          </a:xfrm>
          <a:prstGeom prst="roundRect">
            <a:avLst>
              <a:gd name="adj" fmla="val 18182"/>
            </a:avLst>
          </a:prstGeom>
          <a:solidFill>
            <a:srgbClr val="F6F7F8"/>
          </a:solidFill>
          <a:ln w="12700">
            <a:solidFill>
              <a:srgbClr val="F6F7F8"/>
            </a:solidFill>
            <a:prstDash val="solid"/>
          </a:ln>
        </p:spPr>
      </p:sp>
      <p:sp>
        <p:nvSpPr>
          <p:cNvPr id="44" name="Text 41"/>
          <p:cNvSpPr txBox="1"/>
          <p:nvPr/>
        </p:nvSpPr>
        <p:spPr>
          <a:xfrm>
            <a:off x="5961888" y="3163824"/>
            <a:ext cx="2468880" cy="237744"/>
          </a:xfrm>
          <a:prstGeom prst="rect">
            <a:avLst/>
          </a:prstGeom>
          <a:noFill/>
          <a:ln/>
        </p:spPr>
        <p:txBody>
          <a:bodyPr wrap="square" lIns="0" tIns="0" rIns="0" bIns="0" rtlCol="0" anchor="t"/>
          <a:lstStyle/>
          <a:p>
            <a:pPr indent="0" marL="0">
              <a:buNone/>
            </a:pPr>
            <a:r>
              <a:rPr lang="en-US" sz="1100" b="1" dirty="0">
                <a:solidFill>
                  <a:srgbClr val="0A0A0B"/>
                </a:solidFill>
              </a:rPr>
              <a:t>Auto highlights</a:t>
            </a:r>
            <a:endParaRPr lang="en-US" sz="1100" dirty="0"/>
          </a:p>
        </p:txBody>
      </p:sp>
      <p:sp>
        <p:nvSpPr>
          <p:cNvPr id="45" name="Text 42"/>
          <p:cNvSpPr txBox="1"/>
          <p:nvPr/>
        </p:nvSpPr>
        <p:spPr>
          <a:xfrm>
            <a:off x="5961888" y="3383280"/>
            <a:ext cx="2514600" cy="329184"/>
          </a:xfrm>
          <a:prstGeom prst="rect">
            <a:avLst/>
          </a:prstGeom>
          <a:noFill/>
          <a:ln/>
        </p:spPr>
        <p:txBody>
          <a:bodyPr wrap="square" lIns="0" tIns="0" rIns="0" bIns="0" rtlCol="0" anchor="t"/>
          <a:lstStyle/>
          <a:p>
            <a:pPr indent="0" marL="0">
              <a:buNone/>
            </a:pPr>
            <a:r>
              <a:rPr lang="en-US" sz="900" dirty="0">
                <a:solidFill>
                  <a:srgbClr val="55555C"/>
                </a:solidFill>
              </a:rPr>
              <a:t>cut automatically: find you, the moment to share · orbit effect · caption</a:t>
            </a:r>
            <a:endParaRPr lang="en-US" sz="900" dirty="0"/>
          </a:p>
        </p:txBody>
      </p:sp>
      <p:sp>
        <p:nvSpPr>
          <p:cNvPr id="46" name="Shape 43"/>
          <p:cNvSpPr/>
          <p:nvPr/>
        </p:nvSpPr>
        <p:spPr>
          <a:xfrm>
            <a:off x="2999232" y="3785616"/>
            <a:ext cx="2724912" cy="603504"/>
          </a:xfrm>
          <a:prstGeom prst="roundRect">
            <a:avLst>
              <a:gd name="adj" fmla="val 18182"/>
            </a:avLst>
          </a:prstGeom>
          <a:solidFill>
            <a:srgbClr val="F6F7F8"/>
          </a:solidFill>
          <a:ln w="12700">
            <a:solidFill>
              <a:srgbClr val="F6F7F8"/>
            </a:solidFill>
            <a:prstDash val="solid"/>
          </a:ln>
        </p:spPr>
      </p:sp>
      <p:sp>
        <p:nvSpPr>
          <p:cNvPr id="47" name="Text 44"/>
          <p:cNvSpPr txBox="1"/>
          <p:nvPr/>
        </p:nvSpPr>
        <p:spPr>
          <a:xfrm>
            <a:off x="3127248" y="3822192"/>
            <a:ext cx="2468880" cy="237744"/>
          </a:xfrm>
          <a:prstGeom prst="rect">
            <a:avLst/>
          </a:prstGeom>
          <a:noFill/>
          <a:ln/>
        </p:spPr>
        <p:txBody>
          <a:bodyPr wrap="square" lIns="0" tIns="0" rIns="0" bIns="0" rtlCol="0" anchor="t"/>
          <a:lstStyle/>
          <a:p>
            <a:pPr indent="0" marL="0">
              <a:buNone/>
            </a:pPr>
            <a:r>
              <a:rPr lang="en-US" sz="1100" b="1" dirty="0">
                <a:solidFill>
                  <a:srgbClr val="0A0A0B"/>
                </a:solidFill>
              </a:rPr>
              <a:t>Community loop</a:t>
            </a:r>
            <a:endParaRPr lang="en-US" sz="1100" dirty="0"/>
          </a:p>
        </p:txBody>
      </p:sp>
      <p:sp>
        <p:nvSpPr>
          <p:cNvPr id="48" name="Text 45"/>
          <p:cNvSpPr txBox="1"/>
          <p:nvPr/>
        </p:nvSpPr>
        <p:spPr>
          <a:xfrm>
            <a:off x="3127248" y="4041648"/>
            <a:ext cx="2514600" cy="329184"/>
          </a:xfrm>
          <a:prstGeom prst="rect">
            <a:avLst/>
          </a:prstGeom>
          <a:noFill/>
          <a:ln/>
        </p:spPr>
        <p:txBody>
          <a:bodyPr wrap="square" lIns="0" tIns="0" rIns="0" bIns="0" rtlCol="0" anchor="t"/>
          <a:lstStyle/>
          <a:p>
            <a:pPr indent="0" marL="0">
              <a:buNone/>
            </a:pPr>
            <a:r>
              <a:rPr lang="en-US" sz="900" dirty="0">
                <a:solidFill>
                  <a:srgbClr val="55555C"/>
                </a:solidFill>
              </a:rPr>
              <a:t>ideas · DRAMA · votes · spec · coding agent · 9 gates · canary</a:t>
            </a:r>
            <a:endParaRPr lang="en-US" sz="900" dirty="0"/>
          </a:p>
        </p:txBody>
      </p:sp>
      <p:sp>
        <p:nvSpPr>
          <p:cNvPr id="49" name="Shape 46"/>
          <p:cNvSpPr/>
          <p:nvPr/>
        </p:nvSpPr>
        <p:spPr>
          <a:xfrm>
            <a:off x="5833872" y="3785616"/>
            <a:ext cx="2724912" cy="603504"/>
          </a:xfrm>
          <a:prstGeom prst="roundRect">
            <a:avLst>
              <a:gd name="adj" fmla="val 18182"/>
            </a:avLst>
          </a:prstGeom>
          <a:solidFill>
            <a:srgbClr val="F6F7F8"/>
          </a:solidFill>
          <a:ln w="12700">
            <a:solidFill>
              <a:srgbClr val="F6F7F8"/>
            </a:solidFill>
            <a:prstDash val="solid"/>
          </a:ln>
        </p:spPr>
      </p:sp>
      <p:sp>
        <p:nvSpPr>
          <p:cNvPr id="50" name="Text 47"/>
          <p:cNvSpPr txBox="1"/>
          <p:nvPr/>
        </p:nvSpPr>
        <p:spPr>
          <a:xfrm>
            <a:off x="5961888" y="3822192"/>
            <a:ext cx="2468880" cy="237744"/>
          </a:xfrm>
          <a:prstGeom prst="rect">
            <a:avLst/>
          </a:prstGeom>
          <a:noFill/>
          <a:ln/>
        </p:spPr>
        <p:txBody>
          <a:bodyPr wrap="square" lIns="0" tIns="0" rIns="0" bIns="0" rtlCol="0" anchor="t"/>
          <a:lstStyle/>
          <a:p>
            <a:pPr indent="0" marL="0">
              <a:buNone/>
            </a:pPr>
            <a:r>
              <a:rPr lang="en-US" sz="1100" b="1" dirty="0">
                <a:solidFill>
                  <a:srgbClr val="0A0A0B"/>
                </a:solidFill>
              </a:rPr>
              <a:t>Decision tiers</a:t>
            </a:r>
            <a:endParaRPr lang="en-US" sz="1100" dirty="0"/>
          </a:p>
        </p:txBody>
      </p:sp>
      <p:sp>
        <p:nvSpPr>
          <p:cNvPr id="51" name="Text 48"/>
          <p:cNvSpPr txBox="1"/>
          <p:nvPr/>
        </p:nvSpPr>
        <p:spPr>
          <a:xfrm>
            <a:off x="5961888" y="4041648"/>
            <a:ext cx="2514600" cy="329184"/>
          </a:xfrm>
          <a:prstGeom prst="rect">
            <a:avLst/>
          </a:prstGeom>
          <a:noFill/>
          <a:ln/>
        </p:spPr>
        <p:txBody>
          <a:bodyPr wrap="square" lIns="0" tIns="0" rIns="0" bIns="0" rtlCol="0" anchor="t"/>
          <a:lstStyle/>
          <a:p>
            <a:pPr indent="0" marL="0">
              <a:buNone/>
            </a:pPr>
            <a:r>
              <a:rPr lang="en-US" sz="900" dirty="0">
                <a:solidFill>
                  <a:srgbClr val="55555C"/>
                </a:solidFill>
              </a:rPr>
              <a:t>code first · Llama 3.2 1B when sure · Muse Glimmer if needed</a:t>
            </a:r>
            <a:endParaRPr lang="en-US" sz="900" dirty="0"/>
          </a:p>
        </p:txBody>
      </p:sp>
      <p:sp>
        <p:nvSpPr>
          <p:cNvPr id="52" name="Shape 49"/>
          <p:cNvSpPr/>
          <p:nvPr/>
        </p:nvSpPr>
        <p:spPr>
          <a:xfrm>
            <a:off x="2999232" y="4443984"/>
            <a:ext cx="2724912" cy="603504"/>
          </a:xfrm>
          <a:prstGeom prst="roundRect">
            <a:avLst>
              <a:gd name="adj" fmla="val 18182"/>
            </a:avLst>
          </a:prstGeom>
          <a:solidFill>
            <a:srgbClr val="F6F7F8"/>
          </a:solidFill>
          <a:ln w="12700">
            <a:solidFill>
              <a:srgbClr val="F6F7F8"/>
            </a:solidFill>
            <a:prstDash val="solid"/>
          </a:ln>
        </p:spPr>
      </p:sp>
      <p:sp>
        <p:nvSpPr>
          <p:cNvPr id="53" name="Text 50"/>
          <p:cNvSpPr txBox="1"/>
          <p:nvPr/>
        </p:nvSpPr>
        <p:spPr>
          <a:xfrm>
            <a:off x="3127248" y="4480560"/>
            <a:ext cx="2468880" cy="237744"/>
          </a:xfrm>
          <a:prstGeom prst="rect">
            <a:avLst/>
          </a:prstGeom>
          <a:noFill/>
          <a:ln/>
        </p:spPr>
        <p:txBody>
          <a:bodyPr wrap="square" lIns="0" tIns="0" rIns="0" bIns="0" rtlCol="0" anchor="t"/>
          <a:lstStyle/>
          <a:p>
            <a:pPr indent="0" marL="0">
              <a:buNone/>
            </a:pPr>
            <a:r>
              <a:rPr lang="en-US" sz="1100" b="1" dirty="0">
                <a:solidFill>
                  <a:srgbClr val="0A0A0B"/>
                </a:solidFill>
              </a:rPr>
              <a:t>Live voice</a:t>
            </a:r>
            <a:endParaRPr lang="en-US" sz="1100" dirty="0"/>
          </a:p>
        </p:txBody>
      </p:sp>
      <p:sp>
        <p:nvSpPr>
          <p:cNvPr id="54" name="Text 51"/>
          <p:cNvSpPr txBox="1"/>
          <p:nvPr/>
        </p:nvSpPr>
        <p:spPr>
          <a:xfrm>
            <a:off x="3127248" y="4700016"/>
            <a:ext cx="2514600" cy="329184"/>
          </a:xfrm>
          <a:prstGeom prst="rect">
            <a:avLst/>
          </a:prstGeom>
          <a:noFill/>
          <a:ln/>
        </p:spPr>
        <p:txBody>
          <a:bodyPr wrap="square" lIns="0" tIns="0" rIns="0" bIns="0" rtlCol="0" anchor="t"/>
          <a:lstStyle/>
          <a:p>
            <a:pPr indent="0" marL="0">
              <a:buNone/>
            </a:pPr>
            <a:r>
              <a:rPr lang="en-US" sz="900" dirty="0">
                <a:solidFill>
                  <a:srgbClr val="55555C"/>
                </a:solidFill>
              </a:rPr>
              <a:t>mic relayed to Muse Voice Transcribe · barge-in · Kokoro speaks</a:t>
            </a:r>
            <a:endParaRPr lang="en-US" sz="900" dirty="0"/>
          </a:p>
        </p:txBody>
      </p:sp>
      <p:sp>
        <p:nvSpPr>
          <p:cNvPr id="55" name="Shape 52"/>
          <p:cNvSpPr/>
          <p:nvPr/>
        </p:nvSpPr>
        <p:spPr>
          <a:xfrm>
            <a:off x="5833872" y="4443984"/>
            <a:ext cx="2724912" cy="603504"/>
          </a:xfrm>
          <a:prstGeom prst="roundRect">
            <a:avLst>
              <a:gd name="adj" fmla="val 18182"/>
            </a:avLst>
          </a:prstGeom>
          <a:solidFill>
            <a:srgbClr val="F6F7F8"/>
          </a:solidFill>
          <a:ln w="12700">
            <a:solidFill>
              <a:srgbClr val="F6F7F8"/>
            </a:solidFill>
            <a:prstDash val="solid"/>
          </a:ln>
        </p:spPr>
      </p:sp>
      <p:sp>
        <p:nvSpPr>
          <p:cNvPr id="56" name="Text 53"/>
          <p:cNvSpPr txBox="1"/>
          <p:nvPr/>
        </p:nvSpPr>
        <p:spPr>
          <a:xfrm>
            <a:off x="5961888" y="4480560"/>
            <a:ext cx="2468880" cy="237744"/>
          </a:xfrm>
          <a:prstGeom prst="rect">
            <a:avLst/>
          </a:prstGeom>
          <a:noFill/>
          <a:ln/>
        </p:spPr>
        <p:txBody>
          <a:bodyPr wrap="square" lIns="0" tIns="0" rIns="0" bIns="0" rtlCol="0" anchor="t"/>
          <a:lstStyle/>
          <a:p>
            <a:pPr indent="0" marL="0">
              <a:buNone/>
            </a:pPr>
            <a:r>
              <a:rPr lang="en-US" sz="1100" b="1" dirty="0">
                <a:solidFill>
                  <a:srgbClr val="0A0A0B"/>
                </a:solidFill>
              </a:rPr>
              <a:t>Posters and faces</a:t>
            </a:r>
            <a:endParaRPr lang="en-US" sz="1100" dirty="0"/>
          </a:p>
        </p:txBody>
      </p:sp>
      <p:sp>
        <p:nvSpPr>
          <p:cNvPr id="57" name="Text 54"/>
          <p:cNvSpPr txBox="1"/>
          <p:nvPr/>
        </p:nvSpPr>
        <p:spPr>
          <a:xfrm>
            <a:off x="5961888" y="4700016"/>
            <a:ext cx="2514600" cy="329184"/>
          </a:xfrm>
          <a:prstGeom prst="rect">
            <a:avLst/>
          </a:prstGeom>
          <a:noFill/>
          <a:ln/>
        </p:spPr>
        <p:txBody>
          <a:bodyPr wrap="square" lIns="0" tIns="0" rIns="0" bIns="0" rtlCol="0" anchor="t"/>
          <a:lstStyle/>
          <a:p>
            <a:pPr indent="0" marL="0">
              <a:buNone/>
            </a:pPr>
            <a:r>
              <a:rPr lang="en-US" sz="900" dirty="0">
                <a:solidFill>
                  <a:srgbClr val="55555C"/>
                </a:solidFill>
              </a:rPr>
              <a:t>Muse Image art, made once and cached · names drawn by the app</a:t>
            </a:r>
            <a:endParaRPr lang="en-US" sz="900" dirty="0"/>
          </a:p>
        </p:txBody>
      </p:sp>
      <p:sp>
        <p:nvSpPr>
          <p:cNvPr id="58" name="Shape 55"/>
          <p:cNvSpPr/>
          <p:nvPr/>
        </p:nvSpPr>
        <p:spPr>
          <a:xfrm>
            <a:off x="2999232" y="5138928"/>
            <a:ext cx="5559552" cy="749808"/>
          </a:xfrm>
          <a:prstGeom prst="roundRect">
            <a:avLst>
              <a:gd name="adj" fmla="val 14634"/>
            </a:avLst>
          </a:prstGeom>
          <a:solidFill>
            <a:srgbClr val="FBF3E6"/>
          </a:solidFill>
          <a:ln w="12700">
            <a:solidFill>
              <a:srgbClr val="FBF3E6"/>
            </a:solidFill>
            <a:prstDash val="solid"/>
          </a:ln>
        </p:spPr>
      </p:sp>
      <p:sp>
        <p:nvSpPr>
          <p:cNvPr id="59" name="Text 56"/>
          <p:cNvSpPr txBox="1"/>
          <p:nvPr/>
        </p:nvSpPr>
        <p:spPr>
          <a:xfrm>
            <a:off x="3127248" y="5193792"/>
            <a:ext cx="5303520" cy="246888"/>
          </a:xfrm>
          <a:prstGeom prst="rect">
            <a:avLst/>
          </a:prstGeom>
          <a:noFill/>
          <a:ln/>
        </p:spPr>
        <p:txBody>
          <a:bodyPr wrap="square" lIns="0" tIns="0" rIns="0" bIns="0" rtlCol="0" anchor="t"/>
          <a:lstStyle/>
          <a:p>
            <a:pPr indent="0" marL="0">
              <a:buNone/>
            </a:pPr>
            <a:r>
              <a:rPr lang="en-US" sz="1150" b="1" dirty="0">
                <a:solidFill>
                  <a:srgbClr val="B26A00"/>
                </a:solidFill>
              </a:rPr>
              <a:t>Checked by code before anyone sees it</a:t>
            </a:r>
            <a:endParaRPr lang="en-US" sz="1150" dirty="0"/>
          </a:p>
        </p:txBody>
      </p:sp>
      <p:sp>
        <p:nvSpPr>
          <p:cNvPr id="60" name="Text 57"/>
          <p:cNvSpPr txBox="1"/>
          <p:nvPr/>
        </p:nvSpPr>
        <p:spPr>
          <a:xfrm>
            <a:off x="3127248" y="5449824"/>
            <a:ext cx="5349240" cy="420624"/>
          </a:xfrm>
          <a:prstGeom prst="rect">
            <a:avLst/>
          </a:prstGeom>
          <a:noFill/>
          <a:ln/>
        </p:spPr>
        <p:txBody>
          <a:bodyPr wrap="square" lIns="0" tIns="0" rIns="0" bIns="0" rtlCol="0" anchor="t"/>
          <a:lstStyle/>
          <a:p>
            <a:pPr indent="0" marL="0">
              <a:buNone/>
            </a:pPr>
            <a:r>
              <a:rPr lang="en-US" sz="950" dirty="0">
                <a:solidFill>
                  <a:srgbClr val="0A0A0B"/>
                </a:solidFill>
              </a:rPr>
              <a:t>Llama Guard 3 in and out · Prompt Guard 2 on reviews and ideas · numbers must be in the facts · JSON Schemas · facts, not prose, between agents · nothing booked without a yes</a:t>
            </a:r>
            <a:endParaRPr lang="en-US" sz="950" dirty="0"/>
          </a:p>
        </p:txBody>
      </p:sp>
      <p:sp>
        <p:nvSpPr>
          <p:cNvPr id="61" name="Text 58"/>
          <p:cNvSpPr txBox="1"/>
          <p:nvPr/>
        </p:nvSpPr>
        <p:spPr>
          <a:xfrm>
            <a:off x="2999232" y="5961888"/>
            <a:ext cx="5577840" cy="347472"/>
          </a:xfrm>
          <a:prstGeom prst="rect">
            <a:avLst/>
          </a:prstGeom>
          <a:noFill/>
          <a:ln/>
        </p:spPr>
        <p:txBody>
          <a:bodyPr wrap="square" lIns="0" tIns="0" rIns="0" bIns="0" rtlCol="0" anchor="t"/>
          <a:lstStyle/>
          <a:p>
            <a:pPr indent="0" marL="0">
              <a:buNone/>
            </a:pPr>
            <a:r>
              <a:rPr lang="en-US" sz="950" dirty="0">
                <a:solidFill>
                  <a:srgbClr val="55555C"/>
                </a:solidFill>
              </a:rPr>
              <a:t>Token ledger per call site · OpenTelemetry GenAI traces across agents · disclosure budget · tokens on every API call</a:t>
            </a:r>
            <a:endParaRPr lang="en-US" sz="950" dirty="0"/>
          </a:p>
        </p:txBody>
      </p:sp>
      <p:sp>
        <p:nvSpPr>
          <p:cNvPr id="62" name="Shape 59"/>
          <p:cNvSpPr/>
          <p:nvPr/>
        </p:nvSpPr>
        <p:spPr>
          <a:xfrm>
            <a:off x="8750808" y="2103120"/>
            <a:ext cx="274320" cy="0"/>
          </a:xfrm>
          <a:prstGeom prst="line">
            <a:avLst/>
          </a:prstGeom>
          <a:noFill/>
          <a:ln w="22225">
            <a:solidFill>
              <a:srgbClr val="0A7F44"/>
            </a:solidFill>
            <a:prstDash val="solid"/>
            <a:tailEnd type="triangle"/>
          </a:ln>
        </p:spPr>
      </p:sp>
      <p:sp>
        <p:nvSpPr>
          <p:cNvPr id="63" name="Shape 60"/>
          <p:cNvSpPr/>
          <p:nvPr/>
        </p:nvSpPr>
        <p:spPr>
          <a:xfrm>
            <a:off x="8750808" y="2926080"/>
            <a:ext cx="274320" cy="0"/>
          </a:xfrm>
          <a:prstGeom prst="line">
            <a:avLst/>
          </a:prstGeom>
          <a:noFill/>
          <a:ln w="22225">
            <a:solidFill>
              <a:srgbClr val="0064E0"/>
            </a:solidFill>
            <a:prstDash val="solid"/>
            <a:tailEnd type="triangle"/>
          </a:ln>
        </p:spPr>
      </p:sp>
      <p:sp>
        <p:nvSpPr>
          <p:cNvPr id="64" name="Shape 61"/>
          <p:cNvSpPr/>
          <p:nvPr/>
        </p:nvSpPr>
        <p:spPr>
          <a:xfrm>
            <a:off x="8750808" y="4572000"/>
            <a:ext cx="274320" cy="0"/>
          </a:xfrm>
          <a:prstGeom prst="line">
            <a:avLst/>
          </a:prstGeom>
          <a:noFill/>
          <a:ln w="22225">
            <a:solidFill>
              <a:srgbClr val="B26A00"/>
            </a:solidFill>
            <a:prstDash val="solid"/>
            <a:tailEnd type="triangle"/>
          </a:ln>
        </p:spPr>
      </p:sp>
      <p:sp>
        <p:nvSpPr>
          <p:cNvPr id="65" name="Text 62"/>
          <p:cNvSpPr txBox="1"/>
          <p:nvPr/>
        </p:nvSpPr>
        <p:spPr>
          <a:xfrm>
            <a:off x="9070848" y="1481328"/>
            <a:ext cx="2743200" cy="228600"/>
          </a:xfrm>
          <a:prstGeom prst="rect">
            <a:avLst/>
          </a:prstGeom>
          <a:noFill/>
          <a:ln/>
        </p:spPr>
        <p:txBody>
          <a:bodyPr wrap="square" lIns="0" tIns="0" rIns="0" bIns="0" rtlCol="0" anchor="t"/>
          <a:lstStyle/>
          <a:p>
            <a:pPr indent="0" marL="0">
              <a:buNone/>
            </a:pPr>
            <a:r>
              <a:rPr lang="en-US" sz="1000" b="1" spc="100" kern="0" dirty="0">
                <a:solidFill>
                  <a:srgbClr val="55555C"/>
                </a:solidFill>
              </a:rPr>
              <a:t>META MODELS ON MY SERVER</a:t>
            </a:r>
            <a:endParaRPr lang="en-US" sz="1000" dirty="0"/>
          </a:p>
        </p:txBody>
      </p:sp>
      <p:sp>
        <p:nvSpPr>
          <p:cNvPr id="66" name="Shape 63"/>
          <p:cNvSpPr/>
          <p:nvPr/>
        </p:nvSpPr>
        <p:spPr>
          <a:xfrm>
            <a:off x="9070848" y="1755648"/>
            <a:ext cx="2697480" cy="713232"/>
          </a:xfrm>
          <a:prstGeom prst="roundRect">
            <a:avLst>
              <a:gd name="adj" fmla="val 15385"/>
            </a:avLst>
          </a:prstGeom>
          <a:solidFill>
            <a:srgbClr val="E9F3EC"/>
          </a:solidFill>
          <a:ln w="12700">
            <a:solidFill>
              <a:srgbClr val="E9F3EC"/>
            </a:solidFill>
            <a:prstDash val="solid"/>
          </a:ln>
        </p:spPr>
      </p:sp>
      <p:sp>
        <p:nvSpPr>
          <p:cNvPr id="67" name="Text 64"/>
          <p:cNvSpPr txBox="1"/>
          <p:nvPr/>
        </p:nvSpPr>
        <p:spPr>
          <a:xfrm>
            <a:off x="9198864" y="1828800"/>
            <a:ext cx="2468880" cy="246888"/>
          </a:xfrm>
          <a:prstGeom prst="rect">
            <a:avLst/>
          </a:prstGeom>
          <a:noFill/>
          <a:ln/>
        </p:spPr>
        <p:txBody>
          <a:bodyPr wrap="square" lIns="0" tIns="0" rIns="0" bIns="0" rtlCol="0" anchor="t"/>
          <a:lstStyle/>
          <a:p>
            <a:pPr indent="0" marL="0">
              <a:buNone/>
            </a:pPr>
            <a:r>
              <a:rPr lang="en-US" sz="1150" b="1" dirty="0">
                <a:solidFill>
                  <a:srgbClr val="0A7F44"/>
                </a:solidFill>
              </a:rPr>
              <a:t>Muse Glimmer</a:t>
            </a:r>
            <a:endParaRPr lang="en-US" sz="1150" dirty="0"/>
          </a:p>
        </p:txBody>
      </p:sp>
      <p:sp>
        <p:nvSpPr>
          <p:cNvPr id="68" name="Text 65"/>
          <p:cNvSpPr txBox="1"/>
          <p:nvPr/>
        </p:nvSpPr>
        <p:spPr>
          <a:xfrm>
            <a:off x="9198864" y="2084832"/>
            <a:ext cx="2487168" cy="347472"/>
          </a:xfrm>
          <a:prstGeom prst="rect">
            <a:avLst/>
          </a:prstGeom>
          <a:noFill/>
          <a:ln/>
        </p:spPr>
        <p:txBody>
          <a:bodyPr wrap="square" lIns="0" tIns="0" rIns="0" bIns="0" rtlCol="0" anchor="t"/>
          <a:lstStyle/>
          <a:p>
            <a:pPr indent="0" marL="0">
              <a:buNone/>
            </a:pPr>
            <a:r>
              <a:rPr lang="en-US" sz="950" dirty="0">
                <a:solidFill>
                  <a:srgbClr val="0A0A0B"/>
                </a:solidFill>
              </a:rPr>
              <a:t>GPU 1 · RTX 3090 · 4 in parallel · tools, JSON Schemas, vision</a:t>
            </a:r>
            <a:endParaRPr lang="en-US" sz="950" dirty="0"/>
          </a:p>
        </p:txBody>
      </p:sp>
      <p:sp>
        <p:nvSpPr>
          <p:cNvPr id="69" name="Shape 66"/>
          <p:cNvSpPr/>
          <p:nvPr/>
        </p:nvSpPr>
        <p:spPr>
          <a:xfrm>
            <a:off x="9070848" y="2578608"/>
            <a:ext cx="2697480" cy="713232"/>
          </a:xfrm>
          <a:prstGeom prst="roundRect">
            <a:avLst>
              <a:gd name="adj" fmla="val 15385"/>
            </a:avLst>
          </a:prstGeom>
          <a:solidFill>
            <a:srgbClr val="E8F1FD"/>
          </a:solidFill>
          <a:ln w="12700">
            <a:solidFill>
              <a:srgbClr val="E8F1FD"/>
            </a:solidFill>
            <a:prstDash val="solid"/>
          </a:ln>
        </p:spPr>
      </p:sp>
      <p:sp>
        <p:nvSpPr>
          <p:cNvPr id="70" name="Text 67"/>
          <p:cNvSpPr txBox="1"/>
          <p:nvPr/>
        </p:nvSpPr>
        <p:spPr>
          <a:xfrm>
            <a:off x="9198864" y="2651760"/>
            <a:ext cx="2468880" cy="246888"/>
          </a:xfrm>
          <a:prstGeom prst="rect">
            <a:avLst/>
          </a:prstGeom>
          <a:noFill/>
          <a:ln/>
        </p:spPr>
        <p:txBody>
          <a:bodyPr wrap="square" lIns="0" tIns="0" rIns="0" bIns="0" rtlCol="0" anchor="t"/>
          <a:lstStyle/>
          <a:p>
            <a:pPr indent="0" marL="0">
              <a:buNone/>
            </a:pPr>
            <a:r>
              <a:rPr lang="en-US" sz="1150" b="1" dirty="0">
                <a:solidFill>
                  <a:srgbClr val="0064E0"/>
                </a:solidFill>
              </a:rPr>
              <a:t>Vision · GPU 0</a:t>
            </a:r>
            <a:endParaRPr lang="en-US" sz="1150" dirty="0"/>
          </a:p>
        </p:txBody>
      </p:sp>
      <p:sp>
        <p:nvSpPr>
          <p:cNvPr id="71" name="Text 68"/>
          <p:cNvSpPr txBox="1"/>
          <p:nvPr/>
        </p:nvSpPr>
        <p:spPr>
          <a:xfrm>
            <a:off x="9198864" y="2907792"/>
            <a:ext cx="2487168" cy="347472"/>
          </a:xfrm>
          <a:prstGeom prst="rect">
            <a:avLst/>
          </a:prstGeom>
          <a:noFill/>
          <a:ln/>
        </p:spPr>
        <p:txBody>
          <a:bodyPr wrap="square" lIns="0" tIns="0" rIns="0" bIns="0" rtlCol="0" anchor="t"/>
          <a:lstStyle/>
          <a:p>
            <a:pPr indent="0" marL="0">
              <a:buNone/>
            </a:pPr>
            <a:r>
              <a:rPr lang="en-US" sz="950" dirty="0">
                <a:solidFill>
                  <a:srgbClr val="0A0A0B"/>
                </a:solidFill>
              </a:rPr>
              <a:t>DETR · Sapiens2 · SAM 2.1 (batched, bf16) · MapAnything</a:t>
            </a:r>
            <a:endParaRPr lang="en-US" sz="950" dirty="0"/>
          </a:p>
        </p:txBody>
      </p:sp>
      <p:sp>
        <p:nvSpPr>
          <p:cNvPr id="72" name="Shape 69"/>
          <p:cNvSpPr/>
          <p:nvPr/>
        </p:nvSpPr>
        <p:spPr>
          <a:xfrm>
            <a:off x="9070848" y="3401568"/>
            <a:ext cx="2697480" cy="914400"/>
          </a:xfrm>
          <a:prstGeom prst="roundRect">
            <a:avLst>
              <a:gd name="adj" fmla="val 12000"/>
            </a:avLst>
          </a:prstGeom>
          <a:solidFill>
            <a:srgbClr val="E8F1FD"/>
          </a:solidFill>
          <a:ln w="12700">
            <a:solidFill>
              <a:srgbClr val="E8F1FD"/>
            </a:solidFill>
            <a:prstDash val="solid"/>
          </a:ln>
        </p:spPr>
      </p:sp>
      <p:sp>
        <p:nvSpPr>
          <p:cNvPr id="73" name="Text 70"/>
          <p:cNvSpPr txBox="1"/>
          <p:nvPr/>
        </p:nvSpPr>
        <p:spPr>
          <a:xfrm>
            <a:off x="9198864" y="3474720"/>
            <a:ext cx="2468880" cy="246888"/>
          </a:xfrm>
          <a:prstGeom prst="rect">
            <a:avLst/>
          </a:prstGeom>
          <a:noFill/>
          <a:ln/>
        </p:spPr>
        <p:txBody>
          <a:bodyPr wrap="square" lIns="0" tIns="0" rIns="0" bIns="0" rtlCol="0" anchor="t"/>
          <a:lstStyle/>
          <a:p>
            <a:pPr indent="0" marL="0">
              <a:buNone/>
            </a:pPr>
            <a:r>
              <a:rPr lang="en-US" sz="1150" b="1" dirty="0">
                <a:solidFill>
                  <a:srgbClr val="0064E0"/>
                </a:solidFill>
              </a:rPr>
              <a:t>On the CPU</a:t>
            </a:r>
            <a:endParaRPr lang="en-US" sz="1150" dirty="0"/>
          </a:p>
        </p:txBody>
      </p:sp>
      <p:sp>
        <p:nvSpPr>
          <p:cNvPr id="74" name="Text 71"/>
          <p:cNvSpPr txBox="1"/>
          <p:nvPr/>
        </p:nvSpPr>
        <p:spPr>
          <a:xfrm>
            <a:off x="9198864" y="3730752"/>
            <a:ext cx="2487168" cy="548640"/>
          </a:xfrm>
          <a:prstGeom prst="rect">
            <a:avLst/>
          </a:prstGeom>
          <a:noFill/>
          <a:ln/>
        </p:spPr>
        <p:txBody>
          <a:bodyPr wrap="square" lIns="0" tIns="0" rIns="0" bIns="0" rtlCol="0" anchor="t"/>
          <a:lstStyle/>
          <a:p>
            <a:pPr indent="0" marL="0">
              <a:buNone/>
            </a:pPr>
            <a:r>
              <a:rPr lang="en-US" sz="950" dirty="0">
                <a:solidFill>
                  <a:srgbClr val="0A0A0B"/>
                </a:solidFill>
              </a:rPr>
              <a:t>Llama 3.2 1B student · Llama Guard 3 1B · Prompt Guard 2 86M · DRAMA · Omnilingual ASR · Kokoro (speech)</a:t>
            </a:r>
            <a:endParaRPr lang="en-US" sz="950" dirty="0"/>
          </a:p>
        </p:txBody>
      </p:sp>
      <p:sp>
        <p:nvSpPr>
          <p:cNvPr id="75" name="Shape 72"/>
          <p:cNvSpPr/>
          <p:nvPr/>
        </p:nvSpPr>
        <p:spPr>
          <a:xfrm>
            <a:off x="9070848" y="4425696"/>
            <a:ext cx="2697480" cy="868680"/>
          </a:xfrm>
          <a:prstGeom prst="roundRect">
            <a:avLst>
              <a:gd name="adj" fmla="val 12632"/>
            </a:avLst>
          </a:prstGeom>
          <a:solidFill>
            <a:srgbClr val="FBF3E6"/>
          </a:solidFill>
          <a:ln w="12700">
            <a:solidFill>
              <a:srgbClr val="FBF3E6"/>
            </a:solidFill>
            <a:prstDash val="solid"/>
          </a:ln>
        </p:spPr>
      </p:sp>
      <p:sp>
        <p:nvSpPr>
          <p:cNvPr id="76" name="Text 73"/>
          <p:cNvSpPr txBox="1"/>
          <p:nvPr/>
        </p:nvSpPr>
        <p:spPr>
          <a:xfrm>
            <a:off x="9198864" y="4498848"/>
            <a:ext cx="2468880" cy="246888"/>
          </a:xfrm>
          <a:prstGeom prst="rect">
            <a:avLst/>
          </a:prstGeom>
          <a:noFill/>
          <a:ln/>
        </p:spPr>
        <p:txBody>
          <a:bodyPr wrap="square" lIns="0" tIns="0" rIns="0" bIns="0" rtlCol="0" anchor="t"/>
          <a:lstStyle/>
          <a:p>
            <a:pPr indent="0" marL="0">
              <a:buNone/>
            </a:pPr>
            <a:r>
              <a:rPr lang="en-US" sz="1150" b="1" dirty="0">
                <a:solidFill>
                  <a:srgbClr val="B26A00"/>
                </a:solidFill>
              </a:rPr>
              <a:t>Meta Model API · key on the server</a:t>
            </a:r>
            <a:endParaRPr lang="en-US" sz="1150" dirty="0"/>
          </a:p>
        </p:txBody>
      </p:sp>
      <p:sp>
        <p:nvSpPr>
          <p:cNvPr id="77" name="Text 74"/>
          <p:cNvSpPr txBox="1"/>
          <p:nvPr/>
        </p:nvSpPr>
        <p:spPr>
          <a:xfrm>
            <a:off x="9198864" y="4754880"/>
            <a:ext cx="2487168" cy="502920"/>
          </a:xfrm>
          <a:prstGeom prst="rect">
            <a:avLst/>
          </a:prstGeom>
          <a:noFill/>
          <a:ln/>
        </p:spPr>
        <p:txBody>
          <a:bodyPr wrap="square" lIns="0" tIns="0" rIns="0" bIns="0" rtlCol="0" anchor="t"/>
          <a:lstStyle/>
          <a:p>
            <a:pPr indent="0" marL="0">
              <a:buNone/>
            </a:pPr>
            <a:r>
              <a:rPr lang="en-US" sz="950" dirty="0">
                <a:solidFill>
                  <a:srgbClr val="0A0A0B"/>
                </a:solidFill>
              </a:rPr>
              <a:t>Muse Spark 1.3 (fallback) · Muse Voice Transcribe · Muse Image · Muse Wonder (judges orbits) · SAM 3.1 (checked once)</a:t>
            </a:r>
            <a:endParaRPr lang="en-US" sz="950" dirty="0"/>
          </a:p>
        </p:txBody>
      </p:sp>
      <p:sp>
        <p:nvSpPr>
          <p:cNvPr id="78" name="Text 75"/>
          <p:cNvSpPr txBox="1"/>
          <p:nvPr/>
        </p:nvSpPr>
        <p:spPr>
          <a:xfrm>
            <a:off x="9070848" y="5458968"/>
            <a:ext cx="2743200" cy="228600"/>
          </a:xfrm>
          <a:prstGeom prst="rect">
            <a:avLst/>
          </a:prstGeom>
          <a:noFill/>
          <a:ln/>
        </p:spPr>
        <p:txBody>
          <a:bodyPr wrap="square" lIns="0" tIns="0" rIns="0" bIns="0" rtlCol="0" anchor="t"/>
          <a:lstStyle/>
          <a:p>
            <a:pPr indent="0" marL="0">
              <a:buNone/>
            </a:pPr>
            <a:r>
              <a:rPr lang="en-US" sz="1000" b="1" spc="100" kern="0" dirty="0">
                <a:solidFill>
                  <a:srgbClr val="55555C"/>
                </a:solidFill>
              </a:rPr>
              <a:t>OPEN DATA</a:t>
            </a:r>
            <a:endParaRPr lang="en-US" sz="1000" dirty="0"/>
          </a:p>
        </p:txBody>
      </p:sp>
      <p:sp>
        <p:nvSpPr>
          <p:cNvPr id="79" name="Shape 76"/>
          <p:cNvSpPr/>
          <p:nvPr/>
        </p:nvSpPr>
        <p:spPr>
          <a:xfrm>
            <a:off x="9070848" y="5715000"/>
            <a:ext cx="2697480" cy="457200"/>
          </a:xfrm>
          <a:prstGeom prst="roundRect">
            <a:avLst>
              <a:gd name="adj" fmla="val 24000"/>
            </a:avLst>
          </a:prstGeom>
          <a:solidFill>
            <a:srgbClr val="FFFFFF"/>
          </a:solidFill>
          <a:ln w="12700">
            <a:solidFill>
              <a:srgbClr val="DCDCE0"/>
            </a:solidFill>
            <a:prstDash val="solid"/>
          </a:ln>
        </p:spPr>
      </p:sp>
      <p:sp>
        <p:nvSpPr>
          <p:cNvPr id="80" name="Text 77"/>
          <p:cNvSpPr txBox="1"/>
          <p:nvPr/>
        </p:nvSpPr>
        <p:spPr>
          <a:xfrm>
            <a:off x="9198864" y="5715000"/>
            <a:ext cx="2514600" cy="457200"/>
          </a:xfrm>
          <a:prstGeom prst="rect">
            <a:avLst/>
          </a:prstGeom>
          <a:noFill/>
          <a:ln/>
        </p:spPr>
        <p:txBody>
          <a:bodyPr wrap="square" lIns="0" tIns="0" rIns="0" bIns="0" rtlCol="0" anchor="ctr"/>
          <a:lstStyle/>
          <a:p>
            <a:pPr indent="0" marL="0">
              <a:buNone/>
            </a:pPr>
            <a:r>
              <a:rPr lang="en-US" sz="950" dirty="0">
                <a:solidFill>
                  <a:srgbClr val="0A0A0B"/>
                </a:solidFill>
              </a:rPr>
              <a:t>OpenStreetMap · Open-Meteo · Google Places (reviews)</a:t>
            </a:r>
            <a:endParaRPr lang="en-US" sz="950" dirty="0"/>
          </a:p>
        </p:txBody>
      </p:sp>
      <p:sp>
        <p:nvSpPr>
          <p:cNvPr id="25" name="Slide Number Placeholder 0"/>
          <p:cNvSpPr>
            <a:spLocks noGrp="1"/>
          </p:cNvSpPr>
          <p:nvPr>
            <p:ph type="sldNum" sz="quarter" idx="4294967295"/>
          </p:nvPr>
        </p:nvSpPr>
        <p:spPr>
          <a:xfrm>
            <a:off x="11247120" y="6446520"/>
            <a:ext cx="41148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8A92"/>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 · Meta Global AI Developer Hackathon 2026</dc:title>
  <dc:subject>PptxGenJS Presentation</dc:subject>
  <dc:creator>gino6178</dc:creator>
  <cp:lastModifiedBy>gino6178</cp:lastModifiedBy>
  <cp:revision>1</cp:revision>
  <dcterms:created xsi:type="dcterms:W3CDTF">2026-10-29T16:33:32Z</dcterms:created>
  <dcterms:modified xsi:type="dcterms:W3CDTF">2026-10-29T16:33:32Z</dcterms:modified>
</cp:coreProperties>
</file>