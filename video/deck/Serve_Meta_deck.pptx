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9fc3e17-ceb6-af94-317c-468940ab3d7d}">
          <p14:sldIdLst>
            <p14:sldId id="256"/>
            <p14:sldId id="257"/>
          </p14:sldIdLst>
        </p14:section>
        <p14:section name="Impact" id="{548f9691-c026-e6ef-1749-57d4208c6222}">
          <p14:sldIdLst>
            <p14:sldId id="258"/>
            <p14:sldId id="259"/>
          </p14:sldIdLst>
        </p14:section>
        <p14:section name="Demo" id="{b591ae83-82e4-57e1-165c-2aac6890f8f0}">
          <p14:sldIdLst>
            <p14:sldId id="260"/>
            <p14:sldId id="261"/>
            <p14:sldId id="262"/>
            <p14:sldId id="263"/>
            <p14:sldId id="264"/>
            <p14:sldId id="265"/>
          </p14:sldIdLst>
        </p14:section>
        <p14:section name="Use of Meta AI" id="{491f6e84-cb9f-5f75-3fea-acbc507fd38b}">
          <p14:sldIdLst>
            <p14:sldId id="266"/>
            <p14:sldId id="267"/>
            <p14:sldId id="268"/>
            <p14:sldId id="269"/>
          </p14:sldIdLst>
        </p14:section>
        <p14:section name="Technical depth" id="{816b3f8f-7457-359e-2e02-bba6ce6737bd}">
          <p14:sldIdLst>
            <p14:sldId id="270"/>
            <p14:sldId id="271"/>
            <p14:sldId id="272"/>
            <p14:sldId id="273"/>
            <p14:sldId id="274"/>
            <p14:sldId id="275"/>
            <p14:sldId id="276"/>
            <p14:sldId id="277"/>
          </p14:sldIdLst>
        </p14:section>
        <p14:section name="Architecture" id="{2dc9c8fc-fd38-e91d-5286-bf13c481d775}">
          <p14:sldIdLst>
            <p14:sldId id="278"/>
          </p14:sldIdLst>
        </p14:section>
        <p14:section name="Close" id="{db2d7269-206c-5d1b-124c-e3a55888a693}">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的東西：10 個 Meta 模型（全部開放權重、在我自己的伺服器上跑）＋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image" Target="../media/image-9-5.jpeg"/><Relationship Id="rId6" Type="http://schemas.openxmlformats.org/officeDocument/2006/relationships/image" Target="../media/image-9-6.jpeg"/><Relationship Id="rId7" Type="http://schemas.openxmlformats.org/officeDocument/2006/relationships/image" Target="../media/image-9-7.jpe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2.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Ten Meta models on hardware I own</a:t>
            </a:r>
            <a:endParaRPr lang="en-US" sz="1400" dirty="0"/>
          </a:p>
        </p:txBody>
      </p:sp>
      <p:sp>
        <p:nvSpPr>
          <p:cNvPr id="12" name="Shape 9"/>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3"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4" name="Shape 10"/>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5"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(magenta); MapAnything reads the depth. SAM 3.1 found her too: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13 Meta models and 2 Meta products, each with a job</a:t>
            </a:r>
            <a:endParaRPr lang="en-US" sz="3200" dirty="0"/>
          </a:p>
        </p:txBody>
      </p:sp>
      <p:sp>
        <p:nvSpPr>
          <p:cNvPr id="5" name="Shape 2"/>
          <p:cNvSpPr/>
          <p:nvPr/>
        </p:nvSpPr>
        <p:spPr>
          <a:xfrm>
            <a:off x="548640" y="1645920"/>
            <a:ext cx="2121408"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94944" y="1764792"/>
            <a:ext cx="1554480" cy="228600"/>
          </a:xfrm>
          <a:prstGeom prst="rect">
            <a:avLst/>
          </a:prstGeom>
          <a:noFill/>
          <a:ln/>
        </p:spPr>
        <p:txBody>
          <a:bodyPr wrap="square" lIns="0" tIns="0" rIns="0" bIns="0" rtlCol="0" anchor="t"/>
          <a:lstStyle/>
          <a:p>
            <a:pPr indent="0" marL="0">
              <a:buNone/>
            </a:pPr>
            <a:r>
              <a:rPr lang="en-US" sz="950" b="1" spc="100" kern="0" dirty="0">
                <a:solidFill>
                  <a:srgbClr val="0A7F44"/>
                </a:solidFill>
              </a:rPr>
              <a:t>REASONING</a:t>
            </a:r>
            <a:endParaRPr lang="en-US" sz="950" dirty="0"/>
          </a:p>
        </p:txBody>
      </p:sp>
      <p:sp>
        <p:nvSpPr>
          <p:cNvPr id="7" name="Text 4"/>
          <p:cNvSpPr txBox="1"/>
          <p:nvPr/>
        </p:nvSpPr>
        <p:spPr>
          <a:xfrm>
            <a:off x="694944"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Muse Glimmer</a:t>
            </a:r>
            <a:endParaRPr lang="en-US" sz="1400" dirty="0"/>
          </a:p>
        </p:txBody>
      </p:sp>
      <p:sp>
        <p:nvSpPr>
          <p:cNvPr id="8" name="Text 5"/>
          <p:cNvSpPr txBox="1"/>
          <p:nvPr/>
        </p:nvSpPr>
        <p:spPr>
          <a:xfrm>
            <a:off x="694944"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Every agent: the tool loop, members' decisions, photos, courts, captions</a:t>
            </a:r>
            <a:endParaRPr lang="en-US" sz="950" dirty="0"/>
          </a:p>
        </p:txBody>
      </p:sp>
      <p:sp>
        <p:nvSpPr>
          <p:cNvPr id="9" name="Text 6"/>
          <p:cNvSpPr txBox="1"/>
          <p:nvPr/>
        </p:nvSpPr>
        <p:spPr>
          <a:xfrm>
            <a:off x="694944"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RTX 3090 · Ollama · 4 in parallel</a:t>
            </a:r>
            <a:endParaRPr lang="en-US" sz="900" dirty="0"/>
          </a:p>
        </p:txBody>
      </p:sp>
      <p:sp>
        <p:nvSpPr>
          <p:cNvPr id="10" name="Shape 7"/>
          <p:cNvSpPr/>
          <p:nvPr/>
        </p:nvSpPr>
        <p:spPr>
          <a:xfrm>
            <a:off x="2779776" y="1645920"/>
            <a:ext cx="2121408"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926080" y="1764792"/>
            <a:ext cx="1554480" cy="228600"/>
          </a:xfrm>
          <a:prstGeom prst="rect">
            <a:avLst/>
          </a:prstGeom>
          <a:noFill/>
          <a:ln/>
        </p:spPr>
        <p:txBody>
          <a:bodyPr wrap="square" lIns="0" tIns="0" rIns="0" bIns="0" rtlCol="0" anchor="t"/>
          <a:lstStyle/>
          <a:p>
            <a:pPr indent="0" marL="0">
              <a:buNone/>
            </a:pPr>
            <a:r>
              <a:rPr lang="en-US" sz="950" b="1" spc="100" kern="0" dirty="0">
                <a:solidFill>
                  <a:srgbClr val="0A7F44"/>
                </a:solidFill>
              </a:rPr>
              <a:t>REASONING</a:t>
            </a:r>
            <a:endParaRPr lang="en-US" sz="950" dirty="0"/>
          </a:p>
        </p:txBody>
      </p:sp>
      <p:sp>
        <p:nvSpPr>
          <p:cNvPr id="12" name="Text 9"/>
          <p:cNvSpPr txBox="1"/>
          <p:nvPr/>
        </p:nvSpPr>
        <p:spPr>
          <a:xfrm>
            <a:off x="2926080"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Llama 3.2 1B</a:t>
            </a:r>
            <a:endParaRPr lang="en-US" sz="1400" dirty="0"/>
          </a:p>
        </p:txBody>
      </p:sp>
      <p:sp>
        <p:nvSpPr>
          <p:cNvPr id="13" name="Text 10"/>
          <p:cNvSpPr txBox="1"/>
          <p:nvPr/>
        </p:nvSpPr>
        <p:spPr>
          <a:xfrm>
            <a:off x="2926080"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Distilled from Glimmer; answers 54–67% of members' decisions when sure</a:t>
            </a:r>
            <a:endParaRPr lang="en-US" sz="950" dirty="0"/>
          </a:p>
        </p:txBody>
      </p:sp>
      <p:sp>
        <p:nvSpPr>
          <p:cNvPr id="14" name="Text 11"/>
          <p:cNvSpPr txBox="1"/>
          <p:nvPr/>
        </p:nvSpPr>
        <p:spPr>
          <a:xfrm>
            <a:off x="2926080"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CPU · simulated club</a:t>
            </a:r>
            <a:endParaRPr lang="en-US" sz="900" dirty="0"/>
          </a:p>
        </p:txBody>
      </p:sp>
      <p:sp>
        <p:nvSpPr>
          <p:cNvPr id="15" name="Shape 12"/>
          <p:cNvSpPr/>
          <p:nvPr/>
        </p:nvSpPr>
        <p:spPr>
          <a:xfrm>
            <a:off x="5010912" y="1645920"/>
            <a:ext cx="2121408"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5157216" y="1764792"/>
            <a:ext cx="1554480" cy="228600"/>
          </a:xfrm>
          <a:prstGeom prst="rect">
            <a:avLst/>
          </a:prstGeom>
          <a:noFill/>
          <a:ln/>
        </p:spPr>
        <p:txBody>
          <a:bodyPr wrap="square" lIns="0" tIns="0" rIns="0" bIns="0" rtlCol="0" anchor="t"/>
          <a:lstStyle/>
          <a:p>
            <a:pPr indent="0" marL="0">
              <a:buNone/>
            </a:pPr>
            <a:r>
              <a:rPr lang="en-US" sz="950" b="1" spc="100" kern="0" dirty="0">
                <a:solidFill>
                  <a:srgbClr val="D1352B"/>
                </a:solidFill>
              </a:rPr>
              <a:t>SAFETY</a:t>
            </a:r>
            <a:endParaRPr lang="en-US" sz="950" dirty="0"/>
          </a:p>
        </p:txBody>
      </p:sp>
      <p:sp>
        <p:nvSpPr>
          <p:cNvPr id="17" name="Text 14"/>
          <p:cNvSpPr txBox="1"/>
          <p:nvPr/>
        </p:nvSpPr>
        <p:spPr>
          <a:xfrm>
            <a:off x="5157216"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Llama Guard 3 1B</a:t>
            </a:r>
            <a:endParaRPr lang="en-US" sz="1400" dirty="0"/>
          </a:p>
        </p:txBody>
      </p:sp>
      <p:sp>
        <p:nvSpPr>
          <p:cNvPr id="18" name="Text 15"/>
          <p:cNvSpPr txBox="1"/>
          <p:nvPr/>
        </p:nvSpPr>
        <p:spPr>
          <a:xfrm>
            <a:off x="5157216"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What you write, what a model writes, every idea shared with the club</a:t>
            </a:r>
            <a:endParaRPr lang="en-US" sz="950" dirty="0"/>
          </a:p>
        </p:txBody>
      </p:sp>
      <p:sp>
        <p:nvSpPr>
          <p:cNvPr id="19" name="Text 16"/>
          <p:cNvSpPr txBox="1"/>
          <p:nvPr/>
        </p:nvSpPr>
        <p:spPr>
          <a:xfrm>
            <a:off x="5157216"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CPU</a:t>
            </a:r>
            <a:endParaRPr lang="en-US" sz="900" dirty="0"/>
          </a:p>
        </p:txBody>
      </p:sp>
      <p:sp>
        <p:nvSpPr>
          <p:cNvPr id="20" name="Shape 17"/>
          <p:cNvSpPr/>
          <p:nvPr/>
        </p:nvSpPr>
        <p:spPr>
          <a:xfrm>
            <a:off x="7242048" y="1645920"/>
            <a:ext cx="2121408"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7388352" y="1764792"/>
            <a:ext cx="1554480" cy="228600"/>
          </a:xfrm>
          <a:prstGeom prst="rect">
            <a:avLst/>
          </a:prstGeom>
          <a:noFill/>
          <a:ln/>
        </p:spPr>
        <p:txBody>
          <a:bodyPr wrap="square" lIns="0" tIns="0" rIns="0" bIns="0" rtlCol="0" anchor="t"/>
          <a:lstStyle/>
          <a:p>
            <a:pPr indent="0" marL="0">
              <a:buNone/>
            </a:pPr>
            <a:r>
              <a:rPr lang="en-US" sz="950" b="1" spc="100" kern="0" dirty="0">
                <a:solidFill>
                  <a:srgbClr val="D1352B"/>
                </a:solidFill>
              </a:rPr>
              <a:t>SAFETY</a:t>
            </a:r>
            <a:endParaRPr lang="en-US" sz="950" dirty="0"/>
          </a:p>
        </p:txBody>
      </p:sp>
      <p:sp>
        <p:nvSpPr>
          <p:cNvPr id="22" name="Text 19"/>
          <p:cNvSpPr txBox="1"/>
          <p:nvPr/>
        </p:nvSpPr>
        <p:spPr>
          <a:xfrm>
            <a:off x="7388352"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Prompt Guard 2</a:t>
            </a:r>
            <a:endParaRPr lang="en-US" sz="1400" dirty="0"/>
          </a:p>
        </p:txBody>
      </p:sp>
      <p:sp>
        <p:nvSpPr>
          <p:cNvPr id="23" name="Text 20"/>
          <p:cNvSpPr txBox="1"/>
          <p:nvPr/>
        </p:nvSpPr>
        <p:spPr>
          <a:xfrm>
            <a:off x="7388352"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Google reviews before the court judge reads them; shared ideas</a:t>
            </a:r>
            <a:endParaRPr lang="en-US" sz="950" dirty="0"/>
          </a:p>
        </p:txBody>
      </p:sp>
      <p:sp>
        <p:nvSpPr>
          <p:cNvPr id="24" name="Text 21"/>
          <p:cNvSpPr txBox="1"/>
          <p:nvPr/>
        </p:nvSpPr>
        <p:spPr>
          <a:xfrm>
            <a:off x="7388352"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CPU · 86M</a:t>
            </a:r>
            <a:endParaRPr lang="en-US" sz="900" dirty="0"/>
          </a:p>
        </p:txBody>
      </p:sp>
      <p:sp>
        <p:nvSpPr>
          <p:cNvPr id="25" name="Shape 22"/>
          <p:cNvSpPr/>
          <p:nvPr/>
        </p:nvSpPr>
        <p:spPr>
          <a:xfrm>
            <a:off x="9473184" y="1645920"/>
            <a:ext cx="2121408"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9619488" y="1764792"/>
            <a:ext cx="1554480" cy="228600"/>
          </a:xfrm>
          <a:prstGeom prst="rect">
            <a:avLst/>
          </a:prstGeom>
          <a:noFill/>
          <a:ln/>
        </p:spPr>
        <p:txBody>
          <a:bodyPr wrap="square" lIns="0" tIns="0" rIns="0" bIns="0" rtlCol="0" anchor="t"/>
          <a:lstStyle/>
          <a:p>
            <a:pPr indent="0" marL="0">
              <a:buNone/>
            </a:pPr>
            <a:r>
              <a:rPr lang="en-US" sz="950" b="1" spc="100" kern="0" dirty="0">
                <a:solidFill>
                  <a:srgbClr val="55555C"/>
                </a:solidFill>
              </a:rPr>
              <a:t>MEMORY</a:t>
            </a:r>
            <a:endParaRPr lang="en-US" sz="950" dirty="0"/>
          </a:p>
        </p:txBody>
      </p:sp>
      <p:sp>
        <p:nvSpPr>
          <p:cNvPr id="27" name="Text 24"/>
          <p:cNvSpPr txBox="1"/>
          <p:nvPr/>
        </p:nvSpPr>
        <p:spPr>
          <a:xfrm>
            <a:off x="9619488"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DRAMA</a:t>
            </a:r>
            <a:endParaRPr lang="en-US" sz="1400" dirty="0"/>
          </a:p>
        </p:txBody>
      </p:sp>
      <p:sp>
        <p:nvSpPr>
          <p:cNvPr id="28" name="Text 25"/>
          <p:cNvSpPr txBox="1"/>
          <p:nvPr/>
        </p:nvSpPr>
        <p:spPr>
          <a:xfrm>
            <a:off x="9619488"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Finds what matters for your week by meaning (RAG); groups the club's ideas</a:t>
            </a:r>
            <a:endParaRPr lang="en-US" sz="950" dirty="0"/>
          </a:p>
        </p:txBody>
      </p:sp>
      <p:sp>
        <p:nvSpPr>
          <p:cNvPr id="29" name="Text 26"/>
          <p:cNvSpPr txBox="1"/>
          <p:nvPr/>
        </p:nvSpPr>
        <p:spPr>
          <a:xfrm>
            <a:off x="9619488"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CPU</a:t>
            </a:r>
            <a:endParaRPr lang="en-US" sz="900" dirty="0"/>
          </a:p>
        </p:txBody>
      </p:sp>
      <p:sp>
        <p:nvSpPr>
          <p:cNvPr id="30" name="Shape 27"/>
          <p:cNvSpPr/>
          <p:nvPr/>
        </p:nvSpPr>
        <p:spPr>
          <a:xfrm>
            <a:off x="548640" y="3108960"/>
            <a:ext cx="2121408"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694944" y="3227832"/>
            <a:ext cx="1554480" cy="228600"/>
          </a:xfrm>
          <a:prstGeom prst="rect">
            <a:avLst/>
          </a:prstGeom>
          <a:noFill/>
          <a:ln/>
        </p:spPr>
        <p:txBody>
          <a:bodyPr wrap="square" lIns="0" tIns="0" rIns="0" bIns="0" rtlCol="0" anchor="t"/>
          <a:lstStyle/>
          <a:p>
            <a:pPr indent="0" marL="0">
              <a:buNone/>
            </a:pPr>
            <a:r>
              <a:rPr lang="en-US" sz="950" b="1" spc="100" kern="0" dirty="0">
                <a:solidFill>
                  <a:srgbClr val="55555C"/>
                </a:solidFill>
              </a:rPr>
              <a:t>VOICE</a:t>
            </a:r>
            <a:endParaRPr lang="en-US" sz="950" dirty="0"/>
          </a:p>
        </p:txBody>
      </p:sp>
      <p:sp>
        <p:nvSpPr>
          <p:cNvPr id="32" name="Text 29"/>
          <p:cNvSpPr txBox="1"/>
          <p:nvPr/>
        </p:nvSpPr>
        <p:spPr>
          <a:xfrm>
            <a:off x="694944"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Omnilingual ASR</a:t>
            </a:r>
            <a:endParaRPr lang="en-US" sz="1400" dirty="0"/>
          </a:p>
        </p:txBody>
      </p:sp>
      <p:sp>
        <p:nvSpPr>
          <p:cNvPr id="33" name="Text 30"/>
          <p:cNvSpPr txBox="1"/>
          <p:nvPr/>
        </p:nvSpPr>
        <p:spPr>
          <a:xfrm>
            <a:off x="694944"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Voice notes in Messenger to text</a:t>
            </a:r>
            <a:endParaRPr lang="en-US" sz="950" dirty="0"/>
          </a:p>
        </p:txBody>
      </p:sp>
      <p:sp>
        <p:nvSpPr>
          <p:cNvPr id="34" name="Text 31"/>
          <p:cNvSpPr txBox="1"/>
          <p:nvPr/>
        </p:nvSpPr>
        <p:spPr>
          <a:xfrm>
            <a:off x="694944"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CPU · CTC 1B</a:t>
            </a:r>
            <a:endParaRPr lang="en-US" sz="900" dirty="0"/>
          </a:p>
        </p:txBody>
      </p:sp>
      <p:sp>
        <p:nvSpPr>
          <p:cNvPr id="35" name="Shape 32"/>
          <p:cNvSpPr/>
          <p:nvPr/>
        </p:nvSpPr>
        <p:spPr>
          <a:xfrm>
            <a:off x="2779776" y="3108960"/>
            <a:ext cx="2121408"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2926080" y="322783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VISION</a:t>
            </a:r>
            <a:endParaRPr lang="en-US" sz="950" dirty="0"/>
          </a:p>
        </p:txBody>
      </p:sp>
      <p:sp>
        <p:nvSpPr>
          <p:cNvPr id="37" name="Text 34"/>
          <p:cNvSpPr txBox="1"/>
          <p:nvPr/>
        </p:nvSpPr>
        <p:spPr>
          <a:xfrm>
            <a:off x="2926080"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DETR</a:t>
            </a:r>
            <a:endParaRPr lang="en-US" sz="1400" dirty="0"/>
          </a:p>
        </p:txBody>
      </p:sp>
      <p:sp>
        <p:nvSpPr>
          <p:cNvPr id="38" name="Text 35"/>
          <p:cNvSpPr txBox="1"/>
          <p:nvPr/>
        </p:nvSpPr>
        <p:spPr>
          <a:xfrm>
            <a:off x="2926080"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Finds the people in your video, so the reel follows you</a:t>
            </a:r>
            <a:endParaRPr lang="en-US" sz="950" dirty="0"/>
          </a:p>
        </p:txBody>
      </p:sp>
      <p:sp>
        <p:nvSpPr>
          <p:cNvPr id="39" name="Text 36"/>
          <p:cNvSpPr txBox="1"/>
          <p:nvPr/>
        </p:nvSpPr>
        <p:spPr>
          <a:xfrm>
            <a:off x="2926080"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GPU</a:t>
            </a:r>
            <a:endParaRPr lang="en-US" sz="900" dirty="0"/>
          </a:p>
        </p:txBody>
      </p:sp>
      <p:sp>
        <p:nvSpPr>
          <p:cNvPr id="40" name="Shape 37"/>
          <p:cNvSpPr/>
          <p:nvPr/>
        </p:nvSpPr>
        <p:spPr>
          <a:xfrm>
            <a:off x="5010912" y="3108960"/>
            <a:ext cx="2121408"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5157216" y="322783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VISION</a:t>
            </a:r>
            <a:endParaRPr lang="en-US" sz="950" dirty="0"/>
          </a:p>
        </p:txBody>
      </p:sp>
      <p:sp>
        <p:nvSpPr>
          <p:cNvPr id="42" name="Text 39"/>
          <p:cNvSpPr txBox="1"/>
          <p:nvPr/>
        </p:nvSpPr>
        <p:spPr>
          <a:xfrm>
            <a:off x="5157216"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Sapiens2</a:t>
            </a:r>
            <a:endParaRPr lang="en-US" sz="1400" dirty="0"/>
          </a:p>
        </p:txBody>
      </p:sp>
      <p:sp>
        <p:nvSpPr>
          <p:cNvPr id="43" name="Text 40"/>
          <p:cNvSpPr txBox="1"/>
          <p:nvPr/>
        </p:nvSpPr>
        <p:spPr>
          <a:xfrm>
            <a:off x="5157216"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Every player's pose on every frame; finds the moment</a:t>
            </a:r>
            <a:endParaRPr lang="en-US" sz="950" dirty="0"/>
          </a:p>
        </p:txBody>
      </p:sp>
      <p:sp>
        <p:nvSpPr>
          <p:cNvPr id="44" name="Text 41"/>
          <p:cNvSpPr txBox="1"/>
          <p:nvPr/>
        </p:nvSpPr>
        <p:spPr>
          <a:xfrm>
            <a:off x="5157216"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GPU · 0.4B</a:t>
            </a:r>
            <a:endParaRPr lang="en-US" sz="900" dirty="0"/>
          </a:p>
        </p:txBody>
      </p:sp>
      <p:sp>
        <p:nvSpPr>
          <p:cNvPr id="45" name="Shape 42"/>
          <p:cNvSpPr/>
          <p:nvPr/>
        </p:nvSpPr>
        <p:spPr>
          <a:xfrm>
            <a:off x="7242048" y="3108960"/>
            <a:ext cx="2121408"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7388352" y="322783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VISION</a:t>
            </a:r>
            <a:endParaRPr lang="en-US" sz="950" dirty="0"/>
          </a:p>
        </p:txBody>
      </p:sp>
      <p:sp>
        <p:nvSpPr>
          <p:cNvPr id="47" name="Text 44"/>
          <p:cNvSpPr txBox="1"/>
          <p:nvPr/>
        </p:nvSpPr>
        <p:spPr>
          <a:xfrm>
            <a:off x="7388352"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SAM 2.1</a:t>
            </a:r>
            <a:endParaRPr lang="en-US" sz="1400" dirty="0"/>
          </a:p>
        </p:txBody>
      </p:sp>
      <p:sp>
        <p:nvSpPr>
          <p:cNvPr id="48" name="Text 45"/>
          <p:cNvSpPr txBox="1"/>
          <p:nvPr/>
        </p:nvSpPr>
        <p:spPr>
          <a:xfrm>
            <a:off x="7388352"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Cuts each player out for the spotlight and the drawn view</a:t>
            </a:r>
            <a:endParaRPr lang="en-US" sz="950" dirty="0"/>
          </a:p>
        </p:txBody>
      </p:sp>
      <p:sp>
        <p:nvSpPr>
          <p:cNvPr id="49" name="Text 46"/>
          <p:cNvSpPr txBox="1"/>
          <p:nvPr/>
        </p:nvSpPr>
        <p:spPr>
          <a:xfrm>
            <a:off x="7388352"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GPU · Hiera-L</a:t>
            </a:r>
            <a:endParaRPr lang="en-US" sz="900" dirty="0"/>
          </a:p>
        </p:txBody>
      </p:sp>
      <p:sp>
        <p:nvSpPr>
          <p:cNvPr id="50" name="Shape 47"/>
          <p:cNvSpPr/>
          <p:nvPr/>
        </p:nvSpPr>
        <p:spPr>
          <a:xfrm>
            <a:off x="9473184" y="3108960"/>
            <a:ext cx="2121408"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9619488" y="322783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3D</a:t>
            </a:r>
            <a:endParaRPr lang="en-US" sz="950" dirty="0"/>
          </a:p>
        </p:txBody>
      </p:sp>
      <p:sp>
        <p:nvSpPr>
          <p:cNvPr id="52" name="Text 49"/>
          <p:cNvSpPr txBox="1"/>
          <p:nvPr/>
        </p:nvSpPr>
        <p:spPr>
          <a:xfrm>
            <a:off x="9619488"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MapAnything</a:t>
            </a:r>
            <a:endParaRPr lang="en-US" sz="1400" dirty="0"/>
          </a:p>
        </p:txBody>
      </p:sp>
      <p:sp>
        <p:nvSpPr>
          <p:cNvPr id="53" name="Text 50"/>
          <p:cNvSpPr txBox="1"/>
          <p:nvPr/>
        </p:nvSpPr>
        <p:spPr>
          <a:xfrm>
            <a:off x="9619488"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Depth and the camera for the orbit camera effect</a:t>
            </a:r>
            <a:endParaRPr lang="en-US" sz="950" dirty="0"/>
          </a:p>
        </p:txBody>
      </p:sp>
      <p:sp>
        <p:nvSpPr>
          <p:cNvPr id="54" name="Text 51"/>
          <p:cNvSpPr txBox="1"/>
          <p:nvPr/>
        </p:nvSpPr>
        <p:spPr>
          <a:xfrm>
            <a:off x="9619488"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GPU · optional effect</a:t>
            </a:r>
            <a:endParaRPr lang="en-US" sz="900" dirty="0"/>
          </a:p>
        </p:txBody>
      </p:sp>
      <p:sp>
        <p:nvSpPr>
          <p:cNvPr id="55" name="Shape 52"/>
          <p:cNvSpPr/>
          <p:nvPr/>
        </p:nvSpPr>
        <p:spPr>
          <a:xfrm>
            <a:off x="548640" y="4572000"/>
            <a:ext cx="2121408"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694944" y="4690872"/>
            <a:ext cx="1554480" cy="228600"/>
          </a:xfrm>
          <a:prstGeom prst="rect">
            <a:avLst/>
          </a:prstGeom>
          <a:noFill/>
          <a:ln/>
        </p:spPr>
        <p:txBody>
          <a:bodyPr wrap="square" lIns="0" tIns="0" rIns="0" bIns="0" rtlCol="0" anchor="t"/>
          <a:lstStyle/>
          <a:p>
            <a:pPr indent="0" marL="0">
              <a:buNone/>
            </a:pPr>
            <a:r>
              <a:rPr lang="en-US" sz="950" b="1" spc="100" kern="0" dirty="0">
                <a:solidFill>
                  <a:srgbClr val="B26A00"/>
                </a:solidFill>
              </a:rPr>
              <a:t>META MODEL API</a:t>
            </a:r>
            <a:endParaRPr lang="en-US" sz="950" dirty="0"/>
          </a:p>
        </p:txBody>
      </p:sp>
      <p:sp>
        <p:nvSpPr>
          <p:cNvPr id="57" name="Text 54"/>
          <p:cNvSpPr txBox="1"/>
          <p:nvPr/>
        </p:nvSpPr>
        <p:spPr>
          <a:xfrm>
            <a:off x="694944"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Muse Spark 1.3</a:t>
            </a:r>
            <a:endParaRPr lang="en-US" sz="1400" dirty="0"/>
          </a:p>
        </p:txBody>
      </p:sp>
      <p:sp>
        <p:nvSpPr>
          <p:cNvPr id="58" name="Text 55"/>
          <p:cNvSpPr txBox="1"/>
          <p:nvPr/>
        </p:nvSpPr>
        <p:spPr>
          <a:xfrm>
            <a:off x="694944"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The fallback when my GPU can't answer: the same call, once</a:t>
            </a:r>
            <a:endParaRPr lang="en-US" sz="950" dirty="0"/>
          </a:p>
        </p:txBody>
      </p:sp>
      <p:sp>
        <p:nvSpPr>
          <p:cNvPr id="59" name="Text 56"/>
          <p:cNvSpPr txBox="1"/>
          <p:nvPr/>
        </p:nvSpPr>
        <p:spPr>
          <a:xfrm>
            <a:off x="694944"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Meta Model API · tested live</a:t>
            </a:r>
            <a:endParaRPr lang="en-US" sz="900" dirty="0"/>
          </a:p>
        </p:txBody>
      </p:sp>
      <p:sp>
        <p:nvSpPr>
          <p:cNvPr id="60" name="Shape 57"/>
          <p:cNvSpPr/>
          <p:nvPr/>
        </p:nvSpPr>
        <p:spPr>
          <a:xfrm>
            <a:off x="2779776" y="4572000"/>
            <a:ext cx="2121408"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2926080" y="4690872"/>
            <a:ext cx="1554480" cy="228600"/>
          </a:xfrm>
          <a:prstGeom prst="rect">
            <a:avLst/>
          </a:prstGeom>
          <a:noFill/>
          <a:ln/>
        </p:spPr>
        <p:txBody>
          <a:bodyPr wrap="square" lIns="0" tIns="0" rIns="0" bIns="0" rtlCol="0" anchor="t"/>
          <a:lstStyle/>
          <a:p>
            <a:pPr indent="0" marL="0">
              <a:buNone/>
            </a:pPr>
            <a:r>
              <a:rPr lang="en-US" sz="950" b="1" spc="100" kern="0" dirty="0">
                <a:solidFill>
                  <a:srgbClr val="B26A00"/>
                </a:solidFill>
              </a:rPr>
              <a:t>META MODEL API</a:t>
            </a:r>
            <a:endParaRPr lang="en-US" sz="950" dirty="0"/>
          </a:p>
        </p:txBody>
      </p:sp>
      <p:sp>
        <p:nvSpPr>
          <p:cNvPr id="62" name="Text 59"/>
          <p:cNvSpPr txBox="1"/>
          <p:nvPr/>
        </p:nvSpPr>
        <p:spPr>
          <a:xfrm>
            <a:off x="2926080"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SAM 3.1</a:t>
            </a:r>
            <a:endParaRPr lang="en-US" sz="1400" dirty="0"/>
          </a:p>
        </p:txBody>
      </p:sp>
      <p:sp>
        <p:nvSpPr>
          <p:cNvPr id="63" name="Text 60"/>
          <p:cNvSpPr txBox="1"/>
          <p:nvPr/>
        </p:nvSpPr>
        <p:spPr>
          <a:xfrm>
            <a:off x="2926080"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Checked on the smash against SAM 2.1: same player, IoU 0.97</a:t>
            </a:r>
            <a:endParaRPr lang="en-US" sz="950" dirty="0"/>
          </a:p>
        </p:txBody>
      </p:sp>
      <p:sp>
        <p:nvSpPr>
          <p:cNvPr id="64" name="Text 61"/>
          <p:cNvSpPr txBox="1"/>
          <p:nvPr/>
        </p:nvSpPr>
        <p:spPr>
          <a:xfrm>
            <a:off x="2926080"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Meta Model API · one call</a:t>
            </a:r>
            <a:endParaRPr lang="en-US" sz="900" dirty="0"/>
          </a:p>
        </p:txBody>
      </p:sp>
      <p:sp>
        <p:nvSpPr>
          <p:cNvPr id="65" name="Shape 62"/>
          <p:cNvSpPr/>
          <p:nvPr/>
        </p:nvSpPr>
        <p:spPr>
          <a:xfrm>
            <a:off x="5010912" y="4572000"/>
            <a:ext cx="2121408"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5157216" y="4690872"/>
            <a:ext cx="1554480" cy="228600"/>
          </a:xfrm>
          <a:prstGeom prst="rect">
            <a:avLst/>
          </a:prstGeom>
          <a:noFill/>
          <a:ln/>
        </p:spPr>
        <p:txBody>
          <a:bodyPr wrap="square" lIns="0" tIns="0" rIns="0" bIns="0" rtlCol="0" anchor="t"/>
          <a:lstStyle/>
          <a:p>
            <a:pPr indent="0" marL="0">
              <a:buNone/>
            </a:pPr>
            <a:r>
              <a:rPr lang="en-US" sz="950" b="1" spc="100" kern="0" dirty="0">
                <a:solidFill>
                  <a:srgbClr val="B26A00"/>
                </a:solidFill>
              </a:rPr>
              <a:t>META MODEL API</a:t>
            </a:r>
            <a:endParaRPr lang="en-US" sz="950" dirty="0"/>
          </a:p>
        </p:txBody>
      </p:sp>
      <p:sp>
        <p:nvSpPr>
          <p:cNvPr id="67" name="Text 64"/>
          <p:cNvSpPr txBox="1"/>
          <p:nvPr/>
        </p:nvSpPr>
        <p:spPr>
          <a:xfrm>
            <a:off x="5157216"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Muse Image</a:t>
            </a:r>
            <a:endParaRPr lang="en-US" sz="1400" dirty="0"/>
          </a:p>
        </p:txBody>
      </p:sp>
      <p:sp>
        <p:nvSpPr>
          <p:cNvPr id="68" name="Text 65"/>
          <p:cNvSpPr txBox="1"/>
          <p:nvPr/>
        </p:nvSpPr>
        <p:spPr>
          <a:xfrm>
            <a:off x="5157216"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A face for every member's agent, made once</a:t>
            </a:r>
            <a:endParaRPr lang="en-US" sz="950" dirty="0"/>
          </a:p>
        </p:txBody>
      </p:sp>
      <p:sp>
        <p:nvSpPr>
          <p:cNvPr id="69" name="Text 66"/>
          <p:cNvSpPr txBox="1"/>
          <p:nvPr/>
        </p:nvSpPr>
        <p:spPr>
          <a:xfrm>
            <a:off x="5157216"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Meta Model API · 12 images</a:t>
            </a:r>
            <a:endParaRPr lang="en-US" sz="900" dirty="0"/>
          </a:p>
        </p:txBody>
      </p:sp>
      <p:sp>
        <p:nvSpPr>
          <p:cNvPr id="70" name="Shape 67"/>
          <p:cNvSpPr/>
          <p:nvPr/>
        </p:nvSpPr>
        <p:spPr>
          <a:xfrm>
            <a:off x="7242048" y="4572000"/>
            <a:ext cx="2121408" cy="1353312"/>
          </a:xfrm>
          <a:prstGeom prst="roundRect">
            <a:avLst>
              <a:gd name="adj" fmla="val 8108"/>
            </a:avLst>
          </a:prstGeom>
          <a:solidFill>
            <a:srgbClr val="FFFFFF"/>
          </a:solidFill>
          <a:ln w="12700">
            <a:solidFill>
              <a:srgbClr val="DCDCE0"/>
            </a:solidFill>
            <a:prstDash val="solid"/>
          </a:ln>
        </p:spPr>
      </p:sp>
      <p:sp>
        <p:nvSpPr>
          <p:cNvPr id="71" name="Text 68"/>
          <p:cNvSpPr txBox="1"/>
          <p:nvPr/>
        </p:nvSpPr>
        <p:spPr>
          <a:xfrm>
            <a:off x="7388352" y="469087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PRODUCT</a:t>
            </a:r>
            <a:endParaRPr lang="en-US" sz="950" dirty="0"/>
          </a:p>
        </p:txBody>
      </p:sp>
      <p:pic>
        <p:nvPicPr>
          <p:cNvPr id="72" name="Image 0" descr="preencoded.png">    </p:cNvPr>
          <p:cNvPicPr>
            <a:picLocks noChangeAspect="1"/>
          </p:cNvPicPr>
          <p:nvPr/>
        </p:nvPicPr>
        <p:blipFill>
          <a:blip r:embed="rId1"/>
          <a:stretch>
            <a:fillRect/>
          </a:stretch>
        </p:blipFill>
        <p:spPr>
          <a:xfrm>
            <a:off x="8951976" y="4681728"/>
            <a:ext cx="256032" cy="256032"/>
          </a:xfrm>
          <a:prstGeom prst="rect">
            <a:avLst/>
          </a:prstGeom>
        </p:spPr>
      </p:pic>
      <p:sp>
        <p:nvSpPr>
          <p:cNvPr id="73" name="Text 69"/>
          <p:cNvSpPr txBox="1"/>
          <p:nvPr/>
        </p:nvSpPr>
        <p:spPr>
          <a:xfrm>
            <a:off x="7388352"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Messenger</a:t>
            </a:r>
            <a:endParaRPr lang="en-US" sz="1400" dirty="0"/>
          </a:p>
        </p:txBody>
      </p:sp>
      <p:sp>
        <p:nvSpPr>
          <p:cNvPr id="74" name="Text 70"/>
          <p:cNvSpPr txBox="1"/>
          <p:nvPr/>
        </p:nvSpPr>
        <p:spPr>
          <a:xfrm>
            <a:off x="7388352"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Your agent in your chats: plans, a tap to approve, check-ins</a:t>
            </a:r>
            <a:endParaRPr lang="en-US" sz="950" dirty="0"/>
          </a:p>
        </p:txBody>
      </p:sp>
      <p:sp>
        <p:nvSpPr>
          <p:cNvPr id="75" name="Text 71"/>
          <p:cNvSpPr txBox="1"/>
          <p:nvPr/>
        </p:nvSpPr>
        <p:spPr>
          <a:xfrm>
            <a:off x="7388352"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Signed webhook · Send API</a:t>
            </a:r>
            <a:endParaRPr lang="en-US" sz="900" dirty="0"/>
          </a:p>
        </p:txBody>
      </p:sp>
      <p:sp>
        <p:nvSpPr>
          <p:cNvPr id="76" name="Shape 72"/>
          <p:cNvSpPr/>
          <p:nvPr/>
        </p:nvSpPr>
        <p:spPr>
          <a:xfrm>
            <a:off x="9473184" y="4572000"/>
            <a:ext cx="2121408" cy="1353312"/>
          </a:xfrm>
          <a:prstGeom prst="roundRect">
            <a:avLst>
              <a:gd name="adj" fmla="val 8108"/>
            </a:avLst>
          </a:prstGeom>
          <a:solidFill>
            <a:srgbClr val="FFFFFF"/>
          </a:solidFill>
          <a:ln w="12700">
            <a:solidFill>
              <a:srgbClr val="DCDCE0"/>
            </a:solidFill>
            <a:prstDash val="solid"/>
          </a:ln>
        </p:spPr>
      </p:sp>
      <p:sp>
        <p:nvSpPr>
          <p:cNvPr id="77" name="Text 73"/>
          <p:cNvSpPr txBox="1"/>
          <p:nvPr/>
        </p:nvSpPr>
        <p:spPr>
          <a:xfrm>
            <a:off x="9619488" y="469087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PRODUCT</a:t>
            </a:r>
            <a:endParaRPr lang="en-US" sz="950" dirty="0"/>
          </a:p>
        </p:txBody>
      </p:sp>
      <p:pic>
        <p:nvPicPr>
          <p:cNvPr id="78" name="Image 1" descr="preencoded.png">    </p:cNvPr>
          <p:cNvPicPr>
            <a:picLocks noChangeAspect="1"/>
          </p:cNvPicPr>
          <p:nvPr/>
        </p:nvPicPr>
        <p:blipFill>
          <a:blip r:embed="rId2"/>
          <a:stretch>
            <a:fillRect/>
          </a:stretch>
        </p:blipFill>
        <p:spPr>
          <a:xfrm>
            <a:off x="11183112" y="4681728"/>
            <a:ext cx="256032" cy="256032"/>
          </a:xfrm>
          <a:prstGeom prst="rect">
            <a:avLst/>
          </a:prstGeom>
        </p:spPr>
      </p:pic>
      <p:sp>
        <p:nvSpPr>
          <p:cNvPr id="79" name="Text 74"/>
          <p:cNvSpPr txBox="1"/>
          <p:nvPr/>
        </p:nvSpPr>
        <p:spPr>
          <a:xfrm>
            <a:off x="9619488"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Facebook · IG</a:t>
            </a:r>
            <a:endParaRPr lang="en-US" sz="1400" dirty="0"/>
          </a:p>
        </p:txBody>
      </p:sp>
      <p:sp>
        <p:nvSpPr>
          <p:cNvPr id="80" name="Text 75"/>
          <p:cNvSpPr txBox="1"/>
          <p:nvPr/>
        </p:nvSpPr>
        <p:spPr>
          <a:xfrm>
            <a:off x="9619488"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Join the club with your account; share your reel</a:t>
            </a:r>
            <a:endParaRPr lang="en-US" sz="950" dirty="0"/>
          </a:p>
        </p:txBody>
      </p:sp>
      <p:sp>
        <p:nvSpPr>
          <p:cNvPr id="81" name="Text 76"/>
          <p:cNvSpPr txBox="1"/>
          <p:nvPr/>
        </p:nvSpPr>
        <p:spPr>
          <a:xfrm>
            <a:off x="9619488"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Facebook Login · Instagram Login</a:t>
            </a:r>
            <a:endParaRPr lang="en-US" sz="900" dirty="0"/>
          </a:p>
        </p:txBody>
      </p:sp>
      <p:pic>
        <p:nvPicPr>
          <p:cNvPr id="82" name="Image 2" descr="preencoded.png">    </p:cNvPr>
          <p:cNvPicPr>
            <a:picLocks noChangeAspect="1"/>
          </p:cNvPicPr>
          <p:nvPr/>
        </p:nvPicPr>
        <p:blipFill>
          <a:blip r:embed="rId3"/>
          <a:stretch>
            <a:fillRect/>
          </a:stretch>
        </p:blipFill>
        <p:spPr>
          <a:xfrm>
            <a:off x="548640" y="6089904"/>
            <a:ext cx="274320" cy="274320"/>
          </a:xfrm>
          <a:prstGeom prst="rect">
            <a:avLst/>
          </a:prstGeom>
        </p:spPr>
      </p:pic>
      <p:sp>
        <p:nvSpPr>
          <p:cNvPr id="83" name="Text 77"/>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Ten open-weights models on hardware I own; three on the Meta Model API.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FULL-DUPLEX VOICE · MUSE VOICE TRANSCRIBE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Talk to your agent, and cut in when you like</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finds where your turn ends; 25 languages, code-switching</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Clubs find each other, and keys can change</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Only addresses in the config: names, members and keys come from each club's own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calls,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Glimmer takes the rest. Glimmer alone agrees with itself 73.5% on these.</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65/65</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52/52</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206240"/>
                <a:gridCol w="3566160"/>
                <a:gridCol w="329184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seventeen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239 of 240, 1 skipped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52 of 52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65 of 65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65</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Everything runs on one GPU server I own</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28800"/>
            <a:ext cx="2724912" cy="731520"/>
          </a:xfrm>
          <a:prstGeom prst="roundRect">
            <a:avLst>
              <a:gd name="adj" fmla="val 15000"/>
            </a:avLst>
          </a:prstGeom>
          <a:solidFill>
            <a:srgbClr val="F6F7F8"/>
          </a:solidFill>
          <a:ln w="12700">
            <a:solidFill>
              <a:srgbClr val="F6F7F8"/>
            </a:solidFill>
            <a:prstDash val="solid"/>
          </a:ln>
        </p:spPr>
      </p:sp>
      <p:sp>
        <p:nvSpPr>
          <p:cNvPr id="29" name="Text 26"/>
          <p:cNvSpPr txBox="1"/>
          <p:nvPr/>
        </p:nvSpPr>
        <p:spPr>
          <a:xfrm>
            <a:off x="312724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Planner agent</a:t>
            </a:r>
            <a:endParaRPr lang="en-US" sz="1150" dirty="0"/>
          </a:p>
        </p:txBody>
      </p:sp>
      <p:sp>
        <p:nvSpPr>
          <p:cNvPr id="30" name="Text 27"/>
          <p:cNvSpPr txBox="1"/>
          <p:nvPr/>
        </p:nvSpPr>
        <p:spPr>
          <a:xfrm>
            <a:off x="312724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tool loop · native tool calling · 12 steps max · rules finish if it stalls</a:t>
            </a:r>
            <a:endParaRPr lang="en-US" sz="950" dirty="0"/>
          </a:p>
        </p:txBody>
      </p:sp>
      <p:sp>
        <p:nvSpPr>
          <p:cNvPr id="31" name="Shape 28"/>
          <p:cNvSpPr/>
          <p:nvPr/>
        </p:nvSpPr>
        <p:spPr>
          <a:xfrm>
            <a:off x="5833872" y="1828800"/>
            <a:ext cx="2724912" cy="731520"/>
          </a:xfrm>
          <a:prstGeom prst="roundRect">
            <a:avLst>
              <a:gd name="adj" fmla="val 15000"/>
            </a:avLst>
          </a:prstGeom>
          <a:solidFill>
            <a:srgbClr val="F6F7F8"/>
          </a:solidFill>
          <a:ln w="12700">
            <a:solidFill>
              <a:srgbClr val="F6F7F8"/>
            </a:solidFill>
            <a:prstDash val="solid"/>
          </a:ln>
        </p:spPr>
      </p:sp>
      <p:sp>
        <p:nvSpPr>
          <p:cNvPr id="32" name="Text 29"/>
          <p:cNvSpPr txBox="1"/>
          <p:nvPr/>
        </p:nvSpPr>
        <p:spPr>
          <a:xfrm>
            <a:off x="5961888" y="189280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Agent to agent</a:t>
            </a:r>
            <a:endParaRPr lang="en-US" sz="1150" dirty="0"/>
          </a:p>
        </p:txBody>
      </p:sp>
      <p:sp>
        <p:nvSpPr>
          <p:cNvPr id="33" name="Text 30"/>
          <p:cNvSpPr txBox="1"/>
          <p:nvPr/>
        </p:nvSpPr>
        <p:spPr>
          <a:xfrm>
            <a:off x="5961888" y="2148840"/>
            <a:ext cx="2514600" cy="384048"/>
          </a:xfrm>
          <a:prstGeom prst="rect">
            <a:avLst/>
          </a:prstGeom>
          <a:noFill/>
          <a:ln/>
        </p:spPr>
        <p:txBody>
          <a:bodyPr wrap="square" lIns="0" tIns="0" rIns="0" bIns="0" rtlCol="0" anchor="t"/>
          <a:lstStyle/>
          <a:p>
            <a:pPr indent="0" marL="0">
              <a:buNone/>
            </a:pPr>
            <a:r>
              <a:rPr lang="en-US" sz="950" dirty="0">
                <a:solidFill>
                  <a:srgbClr val="55555C"/>
                </a:solidFill>
              </a:rPr>
              <a:t>A2A v1.0 · signed Agent Cards · one round · held times · checkpoints</a:t>
            </a:r>
            <a:endParaRPr lang="en-US" sz="950" dirty="0"/>
          </a:p>
        </p:txBody>
      </p:sp>
      <p:sp>
        <p:nvSpPr>
          <p:cNvPr id="34" name="Shape 31"/>
          <p:cNvSpPr/>
          <p:nvPr/>
        </p:nvSpPr>
        <p:spPr>
          <a:xfrm>
            <a:off x="2999232" y="2651760"/>
            <a:ext cx="2724912" cy="731520"/>
          </a:xfrm>
          <a:prstGeom prst="roundRect">
            <a:avLst>
              <a:gd name="adj" fmla="val 15000"/>
            </a:avLst>
          </a:prstGeom>
          <a:solidFill>
            <a:srgbClr val="F6F7F8"/>
          </a:solidFill>
          <a:ln w="12700">
            <a:solidFill>
              <a:srgbClr val="F6F7F8"/>
            </a:solidFill>
            <a:prstDash val="solid"/>
          </a:ln>
        </p:spPr>
      </p:sp>
      <p:sp>
        <p:nvSpPr>
          <p:cNvPr id="35" name="Text 32"/>
          <p:cNvSpPr txBox="1"/>
          <p:nvPr/>
        </p:nvSpPr>
        <p:spPr>
          <a:xfrm>
            <a:off x="312724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Body context</a:t>
            </a:r>
            <a:endParaRPr lang="en-US" sz="1150" dirty="0"/>
          </a:p>
        </p:txBody>
      </p:sp>
      <p:sp>
        <p:nvSpPr>
          <p:cNvPr id="36" name="Text 33"/>
          <p:cNvSpPr txBox="1"/>
          <p:nvPr/>
        </p:nvSpPr>
        <p:spPr>
          <a:xfrm>
            <a:off x="312724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your words, games, health app · found by DRAMA · rules cite notes</a:t>
            </a:r>
            <a:endParaRPr lang="en-US" sz="950" dirty="0"/>
          </a:p>
        </p:txBody>
      </p:sp>
      <p:sp>
        <p:nvSpPr>
          <p:cNvPr id="37" name="Shape 34"/>
          <p:cNvSpPr/>
          <p:nvPr/>
        </p:nvSpPr>
        <p:spPr>
          <a:xfrm>
            <a:off x="5833872" y="2651760"/>
            <a:ext cx="2724912" cy="731520"/>
          </a:xfrm>
          <a:prstGeom prst="roundRect">
            <a:avLst>
              <a:gd name="adj" fmla="val 15000"/>
            </a:avLst>
          </a:prstGeom>
          <a:solidFill>
            <a:srgbClr val="F6F7F8"/>
          </a:solidFill>
          <a:ln w="12700">
            <a:solidFill>
              <a:srgbClr val="F6F7F8"/>
            </a:solidFill>
            <a:prstDash val="solid"/>
          </a:ln>
        </p:spPr>
      </p:sp>
      <p:sp>
        <p:nvSpPr>
          <p:cNvPr id="38" name="Text 35"/>
          <p:cNvSpPr txBox="1"/>
          <p:nvPr/>
        </p:nvSpPr>
        <p:spPr>
          <a:xfrm>
            <a:off x="5961888" y="271576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Courts near you</a:t>
            </a:r>
            <a:endParaRPr lang="en-US" sz="1150" dirty="0"/>
          </a:p>
        </p:txBody>
      </p:sp>
      <p:sp>
        <p:nvSpPr>
          <p:cNvPr id="39" name="Text 36"/>
          <p:cNvSpPr txBox="1"/>
          <p:nvPr/>
        </p:nvSpPr>
        <p:spPr>
          <a:xfrm>
            <a:off x="5961888" y="2971800"/>
            <a:ext cx="2514600" cy="384048"/>
          </a:xfrm>
          <a:prstGeom prst="rect">
            <a:avLst/>
          </a:prstGeom>
          <a:noFill/>
          <a:ln/>
        </p:spPr>
        <p:txBody>
          <a:bodyPr wrap="square" lIns="0" tIns="0" rIns="0" bIns="0" rtlCol="0" anchor="t"/>
          <a:lstStyle/>
          <a:p>
            <a:pPr indent="0" marL="0">
              <a:buNone/>
            </a:pPr>
            <a:r>
              <a:rPr lang="en-US" sz="950" dirty="0">
                <a:solidFill>
                  <a:srgbClr val="55555C"/>
                </a:solidFill>
              </a:rPr>
              <a:t>map, reviews, forecast · 4 judged at once · reasons cited</a:t>
            </a:r>
            <a:endParaRPr lang="en-US" sz="950" dirty="0"/>
          </a:p>
        </p:txBody>
      </p:sp>
      <p:sp>
        <p:nvSpPr>
          <p:cNvPr id="40" name="Shape 37"/>
          <p:cNvSpPr/>
          <p:nvPr/>
        </p:nvSpPr>
        <p:spPr>
          <a:xfrm>
            <a:off x="2999232" y="3474720"/>
            <a:ext cx="2724912" cy="731520"/>
          </a:xfrm>
          <a:prstGeom prst="roundRect">
            <a:avLst>
              <a:gd name="adj" fmla="val 15000"/>
            </a:avLst>
          </a:prstGeom>
          <a:solidFill>
            <a:srgbClr val="F6F7F8"/>
          </a:solidFill>
          <a:ln w="12700">
            <a:solidFill>
              <a:srgbClr val="F6F7F8"/>
            </a:solidFill>
            <a:prstDash val="solid"/>
          </a:ln>
        </p:spPr>
      </p:sp>
      <p:sp>
        <p:nvSpPr>
          <p:cNvPr id="41" name="Text 38"/>
          <p:cNvSpPr txBox="1"/>
          <p:nvPr/>
        </p:nvSpPr>
        <p:spPr>
          <a:xfrm>
            <a:off x="312724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Social feed and members</a:t>
            </a:r>
            <a:endParaRPr lang="en-US" sz="1150" dirty="0"/>
          </a:p>
        </p:txBody>
      </p:sp>
      <p:sp>
        <p:nvSpPr>
          <p:cNvPr id="42" name="Text 39"/>
          <p:cNvSpPr txBox="1"/>
          <p:nvPr/>
        </p:nvSpPr>
        <p:spPr>
          <a:xfrm>
            <a:off x="312724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Facebook / Instagram login · invites · stories · signed agent channel</a:t>
            </a:r>
            <a:endParaRPr lang="en-US" sz="950" dirty="0"/>
          </a:p>
        </p:txBody>
      </p:sp>
      <p:sp>
        <p:nvSpPr>
          <p:cNvPr id="43" name="Shape 40"/>
          <p:cNvSpPr/>
          <p:nvPr/>
        </p:nvSpPr>
        <p:spPr>
          <a:xfrm>
            <a:off x="5833872" y="3474720"/>
            <a:ext cx="2724912" cy="731520"/>
          </a:xfrm>
          <a:prstGeom prst="roundRect">
            <a:avLst>
              <a:gd name="adj" fmla="val 15000"/>
            </a:avLst>
          </a:prstGeom>
          <a:solidFill>
            <a:srgbClr val="F6F7F8"/>
          </a:solidFill>
          <a:ln w="12700">
            <a:solidFill>
              <a:srgbClr val="F6F7F8"/>
            </a:solidFill>
            <a:prstDash val="solid"/>
          </a:ln>
        </p:spPr>
      </p:sp>
      <p:sp>
        <p:nvSpPr>
          <p:cNvPr id="44" name="Text 41"/>
          <p:cNvSpPr txBox="1"/>
          <p:nvPr/>
        </p:nvSpPr>
        <p:spPr>
          <a:xfrm>
            <a:off x="5961888" y="353872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Highlights</a:t>
            </a:r>
            <a:endParaRPr lang="en-US" sz="1150" dirty="0"/>
          </a:p>
        </p:txBody>
      </p:sp>
      <p:sp>
        <p:nvSpPr>
          <p:cNvPr id="45" name="Text 42"/>
          <p:cNvSpPr txBox="1"/>
          <p:nvPr/>
        </p:nvSpPr>
        <p:spPr>
          <a:xfrm>
            <a:off x="5961888" y="3794760"/>
            <a:ext cx="2514600" cy="384048"/>
          </a:xfrm>
          <a:prstGeom prst="rect">
            <a:avLst/>
          </a:prstGeom>
          <a:noFill/>
          <a:ln/>
        </p:spPr>
        <p:txBody>
          <a:bodyPr wrap="square" lIns="0" tIns="0" rIns="0" bIns="0" rtlCol="0" anchor="t"/>
          <a:lstStyle/>
          <a:p>
            <a:pPr indent="0" marL="0">
              <a:buNone/>
            </a:pPr>
            <a:r>
              <a:rPr lang="en-US" sz="950" dirty="0">
                <a:solidFill>
                  <a:srgbClr val="55555C"/>
                </a:solidFill>
              </a:rPr>
              <a:t>find you, read your pose, cut you out · orbit effect · caption</a:t>
            </a:r>
            <a:endParaRPr lang="en-US" sz="950" dirty="0"/>
          </a:p>
        </p:txBody>
      </p:sp>
      <p:sp>
        <p:nvSpPr>
          <p:cNvPr id="46" name="Shape 43"/>
          <p:cNvSpPr/>
          <p:nvPr/>
        </p:nvSpPr>
        <p:spPr>
          <a:xfrm>
            <a:off x="2999232" y="4297680"/>
            <a:ext cx="2724912" cy="731520"/>
          </a:xfrm>
          <a:prstGeom prst="roundRect">
            <a:avLst>
              <a:gd name="adj" fmla="val 15000"/>
            </a:avLst>
          </a:prstGeom>
          <a:solidFill>
            <a:srgbClr val="F6F7F8"/>
          </a:solidFill>
          <a:ln w="12700">
            <a:solidFill>
              <a:srgbClr val="F6F7F8"/>
            </a:solidFill>
            <a:prstDash val="solid"/>
          </a:ln>
        </p:spPr>
      </p:sp>
      <p:sp>
        <p:nvSpPr>
          <p:cNvPr id="47" name="Text 44"/>
          <p:cNvSpPr txBox="1"/>
          <p:nvPr/>
        </p:nvSpPr>
        <p:spPr>
          <a:xfrm>
            <a:off x="312724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Community loop</a:t>
            </a:r>
            <a:endParaRPr lang="en-US" sz="1150" dirty="0"/>
          </a:p>
        </p:txBody>
      </p:sp>
      <p:sp>
        <p:nvSpPr>
          <p:cNvPr id="48" name="Text 45"/>
          <p:cNvSpPr txBox="1"/>
          <p:nvPr/>
        </p:nvSpPr>
        <p:spPr>
          <a:xfrm>
            <a:off x="312724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ideas · DRAMA · votes · spec · coding agent · 9 gates · canary</a:t>
            </a:r>
            <a:endParaRPr lang="en-US" sz="950" dirty="0"/>
          </a:p>
        </p:txBody>
      </p:sp>
      <p:sp>
        <p:nvSpPr>
          <p:cNvPr id="49" name="Shape 46"/>
          <p:cNvSpPr/>
          <p:nvPr/>
        </p:nvSpPr>
        <p:spPr>
          <a:xfrm>
            <a:off x="5833872" y="4297680"/>
            <a:ext cx="2724912" cy="731520"/>
          </a:xfrm>
          <a:prstGeom prst="roundRect">
            <a:avLst>
              <a:gd name="adj" fmla="val 15000"/>
            </a:avLst>
          </a:prstGeom>
          <a:solidFill>
            <a:srgbClr val="F6F7F8"/>
          </a:solidFill>
          <a:ln w="12700">
            <a:solidFill>
              <a:srgbClr val="F6F7F8"/>
            </a:solidFill>
            <a:prstDash val="solid"/>
          </a:ln>
        </p:spPr>
      </p:sp>
      <p:sp>
        <p:nvSpPr>
          <p:cNvPr id="50" name="Text 47"/>
          <p:cNvSpPr txBox="1"/>
          <p:nvPr/>
        </p:nvSpPr>
        <p:spPr>
          <a:xfrm>
            <a:off x="5961888" y="4361688"/>
            <a:ext cx="2468880" cy="246888"/>
          </a:xfrm>
          <a:prstGeom prst="rect">
            <a:avLst/>
          </a:prstGeom>
          <a:noFill/>
          <a:ln/>
        </p:spPr>
        <p:txBody>
          <a:bodyPr wrap="square" lIns="0" tIns="0" rIns="0" bIns="0" rtlCol="0" anchor="t"/>
          <a:lstStyle/>
          <a:p>
            <a:pPr indent="0" marL="0">
              <a:buNone/>
            </a:pPr>
            <a:r>
              <a:rPr lang="en-US" sz="1150" b="1" dirty="0">
                <a:solidFill>
                  <a:srgbClr val="0A0A0B"/>
                </a:solidFill>
              </a:rPr>
              <a:t>Decision tiers</a:t>
            </a:r>
            <a:endParaRPr lang="en-US" sz="1150" dirty="0"/>
          </a:p>
        </p:txBody>
      </p:sp>
      <p:sp>
        <p:nvSpPr>
          <p:cNvPr id="51" name="Text 48"/>
          <p:cNvSpPr txBox="1"/>
          <p:nvPr/>
        </p:nvSpPr>
        <p:spPr>
          <a:xfrm>
            <a:off x="5961888" y="4617720"/>
            <a:ext cx="2514600" cy="384048"/>
          </a:xfrm>
          <a:prstGeom prst="rect">
            <a:avLst/>
          </a:prstGeom>
          <a:noFill/>
          <a:ln/>
        </p:spPr>
        <p:txBody>
          <a:bodyPr wrap="square" lIns="0" tIns="0" rIns="0" bIns="0" rtlCol="0" anchor="t"/>
          <a:lstStyle/>
          <a:p>
            <a:pPr indent="0" marL="0">
              <a:buNone/>
            </a:pPr>
            <a:r>
              <a:rPr lang="en-US" sz="950" dirty="0">
                <a:solidFill>
                  <a:srgbClr val="55555C"/>
                </a:solidFill>
              </a:rPr>
              <a:t>code first · Llama 3.2 1B when sure · Muse Glimmer if needed</a:t>
            </a:r>
            <a:endParaRPr lang="en-US" sz="950" dirty="0"/>
          </a:p>
        </p:txBody>
      </p:sp>
      <p:sp>
        <p:nvSpPr>
          <p:cNvPr id="52" name="Shape 49"/>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3" name="Text 50"/>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54" name="Text 51"/>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55" name="Text 52"/>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56" name="Shape 53"/>
          <p:cNvSpPr/>
          <p:nvPr/>
        </p:nvSpPr>
        <p:spPr>
          <a:xfrm>
            <a:off x="8750808" y="2468880"/>
            <a:ext cx="274320" cy="0"/>
          </a:xfrm>
          <a:prstGeom prst="line">
            <a:avLst/>
          </a:prstGeom>
          <a:noFill/>
          <a:ln w="22225">
            <a:solidFill>
              <a:srgbClr val="0A7F44"/>
            </a:solidFill>
            <a:prstDash val="solid"/>
            <a:tailEnd type="triangle"/>
          </a:ln>
        </p:spPr>
      </p:sp>
      <p:sp>
        <p:nvSpPr>
          <p:cNvPr id="57" name="Shape 54"/>
          <p:cNvSpPr/>
          <p:nvPr/>
        </p:nvSpPr>
        <p:spPr>
          <a:xfrm>
            <a:off x="8750808" y="3794760"/>
            <a:ext cx="274320" cy="0"/>
          </a:xfrm>
          <a:prstGeom prst="line">
            <a:avLst/>
          </a:prstGeom>
          <a:noFill/>
          <a:ln w="22225">
            <a:solidFill>
              <a:srgbClr val="0064E0"/>
            </a:solidFill>
            <a:prstDash val="solid"/>
            <a:tailEnd type="triangle"/>
          </a:ln>
        </p:spPr>
      </p:sp>
      <p:sp>
        <p:nvSpPr>
          <p:cNvPr id="58" name="Text 55"/>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59" name="Shape 56"/>
          <p:cNvSpPr/>
          <p:nvPr/>
        </p:nvSpPr>
        <p:spPr>
          <a:xfrm>
            <a:off x="9070848" y="1755648"/>
            <a:ext cx="2697480" cy="914400"/>
          </a:xfrm>
          <a:prstGeom prst="roundRect">
            <a:avLst>
              <a:gd name="adj" fmla="val 12000"/>
            </a:avLst>
          </a:prstGeom>
          <a:solidFill>
            <a:srgbClr val="E9F3EC"/>
          </a:solidFill>
          <a:ln w="12700">
            <a:solidFill>
              <a:srgbClr val="E9F3EC"/>
            </a:solidFill>
            <a:prstDash val="solid"/>
          </a:ln>
        </p:spPr>
      </p:sp>
      <p:sp>
        <p:nvSpPr>
          <p:cNvPr id="60" name="Text 57"/>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1" name="Text 58"/>
          <p:cNvSpPr txBox="1"/>
          <p:nvPr/>
        </p:nvSpPr>
        <p:spPr>
          <a:xfrm>
            <a:off x="9198864" y="2084832"/>
            <a:ext cx="2487168" cy="548640"/>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 · fallback: Muse Spark 1.3 (Meta Model API)</a:t>
            </a:r>
            <a:endParaRPr lang="en-US" sz="950" dirty="0"/>
          </a:p>
        </p:txBody>
      </p:sp>
      <p:sp>
        <p:nvSpPr>
          <p:cNvPr id="62" name="Shape 59"/>
          <p:cNvSpPr/>
          <p:nvPr/>
        </p:nvSpPr>
        <p:spPr>
          <a:xfrm>
            <a:off x="9070848" y="2779776"/>
            <a:ext cx="2697480" cy="777240"/>
          </a:xfrm>
          <a:prstGeom prst="roundRect">
            <a:avLst>
              <a:gd name="adj" fmla="val 14118"/>
            </a:avLst>
          </a:prstGeom>
          <a:solidFill>
            <a:srgbClr val="E8F1FD"/>
          </a:solidFill>
          <a:ln w="12700">
            <a:solidFill>
              <a:srgbClr val="E8F1FD"/>
            </a:solidFill>
            <a:prstDash val="solid"/>
          </a:ln>
        </p:spPr>
      </p:sp>
      <p:sp>
        <p:nvSpPr>
          <p:cNvPr id="63" name="Text 60"/>
          <p:cNvSpPr txBox="1"/>
          <p:nvPr/>
        </p:nvSpPr>
        <p:spPr>
          <a:xfrm>
            <a:off x="9198864" y="2852928"/>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64" name="Text 61"/>
          <p:cNvSpPr txBox="1"/>
          <p:nvPr/>
        </p:nvSpPr>
        <p:spPr>
          <a:xfrm>
            <a:off x="9198864" y="3108960"/>
            <a:ext cx="2487168" cy="411480"/>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65" name="Shape 62"/>
          <p:cNvSpPr/>
          <p:nvPr/>
        </p:nvSpPr>
        <p:spPr>
          <a:xfrm>
            <a:off x="9070848" y="3666744"/>
            <a:ext cx="2697480" cy="914400"/>
          </a:xfrm>
          <a:prstGeom prst="roundRect">
            <a:avLst>
              <a:gd name="adj" fmla="val 12000"/>
            </a:avLst>
          </a:prstGeom>
          <a:solidFill>
            <a:srgbClr val="E8F1FD"/>
          </a:solidFill>
          <a:ln w="12700">
            <a:solidFill>
              <a:srgbClr val="E8F1FD"/>
            </a:solidFill>
            <a:prstDash val="solid"/>
          </a:ln>
        </p:spPr>
      </p:sp>
      <p:sp>
        <p:nvSpPr>
          <p:cNvPr id="66" name="Text 63"/>
          <p:cNvSpPr txBox="1"/>
          <p:nvPr/>
        </p:nvSpPr>
        <p:spPr>
          <a:xfrm>
            <a:off x="9198864" y="3739896"/>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67" name="Text 64"/>
          <p:cNvSpPr txBox="1"/>
          <p:nvPr/>
        </p:nvSpPr>
        <p:spPr>
          <a:xfrm>
            <a:off x="9198864" y="3995928"/>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a:t>
            </a:r>
            <a:endParaRPr lang="en-US" sz="950" dirty="0"/>
          </a:p>
        </p:txBody>
      </p:sp>
      <p:sp>
        <p:nvSpPr>
          <p:cNvPr id="68" name="Text 65"/>
          <p:cNvSpPr txBox="1"/>
          <p:nvPr/>
        </p:nvSpPr>
        <p:spPr>
          <a:xfrm>
            <a:off x="9070848" y="4745736"/>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69" name="Shape 66"/>
          <p:cNvSpPr/>
          <p:nvPr/>
        </p:nvSpPr>
        <p:spPr>
          <a:xfrm>
            <a:off x="9070848" y="5020056"/>
            <a:ext cx="2697480" cy="384048"/>
          </a:xfrm>
          <a:prstGeom prst="roundRect">
            <a:avLst>
              <a:gd name="adj" fmla="val 28571"/>
            </a:avLst>
          </a:prstGeom>
          <a:solidFill>
            <a:srgbClr val="FFFFFF"/>
          </a:solidFill>
          <a:ln w="12700">
            <a:solidFill>
              <a:srgbClr val="DCDCE0"/>
            </a:solidFill>
            <a:prstDash val="solid"/>
          </a:ln>
        </p:spPr>
      </p:sp>
      <p:sp>
        <p:nvSpPr>
          <p:cNvPr id="70" name="Text 67"/>
          <p:cNvSpPr txBox="1"/>
          <p:nvPr/>
        </p:nvSpPr>
        <p:spPr>
          <a:xfrm>
            <a:off x="9198864" y="50200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OpenStreetMap</a:t>
            </a:r>
            <a:endParaRPr lang="en-US" sz="1100" dirty="0"/>
          </a:p>
        </p:txBody>
      </p:sp>
      <p:sp>
        <p:nvSpPr>
          <p:cNvPr id="71" name="Text 68"/>
          <p:cNvSpPr txBox="1"/>
          <p:nvPr/>
        </p:nvSpPr>
        <p:spPr>
          <a:xfrm>
            <a:off x="10515600" y="50200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courts, maps</a:t>
            </a:r>
            <a:endParaRPr lang="en-US" sz="950" dirty="0"/>
          </a:p>
        </p:txBody>
      </p:sp>
      <p:sp>
        <p:nvSpPr>
          <p:cNvPr id="72" name="Shape 69"/>
          <p:cNvSpPr/>
          <p:nvPr/>
        </p:nvSpPr>
        <p:spPr>
          <a:xfrm>
            <a:off x="9070848" y="5477256"/>
            <a:ext cx="2697480" cy="384048"/>
          </a:xfrm>
          <a:prstGeom prst="roundRect">
            <a:avLst>
              <a:gd name="adj" fmla="val 28571"/>
            </a:avLst>
          </a:prstGeom>
          <a:solidFill>
            <a:srgbClr val="FFFFFF"/>
          </a:solidFill>
          <a:ln w="12700">
            <a:solidFill>
              <a:srgbClr val="DCDCE0"/>
            </a:solidFill>
            <a:prstDash val="solid"/>
          </a:ln>
        </p:spPr>
      </p:sp>
      <p:sp>
        <p:nvSpPr>
          <p:cNvPr id="73" name="Text 70"/>
          <p:cNvSpPr txBox="1"/>
          <p:nvPr/>
        </p:nvSpPr>
        <p:spPr>
          <a:xfrm>
            <a:off x="9198864" y="54772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Open-Meteo</a:t>
            </a:r>
            <a:endParaRPr lang="en-US" sz="1100" dirty="0"/>
          </a:p>
        </p:txBody>
      </p:sp>
      <p:sp>
        <p:nvSpPr>
          <p:cNvPr id="74" name="Text 71"/>
          <p:cNvSpPr txBox="1"/>
          <p:nvPr/>
        </p:nvSpPr>
        <p:spPr>
          <a:xfrm>
            <a:off x="10515600" y="54772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the forecast</a:t>
            </a:r>
            <a:endParaRPr lang="en-US" sz="950" dirty="0"/>
          </a:p>
        </p:txBody>
      </p:sp>
      <p:sp>
        <p:nvSpPr>
          <p:cNvPr id="75" name="Shape 72"/>
          <p:cNvSpPr/>
          <p:nvPr/>
        </p:nvSpPr>
        <p:spPr>
          <a:xfrm>
            <a:off x="9070848" y="5934456"/>
            <a:ext cx="2697480" cy="384048"/>
          </a:xfrm>
          <a:prstGeom prst="roundRect">
            <a:avLst>
              <a:gd name="adj" fmla="val 28571"/>
            </a:avLst>
          </a:prstGeom>
          <a:solidFill>
            <a:srgbClr val="FFFFFF"/>
          </a:solidFill>
          <a:ln w="12700">
            <a:solidFill>
              <a:srgbClr val="DCDCE0"/>
            </a:solidFill>
            <a:prstDash val="solid"/>
          </a:ln>
        </p:spPr>
      </p:sp>
      <p:sp>
        <p:nvSpPr>
          <p:cNvPr id="76" name="Text 73"/>
          <p:cNvSpPr txBox="1"/>
          <p:nvPr/>
        </p:nvSpPr>
        <p:spPr>
          <a:xfrm>
            <a:off x="9198864" y="5934456"/>
            <a:ext cx="1463040" cy="384048"/>
          </a:xfrm>
          <a:prstGeom prst="rect">
            <a:avLst/>
          </a:prstGeom>
          <a:noFill/>
          <a:ln/>
        </p:spPr>
        <p:txBody>
          <a:bodyPr wrap="square" lIns="0" tIns="0" rIns="0" bIns="0" rtlCol="0" anchor="ctr"/>
          <a:lstStyle/>
          <a:p>
            <a:pPr indent="0" marL="0">
              <a:buNone/>
            </a:pPr>
            <a:r>
              <a:rPr lang="en-US" sz="1100" b="1" dirty="0">
                <a:solidFill>
                  <a:srgbClr val="0A0A0B"/>
                </a:solidFill>
              </a:rPr>
              <a:t>Google Places</a:t>
            </a:r>
            <a:endParaRPr lang="en-US" sz="1100" dirty="0"/>
          </a:p>
        </p:txBody>
      </p:sp>
      <p:sp>
        <p:nvSpPr>
          <p:cNvPr id="77" name="Text 74"/>
          <p:cNvSpPr txBox="1"/>
          <p:nvPr/>
        </p:nvSpPr>
        <p:spPr>
          <a:xfrm>
            <a:off x="10515600" y="5934456"/>
            <a:ext cx="1143000" cy="384048"/>
          </a:xfrm>
          <a:prstGeom prst="rect">
            <a:avLst/>
          </a:prstGeom>
          <a:noFill/>
          <a:ln/>
        </p:spPr>
        <p:txBody>
          <a:bodyPr wrap="square" lIns="0" tIns="0" rIns="0" bIns="0" rtlCol="0" anchor="ctr"/>
          <a:lstStyle/>
          <a:p>
            <a:pPr algn="r" indent="0" marL="0">
              <a:buNone/>
            </a:pPr>
            <a:r>
              <a:rPr lang="en-US" sz="950" dirty="0">
                <a:solidFill>
                  <a:srgbClr val="55555C"/>
                </a:solidFill>
              </a:rPr>
              <a:t>reviews, keyed</a:t>
            </a:r>
            <a:endParaRPr lang="en-US" sz="950" dirty="0"/>
          </a:p>
        </p:txBody>
      </p:sp>
      <p:sp>
        <p:nvSpPr>
          <p:cNvPr id="78" name="Shape 75"/>
          <p:cNvSpPr/>
          <p:nvPr/>
        </p:nvSpPr>
        <p:spPr>
          <a:xfrm>
            <a:off x="8750808" y="5440680"/>
            <a:ext cx="274320" cy="0"/>
          </a:xfrm>
          <a:prstGeom prst="line">
            <a:avLst/>
          </a:prstGeom>
          <a:noFill/>
          <a:ln w="22225">
            <a:solidFill>
              <a:srgbClr val="8A8A92"/>
            </a:solidFill>
            <a:prstDash val="solid"/>
            <a:tailEnd type="triangle"/>
          </a:ln>
        </p:spPr>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2026-10-29T03:02:01Z</dcterms:created>
  <dcterms:modified xsi:type="dcterms:W3CDTF">2026-10-29T03:02:01Z</dcterms:modified>
</cp:coreProperties>
</file>