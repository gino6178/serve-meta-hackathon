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ff87b4-ac63-6631-7d1d-167ef124248b}">
          <p14:sldIdLst>
            <p14:sldId id="256"/>
            <p14:sldId id="257"/>
          </p14:sldIdLst>
        </p14:section>
        <p14:section name="Impact" id="{bbca0a7b-0dab-1fc8-d2f8-7499e4b838ed}">
          <p14:sldIdLst>
            <p14:sldId id="258"/>
            <p14:sldId id="259"/>
          </p14:sldIdLst>
        </p14:section>
        <p14:section name="Demo" id="{9048e9d6-cf3c-0325-1b80-d6b5e9764ff1}">
          <p14:sldIdLst>
            <p14:sldId id="260"/>
            <p14:sldId id="261"/>
            <p14:sldId id="262"/>
            <p14:sldId id="263"/>
            <p14:sldId id="264"/>
            <p14:sldId id="265"/>
          </p14:sldIdLst>
        </p14:section>
        <p14:section name="Use of Meta AI" id="{b8bf62c0-0206-933d-f278-054ec75914f8}">
          <p14:sldIdLst>
            <p14:sldId id="266"/>
            <p14:sldId id="267"/>
            <p14:sldId id="268"/>
            <p14:sldId id="269"/>
          </p14:sldIdLst>
        </p14:section>
        <p14:section name="Technical depth" id="{45da17ab-6d1b-192f-ee8b-53b3aa3cfc0e}">
          <p14:sldIdLst>
            <p14:sldId id="270"/>
            <p14:sldId id="271"/>
            <p14:sldId id="272"/>
            <p14:sldId id="273"/>
            <p14:sldId id="274"/>
            <p14:sldId id="275"/>
            <p14:sldId id="276"/>
            <p14:sldId id="277"/>
          </p14:sldIdLst>
        </p14:section>
        <p14:section name="Architecture" id="{f7e64737-9b9a-7200-d0db-9df7ba3f51d5}">
          <p14:sldIdLst>
            <p14:sldId id="278"/>
          </p14:sldIdLst>
        </p14:section>
        <p14:section name="Close" id="{9b6dfd3a-cd2d-5d18-6aa9-f65476e44dba}">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的東西：14 個 Meta 模型（10 個開放權重在我自己的伺服器上跑，4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14 Meta models, 10 on hardware I own</a:t>
            </a:r>
            <a:endParaRPr lang="en-US" sz="1400" dirty="0"/>
          </a:p>
        </p:txBody>
      </p:sp>
      <p:sp>
        <p:nvSpPr>
          <p:cNvPr id="12" name="Shape 9"/>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3"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4" name="Shape 10"/>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5"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14 Meta models and Meta's apps, each with a job</a:t>
            </a:r>
            <a:endParaRPr lang="en-US" sz="3200" dirty="0"/>
          </a:p>
        </p:txBody>
      </p:sp>
      <p:sp>
        <p:nvSpPr>
          <p:cNvPr id="5" name="Shape 2"/>
          <p:cNvSpPr/>
          <p:nvPr/>
        </p:nvSpPr>
        <p:spPr>
          <a:xfrm>
            <a:off x="548640" y="1645920"/>
            <a:ext cx="2121408"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94944" y="1764792"/>
            <a:ext cx="1554480" cy="228600"/>
          </a:xfrm>
          <a:prstGeom prst="rect">
            <a:avLst/>
          </a:prstGeom>
          <a:noFill/>
          <a:ln/>
        </p:spPr>
        <p:txBody>
          <a:bodyPr wrap="square" lIns="0" tIns="0" rIns="0" bIns="0" rtlCol="0" anchor="t"/>
          <a:lstStyle/>
          <a:p>
            <a:pPr indent="0" marL="0">
              <a:buNone/>
            </a:pPr>
            <a:r>
              <a:rPr lang="en-US" sz="950" b="1" spc="100" kern="0" dirty="0">
                <a:solidFill>
                  <a:srgbClr val="0A7F44"/>
                </a:solidFill>
              </a:rPr>
              <a:t>REASONING</a:t>
            </a:r>
            <a:endParaRPr lang="en-US" sz="950" dirty="0"/>
          </a:p>
        </p:txBody>
      </p:sp>
      <p:sp>
        <p:nvSpPr>
          <p:cNvPr id="7" name="Text 4"/>
          <p:cNvSpPr txBox="1"/>
          <p:nvPr/>
        </p:nvSpPr>
        <p:spPr>
          <a:xfrm>
            <a:off x="694944"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Glimmer</a:t>
            </a:r>
            <a:endParaRPr lang="en-US" sz="1400" dirty="0"/>
          </a:p>
        </p:txBody>
      </p:sp>
      <p:sp>
        <p:nvSpPr>
          <p:cNvPr id="8" name="Text 5"/>
          <p:cNvSpPr txBox="1"/>
          <p:nvPr/>
        </p:nvSpPr>
        <p:spPr>
          <a:xfrm>
            <a:off x="694944"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Every agent: the tool loop, members' decisions, photos, courts, captions</a:t>
            </a:r>
            <a:endParaRPr lang="en-US" sz="950" dirty="0"/>
          </a:p>
        </p:txBody>
      </p:sp>
      <p:sp>
        <p:nvSpPr>
          <p:cNvPr id="9" name="Text 6"/>
          <p:cNvSpPr txBox="1"/>
          <p:nvPr/>
        </p:nvSpPr>
        <p:spPr>
          <a:xfrm>
            <a:off x="694944"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RTX 3090 · Ollama · 4 in parallel</a:t>
            </a:r>
            <a:endParaRPr lang="en-US" sz="900" dirty="0"/>
          </a:p>
        </p:txBody>
      </p:sp>
      <p:sp>
        <p:nvSpPr>
          <p:cNvPr id="10" name="Shape 7"/>
          <p:cNvSpPr/>
          <p:nvPr/>
        </p:nvSpPr>
        <p:spPr>
          <a:xfrm>
            <a:off x="2779776" y="1645920"/>
            <a:ext cx="2121408"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926080" y="1764792"/>
            <a:ext cx="1554480" cy="228600"/>
          </a:xfrm>
          <a:prstGeom prst="rect">
            <a:avLst/>
          </a:prstGeom>
          <a:noFill/>
          <a:ln/>
        </p:spPr>
        <p:txBody>
          <a:bodyPr wrap="square" lIns="0" tIns="0" rIns="0" bIns="0" rtlCol="0" anchor="t"/>
          <a:lstStyle/>
          <a:p>
            <a:pPr indent="0" marL="0">
              <a:buNone/>
            </a:pPr>
            <a:r>
              <a:rPr lang="en-US" sz="950" b="1" spc="100" kern="0" dirty="0">
                <a:solidFill>
                  <a:srgbClr val="0A7F44"/>
                </a:solidFill>
              </a:rPr>
              <a:t>REASONING</a:t>
            </a:r>
            <a:endParaRPr lang="en-US" sz="950" dirty="0"/>
          </a:p>
        </p:txBody>
      </p:sp>
      <p:sp>
        <p:nvSpPr>
          <p:cNvPr id="12" name="Text 9"/>
          <p:cNvSpPr txBox="1"/>
          <p:nvPr/>
        </p:nvSpPr>
        <p:spPr>
          <a:xfrm>
            <a:off x="2926080"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Llama 3.2 1B</a:t>
            </a:r>
            <a:endParaRPr lang="en-US" sz="1400" dirty="0"/>
          </a:p>
        </p:txBody>
      </p:sp>
      <p:sp>
        <p:nvSpPr>
          <p:cNvPr id="13" name="Text 10"/>
          <p:cNvSpPr txBox="1"/>
          <p:nvPr/>
        </p:nvSpPr>
        <p:spPr>
          <a:xfrm>
            <a:off x="2926080"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Distilled from Glimmer; answers 54–67% of members' decisions when sure</a:t>
            </a:r>
            <a:endParaRPr lang="en-US" sz="950" dirty="0"/>
          </a:p>
        </p:txBody>
      </p:sp>
      <p:sp>
        <p:nvSpPr>
          <p:cNvPr id="14" name="Text 11"/>
          <p:cNvSpPr txBox="1"/>
          <p:nvPr/>
        </p:nvSpPr>
        <p:spPr>
          <a:xfrm>
            <a:off x="2926080"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simulated club</a:t>
            </a:r>
            <a:endParaRPr lang="en-US" sz="900" dirty="0"/>
          </a:p>
        </p:txBody>
      </p:sp>
      <p:sp>
        <p:nvSpPr>
          <p:cNvPr id="15" name="Shape 12"/>
          <p:cNvSpPr/>
          <p:nvPr/>
        </p:nvSpPr>
        <p:spPr>
          <a:xfrm>
            <a:off x="5010912" y="1645920"/>
            <a:ext cx="2121408"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5157216" y="1764792"/>
            <a:ext cx="1554480" cy="228600"/>
          </a:xfrm>
          <a:prstGeom prst="rect">
            <a:avLst/>
          </a:prstGeom>
          <a:noFill/>
          <a:ln/>
        </p:spPr>
        <p:txBody>
          <a:bodyPr wrap="square" lIns="0" tIns="0" rIns="0" bIns="0" rtlCol="0" anchor="t"/>
          <a:lstStyle/>
          <a:p>
            <a:pPr indent="0" marL="0">
              <a:buNone/>
            </a:pPr>
            <a:r>
              <a:rPr lang="en-US" sz="950" b="1" spc="100" kern="0" dirty="0">
                <a:solidFill>
                  <a:srgbClr val="D1352B"/>
                </a:solidFill>
              </a:rPr>
              <a:t>SAFETY</a:t>
            </a:r>
            <a:endParaRPr lang="en-US" sz="950" dirty="0"/>
          </a:p>
        </p:txBody>
      </p:sp>
      <p:sp>
        <p:nvSpPr>
          <p:cNvPr id="17" name="Text 14"/>
          <p:cNvSpPr txBox="1"/>
          <p:nvPr/>
        </p:nvSpPr>
        <p:spPr>
          <a:xfrm>
            <a:off x="5157216"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Llama Guard 3 1B</a:t>
            </a:r>
            <a:endParaRPr lang="en-US" sz="1400" dirty="0"/>
          </a:p>
        </p:txBody>
      </p:sp>
      <p:sp>
        <p:nvSpPr>
          <p:cNvPr id="18" name="Text 15"/>
          <p:cNvSpPr txBox="1"/>
          <p:nvPr/>
        </p:nvSpPr>
        <p:spPr>
          <a:xfrm>
            <a:off x="5157216"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What you write, what a model writes, every idea shared with the club</a:t>
            </a:r>
            <a:endParaRPr lang="en-US" sz="950" dirty="0"/>
          </a:p>
        </p:txBody>
      </p:sp>
      <p:sp>
        <p:nvSpPr>
          <p:cNvPr id="19" name="Text 16"/>
          <p:cNvSpPr txBox="1"/>
          <p:nvPr/>
        </p:nvSpPr>
        <p:spPr>
          <a:xfrm>
            <a:off x="5157216"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a:t>
            </a:r>
            <a:endParaRPr lang="en-US" sz="900" dirty="0"/>
          </a:p>
        </p:txBody>
      </p:sp>
      <p:sp>
        <p:nvSpPr>
          <p:cNvPr id="20" name="Shape 17"/>
          <p:cNvSpPr/>
          <p:nvPr/>
        </p:nvSpPr>
        <p:spPr>
          <a:xfrm>
            <a:off x="7242048" y="1645920"/>
            <a:ext cx="2121408"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7388352" y="1764792"/>
            <a:ext cx="1554480" cy="228600"/>
          </a:xfrm>
          <a:prstGeom prst="rect">
            <a:avLst/>
          </a:prstGeom>
          <a:noFill/>
          <a:ln/>
        </p:spPr>
        <p:txBody>
          <a:bodyPr wrap="square" lIns="0" tIns="0" rIns="0" bIns="0" rtlCol="0" anchor="t"/>
          <a:lstStyle/>
          <a:p>
            <a:pPr indent="0" marL="0">
              <a:buNone/>
            </a:pPr>
            <a:r>
              <a:rPr lang="en-US" sz="950" b="1" spc="100" kern="0" dirty="0">
                <a:solidFill>
                  <a:srgbClr val="D1352B"/>
                </a:solidFill>
              </a:rPr>
              <a:t>SAFETY</a:t>
            </a:r>
            <a:endParaRPr lang="en-US" sz="950" dirty="0"/>
          </a:p>
        </p:txBody>
      </p:sp>
      <p:sp>
        <p:nvSpPr>
          <p:cNvPr id="22" name="Text 19"/>
          <p:cNvSpPr txBox="1"/>
          <p:nvPr/>
        </p:nvSpPr>
        <p:spPr>
          <a:xfrm>
            <a:off x="7388352"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Prompt Guard 2</a:t>
            </a:r>
            <a:endParaRPr lang="en-US" sz="1400" dirty="0"/>
          </a:p>
        </p:txBody>
      </p:sp>
      <p:sp>
        <p:nvSpPr>
          <p:cNvPr id="23" name="Text 20"/>
          <p:cNvSpPr txBox="1"/>
          <p:nvPr/>
        </p:nvSpPr>
        <p:spPr>
          <a:xfrm>
            <a:off x="7388352"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Google reviews before the court judge reads them; shared ideas</a:t>
            </a:r>
            <a:endParaRPr lang="en-US" sz="950" dirty="0"/>
          </a:p>
        </p:txBody>
      </p:sp>
      <p:sp>
        <p:nvSpPr>
          <p:cNvPr id="24" name="Text 21"/>
          <p:cNvSpPr txBox="1"/>
          <p:nvPr/>
        </p:nvSpPr>
        <p:spPr>
          <a:xfrm>
            <a:off x="7388352"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86M</a:t>
            </a:r>
            <a:endParaRPr lang="en-US" sz="900" dirty="0"/>
          </a:p>
        </p:txBody>
      </p:sp>
      <p:sp>
        <p:nvSpPr>
          <p:cNvPr id="25" name="Shape 22"/>
          <p:cNvSpPr/>
          <p:nvPr/>
        </p:nvSpPr>
        <p:spPr>
          <a:xfrm>
            <a:off x="9473184" y="1645920"/>
            <a:ext cx="2121408"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9619488" y="1764792"/>
            <a:ext cx="1554480" cy="228600"/>
          </a:xfrm>
          <a:prstGeom prst="rect">
            <a:avLst/>
          </a:prstGeom>
          <a:noFill/>
          <a:ln/>
        </p:spPr>
        <p:txBody>
          <a:bodyPr wrap="square" lIns="0" tIns="0" rIns="0" bIns="0" rtlCol="0" anchor="t"/>
          <a:lstStyle/>
          <a:p>
            <a:pPr indent="0" marL="0">
              <a:buNone/>
            </a:pPr>
            <a:r>
              <a:rPr lang="en-US" sz="950" b="1" spc="100" kern="0" dirty="0">
                <a:solidFill>
                  <a:srgbClr val="55555C"/>
                </a:solidFill>
              </a:rPr>
              <a:t>MEMORY</a:t>
            </a:r>
            <a:endParaRPr lang="en-US" sz="950" dirty="0"/>
          </a:p>
        </p:txBody>
      </p:sp>
      <p:sp>
        <p:nvSpPr>
          <p:cNvPr id="27" name="Text 24"/>
          <p:cNvSpPr txBox="1"/>
          <p:nvPr/>
        </p:nvSpPr>
        <p:spPr>
          <a:xfrm>
            <a:off x="9619488" y="199339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DRAMA</a:t>
            </a:r>
            <a:endParaRPr lang="en-US" sz="1400" dirty="0"/>
          </a:p>
        </p:txBody>
      </p:sp>
      <p:sp>
        <p:nvSpPr>
          <p:cNvPr id="28" name="Text 25"/>
          <p:cNvSpPr txBox="1"/>
          <p:nvPr/>
        </p:nvSpPr>
        <p:spPr>
          <a:xfrm>
            <a:off x="9619488" y="2286000"/>
            <a:ext cx="1865376" cy="457200"/>
          </a:xfrm>
          <a:prstGeom prst="rect">
            <a:avLst/>
          </a:prstGeom>
          <a:noFill/>
          <a:ln/>
        </p:spPr>
        <p:txBody>
          <a:bodyPr wrap="square" lIns="0" tIns="0" rIns="0" bIns="0" rtlCol="0" anchor="t"/>
          <a:lstStyle/>
          <a:p>
            <a:pPr indent="0" marL="0">
              <a:buNone/>
            </a:pPr>
            <a:r>
              <a:rPr lang="en-US" sz="950" dirty="0">
                <a:solidFill>
                  <a:srgbClr val="0A0A0B"/>
                </a:solidFill>
              </a:rPr>
              <a:t>Finds what matters for your week by meaning (RAG); groups the club's ideas</a:t>
            </a:r>
            <a:endParaRPr lang="en-US" sz="950" dirty="0"/>
          </a:p>
        </p:txBody>
      </p:sp>
      <p:sp>
        <p:nvSpPr>
          <p:cNvPr id="29" name="Text 26"/>
          <p:cNvSpPr txBox="1"/>
          <p:nvPr/>
        </p:nvSpPr>
        <p:spPr>
          <a:xfrm>
            <a:off x="9619488" y="2743200"/>
            <a:ext cx="1883664" cy="201168"/>
          </a:xfrm>
          <a:prstGeom prst="rect">
            <a:avLst/>
          </a:prstGeom>
          <a:noFill/>
          <a:ln/>
        </p:spPr>
        <p:txBody>
          <a:bodyPr wrap="square" lIns="0" tIns="0" rIns="0" bIns="0" rtlCol="0" anchor="t"/>
          <a:lstStyle/>
          <a:p>
            <a:pPr indent="0" marL="0">
              <a:buNone/>
            </a:pPr>
            <a:r>
              <a:rPr lang="en-US" sz="900" dirty="0">
                <a:solidFill>
                  <a:srgbClr val="55555C"/>
                </a:solidFill>
              </a:rPr>
              <a:t>CPU</a:t>
            </a:r>
            <a:endParaRPr lang="en-US" sz="900" dirty="0"/>
          </a:p>
        </p:txBody>
      </p:sp>
      <p:sp>
        <p:nvSpPr>
          <p:cNvPr id="30" name="Shape 27"/>
          <p:cNvSpPr/>
          <p:nvPr/>
        </p:nvSpPr>
        <p:spPr>
          <a:xfrm>
            <a:off x="548640" y="3108960"/>
            <a:ext cx="2121408"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694944" y="3227832"/>
            <a:ext cx="1554480" cy="228600"/>
          </a:xfrm>
          <a:prstGeom prst="rect">
            <a:avLst/>
          </a:prstGeom>
          <a:noFill/>
          <a:ln/>
        </p:spPr>
        <p:txBody>
          <a:bodyPr wrap="square" lIns="0" tIns="0" rIns="0" bIns="0" rtlCol="0" anchor="t"/>
          <a:lstStyle/>
          <a:p>
            <a:pPr indent="0" marL="0">
              <a:buNone/>
            </a:pPr>
            <a:r>
              <a:rPr lang="en-US" sz="950" b="1" spc="100" kern="0" dirty="0">
                <a:solidFill>
                  <a:srgbClr val="55555C"/>
                </a:solidFill>
              </a:rPr>
              <a:t>VOICE</a:t>
            </a:r>
            <a:endParaRPr lang="en-US" sz="950" dirty="0"/>
          </a:p>
        </p:txBody>
      </p:sp>
      <p:sp>
        <p:nvSpPr>
          <p:cNvPr id="32" name="Text 29"/>
          <p:cNvSpPr txBox="1"/>
          <p:nvPr/>
        </p:nvSpPr>
        <p:spPr>
          <a:xfrm>
            <a:off x="694944"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Omnilingual ASR</a:t>
            </a:r>
            <a:endParaRPr lang="en-US" sz="1400" dirty="0"/>
          </a:p>
        </p:txBody>
      </p:sp>
      <p:sp>
        <p:nvSpPr>
          <p:cNvPr id="33" name="Text 30"/>
          <p:cNvSpPr txBox="1"/>
          <p:nvPr/>
        </p:nvSpPr>
        <p:spPr>
          <a:xfrm>
            <a:off x="694944"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Voice notes in Messenger to text</a:t>
            </a:r>
            <a:endParaRPr lang="en-US" sz="950" dirty="0"/>
          </a:p>
        </p:txBody>
      </p:sp>
      <p:sp>
        <p:nvSpPr>
          <p:cNvPr id="34" name="Text 31"/>
          <p:cNvSpPr txBox="1"/>
          <p:nvPr/>
        </p:nvSpPr>
        <p:spPr>
          <a:xfrm>
            <a:off x="694944"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CPU · CTC 1B</a:t>
            </a:r>
            <a:endParaRPr lang="en-US" sz="900" dirty="0"/>
          </a:p>
        </p:txBody>
      </p:sp>
      <p:sp>
        <p:nvSpPr>
          <p:cNvPr id="35" name="Shape 32"/>
          <p:cNvSpPr/>
          <p:nvPr/>
        </p:nvSpPr>
        <p:spPr>
          <a:xfrm>
            <a:off x="2779776" y="3108960"/>
            <a:ext cx="2121408"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2926080"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37" name="Text 34"/>
          <p:cNvSpPr txBox="1"/>
          <p:nvPr/>
        </p:nvSpPr>
        <p:spPr>
          <a:xfrm>
            <a:off x="2926080"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DETR</a:t>
            </a:r>
            <a:endParaRPr lang="en-US" sz="1400" dirty="0"/>
          </a:p>
        </p:txBody>
      </p:sp>
      <p:sp>
        <p:nvSpPr>
          <p:cNvPr id="38" name="Text 35"/>
          <p:cNvSpPr txBox="1"/>
          <p:nvPr/>
        </p:nvSpPr>
        <p:spPr>
          <a:xfrm>
            <a:off x="2926080"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Finds the people in your video, so the reel follows you</a:t>
            </a:r>
            <a:endParaRPr lang="en-US" sz="950" dirty="0"/>
          </a:p>
        </p:txBody>
      </p:sp>
      <p:sp>
        <p:nvSpPr>
          <p:cNvPr id="39" name="Text 36"/>
          <p:cNvSpPr txBox="1"/>
          <p:nvPr/>
        </p:nvSpPr>
        <p:spPr>
          <a:xfrm>
            <a:off x="2926080"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a:t>
            </a:r>
            <a:endParaRPr lang="en-US" sz="900" dirty="0"/>
          </a:p>
        </p:txBody>
      </p:sp>
      <p:sp>
        <p:nvSpPr>
          <p:cNvPr id="40" name="Shape 37"/>
          <p:cNvSpPr/>
          <p:nvPr/>
        </p:nvSpPr>
        <p:spPr>
          <a:xfrm>
            <a:off x="5010912" y="3108960"/>
            <a:ext cx="2121408"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5157216"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42" name="Text 39"/>
          <p:cNvSpPr txBox="1"/>
          <p:nvPr/>
        </p:nvSpPr>
        <p:spPr>
          <a:xfrm>
            <a:off x="5157216"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Sapiens2</a:t>
            </a:r>
            <a:endParaRPr lang="en-US" sz="1400" dirty="0"/>
          </a:p>
        </p:txBody>
      </p:sp>
      <p:sp>
        <p:nvSpPr>
          <p:cNvPr id="43" name="Text 40"/>
          <p:cNvSpPr txBox="1"/>
          <p:nvPr/>
        </p:nvSpPr>
        <p:spPr>
          <a:xfrm>
            <a:off x="5157216"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Every player's pose on every frame; finds the moment</a:t>
            </a:r>
            <a:endParaRPr lang="en-US" sz="950" dirty="0"/>
          </a:p>
        </p:txBody>
      </p:sp>
      <p:sp>
        <p:nvSpPr>
          <p:cNvPr id="44" name="Text 41"/>
          <p:cNvSpPr txBox="1"/>
          <p:nvPr/>
        </p:nvSpPr>
        <p:spPr>
          <a:xfrm>
            <a:off x="5157216"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0.4B</a:t>
            </a:r>
            <a:endParaRPr lang="en-US" sz="900" dirty="0"/>
          </a:p>
        </p:txBody>
      </p:sp>
      <p:sp>
        <p:nvSpPr>
          <p:cNvPr id="45" name="Shape 42"/>
          <p:cNvSpPr/>
          <p:nvPr/>
        </p:nvSpPr>
        <p:spPr>
          <a:xfrm>
            <a:off x="7242048" y="3108960"/>
            <a:ext cx="2121408"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7388352"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VISION</a:t>
            </a:r>
            <a:endParaRPr lang="en-US" sz="950" dirty="0"/>
          </a:p>
        </p:txBody>
      </p:sp>
      <p:sp>
        <p:nvSpPr>
          <p:cNvPr id="47" name="Text 44"/>
          <p:cNvSpPr txBox="1"/>
          <p:nvPr/>
        </p:nvSpPr>
        <p:spPr>
          <a:xfrm>
            <a:off x="7388352"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SAM 2.1</a:t>
            </a:r>
            <a:endParaRPr lang="en-US" sz="1400" dirty="0"/>
          </a:p>
        </p:txBody>
      </p:sp>
      <p:sp>
        <p:nvSpPr>
          <p:cNvPr id="48" name="Text 45"/>
          <p:cNvSpPr txBox="1"/>
          <p:nvPr/>
        </p:nvSpPr>
        <p:spPr>
          <a:xfrm>
            <a:off x="7388352"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Cuts each player out for the spotlight and the drawn view</a:t>
            </a:r>
            <a:endParaRPr lang="en-US" sz="950" dirty="0"/>
          </a:p>
        </p:txBody>
      </p:sp>
      <p:sp>
        <p:nvSpPr>
          <p:cNvPr id="49" name="Text 46"/>
          <p:cNvSpPr txBox="1"/>
          <p:nvPr/>
        </p:nvSpPr>
        <p:spPr>
          <a:xfrm>
            <a:off x="7388352"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Hiera-L</a:t>
            </a:r>
            <a:endParaRPr lang="en-US" sz="900" dirty="0"/>
          </a:p>
        </p:txBody>
      </p:sp>
      <p:sp>
        <p:nvSpPr>
          <p:cNvPr id="50" name="Shape 47"/>
          <p:cNvSpPr/>
          <p:nvPr/>
        </p:nvSpPr>
        <p:spPr>
          <a:xfrm>
            <a:off x="9473184" y="3108960"/>
            <a:ext cx="2121408"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9619488" y="322783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3D</a:t>
            </a:r>
            <a:endParaRPr lang="en-US" sz="950" dirty="0"/>
          </a:p>
        </p:txBody>
      </p:sp>
      <p:sp>
        <p:nvSpPr>
          <p:cNvPr id="52" name="Text 49"/>
          <p:cNvSpPr txBox="1"/>
          <p:nvPr/>
        </p:nvSpPr>
        <p:spPr>
          <a:xfrm>
            <a:off x="9619488" y="345643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MapAnything</a:t>
            </a:r>
            <a:endParaRPr lang="en-US" sz="1400" dirty="0"/>
          </a:p>
        </p:txBody>
      </p:sp>
      <p:sp>
        <p:nvSpPr>
          <p:cNvPr id="53" name="Text 50"/>
          <p:cNvSpPr txBox="1"/>
          <p:nvPr/>
        </p:nvSpPr>
        <p:spPr>
          <a:xfrm>
            <a:off x="9619488" y="3749040"/>
            <a:ext cx="1865376" cy="457200"/>
          </a:xfrm>
          <a:prstGeom prst="rect">
            <a:avLst/>
          </a:prstGeom>
          <a:noFill/>
          <a:ln/>
        </p:spPr>
        <p:txBody>
          <a:bodyPr wrap="square" lIns="0" tIns="0" rIns="0" bIns="0" rtlCol="0" anchor="t"/>
          <a:lstStyle/>
          <a:p>
            <a:pPr indent="0" marL="0">
              <a:buNone/>
            </a:pPr>
            <a:r>
              <a:rPr lang="en-US" sz="950" dirty="0">
                <a:solidFill>
                  <a:srgbClr val="0A0A0B"/>
                </a:solidFill>
              </a:rPr>
              <a:t>Depth and the camera for the orbit camera effect</a:t>
            </a:r>
            <a:endParaRPr lang="en-US" sz="950" dirty="0"/>
          </a:p>
        </p:txBody>
      </p:sp>
      <p:sp>
        <p:nvSpPr>
          <p:cNvPr id="54" name="Text 51"/>
          <p:cNvSpPr txBox="1"/>
          <p:nvPr/>
        </p:nvSpPr>
        <p:spPr>
          <a:xfrm>
            <a:off x="9619488" y="4206240"/>
            <a:ext cx="1883664" cy="201168"/>
          </a:xfrm>
          <a:prstGeom prst="rect">
            <a:avLst/>
          </a:prstGeom>
          <a:noFill/>
          <a:ln/>
        </p:spPr>
        <p:txBody>
          <a:bodyPr wrap="square" lIns="0" tIns="0" rIns="0" bIns="0" rtlCol="0" anchor="t"/>
          <a:lstStyle/>
          <a:p>
            <a:pPr indent="0" marL="0">
              <a:buNone/>
            </a:pPr>
            <a:r>
              <a:rPr lang="en-US" sz="900" dirty="0">
                <a:solidFill>
                  <a:srgbClr val="55555C"/>
                </a:solidFill>
              </a:rPr>
              <a:t>GPU · optional effect</a:t>
            </a:r>
            <a:endParaRPr lang="en-US" sz="900" dirty="0"/>
          </a:p>
        </p:txBody>
      </p:sp>
      <p:sp>
        <p:nvSpPr>
          <p:cNvPr id="55" name="Shape 52"/>
          <p:cNvSpPr/>
          <p:nvPr/>
        </p:nvSpPr>
        <p:spPr>
          <a:xfrm>
            <a:off x="548640" y="4572000"/>
            <a:ext cx="2121408"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694944"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57" name="Text 54"/>
          <p:cNvSpPr txBox="1"/>
          <p:nvPr/>
        </p:nvSpPr>
        <p:spPr>
          <a:xfrm>
            <a:off x="694944"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Spark 1.3</a:t>
            </a:r>
            <a:endParaRPr lang="en-US" sz="1400" dirty="0"/>
          </a:p>
        </p:txBody>
      </p:sp>
      <p:sp>
        <p:nvSpPr>
          <p:cNvPr id="58" name="Text 55"/>
          <p:cNvSpPr txBox="1"/>
          <p:nvPr/>
        </p:nvSpPr>
        <p:spPr>
          <a:xfrm>
            <a:off x="694944"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The fallback when my GPU can't answer: the same call, once</a:t>
            </a:r>
            <a:endParaRPr lang="en-US" sz="950" dirty="0"/>
          </a:p>
        </p:txBody>
      </p:sp>
      <p:sp>
        <p:nvSpPr>
          <p:cNvPr id="59" name="Text 56"/>
          <p:cNvSpPr txBox="1"/>
          <p:nvPr/>
        </p:nvSpPr>
        <p:spPr>
          <a:xfrm>
            <a:off x="694944"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tested live</a:t>
            </a:r>
            <a:endParaRPr lang="en-US" sz="900" dirty="0"/>
          </a:p>
        </p:txBody>
      </p:sp>
      <p:sp>
        <p:nvSpPr>
          <p:cNvPr id="60" name="Shape 57"/>
          <p:cNvSpPr/>
          <p:nvPr/>
        </p:nvSpPr>
        <p:spPr>
          <a:xfrm>
            <a:off x="2779776" y="4572000"/>
            <a:ext cx="2121408"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2926080"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62" name="Text 59"/>
          <p:cNvSpPr txBox="1"/>
          <p:nvPr/>
        </p:nvSpPr>
        <p:spPr>
          <a:xfrm>
            <a:off x="2926080"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SAM 3.1</a:t>
            </a:r>
            <a:endParaRPr lang="en-US" sz="1400" dirty="0"/>
          </a:p>
        </p:txBody>
      </p:sp>
      <p:sp>
        <p:nvSpPr>
          <p:cNvPr id="63" name="Text 60"/>
          <p:cNvSpPr txBox="1"/>
          <p:nvPr/>
        </p:nvSpPr>
        <p:spPr>
          <a:xfrm>
            <a:off x="2926080"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Checked on the smash against SAM 2.1: same player, IoU 0.97</a:t>
            </a:r>
            <a:endParaRPr lang="en-US" sz="950" dirty="0"/>
          </a:p>
        </p:txBody>
      </p:sp>
      <p:sp>
        <p:nvSpPr>
          <p:cNvPr id="64" name="Text 61"/>
          <p:cNvSpPr txBox="1"/>
          <p:nvPr/>
        </p:nvSpPr>
        <p:spPr>
          <a:xfrm>
            <a:off x="2926080"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one call</a:t>
            </a:r>
            <a:endParaRPr lang="en-US" sz="900" dirty="0"/>
          </a:p>
        </p:txBody>
      </p:sp>
      <p:sp>
        <p:nvSpPr>
          <p:cNvPr id="65" name="Shape 62"/>
          <p:cNvSpPr/>
          <p:nvPr/>
        </p:nvSpPr>
        <p:spPr>
          <a:xfrm>
            <a:off x="5010912" y="4572000"/>
            <a:ext cx="2121408"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5157216"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67" name="Text 64"/>
          <p:cNvSpPr txBox="1"/>
          <p:nvPr/>
        </p:nvSpPr>
        <p:spPr>
          <a:xfrm>
            <a:off x="5157216"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Image</a:t>
            </a:r>
            <a:endParaRPr lang="en-US" sz="1400" dirty="0"/>
          </a:p>
        </p:txBody>
      </p:sp>
      <p:sp>
        <p:nvSpPr>
          <p:cNvPr id="68" name="Text 65"/>
          <p:cNvSpPr txBox="1"/>
          <p:nvPr/>
        </p:nvSpPr>
        <p:spPr>
          <a:xfrm>
            <a:off x="5157216"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Rematch poster art; a face for every agent, made once</a:t>
            </a:r>
            <a:endParaRPr lang="en-US" sz="950" dirty="0"/>
          </a:p>
        </p:txBody>
      </p:sp>
      <p:sp>
        <p:nvSpPr>
          <p:cNvPr id="69" name="Text 66"/>
          <p:cNvSpPr txBox="1"/>
          <p:nvPr/>
        </p:nvSpPr>
        <p:spPr>
          <a:xfrm>
            <a:off x="5157216"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$0.01 an image</a:t>
            </a:r>
            <a:endParaRPr lang="en-US" sz="900" dirty="0"/>
          </a:p>
        </p:txBody>
      </p:sp>
      <p:sp>
        <p:nvSpPr>
          <p:cNvPr id="70" name="Shape 67"/>
          <p:cNvSpPr/>
          <p:nvPr/>
        </p:nvSpPr>
        <p:spPr>
          <a:xfrm>
            <a:off x="7242048" y="4572000"/>
            <a:ext cx="2121408"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7388352" y="4690872"/>
            <a:ext cx="1554480" cy="228600"/>
          </a:xfrm>
          <a:prstGeom prst="rect">
            <a:avLst/>
          </a:prstGeom>
          <a:noFill/>
          <a:ln/>
        </p:spPr>
        <p:txBody>
          <a:bodyPr wrap="square" lIns="0" tIns="0" rIns="0" bIns="0" rtlCol="0" anchor="t"/>
          <a:lstStyle/>
          <a:p>
            <a:pPr indent="0" marL="0">
              <a:buNone/>
            </a:pPr>
            <a:r>
              <a:rPr lang="en-US" sz="950" b="1" spc="100" kern="0" dirty="0">
                <a:solidFill>
                  <a:srgbClr val="B26A00"/>
                </a:solidFill>
              </a:rPr>
              <a:t>META MODEL API</a:t>
            </a:r>
            <a:endParaRPr lang="en-US" sz="950" dirty="0"/>
          </a:p>
        </p:txBody>
      </p:sp>
      <p:sp>
        <p:nvSpPr>
          <p:cNvPr id="72" name="Text 69"/>
          <p:cNvSpPr txBox="1"/>
          <p:nvPr/>
        </p:nvSpPr>
        <p:spPr>
          <a:xfrm>
            <a:off x="7388352"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Muse Voice</a:t>
            </a:r>
            <a:endParaRPr lang="en-US" sz="1400" dirty="0"/>
          </a:p>
        </p:txBody>
      </p:sp>
      <p:sp>
        <p:nvSpPr>
          <p:cNvPr id="73" name="Text 70"/>
          <p:cNvSpPr txBox="1"/>
          <p:nvPr/>
        </p:nvSpPr>
        <p:spPr>
          <a:xfrm>
            <a:off x="7388352"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Transcribe, realtime: talk with your agent and cut in when you like</a:t>
            </a:r>
            <a:endParaRPr lang="en-US" sz="950" dirty="0"/>
          </a:p>
        </p:txBody>
      </p:sp>
      <p:sp>
        <p:nvSpPr>
          <p:cNvPr id="74" name="Text 71"/>
          <p:cNvSpPr txBox="1"/>
          <p:nvPr/>
        </p:nvSpPr>
        <p:spPr>
          <a:xfrm>
            <a:off x="7388352"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Meta Model API · Transcribe</a:t>
            </a:r>
            <a:endParaRPr lang="en-US" sz="900" dirty="0"/>
          </a:p>
        </p:txBody>
      </p:sp>
      <p:sp>
        <p:nvSpPr>
          <p:cNvPr id="75" name="Shape 72"/>
          <p:cNvSpPr/>
          <p:nvPr/>
        </p:nvSpPr>
        <p:spPr>
          <a:xfrm>
            <a:off x="9473184" y="4572000"/>
            <a:ext cx="2121408" cy="1353312"/>
          </a:xfrm>
          <a:prstGeom prst="roundRect">
            <a:avLst>
              <a:gd name="adj" fmla="val 8108"/>
            </a:avLst>
          </a:prstGeom>
          <a:solidFill>
            <a:srgbClr val="FFFFFF"/>
          </a:solidFill>
          <a:ln w="12700">
            <a:solidFill>
              <a:srgbClr val="DCDCE0"/>
            </a:solidFill>
            <a:prstDash val="solid"/>
          </a:ln>
        </p:spPr>
      </p:sp>
      <p:sp>
        <p:nvSpPr>
          <p:cNvPr id="76" name="Text 73"/>
          <p:cNvSpPr txBox="1"/>
          <p:nvPr/>
        </p:nvSpPr>
        <p:spPr>
          <a:xfrm>
            <a:off x="9619488" y="4690872"/>
            <a:ext cx="1554480" cy="228600"/>
          </a:xfrm>
          <a:prstGeom prst="rect">
            <a:avLst/>
          </a:prstGeom>
          <a:noFill/>
          <a:ln/>
        </p:spPr>
        <p:txBody>
          <a:bodyPr wrap="square" lIns="0" tIns="0" rIns="0" bIns="0" rtlCol="0" anchor="t"/>
          <a:lstStyle/>
          <a:p>
            <a:pPr indent="0" marL="0">
              <a:buNone/>
            </a:pPr>
            <a:r>
              <a:rPr lang="en-US" sz="950" b="1" spc="100" kern="0" dirty="0">
                <a:solidFill>
                  <a:srgbClr val="0064E0"/>
                </a:solidFill>
              </a:rPr>
              <a:t>PRODUCT</a:t>
            </a:r>
            <a:endParaRPr lang="en-US" sz="950" dirty="0"/>
          </a:p>
        </p:txBody>
      </p:sp>
      <p:pic>
        <p:nvPicPr>
          <p:cNvPr id="77" name="Image 0" descr="preencoded.png">    </p:cNvPr>
          <p:cNvPicPr>
            <a:picLocks noChangeAspect="1"/>
          </p:cNvPicPr>
          <p:nvPr/>
        </p:nvPicPr>
        <p:blipFill>
          <a:blip r:embed="rId1"/>
          <a:stretch>
            <a:fillRect/>
          </a:stretch>
        </p:blipFill>
        <p:spPr>
          <a:xfrm>
            <a:off x="11183112" y="4681728"/>
            <a:ext cx="256032" cy="256032"/>
          </a:xfrm>
          <a:prstGeom prst="rect">
            <a:avLst/>
          </a:prstGeom>
        </p:spPr>
      </p:pic>
      <p:sp>
        <p:nvSpPr>
          <p:cNvPr id="78" name="Text 74"/>
          <p:cNvSpPr txBox="1"/>
          <p:nvPr/>
        </p:nvSpPr>
        <p:spPr>
          <a:xfrm>
            <a:off x="9619488" y="4919472"/>
            <a:ext cx="1664208" cy="292608"/>
          </a:xfrm>
          <a:prstGeom prst="rect">
            <a:avLst/>
          </a:prstGeom>
          <a:noFill/>
          <a:ln/>
        </p:spPr>
        <p:txBody>
          <a:bodyPr wrap="square" lIns="0" tIns="0" rIns="0" bIns="0" rtlCol="0" anchor="t"/>
          <a:lstStyle/>
          <a:p>
            <a:pPr indent="0" marL="0">
              <a:buNone/>
            </a:pPr>
            <a:r>
              <a:rPr lang="en-US" sz="1400" b="1" dirty="0">
                <a:solidFill>
                  <a:srgbClr val="0A0A0B"/>
                </a:solidFill>
              </a:rPr>
              <a:t>Messenger · FB · IG</a:t>
            </a:r>
            <a:endParaRPr lang="en-US" sz="1400" dirty="0"/>
          </a:p>
        </p:txBody>
      </p:sp>
      <p:sp>
        <p:nvSpPr>
          <p:cNvPr id="79" name="Text 75"/>
          <p:cNvSpPr txBox="1"/>
          <p:nvPr/>
        </p:nvSpPr>
        <p:spPr>
          <a:xfrm>
            <a:off x="9619488" y="5212080"/>
            <a:ext cx="1865376" cy="457200"/>
          </a:xfrm>
          <a:prstGeom prst="rect">
            <a:avLst/>
          </a:prstGeom>
          <a:noFill/>
          <a:ln/>
        </p:spPr>
        <p:txBody>
          <a:bodyPr wrap="square" lIns="0" tIns="0" rIns="0" bIns="0" rtlCol="0" anchor="t"/>
          <a:lstStyle/>
          <a:p>
            <a:pPr indent="0" marL="0">
              <a:buNone/>
            </a:pPr>
            <a:r>
              <a:rPr lang="en-US" sz="950" dirty="0">
                <a:solidFill>
                  <a:srgbClr val="0A0A0B"/>
                </a:solidFill>
              </a:rPr>
              <a:t>Your agent in your chats; join with Facebook or IG; share reels</a:t>
            </a:r>
            <a:endParaRPr lang="en-US" sz="950" dirty="0"/>
          </a:p>
        </p:txBody>
      </p:sp>
      <p:sp>
        <p:nvSpPr>
          <p:cNvPr id="80" name="Text 76"/>
          <p:cNvSpPr txBox="1"/>
          <p:nvPr/>
        </p:nvSpPr>
        <p:spPr>
          <a:xfrm>
            <a:off x="9619488" y="5669280"/>
            <a:ext cx="1883664" cy="201168"/>
          </a:xfrm>
          <a:prstGeom prst="rect">
            <a:avLst/>
          </a:prstGeom>
          <a:noFill/>
          <a:ln/>
        </p:spPr>
        <p:txBody>
          <a:bodyPr wrap="square" lIns="0" tIns="0" rIns="0" bIns="0" rtlCol="0" anchor="t"/>
          <a:lstStyle/>
          <a:p>
            <a:pPr indent="0" marL="0">
              <a:buNone/>
            </a:pPr>
            <a:r>
              <a:rPr lang="en-US" sz="900" dirty="0">
                <a:solidFill>
                  <a:srgbClr val="55555C"/>
                </a:solidFill>
              </a:rPr>
              <a:t>Webhook · Send API · Login</a:t>
            </a:r>
            <a:endParaRPr lang="en-US" sz="900" dirty="0"/>
          </a:p>
        </p:txBody>
      </p:sp>
      <p:pic>
        <p:nvPicPr>
          <p:cNvPr id="81"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2" name="Text 77"/>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four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65/65</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52/52</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21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257 of 258, 1 skipped (no LlamaFirewall venv)</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52 of 52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65 of 65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65</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2026-10-29T03:31:49Z</dcterms:created>
  <dcterms:modified xsi:type="dcterms:W3CDTF">2026-10-29T03:31:49Z</dcterms:modified>
</cp:coreProperties>
</file>