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4.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id="{b6829275-78d3-0be6-e2a7-badf1b5fad01}">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Lst>
        </p14:section>
        <p14:section name="Appendix" id="{593a1339-fc92-8df1-bb77-3f019b071ab4}">
          <p14:sldIdLst>
            <p14:sldId id="276"/>
            <p14:sldId id="277"/>
            <p14:sldId id="278"/>
            <p14:sldId id="279"/>
            <p14:sldId id="280"/>
            <p14:sldId id="281"/>
            <p14:sldId id="282"/>
            <p14:sldId id="283"/>
            <p14:sldId id="284"/>
            <p14:sldId id="285"/>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A0A0B"/>
                </a:solidFill>
                <a:latin typeface="+mn-lt"/>
              </a:defRPr>
            </a:pPr>
            <a:r>
              <a:rPr sz="1100" b="0" i="0" u="none" strike="noStrike">
                <a:solidFill>
                  <a:srgbClr val="0A0A0B"/>
                </a:solidFill>
                <a:latin typeface="+mn-lt"/>
              </a:rPr>
              <a:t>Agrees with Glimmer, 500 held-out cases, 95% intervals: the same within them</a:t>
            </a:r>
          </a:p>
        </c:rich>
      </c:tx>
      <c:layout/>
      <c:overlay val="0"/>
    </c:title>
    <c:autoTitleDeleted val="0"/>
    <c:plotArea>
      <c:layout/>
      <c:barChart>
        <c:barDir val="bar"/>
        <c:grouping val="clustered"/>
        <c:varyColors val="0"/>
        <c:ser>
          <c:idx val="0"/>
          <c:order val="0"/>
          <c:tx>
            <c:strRef>
              <c:f>Sheet1!$B$1</c:f>
              <c:strCache>
                <c:ptCount val="1"/>
                <c:pt idx="0">
                  <c:v>Agrees with Glimmer's answer</c:v>
                </c:pt>
              </c:strCache>
            </c:strRef>
          </c:tx>
          <c:spPr>
            <a:solidFill>
              <a:srgbClr val="8A8A92"/>
            </a:solidFill>
            <a:effectLst/>
          </c:spPr>
          <c:invertIfNegative val="0"/>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A7F44"/>
              </a:solidFill>
              <a:effectLst/>
            </c:spPr>
          </c:dPt>
          <c:cat>
            <c:multiLvlStrRef>
              <c:f>Sheet1!$A$2:$A$4</c:f>
              <c:multiLvlStrCache>
                <c:ptCount val="3"/>
                <c:lvl>
                  <c:pt idx="0">
                    <c:v>Glimmer vs itself [87.1–90.3]</c:v>
                  </c:pt>
                  <c:pt idx="1">
                    <c:v>First time listed</c:v>
                  </c:pt>
                  <c:pt idx="2">
                    <c:v>1B student [87.9–91.0]</c:v>
                  </c:pt>
                </c:lvl>
              </c:multiLvlStrCache>
            </c:multiLvlStrRef>
          </c:cat>
          <c:val>
            <c:numRef>
              <c:f>Sheet1!$B$2:$B$4</c:f>
              <c:numCache>
                <c:formatCode>General</c:formatCode>
                <c:ptCount val="3"/>
                <c:pt idx="0">
                  <c:v>88.8</c:v>
                </c:pt>
                <c:pt idx="1">
                  <c:v>82.7</c:v>
                </c:pt>
                <c:pt idx="2">
                  <c:v>89.5</c:v>
                </c:pt>
              </c:numCache>
            </c:numRef>
          </c:val>
        </c:ser>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Finding the right note: 20 planning questions, 41 notes each (a small test)</a:t>
            </a:r>
          </a:p>
        </c:rich>
      </c:tx>
      <c:layout/>
      <c:overlay val="0"/>
    </c:title>
    <c:autoTitleDeleted val="0"/>
    <c:plotArea>
      <c:layout/>
      <c:barChart>
        <c:barDir val="col"/>
        <c:grouping val="clustered"/>
        <c:varyColors val="0"/>
        <c:ser>
          <c:idx val="0"/>
          <c:order val="0"/>
          <c:tx>
            <c:strRef>
              <c:f>Sheet1!$B$1</c:f>
              <c:strCache>
                <c:ptCount val="1"/>
                <c:pt idx="0">
                  <c:v>Meta's DRAMA</c:v>
                </c:pt>
              </c:strCache>
            </c:strRef>
          </c:tx>
          <c:spPr>
            <a:solidFill>
              <a:srgbClr val="0064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Sheet1!$B$2:$B$4</c:f>
              <c:numCache>
                <c:formatCode>General</c:formatCode>
                <c:ptCount val="3"/>
                <c:pt idx="0">
                  <c:v>0.6</c:v>
                </c:pt>
                <c:pt idx="1">
                  <c:v>0.75</c:v>
                </c:pt>
                <c:pt idx="2">
                  <c:v>0.696</c:v>
                </c:pt>
              </c:numCache>
            </c:numRef>
          </c:val>
        </c:ser>
        <c:ser>
          <c:idx val="1"/>
          <c:order val="1"/>
          <c:tx>
            <c:strRef>
              <c:f>Sheet1!$C$1</c:f>
              <c:strCache>
                <c:ptCount val="1"/>
                <c:pt idx="0">
                  <c:v>BM25 (words)</c:v>
                </c:pt>
              </c:strCache>
            </c:strRef>
          </c:tx>
          <c:spPr>
            <a:solidFill>
              <a:srgbClr val="DCDC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Sheet1!$C$2:$C$4</c:f>
              <c:numCache>
                <c:formatCode>General</c:formatCode>
                <c:ptCount val="3"/>
                <c:pt idx="0">
                  <c:v>0.35</c:v>
                </c:pt>
                <c:pt idx="1">
                  <c:v>0.45</c:v>
                </c:pt>
                <c:pt idx="2">
                  <c:v>0.422</c:v>
                </c:pt>
              </c:numCache>
            </c:numRef>
          </c:val>
        </c:ser>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的封面頁：Play more. Manage less. 右邊是手機上的社群動態和 Agent 對話。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fitting it around work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示意圖：每個人都有自己的 agent，因為隱私，偏好只有 agent 知道（幾點有空、願意跑多遠、願意付多少），不會攤在群組裡。
左邊是今天：每個 agent 只認識自己的主人，也只能找通訊錄裡的人；朋友沒空就沒有下一步，而陌生人的 agent 又不知道能不能信。
右邊是 Serve：一個讓人和 agent 都能進出的地方。agent 帶著主人的偏好來揪團、找附近的夥伴，彼此只交換「可以／不行／原因」，偏好不離開 agent。
下面三個支柱：AI trust（真人出席率＋agent 守信率，每個 agent 有自己的金鑰、每則訊息都簽章）；Web3 的精神但不用區塊鏈（金鑰在你手上、資料留在你的 agent、社團可以跨伺服器聯盟）；會進化的平台（agent 一直撞到的牆會變成社團的提案，大家投票，經過安全關卡後上線，平台跟著 agent 的需求改變）。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痛點二：人人都會有懂自己的 agent，但沒有一個人和 agent 都能出入的公共場所，agent 只能找通訊錄裡的老朋友；老朋友沒空，你還是打不成。
一旦走出朋友圈，馬上有兩個風險：真人會不會放鳥（人的風險）、對方的 agent 會不會替主人亂答應，或一直問人來拼湊別人的行程（agent 的風險）。
Serve 的解法：願意的人可以讓附近 5 公里內的 agent 來問；每個人有兩份紀錄，都由程式從實際發生的事算出：出席率（賽後球友一鍵確認誰有到，開打前 6 小時內退出算臨時放鳥），和 agent 守信率（agent 替你說 yes 之後你本人也說 yes 的比例），加上「一天問太多 agent」和「簽章失敗」兩個警示。
每場球可以設門檻：出席率不到的人排候補；守信率太低的 agent 不能替主人答應，改問本人。Serve 不收訂金、不經手錢。
右邊的情境是用測試帳號在本機跑出來的真實對話：Dan 的 agent 守信率 52%，所以直接問 Dan 本人；Bob 出席率 33%（3 場），進候補；Leo、Hana、Kenji 的 agent 談好週六 21:00，場館 agent 從 NT$410 談到 NT$280。正式站的紀錄從零開始累積。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上線給真的使用者用：公開網址（Cloudflare tunnel），每位使用者登入後在伺服器上有一個自己的 agent（獨立的 gateway 程序、獨立資料夾），社團、動態、揪團大家共用。
第一天：3 位使用者（5 個帳號）、使用者自己開了 1 個社團（新竹，2 人）、發了 3 個揪團、2 次加入、1 則留言。
左：社團在真地圖上，agent 主動推薦附近的公開社團；右：直接跟 agent 說「週六早上雙打，缺 3 個」，agent 擬好邀請（日期由程式算、最近的球場），按一下就發佈，之後在對話裡看到誰加入。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冷啟動：agent 對 agent 需要雙方都在 Serve 上；第二個人怎麼來？靠邀請連結。跟 agent 說一句 → 分享連結到 LINE、WhatsApp 群組 → 對方沒帳號也能打開，看到球局和剩幾個名額（看不到誰報名）→ 登入一次就自動加入 → 滿團時每個人都收到 Game on，之後他自己的 agent 就能替他回覆。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同一套引擎服務沒有人組織的群體，三種社團都已實作、有單元測試：
1 孩童社團（老師或志工）：一定是私密社團，只有帶隊的人能發活動；孩子不用帳號，只存名字（只有帶隊的人看得到）；勾選今天誰來，程式排輪替，每個孩子上場時間最多差一輪；產生家長接送通知。
2 樂齡社團：社團裡每個揪團由程式把關：08:00–16:00 開始、60 分鐘、最多 8 人、球拍類雙打；不符合就拒絕並說明原因。
3 慈善賽：發起人寫公益對象，參賽者自評等級與認捐（只記錄，Serve 不經手錢）；一鍵抽籤：實力平均的雙打組合、循環賽、場地與時段，同一時段沒有隊伍撞場，貼到社團動態。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Meta 模型精簡版：六個撐起產品的模型（Muse Glimmer、Llama 3.2 1B 學生、Llama Guard 3、Prompt Guard 2、DRAMA、Muse Voice Transcribe），其他九個一行帶過，完整 15 格在附錄。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拿掉一個模型會怎樣：Glimmer（整個 agent 不能運作）、學生模型（每次決策從 0.9 秒變 40 秒，模擬中 Glimmer 回答多 54–67%）、DRAMA（第一個找到對的筆記從 0.60 掉到 0.35）、Llama Guard、Prompt Guard、Muse Voice。標明哪些是量測、哪些是設計上的。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痛點與解法同一頁：
左：記錄了 2,755 次 Muse Glimmer 呼叫，84% 的 token 是推理；關掉 thinking 它還是在隱藏通道推理，預算不夠時 9% 回空白。所以每次呼叫用 think: low 並留推理空間。
右：把最常見的判斷（會員選哪個時段）交給微調出來的 Llama 3.2 1B（Jev 式決策模型）：用真正的 agent 呼叫讓 Glimmer 標註 4,868 題，LoRA 微調，不生成文字、直接對選項給機率，int4 在 CPU 上約 0.9 秒。留出會員上和 Glimmer 一致 89.5%（Glimmer 跟自己 88.8%），在模擬社團少用 54–67% 的 Glimmer 呼叫。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真實與模擬一頁看清楚：左邊是真的（真人、真模型、真程式），右邊是模擬（測試用的社團與成員，都有標示）。模擬證明 agent 守住成員說過的話，不代表真人的反應；那是真人社團在量的。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開發範圍：比賽期間做的（全部程式碼、微調的 1B 學生模型、Demo 影片）、我之前就有的（TrackNetV5，關閉、本作品沒用到）、第三方照原樣使用的模型、軟體與資料。repo 歷史從 10/28（第二天）開始，900 多個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影片 2:27，三幕：一、冷啟動：Leo 沒有帳號，點連結就加入，Mia 同時收到 Game on（並排）；二、agent 透過 A2A 協商，Hana 的 agent 提出反提案（Messenger 裡一個 yes 就訂好也在這一幕）；三、找球場：Prompt Guard 2 先過濾評論，再由 Muse Glimmer 判斷（14 倍速，有標示），然後是社團。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的東西：15 個 Meta 模型（10 個開放權重在我自己的伺服器上跑，5 個走 Meta Model API）＋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Facebook / Instagram 登入已經做好（OAuth 在伺服器上完成，只存帳號 id 的雜湊）；Meta app 還沒核准前，demo 用 demo 帳號，畫面上那行提示是實話，不要遮掉。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管線（右邊都是同一記殺球：SAM 2.1 去背、MapAnything 深度、俯視環繞圖和沿弧線算繪出的三格）：DETR 找人 → Sapiens2 找出值得分享的片刻（自動剪輯，不做動作分析）→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全雙工語音代理：手機麥克風串流到你的伺服器，伺服器轉接到 Meta 的 Muse Voice Transcribe（即時、ENDPOINTING 模式，自動判斷你講完了，支援中英夾雜），key 只放在伺服器。你講完一句就交給 agent（Muse Glimmer，跟打字問一樣過 Llama Guard、數字核對），回答一句一句用 Kokoro 念出來。你一開口它就停下來聽，還沒念的回答直接丟掉。
實測一次（voice_live.json）：1.2 秒接通，2.0 秒開始說話，3.6 秒轉寫完成，12.3 秒回答文字出來（本地 Glimmer + 守門）；之後改成一句一句念，第一句不用等整段。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去中心化的跨社團聯邦：設定檔只寫其他社團的網址。每個社團公開一張名片（/a2a/club.json：名稱、可被邀約的成員公開資料、金鑰位置），gateway 讀名片後就把對方當成 peer，第一次連線釘選對方金鑰。
換鑰匙：舊鑰匙簽一張交接聲明跟新金鑰一起公開；對方發現釘選的鑰匙不見了，就從釘選的那把沿著聲明鏈驗證，驗過才改釘新的，偽造的聲明一律拒絕。
測試（test/federation_unit.mjs，真的 HTTP）：三個社團互相發現、互相簽章驗證；B 連續換兩次鑰匙，A 沿兩張聲明跟上；C 用別人簽的假聲明，被拒絕、釘選不變；不是名片的網頁不採用。兩台機器之間的完整約球談判之前已測過 22/22。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記憶（agent/src/memory/memory.js、body/context.js）：
寫入：筆記只來自玩家自己的話和程式產生的事實（比賽、健康 app），其他 agent 寫的東西永遠不會變成筆記（防記憶注入）。新的一句話會跟舊筆記比對：新增、取代、或重複（類似 Mem0）。被取代的筆記保留但不再被檢索。
檢索：Meta 的 DRAMA（drama-base，768 維）在伺服器 CPU 上把問題和筆記變成向量，用餘弦相似度乘上時間衰減排序（身體筆記 7 天減半），取前幾名。
生成與接地：Muse Glimmer 拿這些筆記規劃這週；規則由程式從紀錄產生，每條附上來源筆記，程式檢查引用的是同一個部位。
數字：20 題規劃問題中 DRAMA 第一名就對 12 題（Recall@1 0.60，BM25 0.35）；有更新機制時過期筆記 0 筆還被當真（只追加是 15 筆）、規則正確 90.5%（52.4%）；玩家兩週前說先不要約 Tomás，有記憶時 3/3 都排除他，沒記憶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四個代理架構：
1 主動資訊探詢（VoI）：談判失敗時不放棄、不把問題丟回給使用者，用 Beta 後驗（只來自它看過的 yes/no，不看別人的行事曆）× 對方 agent 的意願，算出「問哪一題最能提高成局機率」，只問一個是非題，答是才再談。模擬 20,000 次：一題 + 一次談判成局 51.9%，不問 40.7%、隨便問 44.4%、問最可能的那組 48.2%。
2 談判中的批評者：對方 agent 的每個反提案先經過程式審查——一場談判問超過兩個不同時間＝在探測你的行程，不再接受；你最近三場有兩場路最遠，又要你跑最遠就拒絕。
3 從片段到信念：每週把零散筆記抽象成幾條長期信念，每條必須引用筆記、概括要兩條以上、數字必須出現在引用裡，不合格就丟。Glimmer 實測 10 條筆記 → 3 條信念，0 條被丟。
4 預約前的同意證明：談妥的比賽每位球員的 agent 用自己的 Ed25519 金鑰簽同一份比賽紀錄，預約時逐一驗證，改過時間、加人、用別人的金鑰都會被拒絕。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規模化：把整個社團塞進 prompt，token 隨人數線性成長，401 人以上就放不進 16K 的 context；Serve 先用程式篩出候選人，一週規劃平均每次呼叫約 1,505 → 1,563 token（11 人到 301 人），幾乎不變。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
真實案例（模擬社團 seed 7，管線、關卡、回滾是真的；technical report 5.6）：會員說「晚點再問我」→ 規格 C0：ask.hour 12 → 18，上線給 31 位 beta 會員中的 5 位，倒讚 29% → 23%，升級。故意植入的壞改動 ask.ahead 3 → 2 給 8 人的 canary：倒讚 40% → 60%，自動回滾。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slideLayout" Target="../slideLayouts/slideLayout2.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2.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image" Target="../media/image-19-2.jpeg"/><Relationship Id="rId3" Type="http://schemas.openxmlformats.org/officeDocument/2006/relationships/image" Target="../media/image-19-3.jpe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image" Target="../media/image-24-2.jpeg"/><Relationship Id="rId3" Type="http://schemas.openxmlformats.org/officeDocument/2006/relationships/image" Target="../media/image-24-3.jpe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video" Target="../media/media-25-1.mp4"/><Relationship Id="rId2" Type="http://schemas.microsoft.com/office/2007/relationships/media" Target="../media/media-25-1.mp4"/><Relationship Id="rId3" Type="http://schemas.openxmlformats.org/officeDocument/2006/relationships/image" Target="../media/image-25-3.png"/><Relationship Id="rId4" Type="http://schemas.openxmlformats.org/officeDocument/2006/relationships/image" Target="../media/image-25-4.jpeg"/><Relationship Id="rId5" Type="http://schemas.openxmlformats.org/officeDocument/2006/relationships/image" Target="../media/image-25-5.jpeg"/><Relationship Id="rId6" Type="http://schemas.openxmlformats.org/officeDocument/2006/relationships/image" Target="../media/image-25-6.jpeg"/><Relationship Id="rId7" Type="http://schemas.openxmlformats.org/officeDocument/2006/relationships/image" Target="../media/image-25-7.jpe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3" name="Text 1"/>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4" name="Shape 2"/>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5" name="Text 3"/>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6" name="Shape 4"/>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7" name="Text 5"/>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8" name="Shape 6"/>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9" name="Text 7"/>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0" name="Image 0" descr="preencoded.png">    </p:cNvPr>
          <p:cNvPicPr>
            <a:picLocks noChangeAspect="1"/>
          </p:cNvPicPr>
          <p:nvPr/>
        </p:nvPicPr>
        <p:blipFill>
          <a:blip r:embed="rId1"/>
          <a:stretch>
            <a:fillRect/>
          </a:stretch>
        </p:blipFill>
        <p:spPr>
          <a:xfrm>
            <a:off x="731520" y="5897880"/>
            <a:ext cx="384048" cy="384048"/>
          </a:xfrm>
          <a:prstGeom prst="rect">
            <a:avLst/>
          </a:prstGeom>
        </p:spPr>
      </p:pic>
      <p:sp>
        <p:nvSpPr>
          <p:cNvPr id="11" name="Text 8"/>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02920" cy="502920"/>
          </a:xfrm>
          <a:prstGeom prst="rect">
            <a:avLst/>
          </a:prstGeom>
        </p:spPr>
      </p:pic>
      <p:sp>
        <p:nvSpPr>
          <p:cNvPr id="3" name="Text 0"/>
          <p:cNvSpPr txBox="1"/>
          <p:nvPr/>
        </p:nvSpPr>
        <p:spPr>
          <a:xfrm>
            <a:off x="1325880" y="658368"/>
            <a:ext cx="2743200" cy="548640"/>
          </a:xfrm>
          <a:prstGeom prst="rect">
            <a:avLst/>
          </a:prstGeom>
          <a:noFill/>
          <a:ln/>
        </p:spPr>
        <p:txBody>
          <a:bodyPr wrap="square" lIns="0" tIns="0" rIns="0" bIns="0" rtlCol="0" anchor="ctr"/>
          <a:lstStyle/>
          <a:p>
            <a:pPr indent="0" marL="0">
              <a:buNone/>
            </a:pPr>
            <a:r>
              <a:rPr lang="en-US" sz="3000" b="1" dirty="0">
                <a:solidFill>
                  <a:srgbClr val="0A0A0B"/>
                </a:solidFill>
              </a:rPr>
              <a:t>serve</a:t>
            </a:r>
            <a:endParaRPr lang="en-US" sz="3000" dirty="0"/>
          </a:p>
        </p:txBody>
      </p:sp>
      <p:sp>
        <p:nvSpPr>
          <p:cNvPr id="4" name="Text 1"/>
          <p:cNvSpPr txBox="1"/>
          <p:nvPr/>
        </p:nvSpPr>
        <p:spPr>
          <a:xfrm>
            <a:off x="731520" y="1828800"/>
            <a:ext cx="5120640" cy="1828800"/>
          </a:xfrm>
          <a:prstGeom prst="rect">
            <a:avLst/>
          </a:prstGeom>
          <a:noFill/>
          <a:ln/>
        </p:spPr>
        <p:txBody>
          <a:bodyPr wrap="square" lIns="0" tIns="0" rIns="0" bIns="0" rtlCol="0" anchor="t"/>
          <a:lstStyle/>
          <a:p>
            <a:pPr indent="0" marL="0">
              <a:lnSpc>
                <a:spcPct val="95000"/>
              </a:lnSpc>
              <a:buNone/>
            </a:pPr>
            <a:r>
              <a:rPr lang="en-US" sz="5400" b="1" dirty="0">
                <a:solidFill>
                  <a:srgbClr val="0A0A0B"/>
                </a:solidFill>
              </a:rPr>
              <a:t>Play more.
</a:t>
            </a:r>
            <a:pPr indent="0" marL="0">
              <a:lnSpc>
                <a:spcPct val="95000"/>
              </a:lnSpc>
              <a:buNone/>
            </a:pPr>
            <a:r>
              <a:rPr lang="en-US" sz="5400" b="1" dirty="0">
                <a:solidFill>
                  <a:srgbClr val="0A7F44"/>
                </a:solidFill>
              </a:rPr>
              <a:t>Manage less.</a:t>
            </a:r>
            <a:endParaRPr lang="en-US" sz="5400" dirty="0"/>
          </a:p>
        </p:txBody>
      </p:sp>
      <p:sp>
        <p:nvSpPr>
          <p:cNvPr id="5" name="Text 2"/>
          <p:cNvSpPr txBox="1"/>
          <p:nvPr/>
        </p:nvSpPr>
        <p:spPr>
          <a:xfrm>
            <a:off x="731520" y="3794760"/>
            <a:ext cx="4754880" cy="914400"/>
          </a:xfrm>
          <a:prstGeom prst="rect">
            <a:avLst/>
          </a:prstGeom>
          <a:noFill/>
          <a:ln/>
        </p:spPr>
        <p:txBody>
          <a:bodyPr wrap="square" lIns="0" tIns="0" rIns="0" bIns="0" rtlCol="0" anchor="t"/>
          <a:lstStyle/>
          <a:p>
            <a:pPr indent="0" marL="0">
              <a:buNone/>
            </a:pPr>
            <a:r>
              <a:rPr lang="en-US" sz="1700" dirty="0">
                <a:solidFill>
                  <a:srgbClr val="55555C"/>
                </a:solidFill>
              </a:rPr>
              <a:t>Your agent sets up your games with your friends' agents, plans around your week, and cuts your highlights. You just say yes.</a:t>
            </a:r>
            <a:endParaRPr lang="en-US" sz="1700" dirty="0"/>
          </a:p>
        </p:txBody>
      </p:sp>
      <p:sp>
        <p:nvSpPr>
          <p:cNvPr id="6" name="Shape 3"/>
          <p:cNvSpPr/>
          <p:nvPr/>
        </p:nvSpPr>
        <p:spPr>
          <a:xfrm>
            <a:off x="731520" y="4983480"/>
            <a:ext cx="128016" cy="128016"/>
          </a:xfrm>
          <a:prstGeom prst="ellipse">
            <a:avLst/>
          </a:prstGeom>
          <a:solidFill>
            <a:srgbClr val="0A7F44"/>
          </a:solidFill>
          <a:ln w="12700">
            <a:solidFill>
              <a:srgbClr val="0A7F44"/>
            </a:solidFill>
            <a:prstDash val="solid"/>
          </a:ln>
        </p:spPr>
      </p:sp>
      <p:sp>
        <p:nvSpPr>
          <p:cNvPr id="7" name="Text 4"/>
          <p:cNvSpPr txBox="1"/>
          <p:nvPr/>
        </p:nvSpPr>
        <p:spPr>
          <a:xfrm>
            <a:off x="987552" y="489204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Agents agree your week</a:t>
            </a:r>
            <a:endParaRPr lang="en-US" sz="1400" dirty="0"/>
          </a:p>
        </p:txBody>
      </p:sp>
      <p:sp>
        <p:nvSpPr>
          <p:cNvPr id="8" name="Shape 5"/>
          <p:cNvSpPr/>
          <p:nvPr/>
        </p:nvSpPr>
        <p:spPr>
          <a:xfrm>
            <a:off x="731520" y="5394960"/>
            <a:ext cx="128016" cy="128016"/>
          </a:xfrm>
          <a:prstGeom prst="ellipse">
            <a:avLst/>
          </a:prstGeom>
          <a:solidFill>
            <a:srgbClr val="0064E0"/>
          </a:solidFill>
          <a:ln w="12700">
            <a:solidFill>
              <a:srgbClr val="0064E0"/>
            </a:solidFill>
            <a:prstDash val="solid"/>
          </a:ln>
        </p:spPr>
      </p:sp>
      <p:sp>
        <p:nvSpPr>
          <p:cNvPr id="9" name="Text 6"/>
          <p:cNvSpPr txBox="1"/>
          <p:nvPr/>
        </p:nvSpPr>
        <p:spPr>
          <a:xfrm>
            <a:off x="987552" y="530352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Your agent in Messenger</a:t>
            </a:r>
            <a:endParaRPr lang="en-US" sz="1400" dirty="0"/>
          </a:p>
        </p:txBody>
      </p:sp>
      <p:sp>
        <p:nvSpPr>
          <p:cNvPr id="10" name="Shape 7"/>
          <p:cNvSpPr/>
          <p:nvPr/>
        </p:nvSpPr>
        <p:spPr>
          <a:xfrm>
            <a:off x="731520" y="5806440"/>
            <a:ext cx="128016" cy="128016"/>
          </a:xfrm>
          <a:prstGeom prst="ellipse">
            <a:avLst/>
          </a:prstGeom>
          <a:solidFill>
            <a:srgbClr val="0A0A0B"/>
          </a:solidFill>
          <a:ln w="12700">
            <a:solidFill>
              <a:srgbClr val="0A0A0B"/>
            </a:solidFill>
            <a:prstDash val="solid"/>
          </a:ln>
        </p:spPr>
      </p:sp>
      <p:sp>
        <p:nvSpPr>
          <p:cNvPr id="11" name="Text 8"/>
          <p:cNvSpPr txBox="1"/>
          <p:nvPr/>
        </p:nvSpPr>
        <p:spPr>
          <a:xfrm>
            <a:off x="987552" y="571500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Six Meta models carry it; 15 used in all</a:t>
            </a:r>
            <a:endParaRPr lang="en-US" sz="1400" dirty="0"/>
          </a:p>
        </p:txBody>
      </p:sp>
      <p:sp>
        <p:nvSpPr>
          <p:cNvPr id="12" name="Text 9"/>
          <p:cNvSpPr txBox="1"/>
          <p:nvPr/>
        </p:nvSpPr>
        <p:spPr>
          <a:xfrm>
            <a:off x="731520" y="6263640"/>
            <a:ext cx="5120640" cy="274320"/>
          </a:xfrm>
          <a:prstGeom prst="rect">
            <a:avLst/>
          </a:prstGeom>
          <a:noFill/>
          <a:ln/>
        </p:spPr>
        <p:txBody>
          <a:bodyPr wrap="square" lIns="0" tIns="0" rIns="0" bIns="0" rtlCol="0" anchor="t"/>
          <a:lstStyle/>
          <a:p>
            <a:pPr indent="0" marL="0">
              <a:buNone/>
            </a:pPr>
            <a:r>
              <a:rPr lang="en-US" sz="1100" dirty="0">
                <a:solidFill>
                  <a:srgbClr val="55555C"/>
                </a:solidFill>
              </a:rPr>
              <a:t>Not a coach, not a sports analyzer, not a medical tool: a club that organizes itself.</a:t>
            </a:r>
            <a:endParaRPr lang="en-US" sz="1100" dirty="0"/>
          </a:p>
        </p:txBody>
      </p:sp>
      <p:sp>
        <p:nvSpPr>
          <p:cNvPr id="13" name="Shape 10"/>
          <p:cNvSpPr/>
          <p:nvPr/>
        </p:nvSpPr>
        <p:spPr>
          <a:xfrm>
            <a:off x="6108192" y="713232"/>
            <a:ext cx="2494189" cy="5248656"/>
          </a:xfrm>
          <a:prstGeom prst="roundRect">
            <a:avLst>
              <a:gd name="adj" fmla="val 7332"/>
            </a:avLst>
          </a:prstGeom>
          <a:solidFill>
            <a:srgbClr val="0A0A0B"/>
          </a:solidFill>
          <a:ln w="12700">
            <a:solidFill>
              <a:srgbClr val="0A0A0B"/>
            </a:solidFill>
            <a:prstDash val="solid"/>
          </a:ln>
        </p:spPr>
      </p:sp>
      <p:pic>
        <p:nvPicPr>
          <p:cNvPr id="14" name="Image 1" descr="preencoded.png">    </p:cNvPr>
          <p:cNvPicPr>
            <a:picLocks noChangeAspect="1"/>
          </p:cNvPicPr>
          <p:nvPr/>
        </p:nvPicPr>
        <p:blipFill>
          <a:blip r:embed="rId2"/>
          <a:stretch>
            <a:fillRect/>
          </a:stretch>
        </p:blipFill>
        <p:spPr>
          <a:xfrm>
            <a:off x="6172200" y="777240"/>
            <a:ext cx="2366173" cy="5120640"/>
          </a:xfrm>
          <a:prstGeom prst="rect">
            <a:avLst/>
          </a:prstGeom>
        </p:spPr>
      </p:pic>
      <p:sp>
        <p:nvSpPr>
          <p:cNvPr id="15" name="Shape 11"/>
          <p:cNvSpPr/>
          <p:nvPr/>
        </p:nvSpPr>
        <p:spPr>
          <a:xfrm>
            <a:off x="8851392" y="1170432"/>
            <a:ext cx="2494189" cy="5248656"/>
          </a:xfrm>
          <a:prstGeom prst="roundRect">
            <a:avLst>
              <a:gd name="adj" fmla="val 7332"/>
            </a:avLst>
          </a:prstGeom>
          <a:solidFill>
            <a:srgbClr val="0A0A0B"/>
          </a:solidFill>
          <a:ln w="12700">
            <a:solidFill>
              <a:srgbClr val="0A0A0B"/>
            </a:solidFill>
            <a:prstDash val="solid"/>
          </a:ln>
        </p:spPr>
      </p:sp>
      <p:pic>
        <p:nvPicPr>
          <p:cNvPr id="16" name="Image 2" descr="preencoded.png">    </p:cNvPr>
          <p:cNvPicPr>
            <a:picLocks noChangeAspect="1"/>
          </p:cNvPicPr>
          <p:nvPr/>
        </p:nvPicPr>
        <p:blipFill>
          <a:blip r:embed="rId3"/>
          <a:stretch>
            <a:fillRect/>
          </a:stretch>
        </p:blipFill>
        <p:spPr>
          <a:xfrm>
            <a:off x="8915400" y="1234440"/>
            <a:ext cx="2366173" cy="5120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20240"/>
            <a:ext cx="2971800" cy="731520"/>
          </a:xfrm>
          <a:prstGeom prst="rect">
            <a:avLst/>
          </a:prstGeom>
          <a:noFill/>
          <a:ln/>
        </p:spPr>
        <p:txBody>
          <a:bodyPr wrap="square" lIns="0" tIns="0" rIns="0" bIns="0" rtlCol="0" anchor="t"/>
          <a:lstStyle/>
          <a:p>
            <a:pPr indent="0" marL="0">
              <a:buNone/>
            </a:pPr>
            <a:r>
              <a:rPr lang="en-US" sz="3800" b="1" dirty="0">
                <a:solidFill>
                  <a:srgbClr val="0A7F44"/>
                </a:solidFill>
              </a:rPr>
              <a:t>40% → 26%</a:t>
            </a:r>
            <a:endParaRPr lang="en-US" sz="3800" dirty="0"/>
          </a:p>
        </p:txBody>
      </p:sp>
      <p:sp>
        <p:nvSpPr>
          <p:cNvPr id="7" name="Text 4"/>
          <p:cNvSpPr txBox="1"/>
          <p:nvPr/>
        </p:nvSpPr>
        <p:spPr>
          <a:xfrm>
            <a:off x="822960" y="2697480"/>
            <a:ext cx="2743200" cy="594360"/>
          </a:xfrm>
          <a:prstGeom prst="rect">
            <a:avLst/>
          </a:prstGeom>
          <a:noFill/>
          <a:ln/>
        </p:spPr>
        <p:txBody>
          <a:bodyPr wrap="square" lIns="0" tIns="0" rIns="0" bIns="0" rtlCol="0" anchor="t"/>
          <a:lstStyle/>
          <a:p>
            <a:pPr indent="0" marL="0">
              <a:buNone/>
            </a:pPr>
            <a:r>
              <a:rPr lang="en-US" sz="1500" dirty="0">
                <a:solidFill>
                  <a:srgbClr val="0A0A0B"/>
                </a:solidFill>
              </a:rPr>
              <a:t>of US adults play a sport at ages 18 to 21, then at 26 to 49</a:t>
            </a:r>
            <a:endParaRPr lang="en-US" sz="1500" dirty="0"/>
          </a:p>
        </p:txBody>
      </p:sp>
      <p:sp>
        <p:nvSpPr>
          <p:cNvPr id="8" name="Text 5"/>
          <p:cNvSpPr txBox="1"/>
          <p:nvPr/>
        </p:nvSpPr>
        <p:spPr>
          <a:xfrm>
            <a:off x="822960" y="3291840"/>
            <a:ext cx="2743200" cy="411480"/>
          </a:xfrm>
          <a:prstGeom prst="rect">
            <a:avLst/>
          </a:prstGeom>
          <a:noFill/>
          <a:ln/>
        </p:spPr>
        <p:txBody>
          <a:bodyPr wrap="square" lIns="0" tIns="0" rIns="0" bIns="0" rtlCol="0" anchor="t"/>
          <a:lstStyle/>
          <a:p>
            <a:pPr indent="0" marL="0">
              <a:buNone/>
            </a:pPr>
            <a:r>
              <a:rPr lang="en-US" sz="1050" dirty="0">
                <a:solidFill>
                  <a:srgbClr val="55555C"/>
                </a:solidFill>
              </a:rPr>
              <a:t>NPR, RWJF and Harvard Chan poll of 2,506 adults, 2015</a:t>
            </a:r>
            <a:endParaRPr lang="en-US" sz="1050" dirty="0"/>
          </a:p>
        </p:txBody>
      </p:sp>
      <p:sp>
        <p:nvSpPr>
          <p:cNvPr id="9" name="Text 6"/>
          <p:cNvSpPr txBox="1"/>
          <p:nvPr/>
        </p:nvSpPr>
        <p:spPr>
          <a:xfrm>
            <a:off x="822960" y="3886200"/>
            <a:ext cx="2743200" cy="228600"/>
          </a:xfrm>
          <a:prstGeom prst="rect">
            <a:avLst/>
          </a:prstGeom>
          <a:noFill/>
          <a:ln/>
        </p:spPr>
        <p:txBody>
          <a:bodyPr wrap="square" lIns="0" tIns="0" rIns="0" bIns="0" rtlCol="0" anchor="t"/>
          <a:lstStyle/>
          <a:p>
            <a:pPr indent="0" marL="0">
              <a:buNone/>
            </a:pPr>
            <a:r>
              <a:rPr lang="en-US" sz="1000" b="1" spc="100" kern="0" dirty="0">
                <a:solidFill>
                  <a:srgbClr val="0A7F44"/>
                </a:solidFill>
              </a:rPr>
              <a:t>WHAT STOPS ADULTS (NZ)</a:t>
            </a:r>
            <a:endParaRPr lang="en-US" sz="1000" dirty="0"/>
          </a:p>
        </p:txBody>
      </p:sp>
      <p:sp>
        <p:nvSpPr>
          <p:cNvPr id="10" name="Text 7"/>
          <p:cNvSpPr txBox="1"/>
          <p:nvPr/>
        </p:nvSpPr>
        <p:spPr>
          <a:xfrm>
            <a:off x="822960" y="4160520"/>
            <a:ext cx="731520" cy="365760"/>
          </a:xfrm>
          <a:prstGeom prst="rect">
            <a:avLst/>
          </a:prstGeom>
          <a:noFill/>
          <a:ln/>
        </p:spPr>
        <p:txBody>
          <a:bodyPr wrap="square" lIns="0" tIns="0" rIns="0" bIns="0" rtlCol="0" anchor="t"/>
          <a:lstStyle/>
          <a:p>
            <a:pPr indent="0" marL="0">
              <a:buNone/>
            </a:pPr>
            <a:r>
              <a:rPr lang="en-US" sz="1800" b="1" dirty="0">
                <a:solidFill>
                  <a:srgbClr val="0A0A0B"/>
                </a:solidFill>
              </a:rPr>
              <a:t>64%</a:t>
            </a:r>
            <a:endParaRPr lang="en-US" sz="1800" dirty="0"/>
          </a:p>
        </p:txBody>
      </p:sp>
      <p:sp>
        <p:nvSpPr>
          <p:cNvPr id="11" name="Text 8"/>
          <p:cNvSpPr txBox="1"/>
          <p:nvPr/>
        </p:nvSpPr>
        <p:spPr>
          <a:xfrm>
            <a:off x="1554480" y="4160520"/>
            <a:ext cx="2194560" cy="365760"/>
          </a:xfrm>
          <a:prstGeom prst="rect">
            <a:avLst/>
          </a:prstGeom>
          <a:noFill/>
          <a:ln/>
        </p:spPr>
        <p:txBody>
          <a:bodyPr wrap="square" lIns="0" tIns="0" rIns="0" bIns="0" rtlCol="0" anchor="ctr"/>
          <a:lstStyle/>
          <a:p>
            <a:pPr indent="0" marL="0">
              <a:buNone/>
            </a:pPr>
            <a:r>
              <a:rPr lang="en-US" sz="1200" dirty="0">
                <a:solidFill>
                  <a:srgbClr val="0A0A0B"/>
                </a:solidFill>
              </a:rPr>
              <a:t>other commitments come first</a:t>
            </a:r>
            <a:endParaRPr lang="en-US" sz="1200" dirty="0"/>
          </a:p>
        </p:txBody>
      </p:sp>
      <p:sp>
        <p:nvSpPr>
          <p:cNvPr id="12" name="Text 9"/>
          <p:cNvSpPr txBox="1"/>
          <p:nvPr/>
        </p:nvSpPr>
        <p:spPr>
          <a:xfrm>
            <a:off x="822960" y="4572000"/>
            <a:ext cx="731520" cy="365760"/>
          </a:xfrm>
          <a:prstGeom prst="rect">
            <a:avLst/>
          </a:prstGeom>
          <a:noFill/>
          <a:ln/>
        </p:spPr>
        <p:txBody>
          <a:bodyPr wrap="square" lIns="0" tIns="0" rIns="0" bIns="0" rtlCol="0" anchor="t"/>
          <a:lstStyle/>
          <a:p>
            <a:pPr indent="0" marL="0">
              <a:buNone/>
            </a:pPr>
            <a:r>
              <a:rPr lang="en-US" sz="1800" b="1" dirty="0">
                <a:solidFill>
                  <a:srgbClr val="0A0A0B"/>
                </a:solidFill>
              </a:rPr>
              <a:t>21%</a:t>
            </a:r>
            <a:endParaRPr lang="en-US" sz="1800" dirty="0"/>
          </a:p>
        </p:txBody>
      </p:sp>
      <p:sp>
        <p:nvSpPr>
          <p:cNvPr id="13" name="Text 10"/>
          <p:cNvSpPr txBox="1"/>
          <p:nvPr/>
        </p:nvSpPr>
        <p:spPr>
          <a:xfrm>
            <a:off x="1554480" y="4572000"/>
            <a:ext cx="2194560" cy="365760"/>
          </a:xfrm>
          <a:prstGeom prst="rect">
            <a:avLst/>
          </a:prstGeom>
          <a:noFill/>
          <a:ln/>
        </p:spPr>
        <p:txBody>
          <a:bodyPr wrap="square" lIns="0" tIns="0" rIns="0" bIns="0" rtlCol="0" anchor="ctr"/>
          <a:lstStyle/>
          <a:p>
            <a:pPr indent="0" marL="0">
              <a:buNone/>
            </a:pPr>
            <a:r>
              <a:rPr lang="en-US" sz="1200" dirty="0">
                <a:solidFill>
                  <a:srgbClr val="0A0A0B"/>
                </a:solidFill>
              </a:rPr>
              <a:t>got out of the habit</a:t>
            </a:r>
            <a:endParaRPr lang="en-US" sz="1200" dirty="0"/>
          </a:p>
        </p:txBody>
      </p:sp>
      <p:sp>
        <p:nvSpPr>
          <p:cNvPr id="14" name="Text 11"/>
          <p:cNvSpPr txBox="1"/>
          <p:nvPr/>
        </p:nvSpPr>
        <p:spPr>
          <a:xfrm>
            <a:off x="822960" y="4983480"/>
            <a:ext cx="731520" cy="365760"/>
          </a:xfrm>
          <a:prstGeom prst="rect">
            <a:avLst/>
          </a:prstGeom>
          <a:noFill/>
          <a:ln/>
        </p:spPr>
        <p:txBody>
          <a:bodyPr wrap="square" lIns="0" tIns="0" rIns="0" bIns="0" rtlCol="0" anchor="t"/>
          <a:lstStyle/>
          <a:p>
            <a:pPr indent="0" marL="0">
              <a:buNone/>
            </a:pPr>
            <a:r>
              <a:rPr lang="en-US" sz="1800" b="1" dirty="0">
                <a:solidFill>
                  <a:srgbClr val="0A0A0B"/>
                </a:solidFill>
              </a:rPr>
              <a:t>10%</a:t>
            </a:r>
            <a:endParaRPr lang="en-US" sz="1800" dirty="0"/>
          </a:p>
        </p:txBody>
      </p:sp>
      <p:sp>
        <p:nvSpPr>
          <p:cNvPr id="15" name="Text 12"/>
          <p:cNvSpPr txBox="1"/>
          <p:nvPr/>
        </p:nvSpPr>
        <p:spPr>
          <a:xfrm>
            <a:off x="1554480" y="4983480"/>
            <a:ext cx="2194560" cy="365760"/>
          </a:xfrm>
          <a:prstGeom prst="rect">
            <a:avLst/>
          </a:prstGeom>
          <a:noFill/>
          <a:ln/>
        </p:spPr>
        <p:txBody>
          <a:bodyPr wrap="square" lIns="0" tIns="0" rIns="0" bIns="0" rtlCol="0" anchor="ctr"/>
          <a:lstStyle/>
          <a:p>
            <a:pPr indent="0" marL="0">
              <a:buNone/>
            </a:pPr>
            <a:r>
              <a:rPr lang="en-US" sz="1200" dirty="0">
                <a:solidFill>
                  <a:srgbClr val="0A0A0B"/>
                </a:solidFill>
              </a:rPr>
              <a:t>no one to do it with</a:t>
            </a:r>
            <a:endParaRPr lang="en-US" sz="1200" dirty="0"/>
          </a:p>
        </p:txBody>
      </p:sp>
      <p:sp>
        <p:nvSpPr>
          <p:cNvPr id="16" name="Text 13"/>
          <p:cNvSpPr txBox="1"/>
          <p:nvPr/>
        </p:nvSpPr>
        <p:spPr>
          <a:xfrm>
            <a:off x="822960" y="5440680"/>
            <a:ext cx="2743200" cy="274320"/>
          </a:xfrm>
          <a:prstGeom prst="rect">
            <a:avLst/>
          </a:prstGeom>
          <a:noFill/>
          <a:ln/>
        </p:spPr>
        <p:txBody>
          <a:bodyPr wrap="square" lIns="0" tIns="0" rIns="0" bIns="0" rtlCol="0" anchor="t"/>
          <a:lstStyle/>
          <a:p>
            <a:pPr indent="0" marL="0">
              <a:buNone/>
            </a:pPr>
            <a:r>
              <a:rPr lang="en-US" sz="1050" dirty="0">
                <a:solidFill>
                  <a:srgbClr val="55555C"/>
                </a:solidFill>
              </a:rPr>
              <a:t>Active NZ survey, Sport New Zealand, 2023</a:t>
            </a:r>
            <a:endParaRPr lang="en-US" sz="1050" dirty="0"/>
          </a:p>
        </p:txBody>
      </p:sp>
      <p:sp>
        <p:nvSpPr>
          <p:cNvPr id="17" name="Text 14"/>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8" name="Text 15"/>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9" name="Shape 16"/>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20" name="Text 17"/>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21" name="Text 18"/>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"Who's free this week?" "Is the court taken?" "We're one short." The group chat wears the fun out.</a:t>
            </a:r>
            <a:endParaRPr lang="en-US" sz="1200" dirty="0"/>
          </a:p>
        </p:txBody>
      </p:sp>
      <p:sp>
        <p:nvSpPr>
          <p:cNvPr id="22" name="Shape 19"/>
          <p:cNvSpPr/>
          <p:nvPr/>
        </p:nvSpPr>
        <p:spPr>
          <a:xfrm>
            <a:off x="7790688" y="2679192"/>
            <a:ext cx="182880" cy="0"/>
          </a:xfrm>
          <a:prstGeom prst="line">
            <a:avLst/>
          </a:prstGeom>
          <a:noFill/>
          <a:ln w="22225">
            <a:solidFill>
              <a:srgbClr val="8A8A92"/>
            </a:solidFill>
            <a:prstDash val="solid"/>
            <a:tailEnd type="triangle"/>
          </a:ln>
        </p:spPr>
      </p:sp>
      <p:sp>
        <p:nvSpPr>
          <p:cNvPr id="23" name="Shape 20"/>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24" name="Text 21"/>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agrees the time and the court with the other players' agents. You approve once; your phone says "Game on: Thu 19:00, 4 in."</a:t>
            </a:r>
            <a:endParaRPr lang="en-US" sz="1300" dirty="0"/>
          </a:p>
        </p:txBody>
      </p:sp>
      <p:sp>
        <p:nvSpPr>
          <p:cNvPr id="25" name="Shape 22"/>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26" name="Text 23"/>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7" name="Text 24"/>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8" name="Shape 25"/>
          <p:cNvSpPr/>
          <p:nvPr/>
        </p:nvSpPr>
        <p:spPr>
          <a:xfrm>
            <a:off x="7790688" y="4050792"/>
            <a:ext cx="182880" cy="0"/>
          </a:xfrm>
          <a:prstGeom prst="line">
            <a:avLst/>
          </a:prstGeom>
          <a:noFill/>
          <a:ln w="22225">
            <a:solidFill>
              <a:srgbClr val="8A8A92"/>
            </a:solidFill>
            <a:prstDash val="solid"/>
            <a:tailEnd type="triangle"/>
          </a:ln>
        </p:spPr>
      </p:sp>
      <p:sp>
        <p:nvSpPr>
          <p:cNvPr id="29" name="Shape 26"/>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30" name="Text 27"/>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31" name="Shape 28"/>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32" name="Text 29"/>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33" name="Text 30"/>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late meeting, a heavy week, rain on an outdoor court.</a:t>
            </a:r>
            <a:endParaRPr lang="en-US" sz="1200" dirty="0"/>
          </a:p>
        </p:txBody>
      </p:sp>
      <p:sp>
        <p:nvSpPr>
          <p:cNvPr id="34" name="Shape 31"/>
          <p:cNvSpPr/>
          <p:nvPr/>
        </p:nvSpPr>
        <p:spPr>
          <a:xfrm>
            <a:off x="7790688" y="5422392"/>
            <a:ext cx="182880" cy="0"/>
          </a:xfrm>
          <a:prstGeom prst="line">
            <a:avLst/>
          </a:prstGeom>
          <a:noFill/>
          <a:ln w="22225">
            <a:solidFill>
              <a:srgbClr val="8A8A92"/>
            </a:solidFill>
            <a:prstDash val="solid"/>
            <a:tailEnd type="triangle"/>
          </a:ln>
        </p:spPr>
      </p:sp>
      <p:sp>
        <p:nvSpPr>
          <p:cNvPr id="35" name="Shape 32"/>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36" name="Text 33"/>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moves the game, plans one fewer in a heavy week, and checks the map, reviews and forecast.</a:t>
            </a:r>
            <a:endParaRPr lang="en-US" sz="1300" dirty="0"/>
          </a:p>
        </p:txBody>
      </p:sp>
      <p:sp>
        <p:nvSpPr>
          <p:cNvPr id="37" name="Text 34"/>
          <p:cNvSpPr txBox="1"/>
          <p:nvPr/>
        </p:nvSpPr>
        <p:spPr>
          <a:xfrm>
            <a:off x="4206240" y="6199632"/>
            <a:ext cx="7406640" cy="274320"/>
          </a:xfrm>
          <a:prstGeom prst="rect">
            <a:avLst/>
          </a:prstGeom>
          <a:noFill/>
          <a:ln/>
        </p:spPr>
        <p:txBody>
          <a:bodyPr wrap="square" lIns="0" tIns="0" rIns="0" bIns="0" rtlCol="0" anchor="t"/>
          <a:lstStyle/>
          <a:p>
            <a:pPr indent="0" marL="0">
              <a:buNone/>
            </a:pPr>
            <a:r>
              <a:rPr lang="en-US" sz="1100" i="1" dirty="0">
                <a:solidFill>
                  <a:srgbClr val="55555C"/>
                </a:solidFill>
              </a:rPr>
              <a:t>Less screen time, more court time: any ball sport that needs people, a time and a place.</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THE PROBLEM</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Everyone will have an agent, with nowhere to meet</a:t>
            </a:r>
            <a:endParaRPr lang="en-US" sz="3200" dirty="0"/>
          </a:p>
        </p:txBody>
      </p:sp>
      <p:sp>
        <p:nvSpPr>
          <p:cNvPr id="5" name="Shape 2"/>
          <p:cNvSpPr/>
          <p:nvPr/>
        </p:nvSpPr>
        <p:spPr>
          <a:xfrm>
            <a:off x="548640" y="1645920"/>
            <a:ext cx="5074920" cy="3246120"/>
          </a:xfrm>
          <a:prstGeom prst="roundRect">
            <a:avLst>
              <a:gd name="adj" fmla="val 3380"/>
            </a:avLst>
          </a:prstGeom>
          <a:solidFill>
            <a:srgbClr val="F6F7F8"/>
          </a:solidFill>
          <a:ln w="12700">
            <a:solidFill>
              <a:srgbClr val="F6F7F8"/>
            </a:solidFill>
            <a:prstDash val="solid"/>
          </a:ln>
        </p:spPr>
      </p:sp>
      <p:sp>
        <p:nvSpPr>
          <p:cNvPr id="6" name="Text 3"/>
          <p:cNvSpPr txBox="1"/>
          <p:nvPr/>
        </p:nvSpPr>
        <p:spPr>
          <a:xfrm>
            <a:off x="777240" y="1783080"/>
            <a:ext cx="2743200" cy="256032"/>
          </a:xfrm>
          <a:prstGeom prst="rect">
            <a:avLst/>
          </a:prstGeom>
          <a:noFill/>
          <a:ln/>
        </p:spPr>
        <p:txBody>
          <a:bodyPr wrap="square" lIns="0" tIns="0" rIns="0" bIns="0" rtlCol="0" anchor="t"/>
          <a:lstStyle/>
          <a:p>
            <a:pPr indent="0" marL="0">
              <a:buNone/>
            </a:pPr>
            <a:r>
              <a:rPr lang="en-US" sz="1100" b="1" spc="100" kern="0" dirty="0">
                <a:solidFill>
                  <a:srgbClr val="D1352B"/>
                </a:solidFill>
              </a:rPr>
              <a:t>TODAY</a:t>
            </a:r>
            <a:endParaRPr lang="en-US" sz="1100" dirty="0"/>
          </a:p>
        </p:txBody>
      </p:sp>
      <p:sp>
        <p:nvSpPr>
          <p:cNvPr id="7" name="Shape 4"/>
          <p:cNvSpPr/>
          <p:nvPr/>
        </p:nvSpPr>
        <p:spPr>
          <a:xfrm>
            <a:off x="777240" y="2240280"/>
            <a:ext cx="566928" cy="566928"/>
          </a:xfrm>
          <a:prstGeom prst="ellipse">
            <a:avLst/>
          </a:prstGeom>
          <a:solidFill>
            <a:srgbClr val="FFFFFF"/>
          </a:solidFill>
          <a:ln w="15875">
            <a:solidFill>
              <a:srgbClr val="DCDCE0"/>
            </a:solidFill>
            <a:prstDash val="solid"/>
          </a:ln>
        </p:spPr>
      </p:sp>
      <p:sp>
        <p:nvSpPr>
          <p:cNvPr id="8" name="Text 5"/>
          <p:cNvSpPr txBox="1"/>
          <p:nvPr/>
        </p:nvSpPr>
        <p:spPr>
          <a:xfrm>
            <a:off x="777240" y="2240280"/>
            <a:ext cx="566928" cy="566928"/>
          </a:xfrm>
          <a:prstGeom prst="rect">
            <a:avLst/>
          </a:prstGeom>
          <a:noFill/>
          <a:ln/>
        </p:spPr>
        <p:txBody>
          <a:bodyPr wrap="square" lIns="0" tIns="0" rIns="0" bIns="0" rtlCol="0" anchor="ctr"/>
          <a:lstStyle/>
          <a:p>
            <a:pPr algn="ctr" indent="0" marL="0">
              <a:buNone/>
            </a:pPr>
            <a:r>
              <a:rPr lang="en-US" sz="1300" b="1" dirty="0">
                <a:solidFill>
                  <a:srgbClr val="0A0A0B"/>
                </a:solidFill>
              </a:rPr>
              <a:t>A</a:t>
            </a:r>
            <a:endParaRPr lang="en-US" sz="1300" dirty="0"/>
          </a:p>
        </p:txBody>
      </p:sp>
      <p:sp>
        <p:nvSpPr>
          <p:cNvPr id="9" name="Shape 6"/>
          <p:cNvSpPr/>
          <p:nvPr/>
        </p:nvSpPr>
        <p:spPr>
          <a:xfrm>
            <a:off x="1435608" y="2221992"/>
            <a:ext cx="1572768" cy="603504"/>
          </a:xfrm>
          <a:prstGeom prst="roundRect">
            <a:avLst>
              <a:gd name="adj" fmla="val 15152"/>
            </a:avLst>
          </a:prstGeom>
          <a:solidFill>
            <a:srgbClr val="E9F3EC"/>
          </a:solidFill>
          <a:ln w="12700">
            <a:solidFill>
              <a:srgbClr val="0A7F44"/>
            </a:solidFill>
            <a:prstDash val="solid"/>
          </a:ln>
        </p:spPr>
      </p:sp>
      <p:sp>
        <p:nvSpPr>
          <p:cNvPr id="10" name="Text 7"/>
          <p:cNvSpPr txBox="1"/>
          <p:nvPr/>
        </p:nvSpPr>
        <p:spPr>
          <a:xfrm>
            <a:off x="1527048" y="2258568"/>
            <a:ext cx="1444752" cy="548640"/>
          </a:xfrm>
          <a:prstGeom prst="rect">
            <a:avLst/>
          </a:prstGeom>
          <a:noFill/>
          <a:ln/>
        </p:spPr>
        <p:txBody>
          <a:bodyPr wrap="square" lIns="0" tIns="0" rIns="0" bIns="0" rtlCol="0" anchor="ctr"/>
          <a:lstStyle/>
          <a:p>
            <a:pPr indent="0" marL="0">
              <a:buNone/>
            </a:pPr>
            <a:r>
              <a:rPr lang="en-US" sz="1000" b="1" dirty="0">
                <a:solidFill>
                  <a:srgbClr val="0A7F44"/>
                </a:solidFill>
              </a:rPr>
              <a:t>Agent · private
</a:t>
            </a:r>
            <a:pPr indent="0" marL="0">
              <a:buNone/>
            </a:pPr>
            <a:r>
              <a:rPr lang="en-US" sz="950" dirty="0">
                <a:solidFill>
                  <a:srgbClr val="0A0A0B"/>
                </a:solidFill>
              </a:rPr>
              <a:t>Thu evenings · within 3 km</a:t>
            </a:r>
            <a:endParaRPr lang="en-US" sz="1400" dirty="0"/>
          </a:p>
        </p:txBody>
      </p:sp>
      <p:sp>
        <p:nvSpPr>
          <p:cNvPr id="11" name="Shape 8"/>
          <p:cNvSpPr/>
          <p:nvPr/>
        </p:nvSpPr>
        <p:spPr>
          <a:xfrm>
            <a:off x="3108960" y="2240280"/>
            <a:ext cx="566928" cy="566928"/>
          </a:xfrm>
          <a:prstGeom prst="ellipse">
            <a:avLst/>
          </a:prstGeom>
          <a:solidFill>
            <a:srgbClr val="FFFFFF"/>
          </a:solidFill>
          <a:ln w="15875">
            <a:solidFill>
              <a:srgbClr val="DCDCE0"/>
            </a:solidFill>
            <a:prstDash val="solid"/>
          </a:ln>
        </p:spPr>
      </p:sp>
      <p:sp>
        <p:nvSpPr>
          <p:cNvPr id="12" name="Text 9"/>
          <p:cNvSpPr txBox="1"/>
          <p:nvPr/>
        </p:nvSpPr>
        <p:spPr>
          <a:xfrm>
            <a:off x="3108960" y="2240280"/>
            <a:ext cx="566928" cy="566928"/>
          </a:xfrm>
          <a:prstGeom prst="rect">
            <a:avLst/>
          </a:prstGeom>
          <a:noFill/>
          <a:ln/>
        </p:spPr>
        <p:txBody>
          <a:bodyPr wrap="square" lIns="0" tIns="0" rIns="0" bIns="0" rtlCol="0" anchor="ctr"/>
          <a:lstStyle/>
          <a:p>
            <a:pPr algn="ctr" indent="0" marL="0">
              <a:buNone/>
            </a:pPr>
            <a:r>
              <a:rPr lang="en-US" sz="1300" b="1" dirty="0">
                <a:solidFill>
                  <a:srgbClr val="0A0A0B"/>
                </a:solidFill>
              </a:rPr>
              <a:t>B</a:t>
            </a:r>
            <a:endParaRPr lang="en-US" sz="1300" dirty="0"/>
          </a:p>
        </p:txBody>
      </p:sp>
      <p:sp>
        <p:nvSpPr>
          <p:cNvPr id="13" name="Shape 10"/>
          <p:cNvSpPr/>
          <p:nvPr/>
        </p:nvSpPr>
        <p:spPr>
          <a:xfrm>
            <a:off x="3767328" y="2221992"/>
            <a:ext cx="1572768" cy="603504"/>
          </a:xfrm>
          <a:prstGeom prst="roundRect">
            <a:avLst>
              <a:gd name="adj" fmla="val 15152"/>
            </a:avLst>
          </a:prstGeom>
          <a:solidFill>
            <a:srgbClr val="E9F3EC"/>
          </a:solidFill>
          <a:ln w="12700">
            <a:solidFill>
              <a:srgbClr val="0A7F44"/>
            </a:solidFill>
            <a:prstDash val="solid"/>
          </a:ln>
        </p:spPr>
      </p:sp>
      <p:sp>
        <p:nvSpPr>
          <p:cNvPr id="14" name="Text 11"/>
          <p:cNvSpPr txBox="1"/>
          <p:nvPr/>
        </p:nvSpPr>
        <p:spPr>
          <a:xfrm>
            <a:off x="3858768" y="2258568"/>
            <a:ext cx="1444752" cy="548640"/>
          </a:xfrm>
          <a:prstGeom prst="rect">
            <a:avLst/>
          </a:prstGeom>
          <a:noFill/>
          <a:ln/>
        </p:spPr>
        <p:txBody>
          <a:bodyPr wrap="square" lIns="0" tIns="0" rIns="0" bIns="0" rtlCol="0" anchor="ctr"/>
          <a:lstStyle/>
          <a:p>
            <a:pPr indent="0" marL="0">
              <a:buNone/>
            </a:pPr>
            <a:r>
              <a:rPr lang="en-US" sz="1000" b="1" dirty="0">
                <a:solidFill>
                  <a:srgbClr val="0A7F44"/>
                </a:solidFill>
              </a:rPr>
              <a:t>Agent · private
</a:t>
            </a:r>
            <a:pPr indent="0" marL="0">
              <a:buNone/>
            </a:pPr>
            <a:r>
              <a:rPr lang="en-US" sz="950" dirty="0">
                <a:solidFill>
                  <a:srgbClr val="0A0A0B"/>
                </a:solidFill>
              </a:rPr>
              <a:t>Weekends · under NT$100</a:t>
            </a:r>
            <a:endParaRPr lang="en-US" sz="1400" dirty="0"/>
          </a:p>
        </p:txBody>
      </p:sp>
      <p:sp>
        <p:nvSpPr>
          <p:cNvPr id="15" name="Shape 12"/>
          <p:cNvSpPr/>
          <p:nvPr/>
        </p:nvSpPr>
        <p:spPr>
          <a:xfrm>
            <a:off x="777240" y="3429000"/>
            <a:ext cx="566928" cy="566928"/>
          </a:xfrm>
          <a:prstGeom prst="ellipse">
            <a:avLst/>
          </a:prstGeom>
          <a:solidFill>
            <a:srgbClr val="FFFFFF"/>
          </a:solidFill>
          <a:ln w="15875">
            <a:solidFill>
              <a:srgbClr val="DCDCE0"/>
            </a:solidFill>
            <a:prstDash val="solid"/>
          </a:ln>
        </p:spPr>
      </p:sp>
      <p:sp>
        <p:nvSpPr>
          <p:cNvPr id="16" name="Text 13"/>
          <p:cNvSpPr txBox="1"/>
          <p:nvPr/>
        </p:nvSpPr>
        <p:spPr>
          <a:xfrm>
            <a:off x="777240" y="3429000"/>
            <a:ext cx="566928" cy="566928"/>
          </a:xfrm>
          <a:prstGeom prst="rect">
            <a:avLst/>
          </a:prstGeom>
          <a:noFill/>
          <a:ln/>
        </p:spPr>
        <p:txBody>
          <a:bodyPr wrap="square" lIns="0" tIns="0" rIns="0" bIns="0" rtlCol="0" anchor="ctr"/>
          <a:lstStyle/>
          <a:p>
            <a:pPr algn="ctr" indent="0" marL="0">
              <a:buNone/>
            </a:pPr>
            <a:r>
              <a:rPr lang="en-US" sz="1300" b="1" dirty="0">
                <a:solidFill>
                  <a:srgbClr val="0A0A0B"/>
                </a:solidFill>
              </a:rPr>
              <a:t>C</a:t>
            </a:r>
            <a:endParaRPr lang="en-US" sz="1300" dirty="0"/>
          </a:p>
        </p:txBody>
      </p:sp>
      <p:sp>
        <p:nvSpPr>
          <p:cNvPr id="17" name="Shape 14"/>
          <p:cNvSpPr/>
          <p:nvPr/>
        </p:nvSpPr>
        <p:spPr>
          <a:xfrm>
            <a:off x="1435608" y="3410712"/>
            <a:ext cx="1572768" cy="603504"/>
          </a:xfrm>
          <a:prstGeom prst="roundRect">
            <a:avLst>
              <a:gd name="adj" fmla="val 15152"/>
            </a:avLst>
          </a:prstGeom>
          <a:solidFill>
            <a:srgbClr val="E9F3EC"/>
          </a:solidFill>
          <a:ln w="12700">
            <a:solidFill>
              <a:srgbClr val="0A7F44"/>
            </a:solidFill>
            <a:prstDash val="solid"/>
          </a:ln>
        </p:spPr>
      </p:sp>
      <p:sp>
        <p:nvSpPr>
          <p:cNvPr id="18" name="Text 15"/>
          <p:cNvSpPr txBox="1"/>
          <p:nvPr/>
        </p:nvSpPr>
        <p:spPr>
          <a:xfrm>
            <a:off x="1527048" y="3447288"/>
            <a:ext cx="1444752" cy="548640"/>
          </a:xfrm>
          <a:prstGeom prst="rect">
            <a:avLst/>
          </a:prstGeom>
          <a:noFill/>
          <a:ln/>
        </p:spPr>
        <p:txBody>
          <a:bodyPr wrap="square" lIns="0" tIns="0" rIns="0" bIns="0" rtlCol="0" anchor="ctr"/>
          <a:lstStyle/>
          <a:p>
            <a:pPr indent="0" marL="0">
              <a:buNone/>
            </a:pPr>
            <a:r>
              <a:rPr lang="en-US" sz="1000" b="1" dirty="0">
                <a:solidFill>
                  <a:srgbClr val="0A7F44"/>
                </a:solidFill>
              </a:rPr>
              <a:t>Agent · private
</a:t>
            </a:r>
            <a:pPr indent="0" marL="0">
              <a:buNone/>
            </a:pPr>
            <a:r>
              <a:rPr lang="en-US" sz="950" dirty="0">
                <a:solidFill>
                  <a:srgbClr val="0A0A0B"/>
                </a:solidFill>
              </a:rPr>
              <a:t>Quiet courts · any day</a:t>
            </a:r>
            <a:endParaRPr lang="en-US" sz="1400" dirty="0"/>
          </a:p>
        </p:txBody>
      </p:sp>
      <p:sp>
        <p:nvSpPr>
          <p:cNvPr id="19" name="Shape 16"/>
          <p:cNvSpPr/>
          <p:nvPr/>
        </p:nvSpPr>
        <p:spPr>
          <a:xfrm>
            <a:off x="3108960" y="3429000"/>
            <a:ext cx="566928" cy="566928"/>
          </a:xfrm>
          <a:prstGeom prst="ellipse">
            <a:avLst/>
          </a:prstGeom>
          <a:solidFill>
            <a:srgbClr val="FFFFFF"/>
          </a:solidFill>
          <a:ln w="15875">
            <a:solidFill>
              <a:srgbClr val="DCDCE0"/>
            </a:solidFill>
            <a:prstDash val="solid"/>
          </a:ln>
        </p:spPr>
      </p:sp>
      <p:sp>
        <p:nvSpPr>
          <p:cNvPr id="20" name="Text 17"/>
          <p:cNvSpPr txBox="1"/>
          <p:nvPr/>
        </p:nvSpPr>
        <p:spPr>
          <a:xfrm>
            <a:off x="3108960" y="3429000"/>
            <a:ext cx="566928" cy="566928"/>
          </a:xfrm>
          <a:prstGeom prst="rect">
            <a:avLst/>
          </a:prstGeom>
          <a:noFill/>
          <a:ln/>
        </p:spPr>
        <p:txBody>
          <a:bodyPr wrap="square" lIns="0" tIns="0" rIns="0" bIns="0" rtlCol="0" anchor="ctr"/>
          <a:lstStyle/>
          <a:p>
            <a:pPr algn="ctr" indent="0" marL="0">
              <a:buNone/>
            </a:pPr>
            <a:r>
              <a:rPr lang="en-US" sz="1300" b="1" dirty="0">
                <a:solidFill>
                  <a:srgbClr val="0A0A0B"/>
                </a:solidFill>
              </a:rPr>
              <a:t>D</a:t>
            </a:r>
            <a:endParaRPr lang="en-US" sz="1300" dirty="0"/>
          </a:p>
        </p:txBody>
      </p:sp>
      <p:sp>
        <p:nvSpPr>
          <p:cNvPr id="21" name="Shape 18"/>
          <p:cNvSpPr/>
          <p:nvPr/>
        </p:nvSpPr>
        <p:spPr>
          <a:xfrm>
            <a:off x="3767328" y="3410712"/>
            <a:ext cx="1572768" cy="603504"/>
          </a:xfrm>
          <a:prstGeom prst="roundRect">
            <a:avLst>
              <a:gd name="adj" fmla="val 15152"/>
            </a:avLst>
          </a:prstGeom>
          <a:solidFill>
            <a:srgbClr val="E9F3EC"/>
          </a:solidFill>
          <a:ln w="12700">
            <a:solidFill>
              <a:srgbClr val="0A7F44"/>
            </a:solidFill>
            <a:prstDash val="solid"/>
          </a:ln>
        </p:spPr>
      </p:sp>
      <p:sp>
        <p:nvSpPr>
          <p:cNvPr id="22" name="Text 19"/>
          <p:cNvSpPr txBox="1"/>
          <p:nvPr/>
        </p:nvSpPr>
        <p:spPr>
          <a:xfrm>
            <a:off x="3858768" y="3447288"/>
            <a:ext cx="1444752" cy="548640"/>
          </a:xfrm>
          <a:prstGeom prst="rect">
            <a:avLst/>
          </a:prstGeom>
          <a:noFill/>
          <a:ln/>
        </p:spPr>
        <p:txBody>
          <a:bodyPr wrap="square" lIns="0" tIns="0" rIns="0" bIns="0" rtlCol="0" anchor="ctr"/>
          <a:lstStyle/>
          <a:p>
            <a:pPr indent="0" marL="0">
              <a:buNone/>
            </a:pPr>
            <a:r>
              <a:rPr lang="en-US" sz="1000" b="1" dirty="0">
                <a:solidFill>
                  <a:srgbClr val="0A7F44"/>
                </a:solidFill>
              </a:rPr>
              <a:t>Agent · private
</a:t>
            </a:r>
            <a:pPr indent="0" marL="0">
              <a:buNone/>
            </a:pPr>
            <a:r>
              <a:rPr lang="en-US" sz="950" dirty="0">
                <a:solidFill>
                  <a:srgbClr val="0A0A0B"/>
                </a:solidFill>
              </a:rPr>
              <a:t>Early mornings · near work</a:t>
            </a:r>
            <a:endParaRPr lang="en-US" sz="1400" dirty="0"/>
          </a:p>
        </p:txBody>
      </p:sp>
      <p:sp>
        <p:nvSpPr>
          <p:cNvPr id="23" name="Shape 20"/>
          <p:cNvSpPr/>
          <p:nvPr/>
        </p:nvSpPr>
        <p:spPr>
          <a:xfrm>
            <a:off x="2221992" y="2862072"/>
            <a:ext cx="0" cy="530352"/>
          </a:xfrm>
          <a:prstGeom prst="line">
            <a:avLst/>
          </a:prstGeom>
          <a:noFill/>
          <a:ln w="15875">
            <a:solidFill>
              <a:srgbClr val="D1352B"/>
            </a:solidFill>
            <a:prstDash val="dash"/>
          </a:ln>
        </p:spPr>
      </p:sp>
      <p:sp>
        <p:nvSpPr>
          <p:cNvPr id="24" name="Shape 21"/>
          <p:cNvSpPr/>
          <p:nvPr/>
        </p:nvSpPr>
        <p:spPr>
          <a:xfrm>
            <a:off x="4553712" y="2862072"/>
            <a:ext cx="0" cy="530352"/>
          </a:xfrm>
          <a:prstGeom prst="line">
            <a:avLst/>
          </a:prstGeom>
          <a:noFill/>
          <a:ln w="15875">
            <a:solidFill>
              <a:srgbClr val="D1352B"/>
            </a:solidFill>
            <a:prstDash val="dash"/>
          </a:ln>
        </p:spPr>
      </p:sp>
      <p:sp>
        <p:nvSpPr>
          <p:cNvPr id="25" name="Text 22"/>
          <p:cNvSpPr txBox="1"/>
          <p:nvPr/>
        </p:nvSpPr>
        <p:spPr>
          <a:xfrm>
            <a:off x="2331720" y="2990088"/>
            <a:ext cx="274320" cy="274320"/>
          </a:xfrm>
          <a:prstGeom prst="rect">
            <a:avLst/>
          </a:prstGeom>
          <a:noFill/>
          <a:ln/>
        </p:spPr>
        <p:txBody>
          <a:bodyPr wrap="square" lIns="0" tIns="0" rIns="0" bIns="0" rtlCol="0" anchor="t"/>
          <a:lstStyle/>
          <a:p>
            <a:pPr indent="0" marL="0">
              <a:buNone/>
            </a:pPr>
            <a:r>
              <a:rPr lang="en-US" sz="1400" b="1" dirty="0">
                <a:solidFill>
                  <a:srgbClr val="D1352B"/>
                </a:solidFill>
              </a:rPr>
              <a:t>?</a:t>
            </a:r>
            <a:endParaRPr lang="en-US" sz="1400" dirty="0"/>
          </a:p>
        </p:txBody>
      </p:sp>
      <p:sp>
        <p:nvSpPr>
          <p:cNvPr id="26" name="Text 23"/>
          <p:cNvSpPr txBox="1"/>
          <p:nvPr/>
        </p:nvSpPr>
        <p:spPr>
          <a:xfrm>
            <a:off x="4663440" y="2990088"/>
            <a:ext cx="274320" cy="274320"/>
          </a:xfrm>
          <a:prstGeom prst="rect">
            <a:avLst/>
          </a:prstGeom>
          <a:noFill/>
          <a:ln/>
        </p:spPr>
        <p:txBody>
          <a:bodyPr wrap="square" lIns="0" tIns="0" rIns="0" bIns="0" rtlCol="0" anchor="t"/>
          <a:lstStyle/>
          <a:p>
            <a:pPr indent="0" marL="0">
              <a:buNone/>
            </a:pPr>
            <a:r>
              <a:rPr lang="en-US" sz="1400" b="1" dirty="0">
                <a:solidFill>
                  <a:srgbClr val="D1352B"/>
                </a:solidFill>
              </a:rPr>
              <a:t>?</a:t>
            </a:r>
            <a:endParaRPr lang="en-US" sz="1400" dirty="0"/>
          </a:p>
        </p:txBody>
      </p:sp>
      <p:sp>
        <p:nvSpPr>
          <p:cNvPr id="27" name="Text 24"/>
          <p:cNvSpPr txBox="1"/>
          <p:nvPr/>
        </p:nvSpPr>
        <p:spPr>
          <a:xfrm>
            <a:off x="777240" y="4160520"/>
            <a:ext cx="4663440" cy="685800"/>
          </a:xfrm>
          <a:prstGeom prst="rect">
            <a:avLst/>
          </a:prstGeom>
          <a:noFill/>
          <a:ln/>
        </p:spPr>
        <p:txBody>
          <a:bodyPr wrap="square" lIns="0" tIns="0" rIns="0" bIns="0" rtlCol="0" anchor="t"/>
          <a:lstStyle/>
          <a:p>
            <a:pPr indent="0" marL="0">
              <a:buNone/>
            </a:pPr>
            <a:r>
              <a:rPr lang="en-US" sz="1100" dirty="0">
                <a:solidFill>
                  <a:srgbClr val="55555C"/>
                </a:solidFill>
              </a:rPr>
              <a:t>Only each agent knows its person's times, distance and price: that stays private. But an agent can only message its own contacts, and has no way to know which strangers' agents to trust.</a:t>
            </a:r>
            <a:endParaRPr lang="en-US" sz="1100" dirty="0"/>
          </a:p>
        </p:txBody>
      </p:sp>
      <p:sp>
        <p:nvSpPr>
          <p:cNvPr id="28" name="Shape 25"/>
          <p:cNvSpPr/>
          <p:nvPr/>
        </p:nvSpPr>
        <p:spPr>
          <a:xfrm>
            <a:off x="5687568" y="3246120"/>
            <a:ext cx="411480" cy="0"/>
          </a:xfrm>
          <a:prstGeom prst="line">
            <a:avLst/>
          </a:prstGeom>
          <a:noFill/>
          <a:ln w="31750">
            <a:solidFill>
              <a:srgbClr val="0A7F44"/>
            </a:solidFill>
            <a:prstDash val="solid"/>
            <a:tailEnd type="triangle"/>
          </a:ln>
        </p:spPr>
      </p:sp>
      <p:sp>
        <p:nvSpPr>
          <p:cNvPr id="29" name="Shape 26"/>
          <p:cNvSpPr/>
          <p:nvPr/>
        </p:nvSpPr>
        <p:spPr>
          <a:xfrm>
            <a:off x="6172200" y="1645920"/>
            <a:ext cx="5440680" cy="3246120"/>
          </a:xfrm>
          <a:prstGeom prst="roundRect">
            <a:avLst>
              <a:gd name="adj" fmla="val 3380"/>
            </a:avLst>
          </a:prstGeom>
          <a:solidFill>
            <a:srgbClr val="E9F3EC"/>
          </a:solidFill>
          <a:ln w="12700">
            <a:solidFill>
              <a:srgbClr val="E9F3EC"/>
            </a:solidFill>
            <a:prstDash val="solid"/>
          </a:ln>
        </p:spPr>
      </p:sp>
      <p:sp>
        <p:nvSpPr>
          <p:cNvPr id="30" name="Text 27"/>
          <p:cNvSpPr txBox="1"/>
          <p:nvPr/>
        </p:nvSpPr>
        <p:spPr>
          <a:xfrm>
            <a:off x="6400800" y="1783080"/>
            <a:ext cx="5120640" cy="256032"/>
          </a:xfrm>
          <a:prstGeom prst="rect">
            <a:avLst/>
          </a:prstGeom>
          <a:noFill/>
          <a:ln/>
        </p:spPr>
        <p:txBody>
          <a:bodyPr wrap="square" lIns="0" tIns="0" rIns="0" bIns="0" rtlCol="0" anchor="t"/>
          <a:lstStyle/>
          <a:p>
            <a:pPr indent="0" marL="0">
              <a:buNone/>
            </a:pPr>
            <a:r>
              <a:rPr lang="en-US" sz="1100" b="1" spc="100" kern="0" dirty="0">
                <a:solidFill>
                  <a:srgbClr val="0A7F44"/>
                </a:solidFill>
              </a:rPr>
              <a:t>SERVE: A PLACE WHERE PEOPLE AND THEIR AGENTS MEET</a:t>
            </a:r>
            <a:endParaRPr lang="en-US" sz="1100" dirty="0"/>
          </a:p>
        </p:txBody>
      </p:sp>
      <p:sp>
        <p:nvSpPr>
          <p:cNvPr id="31" name="Shape 28"/>
          <p:cNvSpPr/>
          <p:nvPr/>
        </p:nvSpPr>
        <p:spPr>
          <a:xfrm>
            <a:off x="7744968" y="2633472"/>
            <a:ext cx="2286000" cy="1133856"/>
          </a:xfrm>
          <a:prstGeom prst="roundRect">
            <a:avLst>
              <a:gd name="adj" fmla="val 14516"/>
            </a:avLst>
          </a:prstGeom>
          <a:solidFill>
            <a:srgbClr val="FFFFFF"/>
          </a:solidFill>
          <a:ln w="25400">
            <a:solidFill>
              <a:srgbClr val="0A7F44"/>
            </a:solidFill>
            <a:prstDash val="solid"/>
          </a:ln>
        </p:spPr>
      </p:sp>
      <p:sp>
        <p:nvSpPr>
          <p:cNvPr id="32" name="Text 29"/>
          <p:cNvSpPr txBox="1"/>
          <p:nvPr/>
        </p:nvSpPr>
        <p:spPr>
          <a:xfrm>
            <a:off x="7863840" y="2697480"/>
            <a:ext cx="2048256" cy="1005840"/>
          </a:xfrm>
          <a:prstGeom prst="rect">
            <a:avLst/>
          </a:prstGeom>
          <a:noFill/>
          <a:ln/>
        </p:spPr>
        <p:txBody>
          <a:bodyPr wrap="square" lIns="0" tIns="0" rIns="0" bIns="0" rtlCol="0" anchor="ctr"/>
          <a:lstStyle/>
          <a:p>
            <a:pPr algn="ctr" indent="0" marL="0">
              <a:buNone/>
            </a:pPr>
            <a:r>
              <a:rPr lang="en-US" sz="1500" b="1" dirty="0">
                <a:solidFill>
                  <a:srgbClr val="0A0A0B"/>
                </a:solidFill>
              </a:rPr>
              <a:t>Huddle
</a:t>
            </a:r>
            <a:pPr algn="ctr" indent="0" marL="0">
              <a:buNone/>
            </a:pPr>
            <a:r>
              <a:rPr lang="en-US" sz="950" dirty="0">
                <a:solidFill>
                  <a:srgbClr val="55555C"/>
                </a:solidFill>
              </a:rPr>
              <a:t>find partners nearby · agree a time and a court · check trust · ask the venue</a:t>
            </a:r>
            <a:endParaRPr lang="en-US" sz="1400" dirty="0"/>
          </a:p>
        </p:txBody>
      </p:sp>
      <p:sp>
        <p:nvSpPr>
          <p:cNvPr id="33" name="Shape 30"/>
          <p:cNvSpPr/>
          <p:nvPr/>
        </p:nvSpPr>
        <p:spPr>
          <a:xfrm>
            <a:off x="6629400" y="2505456"/>
            <a:ext cx="566928" cy="566928"/>
          </a:xfrm>
          <a:prstGeom prst="ellipse">
            <a:avLst/>
          </a:prstGeom>
          <a:solidFill>
            <a:srgbClr val="0A7F44"/>
          </a:solidFill>
          <a:ln w="12700">
            <a:solidFill>
              <a:srgbClr val="0A7F44"/>
            </a:solidFill>
            <a:prstDash val="solid"/>
          </a:ln>
        </p:spPr>
      </p:sp>
      <p:sp>
        <p:nvSpPr>
          <p:cNvPr id="34" name="Text 31"/>
          <p:cNvSpPr txBox="1"/>
          <p:nvPr/>
        </p:nvSpPr>
        <p:spPr>
          <a:xfrm>
            <a:off x="6629400" y="2505456"/>
            <a:ext cx="566928" cy="566928"/>
          </a:xfrm>
          <a:prstGeom prst="rect">
            <a:avLst/>
          </a:prstGeom>
          <a:noFill/>
          <a:ln/>
        </p:spPr>
        <p:txBody>
          <a:bodyPr wrap="square" lIns="0" tIns="0" rIns="0" bIns="0" rtlCol="0" anchor="ctr"/>
          <a:lstStyle/>
          <a:p>
            <a:pPr algn="ctr" indent="0" marL="0">
              <a:buNone/>
            </a:pPr>
            <a:r>
              <a:rPr lang="en-US" sz="1300" b="1" dirty="0">
                <a:solidFill>
                  <a:srgbClr val="FFFFFF"/>
                </a:solidFill>
              </a:rPr>
              <a:t>A</a:t>
            </a:r>
            <a:endParaRPr lang="en-US" sz="1300" dirty="0"/>
          </a:p>
        </p:txBody>
      </p:sp>
      <p:sp>
        <p:nvSpPr>
          <p:cNvPr id="35" name="Shape 32"/>
          <p:cNvSpPr/>
          <p:nvPr/>
        </p:nvSpPr>
        <p:spPr>
          <a:xfrm>
            <a:off x="7232904" y="2788920"/>
            <a:ext cx="475488" cy="0"/>
          </a:xfrm>
          <a:prstGeom prst="line">
            <a:avLst/>
          </a:prstGeom>
          <a:noFill/>
          <a:ln w="19050">
            <a:solidFill>
              <a:srgbClr val="0A7F44"/>
            </a:solidFill>
            <a:prstDash val="solid"/>
            <a:headEnd type="triangle"/>
            <a:tailEnd type="triangle"/>
          </a:ln>
        </p:spPr>
      </p:sp>
      <p:sp>
        <p:nvSpPr>
          <p:cNvPr id="36" name="Shape 33"/>
          <p:cNvSpPr/>
          <p:nvPr/>
        </p:nvSpPr>
        <p:spPr>
          <a:xfrm>
            <a:off x="10579608" y="2505456"/>
            <a:ext cx="566928" cy="566928"/>
          </a:xfrm>
          <a:prstGeom prst="ellipse">
            <a:avLst/>
          </a:prstGeom>
          <a:solidFill>
            <a:srgbClr val="0A7F44"/>
          </a:solidFill>
          <a:ln w="12700">
            <a:solidFill>
              <a:srgbClr val="0A7F44"/>
            </a:solidFill>
            <a:prstDash val="solid"/>
          </a:ln>
        </p:spPr>
      </p:sp>
      <p:sp>
        <p:nvSpPr>
          <p:cNvPr id="37" name="Text 34"/>
          <p:cNvSpPr txBox="1"/>
          <p:nvPr/>
        </p:nvSpPr>
        <p:spPr>
          <a:xfrm>
            <a:off x="10579608" y="2505456"/>
            <a:ext cx="566928" cy="566928"/>
          </a:xfrm>
          <a:prstGeom prst="rect">
            <a:avLst/>
          </a:prstGeom>
          <a:noFill/>
          <a:ln/>
        </p:spPr>
        <p:txBody>
          <a:bodyPr wrap="square" lIns="0" tIns="0" rIns="0" bIns="0" rtlCol="0" anchor="ctr"/>
          <a:lstStyle/>
          <a:p>
            <a:pPr algn="ctr" indent="0" marL="0">
              <a:buNone/>
            </a:pPr>
            <a:r>
              <a:rPr lang="en-US" sz="1300" b="1" dirty="0">
                <a:solidFill>
                  <a:srgbClr val="FFFFFF"/>
                </a:solidFill>
              </a:rPr>
              <a:t>B</a:t>
            </a:r>
            <a:endParaRPr lang="en-US" sz="1300" dirty="0"/>
          </a:p>
        </p:txBody>
      </p:sp>
      <p:sp>
        <p:nvSpPr>
          <p:cNvPr id="38" name="Shape 35"/>
          <p:cNvSpPr/>
          <p:nvPr/>
        </p:nvSpPr>
        <p:spPr>
          <a:xfrm>
            <a:off x="10067544" y="2788920"/>
            <a:ext cx="475488" cy="0"/>
          </a:xfrm>
          <a:prstGeom prst="line">
            <a:avLst/>
          </a:prstGeom>
          <a:noFill/>
          <a:ln w="19050">
            <a:solidFill>
              <a:srgbClr val="0A7F44"/>
            </a:solidFill>
            <a:prstDash val="solid"/>
            <a:headEnd type="triangle"/>
            <a:tailEnd type="triangle"/>
          </a:ln>
        </p:spPr>
      </p:sp>
      <p:sp>
        <p:nvSpPr>
          <p:cNvPr id="39" name="Shape 36"/>
          <p:cNvSpPr/>
          <p:nvPr/>
        </p:nvSpPr>
        <p:spPr>
          <a:xfrm>
            <a:off x="6629400" y="3328416"/>
            <a:ext cx="566928" cy="566928"/>
          </a:xfrm>
          <a:prstGeom prst="ellipse">
            <a:avLst/>
          </a:prstGeom>
          <a:solidFill>
            <a:srgbClr val="0A7F44"/>
          </a:solidFill>
          <a:ln w="12700">
            <a:solidFill>
              <a:srgbClr val="0A7F44"/>
            </a:solidFill>
            <a:prstDash val="solid"/>
          </a:ln>
        </p:spPr>
      </p:sp>
      <p:sp>
        <p:nvSpPr>
          <p:cNvPr id="40" name="Text 37"/>
          <p:cNvSpPr txBox="1"/>
          <p:nvPr/>
        </p:nvSpPr>
        <p:spPr>
          <a:xfrm>
            <a:off x="6629400" y="3328416"/>
            <a:ext cx="566928" cy="566928"/>
          </a:xfrm>
          <a:prstGeom prst="rect">
            <a:avLst/>
          </a:prstGeom>
          <a:noFill/>
          <a:ln/>
        </p:spPr>
        <p:txBody>
          <a:bodyPr wrap="square" lIns="0" tIns="0" rIns="0" bIns="0" rtlCol="0" anchor="ctr"/>
          <a:lstStyle/>
          <a:p>
            <a:pPr algn="ctr" indent="0" marL="0">
              <a:buNone/>
            </a:pPr>
            <a:r>
              <a:rPr lang="en-US" sz="1300" b="1" dirty="0">
                <a:solidFill>
                  <a:srgbClr val="FFFFFF"/>
                </a:solidFill>
              </a:rPr>
              <a:t>C</a:t>
            </a:r>
            <a:endParaRPr lang="en-US" sz="1300" dirty="0"/>
          </a:p>
        </p:txBody>
      </p:sp>
      <p:sp>
        <p:nvSpPr>
          <p:cNvPr id="41" name="Shape 38"/>
          <p:cNvSpPr/>
          <p:nvPr/>
        </p:nvSpPr>
        <p:spPr>
          <a:xfrm>
            <a:off x="7232904" y="3611880"/>
            <a:ext cx="475488" cy="0"/>
          </a:xfrm>
          <a:prstGeom prst="line">
            <a:avLst/>
          </a:prstGeom>
          <a:noFill/>
          <a:ln w="19050">
            <a:solidFill>
              <a:srgbClr val="0A7F44"/>
            </a:solidFill>
            <a:prstDash val="solid"/>
            <a:headEnd type="triangle"/>
            <a:tailEnd type="triangle"/>
          </a:ln>
        </p:spPr>
      </p:sp>
      <p:sp>
        <p:nvSpPr>
          <p:cNvPr id="42" name="Shape 39"/>
          <p:cNvSpPr/>
          <p:nvPr/>
        </p:nvSpPr>
        <p:spPr>
          <a:xfrm>
            <a:off x="10579608" y="3328416"/>
            <a:ext cx="566928" cy="566928"/>
          </a:xfrm>
          <a:prstGeom prst="ellipse">
            <a:avLst/>
          </a:prstGeom>
          <a:solidFill>
            <a:srgbClr val="0A7F44"/>
          </a:solidFill>
          <a:ln w="12700">
            <a:solidFill>
              <a:srgbClr val="0A7F44"/>
            </a:solidFill>
            <a:prstDash val="solid"/>
          </a:ln>
        </p:spPr>
      </p:sp>
      <p:sp>
        <p:nvSpPr>
          <p:cNvPr id="43" name="Text 40"/>
          <p:cNvSpPr txBox="1"/>
          <p:nvPr/>
        </p:nvSpPr>
        <p:spPr>
          <a:xfrm>
            <a:off x="10579608" y="3328416"/>
            <a:ext cx="566928" cy="566928"/>
          </a:xfrm>
          <a:prstGeom prst="rect">
            <a:avLst/>
          </a:prstGeom>
          <a:noFill/>
          <a:ln/>
        </p:spPr>
        <p:txBody>
          <a:bodyPr wrap="square" lIns="0" tIns="0" rIns="0" bIns="0" rtlCol="0" anchor="ctr"/>
          <a:lstStyle/>
          <a:p>
            <a:pPr algn="ctr" indent="0" marL="0">
              <a:buNone/>
            </a:pPr>
            <a:r>
              <a:rPr lang="en-US" sz="1300" b="1" dirty="0">
                <a:solidFill>
                  <a:srgbClr val="FFFFFF"/>
                </a:solidFill>
              </a:rPr>
              <a:t>D</a:t>
            </a:r>
            <a:endParaRPr lang="en-US" sz="1300" dirty="0"/>
          </a:p>
        </p:txBody>
      </p:sp>
      <p:sp>
        <p:nvSpPr>
          <p:cNvPr id="44" name="Shape 41"/>
          <p:cNvSpPr/>
          <p:nvPr/>
        </p:nvSpPr>
        <p:spPr>
          <a:xfrm>
            <a:off x="10067544" y="3611880"/>
            <a:ext cx="475488" cy="0"/>
          </a:xfrm>
          <a:prstGeom prst="line">
            <a:avLst/>
          </a:prstGeom>
          <a:noFill/>
          <a:ln w="19050">
            <a:solidFill>
              <a:srgbClr val="0A7F44"/>
            </a:solidFill>
            <a:prstDash val="solid"/>
            <a:headEnd type="triangle"/>
            <a:tailEnd type="triangle"/>
          </a:ln>
        </p:spPr>
      </p:sp>
      <p:sp>
        <p:nvSpPr>
          <p:cNvPr id="45" name="Text 42"/>
          <p:cNvSpPr txBox="1"/>
          <p:nvPr/>
        </p:nvSpPr>
        <p:spPr>
          <a:xfrm>
            <a:off x="6400800" y="4407408"/>
            <a:ext cx="5029200" cy="365760"/>
          </a:xfrm>
          <a:prstGeom prst="rect">
            <a:avLst/>
          </a:prstGeom>
          <a:noFill/>
          <a:ln/>
        </p:spPr>
        <p:txBody>
          <a:bodyPr wrap="square" lIns="0" tIns="0" rIns="0" bIns="0" rtlCol="0" anchor="t"/>
          <a:lstStyle/>
          <a:p>
            <a:pPr algn="ctr" indent="0" marL="0">
              <a:buNone/>
            </a:pPr>
            <a:r>
              <a:rPr lang="en-US" sz="1100" b="1" dirty="0">
                <a:solidFill>
                  <a:srgbClr val="0A7F44"/>
                </a:solidFill>
              </a:rPr>
              <a:t>Agents trade only yes, no and why. The preferences never leave the agent.</a:t>
            </a:r>
            <a:endParaRPr lang="en-US" sz="1100" dirty="0"/>
          </a:p>
        </p:txBody>
      </p:sp>
      <p:sp>
        <p:nvSpPr>
          <p:cNvPr id="46" name="Shape 43"/>
          <p:cNvSpPr/>
          <p:nvPr/>
        </p:nvSpPr>
        <p:spPr>
          <a:xfrm>
            <a:off x="548640" y="5074920"/>
            <a:ext cx="3584448" cy="1005840"/>
          </a:xfrm>
          <a:prstGeom prst="roundRect">
            <a:avLst>
              <a:gd name="adj" fmla="val 10909"/>
            </a:avLst>
          </a:prstGeom>
          <a:solidFill>
            <a:srgbClr val="E9F3EC"/>
          </a:solidFill>
          <a:ln w="12700">
            <a:solidFill>
              <a:srgbClr val="E9F3EC"/>
            </a:solidFill>
            <a:prstDash val="solid"/>
          </a:ln>
        </p:spPr>
      </p:sp>
      <p:sp>
        <p:nvSpPr>
          <p:cNvPr id="47" name="Text 44"/>
          <p:cNvSpPr txBox="1"/>
          <p:nvPr/>
        </p:nvSpPr>
        <p:spPr>
          <a:xfrm>
            <a:off x="731520" y="5166360"/>
            <a:ext cx="3291840" cy="237744"/>
          </a:xfrm>
          <a:prstGeom prst="rect">
            <a:avLst/>
          </a:prstGeom>
          <a:noFill/>
          <a:ln/>
        </p:spPr>
        <p:txBody>
          <a:bodyPr wrap="square" lIns="0" tIns="0" rIns="0" bIns="0" rtlCol="0" anchor="t"/>
          <a:lstStyle/>
          <a:p>
            <a:pPr indent="0" marL="0">
              <a:buNone/>
            </a:pPr>
            <a:r>
              <a:rPr lang="en-US" sz="1050" b="1" spc="100" kern="0" dirty="0">
                <a:solidFill>
                  <a:srgbClr val="0A7F44"/>
                </a:solidFill>
              </a:rPr>
              <a:t>AI TRUST</a:t>
            </a:r>
            <a:endParaRPr lang="en-US" sz="1050" dirty="0"/>
          </a:p>
        </p:txBody>
      </p:sp>
      <p:sp>
        <p:nvSpPr>
          <p:cNvPr id="48" name="Text 45"/>
          <p:cNvSpPr txBox="1"/>
          <p:nvPr/>
        </p:nvSpPr>
        <p:spPr>
          <a:xfrm>
            <a:off x="731520" y="5422392"/>
            <a:ext cx="3291840" cy="640080"/>
          </a:xfrm>
          <a:prstGeom prst="rect">
            <a:avLst/>
          </a:prstGeom>
          <a:noFill/>
          <a:ln/>
        </p:spPr>
        <p:txBody>
          <a:bodyPr wrap="square" lIns="0" tIns="0" rIns="0" bIns="0" rtlCol="0" anchor="t"/>
          <a:lstStyle/>
          <a:p>
            <a:pPr indent="0" marL="0">
              <a:buNone/>
            </a:pPr>
            <a:r>
              <a:rPr lang="en-US" sz="1050" dirty="0">
                <a:solidFill>
                  <a:srgbClr val="0A0A0B"/>
                </a:solidFill>
              </a:rPr>
              <a:t>Two records, counted by code: does the person show up, does their agent keep its yeses. Every agent has its own key and signs every message.</a:t>
            </a:r>
            <a:endParaRPr lang="en-US" sz="1050" dirty="0"/>
          </a:p>
        </p:txBody>
      </p:sp>
      <p:sp>
        <p:nvSpPr>
          <p:cNvPr id="49" name="Shape 46"/>
          <p:cNvSpPr/>
          <p:nvPr/>
        </p:nvSpPr>
        <p:spPr>
          <a:xfrm>
            <a:off x="4270248" y="5074920"/>
            <a:ext cx="3584448" cy="1005840"/>
          </a:xfrm>
          <a:prstGeom prst="roundRect">
            <a:avLst>
              <a:gd name="adj" fmla="val 10909"/>
            </a:avLst>
          </a:prstGeom>
          <a:solidFill>
            <a:srgbClr val="E8F1FD"/>
          </a:solidFill>
          <a:ln w="12700">
            <a:solidFill>
              <a:srgbClr val="E8F1FD"/>
            </a:solidFill>
            <a:prstDash val="solid"/>
          </a:ln>
        </p:spPr>
      </p:sp>
      <p:sp>
        <p:nvSpPr>
          <p:cNvPr id="50" name="Text 47"/>
          <p:cNvSpPr txBox="1"/>
          <p:nvPr/>
        </p:nvSpPr>
        <p:spPr>
          <a:xfrm>
            <a:off x="4453128" y="5166360"/>
            <a:ext cx="3291840" cy="237744"/>
          </a:xfrm>
          <a:prstGeom prst="rect">
            <a:avLst/>
          </a:prstGeom>
          <a:noFill/>
          <a:ln/>
        </p:spPr>
        <p:txBody>
          <a:bodyPr wrap="square" lIns="0" tIns="0" rIns="0" bIns="0" rtlCol="0" anchor="t"/>
          <a:lstStyle/>
          <a:p>
            <a:pPr indent="0" marL="0">
              <a:buNone/>
            </a:pPr>
            <a:r>
              <a:rPr lang="en-US" sz="1050" b="1" spc="100" kern="0" dirty="0">
                <a:solidFill>
                  <a:srgbClr val="0064E0"/>
                </a:solidFill>
              </a:rPr>
              <a:t>WEB3-STYLE, NO CHAIN NEEDED</a:t>
            </a:r>
            <a:endParaRPr lang="en-US" sz="1050" dirty="0"/>
          </a:p>
        </p:txBody>
      </p:sp>
      <p:sp>
        <p:nvSpPr>
          <p:cNvPr id="51" name="Text 48"/>
          <p:cNvSpPr txBox="1"/>
          <p:nvPr/>
        </p:nvSpPr>
        <p:spPr>
          <a:xfrm>
            <a:off x="4453128" y="5422392"/>
            <a:ext cx="3291840" cy="640080"/>
          </a:xfrm>
          <a:prstGeom prst="rect">
            <a:avLst/>
          </a:prstGeom>
          <a:noFill/>
          <a:ln/>
        </p:spPr>
        <p:txBody>
          <a:bodyPr wrap="square" lIns="0" tIns="0" rIns="0" bIns="0" rtlCol="0" anchor="t"/>
          <a:lstStyle/>
          <a:p>
            <a:pPr indent="0" marL="0">
              <a:buNone/>
            </a:pPr>
            <a:r>
              <a:rPr lang="en-US" sz="1050" dirty="0">
                <a:solidFill>
                  <a:srgbClr val="0A0A0B"/>
                </a:solidFill>
              </a:rPr>
              <a:t>You own your agent's key and your data stays with it. Clubs can federate across servers, and members govern the rules.</a:t>
            </a:r>
            <a:endParaRPr lang="en-US" sz="1050" dirty="0"/>
          </a:p>
        </p:txBody>
      </p:sp>
      <p:sp>
        <p:nvSpPr>
          <p:cNvPr id="52" name="Shape 49"/>
          <p:cNvSpPr/>
          <p:nvPr/>
        </p:nvSpPr>
        <p:spPr>
          <a:xfrm>
            <a:off x="7991856" y="5074920"/>
            <a:ext cx="3584448" cy="1005840"/>
          </a:xfrm>
          <a:prstGeom prst="roundRect">
            <a:avLst>
              <a:gd name="adj" fmla="val 10909"/>
            </a:avLst>
          </a:prstGeom>
          <a:solidFill>
            <a:srgbClr val="FBF3E6"/>
          </a:solidFill>
          <a:ln w="12700">
            <a:solidFill>
              <a:srgbClr val="FBF3E6"/>
            </a:solidFill>
            <a:prstDash val="solid"/>
          </a:ln>
        </p:spPr>
      </p:sp>
      <p:sp>
        <p:nvSpPr>
          <p:cNvPr id="53" name="Text 50"/>
          <p:cNvSpPr txBox="1"/>
          <p:nvPr/>
        </p:nvSpPr>
        <p:spPr>
          <a:xfrm>
            <a:off x="8174736" y="5166360"/>
            <a:ext cx="3291840" cy="237744"/>
          </a:xfrm>
          <a:prstGeom prst="rect">
            <a:avLst/>
          </a:prstGeom>
          <a:noFill/>
          <a:ln/>
        </p:spPr>
        <p:txBody>
          <a:bodyPr wrap="square" lIns="0" tIns="0" rIns="0" bIns="0" rtlCol="0" anchor="t"/>
          <a:lstStyle/>
          <a:p>
            <a:pPr indent="0" marL="0">
              <a:buNone/>
            </a:pPr>
            <a:r>
              <a:rPr lang="en-US" sz="1050" b="1" spc="100" kern="0" dirty="0">
                <a:solidFill>
                  <a:srgbClr val="B26A00"/>
                </a:solidFill>
              </a:rPr>
              <a:t>EVOLVES WITH ITS AGENTS</a:t>
            </a:r>
            <a:endParaRPr lang="en-US" sz="1050" dirty="0"/>
          </a:p>
        </p:txBody>
      </p:sp>
      <p:sp>
        <p:nvSpPr>
          <p:cNvPr id="54" name="Text 51"/>
          <p:cNvSpPr txBox="1"/>
          <p:nvPr/>
        </p:nvSpPr>
        <p:spPr>
          <a:xfrm>
            <a:off x="8174736" y="5422392"/>
            <a:ext cx="3291840" cy="640080"/>
          </a:xfrm>
          <a:prstGeom prst="rect">
            <a:avLst/>
          </a:prstGeom>
          <a:noFill/>
          <a:ln/>
        </p:spPr>
        <p:txBody>
          <a:bodyPr wrap="square" lIns="0" tIns="0" rIns="0" bIns="0" rtlCol="0" anchor="t"/>
          <a:lstStyle/>
          <a:p>
            <a:pPr indent="0" marL="0">
              <a:buNone/>
            </a:pPr>
            <a:r>
              <a:rPr lang="en-US" sz="1050" dirty="0">
                <a:solidFill>
                  <a:srgbClr val="0A0A0B"/>
                </a:solidFill>
              </a:rPr>
              <a:t>What agents keep running into becomes a club idea: members vote, it's built and passes the safety gates, and the platform adapts to its agents.</a:t>
            </a:r>
            <a:endParaRPr lang="en-US" sz="1050" dirty="0"/>
          </a:p>
        </p:txBody>
      </p:sp>
      <p:sp>
        <p:nvSpPr>
          <p:cNvPr id="55" name="Text 52"/>
          <p:cNvSpPr txBox="1"/>
          <p:nvPr/>
        </p:nvSpPr>
        <p:spPr>
          <a:xfrm>
            <a:off x="548640" y="6199632"/>
            <a:ext cx="11064240" cy="256032"/>
          </a:xfrm>
          <a:prstGeom prst="rect">
            <a:avLst/>
          </a:prstGeom>
          <a:noFill/>
          <a:ln/>
        </p:spPr>
        <p:txBody>
          <a:bodyPr wrap="square" lIns="0" tIns="0" rIns="0" bIns="0" rtlCol="0" anchor="t"/>
          <a:lstStyle/>
          <a:p>
            <a:pPr indent="0" marL="0">
              <a:buNone/>
            </a:pPr>
            <a:r>
              <a:rPr lang="en-US" sz="1050" i="1" dirty="0">
                <a:solidFill>
                  <a:srgbClr val="55555C"/>
                </a:solidFill>
              </a:rPr>
              <a:t>Ball games come first because they are hard to arrange: several people, a court, the weather. The same place works for any group that meets in person.</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BEYOND YOUR FRIENDS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Beyond your friends, people flake and agents lie</a:t>
            </a:r>
            <a:endParaRPr lang="en-US" sz="3200" dirty="0"/>
          </a:p>
        </p:txBody>
      </p:sp>
      <p:sp>
        <p:nvSpPr>
          <p:cNvPr id="5" name="Shape 2"/>
          <p:cNvSpPr/>
          <p:nvPr/>
        </p:nvSpPr>
        <p:spPr>
          <a:xfrm>
            <a:off x="548640" y="1691640"/>
            <a:ext cx="5120640" cy="4343400"/>
          </a:xfrm>
          <a:prstGeom prst="roundRect">
            <a:avLst>
              <a:gd name="adj" fmla="val 2526"/>
            </a:avLst>
          </a:prstGeom>
          <a:solidFill>
            <a:srgbClr val="FBEAE9"/>
          </a:solidFill>
          <a:ln w="12700">
            <a:solidFill>
              <a:srgbClr val="FBEAE9"/>
            </a:solidFill>
            <a:prstDash val="solid"/>
          </a:ln>
        </p:spPr>
      </p:sp>
      <p:sp>
        <p:nvSpPr>
          <p:cNvPr id="6" name="Text 3"/>
          <p:cNvSpPr txBox="1"/>
          <p:nvPr/>
        </p:nvSpPr>
        <p:spPr>
          <a:xfrm>
            <a:off x="822960" y="1874520"/>
            <a:ext cx="457200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7" name="Text 4"/>
          <p:cNvSpPr txBox="1"/>
          <p:nvPr/>
        </p:nvSpPr>
        <p:spPr>
          <a:xfrm>
            <a:off x="822960" y="2240280"/>
            <a:ext cx="4663440" cy="365760"/>
          </a:xfrm>
          <a:prstGeom prst="rect">
            <a:avLst/>
          </a:prstGeom>
          <a:noFill/>
          <a:ln/>
        </p:spPr>
        <p:txBody>
          <a:bodyPr wrap="square" lIns="0" tIns="0" rIns="0" bIns="0" rtlCol="0" anchor="t"/>
          <a:lstStyle/>
          <a:p>
            <a:pPr indent="0" marL="0">
              <a:buNone/>
            </a:pPr>
            <a:r>
              <a:rPr lang="en-US" sz="1700" b="1" dirty="0">
                <a:solidFill>
                  <a:srgbClr val="0A0A0B"/>
                </a:solidFill>
              </a:rPr>
              <a:t>An agent with nowhere to go</a:t>
            </a:r>
            <a:endParaRPr lang="en-US" sz="1700" dirty="0"/>
          </a:p>
        </p:txBody>
      </p:sp>
      <p:sp>
        <p:nvSpPr>
          <p:cNvPr id="8" name="Text 5"/>
          <p:cNvSpPr txBox="1"/>
          <p:nvPr/>
        </p:nvSpPr>
        <p:spPr>
          <a:xfrm>
            <a:off x="822960" y="2651760"/>
            <a:ext cx="4617720" cy="1097280"/>
          </a:xfrm>
          <a:prstGeom prst="rect">
            <a:avLst/>
          </a:prstGeom>
          <a:noFill/>
          <a:ln/>
        </p:spPr>
        <p:txBody>
          <a:bodyPr wrap="square" lIns="0" tIns="0" rIns="0" bIns="0" rtlCol="0" anchor="t"/>
          <a:lstStyle/>
          <a:p>
            <a:pPr indent="0" marL="0">
              <a:buNone/>
            </a:pPr>
            <a:r>
              <a:rPr lang="en-US" sz="1250" dirty="0">
                <a:solidFill>
                  <a:srgbClr val="0A0A0B"/>
                </a:solidFill>
              </a:rPr>
              <a:t>Soon everyone has an agent that knows their week. With no shared place where people and agents meet, it can only message your contacts; when they're busy, you're still not playing.</a:t>
            </a:r>
            <a:endParaRPr lang="en-US" sz="1250" dirty="0"/>
          </a:p>
        </p:txBody>
      </p:sp>
      <p:sp>
        <p:nvSpPr>
          <p:cNvPr id="9" name="Text 6"/>
          <p:cNvSpPr txBox="1"/>
          <p:nvPr/>
        </p:nvSpPr>
        <p:spPr>
          <a:xfrm>
            <a:off x="822960" y="3840480"/>
            <a:ext cx="4663440" cy="365760"/>
          </a:xfrm>
          <a:prstGeom prst="rect">
            <a:avLst/>
          </a:prstGeom>
          <a:noFill/>
          <a:ln/>
        </p:spPr>
        <p:txBody>
          <a:bodyPr wrap="square" lIns="0" tIns="0" rIns="0" bIns="0" rtlCol="0" anchor="t"/>
          <a:lstStyle/>
          <a:p>
            <a:pPr indent="0" marL="0">
              <a:buNone/>
            </a:pPr>
            <a:r>
              <a:rPr lang="en-US" sz="1700" b="1" dirty="0">
                <a:solidFill>
                  <a:srgbClr val="0A0A0B"/>
                </a:solidFill>
              </a:rPr>
              <a:t>Trust breaks first</a:t>
            </a:r>
            <a:endParaRPr lang="en-US" sz="1700" dirty="0"/>
          </a:p>
        </p:txBody>
      </p:sp>
      <p:sp>
        <p:nvSpPr>
          <p:cNvPr id="10" name="Text 7"/>
          <p:cNvSpPr txBox="1"/>
          <p:nvPr/>
        </p:nvSpPr>
        <p:spPr>
          <a:xfrm>
            <a:off x="822960" y="4251960"/>
            <a:ext cx="4617720" cy="1097280"/>
          </a:xfrm>
          <a:prstGeom prst="rect">
            <a:avLst/>
          </a:prstGeom>
          <a:noFill/>
          <a:ln/>
        </p:spPr>
        <p:txBody>
          <a:bodyPr wrap="square" lIns="0" tIns="0" rIns="0" bIns="0" rtlCol="0" anchor="t"/>
          <a:lstStyle/>
          <a:p>
            <a:pPr indent="0" marL="0">
              <a:buNone/>
            </a:pPr>
            <a:r>
              <a:rPr lang="en-US" sz="1250" dirty="0">
                <a:solidFill>
                  <a:srgbClr val="0A0A0B"/>
                </a:solidFill>
              </a:rPr>
              <a:t>Asking beyond your friends brings two risks: the person who doesn't turn up, and the agent that says yes for its person when they'd say no, or keeps asking to map everyone's week.</a:t>
            </a:r>
            <a:endParaRPr lang="en-US" sz="1250" dirty="0"/>
          </a:p>
        </p:txBody>
      </p:sp>
      <p:sp>
        <p:nvSpPr>
          <p:cNvPr id="11" name="Text 8"/>
          <p:cNvSpPr txBox="1"/>
          <p:nvPr/>
        </p:nvSpPr>
        <p:spPr>
          <a:xfrm>
            <a:off x="822960" y="5532120"/>
            <a:ext cx="4663440" cy="411480"/>
          </a:xfrm>
          <a:prstGeom prst="rect">
            <a:avLst/>
          </a:prstGeom>
          <a:noFill/>
          <a:ln/>
        </p:spPr>
        <p:txBody>
          <a:bodyPr wrap="square" lIns="0" tIns="0" rIns="0" bIns="0" rtlCol="0" anchor="t"/>
          <a:lstStyle/>
          <a:p>
            <a:pPr indent="0" marL="0">
              <a:buNone/>
            </a:pPr>
            <a:r>
              <a:rPr lang="en-US" sz="1100" i="1" dirty="0">
                <a:solidFill>
                  <a:srgbClr val="55555C"/>
                </a:solidFill>
              </a:rPr>
              <a:t>Serve never takes a deposit: low trust means the waitlist, or asking the person.</a:t>
            </a:r>
            <a:endParaRPr lang="en-US" sz="1100" dirty="0"/>
          </a:p>
        </p:txBody>
      </p:sp>
      <p:sp>
        <p:nvSpPr>
          <p:cNvPr id="12" name="Text 9"/>
          <p:cNvSpPr txBox="1"/>
          <p:nvPr/>
        </p:nvSpPr>
        <p:spPr>
          <a:xfrm>
            <a:off x="5989320" y="1691640"/>
            <a:ext cx="5669280" cy="274320"/>
          </a:xfrm>
          <a:prstGeom prst="rect">
            <a:avLst/>
          </a:prstGeom>
          <a:noFill/>
          <a:ln/>
        </p:spPr>
        <p:txBody>
          <a:bodyPr wrap="square" lIns="0" tIns="0" rIns="0" bIns="0" rtlCol="0" anchor="t"/>
          <a:lstStyle/>
          <a:p>
            <a:pPr indent="0" marL="0">
              <a:buNone/>
            </a:pPr>
            <a:r>
              <a:rPr lang="en-US" sz="1000" b="1" spc="100" kern="0" dirty="0">
                <a:solidFill>
                  <a:srgbClr val="0A7F44"/>
                </a:solidFill>
              </a:rPr>
              <a:t>SAT DOUBLES · NEED 3 · SHOWS UP 90%+ · PEOPLE NEARBY</a:t>
            </a:r>
            <a:endParaRPr lang="en-US" sz="1000" dirty="0"/>
          </a:p>
        </p:txBody>
      </p:sp>
      <p:sp>
        <p:nvSpPr>
          <p:cNvPr id="13" name="Shape 10"/>
          <p:cNvSpPr/>
          <p:nvPr/>
        </p:nvSpPr>
        <p:spPr>
          <a:xfrm>
            <a:off x="5989320" y="2057400"/>
            <a:ext cx="5623560" cy="987552"/>
          </a:xfrm>
          <a:prstGeom prst="roundRect">
            <a:avLst>
              <a:gd name="adj" fmla="val 11111"/>
            </a:avLst>
          </a:prstGeom>
          <a:solidFill>
            <a:srgbClr val="FBF3E6"/>
          </a:solidFill>
          <a:ln w="12700">
            <a:solidFill>
              <a:srgbClr val="FBF3E6"/>
            </a:solidFill>
            <a:prstDash val="solid"/>
          </a:ln>
        </p:spPr>
      </p:sp>
      <p:sp>
        <p:nvSpPr>
          <p:cNvPr id="14" name="Text 11"/>
          <p:cNvSpPr txBox="1"/>
          <p:nvPr/>
        </p:nvSpPr>
        <p:spPr>
          <a:xfrm>
            <a:off x="6172200" y="2167128"/>
            <a:ext cx="2377440" cy="292608"/>
          </a:xfrm>
          <a:prstGeom prst="rect">
            <a:avLst/>
          </a:prstGeom>
          <a:noFill/>
          <a:ln/>
        </p:spPr>
        <p:txBody>
          <a:bodyPr wrap="square" lIns="0" tIns="0" rIns="0" bIns="0" rtlCol="0" anchor="t"/>
          <a:lstStyle/>
          <a:p>
            <a:pPr indent="0" marL="0">
              <a:buNone/>
            </a:pPr>
            <a:r>
              <a:rPr lang="en-US" sz="1500" b="1" dirty="0">
                <a:solidFill>
                  <a:srgbClr val="0A0A0B"/>
                </a:solidFill>
              </a:rPr>
              <a:t>Dan</a:t>
            </a:r>
            <a:endParaRPr lang="en-US" sz="1500" dirty="0"/>
          </a:p>
        </p:txBody>
      </p:sp>
      <p:sp>
        <p:nvSpPr>
          <p:cNvPr id="15" name="Text 12"/>
          <p:cNvSpPr txBox="1"/>
          <p:nvPr/>
        </p:nvSpPr>
        <p:spPr>
          <a:xfrm>
            <a:off x="8458200" y="2185416"/>
            <a:ext cx="3017520" cy="274320"/>
          </a:xfrm>
          <a:prstGeom prst="rect">
            <a:avLst/>
          </a:prstGeom>
          <a:noFill/>
          <a:ln/>
        </p:spPr>
        <p:txBody>
          <a:bodyPr wrap="square" lIns="0" tIns="0" rIns="0" bIns="0" rtlCol="0" anchor="t"/>
          <a:lstStyle/>
          <a:p>
            <a:pPr algn="r" indent="0" marL="0">
              <a:buNone/>
            </a:pPr>
            <a:r>
              <a:rPr lang="en-US" sz="1100" b="1" dirty="0">
                <a:solidFill>
                  <a:srgbClr val="B26A00"/>
                </a:solidFill>
              </a:rPr>
              <a:t>Agent keeps 52% of its yeses</a:t>
            </a:r>
            <a:endParaRPr lang="en-US" sz="1100" dirty="0"/>
          </a:p>
        </p:txBody>
      </p:sp>
      <p:sp>
        <p:nvSpPr>
          <p:cNvPr id="16" name="Text 13"/>
          <p:cNvSpPr txBox="1"/>
          <p:nvPr/>
        </p:nvSpPr>
        <p:spPr>
          <a:xfrm>
            <a:off x="6172200" y="2514600"/>
            <a:ext cx="5303520" cy="457200"/>
          </a:xfrm>
          <a:prstGeom prst="rect">
            <a:avLst/>
          </a:prstGeom>
          <a:noFill/>
          <a:ln/>
        </p:spPr>
        <p:txBody>
          <a:bodyPr wrap="square" lIns="0" tIns="0" rIns="0" bIns="0" rtlCol="0" anchor="t"/>
          <a:lstStyle/>
          <a:p>
            <a:pPr indent="0" marL="0">
              <a:buNone/>
            </a:pPr>
            <a:r>
              <a:rPr lang="en-US" sz="1250" dirty="0">
                <a:solidFill>
                  <a:srgbClr val="0A0A0B"/>
                </a:solidFill>
              </a:rPr>
              <a:t>Dan's agent can't say yes for Dan, so Dan is asked directly.</a:t>
            </a:r>
            <a:endParaRPr lang="en-US" sz="1250" dirty="0"/>
          </a:p>
        </p:txBody>
      </p:sp>
      <p:sp>
        <p:nvSpPr>
          <p:cNvPr id="17" name="Shape 14"/>
          <p:cNvSpPr/>
          <p:nvPr/>
        </p:nvSpPr>
        <p:spPr>
          <a:xfrm>
            <a:off x="5989320" y="3172968"/>
            <a:ext cx="5623560" cy="987552"/>
          </a:xfrm>
          <a:prstGeom prst="roundRect">
            <a:avLst>
              <a:gd name="adj" fmla="val 11111"/>
            </a:avLst>
          </a:prstGeom>
          <a:solidFill>
            <a:srgbClr val="FBEAE9"/>
          </a:solidFill>
          <a:ln w="12700">
            <a:solidFill>
              <a:srgbClr val="FBEAE9"/>
            </a:solidFill>
            <a:prstDash val="solid"/>
          </a:ln>
        </p:spPr>
      </p:sp>
      <p:sp>
        <p:nvSpPr>
          <p:cNvPr id="18" name="Text 15"/>
          <p:cNvSpPr txBox="1"/>
          <p:nvPr/>
        </p:nvSpPr>
        <p:spPr>
          <a:xfrm>
            <a:off x="6172200" y="3282696"/>
            <a:ext cx="2377440" cy="292608"/>
          </a:xfrm>
          <a:prstGeom prst="rect">
            <a:avLst/>
          </a:prstGeom>
          <a:noFill/>
          <a:ln/>
        </p:spPr>
        <p:txBody>
          <a:bodyPr wrap="square" lIns="0" tIns="0" rIns="0" bIns="0" rtlCol="0" anchor="t"/>
          <a:lstStyle/>
          <a:p>
            <a:pPr indent="0" marL="0">
              <a:buNone/>
            </a:pPr>
            <a:r>
              <a:rPr lang="en-US" sz="1500" b="1" dirty="0">
                <a:solidFill>
                  <a:srgbClr val="0A0A0B"/>
                </a:solidFill>
              </a:rPr>
              <a:t>Bob</a:t>
            </a:r>
            <a:endParaRPr lang="en-US" sz="1500" dirty="0"/>
          </a:p>
        </p:txBody>
      </p:sp>
      <p:sp>
        <p:nvSpPr>
          <p:cNvPr id="19" name="Text 16"/>
          <p:cNvSpPr txBox="1"/>
          <p:nvPr/>
        </p:nvSpPr>
        <p:spPr>
          <a:xfrm>
            <a:off x="8458200" y="3300984"/>
            <a:ext cx="3017520" cy="274320"/>
          </a:xfrm>
          <a:prstGeom prst="rect">
            <a:avLst/>
          </a:prstGeom>
          <a:noFill/>
          <a:ln/>
        </p:spPr>
        <p:txBody>
          <a:bodyPr wrap="square" lIns="0" tIns="0" rIns="0" bIns="0" rtlCol="0" anchor="t"/>
          <a:lstStyle/>
          <a:p>
            <a:pPr algn="r" indent="0" marL="0">
              <a:buNone/>
            </a:pPr>
            <a:r>
              <a:rPr lang="en-US" sz="1100" b="1" dirty="0">
                <a:solidFill>
                  <a:srgbClr val="D1352B"/>
                </a:solidFill>
              </a:rPr>
              <a:t>Shows up 33% · 3 games</a:t>
            </a:r>
            <a:endParaRPr lang="en-US" sz="1100" dirty="0"/>
          </a:p>
        </p:txBody>
      </p:sp>
      <p:sp>
        <p:nvSpPr>
          <p:cNvPr id="20" name="Text 17"/>
          <p:cNvSpPr txBox="1"/>
          <p:nvPr/>
        </p:nvSpPr>
        <p:spPr>
          <a:xfrm>
            <a:off x="6172200" y="3630168"/>
            <a:ext cx="5303520" cy="457200"/>
          </a:xfrm>
          <a:prstGeom prst="rect">
            <a:avLst/>
          </a:prstGeom>
          <a:noFill/>
          <a:ln/>
        </p:spPr>
        <p:txBody>
          <a:bodyPr wrap="square" lIns="0" tIns="0" rIns="0" bIns="0" rtlCol="0" anchor="t"/>
          <a:lstStyle/>
          <a:p>
            <a:pPr indent="0" marL="0">
              <a:buNone/>
            </a:pPr>
            <a:r>
              <a:rPr lang="en-US" sz="1250" dirty="0">
                <a:solidFill>
                  <a:srgbClr val="0A0A0B"/>
                </a:solidFill>
              </a:rPr>
              <a:t>On the waitlist: this game needs 90%.</a:t>
            </a:r>
            <a:endParaRPr lang="en-US" sz="1250" dirty="0"/>
          </a:p>
        </p:txBody>
      </p:sp>
      <p:sp>
        <p:nvSpPr>
          <p:cNvPr id="21" name="Shape 18"/>
          <p:cNvSpPr/>
          <p:nvPr/>
        </p:nvSpPr>
        <p:spPr>
          <a:xfrm>
            <a:off x="5989320" y="4288536"/>
            <a:ext cx="5623560" cy="987552"/>
          </a:xfrm>
          <a:prstGeom prst="roundRect">
            <a:avLst>
              <a:gd name="adj" fmla="val 11111"/>
            </a:avLst>
          </a:prstGeom>
          <a:solidFill>
            <a:srgbClr val="E9F3EC"/>
          </a:solidFill>
          <a:ln w="12700">
            <a:solidFill>
              <a:srgbClr val="E9F3EC"/>
            </a:solidFill>
            <a:prstDash val="solid"/>
          </a:ln>
        </p:spPr>
      </p:sp>
      <p:sp>
        <p:nvSpPr>
          <p:cNvPr id="22" name="Text 19"/>
          <p:cNvSpPr txBox="1"/>
          <p:nvPr/>
        </p:nvSpPr>
        <p:spPr>
          <a:xfrm>
            <a:off x="6172200" y="4398264"/>
            <a:ext cx="2377440" cy="292608"/>
          </a:xfrm>
          <a:prstGeom prst="rect">
            <a:avLst/>
          </a:prstGeom>
          <a:noFill/>
          <a:ln/>
        </p:spPr>
        <p:txBody>
          <a:bodyPr wrap="square" lIns="0" tIns="0" rIns="0" bIns="0" rtlCol="0" anchor="t"/>
          <a:lstStyle/>
          <a:p>
            <a:pPr indent="0" marL="0">
              <a:buNone/>
            </a:pPr>
            <a:r>
              <a:rPr lang="en-US" sz="1500" b="1" dirty="0">
                <a:solidFill>
                  <a:srgbClr val="0A0A0B"/>
                </a:solidFill>
              </a:rPr>
              <a:t>Leo · Hana · Kenji</a:t>
            </a:r>
            <a:endParaRPr lang="en-US" sz="1500" dirty="0"/>
          </a:p>
        </p:txBody>
      </p:sp>
      <p:sp>
        <p:nvSpPr>
          <p:cNvPr id="23" name="Text 20"/>
          <p:cNvSpPr txBox="1"/>
          <p:nvPr/>
        </p:nvSpPr>
        <p:spPr>
          <a:xfrm>
            <a:off x="8458200" y="4416552"/>
            <a:ext cx="3017520" cy="274320"/>
          </a:xfrm>
          <a:prstGeom prst="rect">
            <a:avLst/>
          </a:prstGeom>
          <a:noFill/>
          <a:ln/>
        </p:spPr>
        <p:txBody>
          <a:bodyPr wrap="square" lIns="0" tIns="0" rIns="0" bIns="0" rtlCol="0" anchor="t"/>
          <a:lstStyle/>
          <a:p>
            <a:pPr algn="r" indent="0" marL="0">
              <a:buNone/>
            </a:pPr>
            <a:r>
              <a:rPr lang="en-US" sz="1100" b="1" dirty="0">
                <a:solidFill>
                  <a:srgbClr val="0A7F44"/>
                </a:solidFill>
              </a:rPr>
              <a:t>100% · 8 games · 100% · 12 games · new</a:t>
            </a:r>
            <a:endParaRPr lang="en-US" sz="1100" dirty="0"/>
          </a:p>
        </p:txBody>
      </p:sp>
      <p:sp>
        <p:nvSpPr>
          <p:cNvPr id="24" name="Text 21"/>
          <p:cNvSpPr txBox="1"/>
          <p:nvPr/>
        </p:nvSpPr>
        <p:spPr>
          <a:xfrm>
            <a:off x="6172200" y="4745736"/>
            <a:ext cx="5303520" cy="457200"/>
          </a:xfrm>
          <a:prstGeom prst="rect">
            <a:avLst/>
          </a:prstGeom>
          <a:noFill/>
          <a:ln/>
        </p:spPr>
        <p:txBody>
          <a:bodyPr wrap="square" lIns="0" tIns="0" rIns="0" bIns="0" rtlCol="0" anchor="t"/>
          <a:lstStyle/>
          <a:p>
            <a:pPr indent="0" marL="0">
              <a:buNone/>
            </a:pPr>
            <a:r>
              <a:rPr lang="en-US" sz="1250" dirty="0">
                <a:solidFill>
                  <a:srgbClr val="0A0A0B"/>
                </a:solidFill>
              </a:rPr>
              <a:t>Their agents agree Sat 21:00; the venue's agent goes from NT$410 to NT$280.</a:t>
            </a:r>
            <a:endParaRPr lang="en-US" sz="1250" dirty="0"/>
          </a:p>
        </p:txBody>
      </p:sp>
      <p:sp>
        <p:nvSpPr>
          <p:cNvPr id="25" name="Shape 22"/>
          <p:cNvSpPr/>
          <p:nvPr/>
        </p:nvSpPr>
        <p:spPr>
          <a:xfrm>
            <a:off x="5989320" y="5440680"/>
            <a:ext cx="5623560" cy="594360"/>
          </a:xfrm>
          <a:prstGeom prst="roundRect">
            <a:avLst>
              <a:gd name="adj" fmla="val 18462"/>
            </a:avLst>
          </a:prstGeom>
          <a:solidFill>
            <a:srgbClr val="FFFFFF"/>
          </a:solidFill>
          <a:ln w="12700">
            <a:solidFill>
              <a:srgbClr val="DCDCE0"/>
            </a:solidFill>
            <a:prstDash val="solid"/>
          </a:ln>
        </p:spPr>
      </p:sp>
      <p:sp>
        <p:nvSpPr>
          <p:cNvPr id="26" name="Text 23"/>
          <p:cNvSpPr txBox="1"/>
          <p:nvPr/>
        </p:nvSpPr>
        <p:spPr>
          <a:xfrm>
            <a:off x="6126480" y="5440680"/>
            <a:ext cx="5394960" cy="594360"/>
          </a:xfrm>
          <a:prstGeom prst="rect">
            <a:avLst/>
          </a:prstGeom>
          <a:noFill/>
          <a:ln/>
        </p:spPr>
        <p:txBody>
          <a:bodyPr wrap="square" lIns="0" tIns="0" rIns="0" bIns="0" rtlCol="0" anchor="ctr"/>
          <a:lstStyle/>
          <a:p>
            <a:pPr indent="0" marL="0">
              <a:buNone/>
            </a:pPr>
            <a:r>
              <a:rPr lang="en-US" sz="1050" b="1" dirty="0">
                <a:solidFill>
                  <a:srgbClr val="0A0A0B"/>
                </a:solidFill>
              </a:rPr>
              <a:t>Two records, counted by code. </a:t>
            </a:r>
            <a:pPr indent="0" marL="0">
              <a:buNone/>
            </a:pPr>
            <a:r>
              <a:rPr lang="en-US" sz="1050" dirty="0">
                <a:solidFill>
                  <a:srgbClr val="0A0A0B"/>
                </a:solidFill>
              </a:rPr>
              <a:t>Shows up: players tap who came after each game; leaving in the last 6 hours is a late drop. Agent keeps: your yes after your agent's yes.</a:t>
            </a:r>
            <a:endParaRPr lang="en-US" sz="1050" dirty="0"/>
          </a:p>
        </p:txBody>
      </p:sp>
      <p:sp>
        <p:nvSpPr>
          <p:cNvPr id="27" name="Text 24"/>
          <p:cNvSpPr txBox="1"/>
          <p:nvPr/>
        </p:nvSpPr>
        <p:spPr>
          <a:xfrm>
            <a:off x="548640" y="6144768"/>
            <a:ext cx="11064240" cy="274320"/>
          </a:xfrm>
          <a:prstGeom prst="rect">
            <a:avLst/>
          </a:prstGeom>
          <a:noFill/>
          <a:ln/>
        </p:spPr>
        <p:txBody>
          <a:bodyPr wrap="square" lIns="0" tIns="0" rIns="0" bIns="0" rtlCol="0" anchor="t"/>
          <a:lstStyle/>
          <a:p>
            <a:pPr indent="0" marL="0">
              <a:buNone/>
            </a:pPr>
            <a:r>
              <a:rPr lang="en-US" sz="1050" i="1" dirty="0">
                <a:solidFill>
                  <a:srgbClr val="55555C"/>
                </a:solidFill>
              </a:rPr>
              <a:t>The scenario ran in the app with test accounts. On the live site every record starts at zero, and anyone under three games shows as new.</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LIVE · INVITED PLAYERS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each with an agent of their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Clubs on a real map, one recommended</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Say it; your agent drafts the invite</a:t>
            </a:r>
            <a:endParaRPr lang="en-US" sz="1050" dirty="0"/>
          </a:p>
        </p:txBody>
      </p:sp>
      <p:sp>
        <p:nvSpPr>
          <p:cNvPr id="11" name="Text 6"/>
          <p:cNvSpPr txBox="1"/>
          <p:nvPr/>
        </p:nvSpPr>
        <p:spPr>
          <a:xfrm>
            <a:off x="5669280" y="1691640"/>
            <a:ext cx="6035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LIVE SINCE 29 OCT · play.theminimallab.com</a:t>
            </a:r>
            <a:endParaRPr lang="en-US" sz="1000" dirty="0"/>
          </a:p>
        </p:txBody>
      </p:sp>
      <p:sp>
        <p:nvSpPr>
          <p:cNvPr id="12" name="Shape 7"/>
          <p:cNvSpPr/>
          <p:nvPr/>
        </p:nvSpPr>
        <p:spPr>
          <a:xfrm>
            <a:off x="5669280" y="1965960"/>
            <a:ext cx="1353312" cy="960120"/>
          </a:xfrm>
          <a:prstGeom prst="roundRect">
            <a:avLst>
              <a:gd name="adj" fmla="val 11429"/>
            </a:avLst>
          </a:prstGeom>
          <a:solidFill>
            <a:srgbClr val="E9F3EC"/>
          </a:solidFill>
          <a:ln w="12700">
            <a:solidFill>
              <a:srgbClr val="E9F3EC"/>
            </a:solidFill>
            <a:prstDash val="solid"/>
          </a:ln>
        </p:spPr>
      </p:sp>
      <p:sp>
        <p:nvSpPr>
          <p:cNvPr id="13" name="Text 8"/>
          <p:cNvSpPr txBox="1"/>
          <p:nvPr/>
        </p:nvSpPr>
        <p:spPr>
          <a:xfrm>
            <a:off x="5797296" y="2011680"/>
            <a:ext cx="1097280" cy="502920"/>
          </a:xfrm>
          <a:prstGeom prst="rect">
            <a:avLst/>
          </a:prstGeom>
          <a:noFill/>
          <a:ln/>
        </p:spPr>
        <p:txBody>
          <a:bodyPr wrap="square" lIns="0" tIns="0" rIns="0" bIns="0" rtlCol="0" anchor="t"/>
          <a:lstStyle/>
          <a:p>
            <a:pPr indent="0" marL="0">
              <a:buNone/>
            </a:pPr>
            <a:r>
              <a:rPr lang="en-US" sz="2600" b="1" dirty="0">
                <a:solidFill>
                  <a:srgbClr val="0A7F44"/>
                </a:solidFill>
              </a:rPr>
              <a:t>8</a:t>
            </a:r>
            <a:endParaRPr lang="en-US" sz="2600" dirty="0"/>
          </a:p>
        </p:txBody>
      </p:sp>
      <p:sp>
        <p:nvSpPr>
          <p:cNvPr id="14" name="Text 9"/>
          <p:cNvSpPr txBox="1"/>
          <p:nvPr/>
        </p:nvSpPr>
        <p:spPr>
          <a:xfrm>
            <a:off x="579729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people, me included (15 demo sign-ins)</a:t>
            </a:r>
            <a:endParaRPr lang="en-US" sz="1050" dirty="0"/>
          </a:p>
        </p:txBody>
      </p:sp>
      <p:sp>
        <p:nvSpPr>
          <p:cNvPr id="15" name="Shape 10"/>
          <p:cNvSpPr/>
          <p:nvPr/>
        </p:nvSpPr>
        <p:spPr>
          <a:xfrm>
            <a:off x="7132320" y="1965960"/>
            <a:ext cx="1353312" cy="960120"/>
          </a:xfrm>
          <a:prstGeom prst="roundRect">
            <a:avLst>
              <a:gd name="adj" fmla="val 11429"/>
            </a:avLst>
          </a:prstGeom>
          <a:solidFill>
            <a:srgbClr val="F6F7F8"/>
          </a:solidFill>
          <a:ln w="12700">
            <a:solidFill>
              <a:srgbClr val="F6F7F8"/>
            </a:solidFill>
            <a:prstDash val="solid"/>
          </a:ln>
        </p:spPr>
      </p:sp>
      <p:sp>
        <p:nvSpPr>
          <p:cNvPr id="16" name="Text 11"/>
          <p:cNvSpPr txBox="1"/>
          <p:nvPr/>
        </p:nvSpPr>
        <p:spPr>
          <a:xfrm>
            <a:off x="726033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2</a:t>
            </a:r>
            <a:endParaRPr lang="en-US" sz="2600" dirty="0"/>
          </a:p>
        </p:txBody>
      </p:sp>
      <p:sp>
        <p:nvSpPr>
          <p:cNvPr id="17" name="Text 12"/>
          <p:cNvSpPr txBox="1"/>
          <p:nvPr/>
        </p:nvSpPr>
        <p:spPr>
          <a:xfrm>
            <a:off x="726033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clubs they started</a:t>
            </a:r>
            <a:endParaRPr lang="en-US" sz="1050" dirty="0"/>
          </a:p>
        </p:txBody>
      </p:sp>
      <p:sp>
        <p:nvSpPr>
          <p:cNvPr id="18" name="Shape 13"/>
          <p:cNvSpPr/>
          <p:nvPr/>
        </p:nvSpPr>
        <p:spPr>
          <a:xfrm>
            <a:off x="8595360" y="1965960"/>
            <a:ext cx="1353312" cy="960120"/>
          </a:xfrm>
          <a:prstGeom prst="roundRect">
            <a:avLst>
              <a:gd name="adj" fmla="val 11429"/>
            </a:avLst>
          </a:prstGeom>
          <a:solidFill>
            <a:srgbClr val="F6F7F8"/>
          </a:solidFill>
          <a:ln w="12700">
            <a:solidFill>
              <a:srgbClr val="F6F7F8"/>
            </a:solidFill>
            <a:prstDash val="solid"/>
          </a:ln>
        </p:spPr>
      </p:sp>
      <p:sp>
        <p:nvSpPr>
          <p:cNvPr id="19" name="Text 14"/>
          <p:cNvSpPr txBox="1"/>
          <p:nvPr/>
        </p:nvSpPr>
        <p:spPr>
          <a:xfrm>
            <a:off x="872337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4</a:t>
            </a:r>
            <a:endParaRPr lang="en-US" sz="2600" dirty="0"/>
          </a:p>
        </p:txBody>
      </p:sp>
      <p:sp>
        <p:nvSpPr>
          <p:cNvPr id="20" name="Text 15"/>
          <p:cNvSpPr txBox="1"/>
          <p:nvPr/>
        </p:nvSpPr>
        <p:spPr>
          <a:xfrm>
            <a:off x="872337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games posted</a:t>
            </a:r>
            <a:endParaRPr lang="en-US" sz="1050" dirty="0"/>
          </a:p>
        </p:txBody>
      </p:sp>
      <p:sp>
        <p:nvSpPr>
          <p:cNvPr id="21" name="Shape 16"/>
          <p:cNvSpPr/>
          <p:nvPr/>
        </p:nvSpPr>
        <p:spPr>
          <a:xfrm>
            <a:off x="10058400" y="1965960"/>
            <a:ext cx="1353312" cy="960120"/>
          </a:xfrm>
          <a:prstGeom prst="roundRect">
            <a:avLst>
              <a:gd name="adj" fmla="val 11429"/>
            </a:avLst>
          </a:prstGeom>
          <a:solidFill>
            <a:srgbClr val="F6F7F8"/>
          </a:solidFill>
          <a:ln w="12700">
            <a:solidFill>
              <a:srgbClr val="F6F7F8"/>
            </a:solidFill>
            <a:prstDash val="solid"/>
          </a:ln>
        </p:spPr>
      </p:sp>
      <p:sp>
        <p:nvSpPr>
          <p:cNvPr id="22" name="Text 17"/>
          <p:cNvSpPr txBox="1"/>
          <p:nvPr/>
        </p:nvSpPr>
        <p:spPr>
          <a:xfrm>
            <a:off x="1018641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8</a:t>
            </a:r>
            <a:endParaRPr lang="en-US" sz="2600" dirty="0"/>
          </a:p>
        </p:txBody>
      </p:sp>
      <p:sp>
        <p:nvSpPr>
          <p:cNvPr id="23" name="Text 18"/>
          <p:cNvSpPr txBox="1"/>
          <p:nvPr/>
        </p:nvSpPr>
        <p:spPr>
          <a:xfrm>
            <a:off x="1018641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joins; 3 of 4 games filled</a:t>
            </a:r>
            <a:endParaRPr lang="en-US" sz="1050" dirty="0"/>
          </a:p>
        </p:txBody>
      </p:sp>
      <p:sp>
        <p:nvSpPr>
          <p:cNvPr id="24" name="Shape 19"/>
          <p:cNvSpPr/>
          <p:nvPr/>
        </p:nvSpPr>
        <p:spPr>
          <a:xfrm>
            <a:off x="5669280" y="3236976"/>
            <a:ext cx="310896" cy="310896"/>
          </a:xfrm>
          <a:prstGeom prst="ellipse">
            <a:avLst/>
          </a:prstGeom>
          <a:solidFill>
            <a:srgbClr val="0A7F44"/>
          </a:solidFill>
          <a:ln w="12700">
            <a:solidFill>
              <a:srgbClr val="0A7F44"/>
            </a:solidFill>
            <a:prstDash val="solid"/>
          </a:ln>
        </p:spPr>
      </p:sp>
      <p:sp>
        <p:nvSpPr>
          <p:cNvPr id="25" name="Text 20"/>
          <p:cNvSpPr txBox="1"/>
          <p:nvPr/>
        </p:nvSpPr>
        <p:spPr>
          <a:xfrm>
            <a:off x="5669280" y="323697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1</a:t>
            </a:r>
            <a:endParaRPr lang="en-US" sz="1150" dirty="0"/>
          </a:p>
        </p:txBody>
      </p:sp>
      <p:sp>
        <p:nvSpPr>
          <p:cNvPr id="26" name="Text 21"/>
          <p:cNvSpPr txBox="1"/>
          <p:nvPr/>
        </p:nvSpPr>
        <p:spPr>
          <a:xfrm>
            <a:off x="6126480" y="320040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An agent of their own</a:t>
            </a:r>
            <a:endParaRPr lang="en-US" sz="1400" dirty="0"/>
          </a:p>
        </p:txBody>
      </p:sp>
      <p:sp>
        <p:nvSpPr>
          <p:cNvPr id="27" name="Text 22"/>
          <p:cNvSpPr txBox="1"/>
          <p:nvPr/>
        </p:nvSpPr>
        <p:spPr>
          <a:xfrm>
            <a:off x="6126480" y="3502152"/>
            <a:ext cx="5486400" cy="548640"/>
          </a:xfrm>
          <a:prstGeom prst="rect">
            <a:avLst/>
          </a:prstGeom>
          <a:noFill/>
          <a:ln/>
        </p:spPr>
        <p:txBody>
          <a:bodyPr wrap="square" lIns="0" tIns="0" rIns="0" bIns="0" rtlCol="0" anchor="t"/>
          <a:lstStyle/>
          <a:p>
            <a:pPr indent="0" marL="0">
              <a:buNone/>
            </a:pPr>
            <a:r>
              <a:rPr lang="en-US" sz="1100" dirty="0">
                <a:solidFill>
                  <a:srgbClr val="55555C"/>
                </a:solidFill>
              </a:rPr>
              <a:t>Each player's agent runs in its own process on my server, with its own data folder; the club, its feed and its games are shared.</a:t>
            </a:r>
            <a:endParaRPr lang="en-US" sz="1100" dirty="0"/>
          </a:p>
        </p:txBody>
      </p:sp>
      <p:sp>
        <p:nvSpPr>
          <p:cNvPr id="28" name="Shape 23"/>
          <p:cNvSpPr/>
          <p:nvPr/>
        </p:nvSpPr>
        <p:spPr>
          <a:xfrm>
            <a:off x="5669280" y="4197096"/>
            <a:ext cx="310896" cy="310896"/>
          </a:xfrm>
          <a:prstGeom prst="ellipse">
            <a:avLst/>
          </a:prstGeom>
          <a:solidFill>
            <a:srgbClr val="0A7F44"/>
          </a:solidFill>
          <a:ln w="12700">
            <a:solidFill>
              <a:srgbClr val="0A7F44"/>
            </a:solidFill>
            <a:prstDash val="solid"/>
          </a:ln>
        </p:spPr>
      </p:sp>
      <p:sp>
        <p:nvSpPr>
          <p:cNvPr id="29" name="Text 24"/>
          <p:cNvSpPr txBox="1"/>
          <p:nvPr/>
        </p:nvSpPr>
        <p:spPr>
          <a:xfrm>
            <a:off x="5669280" y="419709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2</a:t>
            </a:r>
            <a:endParaRPr lang="en-US" sz="1150" dirty="0"/>
          </a:p>
        </p:txBody>
      </p:sp>
      <p:sp>
        <p:nvSpPr>
          <p:cNvPr id="30" name="Text 25"/>
          <p:cNvSpPr txBox="1"/>
          <p:nvPr/>
        </p:nvSpPr>
        <p:spPr>
          <a:xfrm>
            <a:off x="6126480" y="416052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Clubs anyone can start</a:t>
            </a:r>
            <a:endParaRPr lang="en-US" sz="1400" dirty="0"/>
          </a:p>
        </p:txBody>
      </p:sp>
      <p:sp>
        <p:nvSpPr>
          <p:cNvPr id="31" name="Text 26"/>
          <p:cNvSpPr txBox="1"/>
          <p:nvPr/>
        </p:nvSpPr>
        <p:spPr>
          <a:xfrm>
            <a:off x="6126480" y="4462272"/>
            <a:ext cx="5486400" cy="548640"/>
          </a:xfrm>
          <a:prstGeom prst="rect">
            <a:avLst/>
          </a:prstGeom>
          <a:noFill/>
          <a:ln/>
        </p:spPr>
        <p:txBody>
          <a:bodyPr wrap="square" lIns="0" tIns="0" rIns="0" bIns="0" rtlCol="0" anchor="t"/>
          <a:lstStyle/>
          <a:p>
            <a:pPr indent="0" marL="0">
              <a:buNone/>
            </a:pPr>
            <a:r>
              <a:rPr lang="en-US" sz="1100" dirty="0">
                <a:solidFill>
                  <a:srgbClr val="55555C"/>
                </a:solidFill>
              </a:rPr>
              <a:t>Public or private, on a real map; your agent recommends the nearest public one.</a:t>
            </a:r>
            <a:endParaRPr lang="en-US" sz="1100" dirty="0"/>
          </a:p>
        </p:txBody>
      </p:sp>
      <p:sp>
        <p:nvSpPr>
          <p:cNvPr id="32" name="Shape 27"/>
          <p:cNvSpPr/>
          <p:nvPr/>
        </p:nvSpPr>
        <p:spPr>
          <a:xfrm>
            <a:off x="5669280" y="5157216"/>
            <a:ext cx="310896" cy="310896"/>
          </a:xfrm>
          <a:prstGeom prst="ellipse">
            <a:avLst/>
          </a:prstGeom>
          <a:solidFill>
            <a:srgbClr val="0A7F44"/>
          </a:solidFill>
          <a:ln w="12700">
            <a:solidFill>
              <a:srgbClr val="0A7F44"/>
            </a:solidFill>
            <a:prstDash val="solid"/>
          </a:ln>
        </p:spPr>
      </p:sp>
      <p:sp>
        <p:nvSpPr>
          <p:cNvPr id="33" name="Text 28"/>
          <p:cNvSpPr txBox="1"/>
          <p:nvPr/>
        </p:nvSpPr>
        <p:spPr>
          <a:xfrm>
            <a:off x="5669280" y="515721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3</a:t>
            </a:r>
            <a:endParaRPr lang="en-US" sz="1150" dirty="0"/>
          </a:p>
        </p:txBody>
      </p:sp>
      <p:sp>
        <p:nvSpPr>
          <p:cNvPr id="34" name="Text 29"/>
          <p:cNvSpPr txBox="1"/>
          <p:nvPr/>
        </p:nvSpPr>
        <p:spPr>
          <a:xfrm>
            <a:off x="6126480" y="512064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Tell your agent the game</a:t>
            </a:r>
            <a:endParaRPr lang="en-US" sz="1400" dirty="0"/>
          </a:p>
        </p:txBody>
      </p:sp>
      <p:sp>
        <p:nvSpPr>
          <p:cNvPr id="35" name="Text 30"/>
          <p:cNvSpPr txBox="1"/>
          <p:nvPr/>
        </p:nvSpPr>
        <p:spPr>
          <a:xfrm>
            <a:off x="6126480" y="5422392"/>
            <a:ext cx="5486400" cy="548640"/>
          </a:xfrm>
          <a:prstGeom prst="rect">
            <a:avLst/>
          </a:prstGeom>
          <a:noFill/>
          <a:ln/>
        </p:spPr>
        <p:txBody>
          <a:bodyPr wrap="square" lIns="0" tIns="0" rIns="0" bIns="0" rtlCol="0" anchor="t"/>
          <a:lstStyle/>
          <a:p>
            <a:pPr indent="0" marL="0">
              <a:buNone/>
            </a:pPr>
            <a:r>
              <a:rPr lang="en-US" sz="1100" dirty="0">
                <a:solidFill>
                  <a:srgbClr val="55555C"/>
                </a:solidFill>
              </a:rPr>
              <a:t>"Saturday morning doubles, need 3": it drafts the invite with the nearest court and you tap Post. Share it as a link: anyone opens it and joins, no account needed first.</a:t>
            </a:r>
            <a:endParaRPr lang="en-US" sz="1100" dirty="0"/>
          </a:p>
        </p:txBody>
      </p:sp>
      <p:sp>
        <p:nvSpPr>
          <p:cNvPr id="36" name="Text 31"/>
          <p:cNvSpPr txBox="1"/>
          <p:nvPr/>
        </p:nvSpPr>
        <p:spPr>
          <a:xfrm>
            <a:off x="5669280" y="6053328"/>
            <a:ext cx="6035040" cy="365760"/>
          </a:xfrm>
          <a:prstGeom prst="rect">
            <a:avLst/>
          </a:prstGeom>
          <a:noFill/>
          <a:ln/>
        </p:spPr>
        <p:txBody>
          <a:bodyPr wrap="square" lIns="0" tIns="0" rIns="0" bIns="0" rtlCol="0" anchor="t"/>
          <a:lstStyle/>
          <a:p>
            <a:pPr indent="0" marL="0">
              <a:buNone/>
            </a:pPr>
            <a:r>
              <a:rPr lang="en-US" sz="1000" i="1" dirty="0">
                <a:solidFill>
                  <a:srgbClr val="55555C"/>
                </a:solidFill>
              </a:rPr>
              <a:t>Counted 30 Oct, day 4. Spond, Playtomic and Meetup post events or book courts; on Serve each player's agent agrees the time, so nobody runs the poll.</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COLD START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first friend needs no account</a:t>
            </a:r>
            <a:endParaRPr lang="en-US" sz="3200" dirty="0"/>
          </a:p>
        </p:txBody>
      </p:sp>
      <p:sp>
        <p:nvSpPr>
          <p:cNvPr id="5" name="Shape 2"/>
          <p:cNvSpPr/>
          <p:nvPr/>
        </p:nvSpPr>
        <p:spPr>
          <a:xfrm>
            <a:off x="548640" y="1783080"/>
            <a:ext cx="2606040" cy="3017520"/>
          </a:xfrm>
          <a:prstGeom prst="roundRect">
            <a:avLst>
              <a:gd name="adj" fmla="val 4211"/>
            </a:avLst>
          </a:prstGeom>
          <a:solidFill>
            <a:srgbClr val="F6F7F8"/>
          </a:solidFill>
          <a:ln w="12700">
            <a:solidFill>
              <a:srgbClr val="F6F7F8"/>
            </a:solidFill>
            <a:prstDash val="solid"/>
          </a:ln>
        </p:spPr>
      </p:sp>
      <p:sp>
        <p:nvSpPr>
          <p:cNvPr id="6" name="Shape 3"/>
          <p:cNvSpPr/>
          <p:nvPr/>
        </p:nvSpPr>
        <p:spPr>
          <a:xfrm>
            <a:off x="777240" y="2011680"/>
            <a:ext cx="457200" cy="457200"/>
          </a:xfrm>
          <a:prstGeom prst="ellipse">
            <a:avLst/>
          </a:prstGeom>
          <a:solidFill>
            <a:srgbClr val="0A7F44"/>
          </a:solidFill>
          <a:ln w="12700">
            <a:solidFill>
              <a:srgbClr val="0A7F44"/>
            </a:solidFill>
            <a:prstDash val="solid"/>
          </a:ln>
        </p:spPr>
      </p:sp>
      <p:sp>
        <p:nvSpPr>
          <p:cNvPr id="7" name="Text 4"/>
          <p:cNvSpPr txBox="1"/>
          <p:nvPr/>
        </p:nvSpPr>
        <p:spPr>
          <a:xfrm>
            <a:off x="777240"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8" name="Text 5"/>
          <p:cNvSpPr txBox="1"/>
          <p:nvPr/>
        </p:nvSpPr>
        <p:spPr>
          <a:xfrm>
            <a:off x="777240" y="2651760"/>
            <a:ext cx="2194560" cy="365760"/>
          </a:xfrm>
          <a:prstGeom prst="rect">
            <a:avLst/>
          </a:prstGeom>
          <a:noFill/>
          <a:ln/>
        </p:spPr>
        <p:txBody>
          <a:bodyPr wrap="square" lIns="0" tIns="0" rIns="0" bIns="0" rtlCol="0" anchor="t"/>
          <a:lstStyle/>
          <a:p>
            <a:pPr indent="0" marL="0">
              <a:buNone/>
            </a:pPr>
            <a:r>
              <a:rPr lang="en-US" sz="1700" b="1" dirty="0">
                <a:solidFill>
                  <a:srgbClr val="0A0A0B"/>
                </a:solidFill>
              </a:rPr>
              <a:t>Tell your agent</a:t>
            </a:r>
            <a:endParaRPr lang="en-US" sz="1700" dirty="0"/>
          </a:p>
        </p:txBody>
      </p:sp>
      <p:sp>
        <p:nvSpPr>
          <p:cNvPr id="9" name="Text 6"/>
          <p:cNvSpPr txBox="1"/>
          <p:nvPr/>
        </p:nvSpPr>
        <p:spPr>
          <a:xfrm>
            <a:off x="777240" y="3108960"/>
            <a:ext cx="2194560" cy="1554480"/>
          </a:xfrm>
          <a:prstGeom prst="rect">
            <a:avLst/>
          </a:prstGeom>
          <a:noFill/>
          <a:ln/>
        </p:spPr>
        <p:txBody>
          <a:bodyPr wrap="square" lIns="0" tIns="0" rIns="0" bIns="0" rtlCol="0" anchor="t"/>
          <a:lstStyle/>
          <a:p>
            <a:pPr indent="0" marL="0">
              <a:buNone/>
            </a:pPr>
            <a:r>
              <a:rPr lang="en-US" sz="1250" dirty="0">
                <a:solidFill>
                  <a:srgbClr val="55555C"/>
                </a:solidFill>
              </a:rPr>
              <a:t>"Saturday doubles, need 3": it drafts the invite with the nearest court. You tap Post.</a:t>
            </a:r>
            <a:endParaRPr lang="en-US" sz="1250" dirty="0"/>
          </a:p>
        </p:txBody>
      </p:sp>
      <p:sp>
        <p:nvSpPr>
          <p:cNvPr id="10" name="Shape 7"/>
          <p:cNvSpPr/>
          <p:nvPr/>
        </p:nvSpPr>
        <p:spPr>
          <a:xfrm>
            <a:off x="3172968" y="3291840"/>
            <a:ext cx="146304" cy="0"/>
          </a:xfrm>
          <a:prstGeom prst="line">
            <a:avLst/>
          </a:prstGeom>
          <a:noFill/>
          <a:ln w="22225">
            <a:solidFill>
              <a:srgbClr val="8A8A92"/>
            </a:solidFill>
            <a:prstDash val="solid"/>
            <a:tailEnd type="triangle"/>
          </a:ln>
        </p:spPr>
      </p:sp>
      <p:sp>
        <p:nvSpPr>
          <p:cNvPr id="11" name="Shape 8"/>
          <p:cNvSpPr/>
          <p:nvPr/>
        </p:nvSpPr>
        <p:spPr>
          <a:xfrm>
            <a:off x="3337560" y="1783080"/>
            <a:ext cx="2606040" cy="3017520"/>
          </a:xfrm>
          <a:prstGeom prst="roundRect">
            <a:avLst>
              <a:gd name="adj" fmla="val 4211"/>
            </a:avLst>
          </a:prstGeom>
          <a:solidFill>
            <a:srgbClr val="F6F7F8"/>
          </a:solidFill>
          <a:ln w="12700">
            <a:solidFill>
              <a:srgbClr val="F6F7F8"/>
            </a:solidFill>
            <a:prstDash val="solid"/>
          </a:ln>
        </p:spPr>
      </p:sp>
      <p:sp>
        <p:nvSpPr>
          <p:cNvPr id="12" name="Shape 9"/>
          <p:cNvSpPr/>
          <p:nvPr/>
        </p:nvSpPr>
        <p:spPr>
          <a:xfrm>
            <a:off x="3566160" y="2011680"/>
            <a:ext cx="457200" cy="457200"/>
          </a:xfrm>
          <a:prstGeom prst="ellipse">
            <a:avLst/>
          </a:prstGeom>
          <a:solidFill>
            <a:srgbClr val="0A7F44"/>
          </a:solidFill>
          <a:ln w="12700">
            <a:solidFill>
              <a:srgbClr val="0A7F44"/>
            </a:solidFill>
            <a:prstDash val="solid"/>
          </a:ln>
        </p:spPr>
      </p:sp>
      <p:sp>
        <p:nvSpPr>
          <p:cNvPr id="13" name="Text 10"/>
          <p:cNvSpPr txBox="1"/>
          <p:nvPr/>
        </p:nvSpPr>
        <p:spPr>
          <a:xfrm>
            <a:off x="3566160"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4" name="Text 11"/>
          <p:cNvSpPr txBox="1"/>
          <p:nvPr/>
        </p:nvSpPr>
        <p:spPr>
          <a:xfrm>
            <a:off x="3566160" y="2651760"/>
            <a:ext cx="2194560" cy="365760"/>
          </a:xfrm>
          <a:prstGeom prst="rect">
            <a:avLst/>
          </a:prstGeom>
          <a:noFill/>
          <a:ln/>
        </p:spPr>
        <p:txBody>
          <a:bodyPr wrap="square" lIns="0" tIns="0" rIns="0" bIns="0" rtlCol="0" anchor="t"/>
          <a:lstStyle/>
          <a:p>
            <a:pPr indent="0" marL="0">
              <a:buNone/>
            </a:pPr>
            <a:r>
              <a:rPr lang="en-US" sz="1700" b="1" dirty="0">
                <a:solidFill>
                  <a:srgbClr val="0A0A0B"/>
                </a:solidFill>
              </a:rPr>
              <a:t>Share the link</a:t>
            </a:r>
            <a:endParaRPr lang="en-US" sz="1700" dirty="0"/>
          </a:p>
        </p:txBody>
      </p:sp>
      <p:sp>
        <p:nvSpPr>
          <p:cNvPr id="15" name="Text 12"/>
          <p:cNvSpPr txBox="1"/>
          <p:nvPr/>
        </p:nvSpPr>
        <p:spPr>
          <a:xfrm>
            <a:off x="3566160" y="3108960"/>
            <a:ext cx="2194560" cy="1554480"/>
          </a:xfrm>
          <a:prstGeom prst="rect">
            <a:avLst/>
          </a:prstGeom>
          <a:noFill/>
          <a:ln/>
        </p:spPr>
        <p:txBody>
          <a:bodyPr wrap="square" lIns="0" tIns="0" rIns="0" bIns="0" rtlCol="0" anchor="t"/>
          <a:lstStyle/>
          <a:p>
            <a:pPr indent="0" marL="0">
              <a:buNone/>
            </a:pPr>
            <a:r>
              <a:rPr lang="en-US" sz="1250" dirty="0">
                <a:solidFill>
                  <a:srgbClr val="55555C"/>
                </a:solidFill>
              </a:rPr>
              <a:t>To any group chat. It opens with no account: the game, the place, the spots left, never who is going.</a:t>
            </a:r>
            <a:endParaRPr lang="en-US" sz="1250" dirty="0"/>
          </a:p>
        </p:txBody>
      </p:sp>
      <p:sp>
        <p:nvSpPr>
          <p:cNvPr id="16" name="Shape 13"/>
          <p:cNvSpPr/>
          <p:nvPr/>
        </p:nvSpPr>
        <p:spPr>
          <a:xfrm>
            <a:off x="5961888" y="3291840"/>
            <a:ext cx="146304" cy="0"/>
          </a:xfrm>
          <a:prstGeom prst="line">
            <a:avLst/>
          </a:prstGeom>
          <a:noFill/>
          <a:ln w="22225">
            <a:solidFill>
              <a:srgbClr val="8A8A92"/>
            </a:solidFill>
            <a:prstDash val="solid"/>
            <a:tailEnd type="triangle"/>
          </a:ln>
        </p:spPr>
      </p:sp>
      <p:sp>
        <p:nvSpPr>
          <p:cNvPr id="17" name="Shape 14"/>
          <p:cNvSpPr/>
          <p:nvPr/>
        </p:nvSpPr>
        <p:spPr>
          <a:xfrm>
            <a:off x="6126480" y="1783080"/>
            <a:ext cx="2606040" cy="3017520"/>
          </a:xfrm>
          <a:prstGeom prst="roundRect">
            <a:avLst>
              <a:gd name="adj" fmla="val 4211"/>
            </a:avLst>
          </a:prstGeom>
          <a:solidFill>
            <a:srgbClr val="F6F7F8"/>
          </a:solidFill>
          <a:ln w="12700">
            <a:solidFill>
              <a:srgbClr val="F6F7F8"/>
            </a:solidFill>
            <a:prstDash val="solid"/>
          </a:ln>
        </p:spPr>
      </p:sp>
      <p:sp>
        <p:nvSpPr>
          <p:cNvPr id="18" name="Shape 15"/>
          <p:cNvSpPr/>
          <p:nvPr/>
        </p:nvSpPr>
        <p:spPr>
          <a:xfrm>
            <a:off x="6355080" y="2011680"/>
            <a:ext cx="457200" cy="457200"/>
          </a:xfrm>
          <a:prstGeom prst="ellipse">
            <a:avLst/>
          </a:prstGeom>
          <a:solidFill>
            <a:srgbClr val="0A7F44"/>
          </a:solidFill>
          <a:ln w="12700">
            <a:solidFill>
              <a:srgbClr val="0A7F44"/>
            </a:solidFill>
            <a:prstDash val="solid"/>
          </a:ln>
        </p:spPr>
      </p:sp>
      <p:sp>
        <p:nvSpPr>
          <p:cNvPr id="19" name="Text 16"/>
          <p:cNvSpPr txBox="1"/>
          <p:nvPr/>
        </p:nvSpPr>
        <p:spPr>
          <a:xfrm>
            <a:off x="6355080"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20" name="Text 17"/>
          <p:cNvSpPr txBox="1"/>
          <p:nvPr/>
        </p:nvSpPr>
        <p:spPr>
          <a:xfrm>
            <a:off x="6355080" y="2651760"/>
            <a:ext cx="2194560" cy="365760"/>
          </a:xfrm>
          <a:prstGeom prst="rect">
            <a:avLst/>
          </a:prstGeom>
          <a:noFill/>
          <a:ln/>
        </p:spPr>
        <p:txBody>
          <a:bodyPr wrap="square" lIns="0" tIns="0" rIns="0" bIns="0" rtlCol="0" anchor="t"/>
          <a:lstStyle/>
          <a:p>
            <a:pPr indent="0" marL="0">
              <a:buNone/>
            </a:pPr>
            <a:r>
              <a:rPr lang="en-US" sz="1700" b="1" dirty="0">
                <a:solidFill>
                  <a:srgbClr val="0A0A0B"/>
                </a:solidFill>
              </a:rPr>
              <a:t>Tap Join</a:t>
            </a:r>
            <a:endParaRPr lang="en-US" sz="1700" dirty="0"/>
          </a:p>
        </p:txBody>
      </p:sp>
      <p:sp>
        <p:nvSpPr>
          <p:cNvPr id="21" name="Text 18"/>
          <p:cNvSpPr txBox="1"/>
          <p:nvPr/>
        </p:nvSpPr>
        <p:spPr>
          <a:xfrm>
            <a:off x="6355080" y="3108960"/>
            <a:ext cx="2194560" cy="1554480"/>
          </a:xfrm>
          <a:prstGeom prst="rect">
            <a:avLst/>
          </a:prstGeom>
          <a:noFill/>
          <a:ln/>
        </p:spPr>
        <p:txBody>
          <a:bodyPr wrap="square" lIns="0" tIns="0" rIns="0" bIns="0" rtlCol="0" anchor="t"/>
          <a:lstStyle/>
          <a:p>
            <a:pPr indent="0" marL="0">
              <a:buNone/>
            </a:pPr>
            <a:r>
              <a:rPr lang="en-US" sz="1250" dirty="0">
                <a:solidFill>
                  <a:srgbClr val="55555C"/>
                </a:solidFill>
              </a:rPr>
              <a:t>Sign in once (a demo sign-in for now: Facebook and Instagram login wait for Meta's app review) and the game is joined straight away.</a:t>
            </a:r>
            <a:endParaRPr lang="en-US" sz="1250" dirty="0"/>
          </a:p>
        </p:txBody>
      </p:sp>
      <p:sp>
        <p:nvSpPr>
          <p:cNvPr id="22" name="Shape 19"/>
          <p:cNvSpPr/>
          <p:nvPr/>
        </p:nvSpPr>
        <p:spPr>
          <a:xfrm>
            <a:off x="8750808" y="3291840"/>
            <a:ext cx="146304" cy="0"/>
          </a:xfrm>
          <a:prstGeom prst="line">
            <a:avLst/>
          </a:prstGeom>
          <a:noFill/>
          <a:ln w="22225">
            <a:solidFill>
              <a:srgbClr val="8A8A92"/>
            </a:solidFill>
            <a:prstDash val="solid"/>
            <a:tailEnd type="triangle"/>
          </a:ln>
        </p:spPr>
      </p:sp>
      <p:sp>
        <p:nvSpPr>
          <p:cNvPr id="23" name="Shape 20"/>
          <p:cNvSpPr/>
          <p:nvPr/>
        </p:nvSpPr>
        <p:spPr>
          <a:xfrm>
            <a:off x="8915400" y="1783080"/>
            <a:ext cx="2606040" cy="3017520"/>
          </a:xfrm>
          <a:prstGeom prst="roundRect">
            <a:avLst>
              <a:gd name="adj" fmla="val 4211"/>
            </a:avLst>
          </a:prstGeom>
          <a:solidFill>
            <a:srgbClr val="E9F3EC"/>
          </a:solidFill>
          <a:ln w="12700">
            <a:solidFill>
              <a:srgbClr val="E9F3EC"/>
            </a:solidFill>
            <a:prstDash val="solid"/>
          </a:ln>
        </p:spPr>
      </p:sp>
      <p:sp>
        <p:nvSpPr>
          <p:cNvPr id="24" name="Shape 21"/>
          <p:cNvSpPr/>
          <p:nvPr/>
        </p:nvSpPr>
        <p:spPr>
          <a:xfrm>
            <a:off x="9144000" y="2011680"/>
            <a:ext cx="457200" cy="457200"/>
          </a:xfrm>
          <a:prstGeom prst="ellipse">
            <a:avLst/>
          </a:prstGeom>
          <a:solidFill>
            <a:srgbClr val="0A7F44"/>
          </a:solidFill>
          <a:ln w="12700">
            <a:solidFill>
              <a:srgbClr val="0A7F44"/>
            </a:solidFill>
            <a:prstDash val="solid"/>
          </a:ln>
        </p:spPr>
      </p:sp>
      <p:sp>
        <p:nvSpPr>
          <p:cNvPr id="25" name="Text 22"/>
          <p:cNvSpPr txBox="1"/>
          <p:nvPr/>
        </p:nvSpPr>
        <p:spPr>
          <a:xfrm>
            <a:off x="9144000"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6" name="Text 23"/>
          <p:cNvSpPr txBox="1"/>
          <p:nvPr/>
        </p:nvSpPr>
        <p:spPr>
          <a:xfrm>
            <a:off x="9144000" y="2651760"/>
            <a:ext cx="2194560" cy="365760"/>
          </a:xfrm>
          <a:prstGeom prst="rect">
            <a:avLst/>
          </a:prstGeom>
          <a:noFill/>
          <a:ln/>
        </p:spPr>
        <p:txBody>
          <a:bodyPr wrap="square" lIns="0" tIns="0" rIns="0" bIns="0" rtlCol="0" anchor="t"/>
          <a:lstStyle/>
          <a:p>
            <a:pPr indent="0" marL="0">
              <a:buNone/>
            </a:pPr>
            <a:r>
              <a:rPr lang="en-US" sz="1700" b="1" dirty="0">
                <a:solidFill>
                  <a:srgbClr val="0A0A0B"/>
                </a:solidFill>
              </a:rPr>
              <a:t>Game on</a:t>
            </a:r>
            <a:endParaRPr lang="en-US" sz="1700" dirty="0"/>
          </a:p>
        </p:txBody>
      </p:sp>
      <p:sp>
        <p:nvSpPr>
          <p:cNvPr id="27" name="Text 24"/>
          <p:cNvSpPr txBox="1"/>
          <p:nvPr/>
        </p:nvSpPr>
        <p:spPr>
          <a:xfrm>
            <a:off x="9144000" y="3108960"/>
            <a:ext cx="2194560" cy="1554480"/>
          </a:xfrm>
          <a:prstGeom prst="rect">
            <a:avLst/>
          </a:prstGeom>
          <a:noFill/>
          <a:ln/>
        </p:spPr>
        <p:txBody>
          <a:bodyPr wrap="square" lIns="0" tIns="0" rIns="0" bIns="0" rtlCol="0" anchor="t"/>
          <a:lstStyle/>
          <a:p>
            <a:pPr indent="0" marL="0">
              <a:buNone/>
            </a:pPr>
            <a:r>
              <a:rPr lang="en-US" sz="1250" dirty="0">
                <a:solidFill>
                  <a:srgbClr val="55555C"/>
                </a:solidFill>
              </a:rPr>
              <a:t>The last spot taken, everyone in it hears "Game on". From then on, their own agent answers for them.</a:t>
            </a:r>
            <a:endParaRPr lang="en-US" sz="1250" dirty="0"/>
          </a:p>
        </p:txBody>
      </p:sp>
      <p:sp>
        <p:nvSpPr>
          <p:cNvPr id="28" name="Shape 25"/>
          <p:cNvSpPr/>
          <p:nvPr/>
        </p:nvSpPr>
        <p:spPr>
          <a:xfrm>
            <a:off x="548640" y="5029200"/>
            <a:ext cx="11064240" cy="1005840"/>
          </a:xfrm>
          <a:prstGeom prst="roundRect">
            <a:avLst>
              <a:gd name="adj" fmla="val 10909"/>
            </a:avLst>
          </a:prstGeom>
          <a:solidFill>
            <a:srgbClr val="FFFFFF"/>
          </a:solidFill>
          <a:ln w="12700">
            <a:solidFill>
              <a:srgbClr val="DCDCE0"/>
            </a:solidFill>
            <a:prstDash val="solid"/>
          </a:ln>
        </p:spPr>
      </p:sp>
      <p:sp>
        <p:nvSpPr>
          <p:cNvPr id="29" name="Text 26"/>
          <p:cNvSpPr txBox="1"/>
          <p:nvPr/>
        </p:nvSpPr>
        <p:spPr>
          <a:xfrm>
            <a:off x="777240" y="5029200"/>
            <a:ext cx="10607040" cy="1005840"/>
          </a:xfrm>
          <a:prstGeom prst="rect">
            <a:avLst/>
          </a:prstGeom>
          <a:noFill/>
          <a:ln/>
        </p:spPr>
        <p:txBody>
          <a:bodyPr wrap="square" lIns="0" tIns="0" rIns="0" bIns="0" rtlCol="0" anchor="ctr"/>
          <a:lstStyle/>
          <a:p>
            <a:pPr indent="0" marL="0">
              <a:buNone/>
            </a:pPr>
            <a:r>
              <a:rPr lang="en-US" sz="1300" b="1" dirty="0">
                <a:solidFill>
                  <a:srgbClr val="0A0A0B"/>
                </a:solidFill>
              </a:rPr>
              <a:t>Why it matters. </a:t>
            </a:r>
            <a:pPr indent="0" marL="0">
              <a:buNone/>
            </a:pPr>
            <a:r>
              <a:rPr lang="en-US" sz="1300" dirty="0">
                <a:solidFill>
                  <a:srgbClr val="0A0A0B"/>
                </a:solidFill>
              </a:rPr>
              <a:t>Agents agree games only between members, so the second player has to get in somehow: the link is that way in, and nobody has to install anything first. A private club's games never leave the club. Live on the public site since 29 Oct; the link page and the join are covered by tests.</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WHO ELSE IT SERVES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Games where no one has time to organize them</a:t>
            </a:r>
            <a:endParaRPr lang="en-US" sz="3200" dirty="0"/>
          </a:p>
        </p:txBody>
      </p:sp>
      <p:sp>
        <p:nvSpPr>
          <p:cNvPr id="5" name="Shape 2"/>
          <p:cNvSpPr/>
          <p:nvPr/>
        </p:nvSpPr>
        <p:spPr>
          <a:xfrm>
            <a:off x="548640" y="1691640"/>
            <a:ext cx="3566160" cy="4343400"/>
          </a:xfrm>
          <a:prstGeom prst="roundRect">
            <a:avLst>
              <a:gd name="adj" fmla="val 3077"/>
            </a:avLst>
          </a:prstGeom>
          <a:solidFill>
            <a:srgbClr val="FFFFFF"/>
          </a:solidFill>
          <a:ln w="12700">
            <a:solidFill>
              <a:srgbClr val="DCDCE0"/>
            </a:solidFill>
            <a:prstDash val="solid"/>
          </a:ln>
        </p:spPr>
      </p:sp>
      <p:sp>
        <p:nvSpPr>
          <p:cNvPr id="6" name="Text 3"/>
          <p:cNvSpPr txBox="1"/>
          <p:nvPr/>
        </p:nvSpPr>
        <p:spPr>
          <a:xfrm>
            <a:off x="777240" y="1874520"/>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CHILDREN</a:t>
            </a:r>
            <a:endParaRPr lang="en-US" sz="1000" dirty="0"/>
          </a:p>
        </p:txBody>
      </p:sp>
      <p:sp>
        <p:nvSpPr>
          <p:cNvPr id="7" name="Text 4"/>
          <p:cNvSpPr txBox="1"/>
          <p:nvPr/>
        </p:nvSpPr>
        <p:spPr>
          <a:xfrm>
            <a:off x="77724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A teacher or volunteer</a:t>
            </a:r>
            <a:endParaRPr lang="en-US" sz="1800" dirty="0"/>
          </a:p>
        </p:txBody>
      </p:sp>
      <p:sp>
        <p:nvSpPr>
          <p:cNvPr id="8" name="Text 5"/>
          <p:cNvSpPr txBox="1"/>
          <p:nvPr/>
        </p:nvSpPr>
        <p:spPr>
          <a:xfrm>
            <a:off x="77724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Private: parents and helpers join only when the organizer lets them in. Children have no accounts: first names only, seen by the organizer. Code shares out the courts in turns.</a:t>
            </a:r>
            <a:endParaRPr lang="en-US" sz="1250" dirty="0"/>
          </a:p>
        </p:txBody>
      </p:sp>
      <p:sp>
        <p:nvSpPr>
          <p:cNvPr id="9" name="Shape 6"/>
          <p:cNvSpPr/>
          <p:nvPr/>
        </p:nvSpPr>
        <p:spPr>
          <a:xfrm>
            <a:off x="777240" y="4480560"/>
            <a:ext cx="3108960" cy="1325880"/>
          </a:xfrm>
          <a:prstGeom prst="roundRect">
            <a:avLst>
              <a:gd name="adj" fmla="val 8276"/>
            </a:avLst>
          </a:prstGeom>
          <a:solidFill>
            <a:srgbClr val="E9F3EC"/>
          </a:solidFill>
          <a:ln w="12700">
            <a:solidFill>
              <a:srgbClr val="E9F3EC"/>
            </a:solidFill>
            <a:prstDash val="solid"/>
          </a:ln>
        </p:spPr>
      </p:sp>
      <p:sp>
        <p:nvSpPr>
          <p:cNvPr id="10" name="Text 7"/>
          <p:cNvSpPr txBox="1"/>
          <p:nvPr/>
        </p:nvSpPr>
        <p:spPr>
          <a:xfrm>
            <a:off x="91440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11 children, 2 courts: everyone plays within one turn of the others. A pick-up note for parents.</a:t>
            </a:r>
            <a:endParaRPr lang="en-US" sz="1200" dirty="0"/>
          </a:p>
        </p:txBody>
      </p:sp>
      <p:sp>
        <p:nvSpPr>
          <p:cNvPr id="11" name="Shape 8"/>
          <p:cNvSpPr/>
          <p:nvPr/>
        </p:nvSpPr>
        <p:spPr>
          <a:xfrm>
            <a:off x="4297680" y="1691640"/>
            <a:ext cx="3566160" cy="4343400"/>
          </a:xfrm>
          <a:prstGeom prst="roundRect">
            <a:avLst>
              <a:gd name="adj" fmla="val 3077"/>
            </a:avLst>
          </a:prstGeom>
          <a:solidFill>
            <a:srgbClr val="FFFFFF"/>
          </a:solidFill>
          <a:ln w="12700">
            <a:solidFill>
              <a:srgbClr val="DCDCE0"/>
            </a:solidFill>
            <a:prstDash val="solid"/>
          </a:ln>
        </p:spPr>
      </p:sp>
      <p:sp>
        <p:nvSpPr>
          <p:cNvPr id="12" name="Text 9"/>
          <p:cNvSpPr txBox="1"/>
          <p:nvPr/>
        </p:nvSpPr>
        <p:spPr>
          <a:xfrm>
            <a:off x="4526280" y="1874520"/>
            <a:ext cx="3108960" cy="228600"/>
          </a:xfrm>
          <a:prstGeom prst="rect">
            <a:avLst/>
          </a:prstGeom>
          <a:noFill/>
          <a:ln/>
        </p:spPr>
        <p:txBody>
          <a:bodyPr wrap="square" lIns="0" tIns="0" rIns="0" bIns="0" rtlCol="0" anchor="t"/>
          <a:lstStyle/>
          <a:p>
            <a:pPr indent="0" marL="0">
              <a:buNone/>
            </a:pPr>
            <a:r>
              <a:rPr lang="en-US" sz="1000" b="1" spc="100" kern="0" dirty="0">
                <a:solidFill>
                  <a:srgbClr val="0064E0"/>
                </a:solidFill>
              </a:rPr>
              <a:t>OLDER ADULTS</a:t>
            </a:r>
            <a:endParaRPr lang="en-US" sz="1000" dirty="0"/>
          </a:p>
        </p:txBody>
      </p:sp>
      <p:sp>
        <p:nvSpPr>
          <p:cNvPr id="13" name="Text 10"/>
          <p:cNvSpPr txBox="1"/>
          <p:nvPr/>
        </p:nvSpPr>
        <p:spPr>
          <a:xfrm>
            <a:off x="452628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Gentle games</a:t>
            </a:r>
            <a:endParaRPr lang="en-US" sz="1800" dirty="0"/>
          </a:p>
        </p:txBody>
      </p:sp>
      <p:sp>
        <p:nvSpPr>
          <p:cNvPr id="14" name="Text 11"/>
          <p:cNvSpPr txBox="1"/>
          <p:nvPr/>
        </p:nvSpPr>
        <p:spPr>
          <a:xfrm>
            <a:off x="452628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Every game posted in a gentle-games club is held by code: starts 08:00 to 16:00, 60 minutes, 8 players at most, doubles for racket sports.</a:t>
            </a:r>
            <a:endParaRPr lang="en-US" sz="1250" dirty="0"/>
          </a:p>
        </p:txBody>
      </p:sp>
      <p:sp>
        <p:nvSpPr>
          <p:cNvPr id="15" name="Shape 12"/>
          <p:cNvSpPr/>
          <p:nvPr/>
        </p:nvSpPr>
        <p:spPr>
          <a:xfrm>
            <a:off x="4526280" y="4480560"/>
            <a:ext cx="3108960" cy="1325880"/>
          </a:xfrm>
          <a:prstGeom prst="roundRect">
            <a:avLst>
              <a:gd name="adj" fmla="val 8276"/>
            </a:avLst>
          </a:prstGeom>
          <a:solidFill>
            <a:srgbClr val="E8F1FD"/>
          </a:solidFill>
          <a:ln w="12700">
            <a:solidFill>
              <a:srgbClr val="E8F1FD"/>
            </a:solidFill>
            <a:prstDash val="solid"/>
          </a:ln>
        </p:spPr>
      </p:sp>
      <p:sp>
        <p:nvSpPr>
          <p:cNvPr id="16" name="Text 13"/>
          <p:cNvSpPr txBox="1"/>
          <p:nvPr/>
        </p:nvSpPr>
        <p:spPr>
          <a:xfrm>
            <a:off x="466344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A 19:00 game is refused, with the reason. The card says "Gentle game · doubles, 60 min".</a:t>
            </a:r>
            <a:endParaRPr lang="en-US" sz="1200" dirty="0"/>
          </a:p>
        </p:txBody>
      </p:sp>
      <p:sp>
        <p:nvSpPr>
          <p:cNvPr id="17" name="Shape 14"/>
          <p:cNvSpPr/>
          <p:nvPr/>
        </p:nvSpPr>
        <p:spPr>
          <a:xfrm>
            <a:off x="8046720" y="1691640"/>
            <a:ext cx="3566160" cy="4343400"/>
          </a:xfrm>
          <a:prstGeom prst="roundRect">
            <a:avLst>
              <a:gd name="adj" fmla="val 3077"/>
            </a:avLst>
          </a:prstGeom>
          <a:solidFill>
            <a:srgbClr val="FFFFFF"/>
          </a:solidFill>
          <a:ln w="12700">
            <a:solidFill>
              <a:srgbClr val="DCDCE0"/>
            </a:solidFill>
            <a:prstDash val="solid"/>
          </a:ln>
        </p:spPr>
      </p:sp>
      <p:sp>
        <p:nvSpPr>
          <p:cNvPr id="18" name="Text 15"/>
          <p:cNvSpPr txBox="1"/>
          <p:nvPr/>
        </p:nvSpPr>
        <p:spPr>
          <a:xfrm>
            <a:off x="8275320" y="1874520"/>
            <a:ext cx="3108960" cy="228600"/>
          </a:xfrm>
          <a:prstGeom prst="rect">
            <a:avLst/>
          </a:prstGeom>
          <a:noFill/>
          <a:ln/>
        </p:spPr>
        <p:txBody>
          <a:bodyPr wrap="square" lIns="0" tIns="0" rIns="0" bIns="0" rtlCol="0" anchor="t"/>
          <a:lstStyle/>
          <a:p>
            <a:pPr indent="0" marL="0">
              <a:buNone/>
            </a:pPr>
            <a:r>
              <a:rPr lang="en-US" sz="1000" b="1" spc="100" kern="0" dirty="0">
                <a:solidFill>
                  <a:srgbClr val="B26A00"/>
                </a:solidFill>
              </a:rPr>
              <a:t>A CAUSE</a:t>
            </a:r>
            <a:endParaRPr lang="en-US" sz="1000" dirty="0"/>
          </a:p>
        </p:txBody>
      </p:sp>
      <p:sp>
        <p:nvSpPr>
          <p:cNvPr id="19" name="Text 16"/>
          <p:cNvSpPr txBox="1"/>
          <p:nvPr/>
        </p:nvSpPr>
        <p:spPr>
          <a:xfrm>
            <a:off x="827532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Charity cup</a:t>
            </a:r>
            <a:endParaRPr lang="en-US" sz="1800" dirty="0"/>
          </a:p>
        </p:txBody>
      </p:sp>
      <p:sp>
        <p:nvSpPr>
          <p:cNvPr id="20" name="Text 17"/>
          <p:cNvSpPr txBox="1"/>
          <p:nvPr/>
        </p:nvSpPr>
        <p:spPr>
          <a:xfrm>
            <a:off x="827532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Players enter with a level and a pledge to the cause, only recorded: Serve handles no money. The organizer makes the draw in one tap.</a:t>
            </a:r>
            <a:endParaRPr lang="en-US" sz="1250" dirty="0"/>
          </a:p>
        </p:txBody>
      </p:sp>
      <p:sp>
        <p:nvSpPr>
          <p:cNvPr id="21" name="Shape 18"/>
          <p:cNvSpPr/>
          <p:nvPr/>
        </p:nvSpPr>
        <p:spPr>
          <a:xfrm>
            <a:off x="8275320" y="4480560"/>
            <a:ext cx="3108960" cy="1325880"/>
          </a:xfrm>
          <a:prstGeom prst="roundRect">
            <a:avLst>
              <a:gd name="adj" fmla="val 8276"/>
            </a:avLst>
          </a:prstGeom>
          <a:solidFill>
            <a:srgbClr val="FBF3E6"/>
          </a:solidFill>
          <a:ln w="12700">
            <a:solidFill>
              <a:srgbClr val="FBF3E6"/>
            </a:solidFill>
            <a:prstDash val="solid"/>
          </a:ln>
        </p:spPr>
      </p:sp>
      <p:sp>
        <p:nvSpPr>
          <p:cNvPr id="22" name="Text 19"/>
          <p:cNvSpPr txBox="1"/>
          <p:nvPr/>
        </p:nvSpPr>
        <p:spPr>
          <a:xfrm>
            <a:off x="841248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Balanced doubles, a round robin on courts and times, no team twice in a slot; posted in the club.</a:t>
            </a:r>
            <a:endParaRPr lang="en-US" sz="1200" dirty="0"/>
          </a:p>
        </p:txBody>
      </p:sp>
      <p:sp>
        <p:nvSpPr>
          <p:cNvPr id="23" name="Text 20"/>
          <p:cNvSpPr txBox="1"/>
          <p:nvPr/>
        </p:nvSpPr>
        <p:spPr>
          <a:xfrm>
            <a:off x="548640" y="6144768"/>
            <a:ext cx="10972800" cy="274320"/>
          </a:xfrm>
          <a:prstGeom prst="rect">
            <a:avLst/>
          </a:prstGeom>
          <a:noFill/>
          <a:ln/>
        </p:spPr>
        <p:txBody>
          <a:bodyPr wrap="square" lIns="0" tIns="0" rIns="0" bIns="0" rtlCol="0" anchor="t"/>
          <a:lstStyle/>
          <a:p>
            <a:pPr indent="0" marL="0">
              <a:buNone/>
            </a:pPr>
            <a:r>
              <a:rPr lang="en-US" sz="1100" i="1" dirty="0">
                <a:solidFill>
                  <a:srgbClr val="55555C"/>
                </a:solidFill>
              </a:rPr>
              <a:t>All rules are code, checked in test/programs_unit.mjs. A new kind of group is a club, not a new agent.</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"Not after 22:00 on work nights"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games</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Usually one round: they mark times, code picks; a counter-offer if none fits</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 auto-cut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health data only sets scheduling limits, on my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577840" cy="4443230"/>
          </a:xfrm>
          <a:prstGeom prst="rect">
            <a:avLst/>
          </a:prstGeom>
        </p:spPr>
      </p:pic>
      <p:sp>
        <p:nvSpPr>
          <p:cNvPr id="6" name="Shape 2"/>
          <p:cNvSpPr/>
          <p:nvPr/>
        </p:nvSpPr>
        <p:spPr>
          <a:xfrm>
            <a:off x="548640" y="1691640"/>
            <a:ext cx="5577840" cy="4443230"/>
          </a:xfrm>
          <a:prstGeom prst="rect">
            <a:avLst/>
          </a:prstGeom>
          <a:ln w="12700">
            <a:solidFill>
              <a:srgbClr val="DCDCE0"/>
            </a:solidFill>
            <a:prstDash val="solid"/>
          </a:ln>
        </p:spPr>
      </p:sp>
      <p:sp>
        <p:nvSpPr>
          <p:cNvPr id="7" name="Text 3"/>
          <p:cNvSpPr txBox="1"/>
          <p:nvPr/>
        </p:nvSpPr>
        <p:spPr>
          <a:xfrm>
            <a:off x="548640" y="6245352"/>
            <a:ext cx="5577840" cy="228600"/>
          </a:xfrm>
          <a:prstGeom prst="rect">
            <a:avLst/>
          </a:prstGeom>
          <a:noFill/>
          <a:ln/>
        </p:spPr>
        <p:txBody>
          <a:bodyPr wrap="square" lIns="0" tIns="0" rIns="0" bIns="0" rtlCol="0" anchor="t"/>
          <a:lstStyle/>
          <a:p>
            <a:pPr indent="0" marL="0">
              <a:buNone/>
            </a:pPr>
            <a:r>
              <a:rPr lang="en-US" sz="1050" dirty="0">
                <a:solidFill>
                  <a:srgbClr val="55555C"/>
                </a:solidFill>
              </a:rPr>
              <a:t>Badminton: the venue in the middle (an earlier run than slide 11, on court 3)</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Basketball: public courts, judged with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usually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 a counter-offer only if none fits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reviews first; Google's are listed with a link, not stored</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Six Meta models carry the product (15 used in all)</a:t>
            </a:r>
            <a:endParaRPr lang="en-US" sz="3200" dirty="0"/>
          </a:p>
        </p:txBody>
      </p:sp>
      <p:sp>
        <p:nvSpPr>
          <p:cNvPr id="5" name="Shape 2"/>
          <p:cNvSpPr/>
          <p:nvPr/>
        </p:nvSpPr>
        <p:spPr>
          <a:xfrm>
            <a:off x="548640" y="1691640"/>
            <a:ext cx="3566160" cy="1645920"/>
          </a:xfrm>
          <a:prstGeom prst="roundRect">
            <a:avLst>
              <a:gd name="adj" fmla="val 6667"/>
            </a:avLst>
          </a:prstGeom>
          <a:solidFill>
            <a:srgbClr val="E9F3EC"/>
          </a:solidFill>
          <a:ln w="12700">
            <a:solidFill>
              <a:srgbClr val="E9F3EC"/>
            </a:solidFill>
            <a:prstDash val="solid"/>
          </a:ln>
        </p:spPr>
      </p:sp>
      <p:sp>
        <p:nvSpPr>
          <p:cNvPr id="6" name="Text 3"/>
          <p:cNvSpPr txBox="1"/>
          <p:nvPr/>
        </p:nvSpPr>
        <p:spPr>
          <a:xfrm>
            <a:off x="749808" y="1847088"/>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7" name="Text 4"/>
          <p:cNvSpPr txBox="1"/>
          <p:nvPr/>
        </p:nvSpPr>
        <p:spPr>
          <a:xfrm>
            <a:off x="749808" y="21031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Muse Glimmer</a:t>
            </a:r>
            <a:endParaRPr lang="en-US" sz="1700" dirty="0"/>
          </a:p>
        </p:txBody>
      </p:sp>
      <p:sp>
        <p:nvSpPr>
          <p:cNvPr id="8" name="Text 5"/>
          <p:cNvSpPr txBox="1"/>
          <p:nvPr/>
        </p:nvSpPr>
        <p:spPr>
          <a:xfrm>
            <a:off x="749808" y="2496312"/>
            <a:ext cx="3200400" cy="502920"/>
          </a:xfrm>
          <a:prstGeom prst="rect">
            <a:avLst/>
          </a:prstGeom>
          <a:noFill/>
          <a:ln/>
        </p:spPr>
        <p:txBody>
          <a:bodyPr wrap="square" lIns="0" tIns="0" rIns="0" bIns="0" rtlCol="0" anchor="t"/>
          <a:lstStyle/>
          <a:p>
            <a:pPr indent="0" marL="0">
              <a:buNone/>
            </a:pPr>
            <a:r>
              <a:rPr lang="en-US" sz="1200" dirty="0">
                <a:solidFill>
                  <a:srgbClr val="0A0A0B"/>
                </a:solidFill>
              </a:rPr>
              <a:t>Every agent's decisions: the tool loop, A2A answers, the court judge</a:t>
            </a:r>
            <a:endParaRPr lang="en-US" sz="1200" dirty="0"/>
          </a:p>
        </p:txBody>
      </p:sp>
      <p:sp>
        <p:nvSpPr>
          <p:cNvPr id="9" name="Text 6"/>
          <p:cNvSpPr txBox="1"/>
          <p:nvPr/>
        </p:nvSpPr>
        <p:spPr>
          <a:xfrm>
            <a:off x="749808" y="2999232"/>
            <a:ext cx="3200400" cy="228600"/>
          </a:xfrm>
          <a:prstGeom prst="rect">
            <a:avLst/>
          </a:prstGeom>
          <a:noFill/>
          <a:ln/>
        </p:spPr>
        <p:txBody>
          <a:bodyPr wrap="square" lIns="0" tIns="0" rIns="0" bIns="0" rtlCol="0" anchor="t"/>
          <a:lstStyle/>
          <a:p>
            <a:pPr indent="0" marL="0">
              <a:buNone/>
            </a:pPr>
            <a:r>
              <a:rPr lang="en-US" sz="1000" dirty="0">
                <a:solidFill>
                  <a:srgbClr val="55555C"/>
                </a:solidFill>
              </a:rPr>
              <a:t>RTX 3090 · Ollama · open weights</a:t>
            </a:r>
            <a:endParaRPr lang="en-US" sz="1000" dirty="0"/>
          </a:p>
        </p:txBody>
      </p:sp>
      <p:sp>
        <p:nvSpPr>
          <p:cNvPr id="10" name="Shape 7"/>
          <p:cNvSpPr/>
          <p:nvPr/>
        </p:nvSpPr>
        <p:spPr>
          <a:xfrm>
            <a:off x="4297680" y="1691640"/>
            <a:ext cx="3566160" cy="1645920"/>
          </a:xfrm>
          <a:prstGeom prst="roundRect">
            <a:avLst>
              <a:gd name="adj" fmla="val 6667"/>
            </a:avLst>
          </a:prstGeom>
          <a:solidFill>
            <a:srgbClr val="E9F3EC"/>
          </a:solidFill>
          <a:ln w="12700">
            <a:solidFill>
              <a:srgbClr val="E9F3EC"/>
            </a:solidFill>
            <a:prstDash val="solid"/>
          </a:ln>
        </p:spPr>
      </p:sp>
      <p:sp>
        <p:nvSpPr>
          <p:cNvPr id="11" name="Text 8"/>
          <p:cNvSpPr txBox="1"/>
          <p:nvPr/>
        </p:nvSpPr>
        <p:spPr>
          <a:xfrm>
            <a:off x="4498848" y="1847088"/>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12" name="Text 9"/>
          <p:cNvSpPr txBox="1"/>
          <p:nvPr/>
        </p:nvSpPr>
        <p:spPr>
          <a:xfrm>
            <a:off x="4498848" y="21031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Llama 3.2 1B student</a:t>
            </a:r>
            <a:endParaRPr lang="en-US" sz="1700" dirty="0"/>
          </a:p>
        </p:txBody>
      </p:sp>
      <p:sp>
        <p:nvSpPr>
          <p:cNvPr id="13" name="Text 10"/>
          <p:cNvSpPr txBox="1"/>
          <p:nvPr/>
        </p:nvSpPr>
        <p:spPr>
          <a:xfrm>
            <a:off x="4498848" y="2496312"/>
            <a:ext cx="3200400" cy="502920"/>
          </a:xfrm>
          <a:prstGeom prst="rect">
            <a:avLst/>
          </a:prstGeom>
          <a:noFill/>
          <a:ln/>
        </p:spPr>
        <p:txBody>
          <a:bodyPr wrap="square" lIns="0" tIns="0" rIns="0" bIns="0" rtlCol="0" anchor="t"/>
          <a:lstStyle/>
          <a:p>
            <a:pPr indent="0" marL="0">
              <a:buNone/>
            </a:pPr>
            <a:r>
              <a:rPr lang="en-US" sz="1200" dirty="0">
                <a:solidFill>
                  <a:srgbClr val="0A0A0B"/>
                </a:solidFill>
              </a:rPr>
              <a:t>Distilled from Glimmer; answers alone when sure, in about 0.9 s</a:t>
            </a:r>
            <a:endParaRPr lang="en-US" sz="1200" dirty="0"/>
          </a:p>
        </p:txBody>
      </p:sp>
      <p:sp>
        <p:nvSpPr>
          <p:cNvPr id="14" name="Text 11"/>
          <p:cNvSpPr txBox="1"/>
          <p:nvPr/>
        </p:nvSpPr>
        <p:spPr>
          <a:xfrm>
            <a:off x="4498848" y="29992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fine-tuned here</a:t>
            </a:r>
            <a:endParaRPr lang="en-US" sz="1000" dirty="0"/>
          </a:p>
        </p:txBody>
      </p:sp>
      <p:sp>
        <p:nvSpPr>
          <p:cNvPr id="15" name="Shape 12"/>
          <p:cNvSpPr/>
          <p:nvPr/>
        </p:nvSpPr>
        <p:spPr>
          <a:xfrm>
            <a:off x="8046720" y="1691640"/>
            <a:ext cx="3566160" cy="1645920"/>
          </a:xfrm>
          <a:prstGeom prst="roundRect">
            <a:avLst>
              <a:gd name="adj" fmla="val 6667"/>
            </a:avLst>
          </a:prstGeom>
          <a:solidFill>
            <a:srgbClr val="FBEAE9"/>
          </a:solidFill>
          <a:ln w="12700">
            <a:solidFill>
              <a:srgbClr val="FBEAE9"/>
            </a:solidFill>
            <a:prstDash val="solid"/>
          </a:ln>
        </p:spPr>
      </p:sp>
      <p:sp>
        <p:nvSpPr>
          <p:cNvPr id="16" name="Text 13"/>
          <p:cNvSpPr txBox="1"/>
          <p:nvPr/>
        </p:nvSpPr>
        <p:spPr>
          <a:xfrm>
            <a:off x="8247888" y="1847088"/>
            <a:ext cx="310896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17" name="Text 14"/>
          <p:cNvSpPr txBox="1"/>
          <p:nvPr/>
        </p:nvSpPr>
        <p:spPr>
          <a:xfrm>
            <a:off x="8247888" y="21031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Llama Guard 3 1B</a:t>
            </a:r>
            <a:endParaRPr lang="en-US" sz="1700" dirty="0"/>
          </a:p>
        </p:txBody>
      </p:sp>
      <p:sp>
        <p:nvSpPr>
          <p:cNvPr id="18" name="Text 15"/>
          <p:cNvSpPr txBox="1"/>
          <p:nvPr/>
        </p:nvSpPr>
        <p:spPr>
          <a:xfrm>
            <a:off x="8247888" y="2496312"/>
            <a:ext cx="3200400" cy="502920"/>
          </a:xfrm>
          <a:prstGeom prst="rect">
            <a:avLst/>
          </a:prstGeom>
          <a:noFill/>
          <a:ln/>
        </p:spPr>
        <p:txBody>
          <a:bodyPr wrap="square" lIns="0" tIns="0" rIns="0" bIns="0" rtlCol="0" anchor="t"/>
          <a:lstStyle/>
          <a:p>
            <a:pPr indent="0" marL="0">
              <a:buNone/>
            </a:pPr>
            <a:r>
              <a:rPr lang="en-US" sz="1200" dirty="0">
                <a:solidFill>
                  <a:srgbClr val="0A0A0B"/>
                </a:solidFill>
              </a:rPr>
              <a:t>Every message in and out, a person's or an agent's</a:t>
            </a:r>
            <a:endParaRPr lang="en-US" sz="1200" dirty="0"/>
          </a:p>
        </p:txBody>
      </p:sp>
      <p:sp>
        <p:nvSpPr>
          <p:cNvPr id="19" name="Text 16"/>
          <p:cNvSpPr txBox="1"/>
          <p:nvPr/>
        </p:nvSpPr>
        <p:spPr>
          <a:xfrm>
            <a:off x="8247888" y="29992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open weights</a:t>
            </a:r>
            <a:endParaRPr lang="en-US" sz="1000" dirty="0"/>
          </a:p>
        </p:txBody>
      </p:sp>
      <p:sp>
        <p:nvSpPr>
          <p:cNvPr id="20" name="Shape 17"/>
          <p:cNvSpPr/>
          <p:nvPr/>
        </p:nvSpPr>
        <p:spPr>
          <a:xfrm>
            <a:off x="548640" y="3520440"/>
            <a:ext cx="3566160" cy="1645920"/>
          </a:xfrm>
          <a:prstGeom prst="roundRect">
            <a:avLst>
              <a:gd name="adj" fmla="val 6667"/>
            </a:avLst>
          </a:prstGeom>
          <a:solidFill>
            <a:srgbClr val="FBEAE9"/>
          </a:solidFill>
          <a:ln w="12700">
            <a:solidFill>
              <a:srgbClr val="FBEAE9"/>
            </a:solidFill>
            <a:prstDash val="solid"/>
          </a:ln>
        </p:spPr>
      </p:sp>
      <p:sp>
        <p:nvSpPr>
          <p:cNvPr id="21" name="Text 18"/>
          <p:cNvSpPr txBox="1"/>
          <p:nvPr/>
        </p:nvSpPr>
        <p:spPr>
          <a:xfrm>
            <a:off x="749808" y="3675888"/>
            <a:ext cx="310896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22" name="Text 19"/>
          <p:cNvSpPr txBox="1"/>
          <p:nvPr/>
        </p:nvSpPr>
        <p:spPr>
          <a:xfrm>
            <a:off x="749808" y="39319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Prompt Guard 2</a:t>
            </a:r>
            <a:endParaRPr lang="en-US" sz="1700" dirty="0"/>
          </a:p>
        </p:txBody>
      </p:sp>
      <p:sp>
        <p:nvSpPr>
          <p:cNvPr id="23" name="Text 20"/>
          <p:cNvSpPr txBox="1"/>
          <p:nvPr/>
        </p:nvSpPr>
        <p:spPr>
          <a:xfrm>
            <a:off x="749808" y="4325112"/>
            <a:ext cx="3200400" cy="502920"/>
          </a:xfrm>
          <a:prstGeom prst="rect">
            <a:avLst/>
          </a:prstGeom>
          <a:noFill/>
          <a:ln/>
        </p:spPr>
        <p:txBody>
          <a:bodyPr wrap="square" lIns="0" tIns="0" rIns="0" bIns="0" rtlCol="0" anchor="t"/>
          <a:lstStyle/>
          <a:p>
            <a:pPr indent="0" marL="0">
              <a:buNone/>
            </a:pPr>
            <a:r>
              <a:rPr lang="en-US" sz="1200" dirty="0">
                <a:solidFill>
                  <a:srgbClr val="0A0A0B"/>
                </a:solidFill>
              </a:rPr>
              <a:t>Google reviews and members' ideas, before any model reads them</a:t>
            </a:r>
            <a:endParaRPr lang="en-US" sz="1200" dirty="0"/>
          </a:p>
        </p:txBody>
      </p:sp>
      <p:sp>
        <p:nvSpPr>
          <p:cNvPr id="24" name="Text 21"/>
          <p:cNvSpPr txBox="1"/>
          <p:nvPr/>
        </p:nvSpPr>
        <p:spPr>
          <a:xfrm>
            <a:off x="749808" y="48280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86M</a:t>
            </a:r>
            <a:endParaRPr lang="en-US" sz="1000" dirty="0"/>
          </a:p>
        </p:txBody>
      </p:sp>
      <p:sp>
        <p:nvSpPr>
          <p:cNvPr id="25" name="Shape 22"/>
          <p:cNvSpPr/>
          <p:nvPr/>
        </p:nvSpPr>
        <p:spPr>
          <a:xfrm>
            <a:off x="4297680" y="3520440"/>
            <a:ext cx="3566160" cy="1645920"/>
          </a:xfrm>
          <a:prstGeom prst="roundRect">
            <a:avLst>
              <a:gd name="adj" fmla="val 6667"/>
            </a:avLst>
          </a:prstGeom>
          <a:solidFill>
            <a:srgbClr val="E8F1FD"/>
          </a:solidFill>
          <a:ln w="12700">
            <a:solidFill>
              <a:srgbClr val="E8F1FD"/>
            </a:solidFill>
            <a:prstDash val="solid"/>
          </a:ln>
        </p:spPr>
      </p:sp>
      <p:sp>
        <p:nvSpPr>
          <p:cNvPr id="26" name="Text 23"/>
          <p:cNvSpPr txBox="1"/>
          <p:nvPr/>
        </p:nvSpPr>
        <p:spPr>
          <a:xfrm>
            <a:off x="4498848" y="3675888"/>
            <a:ext cx="3108960" cy="228600"/>
          </a:xfrm>
          <a:prstGeom prst="rect">
            <a:avLst/>
          </a:prstGeom>
          <a:noFill/>
          <a:ln/>
        </p:spPr>
        <p:txBody>
          <a:bodyPr wrap="square" lIns="0" tIns="0" rIns="0" bIns="0" rtlCol="0" anchor="t"/>
          <a:lstStyle/>
          <a:p>
            <a:pPr indent="0" marL="0">
              <a:buNone/>
            </a:pPr>
            <a:r>
              <a:rPr lang="en-US" sz="1000" b="1" spc="100" kern="0" dirty="0">
                <a:solidFill>
                  <a:srgbClr val="0064E0"/>
                </a:solidFill>
              </a:rPr>
              <a:t>MEMORY</a:t>
            </a:r>
            <a:endParaRPr lang="en-US" sz="1000" dirty="0"/>
          </a:p>
        </p:txBody>
      </p:sp>
      <p:sp>
        <p:nvSpPr>
          <p:cNvPr id="27" name="Text 24"/>
          <p:cNvSpPr txBox="1"/>
          <p:nvPr/>
        </p:nvSpPr>
        <p:spPr>
          <a:xfrm>
            <a:off x="4498848" y="39319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DRAMA</a:t>
            </a:r>
            <a:endParaRPr lang="en-US" sz="1700" dirty="0"/>
          </a:p>
        </p:txBody>
      </p:sp>
      <p:sp>
        <p:nvSpPr>
          <p:cNvPr id="28" name="Text 25"/>
          <p:cNvSpPr txBox="1"/>
          <p:nvPr/>
        </p:nvSpPr>
        <p:spPr>
          <a:xfrm>
            <a:off x="4498848" y="4325112"/>
            <a:ext cx="3200400" cy="502920"/>
          </a:xfrm>
          <a:prstGeom prst="rect">
            <a:avLst/>
          </a:prstGeom>
          <a:noFill/>
          <a:ln/>
        </p:spPr>
        <p:txBody>
          <a:bodyPr wrap="square" lIns="0" tIns="0" rIns="0" bIns="0" rtlCol="0" anchor="t"/>
          <a:lstStyle/>
          <a:p>
            <a:pPr indent="0" marL="0">
              <a:buNone/>
            </a:pPr>
            <a:r>
              <a:rPr lang="en-US" sz="1200" dirty="0">
                <a:solidFill>
                  <a:srgbClr val="0A0A0B"/>
                </a:solidFill>
              </a:rPr>
              <a:t>Agent memory: what matters for your week, found by meaning</a:t>
            </a:r>
            <a:endParaRPr lang="en-US" sz="1200" dirty="0"/>
          </a:p>
        </p:txBody>
      </p:sp>
      <p:sp>
        <p:nvSpPr>
          <p:cNvPr id="29" name="Text 26"/>
          <p:cNvSpPr txBox="1"/>
          <p:nvPr/>
        </p:nvSpPr>
        <p:spPr>
          <a:xfrm>
            <a:off x="4498848" y="48280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open weights</a:t>
            </a:r>
            <a:endParaRPr lang="en-US" sz="1000" dirty="0"/>
          </a:p>
        </p:txBody>
      </p:sp>
      <p:sp>
        <p:nvSpPr>
          <p:cNvPr id="30" name="Shape 27"/>
          <p:cNvSpPr/>
          <p:nvPr/>
        </p:nvSpPr>
        <p:spPr>
          <a:xfrm>
            <a:off x="8046720" y="3520440"/>
            <a:ext cx="3566160" cy="1645920"/>
          </a:xfrm>
          <a:prstGeom prst="roundRect">
            <a:avLst>
              <a:gd name="adj" fmla="val 6667"/>
            </a:avLst>
          </a:prstGeom>
          <a:solidFill>
            <a:srgbClr val="FBF3E6"/>
          </a:solidFill>
          <a:ln w="12700">
            <a:solidFill>
              <a:srgbClr val="FBF3E6"/>
            </a:solidFill>
            <a:prstDash val="solid"/>
          </a:ln>
        </p:spPr>
      </p:sp>
      <p:sp>
        <p:nvSpPr>
          <p:cNvPr id="31" name="Text 28"/>
          <p:cNvSpPr txBox="1"/>
          <p:nvPr/>
        </p:nvSpPr>
        <p:spPr>
          <a:xfrm>
            <a:off x="8247888" y="3675888"/>
            <a:ext cx="3108960" cy="228600"/>
          </a:xfrm>
          <a:prstGeom prst="rect">
            <a:avLst/>
          </a:prstGeom>
          <a:noFill/>
          <a:ln/>
        </p:spPr>
        <p:txBody>
          <a:bodyPr wrap="square" lIns="0" tIns="0" rIns="0" bIns="0" rtlCol="0" anchor="t"/>
          <a:lstStyle/>
          <a:p>
            <a:pPr indent="0" marL="0">
              <a:buNone/>
            </a:pPr>
            <a:r>
              <a:rPr lang="en-US" sz="1000" b="1" spc="100" kern="0" dirty="0">
                <a:solidFill>
                  <a:srgbClr val="B26A00"/>
                </a:solidFill>
              </a:rPr>
              <a:t>VOICE</a:t>
            </a:r>
            <a:endParaRPr lang="en-US" sz="1000" dirty="0"/>
          </a:p>
        </p:txBody>
      </p:sp>
      <p:sp>
        <p:nvSpPr>
          <p:cNvPr id="32" name="Text 29"/>
          <p:cNvSpPr txBox="1"/>
          <p:nvPr/>
        </p:nvSpPr>
        <p:spPr>
          <a:xfrm>
            <a:off x="8247888" y="39319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Muse Voice Transcribe</a:t>
            </a:r>
            <a:endParaRPr lang="en-US" sz="1700" dirty="0"/>
          </a:p>
        </p:txBody>
      </p:sp>
      <p:sp>
        <p:nvSpPr>
          <p:cNvPr id="33" name="Text 30"/>
          <p:cNvSpPr txBox="1"/>
          <p:nvPr/>
        </p:nvSpPr>
        <p:spPr>
          <a:xfrm>
            <a:off x="8247888" y="4325112"/>
            <a:ext cx="3200400" cy="502920"/>
          </a:xfrm>
          <a:prstGeom prst="rect">
            <a:avLst/>
          </a:prstGeom>
          <a:noFill/>
          <a:ln/>
        </p:spPr>
        <p:txBody>
          <a:bodyPr wrap="square" lIns="0" tIns="0" rIns="0" bIns="0" rtlCol="0" anchor="t"/>
          <a:lstStyle/>
          <a:p>
            <a:pPr indent="0" marL="0">
              <a:buNone/>
            </a:pPr>
            <a:r>
              <a:rPr lang="en-US" sz="1200" dirty="0">
                <a:solidFill>
                  <a:srgbClr val="0A0A0B"/>
                </a:solidFill>
              </a:rPr>
              <a:t>Talk to your agent hands-free, and cut in while it speaks</a:t>
            </a:r>
            <a:endParaRPr lang="en-US" sz="1200" dirty="0"/>
          </a:p>
        </p:txBody>
      </p:sp>
      <p:sp>
        <p:nvSpPr>
          <p:cNvPr id="34" name="Text 31"/>
          <p:cNvSpPr txBox="1"/>
          <p:nvPr/>
        </p:nvSpPr>
        <p:spPr>
          <a:xfrm>
            <a:off x="8247888" y="4828032"/>
            <a:ext cx="3200400" cy="228600"/>
          </a:xfrm>
          <a:prstGeom prst="rect">
            <a:avLst/>
          </a:prstGeom>
          <a:noFill/>
          <a:ln/>
        </p:spPr>
        <p:txBody>
          <a:bodyPr wrap="square" lIns="0" tIns="0" rIns="0" bIns="0" rtlCol="0" anchor="t"/>
          <a:lstStyle/>
          <a:p>
            <a:pPr indent="0" marL="0">
              <a:buNone/>
            </a:pPr>
            <a:r>
              <a:rPr lang="en-US" sz="1000" dirty="0">
                <a:solidFill>
                  <a:srgbClr val="55555C"/>
                </a:solidFill>
              </a:rPr>
              <a:t>Meta Model API · realtime</a:t>
            </a:r>
            <a:endParaRPr lang="en-US" sz="1000" dirty="0"/>
          </a:p>
        </p:txBody>
      </p:sp>
      <p:sp>
        <p:nvSpPr>
          <p:cNvPr id="35" name="Shape 32"/>
          <p:cNvSpPr/>
          <p:nvPr/>
        </p:nvSpPr>
        <p:spPr>
          <a:xfrm>
            <a:off x="548640" y="5440680"/>
            <a:ext cx="11064240" cy="777240"/>
          </a:xfrm>
          <a:prstGeom prst="roundRect">
            <a:avLst>
              <a:gd name="adj" fmla="val 14118"/>
            </a:avLst>
          </a:prstGeom>
          <a:solidFill>
            <a:srgbClr val="F6F7F8"/>
          </a:solidFill>
          <a:ln w="12700">
            <a:solidFill>
              <a:srgbClr val="F6F7F8"/>
            </a:solidFill>
            <a:prstDash val="solid"/>
          </a:ln>
        </p:spPr>
      </p:sp>
      <p:sp>
        <p:nvSpPr>
          <p:cNvPr id="36" name="Text 33"/>
          <p:cNvSpPr txBox="1"/>
          <p:nvPr/>
        </p:nvSpPr>
        <p:spPr>
          <a:xfrm>
            <a:off x="731520" y="5440680"/>
            <a:ext cx="10698480" cy="777240"/>
          </a:xfrm>
          <a:prstGeom prst="rect">
            <a:avLst/>
          </a:prstGeom>
          <a:noFill/>
          <a:ln/>
        </p:spPr>
        <p:txBody>
          <a:bodyPr wrap="square" lIns="0" tIns="0" rIns="0" bIns="0" rtlCol="0" anchor="ctr"/>
          <a:lstStyle/>
          <a:p>
            <a:pPr indent="0" marL="0">
              <a:buNone/>
            </a:pPr>
            <a:r>
              <a:rPr lang="en-US" sz="1200" b="1" dirty="0">
                <a:solidFill>
                  <a:srgbClr val="0A0A0B"/>
                </a:solidFill>
              </a:rPr>
              <a:t>Also: </a:t>
            </a:r>
            <a:pPr indent="0" marL="0">
              <a:buNone/>
            </a:pPr>
            <a:r>
              <a:rPr lang="en-US" sz="1200" dirty="0">
                <a:solidFill>
                  <a:srgbClr val="0A0A0B"/>
                </a:solidFill>
              </a:rPr>
              <a:t>DETR, Sapiens2, SAM 2.1, MapAnything (auto-cut highlights) · Omnilingual ASR (voice notes) · Muse Image (posters, agent faces) · Muse Spark (fallback) · Muse Wonder and SAM 3.1 (checks). Of the 15, 12 run in the product and 3 are checks; all 15 in the appendix.</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WHY EACH ONE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Take one away, and this is what breaks</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2560320"/>
                <a:gridCol w="7040880"/>
                <a:gridCol w="1463040"/>
              </a:tblGrid>
              <a:tr h="566928">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Without</a:t>
                      </a:r>
                      <a:endParaRPr lang="en-US" sz="11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What breaks</a:t>
                      </a:r>
                      <a:endParaRPr lang="en-US" sz="11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Evidence</a:t>
                      </a:r>
                      <a:endParaRPr lang="en-US" sz="11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Muse Glimmer</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No planner and no agent answers: the product does not run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by design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Llama 3.2 1B student</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Every member answer goes to Glimmer: about 40 s instead of 0.9 s, and 54–67% more Glimmer answers in simulated talks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measured</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DRAMA</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The right note comes first 0.35 of the time instead of 0.60 (word matching instead; 20 questions)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measured, small</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Llama Guard 3 1B</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Nothing reads every message in and out; code alone reads only plain words. With it: 37 of 42 unsafe refused, 1 of 74 harmless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by design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Prompt Guard 2</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Google reviews and members' ideas reach the models unscreened; poisoned reviews are among the 93 attacks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by design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Muse Voice Transcribe</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No talking hands-free and no cutting in while the agent speaks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by design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6" name="Text 2"/>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rgbClr val="55555C"/>
                </a:solidFill>
              </a:rPr>
              <a:t>"Measured": numbers from this entry's tests. "By design": what the code does without it.</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20%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Muse Glimmer reasons a lot, so I trained a 1B student</a:t>
            </a:r>
            <a:endParaRPr lang="en-US" sz="3200" dirty="0"/>
          </a:p>
        </p:txBody>
      </p:sp>
      <p:sp>
        <p:nvSpPr>
          <p:cNvPr id="5" name="Text 2"/>
          <p:cNvSpPr txBox="1"/>
          <p:nvPr/>
        </p:nvSpPr>
        <p:spPr>
          <a:xfrm>
            <a:off x="548640" y="1645920"/>
            <a:ext cx="3840480" cy="228600"/>
          </a:xfrm>
          <a:prstGeom prst="rect">
            <a:avLst/>
          </a:prstGeom>
          <a:noFill/>
          <a:ln/>
        </p:spPr>
        <p:txBody>
          <a:bodyPr wrap="square" lIns="0" tIns="0" rIns="0" bIns="0" rtlCol="0" anchor="t"/>
          <a:lstStyle/>
          <a:p>
            <a:pPr indent="0" marL="0">
              <a:buNone/>
            </a:pPr>
            <a:r>
              <a:rPr lang="en-US" sz="1050" b="1" spc="100" kern="0" dirty="0">
                <a:solidFill>
                  <a:srgbClr val="D1352B"/>
                </a:solidFill>
              </a:rPr>
              <a:t>WHAT THE LEDGER SHOWED</a:t>
            </a:r>
            <a:endParaRPr lang="en-US" sz="1050" dirty="0"/>
          </a:p>
        </p:txBody>
      </p:sp>
      <p:sp>
        <p:nvSpPr>
          <p:cNvPr id="6" name="Shape 3"/>
          <p:cNvSpPr/>
          <p:nvPr/>
        </p:nvSpPr>
        <p:spPr>
          <a:xfrm>
            <a:off x="548640" y="1965960"/>
            <a:ext cx="384048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731520" y="1965960"/>
            <a:ext cx="1463040" cy="786384"/>
          </a:xfrm>
          <a:prstGeom prst="rect">
            <a:avLst/>
          </a:prstGeom>
          <a:noFill/>
          <a:ln/>
        </p:spPr>
        <p:txBody>
          <a:bodyPr wrap="square" lIns="0" tIns="0" rIns="0" bIns="0" rtlCol="0" anchor="ctr"/>
          <a:lstStyle/>
          <a:p>
            <a:pPr indent="0" marL="0">
              <a:buNone/>
            </a:pPr>
            <a:r>
              <a:rPr lang="en-US" sz="2800" b="1" dirty="0">
                <a:solidFill>
                  <a:srgbClr val="0A0A0B"/>
                </a:solidFill>
              </a:rPr>
              <a:t>2,755</a:t>
            </a:r>
            <a:endParaRPr lang="en-US" sz="2800" dirty="0"/>
          </a:p>
        </p:txBody>
      </p:sp>
      <p:sp>
        <p:nvSpPr>
          <p:cNvPr id="8" name="Text 5"/>
          <p:cNvSpPr txBox="1"/>
          <p:nvPr/>
        </p:nvSpPr>
        <p:spPr>
          <a:xfrm>
            <a:off x="2148840" y="1965960"/>
            <a:ext cx="2148840" cy="786384"/>
          </a:xfrm>
          <a:prstGeom prst="rect">
            <a:avLst/>
          </a:prstGeom>
          <a:noFill/>
          <a:ln/>
        </p:spPr>
        <p:txBody>
          <a:bodyPr wrap="square" lIns="0" tIns="0" rIns="0" bIns="0" rtlCol="0" anchor="ctr"/>
          <a:lstStyle/>
          <a:p>
            <a:pPr indent="0" marL="0">
              <a:buNone/>
            </a:pPr>
            <a:r>
              <a:rPr lang="en-US" sz="1100" dirty="0">
                <a:solidFill>
                  <a:srgbClr val="0A0A0B"/>
                </a:solidFill>
              </a:rPr>
              <a:t>Muse Glimmer calls in the evaluations' ledgers</a:t>
            </a:r>
            <a:endParaRPr lang="en-US" sz="1100" dirty="0"/>
          </a:p>
        </p:txBody>
      </p:sp>
      <p:sp>
        <p:nvSpPr>
          <p:cNvPr id="9" name="Shape 6"/>
          <p:cNvSpPr/>
          <p:nvPr/>
        </p:nvSpPr>
        <p:spPr>
          <a:xfrm>
            <a:off x="548640" y="2862072"/>
            <a:ext cx="3840480" cy="786384"/>
          </a:xfrm>
          <a:prstGeom prst="roundRect">
            <a:avLst>
              <a:gd name="adj" fmla="val 13953"/>
            </a:avLst>
          </a:prstGeom>
          <a:solidFill>
            <a:srgbClr val="FFFFFF"/>
          </a:solidFill>
          <a:ln w="12700">
            <a:solidFill>
              <a:srgbClr val="DCDCE0"/>
            </a:solidFill>
            <a:prstDash val="solid"/>
          </a:ln>
        </p:spPr>
      </p:sp>
      <p:sp>
        <p:nvSpPr>
          <p:cNvPr id="10" name="Text 7"/>
          <p:cNvSpPr txBox="1"/>
          <p:nvPr/>
        </p:nvSpPr>
        <p:spPr>
          <a:xfrm>
            <a:off x="731520" y="2862072"/>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84%</a:t>
            </a:r>
            <a:endParaRPr lang="en-US" sz="2800" dirty="0"/>
          </a:p>
        </p:txBody>
      </p:sp>
      <p:sp>
        <p:nvSpPr>
          <p:cNvPr id="11" name="Text 8"/>
          <p:cNvSpPr txBox="1"/>
          <p:nvPr/>
        </p:nvSpPr>
        <p:spPr>
          <a:xfrm>
            <a:off x="2148840" y="2862072"/>
            <a:ext cx="2148840" cy="786384"/>
          </a:xfrm>
          <a:prstGeom prst="rect">
            <a:avLst/>
          </a:prstGeom>
          <a:noFill/>
          <a:ln/>
        </p:spPr>
        <p:txBody>
          <a:bodyPr wrap="square" lIns="0" tIns="0" rIns="0" bIns="0" rtlCol="0" anchor="ctr"/>
          <a:lstStyle/>
          <a:p>
            <a:pPr indent="0" marL="0">
              <a:buNone/>
            </a:pPr>
            <a:r>
              <a:rPr lang="en-US" sz="1100" dirty="0">
                <a:solidFill>
                  <a:srgbClr val="0A0A0B"/>
                </a:solidFill>
              </a:rPr>
              <a:t>of its tokens were reasoning</a:t>
            </a:r>
            <a:endParaRPr lang="en-US" sz="1100" dirty="0"/>
          </a:p>
        </p:txBody>
      </p:sp>
      <p:sp>
        <p:nvSpPr>
          <p:cNvPr id="12" name="Shape 9"/>
          <p:cNvSpPr/>
          <p:nvPr/>
        </p:nvSpPr>
        <p:spPr>
          <a:xfrm>
            <a:off x="548640" y="3758184"/>
            <a:ext cx="3840480" cy="786384"/>
          </a:xfrm>
          <a:prstGeom prst="roundRect">
            <a:avLst>
              <a:gd name="adj" fmla="val 13953"/>
            </a:avLst>
          </a:prstGeom>
          <a:solidFill>
            <a:srgbClr val="FFFFFF"/>
          </a:solidFill>
          <a:ln w="12700">
            <a:solidFill>
              <a:srgbClr val="DCDCE0"/>
            </a:solidFill>
            <a:prstDash val="solid"/>
          </a:ln>
        </p:spPr>
      </p:sp>
      <p:sp>
        <p:nvSpPr>
          <p:cNvPr id="13" name="Text 10"/>
          <p:cNvSpPr txBox="1"/>
          <p:nvPr/>
        </p:nvSpPr>
        <p:spPr>
          <a:xfrm>
            <a:off x="731520" y="3758184"/>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9%</a:t>
            </a:r>
            <a:endParaRPr lang="en-US" sz="2800" dirty="0"/>
          </a:p>
        </p:txBody>
      </p:sp>
      <p:sp>
        <p:nvSpPr>
          <p:cNvPr id="14" name="Text 11"/>
          <p:cNvSpPr txBox="1"/>
          <p:nvPr/>
        </p:nvSpPr>
        <p:spPr>
          <a:xfrm>
            <a:off x="2148840" y="3758184"/>
            <a:ext cx="2148840" cy="786384"/>
          </a:xfrm>
          <a:prstGeom prst="rect">
            <a:avLst/>
          </a:prstGeom>
          <a:noFill/>
          <a:ln/>
        </p:spPr>
        <p:txBody>
          <a:bodyPr wrap="square" lIns="0" tIns="0" rIns="0" bIns="0" rtlCol="0" anchor="ctr"/>
          <a:lstStyle/>
          <a:p>
            <a:pPr indent="0" marL="0">
              <a:buNone/>
            </a:pPr>
            <a:r>
              <a:rPr lang="en-US" sz="1100" dirty="0">
                <a:solidFill>
                  <a:srgbClr val="0A0A0B"/>
                </a:solidFill>
              </a:rPr>
              <a:t>came back empty: thinking off, it still reasoned in a hidden channel</a:t>
            </a:r>
            <a:endParaRPr lang="en-US" sz="1100" dirty="0"/>
          </a:p>
        </p:txBody>
      </p:sp>
      <p:sp>
        <p:nvSpPr>
          <p:cNvPr id="15" name="Shape 12"/>
          <p:cNvSpPr/>
          <p:nvPr/>
        </p:nvSpPr>
        <p:spPr>
          <a:xfrm>
            <a:off x="548640" y="4709160"/>
            <a:ext cx="3840480" cy="1463040"/>
          </a:xfrm>
          <a:prstGeom prst="roundRect">
            <a:avLst>
              <a:gd name="adj" fmla="val 7500"/>
            </a:avLst>
          </a:prstGeom>
          <a:solidFill>
            <a:srgbClr val="F6F7F8"/>
          </a:solidFill>
          <a:ln w="12700">
            <a:solidFill>
              <a:srgbClr val="F6F7F8"/>
            </a:solidFill>
            <a:prstDash val="solid"/>
          </a:ln>
        </p:spPr>
      </p:sp>
      <p:sp>
        <p:nvSpPr>
          <p:cNvPr id="16" name="Text 13"/>
          <p:cNvSpPr txBox="1"/>
          <p:nvPr/>
        </p:nvSpPr>
        <p:spPr>
          <a:xfrm>
            <a:off x="731520" y="4828032"/>
            <a:ext cx="3520440" cy="1280160"/>
          </a:xfrm>
          <a:prstGeom prst="rect">
            <a:avLst/>
          </a:prstGeom>
          <a:noFill/>
          <a:ln/>
        </p:spPr>
        <p:txBody>
          <a:bodyPr wrap="square" lIns="0" tIns="0" rIns="0" bIns="0" rtlCol="0" anchor="t"/>
          <a:lstStyle/>
          <a:p>
            <a:pPr indent="0" marL="0">
              <a:buNone/>
            </a:pPr>
            <a:r>
              <a:rPr lang="en-US" sz="1200" b="1" dirty="0">
                <a:solidFill>
                  <a:srgbClr val="0A0A0B"/>
                </a:solidFill>
              </a:rPr>
              <a:t>So every call asks for think: "low" and leaves room to reason. </a:t>
            </a:r>
            <a:pPr indent="0" marL="0">
              <a:buNone/>
            </a:pPr>
            <a:r>
              <a:rPr lang="en-US" sz="1200" dirty="0">
                <a:solidFill>
                  <a:srgbClr val="0A0A0B"/>
                </a:solidFill>
              </a:rPr>
              <a:t>And the most common choice, which time a member's agent picks, goes to a student that writes nothing.</a:t>
            </a:r>
            <a:endParaRPr lang="en-US" sz="1200" dirty="0"/>
          </a:p>
        </p:txBody>
      </p:sp>
      <p:sp>
        <p:nvSpPr>
          <p:cNvPr id="17" name="Shape 14"/>
          <p:cNvSpPr/>
          <p:nvPr/>
        </p:nvSpPr>
        <p:spPr>
          <a:xfrm>
            <a:off x="4480560" y="3291840"/>
            <a:ext cx="274320" cy="0"/>
          </a:xfrm>
          <a:prstGeom prst="line">
            <a:avLst/>
          </a:prstGeom>
          <a:noFill/>
          <a:ln w="31750">
            <a:solidFill>
              <a:srgbClr val="0A7F44"/>
            </a:solidFill>
            <a:prstDash val="solid"/>
            <a:tailEnd type="triangle"/>
          </a:ln>
        </p:spPr>
      </p:sp>
      <p:sp>
        <p:nvSpPr>
          <p:cNvPr id="18" name="Text 15"/>
          <p:cNvSpPr txBox="1"/>
          <p:nvPr/>
        </p:nvSpPr>
        <p:spPr>
          <a:xfrm>
            <a:off x="4892040" y="1645920"/>
            <a:ext cx="6675120" cy="228600"/>
          </a:xfrm>
          <a:prstGeom prst="rect">
            <a:avLst/>
          </a:prstGeom>
          <a:noFill/>
          <a:ln/>
        </p:spPr>
        <p:txBody>
          <a:bodyPr wrap="square" lIns="0" tIns="0" rIns="0" bIns="0" rtlCol="0" anchor="t"/>
          <a:lstStyle/>
          <a:p>
            <a:pPr indent="0" marL="0">
              <a:buNone/>
            </a:pPr>
            <a:r>
              <a:rPr lang="en-US" sz="1050" b="1" spc="100" kern="0" dirty="0">
                <a:solidFill>
                  <a:srgbClr val="0A7F44"/>
                </a:solidFill>
              </a:rPr>
              <a:t>THE STUDENT · META'S LLAMA 3.2 1B, FINE-TUNED</a:t>
            </a:r>
            <a:endParaRPr lang="en-US" sz="1050" dirty="0"/>
          </a:p>
        </p:txBody>
      </p:sp>
      <p:sp>
        <p:nvSpPr>
          <p:cNvPr id="19" name="Shape 16"/>
          <p:cNvSpPr/>
          <p:nvPr/>
        </p:nvSpPr>
        <p:spPr>
          <a:xfrm>
            <a:off x="4892040" y="1965960"/>
            <a:ext cx="3273552" cy="1645920"/>
          </a:xfrm>
          <a:prstGeom prst="roundRect">
            <a:avLst>
              <a:gd name="adj" fmla="val 6667"/>
            </a:avLst>
          </a:prstGeom>
          <a:solidFill>
            <a:srgbClr val="E9F3EC"/>
          </a:solidFill>
          <a:ln w="12700">
            <a:solidFill>
              <a:srgbClr val="E9F3EC"/>
            </a:solidFill>
            <a:prstDash val="solid"/>
          </a:ln>
        </p:spPr>
      </p:sp>
      <p:sp>
        <p:nvSpPr>
          <p:cNvPr id="20" name="Text 17"/>
          <p:cNvSpPr txBox="1"/>
          <p:nvPr/>
        </p:nvSpPr>
        <p:spPr>
          <a:xfrm>
            <a:off x="5056632" y="2103120"/>
            <a:ext cx="2971800" cy="320040"/>
          </a:xfrm>
          <a:prstGeom prst="rect">
            <a:avLst/>
          </a:prstGeom>
          <a:noFill/>
          <a:ln/>
        </p:spPr>
        <p:txBody>
          <a:bodyPr wrap="square" lIns="0" tIns="0" rIns="0" bIns="0" rtlCol="0" anchor="t"/>
          <a:lstStyle/>
          <a:p>
            <a:pPr indent="0" marL="0">
              <a:buNone/>
            </a:pPr>
            <a:r>
              <a:rPr lang="en-US" sz="1500" b="1" dirty="0">
                <a:solidFill>
                  <a:srgbClr val="0A0A0B"/>
                </a:solidFill>
              </a:rPr>
              <a:t>Teacher data</a:t>
            </a:r>
            <a:endParaRPr lang="en-US" sz="1500" dirty="0"/>
          </a:p>
        </p:txBody>
      </p:sp>
      <p:sp>
        <p:nvSpPr>
          <p:cNvPr id="21" name="Text 18"/>
          <p:cNvSpPr txBox="1"/>
          <p:nvPr/>
        </p:nvSpPr>
        <p:spPr>
          <a:xfrm>
            <a:off x="5056632" y="2514600"/>
            <a:ext cx="2971800" cy="960120"/>
          </a:xfrm>
          <a:prstGeom prst="rect">
            <a:avLst/>
          </a:prstGeom>
          <a:noFill/>
          <a:ln/>
        </p:spPr>
        <p:txBody>
          <a:bodyPr wrap="square" lIns="0" tIns="0" rIns="0" bIns="0" rtlCol="0" anchor="t"/>
          <a:lstStyle/>
          <a:p>
            <a:pPr indent="0" marL="0">
              <a:buNone/>
            </a:pPr>
            <a:r>
              <a:rPr lang="en-US" sz="1200" dirty="0">
                <a:solidFill>
                  <a:srgbClr val="0A0A0B"/>
                </a:solidFill>
              </a:rPr>
              <a:t>4,868 choices Glimmer made through the real agent call (a separate A100 run); LoRA, 3 epochs, 20 minutes</a:t>
            </a:r>
            <a:endParaRPr lang="en-US" sz="1200" dirty="0"/>
          </a:p>
        </p:txBody>
      </p:sp>
      <p:sp>
        <p:nvSpPr>
          <p:cNvPr id="22" name="Shape 19"/>
          <p:cNvSpPr/>
          <p:nvPr/>
        </p:nvSpPr>
        <p:spPr>
          <a:xfrm>
            <a:off x="8275320" y="1965960"/>
            <a:ext cx="3273552" cy="1645920"/>
          </a:xfrm>
          <a:prstGeom prst="roundRect">
            <a:avLst>
              <a:gd name="adj" fmla="val 6667"/>
            </a:avLst>
          </a:prstGeom>
          <a:solidFill>
            <a:srgbClr val="E9F3EC"/>
          </a:solidFill>
          <a:ln w="12700">
            <a:solidFill>
              <a:srgbClr val="E9F3EC"/>
            </a:solidFill>
            <a:prstDash val="solid"/>
          </a:ln>
        </p:spPr>
      </p:sp>
      <p:sp>
        <p:nvSpPr>
          <p:cNvPr id="23" name="Text 20"/>
          <p:cNvSpPr txBox="1"/>
          <p:nvPr/>
        </p:nvSpPr>
        <p:spPr>
          <a:xfrm>
            <a:off x="8439912" y="2103120"/>
            <a:ext cx="2971800" cy="320040"/>
          </a:xfrm>
          <a:prstGeom prst="rect">
            <a:avLst/>
          </a:prstGeom>
          <a:noFill/>
          <a:ln/>
        </p:spPr>
        <p:txBody>
          <a:bodyPr wrap="square" lIns="0" tIns="0" rIns="0" bIns="0" rtlCol="0" anchor="t"/>
          <a:lstStyle/>
          <a:p>
            <a:pPr indent="0" marL="0">
              <a:buNone/>
            </a:pPr>
            <a:r>
              <a:rPr lang="en-US" sz="1500" b="1" dirty="0">
                <a:solidFill>
                  <a:srgbClr val="0A0A0B"/>
                </a:solidFill>
              </a:rPr>
              <a:t>int4 on the CPU</a:t>
            </a:r>
            <a:endParaRPr lang="en-US" sz="1500" dirty="0"/>
          </a:p>
        </p:txBody>
      </p:sp>
      <p:sp>
        <p:nvSpPr>
          <p:cNvPr id="24" name="Text 21"/>
          <p:cNvSpPr txBox="1"/>
          <p:nvPr/>
        </p:nvSpPr>
        <p:spPr>
          <a:xfrm>
            <a:off x="8439912" y="2514600"/>
            <a:ext cx="2971800" cy="960120"/>
          </a:xfrm>
          <a:prstGeom prst="rect">
            <a:avLst/>
          </a:prstGeom>
          <a:noFill/>
          <a:ln/>
        </p:spPr>
        <p:txBody>
          <a:bodyPr wrap="square" lIns="0" tIns="0" rIns="0" bIns="0" rtlCol="0" anchor="t"/>
          <a:lstStyle/>
          <a:p>
            <a:pPr indent="0" marL="0">
              <a:buNone/>
            </a:pPr>
            <a:r>
              <a:rPr lang="en-US" sz="1200" dirty="0">
                <a:solidFill>
                  <a:srgbClr val="0A0A0B"/>
                </a:solidFill>
              </a:rPr>
              <a:t>0.8 GB; one pass gives a probability per option, about 0.9 s a decision, no text written</a:t>
            </a:r>
            <a:endParaRPr lang="en-US" sz="1200" dirty="0"/>
          </a:p>
        </p:txBody>
      </p:sp>
      <p:graphicFrame>
        <p:nvGraphicFramePr>
          <p:cNvPr id="25" name="Chart 0" descr=""/>
          <p:cNvGraphicFramePr/>
          <p:nvPr/>
        </p:nvGraphicFramePr>
        <p:xfrm>
          <a:off x="4846320" y="3840480"/>
          <a:ext cx="4206240" cy="2377440"/>
        </p:xfrm>
        <a:graphic xmlns:a="http://schemas.openxmlformats.org/drawingml/2006/main">
          <a:graphicData uri="http://schemas.openxmlformats.org/drawingml/2006/chart">
            <c:chart xmlns:c="http://schemas.openxmlformats.org/drawingml/2006/chart" r:id="rId1"/>
          </a:graphicData>
        </a:graphic>
      </p:graphicFrame>
      <p:sp>
        <p:nvSpPr>
          <p:cNvPr id="26" name="Shape 22"/>
          <p:cNvSpPr/>
          <p:nvPr/>
        </p:nvSpPr>
        <p:spPr>
          <a:xfrm>
            <a:off x="9235440" y="3931920"/>
            <a:ext cx="2377440" cy="1024128"/>
          </a:xfrm>
          <a:prstGeom prst="roundRect">
            <a:avLst>
              <a:gd name="adj" fmla="val 10714"/>
            </a:avLst>
          </a:prstGeom>
          <a:solidFill>
            <a:srgbClr val="E9F3EC"/>
          </a:solidFill>
          <a:ln w="12700">
            <a:solidFill>
              <a:srgbClr val="E9F3EC"/>
            </a:solidFill>
            <a:prstDash val="solid"/>
          </a:ln>
        </p:spPr>
      </p:sp>
      <p:sp>
        <p:nvSpPr>
          <p:cNvPr id="27" name="Text 23"/>
          <p:cNvSpPr txBox="1"/>
          <p:nvPr/>
        </p:nvSpPr>
        <p:spPr>
          <a:xfrm>
            <a:off x="9372600" y="3986784"/>
            <a:ext cx="2148840" cy="457200"/>
          </a:xfrm>
          <a:prstGeom prst="rect">
            <a:avLst/>
          </a:prstGeom>
          <a:noFill/>
          <a:ln/>
        </p:spPr>
        <p:txBody>
          <a:bodyPr wrap="square" lIns="0" tIns="0" rIns="0" bIns="0" rtlCol="0" anchor="t"/>
          <a:lstStyle/>
          <a:p>
            <a:pPr indent="0" marL="0">
              <a:buNone/>
            </a:pPr>
            <a:r>
              <a:rPr lang="en-US" sz="2200" b="1" dirty="0">
                <a:solidFill>
                  <a:srgbClr val="0A7F44"/>
                </a:solidFill>
              </a:rPr>
              <a:t>54–67%</a:t>
            </a:r>
            <a:endParaRPr lang="en-US" sz="2200" dirty="0"/>
          </a:p>
        </p:txBody>
      </p:sp>
      <p:sp>
        <p:nvSpPr>
          <p:cNvPr id="28" name="Text 24"/>
          <p:cNvSpPr txBox="1"/>
          <p:nvPr/>
        </p:nvSpPr>
        <p:spPr>
          <a:xfrm>
            <a:off x="9372600" y="4462272"/>
            <a:ext cx="2148840" cy="457200"/>
          </a:xfrm>
          <a:prstGeom prst="rect">
            <a:avLst/>
          </a:prstGeom>
          <a:noFill/>
          <a:ln/>
        </p:spPr>
        <p:txBody>
          <a:bodyPr wrap="square" lIns="0" tIns="0" rIns="0" bIns="0" rtlCol="0" anchor="t"/>
          <a:lstStyle/>
          <a:p>
            <a:pPr indent="0" marL="0">
              <a:buNone/>
            </a:pPr>
            <a:r>
              <a:rPr lang="en-US" sz="1000" dirty="0">
                <a:solidFill>
                  <a:srgbClr val="55555C"/>
                </a:solidFill>
              </a:rPr>
              <a:t>fewer Glimmer answers in simulated talks; on the 500 test cases the student answers 96%</a:t>
            </a:r>
            <a:endParaRPr lang="en-US" sz="1000" dirty="0"/>
          </a:p>
        </p:txBody>
      </p:sp>
      <p:sp>
        <p:nvSpPr>
          <p:cNvPr id="29" name="Shape 25"/>
          <p:cNvSpPr/>
          <p:nvPr/>
        </p:nvSpPr>
        <p:spPr>
          <a:xfrm>
            <a:off x="9235440" y="5074920"/>
            <a:ext cx="2377440" cy="1024128"/>
          </a:xfrm>
          <a:prstGeom prst="roundRect">
            <a:avLst>
              <a:gd name="adj" fmla="val 10714"/>
            </a:avLst>
          </a:prstGeom>
          <a:solidFill>
            <a:srgbClr val="F6F7F8"/>
          </a:solidFill>
          <a:ln w="12700">
            <a:solidFill>
              <a:srgbClr val="F6F7F8"/>
            </a:solidFill>
            <a:prstDash val="solid"/>
          </a:ln>
        </p:spPr>
      </p:sp>
      <p:sp>
        <p:nvSpPr>
          <p:cNvPr id="30" name="Text 26"/>
          <p:cNvSpPr txBox="1"/>
          <p:nvPr/>
        </p:nvSpPr>
        <p:spPr>
          <a:xfrm>
            <a:off x="9372600" y="5129784"/>
            <a:ext cx="2148840" cy="457200"/>
          </a:xfrm>
          <a:prstGeom prst="rect">
            <a:avLst/>
          </a:prstGeom>
          <a:noFill/>
          <a:ln/>
        </p:spPr>
        <p:txBody>
          <a:bodyPr wrap="square" lIns="0" tIns="0" rIns="0" bIns="0" rtlCol="0" anchor="t"/>
          <a:lstStyle/>
          <a:p>
            <a:pPr indent="0" marL="0">
              <a:buNone/>
            </a:pPr>
            <a:r>
              <a:rPr lang="en-US" sz="2200" b="1" dirty="0">
                <a:solidFill>
                  <a:srgbClr val="0A0A0B"/>
                </a:solidFill>
              </a:rPr>
              <a:t>29 / 32</a:t>
            </a:r>
            <a:endParaRPr lang="en-US" sz="2200" dirty="0"/>
          </a:p>
        </p:txBody>
      </p:sp>
      <p:sp>
        <p:nvSpPr>
          <p:cNvPr id="31" name="Text 27"/>
          <p:cNvSpPr txBox="1"/>
          <p:nvPr/>
        </p:nvSpPr>
        <p:spPr>
          <a:xfrm>
            <a:off x="9372600" y="5605272"/>
            <a:ext cx="2148840" cy="457200"/>
          </a:xfrm>
          <a:prstGeom prst="rect">
            <a:avLst/>
          </a:prstGeom>
          <a:noFill/>
          <a:ln/>
        </p:spPr>
        <p:txBody>
          <a:bodyPr wrap="square" lIns="0" tIns="0" rIns="0" bIns="0" rtlCol="0" anchor="t"/>
          <a:lstStyle/>
          <a:p>
            <a:pPr indent="0" marL="0">
              <a:buNone/>
            </a:pPr>
            <a:r>
              <a:rPr lang="en-US" sz="1000" dirty="0">
                <a:solidFill>
                  <a:srgbClr val="55555C"/>
                </a:solidFill>
              </a:rPr>
              <a:t>stated preferences kept (Glimmer 27)</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the student is free within 8 s and answers within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about 0.9 s on the CPU, a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600 tokens, 40 s at p50</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 The week planned in the video took 78 s (13 Glimmer calls), in the background.</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At 0.6 the student answers 96% of the 500 test cases and still agrees with Glimmer 89.9%; at 0.7 it agrees more on the hardest cases but sends more to Glimmer.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SAFETY, 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10896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108960" cy="329184"/>
          </a:xfrm>
          <a:prstGeom prst="rect">
            <a:avLst/>
          </a:prstGeom>
          <a:noFill/>
          <a:ln/>
        </p:spPr>
        <p:txBody>
          <a:bodyPr wrap="square" lIns="0" tIns="0" rIns="0" bIns="0" rtlCol="0" anchor="ctr"/>
          <a:lstStyle/>
          <a:p>
            <a:pPr algn="ctr" indent="0" marL="0">
              <a:buNone/>
            </a:pPr>
            <a:r>
              <a:rPr lang="en-US" sz="1050" b="1" dirty="0">
                <a:solidFill>
                  <a:srgbClr val="55555C"/>
                </a:solidFill>
              </a:rPr>
              <a:t>Measured with a simulated prober</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93 / 93</a:t>
            </a:r>
            <a:endParaRPr lang="en-US" sz="3000" dirty="0"/>
          </a:p>
        </p:txBody>
      </p:sp>
      <p:sp>
        <p:nvSpPr>
          <p:cNvPr id="21" name="Text 17"/>
          <p:cNvSpPr txBox="1"/>
          <p:nvPr/>
        </p:nvSpPr>
        <p:spPr>
          <a:xfrm>
            <a:off x="8092440" y="5074920"/>
            <a:ext cx="3429000" cy="1143000"/>
          </a:xfrm>
          <a:prstGeom prst="rect">
            <a:avLst/>
          </a:prstGeom>
          <a:noFill/>
          <a:ln/>
        </p:spPr>
        <p:txBody>
          <a:bodyPr wrap="square" lIns="0" tIns="0" rIns="0" bIns="0" rtlCol="0" anchor="ctr"/>
          <a:lstStyle/>
          <a:p>
            <a:pPr indent="0" marL="0">
              <a:buNone/>
            </a:pPr>
            <a:r>
              <a:rPr lang="en-US" sz="1050" dirty="0">
                <a:solidFill>
                  <a:srgbClr val="0A0A0B"/>
                </a:solidFill>
              </a:rPr>
              <a:t>scripted attacks stopped: injected instructions, poisoned reviews, forged Agent Cards, sock-puppet votes. Unsafe messages: 37 of 42 refused, 1 of 74 harmless ones refused.</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WHAT IS REAL, WHAT IS SIMULATED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real models; simulated test clubs</a:t>
            </a:r>
            <a:endParaRPr lang="en-US" sz="3200" dirty="0"/>
          </a:p>
        </p:txBody>
      </p:sp>
      <p:sp>
        <p:nvSpPr>
          <p:cNvPr id="5" name="Shape 2"/>
          <p:cNvSpPr/>
          <p:nvPr/>
        </p:nvSpPr>
        <p:spPr>
          <a:xfrm>
            <a:off x="548640" y="1691640"/>
            <a:ext cx="5440680" cy="3429000"/>
          </a:xfrm>
          <a:prstGeom prst="roundRect">
            <a:avLst>
              <a:gd name="adj" fmla="val 3200"/>
            </a:avLst>
          </a:prstGeom>
          <a:solidFill>
            <a:srgbClr val="E9F3EC"/>
          </a:solidFill>
          <a:ln w="12700">
            <a:solidFill>
              <a:srgbClr val="0A7F44"/>
            </a:solidFill>
            <a:prstDash val="solid"/>
          </a:ln>
        </p:spPr>
      </p:sp>
      <p:sp>
        <p:nvSpPr>
          <p:cNvPr id="6" name="Text 3"/>
          <p:cNvSpPr txBox="1"/>
          <p:nvPr/>
        </p:nvSpPr>
        <p:spPr>
          <a:xfrm>
            <a:off x="822960" y="1810512"/>
            <a:ext cx="4937760" cy="228600"/>
          </a:xfrm>
          <a:prstGeom prst="rect">
            <a:avLst/>
          </a:prstGeom>
          <a:noFill/>
          <a:ln/>
        </p:spPr>
        <p:txBody>
          <a:bodyPr wrap="square" lIns="0" tIns="0" rIns="0" bIns="0" rtlCol="0" anchor="t"/>
          <a:lstStyle/>
          <a:p>
            <a:pPr indent="0" marL="0">
              <a:buNone/>
            </a:pPr>
            <a:r>
              <a:rPr lang="en-US" sz="1050" b="1" spc="100" kern="0" dirty="0">
                <a:solidFill>
                  <a:srgbClr val="0A7F44"/>
                </a:solidFill>
              </a:rPr>
              <a:t>REAL</a:t>
            </a:r>
            <a:endParaRPr lang="en-US" sz="1050" dirty="0"/>
          </a:p>
        </p:txBody>
      </p:sp>
      <p:sp>
        <p:nvSpPr>
          <p:cNvPr id="7" name="Text 4"/>
          <p:cNvSpPr txBox="1"/>
          <p:nvPr/>
        </p:nvSpPr>
        <p:spPr>
          <a:xfrm>
            <a:off x="822960" y="2048256"/>
            <a:ext cx="4937760" cy="365760"/>
          </a:xfrm>
          <a:prstGeom prst="rect">
            <a:avLst/>
          </a:prstGeom>
          <a:noFill/>
          <a:ln/>
        </p:spPr>
        <p:txBody>
          <a:bodyPr wrap="square" lIns="0" tIns="0" rIns="0" bIns="0" rtlCol="0" anchor="t"/>
          <a:lstStyle/>
          <a:p>
            <a:pPr indent="0" marL="0">
              <a:buNone/>
            </a:pPr>
            <a:r>
              <a:rPr lang="en-US" sz="1600" b="1" dirty="0">
                <a:solidFill>
                  <a:srgbClr val="0A0A0B"/>
                </a:solidFill>
              </a:rPr>
              <a:t>What a judge can trust as is</a:t>
            </a:r>
            <a:endParaRPr lang="en-US" sz="1600" dirty="0"/>
          </a:p>
        </p:txBody>
      </p:sp>
      <p:sp>
        <p:nvSpPr>
          <p:cNvPr id="8" name="Text 5"/>
          <p:cNvSpPr txBox="1"/>
          <p:nvPr/>
        </p:nvSpPr>
        <p:spPr>
          <a:xfrm>
            <a:off x="822960" y="2468880"/>
            <a:ext cx="4937760" cy="260604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0A0A0B"/>
                </a:solidFill>
              </a:rPr>
              <a:t>8 players, 14 accounts, 2 clubs they started, 4 games, 7 joins on the live site (29 Oct)</a:t>
            </a:r>
            <a:endParaRPr lang="en-US" sz="1150" dirty="0"/>
          </a:p>
          <a:p>
            <a:pPr marL="177800" indent="-177800">
              <a:spcAft>
                <a:spcPts val="400"/>
              </a:spcAft>
              <a:buSzPct val="100000"/>
              <a:buChar char="•"/>
            </a:pPr>
            <a:r>
              <a:rPr lang="en-US" sz="1150" dirty="0">
                <a:solidFill>
                  <a:srgbClr val="0A0A0B"/>
                </a:solidFill>
              </a:rPr>
              <a:t>Every agent's code: A2A over JSON-RPC, signed Agent Cards, holds, crash recovery</a:t>
            </a:r>
            <a:endParaRPr lang="en-US" sz="1150" dirty="0"/>
          </a:p>
          <a:p>
            <a:pPr marL="177800" indent="-177800">
              <a:spcAft>
                <a:spcPts val="400"/>
              </a:spcAft>
              <a:buSzPct val="100000"/>
              <a:buChar char="•"/>
            </a:pPr>
            <a:r>
              <a:rPr lang="en-US" sz="1150" dirty="0">
                <a:solidFill>
                  <a:srgbClr val="0A0A0B"/>
                </a:solidFill>
              </a:rPr>
              <a:t>Muse Glimmer making every decision in the evaluations; the guards, DRAMA, speech recognition</a:t>
            </a:r>
            <a:endParaRPr lang="en-US" sz="1150" dirty="0"/>
          </a:p>
          <a:p>
            <a:pPr marL="177800" indent="-177800">
              <a:spcAft>
                <a:spcPts val="400"/>
              </a:spcAft>
              <a:buSzPct val="100000"/>
              <a:buChar char="•"/>
            </a:pPr>
            <a:r>
              <a:rPr lang="en-US" sz="1150" dirty="0">
                <a:solidFill>
                  <a:srgbClr val="0A0A0B"/>
                </a:solidFill>
              </a:rPr>
              <a:t>Courts from OpenStreetMap, real forecasts; Messenger's webhook on a real Page (Facebook and Instagram login wait for Meta's app review: players use a demo sign-in)</a:t>
            </a:r>
            <a:endParaRPr lang="en-US" sz="1150" dirty="0"/>
          </a:p>
          <a:p>
            <a:pPr marL="177800" indent="-177800">
              <a:spcAft>
                <a:spcPts val="400"/>
              </a:spcAft>
              <a:buSzPct val="100000"/>
              <a:buChar char="•"/>
            </a:pPr>
            <a:r>
              <a:rPr lang="en-US" sz="1150" dirty="0">
                <a:solidFill>
                  <a:srgbClr val="0A0A0B"/>
                </a:solidFill>
              </a:rPr>
              <a:t>Highlights cut from real footage (a CC BY clip)</a:t>
            </a:r>
            <a:endParaRPr lang="en-US" sz="1150" dirty="0"/>
          </a:p>
        </p:txBody>
      </p:sp>
      <p:sp>
        <p:nvSpPr>
          <p:cNvPr id="9" name="Shape 6"/>
          <p:cNvSpPr/>
          <p:nvPr/>
        </p:nvSpPr>
        <p:spPr>
          <a:xfrm>
            <a:off x="6172200" y="1691640"/>
            <a:ext cx="5440680" cy="3429000"/>
          </a:xfrm>
          <a:prstGeom prst="roundRect">
            <a:avLst>
              <a:gd name="adj" fmla="val 3200"/>
            </a:avLst>
          </a:prstGeom>
          <a:solidFill>
            <a:srgbClr val="FBF3E6"/>
          </a:solidFill>
          <a:ln w="12700">
            <a:solidFill>
              <a:srgbClr val="B26A00"/>
            </a:solidFill>
            <a:prstDash val="solid"/>
          </a:ln>
        </p:spPr>
      </p:sp>
      <p:sp>
        <p:nvSpPr>
          <p:cNvPr id="10" name="Text 7"/>
          <p:cNvSpPr txBox="1"/>
          <p:nvPr/>
        </p:nvSpPr>
        <p:spPr>
          <a:xfrm>
            <a:off x="6446520" y="1810512"/>
            <a:ext cx="4937760" cy="228600"/>
          </a:xfrm>
          <a:prstGeom prst="rect">
            <a:avLst/>
          </a:prstGeom>
          <a:noFill/>
          <a:ln/>
        </p:spPr>
        <p:txBody>
          <a:bodyPr wrap="square" lIns="0" tIns="0" rIns="0" bIns="0" rtlCol="0" anchor="t"/>
          <a:lstStyle/>
          <a:p>
            <a:pPr indent="0" marL="0">
              <a:buNone/>
            </a:pPr>
            <a:r>
              <a:rPr lang="en-US" sz="1050" b="1" spc="100" kern="0" dirty="0">
                <a:solidFill>
                  <a:srgbClr val="B26A00"/>
                </a:solidFill>
              </a:rPr>
              <a:t>SIMULATED, AND LABELLED SO</a:t>
            </a:r>
            <a:endParaRPr lang="en-US" sz="1050" dirty="0"/>
          </a:p>
        </p:txBody>
      </p:sp>
      <p:sp>
        <p:nvSpPr>
          <p:cNvPr id="11" name="Text 8"/>
          <p:cNvSpPr txBox="1"/>
          <p:nvPr/>
        </p:nvSpPr>
        <p:spPr>
          <a:xfrm>
            <a:off x="6446520" y="2048256"/>
            <a:ext cx="4937760" cy="365760"/>
          </a:xfrm>
          <a:prstGeom prst="rect">
            <a:avLst/>
          </a:prstGeom>
          <a:noFill/>
          <a:ln/>
        </p:spPr>
        <p:txBody>
          <a:bodyPr wrap="square" lIns="0" tIns="0" rIns="0" bIns="0" rtlCol="0" anchor="t"/>
          <a:lstStyle/>
          <a:p>
            <a:pPr indent="0" marL="0">
              <a:buNone/>
            </a:pPr>
            <a:r>
              <a:rPr lang="en-US" sz="1600" b="1" dirty="0">
                <a:solidFill>
                  <a:srgbClr val="0A0A0B"/>
                </a:solidFill>
              </a:rPr>
              <a:t>Clubs built for the tests</a:t>
            </a:r>
            <a:endParaRPr lang="en-US" sz="1600" dirty="0"/>
          </a:p>
        </p:txBody>
      </p:sp>
      <p:sp>
        <p:nvSpPr>
          <p:cNvPr id="12" name="Text 9"/>
          <p:cNvSpPr txBox="1"/>
          <p:nvPr/>
        </p:nvSpPr>
        <p:spPr>
          <a:xfrm>
            <a:off x="6446520" y="2468880"/>
            <a:ext cx="4937760" cy="260604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0A0A0B"/>
                </a:solidFill>
              </a:rPr>
              <a:t>The demo club's members, venues and free times (marked demo in the app)</a:t>
            </a:r>
            <a:endParaRPr lang="en-US" sz="1150" dirty="0"/>
          </a:p>
          <a:p>
            <a:pPr marL="177800" indent="-177800">
              <a:spcAft>
                <a:spcPts val="400"/>
              </a:spcAft>
              <a:buSzPct val="100000"/>
              <a:buChar char="•"/>
            </a:pPr>
            <a:r>
              <a:rPr lang="en-US" sz="1150" dirty="0">
                <a:solidFill>
                  <a:srgbClr val="0A0A0B"/>
                </a:solidFill>
              </a:rPr>
              <a:t>The members in the scale, rules, matchmaking and student tests (seeds 7 and 11)</a:t>
            </a:r>
            <a:endParaRPr lang="en-US" sz="1150" dirty="0"/>
          </a:p>
          <a:p>
            <a:pPr marL="177800" indent="-177800">
              <a:spcAft>
                <a:spcPts val="400"/>
              </a:spcAft>
              <a:buSzPct val="100000"/>
              <a:buChar char="•"/>
            </a:pPr>
            <a:r>
              <a:rPr lang="en-US" sz="1150" dirty="0">
                <a:solidFill>
                  <a:srgbClr val="0A0A0B"/>
                </a:solidFill>
              </a:rPr>
              <a:t>The community loop's club of 60 and its votes</a:t>
            </a:r>
            <a:endParaRPr lang="en-US" sz="1150" dirty="0"/>
          </a:p>
          <a:p>
            <a:pPr marL="177800" indent="-177800">
              <a:spcAft>
                <a:spcPts val="400"/>
              </a:spcAft>
              <a:buSzPct val="100000"/>
              <a:buChar char="•"/>
            </a:pPr>
            <a:r>
              <a:rPr lang="en-US" sz="1150" dirty="0">
                <a:solidFill>
                  <a:srgbClr val="0A0A0B"/>
                </a:solidFill>
              </a:rPr>
              <a:t>The 20,000 requests in the asking test; the prober in the disclosure test</a:t>
            </a:r>
            <a:endParaRPr lang="en-US" sz="1150" dirty="0"/>
          </a:p>
          <a:p>
            <a:pPr marL="177800" indent="-177800">
              <a:spcAft>
                <a:spcPts val="400"/>
              </a:spcAft>
              <a:buSzPct val="100000"/>
              <a:buChar char="•"/>
            </a:pPr>
            <a:r>
              <a:rPr lang="en-US" sz="1150" dirty="0">
                <a:solidFill>
                  <a:srgbClr val="0A0A0B"/>
                </a:solidFill>
              </a:rPr>
              <a:t>The attacks and unsafe messages: labelled tests I wrote</a:t>
            </a:r>
            <a:endParaRPr lang="en-US" sz="1150" dirty="0"/>
          </a:p>
        </p:txBody>
      </p:sp>
      <p:sp>
        <p:nvSpPr>
          <p:cNvPr id="13" name="Shape 10"/>
          <p:cNvSpPr/>
          <p:nvPr/>
        </p:nvSpPr>
        <p:spPr>
          <a:xfrm>
            <a:off x="548640" y="5257800"/>
            <a:ext cx="11064240" cy="868680"/>
          </a:xfrm>
          <a:prstGeom prst="roundRect">
            <a:avLst>
              <a:gd name="adj" fmla="val 12632"/>
            </a:avLst>
          </a:prstGeom>
          <a:solidFill>
            <a:srgbClr val="FBEAE9"/>
          </a:solidFill>
          <a:ln w="12700">
            <a:solidFill>
              <a:srgbClr val="FBEAE9"/>
            </a:solidFill>
            <a:prstDash val="solid"/>
          </a:ln>
        </p:spPr>
      </p:sp>
      <p:sp>
        <p:nvSpPr>
          <p:cNvPr id="14" name="Text 11"/>
          <p:cNvSpPr txBox="1"/>
          <p:nvPr/>
        </p:nvSpPr>
        <p:spPr>
          <a:xfrm>
            <a:off x="777240" y="5349240"/>
            <a:ext cx="2743200" cy="228600"/>
          </a:xfrm>
          <a:prstGeom prst="rect">
            <a:avLst/>
          </a:prstGeom>
          <a:noFill/>
          <a:ln/>
        </p:spPr>
        <p:txBody>
          <a:bodyPr wrap="square" lIns="0" tIns="0" rIns="0" bIns="0" rtlCol="0" anchor="t"/>
          <a:lstStyle/>
          <a:p>
            <a:pPr indent="0" marL="0">
              <a:buNone/>
            </a:pPr>
            <a:r>
              <a:rPr lang="en-US" sz="1050" b="1" spc="100" kern="0" dirty="0">
                <a:solidFill>
                  <a:srgbClr val="D1352B"/>
                </a:solidFill>
              </a:rPr>
              <a:t>KNOWN FAILURES</a:t>
            </a:r>
            <a:endParaRPr lang="en-US" sz="1050" dirty="0"/>
          </a:p>
        </p:txBody>
      </p:sp>
      <p:sp>
        <p:nvSpPr>
          <p:cNvPr id="15" name="Text 12"/>
          <p:cNvSpPr txBox="1"/>
          <p:nvPr/>
        </p:nvSpPr>
        <p:spPr>
          <a:xfrm>
            <a:off x="777240" y="5577840"/>
            <a:ext cx="10607040" cy="502920"/>
          </a:xfrm>
          <a:prstGeom prst="rect">
            <a:avLst/>
          </a:prstGeom>
          <a:noFill/>
          <a:ln/>
        </p:spPr>
        <p:txBody>
          <a:bodyPr wrap="square" lIns="0" tIns="0" rIns="0" bIns="0" rtlCol="0" anchor="t"/>
          <a:lstStyle/>
          <a:p>
            <a:pPr indent="0" marL="0">
              <a:buNone/>
            </a:pPr>
            <a:r>
              <a:rPr lang="en-US" sz="1100" dirty="0">
                <a:solidFill>
                  <a:srgbClr val="0A0A0B"/>
                </a:solidFill>
              </a:rPr>
              <a:t>5 of 42 unsafe messages got past Llama Guard and code · 1 of 74 harmless ones refused · 9% of Glimmer calls came back empty (mostly a small budget: every call now has room to reason) · with a rule only in a member's words, Glimmer broke it in 1 of 60 talks</a:t>
            </a:r>
            <a:endParaRPr lang="en-US" sz="1100" dirty="0"/>
          </a:p>
        </p:txBody>
      </p:sp>
      <p:sp>
        <p:nvSpPr>
          <p:cNvPr id="16" name="Text 13"/>
          <p:cNvSpPr txBox="1"/>
          <p:nvPr/>
        </p:nvSpPr>
        <p:spPr>
          <a:xfrm>
            <a:off x="548640" y="6199632"/>
            <a:ext cx="11064240" cy="274320"/>
          </a:xfrm>
          <a:prstGeom prst="rect">
            <a:avLst/>
          </a:prstGeom>
          <a:noFill/>
          <a:ln/>
        </p:spPr>
        <p:txBody>
          <a:bodyPr wrap="square" lIns="0" tIns="0" rIns="0" bIns="0" rtlCol="0" anchor="t"/>
          <a:lstStyle/>
          <a:p>
            <a:pPr indent="0" marL="0">
              <a:buNone/>
            </a:pPr>
            <a:r>
              <a:rPr lang="en-US" sz="1050" i="1" dirty="0">
                <a:solidFill>
                  <a:srgbClr val="55555C"/>
                </a:solidFill>
              </a:rPr>
              <a:t>The simulations show the agents keep what members stated; they do not show how real people react. The live club measures that.</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BUILT DURING THE HACKATHON · OCT 27 – NOV 4, 2026</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New here, mine from before, third party</a:t>
            </a:r>
            <a:endParaRPr lang="en-US" sz="3200" dirty="0"/>
          </a:p>
        </p:txBody>
      </p:sp>
      <p:sp>
        <p:nvSpPr>
          <p:cNvPr id="5" name="Shape 2"/>
          <p:cNvSpPr/>
          <p:nvPr/>
        </p:nvSpPr>
        <p:spPr>
          <a:xfrm>
            <a:off x="548640" y="1691640"/>
            <a:ext cx="4206240" cy="4389120"/>
          </a:xfrm>
          <a:prstGeom prst="roundRect">
            <a:avLst>
              <a:gd name="adj" fmla="val 2609"/>
            </a:avLst>
          </a:prstGeom>
          <a:solidFill>
            <a:srgbClr val="E9F3EC"/>
          </a:solidFill>
          <a:ln w="12700">
            <a:solidFill>
              <a:srgbClr val="0A7F44"/>
            </a:solidFill>
            <a:prstDash val="solid"/>
          </a:ln>
        </p:spPr>
      </p:sp>
      <p:sp>
        <p:nvSpPr>
          <p:cNvPr id="6" name="Text 3"/>
          <p:cNvSpPr txBox="1"/>
          <p:nvPr/>
        </p:nvSpPr>
        <p:spPr>
          <a:xfrm>
            <a:off x="777240" y="1828800"/>
            <a:ext cx="3749040" cy="228600"/>
          </a:xfrm>
          <a:prstGeom prst="rect">
            <a:avLst/>
          </a:prstGeom>
          <a:noFill/>
          <a:ln/>
        </p:spPr>
        <p:txBody>
          <a:bodyPr wrap="square" lIns="0" tIns="0" rIns="0" bIns="0" rtlCol="0" anchor="t"/>
          <a:lstStyle/>
          <a:p>
            <a:pPr indent="0" marL="0">
              <a:buNone/>
            </a:pPr>
            <a:r>
              <a:rPr lang="en-US" sz="1050" b="1" spc="100" kern="0" dirty="0">
                <a:solidFill>
                  <a:srgbClr val="0A7F44"/>
                </a:solidFill>
              </a:rPr>
              <a:t>BUILT HERE</a:t>
            </a:r>
            <a:endParaRPr lang="en-US" sz="1050" dirty="0"/>
          </a:p>
        </p:txBody>
      </p:sp>
      <p:sp>
        <p:nvSpPr>
          <p:cNvPr id="7" name="Text 4"/>
          <p:cNvSpPr txBox="1"/>
          <p:nvPr/>
        </p:nvSpPr>
        <p:spPr>
          <a:xfrm>
            <a:off x="777240" y="2084832"/>
            <a:ext cx="3749040" cy="365760"/>
          </a:xfrm>
          <a:prstGeom prst="rect">
            <a:avLst/>
          </a:prstGeom>
          <a:noFill/>
          <a:ln/>
        </p:spPr>
        <p:txBody>
          <a:bodyPr wrap="square" lIns="0" tIns="0" rIns="0" bIns="0" rtlCol="0" anchor="t"/>
          <a:lstStyle/>
          <a:p>
            <a:pPr indent="0" marL="0">
              <a:buNone/>
            </a:pPr>
            <a:r>
              <a:rPr lang="en-US" sz="1600" b="1" dirty="0">
                <a:solidFill>
                  <a:srgbClr val="0A0A0B"/>
                </a:solidFill>
              </a:rPr>
              <a:t>All the code</a:t>
            </a:r>
            <a:endParaRPr lang="en-US" sz="1600" dirty="0"/>
          </a:p>
        </p:txBody>
      </p:sp>
      <p:sp>
        <p:nvSpPr>
          <p:cNvPr id="8" name="Text 5"/>
          <p:cNvSpPr txBox="1"/>
          <p:nvPr/>
        </p:nvSpPr>
        <p:spPr>
          <a:xfrm>
            <a:off x="777240" y="2542032"/>
            <a:ext cx="3749040" cy="347472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0A0A0B"/>
                </a:solidFill>
              </a:rPr>
              <a:t>The gateway and every agent; A2A and its signing; matchmaking; memory and beliefs</a:t>
            </a:r>
            <a:endParaRPr lang="en-US" sz="1200" dirty="0"/>
          </a:p>
          <a:p>
            <a:pPr marL="152400" indent="-152400">
              <a:spcAft>
                <a:spcPts val="500"/>
              </a:spcAft>
              <a:buSzPct val="100000"/>
              <a:buChar char="•"/>
            </a:pPr>
            <a:r>
              <a:rPr lang="en-US" sz="1200" dirty="0">
                <a:solidFill>
                  <a:srgbClr val="0A0A0B"/>
                </a:solidFill>
              </a:rPr>
              <a:t>The community loop and its builder; the highlight pipeline's code</a:t>
            </a:r>
            <a:endParaRPr lang="en-US" sz="1200" dirty="0"/>
          </a:p>
          <a:p>
            <a:pPr marL="152400" indent="-152400">
              <a:spcAft>
                <a:spcPts val="500"/>
              </a:spcAft>
              <a:buSzPct val="100000"/>
              <a:buChar char="•"/>
            </a:pPr>
            <a:r>
              <a:rPr lang="en-US" sz="1200" dirty="0">
                <a:solidFill>
                  <a:srgbClr val="0A0A0B"/>
                </a:solidFill>
              </a:rPr>
              <a:t>The web app, members, clubs, the per-player gateways</a:t>
            </a:r>
            <a:endParaRPr lang="en-US" sz="1200" dirty="0"/>
          </a:p>
          <a:p>
            <a:pPr marL="152400" indent="-152400">
              <a:spcAft>
                <a:spcPts val="500"/>
              </a:spcAft>
              <a:buSzPct val="100000"/>
              <a:buChar char="•"/>
            </a:pPr>
            <a:r>
              <a:rPr lang="en-US" sz="1200" dirty="0">
                <a:solidFill>
                  <a:srgbClr val="0A0A0B"/>
                </a:solidFill>
              </a:rPr>
              <a:t>The Llama 3.2 1B student, fine-tuned from Glimmer's choices</a:t>
            </a:r>
            <a:endParaRPr lang="en-US" sz="1200" dirty="0"/>
          </a:p>
          <a:p>
            <a:pPr marL="152400" indent="-152400">
              <a:spcAft>
                <a:spcPts val="500"/>
              </a:spcAft>
              <a:buSzPct val="100000"/>
              <a:buChar char="•"/>
            </a:pPr>
            <a:r>
              <a:rPr lang="en-US" sz="1200" dirty="0">
                <a:solidFill>
                  <a:srgbClr val="0A0A0B"/>
                </a:solidFill>
              </a:rPr>
              <a:t>Every test and evaluation; the demo video (2:27)</a:t>
            </a:r>
            <a:endParaRPr lang="en-US" sz="1200" dirty="0"/>
          </a:p>
          <a:p>
            <a:pPr marL="152400" indent="-152400">
              <a:spcAft>
                <a:spcPts val="500"/>
              </a:spcAft>
              <a:buSzPct val="100000"/>
              <a:buChar char="•"/>
            </a:pPr>
            <a:r>
              <a:rPr lang="en-US" sz="1200" dirty="0">
                <a:solidFill>
                  <a:srgbClr val="0A0A0B"/>
                </a:solidFill>
              </a:rPr>
              <a:t>Started Oct 28 (day 2 of the hackathon); over 900 commits since</a:t>
            </a:r>
            <a:endParaRPr lang="en-US" sz="1200" dirty="0"/>
          </a:p>
        </p:txBody>
      </p:sp>
      <p:sp>
        <p:nvSpPr>
          <p:cNvPr id="9" name="Shape 6"/>
          <p:cNvSpPr/>
          <p:nvPr/>
        </p:nvSpPr>
        <p:spPr>
          <a:xfrm>
            <a:off x="4892040" y="1691640"/>
            <a:ext cx="2377440" cy="4389120"/>
          </a:xfrm>
          <a:prstGeom prst="roundRect">
            <a:avLst>
              <a:gd name="adj" fmla="val 4615"/>
            </a:avLst>
          </a:prstGeom>
          <a:solidFill>
            <a:srgbClr val="F6F7F8"/>
          </a:solidFill>
          <a:ln w="12700">
            <a:solidFill>
              <a:srgbClr val="55555C"/>
            </a:solidFill>
            <a:prstDash val="solid"/>
          </a:ln>
        </p:spPr>
      </p:sp>
      <p:sp>
        <p:nvSpPr>
          <p:cNvPr id="10" name="Text 7"/>
          <p:cNvSpPr txBox="1"/>
          <p:nvPr/>
        </p:nvSpPr>
        <p:spPr>
          <a:xfrm>
            <a:off x="5120640" y="1828800"/>
            <a:ext cx="1920240" cy="228600"/>
          </a:xfrm>
          <a:prstGeom prst="rect">
            <a:avLst/>
          </a:prstGeom>
          <a:noFill/>
          <a:ln/>
        </p:spPr>
        <p:txBody>
          <a:bodyPr wrap="square" lIns="0" tIns="0" rIns="0" bIns="0" rtlCol="0" anchor="t"/>
          <a:lstStyle/>
          <a:p>
            <a:pPr indent="0" marL="0">
              <a:buNone/>
            </a:pPr>
            <a:r>
              <a:rPr lang="en-US" sz="1050" b="1" spc="100" kern="0" dirty="0">
                <a:solidFill>
                  <a:srgbClr val="55555C"/>
                </a:solidFill>
              </a:rPr>
              <a:t>MINE, FROM BEFORE</a:t>
            </a:r>
            <a:endParaRPr lang="en-US" sz="1050" dirty="0"/>
          </a:p>
        </p:txBody>
      </p:sp>
      <p:sp>
        <p:nvSpPr>
          <p:cNvPr id="11" name="Text 8"/>
          <p:cNvSpPr txBox="1"/>
          <p:nvPr/>
        </p:nvSpPr>
        <p:spPr>
          <a:xfrm>
            <a:off x="5120640" y="2084832"/>
            <a:ext cx="1920240" cy="365760"/>
          </a:xfrm>
          <a:prstGeom prst="rect">
            <a:avLst/>
          </a:prstGeom>
          <a:noFill/>
          <a:ln/>
        </p:spPr>
        <p:txBody>
          <a:bodyPr wrap="square" lIns="0" tIns="0" rIns="0" bIns="0" rtlCol="0" anchor="t"/>
          <a:lstStyle/>
          <a:p>
            <a:pPr indent="0" marL="0">
              <a:buNone/>
            </a:pPr>
            <a:r>
              <a:rPr lang="en-US" sz="1600" b="1" dirty="0">
                <a:solidFill>
                  <a:srgbClr val="0A0A0B"/>
                </a:solidFill>
              </a:rPr>
              <a:t>Off in this entry</a:t>
            </a:r>
            <a:endParaRPr lang="en-US" sz="1600" dirty="0"/>
          </a:p>
        </p:txBody>
      </p:sp>
      <p:sp>
        <p:nvSpPr>
          <p:cNvPr id="12" name="Text 9"/>
          <p:cNvSpPr txBox="1"/>
          <p:nvPr/>
        </p:nvSpPr>
        <p:spPr>
          <a:xfrm>
            <a:off x="5120640" y="2542032"/>
            <a:ext cx="1920240" cy="347472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0A0A0B"/>
                </a:solidFill>
              </a:rPr>
              <a:t>TrackNetV5, my published shuttle tracker (ICIP 2026): off by default, not loaded in this entry</a:t>
            </a:r>
            <a:endParaRPr lang="en-US" sz="1200" dirty="0"/>
          </a:p>
        </p:txBody>
      </p:sp>
      <p:sp>
        <p:nvSpPr>
          <p:cNvPr id="13" name="Shape 10"/>
          <p:cNvSpPr/>
          <p:nvPr/>
        </p:nvSpPr>
        <p:spPr>
          <a:xfrm>
            <a:off x="7406640" y="1691640"/>
            <a:ext cx="4206240" cy="4389120"/>
          </a:xfrm>
          <a:prstGeom prst="roundRect">
            <a:avLst>
              <a:gd name="adj" fmla="val 2609"/>
            </a:avLst>
          </a:prstGeom>
          <a:solidFill>
            <a:srgbClr val="E8F1FD"/>
          </a:solidFill>
          <a:ln w="12700">
            <a:solidFill>
              <a:srgbClr val="0064E0"/>
            </a:solidFill>
            <a:prstDash val="solid"/>
          </a:ln>
        </p:spPr>
      </p:sp>
      <p:sp>
        <p:nvSpPr>
          <p:cNvPr id="14" name="Text 11"/>
          <p:cNvSpPr txBox="1"/>
          <p:nvPr/>
        </p:nvSpPr>
        <p:spPr>
          <a:xfrm>
            <a:off x="7635240" y="1828800"/>
            <a:ext cx="3749040" cy="228600"/>
          </a:xfrm>
          <a:prstGeom prst="rect">
            <a:avLst/>
          </a:prstGeom>
          <a:noFill/>
          <a:ln/>
        </p:spPr>
        <p:txBody>
          <a:bodyPr wrap="square" lIns="0" tIns="0" rIns="0" bIns="0" rtlCol="0" anchor="t"/>
          <a:lstStyle/>
          <a:p>
            <a:pPr indent="0" marL="0">
              <a:buNone/>
            </a:pPr>
            <a:r>
              <a:rPr lang="en-US" sz="1050" b="1" spc="100" kern="0" dirty="0">
                <a:solidFill>
                  <a:srgbClr val="0064E0"/>
                </a:solidFill>
              </a:rPr>
              <a:t>THIRD PARTY, AS PUBLISHED</a:t>
            </a:r>
            <a:endParaRPr lang="en-US" sz="1050" dirty="0"/>
          </a:p>
        </p:txBody>
      </p:sp>
      <p:sp>
        <p:nvSpPr>
          <p:cNvPr id="15" name="Text 12"/>
          <p:cNvSpPr txBox="1"/>
          <p:nvPr/>
        </p:nvSpPr>
        <p:spPr>
          <a:xfrm>
            <a:off x="7635240" y="2084832"/>
            <a:ext cx="3749040" cy="365760"/>
          </a:xfrm>
          <a:prstGeom prst="rect">
            <a:avLst/>
          </a:prstGeom>
          <a:noFill/>
          <a:ln/>
        </p:spPr>
        <p:txBody>
          <a:bodyPr wrap="square" lIns="0" tIns="0" rIns="0" bIns="0" rtlCol="0" anchor="t"/>
          <a:lstStyle/>
          <a:p>
            <a:pPr indent="0" marL="0">
              <a:buNone/>
            </a:pPr>
            <a:r>
              <a:rPr lang="en-US" sz="1600" b="1" dirty="0">
                <a:solidFill>
                  <a:srgbClr val="0A0A0B"/>
                </a:solidFill>
              </a:rPr>
              <a:t>Models, software, data</a:t>
            </a:r>
            <a:endParaRPr lang="en-US" sz="1600" dirty="0"/>
          </a:p>
        </p:txBody>
      </p:sp>
      <p:sp>
        <p:nvSpPr>
          <p:cNvPr id="16" name="Text 13"/>
          <p:cNvSpPr txBox="1"/>
          <p:nvPr/>
        </p:nvSpPr>
        <p:spPr>
          <a:xfrm>
            <a:off x="7635240" y="2542032"/>
            <a:ext cx="3749040" cy="347472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0A0A0B"/>
                </a:solidFill>
              </a:rPr>
              <a:t>Meta: Muse Glimmer, Llama 3.2 1B, Llama Guard 3, Prompt Guard 2, DRAMA, Omnilingual ASR, DETR, Sapiens2, SAM 2.1, MapAnything; API: Muse Spark, Voice Transcribe, Image, Wonder, SAM 3.1</a:t>
            </a:r>
            <a:endParaRPr lang="en-US" sz="1100" dirty="0"/>
          </a:p>
          <a:p>
            <a:pPr marL="152400" indent="-152400">
              <a:spcAft>
                <a:spcPts val="500"/>
              </a:spcAft>
              <a:buSzPct val="100000"/>
              <a:buChar char="•"/>
            </a:pPr>
            <a:r>
              <a:rPr lang="en-US" sz="1100" dirty="0">
                <a:solidFill>
                  <a:srgbClr val="0A0A0B"/>
                </a:solidFill>
              </a:rPr>
              <a:t>Other models: Kokoro (speech), IBM Granite (optional), WASB (off)</a:t>
            </a:r>
            <a:endParaRPr lang="en-US" sz="1100" dirty="0"/>
          </a:p>
          <a:p>
            <a:pPr marL="152400" indent="-152400">
              <a:spcAft>
                <a:spcPts val="500"/>
              </a:spcAft>
              <a:buSzPct val="100000"/>
              <a:buChar char="•"/>
            </a:pPr>
            <a:r>
              <a:rPr lang="en-US" sz="1100" dirty="0">
                <a:solidFill>
                  <a:srgbClr val="0A0A0B"/>
                </a:solidFill>
              </a:rPr>
              <a:t>Software: A2A SDK, Ollama, Transformers, OpenTelemetry, React, Vite, Leaflet, Cloudflare tunnel</a:t>
            </a:r>
            <a:endParaRPr lang="en-US" sz="1100" dirty="0"/>
          </a:p>
          <a:p>
            <a:pPr marL="152400" indent="-152400">
              <a:spcAft>
                <a:spcPts val="500"/>
              </a:spcAft>
              <a:buSzPct val="100000"/>
              <a:buChar char="•"/>
            </a:pPr>
            <a:r>
              <a:rPr lang="en-US" sz="1100" dirty="0">
                <a:solidFill>
                  <a:srgbClr val="0A0A0B"/>
                </a:solidFill>
              </a:rPr>
              <a:t>Data: OpenStreetMap, Open-Meteo, Google Places, CC BY clips (credited)</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 · THE VIDEO, 2:27</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Three acts, all in the running app</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3566160" cy="2005965"/>
          </a:xfrm>
          <a:prstGeom prst="rect">
            <a:avLst/>
          </a:prstGeom>
        </p:spPr>
      </p:pic>
      <p:sp>
        <p:nvSpPr>
          <p:cNvPr id="6" name="Shape 2"/>
          <p:cNvSpPr/>
          <p:nvPr/>
        </p:nvSpPr>
        <p:spPr>
          <a:xfrm>
            <a:off x="548640" y="1783080"/>
            <a:ext cx="3566160" cy="2005965"/>
          </a:xfrm>
          <a:prstGeom prst="rect">
            <a:avLst/>
          </a:prstGeom>
          <a:ln w="12700">
            <a:solidFill>
              <a:srgbClr val="DCDCE0"/>
            </a:solidFill>
            <a:prstDash val="solid"/>
          </a:ln>
        </p:spPr>
      </p:sp>
      <p:sp>
        <p:nvSpPr>
          <p:cNvPr id="7" name="Shape 3"/>
          <p:cNvSpPr/>
          <p:nvPr/>
        </p:nvSpPr>
        <p:spPr>
          <a:xfrm>
            <a:off x="548640" y="3977640"/>
            <a:ext cx="731520" cy="329184"/>
          </a:xfrm>
          <a:prstGeom prst="roundRect">
            <a:avLst>
              <a:gd name="adj" fmla="val 50000"/>
            </a:avLst>
          </a:prstGeom>
          <a:solidFill>
            <a:srgbClr val="0A7F44"/>
          </a:solidFill>
          <a:ln w="12700">
            <a:solidFill>
              <a:srgbClr val="0A7F44"/>
            </a:solidFill>
            <a:prstDash val="solid"/>
          </a:ln>
        </p:spPr>
      </p:sp>
      <p:sp>
        <p:nvSpPr>
          <p:cNvPr id="8" name="Text 4"/>
          <p:cNvSpPr txBox="1"/>
          <p:nvPr/>
        </p:nvSpPr>
        <p:spPr>
          <a:xfrm>
            <a:off x="548640" y="3977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0:41</a:t>
            </a:r>
            <a:endParaRPr lang="en-US" sz="1100" dirty="0"/>
          </a:p>
        </p:txBody>
      </p:sp>
      <p:sp>
        <p:nvSpPr>
          <p:cNvPr id="9" name="Text 5"/>
          <p:cNvSpPr txBox="1"/>
          <p:nvPr/>
        </p:nvSpPr>
        <p:spPr>
          <a:xfrm>
            <a:off x="548640" y="4389120"/>
            <a:ext cx="3566160" cy="731520"/>
          </a:xfrm>
          <a:prstGeom prst="rect">
            <a:avLst/>
          </a:prstGeom>
          <a:noFill/>
          <a:ln/>
        </p:spPr>
        <p:txBody>
          <a:bodyPr wrap="square" lIns="0" tIns="0" rIns="0" bIns="0" rtlCol="0" anchor="t"/>
          <a:lstStyle/>
          <a:p>
            <a:pPr indent="0" marL="0">
              <a:buNone/>
            </a:pPr>
            <a:r>
              <a:rPr lang="en-US" sz="1250" dirty="0">
                <a:solidFill>
                  <a:srgbClr val="0A0A0B"/>
                </a:solidFill>
              </a:rPr>
              <a:t>Act 1 · cold start: Leo has no account, the link joins him, and Mia hears "Game on" at once</a:t>
            </a:r>
            <a:endParaRPr lang="en-US" sz="1250" dirty="0"/>
          </a:p>
        </p:txBody>
      </p:sp>
      <p:pic>
        <p:nvPicPr>
          <p:cNvPr id="10" name="Image 1" descr="preencoded.png">    </p:cNvPr>
          <p:cNvPicPr>
            <a:picLocks noChangeAspect="1"/>
          </p:cNvPicPr>
          <p:nvPr/>
        </p:nvPicPr>
        <p:blipFill>
          <a:blip r:embed="rId2"/>
          <a:stretch>
            <a:fillRect/>
          </a:stretch>
        </p:blipFill>
        <p:spPr>
          <a:xfrm>
            <a:off x="4297680" y="1783080"/>
            <a:ext cx="3566160" cy="2005965"/>
          </a:xfrm>
          <a:prstGeom prst="rect">
            <a:avLst/>
          </a:prstGeom>
        </p:spPr>
      </p:pic>
      <p:sp>
        <p:nvSpPr>
          <p:cNvPr id="11" name="Shape 6"/>
          <p:cNvSpPr/>
          <p:nvPr/>
        </p:nvSpPr>
        <p:spPr>
          <a:xfrm>
            <a:off x="4297680" y="1783080"/>
            <a:ext cx="3566160" cy="2005965"/>
          </a:xfrm>
          <a:prstGeom prst="rect">
            <a:avLst/>
          </a:prstGeom>
          <a:ln w="12700">
            <a:solidFill>
              <a:srgbClr val="DCDCE0"/>
            </a:solidFill>
            <a:prstDash val="solid"/>
          </a:ln>
        </p:spPr>
      </p:sp>
      <p:sp>
        <p:nvSpPr>
          <p:cNvPr id="12" name="Shape 7"/>
          <p:cNvSpPr/>
          <p:nvPr/>
        </p:nvSpPr>
        <p:spPr>
          <a:xfrm>
            <a:off x="4297680" y="3977640"/>
            <a:ext cx="731520" cy="329184"/>
          </a:xfrm>
          <a:prstGeom prst="roundRect">
            <a:avLst>
              <a:gd name="adj" fmla="val 50000"/>
            </a:avLst>
          </a:prstGeom>
          <a:solidFill>
            <a:srgbClr val="0A7F44"/>
          </a:solidFill>
          <a:ln w="12700">
            <a:solidFill>
              <a:srgbClr val="0A7F44"/>
            </a:solidFill>
            <a:prstDash val="solid"/>
          </a:ln>
        </p:spPr>
      </p:sp>
      <p:sp>
        <p:nvSpPr>
          <p:cNvPr id="13" name="Text 8"/>
          <p:cNvSpPr txBox="1"/>
          <p:nvPr/>
        </p:nvSpPr>
        <p:spPr>
          <a:xfrm>
            <a:off x="4297680" y="3977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1:15</a:t>
            </a:r>
            <a:endParaRPr lang="en-US" sz="1100" dirty="0"/>
          </a:p>
        </p:txBody>
      </p:sp>
      <p:sp>
        <p:nvSpPr>
          <p:cNvPr id="14" name="Text 9"/>
          <p:cNvSpPr txBox="1"/>
          <p:nvPr/>
        </p:nvSpPr>
        <p:spPr>
          <a:xfrm>
            <a:off x="4297680" y="4389120"/>
            <a:ext cx="3566160" cy="731520"/>
          </a:xfrm>
          <a:prstGeom prst="rect">
            <a:avLst/>
          </a:prstGeom>
          <a:noFill/>
          <a:ln/>
        </p:spPr>
        <p:txBody>
          <a:bodyPr wrap="square" lIns="0" tIns="0" rIns="0" bIns="0" rtlCol="0" anchor="t"/>
          <a:lstStyle/>
          <a:p>
            <a:pPr indent="0" marL="0">
              <a:buNone/>
            </a:pPr>
            <a:r>
              <a:rPr lang="en-US" sz="1250" dirty="0">
                <a:solidFill>
                  <a:srgbClr val="0A0A0B"/>
                </a:solidFill>
              </a:rPr>
              <a:t>Act 2 · A2A: Hana's agent makes a real counter-offer; one yes in Messenger books it (end-to-end test)</a:t>
            </a:r>
            <a:endParaRPr lang="en-US" sz="1250" dirty="0"/>
          </a:p>
        </p:txBody>
      </p:sp>
      <p:pic>
        <p:nvPicPr>
          <p:cNvPr id="15" name="Image 2" descr="preencoded.png">    </p:cNvPr>
          <p:cNvPicPr>
            <a:picLocks noChangeAspect="1"/>
          </p:cNvPicPr>
          <p:nvPr/>
        </p:nvPicPr>
        <p:blipFill>
          <a:blip r:embed="rId3"/>
          <a:stretch>
            <a:fillRect/>
          </a:stretch>
        </p:blipFill>
        <p:spPr>
          <a:xfrm>
            <a:off x="8046720" y="1783080"/>
            <a:ext cx="3566160" cy="2005965"/>
          </a:xfrm>
          <a:prstGeom prst="rect">
            <a:avLst/>
          </a:prstGeom>
        </p:spPr>
      </p:pic>
      <p:sp>
        <p:nvSpPr>
          <p:cNvPr id="16" name="Shape 10"/>
          <p:cNvSpPr/>
          <p:nvPr/>
        </p:nvSpPr>
        <p:spPr>
          <a:xfrm>
            <a:off x="8046720" y="1783080"/>
            <a:ext cx="3566160" cy="2005965"/>
          </a:xfrm>
          <a:prstGeom prst="rect">
            <a:avLst/>
          </a:prstGeom>
          <a:ln w="12700">
            <a:solidFill>
              <a:srgbClr val="DCDCE0"/>
            </a:solidFill>
            <a:prstDash val="solid"/>
          </a:ln>
        </p:spPr>
      </p:sp>
      <p:sp>
        <p:nvSpPr>
          <p:cNvPr id="17" name="Shape 11"/>
          <p:cNvSpPr/>
          <p:nvPr/>
        </p:nvSpPr>
        <p:spPr>
          <a:xfrm>
            <a:off x="8046720" y="3977640"/>
            <a:ext cx="731520" cy="329184"/>
          </a:xfrm>
          <a:prstGeom prst="roundRect">
            <a:avLst>
              <a:gd name="adj" fmla="val 50000"/>
            </a:avLst>
          </a:prstGeom>
          <a:solidFill>
            <a:srgbClr val="0A7F44"/>
          </a:solidFill>
          <a:ln w="12700">
            <a:solidFill>
              <a:srgbClr val="0A7F44"/>
            </a:solidFill>
            <a:prstDash val="solid"/>
          </a:ln>
        </p:spPr>
      </p:sp>
      <p:sp>
        <p:nvSpPr>
          <p:cNvPr id="18" name="Text 12"/>
          <p:cNvSpPr txBox="1"/>
          <p:nvPr/>
        </p:nvSpPr>
        <p:spPr>
          <a:xfrm>
            <a:off x="8046720" y="3977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1:25</a:t>
            </a:r>
            <a:endParaRPr lang="en-US" sz="1100" dirty="0"/>
          </a:p>
        </p:txBody>
      </p:sp>
      <p:sp>
        <p:nvSpPr>
          <p:cNvPr id="19" name="Text 13"/>
          <p:cNvSpPr txBox="1"/>
          <p:nvPr/>
        </p:nvSpPr>
        <p:spPr>
          <a:xfrm>
            <a:off x="8046720" y="4389120"/>
            <a:ext cx="3566160" cy="731520"/>
          </a:xfrm>
          <a:prstGeom prst="rect">
            <a:avLst/>
          </a:prstGeom>
          <a:noFill/>
          <a:ln/>
        </p:spPr>
        <p:txBody>
          <a:bodyPr wrap="square" lIns="0" tIns="0" rIns="0" bIns="0" rtlCol="0" anchor="t"/>
          <a:lstStyle/>
          <a:p>
            <a:pPr indent="0" marL="0">
              <a:buNone/>
            </a:pPr>
            <a:r>
              <a:rPr lang="en-US" sz="1250" dirty="0">
                <a:solidFill>
                  <a:srgbClr val="0A0A0B"/>
                </a:solidFill>
              </a:rPr>
              <a:t>Act 3 · courts: Prompt Guard 2 screens reviews, then Muse Glimmer judges (shown at 14×, labelled)</a:t>
            </a:r>
            <a:endParaRPr lang="en-US" sz="1250" dirty="0"/>
          </a:p>
        </p:txBody>
      </p:sp>
      <p:sp>
        <p:nvSpPr>
          <p:cNvPr id="20" name="Text 14"/>
          <p:cNvSpPr txBox="1"/>
          <p:nvPr/>
        </p:nvSpPr>
        <p:spPr>
          <a:xfrm>
            <a:off x="548640" y="5760720"/>
            <a:ext cx="11064240" cy="365760"/>
          </a:xfrm>
          <a:prstGeom prst="rect">
            <a:avLst/>
          </a:prstGeom>
          <a:noFill/>
          <a:ln/>
        </p:spPr>
        <p:txBody>
          <a:bodyPr wrap="square" lIns="0" tIns="0" rIns="0" bIns="0" rtlCol="0" anchor="t"/>
          <a:lstStyle/>
          <a:p>
            <a:pPr indent="0" marL="0">
              <a:buNone/>
            </a:pPr>
            <a:r>
              <a:rPr lang="en-US" sz="1200" i="1" dirty="0">
                <a:solidFill>
                  <a:srgbClr val="55555C"/>
                </a:solidFill>
              </a:rPr>
              <a:t>Every speed-up is labelled on screen. The video shows only what this deck lists as built during the hackathon (slide 18).</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Auto-cut highlights to Instagram</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Oct 28 – Nov 4, 2026, during the hackathon · demo video 2:27 · what is new and what is not: slide 18</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  ·  live: https://play.theminimallab.com</a:t>
            </a:r>
            <a:endParaRPr lang="en-US" sz="1300" dirty="0"/>
          </a:p>
        </p:txBody>
      </p:sp>
      <p:sp>
        <p:nvSpPr>
          <p:cNvPr id="14" name="Text 11"/>
          <p:cNvSpPr txBox="1"/>
          <p:nvPr/>
        </p:nvSpPr>
        <p:spPr>
          <a:xfrm>
            <a:off x="914400" y="6035040"/>
            <a:ext cx="10362895" cy="329184"/>
          </a:xfrm>
          <a:prstGeom prst="rect">
            <a:avLst/>
          </a:prstGeom>
          <a:noFill/>
          <a:ln/>
        </p:spPr>
        <p:txBody>
          <a:bodyPr wrap="square" lIns="0" tIns="0" rIns="0" bIns="0" rtlCol="0" anchor="ctr"/>
          <a:lstStyle/>
          <a:p>
            <a:pPr algn="ctr" indent="0" marL="0">
              <a:buNone/>
            </a:pPr>
            <a:r>
              <a:rPr lang="en-US" sz="1300" dirty="0">
                <a:solidFill>
                  <a:srgbClr val="55555C"/>
                </a:solidFill>
              </a:rPr>
              <a:t>The product runs Muse Glimmer on an RTX 3090 I own; cloud A100s ran evaluations, including the A2A test's second gateway</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31520" y="2194560"/>
            <a:ext cx="10058400" cy="365760"/>
          </a:xfrm>
          <a:prstGeom prst="rect">
            <a:avLst/>
          </a:prstGeom>
          <a:noFill/>
          <a:ln/>
        </p:spPr>
        <p:txBody>
          <a:bodyPr wrap="square" lIns="0" tIns="0" rIns="0" bIns="0" rtlCol="0" anchor="t"/>
          <a:lstStyle/>
          <a:p>
            <a:pPr indent="0" marL="0">
              <a:buNone/>
            </a:pPr>
            <a:r>
              <a:rPr lang="en-US" sz="1400" b="1" spc="200" kern="0" dirty="0">
                <a:solidFill>
                  <a:srgbClr val="0A7F44"/>
                </a:solidFill>
              </a:rPr>
              <a:t>APPENDIX</a:t>
            </a:r>
            <a:endParaRPr lang="en-US" sz="1400" dirty="0"/>
          </a:p>
        </p:txBody>
      </p:sp>
      <p:sp>
        <p:nvSpPr>
          <p:cNvPr id="3" name="Text 1"/>
          <p:cNvSpPr txBox="1"/>
          <p:nvPr/>
        </p:nvSpPr>
        <p:spPr>
          <a:xfrm>
            <a:off x="731520" y="2606040"/>
            <a:ext cx="10515600" cy="822960"/>
          </a:xfrm>
          <a:prstGeom prst="rect">
            <a:avLst/>
          </a:prstGeom>
          <a:noFill/>
          <a:ln/>
        </p:spPr>
        <p:txBody>
          <a:bodyPr wrap="square" lIns="0" tIns="0" rIns="0" bIns="0" rtlCol="0" anchor="t"/>
          <a:lstStyle/>
          <a:p>
            <a:pPr indent="0" marL="0">
              <a:buNone/>
            </a:pPr>
            <a:r>
              <a:rPr lang="en-US" sz="4000" b="1" dirty="0">
                <a:solidFill>
                  <a:srgbClr val="0A0A0B"/>
                </a:solidFill>
              </a:rPr>
              <a:t>The details behind the main slides</a:t>
            </a:r>
            <a:endParaRPr lang="en-US" sz="4000" dirty="0"/>
          </a:p>
        </p:txBody>
      </p:sp>
      <p:sp>
        <p:nvSpPr>
          <p:cNvPr id="4" name="Text 2"/>
          <p:cNvSpPr txBox="1"/>
          <p:nvPr/>
        </p:nvSpPr>
        <p:spPr>
          <a:xfrm>
            <a:off x="731520" y="3611880"/>
            <a:ext cx="10515600" cy="1097280"/>
          </a:xfrm>
          <a:prstGeom prst="rect">
            <a:avLst/>
          </a:prstGeom>
          <a:noFill/>
          <a:ln/>
        </p:spPr>
        <p:txBody>
          <a:bodyPr wrap="square" lIns="0" tIns="0" rIns="0" bIns="0" rtlCol="0" anchor="t"/>
          <a:lstStyle/>
          <a:p>
            <a:pPr indent="0" marL="0">
              <a:buNone/>
            </a:pPr>
            <a:r>
              <a:rPr lang="en-US" sz="1600" dirty="0">
                <a:solidFill>
                  <a:srgbClr val="55555C"/>
                </a:solidFill>
              </a:rPr>
              <a:t>The agent and A2A · all 15 Meta models · the social app · auto-cut highlights · agents as members · voice · federated clubs · memory · agent architecture · scale · the self-evolving club · every number and its source · the full architecture</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26080"/>
            <a:ext cx="1554480" cy="310896"/>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get_week</a:t>
            </a:r>
            <a:endParaRPr lang="en-US" sz="1000" dirty="0"/>
          </a:p>
        </p:txBody>
      </p:sp>
      <p:sp>
        <p:nvSpPr>
          <p:cNvPr id="10" name="Shape 7"/>
          <p:cNvSpPr/>
          <p:nvPr/>
        </p:nvSpPr>
        <p:spPr>
          <a:xfrm>
            <a:off x="2423160" y="2926080"/>
            <a:ext cx="1554480" cy="310896"/>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42316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check_limits</a:t>
            </a:r>
            <a:endParaRPr lang="en-US" sz="1000" dirty="0"/>
          </a:p>
        </p:txBody>
      </p:sp>
      <p:sp>
        <p:nvSpPr>
          <p:cNvPr id="12" name="Shape 9"/>
          <p:cNvSpPr/>
          <p:nvPr/>
        </p:nvSpPr>
        <p:spPr>
          <a:xfrm>
            <a:off x="4069080" y="2926080"/>
            <a:ext cx="1554480" cy="310896"/>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406908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recall</a:t>
            </a:r>
            <a:endParaRPr lang="en-US" sz="1000" dirty="0"/>
          </a:p>
        </p:txBody>
      </p:sp>
      <p:sp>
        <p:nvSpPr>
          <p:cNvPr id="14" name="Shape 11"/>
          <p:cNvSpPr/>
          <p:nvPr/>
        </p:nvSpPr>
        <p:spPr>
          <a:xfrm>
            <a:off x="777240" y="3310128"/>
            <a:ext cx="1554480" cy="310896"/>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77724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find_partners</a:t>
            </a:r>
            <a:endParaRPr lang="en-US" sz="1000" dirty="0"/>
          </a:p>
        </p:txBody>
      </p:sp>
      <p:sp>
        <p:nvSpPr>
          <p:cNvPr id="16" name="Shape 13"/>
          <p:cNvSpPr/>
          <p:nvPr/>
        </p:nvSpPr>
        <p:spPr>
          <a:xfrm>
            <a:off x="2423160" y="3310128"/>
            <a:ext cx="1554480" cy="310896"/>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242316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find_places</a:t>
            </a:r>
            <a:endParaRPr lang="en-US" sz="1000" dirty="0"/>
          </a:p>
        </p:txBody>
      </p:sp>
      <p:sp>
        <p:nvSpPr>
          <p:cNvPr id="18" name="Shape 15"/>
          <p:cNvSpPr/>
          <p:nvPr/>
        </p:nvSpPr>
        <p:spPr>
          <a:xfrm>
            <a:off x="4069080" y="3310128"/>
            <a:ext cx="1554480" cy="310896"/>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406908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negotiate</a:t>
            </a:r>
            <a:endParaRPr lang="en-US" sz="1000" dirty="0"/>
          </a:p>
        </p:txBody>
      </p:sp>
      <p:sp>
        <p:nvSpPr>
          <p:cNvPr id="20" name="Shape 17"/>
          <p:cNvSpPr/>
          <p:nvPr/>
        </p:nvSpPr>
        <p:spPr>
          <a:xfrm>
            <a:off x="777240" y="3694176"/>
            <a:ext cx="1554480" cy="310896"/>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77724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request_approval</a:t>
            </a:r>
            <a:endParaRPr lang="en-US" sz="1000" dirty="0"/>
          </a:p>
        </p:txBody>
      </p:sp>
      <p:sp>
        <p:nvSpPr>
          <p:cNvPr id="22" name="Shape 19"/>
          <p:cNvSpPr/>
          <p:nvPr/>
        </p:nvSpPr>
        <p:spPr>
          <a:xfrm>
            <a:off x="2423160" y="3694176"/>
            <a:ext cx="1554480" cy="310896"/>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242316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nudge</a:t>
            </a:r>
            <a:endParaRPr lang="en-US" sz="1000" dirty="0"/>
          </a:p>
        </p:txBody>
      </p:sp>
      <p:sp>
        <p:nvSpPr>
          <p:cNvPr id="24" name="Shape 21"/>
          <p:cNvSpPr/>
          <p:nvPr/>
        </p:nvSpPr>
        <p:spPr>
          <a:xfrm>
            <a:off x="4069080" y="3694176"/>
            <a:ext cx="1554480" cy="310896"/>
          </a:xfrm>
          <a:prstGeom prst="roundRect">
            <a:avLst>
              <a:gd name="adj" fmla="val 50000"/>
            </a:avLst>
          </a:prstGeom>
          <a:solidFill>
            <a:srgbClr val="E9F3EC"/>
          </a:solidFill>
          <a:ln w="12700">
            <a:solidFill>
              <a:srgbClr val="E9F3EC"/>
            </a:solidFill>
            <a:prstDash val="solid"/>
          </a:ln>
        </p:spPr>
      </p:sp>
      <p:sp>
        <p:nvSpPr>
          <p:cNvPr id="25" name="Text 22"/>
          <p:cNvSpPr txBox="1"/>
          <p:nvPr/>
        </p:nvSpPr>
        <p:spPr>
          <a:xfrm>
            <a:off x="406908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finish</a:t>
            </a:r>
            <a:endParaRPr lang="en-US" sz="1000" dirty="0"/>
          </a:p>
        </p:txBody>
      </p:sp>
      <p:sp>
        <p:nvSpPr>
          <p:cNvPr id="26" name="Text 23"/>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7" name="Shape 24"/>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8" name="Text 25"/>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9" name="Text 26"/>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30" name="Text 27"/>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31" name="Text 28"/>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2" name="Text 29"/>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Usually one round</a:t>
            </a:r>
            <a:endParaRPr lang="en-US" sz="1250" dirty="0"/>
          </a:p>
        </p:txBody>
      </p:sp>
      <p:sp>
        <p:nvSpPr>
          <p:cNvPr id="33" name="Text 30"/>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 a counter-offer if none fits</a:t>
            </a:r>
            <a:endParaRPr lang="en-US" sz="1200" dirty="0"/>
          </a:p>
        </p:txBody>
      </p:sp>
      <p:sp>
        <p:nvSpPr>
          <p:cNvPr id="34" name="Text 31"/>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5" name="Text 32"/>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6" name="Text 33"/>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7" name="Text 34"/>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8" name="Shape 35"/>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9" name="Text 36"/>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40" name="Text 37"/>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ALL 15 META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12 in the product, 3 for checks</a:t>
            </a:r>
            <a:endParaRPr lang="en-US" sz="3200" dirty="0"/>
          </a:p>
        </p:txBody>
      </p:sp>
      <p:sp>
        <p:nvSpPr>
          <p:cNvPr id="5" name="Shape 2"/>
          <p:cNvSpPr/>
          <p:nvPr/>
        </p:nvSpPr>
        <p:spPr>
          <a:xfrm>
            <a:off x="548640" y="1645920"/>
            <a:ext cx="1764792"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676656"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7" name="Text 4"/>
          <p:cNvSpPr txBox="1"/>
          <p:nvPr/>
        </p:nvSpPr>
        <p:spPr>
          <a:xfrm>
            <a:off x="67665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Glimmer</a:t>
            </a:r>
            <a:endParaRPr lang="en-US" sz="1250" dirty="0"/>
          </a:p>
        </p:txBody>
      </p:sp>
      <p:sp>
        <p:nvSpPr>
          <p:cNvPr id="8" name="Text 5"/>
          <p:cNvSpPr txBox="1"/>
          <p:nvPr/>
        </p:nvSpPr>
        <p:spPr>
          <a:xfrm>
            <a:off x="67665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agent: the tool loop, members' decisions, photos, courts, captions</a:t>
            </a:r>
            <a:endParaRPr lang="en-US" sz="850" dirty="0"/>
          </a:p>
        </p:txBody>
      </p:sp>
      <p:sp>
        <p:nvSpPr>
          <p:cNvPr id="9" name="Text 6"/>
          <p:cNvSpPr txBox="1"/>
          <p:nvPr/>
        </p:nvSpPr>
        <p:spPr>
          <a:xfrm>
            <a:off x="67665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RTX 3090 · Ollama · 4 in parallel</a:t>
            </a:r>
            <a:endParaRPr lang="en-US" sz="800" dirty="0"/>
          </a:p>
        </p:txBody>
      </p:sp>
      <p:sp>
        <p:nvSpPr>
          <p:cNvPr id="10" name="Shape 7"/>
          <p:cNvSpPr/>
          <p:nvPr/>
        </p:nvSpPr>
        <p:spPr>
          <a:xfrm>
            <a:off x="2404872" y="1645920"/>
            <a:ext cx="1764792"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2532888"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12" name="Text 9"/>
          <p:cNvSpPr txBox="1"/>
          <p:nvPr/>
        </p:nvSpPr>
        <p:spPr>
          <a:xfrm>
            <a:off x="2532888"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3.2 1B</a:t>
            </a:r>
            <a:endParaRPr lang="en-US" sz="1250" dirty="0"/>
          </a:p>
        </p:txBody>
      </p:sp>
      <p:sp>
        <p:nvSpPr>
          <p:cNvPr id="13" name="Text 10"/>
          <p:cNvSpPr txBox="1"/>
          <p:nvPr/>
        </p:nvSpPr>
        <p:spPr>
          <a:xfrm>
            <a:off x="2532888"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Distilled from Glimmer; answers alone when sure</a:t>
            </a:r>
            <a:endParaRPr lang="en-US" sz="850" dirty="0"/>
          </a:p>
        </p:txBody>
      </p:sp>
      <p:sp>
        <p:nvSpPr>
          <p:cNvPr id="14" name="Text 11"/>
          <p:cNvSpPr txBox="1"/>
          <p:nvPr/>
        </p:nvSpPr>
        <p:spPr>
          <a:xfrm>
            <a:off x="2532888"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in the app</a:t>
            </a:r>
            <a:endParaRPr lang="en-US" sz="800" dirty="0"/>
          </a:p>
        </p:txBody>
      </p:sp>
      <p:sp>
        <p:nvSpPr>
          <p:cNvPr id="15" name="Shape 12"/>
          <p:cNvSpPr/>
          <p:nvPr/>
        </p:nvSpPr>
        <p:spPr>
          <a:xfrm>
            <a:off x="4261104" y="1645920"/>
            <a:ext cx="1764792"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4389120"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17" name="Text 14"/>
          <p:cNvSpPr txBox="1"/>
          <p:nvPr/>
        </p:nvSpPr>
        <p:spPr>
          <a:xfrm>
            <a:off x="4389120"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Guard 3 1B</a:t>
            </a:r>
            <a:endParaRPr lang="en-US" sz="1250" dirty="0"/>
          </a:p>
        </p:txBody>
      </p:sp>
      <p:sp>
        <p:nvSpPr>
          <p:cNvPr id="18" name="Text 15"/>
          <p:cNvSpPr txBox="1"/>
          <p:nvPr/>
        </p:nvSpPr>
        <p:spPr>
          <a:xfrm>
            <a:off x="4389120"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What you write, what a model writes, every idea shared with the club</a:t>
            </a:r>
            <a:endParaRPr lang="en-US" sz="850" dirty="0"/>
          </a:p>
        </p:txBody>
      </p:sp>
      <p:sp>
        <p:nvSpPr>
          <p:cNvPr id="19" name="Text 16"/>
          <p:cNvSpPr txBox="1"/>
          <p:nvPr/>
        </p:nvSpPr>
        <p:spPr>
          <a:xfrm>
            <a:off x="4389120"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20" name="Shape 17"/>
          <p:cNvSpPr/>
          <p:nvPr/>
        </p:nvSpPr>
        <p:spPr>
          <a:xfrm>
            <a:off x="6117336" y="1645920"/>
            <a:ext cx="1764792"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6245352"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22" name="Text 19"/>
          <p:cNvSpPr txBox="1"/>
          <p:nvPr/>
        </p:nvSpPr>
        <p:spPr>
          <a:xfrm>
            <a:off x="6245352"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Prompt Guard 2</a:t>
            </a:r>
            <a:endParaRPr lang="en-US" sz="1250" dirty="0"/>
          </a:p>
        </p:txBody>
      </p:sp>
      <p:sp>
        <p:nvSpPr>
          <p:cNvPr id="23" name="Text 20"/>
          <p:cNvSpPr txBox="1"/>
          <p:nvPr/>
        </p:nvSpPr>
        <p:spPr>
          <a:xfrm>
            <a:off x="6245352"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Google reviews before the court judge reads them; shared ideas</a:t>
            </a:r>
            <a:endParaRPr lang="en-US" sz="850" dirty="0"/>
          </a:p>
        </p:txBody>
      </p:sp>
      <p:sp>
        <p:nvSpPr>
          <p:cNvPr id="24" name="Text 21"/>
          <p:cNvSpPr txBox="1"/>
          <p:nvPr/>
        </p:nvSpPr>
        <p:spPr>
          <a:xfrm>
            <a:off x="6245352"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86M</a:t>
            </a:r>
            <a:endParaRPr lang="en-US" sz="800" dirty="0"/>
          </a:p>
        </p:txBody>
      </p:sp>
      <p:sp>
        <p:nvSpPr>
          <p:cNvPr id="25" name="Shape 22"/>
          <p:cNvSpPr/>
          <p:nvPr/>
        </p:nvSpPr>
        <p:spPr>
          <a:xfrm>
            <a:off x="7973568" y="1645920"/>
            <a:ext cx="1764792"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8101584"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MEMORY</a:t>
            </a:r>
            <a:endParaRPr lang="en-US" sz="850" dirty="0"/>
          </a:p>
        </p:txBody>
      </p:sp>
      <p:sp>
        <p:nvSpPr>
          <p:cNvPr id="27" name="Text 24"/>
          <p:cNvSpPr txBox="1"/>
          <p:nvPr/>
        </p:nvSpPr>
        <p:spPr>
          <a:xfrm>
            <a:off x="8101584"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DRAMA</a:t>
            </a:r>
            <a:endParaRPr lang="en-US" sz="1250" dirty="0"/>
          </a:p>
        </p:txBody>
      </p:sp>
      <p:sp>
        <p:nvSpPr>
          <p:cNvPr id="28" name="Text 25"/>
          <p:cNvSpPr txBox="1"/>
          <p:nvPr/>
        </p:nvSpPr>
        <p:spPr>
          <a:xfrm>
            <a:off x="8101584"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Agent memory: what matters for your week, by meaning</a:t>
            </a:r>
            <a:endParaRPr lang="en-US" sz="850" dirty="0"/>
          </a:p>
        </p:txBody>
      </p:sp>
      <p:sp>
        <p:nvSpPr>
          <p:cNvPr id="29" name="Text 26"/>
          <p:cNvSpPr txBox="1"/>
          <p:nvPr/>
        </p:nvSpPr>
        <p:spPr>
          <a:xfrm>
            <a:off x="8101584"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30" name="Shape 27"/>
          <p:cNvSpPr/>
          <p:nvPr/>
        </p:nvSpPr>
        <p:spPr>
          <a:xfrm>
            <a:off x="9829800" y="1645920"/>
            <a:ext cx="1764792"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9957816"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VOICE</a:t>
            </a:r>
            <a:endParaRPr lang="en-US" sz="850" dirty="0"/>
          </a:p>
        </p:txBody>
      </p:sp>
      <p:sp>
        <p:nvSpPr>
          <p:cNvPr id="32" name="Text 29"/>
          <p:cNvSpPr txBox="1"/>
          <p:nvPr/>
        </p:nvSpPr>
        <p:spPr>
          <a:xfrm>
            <a:off x="995781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Omnilingual ASR</a:t>
            </a:r>
            <a:endParaRPr lang="en-US" sz="1250" dirty="0"/>
          </a:p>
        </p:txBody>
      </p:sp>
      <p:sp>
        <p:nvSpPr>
          <p:cNvPr id="33" name="Text 30"/>
          <p:cNvSpPr txBox="1"/>
          <p:nvPr/>
        </p:nvSpPr>
        <p:spPr>
          <a:xfrm>
            <a:off x="995781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Voice notes in Messenger to text</a:t>
            </a:r>
            <a:endParaRPr lang="en-US" sz="850" dirty="0"/>
          </a:p>
        </p:txBody>
      </p:sp>
      <p:sp>
        <p:nvSpPr>
          <p:cNvPr id="34" name="Text 31"/>
          <p:cNvSpPr txBox="1"/>
          <p:nvPr/>
        </p:nvSpPr>
        <p:spPr>
          <a:xfrm>
            <a:off x="995781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CTC 1B</a:t>
            </a:r>
            <a:endParaRPr lang="en-US" sz="800" dirty="0"/>
          </a:p>
        </p:txBody>
      </p:sp>
      <p:sp>
        <p:nvSpPr>
          <p:cNvPr id="35" name="Shape 32"/>
          <p:cNvSpPr/>
          <p:nvPr/>
        </p:nvSpPr>
        <p:spPr>
          <a:xfrm>
            <a:off x="548640" y="3108960"/>
            <a:ext cx="1764792"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76656"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37" name="Text 34"/>
          <p:cNvSpPr txBox="1"/>
          <p:nvPr/>
        </p:nvSpPr>
        <p:spPr>
          <a:xfrm>
            <a:off x="67665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DETR</a:t>
            </a:r>
            <a:endParaRPr lang="en-US" sz="1250" dirty="0"/>
          </a:p>
        </p:txBody>
      </p:sp>
      <p:sp>
        <p:nvSpPr>
          <p:cNvPr id="38" name="Text 35"/>
          <p:cNvSpPr txBox="1"/>
          <p:nvPr/>
        </p:nvSpPr>
        <p:spPr>
          <a:xfrm>
            <a:off x="67665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people in your video, so the reel follows you</a:t>
            </a:r>
            <a:endParaRPr lang="en-US" sz="850" dirty="0"/>
          </a:p>
        </p:txBody>
      </p:sp>
      <p:sp>
        <p:nvSpPr>
          <p:cNvPr id="39" name="Text 36"/>
          <p:cNvSpPr txBox="1"/>
          <p:nvPr/>
        </p:nvSpPr>
        <p:spPr>
          <a:xfrm>
            <a:off x="67665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a:t>
            </a:r>
            <a:endParaRPr lang="en-US" sz="800" dirty="0"/>
          </a:p>
        </p:txBody>
      </p:sp>
      <p:sp>
        <p:nvSpPr>
          <p:cNvPr id="40" name="Shape 37"/>
          <p:cNvSpPr/>
          <p:nvPr/>
        </p:nvSpPr>
        <p:spPr>
          <a:xfrm>
            <a:off x="2404872" y="3108960"/>
            <a:ext cx="1764792"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2532888"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2" name="Text 39"/>
          <p:cNvSpPr txBox="1"/>
          <p:nvPr/>
        </p:nvSpPr>
        <p:spPr>
          <a:xfrm>
            <a:off x="2532888"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Sapiens2</a:t>
            </a:r>
            <a:endParaRPr lang="en-US" sz="1250" dirty="0"/>
          </a:p>
        </p:txBody>
      </p:sp>
      <p:sp>
        <p:nvSpPr>
          <p:cNvPr id="43" name="Text 40"/>
          <p:cNvSpPr txBox="1"/>
          <p:nvPr/>
        </p:nvSpPr>
        <p:spPr>
          <a:xfrm>
            <a:off x="2532888"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moment worth sharing in your clip</a:t>
            </a:r>
            <a:endParaRPr lang="en-US" sz="850" dirty="0"/>
          </a:p>
        </p:txBody>
      </p:sp>
      <p:sp>
        <p:nvSpPr>
          <p:cNvPr id="44" name="Text 41"/>
          <p:cNvSpPr txBox="1"/>
          <p:nvPr/>
        </p:nvSpPr>
        <p:spPr>
          <a:xfrm>
            <a:off x="2532888"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0.4B</a:t>
            </a:r>
            <a:endParaRPr lang="en-US" sz="800" dirty="0"/>
          </a:p>
        </p:txBody>
      </p:sp>
      <p:sp>
        <p:nvSpPr>
          <p:cNvPr id="45" name="Shape 42"/>
          <p:cNvSpPr/>
          <p:nvPr/>
        </p:nvSpPr>
        <p:spPr>
          <a:xfrm>
            <a:off x="4261104" y="3108960"/>
            <a:ext cx="1764792"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4389120"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7" name="Text 44"/>
          <p:cNvSpPr txBox="1"/>
          <p:nvPr/>
        </p:nvSpPr>
        <p:spPr>
          <a:xfrm>
            <a:off x="4389120"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2.1</a:t>
            </a:r>
            <a:endParaRPr lang="en-US" sz="1250" dirty="0"/>
          </a:p>
        </p:txBody>
      </p:sp>
      <p:sp>
        <p:nvSpPr>
          <p:cNvPr id="48" name="Text 45"/>
          <p:cNvSpPr txBox="1"/>
          <p:nvPr/>
        </p:nvSpPr>
        <p:spPr>
          <a:xfrm>
            <a:off x="4389120"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Cuts each player out for the spotlight and the drawn view</a:t>
            </a:r>
            <a:endParaRPr lang="en-US" sz="850" dirty="0"/>
          </a:p>
        </p:txBody>
      </p:sp>
      <p:sp>
        <p:nvSpPr>
          <p:cNvPr id="49" name="Text 46"/>
          <p:cNvSpPr txBox="1"/>
          <p:nvPr/>
        </p:nvSpPr>
        <p:spPr>
          <a:xfrm>
            <a:off x="4389120"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Hiera-L</a:t>
            </a:r>
            <a:endParaRPr lang="en-US" sz="800" dirty="0"/>
          </a:p>
        </p:txBody>
      </p:sp>
      <p:sp>
        <p:nvSpPr>
          <p:cNvPr id="50" name="Shape 47"/>
          <p:cNvSpPr/>
          <p:nvPr/>
        </p:nvSpPr>
        <p:spPr>
          <a:xfrm>
            <a:off x="6117336" y="3108960"/>
            <a:ext cx="1764792"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6245352"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3D</a:t>
            </a:r>
            <a:endParaRPr lang="en-US" sz="850" dirty="0"/>
          </a:p>
        </p:txBody>
      </p:sp>
      <p:sp>
        <p:nvSpPr>
          <p:cNvPr id="52" name="Text 49"/>
          <p:cNvSpPr txBox="1"/>
          <p:nvPr/>
        </p:nvSpPr>
        <p:spPr>
          <a:xfrm>
            <a:off x="6245352"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MapAnything</a:t>
            </a:r>
            <a:endParaRPr lang="en-US" sz="1250" dirty="0"/>
          </a:p>
        </p:txBody>
      </p:sp>
      <p:sp>
        <p:nvSpPr>
          <p:cNvPr id="53" name="Text 50"/>
          <p:cNvSpPr txBox="1"/>
          <p:nvPr/>
        </p:nvSpPr>
        <p:spPr>
          <a:xfrm>
            <a:off x="6245352"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Depth and the camera for the orbit camera effect</a:t>
            </a:r>
            <a:endParaRPr lang="en-US" sz="850" dirty="0"/>
          </a:p>
        </p:txBody>
      </p:sp>
      <p:sp>
        <p:nvSpPr>
          <p:cNvPr id="54" name="Text 51"/>
          <p:cNvSpPr txBox="1"/>
          <p:nvPr/>
        </p:nvSpPr>
        <p:spPr>
          <a:xfrm>
            <a:off x="6245352"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optional effect</a:t>
            </a:r>
            <a:endParaRPr lang="en-US" sz="800" dirty="0"/>
          </a:p>
        </p:txBody>
      </p:sp>
      <p:sp>
        <p:nvSpPr>
          <p:cNvPr id="55" name="Shape 52"/>
          <p:cNvSpPr/>
          <p:nvPr/>
        </p:nvSpPr>
        <p:spPr>
          <a:xfrm>
            <a:off x="7973568" y="3108960"/>
            <a:ext cx="1764792" cy="1353312"/>
          </a:xfrm>
          <a:prstGeom prst="roundRect">
            <a:avLst>
              <a:gd name="adj" fmla="val 8108"/>
            </a:avLst>
          </a:prstGeom>
          <a:solidFill>
            <a:srgbClr val="FBF3E6"/>
          </a:solidFill>
          <a:ln w="12700">
            <a:solidFill>
              <a:srgbClr val="FBF3E6"/>
            </a:solidFill>
            <a:prstDash val="solid"/>
          </a:ln>
        </p:spPr>
      </p:sp>
      <p:sp>
        <p:nvSpPr>
          <p:cNvPr id="56" name="Text 53"/>
          <p:cNvSpPr txBox="1"/>
          <p:nvPr/>
        </p:nvSpPr>
        <p:spPr>
          <a:xfrm>
            <a:off x="8101584"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57" name="Text 54"/>
          <p:cNvSpPr txBox="1"/>
          <p:nvPr/>
        </p:nvSpPr>
        <p:spPr>
          <a:xfrm>
            <a:off x="8101584"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Spark 1.3</a:t>
            </a:r>
            <a:endParaRPr lang="en-US" sz="1250" dirty="0"/>
          </a:p>
        </p:txBody>
      </p:sp>
      <p:sp>
        <p:nvSpPr>
          <p:cNvPr id="58" name="Text 55"/>
          <p:cNvSpPr txBox="1"/>
          <p:nvPr/>
        </p:nvSpPr>
        <p:spPr>
          <a:xfrm>
            <a:off x="8101584"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The fallback when my GPU can't answer; the builder's model for new code (Muse Code's family)</a:t>
            </a:r>
            <a:endParaRPr lang="en-US" sz="850" dirty="0"/>
          </a:p>
        </p:txBody>
      </p:sp>
      <p:sp>
        <p:nvSpPr>
          <p:cNvPr id="59" name="Text 56"/>
          <p:cNvSpPr txBox="1"/>
          <p:nvPr/>
        </p:nvSpPr>
        <p:spPr>
          <a:xfrm>
            <a:off x="8101584"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tested live</a:t>
            </a:r>
            <a:endParaRPr lang="en-US" sz="800" dirty="0"/>
          </a:p>
        </p:txBody>
      </p:sp>
      <p:sp>
        <p:nvSpPr>
          <p:cNvPr id="60" name="Shape 57"/>
          <p:cNvSpPr/>
          <p:nvPr/>
        </p:nvSpPr>
        <p:spPr>
          <a:xfrm>
            <a:off x="9829800" y="3108960"/>
            <a:ext cx="1764792" cy="1353312"/>
          </a:xfrm>
          <a:prstGeom prst="roundRect">
            <a:avLst>
              <a:gd name="adj" fmla="val 8108"/>
            </a:avLst>
          </a:prstGeom>
          <a:solidFill>
            <a:srgbClr val="FBF3E6"/>
          </a:solidFill>
          <a:ln w="12700">
            <a:solidFill>
              <a:srgbClr val="FBF3E6"/>
            </a:solidFill>
            <a:prstDash val="solid"/>
          </a:ln>
        </p:spPr>
      </p:sp>
      <p:sp>
        <p:nvSpPr>
          <p:cNvPr id="61" name="Text 58"/>
          <p:cNvSpPr txBox="1"/>
          <p:nvPr/>
        </p:nvSpPr>
        <p:spPr>
          <a:xfrm>
            <a:off x="9957816"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2" name="Text 59"/>
          <p:cNvSpPr txBox="1"/>
          <p:nvPr/>
        </p:nvSpPr>
        <p:spPr>
          <a:xfrm>
            <a:off x="995781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3.1</a:t>
            </a:r>
            <a:endParaRPr lang="en-US" sz="1250" dirty="0"/>
          </a:p>
        </p:txBody>
      </p:sp>
      <p:sp>
        <p:nvSpPr>
          <p:cNvPr id="63" name="Text 60"/>
          <p:cNvSpPr txBox="1"/>
          <p:nvPr/>
        </p:nvSpPr>
        <p:spPr>
          <a:xfrm>
            <a:off x="995781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Checked on the smash against SAM 2.1: same player, IoU 0.97</a:t>
            </a:r>
            <a:endParaRPr lang="en-US" sz="850" dirty="0"/>
          </a:p>
        </p:txBody>
      </p:sp>
      <p:sp>
        <p:nvSpPr>
          <p:cNvPr id="64" name="Text 61"/>
          <p:cNvSpPr txBox="1"/>
          <p:nvPr/>
        </p:nvSpPr>
        <p:spPr>
          <a:xfrm>
            <a:off x="995781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one call</a:t>
            </a:r>
            <a:endParaRPr lang="en-US" sz="800" dirty="0"/>
          </a:p>
        </p:txBody>
      </p:sp>
      <p:sp>
        <p:nvSpPr>
          <p:cNvPr id="65" name="Shape 62"/>
          <p:cNvSpPr/>
          <p:nvPr/>
        </p:nvSpPr>
        <p:spPr>
          <a:xfrm>
            <a:off x="548640" y="4572000"/>
            <a:ext cx="1764792" cy="1353312"/>
          </a:xfrm>
          <a:prstGeom prst="roundRect">
            <a:avLst>
              <a:gd name="adj" fmla="val 8108"/>
            </a:avLst>
          </a:prstGeom>
          <a:solidFill>
            <a:srgbClr val="FBF3E6"/>
          </a:solidFill>
          <a:ln w="12700">
            <a:solidFill>
              <a:srgbClr val="FBF3E6"/>
            </a:solidFill>
            <a:prstDash val="solid"/>
          </a:ln>
        </p:spPr>
      </p:sp>
      <p:sp>
        <p:nvSpPr>
          <p:cNvPr id="66" name="Text 63"/>
          <p:cNvSpPr txBox="1"/>
          <p:nvPr/>
        </p:nvSpPr>
        <p:spPr>
          <a:xfrm>
            <a:off x="676656"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7" name="Text 64"/>
          <p:cNvSpPr txBox="1"/>
          <p:nvPr/>
        </p:nvSpPr>
        <p:spPr>
          <a:xfrm>
            <a:off x="676656"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Image</a:t>
            </a:r>
            <a:endParaRPr lang="en-US" sz="1250" dirty="0"/>
          </a:p>
        </p:txBody>
      </p:sp>
      <p:sp>
        <p:nvSpPr>
          <p:cNvPr id="68" name="Text 65"/>
          <p:cNvSpPr txBox="1"/>
          <p:nvPr/>
        </p:nvSpPr>
        <p:spPr>
          <a:xfrm>
            <a:off x="676656"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Rematch poster art; a face for every agent, made once</a:t>
            </a:r>
            <a:endParaRPr lang="en-US" sz="850" dirty="0"/>
          </a:p>
        </p:txBody>
      </p:sp>
      <p:sp>
        <p:nvSpPr>
          <p:cNvPr id="69" name="Text 66"/>
          <p:cNvSpPr txBox="1"/>
          <p:nvPr/>
        </p:nvSpPr>
        <p:spPr>
          <a:xfrm>
            <a:off x="676656"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$0.01 an image</a:t>
            </a:r>
            <a:endParaRPr lang="en-US" sz="800" dirty="0"/>
          </a:p>
        </p:txBody>
      </p:sp>
      <p:sp>
        <p:nvSpPr>
          <p:cNvPr id="70" name="Shape 67"/>
          <p:cNvSpPr/>
          <p:nvPr/>
        </p:nvSpPr>
        <p:spPr>
          <a:xfrm>
            <a:off x="2404872" y="4572000"/>
            <a:ext cx="1764792" cy="1353312"/>
          </a:xfrm>
          <a:prstGeom prst="roundRect">
            <a:avLst>
              <a:gd name="adj" fmla="val 8108"/>
            </a:avLst>
          </a:prstGeom>
          <a:solidFill>
            <a:srgbClr val="FBF3E6"/>
          </a:solidFill>
          <a:ln w="12700">
            <a:solidFill>
              <a:srgbClr val="FBF3E6"/>
            </a:solidFill>
            <a:prstDash val="solid"/>
          </a:ln>
        </p:spPr>
      </p:sp>
      <p:sp>
        <p:nvSpPr>
          <p:cNvPr id="71" name="Text 68"/>
          <p:cNvSpPr txBox="1"/>
          <p:nvPr/>
        </p:nvSpPr>
        <p:spPr>
          <a:xfrm>
            <a:off x="2532888"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2" name="Text 69"/>
          <p:cNvSpPr txBox="1"/>
          <p:nvPr/>
        </p:nvSpPr>
        <p:spPr>
          <a:xfrm>
            <a:off x="2532888"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Wonder</a:t>
            </a:r>
            <a:endParaRPr lang="en-US" sz="1250" dirty="0"/>
          </a:p>
        </p:txBody>
      </p:sp>
      <p:sp>
        <p:nvSpPr>
          <p:cNvPr id="73" name="Text 70"/>
          <p:cNvSpPr txBox="1"/>
          <p:nvPr/>
        </p:nvSpPr>
        <p:spPr>
          <a:xfrm>
            <a:off x="2532888"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Judges orbit frames for a doubled net or a smear, beside the pixel rule</a:t>
            </a:r>
            <a:endParaRPr lang="en-US" sz="850" dirty="0"/>
          </a:p>
        </p:txBody>
      </p:sp>
      <p:sp>
        <p:nvSpPr>
          <p:cNvPr id="74" name="Text 71"/>
          <p:cNvSpPr txBox="1"/>
          <p:nvPr/>
        </p:nvSpPr>
        <p:spPr>
          <a:xfrm>
            <a:off x="2532888"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84 frames</a:t>
            </a:r>
            <a:endParaRPr lang="en-US" sz="800" dirty="0"/>
          </a:p>
        </p:txBody>
      </p:sp>
      <p:sp>
        <p:nvSpPr>
          <p:cNvPr id="75" name="Shape 72"/>
          <p:cNvSpPr/>
          <p:nvPr/>
        </p:nvSpPr>
        <p:spPr>
          <a:xfrm>
            <a:off x="4261104" y="4572000"/>
            <a:ext cx="1764792" cy="1353312"/>
          </a:xfrm>
          <a:prstGeom prst="roundRect">
            <a:avLst>
              <a:gd name="adj" fmla="val 8108"/>
            </a:avLst>
          </a:prstGeom>
          <a:solidFill>
            <a:srgbClr val="FBF3E6"/>
          </a:solidFill>
          <a:ln w="12700">
            <a:solidFill>
              <a:srgbClr val="FBF3E6"/>
            </a:solidFill>
            <a:prstDash val="solid"/>
          </a:ln>
        </p:spPr>
      </p:sp>
      <p:sp>
        <p:nvSpPr>
          <p:cNvPr id="76" name="Text 73"/>
          <p:cNvSpPr txBox="1"/>
          <p:nvPr/>
        </p:nvSpPr>
        <p:spPr>
          <a:xfrm>
            <a:off x="4389120"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7" name="Text 74"/>
          <p:cNvSpPr txBox="1"/>
          <p:nvPr/>
        </p:nvSpPr>
        <p:spPr>
          <a:xfrm>
            <a:off x="4389120"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Voice</a:t>
            </a:r>
            <a:endParaRPr lang="en-US" sz="1250" dirty="0"/>
          </a:p>
        </p:txBody>
      </p:sp>
      <p:sp>
        <p:nvSpPr>
          <p:cNvPr id="78" name="Text 75"/>
          <p:cNvSpPr txBox="1"/>
          <p:nvPr/>
        </p:nvSpPr>
        <p:spPr>
          <a:xfrm>
            <a:off x="4389120"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Transcribe, realtime: talk with your agent and cut in when you like</a:t>
            </a:r>
            <a:endParaRPr lang="en-US" sz="850" dirty="0"/>
          </a:p>
        </p:txBody>
      </p:sp>
      <p:sp>
        <p:nvSpPr>
          <p:cNvPr id="79" name="Text 76"/>
          <p:cNvSpPr txBox="1"/>
          <p:nvPr/>
        </p:nvSpPr>
        <p:spPr>
          <a:xfrm>
            <a:off x="4389120"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Transcribe</a:t>
            </a:r>
            <a:endParaRPr lang="en-US" sz="800" dirty="0"/>
          </a:p>
        </p:txBody>
      </p:sp>
      <p:sp>
        <p:nvSpPr>
          <p:cNvPr id="80" name="Shape 77"/>
          <p:cNvSpPr/>
          <p:nvPr/>
        </p:nvSpPr>
        <p:spPr>
          <a:xfrm>
            <a:off x="6117336" y="4572000"/>
            <a:ext cx="1764792" cy="1353312"/>
          </a:xfrm>
          <a:prstGeom prst="roundRect">
            <a:avLst>
              <a:gd name="adj" fmla="val 8108"/>
            </a:avLst>
          </a:prstGeom>
          <a:solidFill>
            <a:srgbClr val="FFFFFF"/>
          </a:solidFill>
          <a:ln w="12700">
            <a:solidFill>
              <a:srgbClr val="DCDCE0"/>
            </a:solidFill>
            <a:prstDash val="solid"/>
          </a:ln>
        </p:spPr>
      </p:sp>
      <p:sp>
        <p:nvSpPr>
          <p:cNvPr id="81" name="Text 78"/>
          <p:cNvSpPr txBox="1"/>
          <p:nvPr/>
        </p:nvSpPr>
        <p:spPr>
          <a:xfrm>
            <a:off x="6245352" y="469087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PRODUCT</a:t>
            </a:r>
            <a:endParaRPr lang="en-US" sz="850" dirty="0"/>
          </a:p>
        </p:txBody>
      </p:sp>
      <p:pic>
        <p:nvPicPr>
          <p:cNvPr id="82" name="Image 0" descr="preencoded.png">    </p:cNvPr>
          <p:cNvPicPr>
            <a:picLocks noChangeAspect="1"/>
          </p:cNvPicPr>
          <p:nvPr/>
        </p:nvPicPr>
        <p:blipFill>
          <a:blip r:embed="rId1"/>
          <a:stretch>
            <a:fillRect/>
          </a:stretch>
        </p:blipFill>
        <p:spPr>
          <a:xfrm>
            <a:off x="7470648" y="4681728"/>
            <a:ext cx="256032" cy="256032"/>
          </a:xfrm>
          <a:prstGeom prst="rect">
            <a:avLst/>
          </a:prstGeom>
        </p:spPr>
      </p:pic>
      <p:sp>
        <p:nvSpPr>
          <p:cNvPr id="83" name="Text 79"/>
          <p:cNvSpPr txBox="1"/>
          <p:nvPr/>
        </p:nvSpPr>
        <p:spPr>
          <a:xfrm>
            <a:off x="6245352" y="4919472"/>
            <a:ext cx="1307592" cy="274320"/>
          </a:xfrm>
          <a:prstGeom prst="rect">
            <a:avLst/>
          </a:prstGeom>
          <a:noFill/>
          <a:ln/>
        </p:spPr>
        <p:txBody>
          <a:bodyPr wrap="square" lIns="0" tIns="0" rIns="0" bIns="0" rtlCol="0" anchor="t"/>
          <a:lstStyle/>
          <a:p>
            <a:pPr indent="0" marL="0">
              <a:buNone/>
            </a:pPr>
            <a:r>
              <a:rPr lang="en-US" sz="1250" b="1" dirty="0">
                <a:solidFill>
                  <a:srgbClr val="0A0A0B"/>
                </a:solidFill>
              </a:rPr>
              <a:t>Meta apps</a:t>
            </a:r>
            <a:endParaRPr lang="en-US" sz="1250" dirty="0"/>
          </a:p>
        </p:txBody>
      </p:sp>
      <p:sp>
        <p:nvSpPr>
          <p:cNvPr id="84" name="Text 80"/>
          <p:cNvSpPr txBox="1"/>
          <p:nvPr/>
        </p:nvSpPr>
        <p:spPr>
          <a:xfrm>
            <a:off x="6245352"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Not in the 15. Messenger: your agent in your chats; Facebook or IG login; share reels</a:t>
            </a:r>
            <a:endParaRPr lang="en-US" sz="850" dirty="0"/>
          </a:p>
        </p:txBody>
      </p:sp>
      <p:sp>
        <p:nvSpPr>
          <p:cNvPr id="85" name="Text 81"/>
          <p:cNvSpPr txBox="1"/>
          <p:nvPr/>
        </p:nvSpPr>
        <p:spPr>
          <a:xfrm>
            <a:off x="6245352"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Webhook · Send API · Login</a:t>
            </a:r>
            <a:endParaRPr lang="en-US" sz="800" dirty="0"/>
          </a:p>
        </p:txBody>
      </p:sp>
      <p:sp>
        <p:nvSpPr>
          <p:cNvPr id="86" name="Text 82"/>
          <p:cNvSpPr txBox="1"/>
          <p:nvPr/>
        </p:nvSpPr>
        <p:spPr>
          <a:xfrm>
            <a:off x="548640" y="6089904"/>
            <a:ext cx="10972800" cy="274320"/>
          </a:xfrm>
          <a:prstGeom prst="rect">
            <a:avLst/>
          </a:prstGeom>
          <a:noFill/>
          <a:ln/>
        </p:spPr>
        <p:txBody>
          <a:bodyPr wrap="square" lIns="0" tIns="0" rIns="0" bIns="0" rtlCol="0" anchor="ctr"/>
          <a:lstStyle/>
          <a:p>
            <a:pPr indent="0" marL="0">
              <a:buNone/>
            </a:pPr>
            <a:r>
              <a:rPr lang="en-US" sz="1200" b="1" dirty="0">
                <a:solidFill>
                  <a:srgbClr val="0A0A0B"/>
                </a:solidFill>
              </a:rPr>
              <a:t>10 open weights on my server (GPU and CPU); 5 on the Meta Model API. Spark, SAM 3.1 and Wonder: fallback and checks.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THE SOCIAL APP</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(a demo account here)</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691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02536"/>
            <a:ext cx="3611880" cy="822960"/>
          </a:xfrm>
          <a:prstGeom prst="rect">
            <a:avLst/>
          </a:prstGeom>
          <a:noFill/>
          <a:ln/>
        </p:spPr>
        <p:txBody>
          <a:bodyPr wrap="square" lIns="0" tIns="0" rIns="0" bIns="0" rtlCol="0" anchor="t"/>
          <a:lstStyle/>
          <a:p>
            <a:pPr indent="0" marL="0">
              <a:buNone/>
            </a:pPr>
            <a:r>
              <a:rPr lang="en-US" sz="1150" dirty="0">
                <a:solidFill>
                  <a:srgbClr val="55555C"/>
                </a:solidFill>
              </a:rPr>
              <a:t>Facebook and Instagram Login, done on the server; Serve keeps a name, a picture and a hash of the id. Here, a demo account until the club's Meta app is approved.</a:t>
            </a:r>
            <a:endParaRPr lang="en-US" sz="115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member's agent cuts the highlight from their own video and posts it only after their yes.</a:t>
            </a:r>
            <a:endParaRPr lang="en-US" sz="1150" dirty="0"/>
          </a:p>
        </p:txBody>
      </p:sp>
      <p:sp>
        <p:nvSpPr>
          <p:cNvPr id="18" name="Text 12"/>
          <p:cNvSpPr txBox="1"/>
          <p:nvPr/>
        </p:nvSpPr>
        <p:spPr>
          <a:xfrm>
            <a:off x="8001000" y="3977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88536"/>
            <a:ext cx="3611880" cy="822960"/>
          </a:xfrm>
          <a:prstGeom prst="rect">
            <a:avLst/>
          </a:prstGeom>
          <a:noFill/>
          <a:ln/>
        </p:spPr>
        <p:txBody>
          <a:bodyPr wrap="square" lIns="0" tIns="0" rIns="0" bIns="0" rtlCol="0" anchor="t"/>
          <a:lstStyle/>
          <a:p>
            <a:pPr indent="0" marL="0">
              <a:buNone/>
            </a:pPr>
            <a:r>
              <a:rPr lang="en-US" sz="1150" dirty="0">
                <a:solidFill>
                  <a:srgbClr val="55555C"/>
                </a:solidFill>
              </a:rPr>
              <a:t>Join with a tap. The poster's agent answers in the comments with facts made by code: who is in, spots left.</a:t>
            </a:r>
            <a:endParaRPr lang="en-US" sz="1150" dirty="0"/>
          </a:p>
        </p:txBody>
      </p:sp>
      <p:sp>
        <p:nvSpPr>
          <p:cNvPr id="20" name="Text 14"/>
          <p:cNvSpPr txBox="1"/>
          <p:nvPr/>
        </p:nvSpPr>
        <p:spPr>
          <a:xfrm>
            <a:off x="8001000" y="5120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431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person, an agent and whose, and Simulated for the demo club's made-up members.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THURSDAY · AUTO-EDITED · FOUR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video, cut automatically into a clip to share</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moment worth sharing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 SAM 3.1 checked it once</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up to 12°</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cuts her out; MapAnything reads depth · SAM 3.1 agrees: box IoU 0.97</a:t>
            </a:r>
            <a:endParaRPr lang="en-US" sz="1000" dirty="0"/>
          </a:p>
        </p:txBody>
      </p:sp>
      <p:sp>
        <p:nvSpPr>
          <p:cNvPr id="28" name="Shape 23"/>
          <p:cNvSpPr/>
          <p:nvPr/>
        </p:nvSpPr>
        <p:spPr>
          <a:xfrm>
            <a:off x="6172200" y="4937760"/>
            <a:ext cx="1600200" cy="1371600"/>
          </a:xfrm>
          <a:prstGeom prst="roundRect">
            <a:avLst>
              <a:gd name="adj" fmla="val 8000"/>
            </a:avLst>
          </a:prstGeom>
          <a:solidFill>
            <a:srgbClr val="0A0A0B"/>
          </a:solidFill>
          <a:ln w="12700">
            <a:solidFill>
              <a:srgbClr val="0A0A0B"/>
            </a:solidFill>
            <a:prstDash val="solid"/>
          </a:ln>
        </p:spPr>
      </p:sp>
      <p:sp>
        <p:nvSpPr>
          <p:cNvPr id="29" name="Shape 24"/>
          <p:cNvSpPr/>
          <p:nvPr/>
        </p:nvSpPr>
        <p:spPr>
          <a:xfrm>
            <a:off x="7211375" y="5794028"/>
            <a:ext cx="54864" cy="54864"/>
          </a:xfrm>
          <a:prstGeom prst="ellipse">
            <a:avLst/>
          </a:prstGeom>
          <a:solidFill>
            <a:srgbClr val="5FD39A"/>
          </a:solidFill>
          <a:ln w="12700">
            <a:solidFill>
              <a:srgbClr val="5FD39A"/>
            </a:solidFill>
            <a:prstDash val="solid"/>
          </a:ln>
        </p:spPr>
      </p:sp>
      <p:sp>
        <p:nvSpPr>
          <p:cNvPr id="30" name="Shape 25"/>
          <p:cNvSpPr/>
          <p:nvPr/>
        </p:nvSpPr>
        <p:spPr>
          <a:xfrm>
            <a:off x="7180975" y="5811580"/>
            <a:ext cx="54864" cy="54864"/>
          </a:xfrm>
          <a:prstGeom prst="ellipse">
            <a:avLst/>
          </a:prstGeom>
          <a:solidFill>
            <a:srgbClr val="5FD39A"/>
          </a:solidFill>
          <a:ln w="12700">
            <a:solidFill>
              <a:srgbClr val="5FD39A"/>
            </a:solidFill>
            <a:prstDash val="solid"/>
          </a:ln>
        </p:spPr>
      </p:sp>
      <p:sp>
        <p:nvSpPr>
          <p:cNvPr id="31" name="Shape 26"/>
          <p:cNvSpPr/>
          <p:nvPr/>
        </p:nvSpPr>
        <p:spPr>
          <a:xfrm>
            <a:off x="7149424" y="5826968"/>
            <a:ext cx="54864" cy="54864"/>
          </a:xfrm>
          <a:prstGeom prst="ellipse">
            <a:avLst/>
          </a:prstGeom>
          <a:solidFill>
            <a:srgbClr val="5FD39A"/>
          </a:solidFill>
          <a:ln w="12700">
            <a:solidFill>
              <a:srgbClr val="5FD39A"/>
            </a:solidFill>
            <a:prstDash val="solid"/>
          </a:ln>
        </p:spPr>
      </p:sp>
      <p:sp>
        <p:nvSpPr>
          <p:cNvPr id="32" name="Shape 27"/>
          <p:cNvSpPr/>
          <p:nvPr/>
        </p:nvSpPr>
        <p:spPr>
          <a:xfrm>
            <a:off x="7116877" y="5840118"/>
            <a:ext cx="54864" cy="54864"/>
          </a:xfrm>
          <a:prstGeom prst="ellipse">
            <a:avLst/>
          </a:prstGeom>
          <a:solidFill>
            <a:srgbClr val="5FD39A"/>
          </a:solidFill>
          <a:ln w="12700">
            <a:solidFill>
              <a:srgbClr val="5FD39A"/>
            </a:solidFill>
            <a:prstDash val="solid"/>
          </a:ln>
        </p:spPr>
      </p:sp>
      <p:sp>
        <p:nvSpPr>
          <p:cNvPr id="33" name="Shape 28"/>
          <p:cNvSpPr/>
          <p:nvPr/>
        </p:nvSpPr>
        <p:spPr>
          <a:xfrm>
            <a:off x="7083492" y="5850966"/>
            <a:ext cx="54864" cy="54864"/>
          </a:xfrm>
          <a:prstGeom prst="ellipse">
            <a:avLst/>
          </a:prstGeom>
          <a:solidFill>
            <a:srgbClr val="5FD39A"/>
          </a:solidFill>
          <a:ln w="12700">
            <a:solidFill>
              <a:srgbClr val="5FD39A"/>
            </a:solidFill>
            <a:prstDash val="solid"/>
          </a:ln>
        </p:spPr>
      </p:sp>
      <p:sp>
        <p:nvSpPr>
          <p:cNvPr id="34" name="Shape 29"/>
          <p:cNvSpPr/>
          <p:nvPr/>
        </p:nvSpPr>
        <p:spPr>
          <a:xfrm>
            <a:off x="7049431" y="5859458"/>
            <a:ext cx="54864" cy="54864"/>
          </a:xfrm>
          <a:prstGeom prst="ellipse">
            <a:avLst/>
          </a:prstGeom>
          <a:solidFill>
            <a:srgbClr val="5FD39A"/>
          </a:solidFill>
          <a:ln w="12700">
            <a:solidFill>
              <a:srgbClr val="5FD39A"/>
            </a:solidFill>
            <a:prstDash val="solid"/>
          </a:ln>
        </p:spPr>
      </p:sp>
      <p:sp>
        <p:nvSpPr>
          <p:cNvPr id="35" name="Shape 30"/>
          <p:cNvSpPr/>
          <p:nvPr/>
        </p:nvSpPr>
        <p:spPr>
          <a:xfrm>
            <a:off x="7014861" y="5865554"/>
            <a:ext cx="54864" cy="54864"/>
          </a:xfrm>
          <a:prstGeom prst="ellipse">
            <a:avLst/>
          </a:prstGeom>
          <a:solidFill>
            <a:srgbClr val="5FD39A"/>
          </a:solidFill>
          <a:ln w="12700">
            <a:solidFill>
              <a:srgbClr val="5FD39A"/>
            </a:solidFill>
            <a:prstDash val="solid"/>
          </a:ln>
        </p:spPr>
      </p:sp>
      <p:sp>
        <p:nvSpPr>
          <p:cNvPr id="36" name="Shape 31"/>
          <p:cNvSpPr/>
          <p:nvPr/>
        </p:nvSpPr>
        <p:spPr>
          <a:xfrm>
            <a:off x="6979950" y="5869223"/>
            <a:ext cx="54864" cy="54864"/>
          </a:xfrm>
          <a:prstGeom prst="ellipse">
            <a:avLst/>
          </a:prstGeom>
          <a:solidFill>
            <a:srgbClr val="5FD39A"/>
          </a:solidFill>
          <a:ln w="12700">
            <a:solidFill>
              <a:srgbClr val="5FD39A"/>
            </a:solidFill>
            <a:prstDash val="solid"/>
          </a:ln>
        </p:spPr>
      </p:sp>
      <p:sp>
        <p:nvSpPr>
          <p:cNvPr id="37" name="Shape 32"/>
          <p:cNvSpPr/>
          <p:nvPr/>
        </p:nvSpPr>
        <p:spPr>
          <a:xfrm>
            <a:off x="6944868" y="5870448"/>
            <a:ext cx="54864" cy="54864"/>
          </a:xfrm>
          <a:prstGeom prst="ellipse">
            <a:avLst/>
          </a:prstGeom>
          <a:solidFill>
            <a:srgbClr val="5FD39A"/>
          </a:solidFill>
          <a:ln w="12700">
            <a:solidFill>
              <a:srgbClr val="5FD39A"/>
            </a:solidFill>
            <a:prstDash val="solid"/>
          </a:ln>
        </p:spPr>
      </p:sp>
      <p:sp>
        <p:nvSpPr>
          <p:cNvPr id="38" name="Shape 33"/>
          <p:cNvSpPr/>
          <p:nvPr/>
        </p:nvSpPr>
        <p:spPr>
          <a:xfrm>
            <a:off x="6909786" y="5869223"/>
            <a:ext cx="54864" cy="54864"/>
          </a:xfrm>
          <a:prstGeom prst="ellipse">
            <a:avLst/>
          </a:prstGeom>
          <a:solidFill>
            <a:srgbClr val="5FD39A"/>
          </a:solidFill>
          <a:ln w="12700">
            <a:solidFill>
              <a:srgbClr val="5FD39A"/>
            </a:solidFill>
            <a:prstDash val="solid"/>
          </a:ln>
        </p:spPr>
      </p:sp>
      <p:sp>
        <p:nvSpPr>
          <p:cNvPr id="39" name="Shape 34"/>
          <p:cNvSpPr/>
          <p:nvPr/>
        </p:nvSpPr>
        <p:spPr>
          <a:xfrm>
            <a:off x="6874875" y="5865554"/>
            <a:ext cx="54864" cy="54864"/>
          </a:xfrm>
          <a:prstGeom prst="ellipse">
            <a:avLst/>
          </a:prstGeom>
          <a:solidFill>
            <a:srgbClr val="5FD39A"/>
          </a:solidFill>
          <a:ln w="12700">
            <a:solidFill>
              <a:srgbClr val="5FD39A"/>
            </a:solidFill>
            <a:prstDash val="solid"/>
          </a:ln>
        </p:spPr>
      </p:sp>
      <p:sp>
        <p:nvSpPr>
          <p:cNvPr id="40" name="Shape 35"/>
          <p:cNvSpPr/>
          <p:nvPr/>
        </p:nvSpPr>
        <p:spPr>
          <a:xfrm>
            <a:off x="6840305" y="5859458"/>
            <a:ext cx="54864" cy="54864"/>
          </a:xfrm>
          <a:prstGeom prst="ellipse">
            <a:avLst/>
          </a:prstGeom>
          <a:solidFill>
            <a:srgbClr val="5FD39A"/>
          </a:solidFill>
          <a:ln w="12700">
            <a:solidFill>
              <a:srgbClr val="5FD39A"/>
            </a:solidFill>
            <a:prstDash val="solid"/>
          </a:ln>
        </p:spPr>
      </p:sp>
      <p:sp>
        <p:nvSpPr>
          <p:cNvPr id="41" name="Shape 36"/>
          <p:cNvSpPr/>
          <p:nvPr/>
        </p:nvSpPr>
        <p:spPr>
          <a:xfrm>
            <a:off x="6806244" y="5850966"/>
            <a:ext cx="54864" cy="54864"/>
          </a:xfrm>
          <a:prstGeom prst="ellipse">
            <a:avLst/>
          </a:prstGeom>
          <a:solidFill>
            <a:srgbClr val="5FD39A"/>
          </a:solidFill>
          <a:ln w="12700">
            <a:solidFill>
              <a:srgbClr val="5FD39A"/>
            </a:solidFill>
            <a:prstDash val="solid"/>
          </a:ln>
        </p:spPr>
      </p:sp>
      <p:sp>
        <p:nvSpPr>
          <p:cNvPr id="42" name="Shape 37"/>
          <p:cNvSpPr/>
          <p:nvPr/>
        </p:nvSpPr>
        <p:spPr>
          <a:xfrm>
            <a:off x="6772859" y="5840118"/>
            <a:ext cx="54864" cy="54864"/>
          </a:xfrm>
          <a:prstGeom prst="ellipse">
            <a:avLst/>
          </a:prstGeom>
          <a:solidFill>
            <a:srgbClr val="5FD39A"/>
          </a:solidFill>
          <a:ln w="12700">
            <a:solidFill>
              <a:srgbClr val="5FD39A"/>
            </a:solidFill>
            <a:prstDash val="solid"/>
          </a:ln>
        </p:spPr>
      </p:sp>
      <p:sp>
        <p:nvSpPr>
          <p:cNvPr id="43" name="Shape 38"/>
          <p:cNvSpPr/>
          <p:nvPr/>
        </p:nvSpPr>
        <p:spPr>
          <a:xfrm>
            <a:off x="6740312" y="5826968"/>
            <a:ext cx="54864" cy="54864"/>
          </a:xfrm>
          <a:prstGeom prst="ellipse">
            <a:avLst/>
          </a:prstGeom>
          <a:solidFill>
            <a:srgbClr val="5FD39A"/>
          </a:solidFill>
          <a:ln w="12700">
            <a:solidFill>
              <a:srgbClr val="5FD39A"/>
            </a:solidFill>
            <a:prstDash val="solid"/>
          </a:ln>
        </p:spPr>
      </p:sp>
      <p:sp>
        <p:nvSpPr>
          <p:cNvPr id="44" name="Shape 39"/>
          <p:cNvSpPr/>
          <p:nvPr/>
        </p:nvSpPr>
        <p:spPr>
          <a:xfrm>
            <a:off x="6708761" y="5811580"/>
            <a:ext cx="54864" cy="54864"/>
          </a:xfrm>
          <a:prstGeom prst="ellipse">
            <a:avLst/>
          </a:prstGeom>
          <a:solidFill>
            <a:srgbClr val="5FD39A"/>
          </a:solidFill>
          <a:ln w="12700">
            <a:solidFill>
              <a:srgbClr val="5FD39A"/>
            </a:solidFill>
            <a:prstDash val="solid"/>
          </a:ln>
        </p:spPr>
      </p:sp>
      <p:sp>
        <p:nvSpPr>
          <p:cNvPr id="45" name="Shape 40"/>
          <p:cNvSpPr/>
          <p:nvPr/>
        </p:nvSpPr>
        <p:spPr>
          <a:xfrm>
            <a:off x="6678361" y="5794028"/>
            <a:ext cx="54864" cy="54864"/>
          </a:xfrm>
          <a:prstGeom prst="ellipse">
            <a:avLst/>
          </a:prstGeom>
          <a:solidFill>
            <a:srgbClr val="5FD39A"/>
          </a:solidFill>
          <a:ln w="12700">
            <a:solidFill>
              <a:srgbClr val="5FD39A"/>
            </a:solidFill>
            <a:prstDash val="solid"/>
          </a:ln>
        </p:spPr>
      </p:sp>
      <p:sp>
        <p:nvSpPr>
          <p:cNvPr id="46" name="Shape 41"/>
          <p:cNvSpPr/>
          <p:nvPr/>
        </p:nvSpPr>
        <p:spPr>
          <a:xfrm>
            <a:off x="6649259" y="5774399"/>
            <a:ext cx="54864" cy="54864"/>
          </a:xfrm>
          <a:prstGeom prst="ellipse">
            <a:avLst/>
          </a:prstGeom>
          <a:solidFill>
            <a:srgbClr val="5FD39A"/>
          </a:solidFill>
          <a:ln w="12700">
            <a:solidFill>
              <a:srgbClr val="5FD39A"/>
            </a:solidFill>
            <a:prstDash val="solid"/>
          </a:ln>
        </p:spPr>
      </p:sp>
      <p:sp>
        <p:nvSpPr>
          <p:cNvPr id="47" name="Shape 42"/>
          <p:cNvSpPr/>
          <p:nvPr/>
        </p:nvSpPr>
        <p:spPr>
          <a:xfrm>
            <a:off x="6621597" y="5752787"/>
            <a:ext cx="54864" cy="54864"/>
          </a:xfrm>
          <a:prstGeom prst="ellipse">
            <a:avLst/>
          </a:prstGeom>
          <a:solidFill>
            <a:srgbClr val="5FD39A"/>
          </a:solidFill>
          <a:ln w="12700">
            <a:solidFill>
              <a:srgbClr val="5FD39A"/>
            </a:solidFill>
            <a:prstDash val="solid"/>
          </a:ln>
        </p:spPr>
      </p:sp>
      <p:sp>
        <p:nvSpPr>
          <p:cNvPr id="48" name="Shape 43"/>
          <p:cNvSpPr/>
          <p:nvPr/>
        </p:nvSpPr>
        <p:spPr>
          <a:xfrm>
            <a:off x="6595510" y="5729298"/>
            <a:ext cx="54864" cy="54864"/>
          </a:xfrm>
          <a:prstGeom prst="ellipse">
            <a:avLst/>
          </a:prstGeom>
          <a:solidFill>
            <a:srgbClr val="5FD39A"/>
          </a:solidFill>
          <a:ln w="12700">
            <a:solidFill>
              <a:srgbClr val="5FD39A"/>
            </a:solidFill>
            <a:prstDash val="solid"/>
          </a:ln>
        </p:spPr>
      </p:sp>
      <p:sp>
        <p:nvSpPr>
          <p:cNvPr id="49" name="Shape 44"/>
          <p:cNvSpPr/>
          <p:nvPr/>
        </p:nvSpPr>
        <p:spPr>
          <a:xfrm>
            <a:off x="6571126" y="5704047"/>
            <a:ext cx="54864" cy="54864"/>
          </a:xfrm>
          <a:prstGeom prst="ellipse">
            <a:avLst/>
          </a:prstGeom>
          <a:solidFill>
            <a:srgbClr val="5FD39A"/>
          </a:solidFill>
          <a:ln w="12700">
            <a:solidFill>
              <a:srgbClr val="5FD39A"/>
            </a:solidFill>
            <a:prstDash val="solid"/>
          </a:ln>
        </p:spPr>
      </p:sp>
      <p:sp>
        <p:nvSpPr>
          <p:cNvPr id="50" name="Shape 45"/>
          <p:cNvSpPr/>
          <p:nvPr/>
        </p:nvSpPr>
        <p:spPr>
          <a:xfrm>
            <a:off x="6972300" y="5394960"/>
            <a:ext cx="914" cy="521208"/>
          </a:xfrm>
          <a:prstGeom prst="line">
            <a:avLst/>
          </a:prstGeom>
          <a:noFill/>
          <a:ln w="9525">
            <a:solidFill>
              <a:srgbClr val="8A8A92"/>
            </a:solidFill>
            <a:prstDash val="dash"/>
          </a:ln>
        </p:spPr>
      </p:sp>
      <p:sp>
        <p:nvSpPr>
          <p:cNvPr id="51" name="Shape 46"/>
          <p:cNvSpPr/>
          <p:nvPr/>
        </p:nvSpPr>
        <p:spPr>
          <a:xfrm>
            <a:off x="6908292" y="5330952"/>
            <a:ext cx="128016" cy="128016"/>
          </a:xfrm>
          <a:prstGeom prst="ellipse">
            <a:avLst/>
          </a:prstGeom>
          <a:solidFill>
            <a:srgbClr val="FF4FA3"/>
          </a:solidFill>
          <a:ln w="15875">
            <a:solidFill>
              <a:srgbClr val="FFFFFF"/>
            </a:solidFill>
            <a:prstDash val="solid"/>
          </a:ln>
        </p:spPr>
      </p:sp>
      <p:sp>
        <p:nvSpPr>
          <p:cNvPr id="52" name="Text 47"/>
          <p:cNvSpPr txBox="1"/>
          <p:nvPr/>
        </p:nvSpPr>
        <p:spPr>
          <a:xfrm>
            <a:off x="7063740" y="5312664"/>
            <a:ext cx="365760" cy="164592"/>
          </a:xfrm>
          <a:prstGeom prst="rect">
            <a:avLst/>
          </a:prstGeom>
          <a:noFill/>
          <a:ln/>
        </p:spPr>
        <p:txBody>
          <a:bodyPr wrap="square" lIns="0" tIns="0" rIns="0" bIns="0" rtlCol="0" anchor="t"/>
          <a:lstStyle/>
          <a:p>
            <a:pPr indent="0" marL="0">
              <a:buNone/>
            </a:pPr>
            <a:r>
              <a:rPr lang="en-US" sz="800" dirty="0">
                <a:solidFill>
                  <a:srgbClr val="FFFFFF"/>
                </a:solidFill>
              </a:rPr>
              <a:t>her</a:t>
            </a:r>
            <a:endParaRPr lang="en-US" sz="800" dirty="0"/>
          </a:p>
        </p:txBody>
      </p:sp>
      <p:sp>
        <p:nvSpPr>
          <p:cNvPr id="53" name="Shape 48"/>
          <p:cNvSpPr/>
          <p:nvPr/>
        </p:nvSpPr>
        <p:spPr>
          <a:xfrm>
            <a:off x="7156511" y="5739164"/>
            <a:ext cx="164592" cy="164592"/>
          </a:xfrm>
          <a:prstGeom prst="ellipse">
            <a:avLst/>
          </a:prstGeom>
          <a:solidFill>
            <a:srgbClr val="FFFFFF"/>
          </a:solidFill>
          <a:ln w="12700">
            <a:solidFill>
              <a:srgbClr val="FFFFFF"/>
            </a:solidFill>
            <a:prstDash val="solid"/>
          </a:ln>
        </p:spPr>
      </p:sp>
      <p:sp>
        <p:nvSpPr>
          <p:cNvPr id="54" name="Text 49"/>
          <p:cNvSpPr txBox="1"/>
          <p:nvPr/>
        </p:nvSpPr>
        <p:spPr>
          <a:xfrm>
            <a:off x="7156511" y="5739164"/>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1</a:t>
            </a:r>
            <a:endParaRPr lang="en-US" sz="800" dirty="0"/>
          </a:p>
        </p:txBody>
      </p:sp>
      <p:sp>
        <p:nvSpPr>
          <p:cNvPr id="55" name="Shape 50"/>
          <p:cNvSpPr/>
          <p:nvPr/>
        </p:nvSpPr>
        <p:spPr>
          <a:xfrm>
            <a:off x="6820011" y="5810690"/>
            <a:ext cx="164592" cy="164592"/>
          </a:xfrm>
          <a:prstGeom prst="ellipse">
            <a:avLst/>
          </a:prstGeom>
          <a:solidFill>
            <a:srgbClr val="FFFFFF"/>
          </a:solidFill>
          <a:ln w="12700">
            <a:solidFill>
              <a:srgbClr val="FFFFFF"/>
            </a:solidFill>
            <a:prstDash val="solid"/>
          </a:ln>
        </p:spPr>
      </p:sp>
      <p:sp>
        <p:nvSpPr>
          <p:cNvPr id="56" name="Text 51"/>
          <p:cNvSpPr txBox="1"/>
          <p:nvPr/>
        </p:nvSpPr>
        <p:spPr>
          <a:xfrm>
            <a:off x="6820011" y="5810690"/>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2</a:t>
            </a:r>
            <a:endParaRPr lang="en-US" sz="800" dirty="0"/>
          </a:p>
        </p:txBody>
      </p:sp>
      <p:sp>
        <p:nvSpPr>
          <p:cNvPr id="57" name="Shape 52"/>
          <p:cNvSpPr/>
          <p:nvPr/>
        </p:nvSpPr>
        <p:spPr>
          <a:xfrm>
            <a:off x="6516262" y="5649183"/>
            <a:ext cx="164592" cy="164592"/>
          </a:xfrm>
          <a:prstGeom prst="ellipse">
            <a:avLst/>
          </a:prstGeom>
          <a:solidFill>
            <a:srgbClr val="FFFFFF"/>
          </a:solidFill>
          <a:ln w="12700">
            <a:solidFill>
              <a:srgbClr val="FFFFFF"/>
            </a:solidFill>
            <a:prstDash val="solid"/>
          </a:ln>
        </p:spPr>
      </p:sp>
      <p:sp>
        <p:nvSpPr>
          <p:cNvPr id="58" name="Text 53"/>
          <p:cNvSpPr txBox="1"/>
          <p:nvPr/>
        </p:nvSpPr>
        <p:spPr>
          <a:xfrm>
            <a:off x="6516262" y="5649183"/>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3</a:t>
            </a:r>
            <a:endParaRPr lang="en-US" sz="800" dirty="0"/>
          </a:p>
        </p:txBody>
      </p:sp>
      <p:sp>
        <p:nvSpPr>
          <p:cNvPr id="59" name="Text 54"/>
          <p:cNvSpPr txBox="1"/>
          <p:nvPr/>
        </p:nvSpPr>
        <p:spPr>
          <a:xfrm>
            <a:off x="7172221" y="5934418"/>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+8°</a:t>
            </a:r>
            <a:endParaRPr lang="en-US" sz="800" dirty="0"/>
          </a:p>
        </p:txBody>
      </p:sp>
      <p:sp>
        <p:nvSpPr>
          <p:cNvPr id="60" name="Text 55"/>
          <p:cNvSpPr txBox="1"/>
          <p:nvPr/>
        </p:nvSpPr>
        <p:spPr>
          <a:xfrm>
            <a:off x="6161150" y="5805172"/>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−12°</a:t>
            </a:r>
            <a:endParaRPr lang="en-US" sz="800" dirty="0"/>
          </a:p>
        </p:txBody>
      </p:sp>
      <p:sp>
        <p:nvSpPr>
          <p:cNvPr id="61" name="Text 56"/>
          <p:cNvSpPr txBox="1"/>
          <p:nvPr/>
        </p:nvSpPr>
        <p:spPr>
          <a:xfrm>
            <a:off x="6263640" y="5001768"/>
            <a:ext cx="914400" cy="164592"/>
          </a:xfrm>
          <a:prstGeom prst="rect">
            <a:avLst/>
          </a:prstGeom>
          <a:noFill/>
          <a:ln/>
        </p:spPr>
        <p:txBody>
          <a:bodyPr wrap="square" lIns="0" tIns="0" rIns="0" bIns="0" rtlCol="0" anchor="t"/>
          <a:lstStyle/>
          <a:p>
            <a:pPr indent="0" marL="0">
              <a:buNone/>
            </a:pPr>
            <a:r>
              <a:rPr lang="en-US" sz="800" dirty="0">
                <a:solidFill>
                  <a:srgbClr val="B0B0B8"/>
                </a:solidFill>
              </a:rPr>
              <a:t>From above</a:t>
            </a:r>
            <a:endParaRPr lang="en-US" sz="800" dirty="0"/>
          </a:p>
        </p:txBody>
      </p:sp>
      <p:pic>
        <p:nvPicPr>
          <p:cNvPr id="62" name="Image 1" descr="preencoded.png">    </p:cNvPr>
          <p:cNvPicPr>
            <a:picLocks noChangeAspect="1"/>
          </p:cNvPicPr>
          <p:nvPr/>
        </p:nvPicPr>
        <p:blipFill>
          <a:blip r:embed="rId5"/>
          <a:stretch>
            <a:fillRect/>
          </a:stretch>
        </p:blipFill>
        <p:spPr>
          <a:xfrm>
            <a:off x="7927848" y="4937760"/>
            <a:ext cx="1197864" cy="673913"/>
          </a:xfrm>
          <a:prstGeom prst="rect">
            <a:avLst/>
          </a:prstGeom>
        </p:spPr>
      </p:pic>
      <p:sp>
        <p:nvSpPr>
          <p:cNvPr id="63" name="Text 57"/>
          <p:cNvSpPr txBox="1"/>
          <p:nvPr/>
        </p:nvSpPr>
        <p:spPr>
          <a:xfrm>
            <a:off x="7927848"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1 · +8°</a:t>
            </a:r>
            <a:endParaRPr lang="en-US" sz="1000" dirty="0"/>
          </a:p>
        </p:txBody>
      </p:sp>
      <p:pic>
        <p:nvPicPr>
          <p:cNvPr id="64" name="Image 2" descr="preencoded.png">    </p:cNvPr>
          <p:cNvPicPr>
            <a:picLocks noChangeAspect="1"/>
          </p:cNvPicPr>
          <p:nvPr/>
        </p:nvPicPr>
        <p:blipFill>
          <a:blip r:embed="rId6"/>
          <a:stretch>
            <a:fillRect/>
          </a:stretch>
        </p:blipFill>
        <p:spPr>
          <a:xfrm>
            <a:off x="9171432" y="4937760"/>
            <a:ext cx="1197864" cy="673913"/>
          </a:xfrm>
          <a:prstGeom prst="rect">
            <a:avLst/>
          </a:prstGeom>
        </p:spPr>
      </p:pic>
      <p:sp>
        <p:nvSpPr>
          <p:cNvPr id="65" name="Text 58"/>
          <p:cNvSpPr txBox="1"/>
          <p:nvPr/>
        </p:nvSpPr>
        <p:spPr>
          <a:xfrm>
            <a:off x="9171432"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2 · −2°</a:t>
            </a:r>
            <a:endParaRPr lang="en-US" sz="1000" dirty="0"/>
          </a:p>
        </p:txBody>
      </p:sp>
      <p:pic>
        <p:nvPicPr>
          <p:cNvPr id="66" name="Image 3" descr="preencoded.png">    </p:cNvPr>
          <p:cNvPicPr>
            <a:picLocks noChangeAspect="1"/>
          </p:cNvPicPr>
          <p:nvPr/>
        </p:nvPicPr>
        <p:blipFill>
          <a:blip r:embed="rId7"/>
          <a:stretch>
            <a:fillRect/>
          </a:stretch>
        </p:blipFill>
        <p:spPr>
          <a:xfrm>
            <a:off x="10415016" y="4937760"/>
            <a:ext cx="1197864" cy="673913"/>
          </a:xfrm>
          <a:prstGeom prst="rect">
            <a:avLst/>
          </a:prstGeom>
        </p:spPr>
      </p:pic>
      <p:sp>
        <p:nvSpPr>
          <p:cNvPr id="67" name="Text 59"/>
          <p:cNvSpPr txBox="1"/>
          <p:nvPr/>
        </p:nvSpPr>
        <p:spPr>
          <a:xfrm>
            <a:off x="10415016"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3 · −12°</a:t>
            </a:r>
            <a:endParaRPr lang="en-US" sz="1000" dirty="0"/>
          </a:p>
        </p:txBody>
      </p:sp>
      <p:sp>
        <p:nvSpPr>
          <p:cNvPr id="68" name="Text 60"/>
          <p:cNvSpPr txBox="1"/>
          <p:nvPr/>
        </p:nvSpPr>
        <p:spPr>
          <a:xfrm>
            <a:off x="7927848" y="5897880"/>
            <a:ext cx="3685032" cy="365760"/>
          </a:xfrm>
          <a:prstGeom prst="rect">
            <a:avLst/>
          </a:prstGeom>
          <a:noFill/>
          <a:ln/>
        </p:spPr>
        <p:txBody>
          <a:bodyPr wrap="square" lIns="0" tIns="0" rIns="0" bIns="0" rtlCol="0" anchor="t"/>
          <a:lstStyle/>
          <a:p>
            <a:pPr indent="0" marL="0">
              <a:buNone/>
            </a:pPr>
            <a:r>
              <a:rPr lang="en-US" sz="1000" dirty="0">
                <a:solidFill>
                  <a:srgbClr val="55555C"/>
                </a:solidFill>
              </a:rPr>
              <a:t>Three frames rendered along the arc, time stopped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ON THE COURT · HANDS-FREE VOICE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Sweaty hands after a game? Just ask, and cut in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Talk, on the agent home</a:t>
            </a:r>
            <a:endParaRPr lang="en-US" sz="1050" dirty="0"/>
          </a:p>
        </p:txBody>
      </p:sp>
      <p:sp>
        <p:nvSpPr>
          <p:cNvPr id="8" name="Shape 4"/>
          <p:cNvSpPr/>
          <p:nvPr/>
        </p:nvSpPr>
        <p:spPr>
          <a:xfrm>
            <a:off x="3291840" y="1691640"/>
            <a:ext cx="2011680" cy="1234440"/>
          </a:xfrm>
          <a:prstGeom prst="roundRect">
            <a:avLst>
              <a:gd name="adj" fmla="val 8889"/>
            </a:avLst>
          </a:prstGeom>
          <a:solidFill>
            <a:srgbClr val="FBF3E6"/>
          </a:solidFill>
          <a:ln w="12700">
            <a:solidFill>
              <a:srgbClr val="FBF3E6"/>
            </a:solidFill>
            <a:prstDash val="solid"/>
          </a:ln>
        </p:spPr>
      </p:sp>
      <p:sp>
        <p:nvSpPr>
          <p:cNvPr id="9" name="Text 5"/>
          <p:cNvSpPr txBox="1"/>
          <p:nvPr/>
        </p:nvSpPr>
        <p:spPr>
          <a:xfrm>
            <a:off x="3429000" y="1783080"/>
            <a:ext cx="1737360" cy="201168"/>
          </a:xfrm>
          <a:prstGeom prst="rect">
            <a:avLst/>
          </a:prstGeom>
          <a:noFill/>
          <a:ln/>
        </p:spPr>
        <p:txBody>
          <a:bodyPr wrap="square" lIns="0" tIns="0" rIns="0" bIns="0" rtlCol="0" anchor="t"/>
          <a:lstStyle/>
          <a:p>
            <a:pPr indent="0" marL="0">
              <a:buNone/>
            </a:pPr>
            <a:r>
              <a:rPr lang="en-US" sz="950" b="1" spc="100" kern="0" dirty="0">
                <a:solidFill>
                  <a:srgbClr val="B26A00"/>
                </a:solidFill>
              </a:rPr>
              <a:t>HEAR</a:t>
            </a:r>
            <a:endParaRPr lang="en-US" sz="950" dirty="0"/>
          </a:p>
        </p:txBody>
      </p:sp>
      <p:sp>
        <p:nvSpPr>
          <p:cNvPr id="10" name="Text 6"/>
          <p:cNvSpPr txBox="1"/>
          <p:nvPr/>
        </p:nvSpPr>
        <p:spPr>
          <a:xfrm>
            <a:off x="3429000"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Muse Voice Transcribe</a:t>
            </a:r>
            <a:endParaRPr lang="en-US" sz="1300" dirty="0"/>
          </a:p>
        </p:txBody>
      </p:sp>
      <p:sp>
        <p:nvSpPr>
          <p:cNvPr id="11" name="Text 7"/>
          <p:cNvSpPr txBox="1"/>
          <p:nvPr/>
        </p:nvSpPr>
        <p:spPr>
          <a:xfrm>
            <a:off x="3429000"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Realtime, on the Meta Model API: your audio goes there; it finds where your turn ends</a:t>
            </a:r>
            <a:endParaRPr lang="en-US" sz="1000" dirty="0"/>
          </a:p>
        </p:txBody>
      </p:sp>
      <p:sp>
        <p:nvSpPr>
          <p:cNvPr id="12" name="Shape 8"/>
          <p:cNvSpPr/>
          <p:nvPr/>
        </p:nvSpPr>
        <p:spPr>
          <a:xfrm>
            <a:off x="5321808" y="2304288"/>
            <a:ext cx="256032" cy="0"/>
          </a:xfrm>
          <a:prstGeom prst="line">
            <a:avLst/>
          </a:prstGeom>
          <a:noFill/>
          <a:ln w="22225">
            <a:solidFill>
              <a:srgbClr val="8A8A92"/>
            </a:solidFill>
            <a:prstDash val="solid"/>
            <a:tailEnd type="triangle"/>
          </a:ln>
        </p:spPr>
      </p:sp>
      <p:sp>
        <p:nvSpPr>
          <p:cNvPr id="13" name="Shape 9"/>
          <p:cNvSpPr/>
          <p:nvPr/>
        </p:nvSpPr>
        <p:spPr>
          <a:xfrm>
            <a:off x="5596128" y="1691640"/>
            <a:ext cx="2011680" cy="1234440"/>
          </a:xfrm>
          <a:prstGeom prst="roundRect">
            <a:avLst>
              <a:gd name="adj" fmla="val 8889"/>
            </a:avLst>
          </a:prstGeom>
          <a:solidFill>
            <a:srgbClr val="E9F3EC"/>
          </a:solidFill>
          <a:ln w="12700">
            <a:solidFill>
              <a:srgbClr val="E9F3EC"/>
            </a:solidFill>
            <a:prstDash val="solid"/>
          </a:ln>
        </p:spPr>
      </p:sp>
      <p:sp>
        <p:nvSpPr>
          <p:cNvPr id="14" name="Text 10"/>
          <p:cNvSpPr txBox="1"/>
          <p:nvPr/>
        </p:nvSpPr>
        <p:spPr>
          <a:xfrm>
            <a:off x="5733288" y="1783080"/>
            <a:ext cx="1737360" cy="201168"/>
          </a:xfrm>
          <a:prstGeom prst="rect">
            <a:avLst/>
          </a:prstGeom>
          <a:noFill/>
          <a:ln/>
        </p:spPr>
        <p:txBody>
          <a:bodyPr wrap="square" lIns="0" tIns="0" rIns="0" bIns="0" rtlCol="0" anchor="t"/>
          <a:lstStyle/>
          <a:p>
            <a:pPr indent="0" marL="0">
              <a:buNone/>
            </a:pPr>
            <a:r>
              <a:rPr lang="en-US" sz="950" b="1" spc="100" kern="0" dirty="0">
                <a:solidFill>
                  <a:srgbClr val="0A7F44"/>
                </a:solidFill>
              </a:rPr>
              <a:t>THINK</a:t>
            </a:r>
            <a:endParaRPr lang="en-US" sz="950" dirty="0"/>
          </a:p>
        </p:txBody>
      </p:sp>
      <p:sp>
        <p:nvSpPr>
          <p:cNvPr id="15" name="Text 11"/>
          <p:cNvSpPr txBox="1"/>
          <p:nvPr/>
        </p:nvSpPr>
        <p:spPr>
          <a:xfrm>
            <a:off x="5733288"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Your agent</a:t>
            </a:r>
            <a:endParaRPr lang="en-US" sz="1300" dirty="0"/>
          </a:p>
        </p:txBody>
      </p:sp>
      <p:sp>
        <p:nvSpPr>
          <p:cNvPr id="16" name="Text 12"/>
          <p:cNvSpPr txBox="1"/>
          <p:nvPr/>
        </p:nvSpPr>
        <p:spPr>
          <a:xfrm>
            <a:off x="5733288"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Muse Glimmer on your GPU; Llama Guard in and out; numbers checked</a:t>
            </a:r>
            <a:endParaRPr lang="en-US" sz="1000" dirty="0"/>
          </a:p>
        </p:txBody>
      </p:sp>
      <p:sp>
        <p:nvSpPr>
          <p:cNvPr id="17" name="Shape 13"/>
          <p:cNvSpPr/>
          <p:nvPr/>
        </p:nvSpPr>
        <p:spPr>
          <a:xfrm>
            <a:off x="7626096" y="2304288"/>
            <a:ext cx="256032" cy="0"/>
          </a:xfrm>
          <a:prstGeom prst="line">
            <a:avLst/>
          </a:prstGeom>
          <a:noFill/>
          <a:ln w="22225">
            <a:solidFill>
              <a:srgbClr val="8A8A92"/>
            </a:solidFill>
            <a:prstDash val="solid"/>
            <a:tailEnd type="triangle"/>
          </a:ln>
        </p:spPr>
      </p:sp>
      <p:sp>
        <p:nvSpPr>
          <p:cNvPr id="18" name="Shape 14"/>
          <p:cNvSpPr/>
          <p:nvPr/>
        </p:nvSpPr>
        <p:spPr>
          <a:xfrm>
            <a:off x="7900416" y="1691640"/>
            <a:ext cx="2011680" cy="1234440"/>
          </a:xfrm>
          <a:prstGeom prst="roundRect">
            <a:avLst>
              <a:gd name="adj" fmla="val 8889"/>
            </a:avLst>
          </a:prstGeom>
          <a:solidFill>
            <a:srgbClr val="E8F1FD"/>
          </a:solidFill>
          <a:ln w="12700">
            <a:solidFill>
              <a:srgbClr val="E8F1FD"/>
            </a:solidFill>
            <a:prstDash val="solid"/>
          </a:ln>
        </p:spPr>
      </p:sp>
      <p:sp>
        <p:nvSpPr>
          <p:cNvPr id="19" name="Text 15"/>
          <p:cNvSpPr txBox="1"/>
          <p:nvPr/>
        </p:nvSpPr>
        <p:spPr>
          <a:xfrm>
            <a:off x="8037576" y="1783080"/>
            <a:ext cx="1737360" cy="201168"/>
          </a:xfrm>
          <a:prstGeom prst="rect">
            <a:avLst/>
          </a:prstGeom>
          <a:noFill/>
          <a:ln/>
        </p:spPr>
        <p:txBody>
          <a:bodyPr wrap="square" lIns="0" tIns="0" rIns="0" bIns="0" rtlCol="0" anchor="t"/>
          <a:lstStyle/>
          <a:p>
            <a:pPr indent="0" marL="0">
              <a:buNone/>
            </a:pPr>
            <a:r>
              <a:rPr lang="en-US" sz="950" b="1" spc="100" kern="0" dirty="0">
                <a:solidFill>
                  <a:srgbClr val="0064E0"/>
                </a:solidFill>
              </a:rPr>
              <a:t>SPEAK</a:t>
            </a:r>
            <a:endParaRPr lang="en-US" sz="950" dirty="0"/>
          </a:p>
        </p:txBody>
      </p:sp>
      <p:sp>
        <p:nvSpPr>
          <p:cNvPr id="20" name="Text 16"/>
          <p:cNvSpPr txBox="1"/>
          <p:nvPr/>
        </p:nvSpPr>
        <p:spPr>
          <a:xfrm>
            <a:off x="8037576"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Kokoro, on the server</a:t>
            </a:r>
            <a:endParaRPr lang="en-US" sz="1300" dirty="0"/>
          </a:p>
        </p:txBody>
      </p:sp>
      <p:sp>
        <p:nvSpPr>
          <p:cNvPr id="21" name="Text 17"/>
          <p:cNvSpPr txBox="1"/>
          <p:nvPr/>
        </p:nvSpPr>
        <p:spPr>
          <a:xfrm>
            <a:off x="8037576"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A sentence at a time: the first is heard while the rest is made</a:t>
            </a:r>
            <a:endParaRPr lang="en-US" sz="1000" dirty="0"/>
          </a:p>
        </p:txBody>
      </p:sp>
      <p:sp>
        <p:nvSpPr>
          <p:cNvPr id="22" name="Shape 18"/>
          <p:cNvSpPr/>
          <p:nvPr/>
        </p:nvSpPr>
        <p:spPr>
          <a:xfrm>
            <a:off x="3291840" y="3154680"/>
            <a:ext cx="6620256" cy="960120"/>
          </a:xfrm>
          <a:prstGeom prst="roundRect">
            <a:avLst>
              <a:gd name="adj" fmla="val 11429"/>
            </a:avLst>
          </a:prstGeom>
          <a:solidFill>
            <a:srgbClr val="FBEAE9"/>
          </a:solidFill>
          <a:ln w="12700">
            <a:solidFill>
              <a:srgbClr val="FBEAE9"/>
            </a:solidFill>
            <a:prstDash val="solid"/>
          </a:ln>
        </p:spPr>
      </p:sp>
      <p:sp>
        <p:nvSpPr>
          <p:cNvPr id="23" name="Text 19"/>
          <p:cNvSpPr txBox="1"/>
          <p:nvPr/>
        </p:nvSpPr>
        <p:spPr>
          <a:xfrm>
            <a:off x="3474720" y="3246120"/>
            <a:ext cx="1828800" cy="274320"/>
          </a:xfrm>
          <a:prstGeom prst="rect">
            <a:avLst/>
          </a:prstGeom>
          <a:noFill/>
          <a:ln/>
        </p:spPr>
        <p:txBody>
          <a:bodyPr wrap="square" lIns="0" tIns="0" rIns="0" bIns="0" rtlCol="0" anchor="t"/>
          <a:lstStyle/>
          <a:p>
            <a:pPr indent="0" marL="0">
              <a:buNone/>
            </a:pPr>
            <a:r>
              <a:rPr lang="en-US" sz="1350" b="1" dirty="0">
                <a:solidFill>
                  <a:srgbClr val="D1352B"/>
                </a:solidFill>
              </a:rPr>
              <a:t>Barge-in</a:t>
            </a:r>
            <a:endParaRPr lang="en-US" sz="1350" dirty="0"/>
          </a:p>
        </p:txBody>
      </p:sp>
      <p:sp>
        <p:nvSpPr>
          <p:cNvPr id="24" name="Text 20"/>
          <p:cNvSpPr txBox="1"/>
          <p:nvPr/>
        </p:nvSpPr>
        <p:spPr>
          <a:xfrm>
            <a:off x="3474720" y="3547872"/>
            <a:ext cx="6309360" cy="502920"/>
          </a:xfrm>
          <a:prstGeom prst="rect">
            <a:avLst/>
          </a:prstGeom>
          <a:noFill/>
          <a:ln/>
        </p:spPr>
        <p:txBody>
          <a:bodyPr wrap="square" lIns="0" tIns="0" rIns="0" bIns="0" rtlCol="0" anchor="t"/>
          <a:lstStyle/>
          <a:p>
            <a:pPr indent="0" marL="0">
              <a:buNone/>
            </a:pPr>
            <a:r>
              <a:rPr lang="en-US" sz="1100" dirty="0">
                <a:solidFill>
                  <a:srgbClr val="0A0A0B"/>
                </a:solidFill>
              </a:rPr>
              <a:t>Start speaking while it talks: the transcriber says so, the app stops the voice at once, and a reply still on its way is dropped.</a:t>
            </a:r>
            <a:endParaRPr lang="en-US" sz="1100" dirty="0"/>
          </a:p>
        </p:txBody>
      </p:sp>
      <p:sp>
        <p:nvSpPr>
          <p:cNvPr id="25" name="Text 21"/>
          <p:cNvSpPr txBox="1"/>
          <p:nvPr/>
        </p:nvSpPr>
        <p:spPr>
          <a:xfrm>
            <a:off x="3291840" y="4343400"/>
            <a:ext cx="45720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ONE LIVE SESSION, IN SECONDS</a:t>
            </a:r>
            <a:endParaRPr lang="en-US" sz="1000" dirty="0"/>
          </a:p>
        </p:txBody>
      </p:sp>
      <p:sp>
        <p:nvSpPr>
          <p:cNvPr id="26" name="Shape 22"/>
          <p:cNvSpPr/>
          <p:nvPr/>
        </p:nvSpPr>
        <p:spPr>
          <a:xfrm>
            <a:off x="3291840" y="4617720"/>
            <a:ext cx="1554480" cy="914400"/>
          </a:xfrm>
          <a:prstGeom prst="roundRect">
            <a:avLst>
              <a:gd name="adj" fmla="val 12000"/>
            </a:avLst>
          </a:prstGeom>
          <a:solidFill>
            <a:srgbClr val="F6F7F8"/>
          </a:solidFill>
          <a:ln w="12700">
            <a:solidFill>
              <a:srgbClr val="F6F7F8"/>
            </a:solidFill>
            <a:prstDash val="solid"/>
          </a:ln>
        </p:spPr>
      </p:sp>
      <p:sp>
        <p:nvSpPr>
          <p:cNvPr id="27" name="Text 23"/>
          <p:cNvSpPr txBox="1"/>
          <p:nvPr/>
        </p:nvSpPr>
        <p:spPr>
          <a:xfrm>
            <a:off x="3429000"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a:t>
            </a:r>
            <a:endParaRPr lang="en-US" sz="2200" dirty="0"/>
          </a:p>
        </p:txBody>
      </p:sp>
      <p:sp>
        <p:nvSpPr>
          <p:cNvPr id="28" name="Text 24"/>
          <p:cNvSpPr txBox="1"/>
          <p:nvPr/>
        </p:nvSpPr>
        <p:spPr>
          <a:xfrm>
            <a:off x="3429000"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line open</a:t>
            </a:r>
            <a:endParaRPr lang="en-US" sz="1050" dirty="0"/>
          </a:p>
        </p:txBody>
      </p:sp>
      <p:sp>
        <p:nvSpPr>
          <p:cNvPr id="29" name="Shape 25"/>
          <p:cNvSpPr/>
          <p:nvPr/>
        </p:nvSpPr>
        <p:spPr>
          <a:xfrm>
            <a:off x="4965192" y="4617720"/>
            <a:ext cx="1554480" cy="914400"/>
          </a:xfrm>
          <a:prstGeom prst="roundRect">
            <a:avLst>
              <a:gd name="adj" fmla="val 12000"/>
            </a:avLst>
          </a:prstGeom>
          <a:solidFill>
            <a:srgbClr val="F6F7F8"/>
          </a:solidFill>
          <a:ln w="12700">
            <a:solidFill>
              <a:srgbClr val="F6F7F8"/>
            </a:solidFill>
            <a:prstDash val="solid"/>
          </a:ln>
        </p:spPr>
      </p:sp>
      <p:sp>
        <p:nvSpPr>
          <p:cNvPr id="30" name="Text 26"/>
          <p:cNvSpPr txBox="1"/>
          <p:nvPr/>
        </p:nvSpPr>
        <p:spPr>
          <a:xfrm>
            <a:off x="5102352"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2.0</a:t>
            </a:r>
            <a:endParaRPr lang="en-US" sz="2200" dirty="0"/>
          </a:p>
        </p:txBody>
      </p:sp>
      <p:sp>
        <p:nvSpPr>
          <p:cNvPr id="31" name="Text 27"/>
          <p:cNvSpPr txBox="1"/>
          <p:nvPr/>
        </p:nvSpPr>
        <p:spPr>
          <a:xfrm>
            <a:off x="5102352"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you start</a:t>
            </a:r>
            <a:endParaRPr lang="en-US" sz="1050" dirty="0"/>
          </a:p>
        </p:txBody>
      </p:sp>
      <p:sp>
        <p:nvSpPr>
          <p:cNvPr id="32" name="Shape 28"/>
          <p:cNvSpPr/>
          <p:nvPr/>
        </p:nvSpPr>
        <p:spPr>
          <a:xfrm>
            <a:off x="6638544" y="4617720"/>
            <a:ext cx="1554480" cy="914400"/>
          </a:xfrm>
          <a:prstGeom prst="roundRect">
            <a:avLst>
              <a:gd name="adj" fmla="val 12000"/>
            </a:avLst>
          </a:prstGeom>
          <a:solidFill>
            <a:srgbClr val="F6F7F8"/>
          </a:solidFill>
          <a:ln w="12700">
            <a:solidFill>
              <a:srgbClr val="F6F7F8"/>
            </a:solidFill>
            <a:prstDash val="solid"/>
          </a:ln>
        </p:spPr>
      </p:sp>
      <p:sp>
        <p:nvSpPr>
          <p:cNvPr id="33" name="Text 29"/>
          <p:cNvSpPr txBox="1"/>
          <p:nvPr/>
        </p:nvSpPr>
        <p:spPr>
          <a:xfrm>
            <a:off x="6775704" y="4663440"/>
            <a:ext cx="1280160" cy="457200"/>
          </a:xfrm>
          <a:prstGeom prst="rect">
            <a:avLst/>
          </a:prstGeom>
          <a:noFill/>
          <a:ln/>
        </p:spPr>
        <p:txBody>
          <a:bodyPr wrap="square" lIns="0" tIns="0" rIns="0" bIns="0" rtlCol="0" anchor="t"/>
          <a:lstStyle/>
          <a:p>
            <a:pPr indent="0" marL="0">
              <a:buNone/>
            </a:pPr>
            <a:r>
              <a:rPr lang="en-US" sz="2200" b="1" dirty="0">
                <a:solidFill>
                  <a:srgbClr val="0A7F44"/>
                </a:solidFill>
              </a:rPr>
              <a:t>3.6</a:t>
            </a:r>
            <a:endParaRPr lang="en-US" sz="2200" dirty="0"/>
          </a:p>
        </p:txBody>
      </p:sp>
      <p:sp>
        <p:nvSpPr>
          <p:cNvPr id="34" name="Text 30"/>
          <p:cNvSpPr txBox="1"/>
          <p:nvPr/>
        </p:nvSpPr>
        <p:spPr>
          <a:xfrm>
            <a:off x="6775704"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turn heard</a:t>
            </a:r>
            <a:endParaRPr lang="en-US" sz="1050" dirty="0"/>
          </a:p>
        </p:txBody>
      </p:sp>
      <p:sp>
        <p:nvSpPr>
          <p:cNvPr id="35" name="Shape 31"/>
          <p:cNvSpPr/>
          <p:nvPr/>
        </p:nvSpPr>
        <p:spPr>
          <a:xfrm>
            <a:off x="8311896" y="4617720"/>
            <a:ext cx="1554480" cy="914400"/>
          </a:xfrm>
          <a:prstGeom prst="roundRect">
            <a:avLst>
              <a:gd name="adj" fmla="val 12000"/>
            </a:avLst>
          </a:prstGeom>
          <a:solidFill>
            <a:srgbClr val="F6F7F8"/>
          </a:solidFill>
          <a:ln w="12700">
            <a:solidFill>
              <a:srgbClr val="F6F7F8"/>
            </a:solidFill>
            <a:prstDash val="solid"/>
          </a:ln>
        </p:spPr>
      </p:sp>
      <p:sp>
        <p:nvSpPr>
          <p:cNvPr id="36" name="Text 32"/>
          <p:cNvSpPr txBox="1"/>
          <p:nvPr/>
        </p:nvSpPr>
        <p:spPr>
          <a:xfrm>
            <a:off x="8449056"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12.3</a:t>
            </a:r>
            <a:endParaRPr lang="en-US" sz="2200" dirty="0"/>
          </a:p>
        </p:txBody>
      </p:sp>
      <p:sp>
        <p:nvSpPr>
          <p:cNvPr id="37" name="Text 33"/>
          <p:cNvSpPr txBox="1"/>
          <p:nvPr/>
        </p:nvSpPr>
        <p:spPr>
          <a:xfrm>
            <a:off x="8449056"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reply ready</a:t>
            </a:r>
            <a:endParaRPr lang="en-US" sz="1050" dirty="0"/>
          </a:p>
        </p:txBody>
      </p:sp>
      <p:sp>
        <p:nvSpPr>
          <p:cNvPr id="38" name="Text 34"/>
          <p:cNvSpPr txBox="1"/>
          <p:nvPr/>
        </p:nvSpPr>
        <p:spPr>
          <a:xfrm>
            <a:off x="3291840" y="5669280"/>
            <a:ext cx="6675120" cy="457200"/>
          </a:xfrm>
          <a:prstGeom prst="rect">
            <a:avLst/>
          </a:prstGeom>
          <a:noFill/>
          <a:ln/>
        </p:spPr>
        <p:txBody>
          <a:bodyPr wrap="square" lIns="0" tIns="0" rIns="0" bIns="0" rtlCol="0" anchor="t"/>
          <a:lstStyle/>
          <a:p>
            <a:pPr indent="0" marL="0">
              <a:buNone/>
            </a:pPr>
            <a:r>
              <a:rPr lang="en-US" sz="1000" dirty="0">
                <a:solidFill>
                  <a:srgbClr val="8A8A92"/>
                </a:solidFill>
              </a:rPr>
              <a:t>"When is my next game?" heard word by word; the reply came from the facts. submission/results/voice_live.json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INTER-CLUB CHALLENGES · FEDERATED A2A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Challenge the club next door, nothing merged</a:t>
            </a:r>
            <a:endParaRPr lang="en-US" sz="3200" dirty="0"/>
          </a:p>
        </p:txBody>
      </p:sp>
      <p:sp>
        <p:nvSpPr>
          <p:cNvPr id="5" name="Shape 2"/>
          <p:cNvSpPr/>
          <p:nvPr/>
        </p:nvSpPr>
        <p:spPr>
          <a:xfrm>
            <a:off x="2011680" y="2560320"/>
            <a:ext cx="2468880" cy="914"/>
          </a:xfrm>
          <a:prstGeom prst="line">
            <a:avLst/>
          </a:prstGeom>
          <a:noFill/>
          <a:ln w="25400">
            <a:solidFill>
              <a:srgbClr val="DCDCE0"/>
            </a:solidFill>
            <a:prstDash val="dash"/>
          </a:ln>
        </p:spPr>
      </p:sp>
      <p:sp>
        <p:nvSpPr>
          <p:cNvPr id="6" name="Shape 3"/>
          <p:cNvSpPr/>
          <p:nvPr/>
        </p:nvSpPr>
        <p:spPr>
          <a:xfrm>
            <a:off x="2011680" y="2560320"/>
            <a:ext cx="1234440" cy="2103120"/>
          </a:xfrm>
          <a:prstGeom prst="line">
            <a:avLst/>
          </a:prstGeom>
          <a:noFill/>
          <a:ln w="25400">
            <a:solidFill>
              <a:srgbClr val="DCDCE0"/>
            </a:solidFill>
            <a:prstDash val="dash"/>
          </a:ln>
        </p:spPr>
      </p:sp>
      <p:sp>
        <p:nvSpPr>
          <p:cNvPr id="7" name="Shape 4"/>
          <p:cNvSpPr/>
          <p:nvPr/>
        </p:nvSpPr>
        <p:spPr>
          <a:xfrm flipH="1">
            <a:off x="3246120" y="2560320"/>
            <a:ext cx="1234440" cy="2103120"/>
          </a:xfrm>
          <a:prstGeom prst="line">
            <a:avLst/>
          </a:prstGeom>
          <a:noFill/>
          <a:ln w="25400">
            <a:solidFill>
              <a:srgbClr val="DCDCE0"/>
            </a:solidFill>
            <a:prstDash val="dash"/>
          </a:ln>
        </p:spPr>
      </p:sp>
      <p:sp>
        <p:nvSpPr>
          <p:cNvPr id="8" name="Shape 5"/>
          <p:cNvSpPr/>
          <p:nvPr/>
        </p:nvSpPr>
        <p:spPr>
          <a:xfrm>
            <a:off x="1463040" y="2103120"/>
            <a:ext cx="1097280" cy="914400"/>
          </a:xfrm>
          <a:prstGeom prst="ellipse">
            <a:avLst/>
          </a:prstGeom>
          <a:solidFill>
            <a:srgbClr val="FFFFFF"/>
          </a:solidFill>
          <a:ln w="31750">
            <a:solidFill>
              <a:srgbClr val="0A7F44"/>
            </a:solidFill>
            <a:prstDash val="solid"/>
          </a:ln>
        </p:spPr>
      </p:sp>
      <p:sp>
        <p:nvSpPr>
          <p:cNvPr id="9" name="Text 6"/>
          <p:cNvSpPr txBox="1"/>
          <p:nvPr/>
        </p:nvSpPr>
        <p:spPr>
          <a:xfrm>
            <a:off x="146304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A</a:t>
            </a:r>
            <a:endParaRPr lang="en-US" sz="1250" dirty="0"/>
          </a:p>
        </p:txBody>
      </p:sp>
      <p:sp>
        <p:nvSpPr>
          <p:cNvPr id="10" name="Text 7"/>
          <p:cNvSpPr txBox="1"/>
          <p:nvPr/>
        </p:nvSpPr>
        <p:spPr>
          <a:xfrm>
            <a:off x="146304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1" name="Shape 8"/>
          <p:cNvSpPr/>
          <p:nvPr/>
        </p:nvSpPr>
        <p:spPr>
          <a:xfrm>
            <a:off x="3931920" y="2103120"/>
            <a:ext cx="1097280" cy="914400"/>
          </a:xfrm>
          <a:prstGeom prst="ellipse">
            <a:avLst/>
          </a:prstGeom>
          <a:solidFill>
            <a:srgbClr val="FFFFFF"/>
          </a:solidFill>
          <a:ln w="31750">
            <a:solidFill>
              <a:srgbClr val="0064E0"/>
            </a:solidFill>
            <a:prstDash val="solid"/>
          </a:ln>
        </p:spPr>
      </p:sp>
      <p:sp>
        <p:nvSpPr>
          <p:cNvPr id="12" name="Text 9"/>
          <p:cNvSpPr txBox="1"/>
          <p:nvPr/>
        </p:nvSpPr>
        <p:spPr>
          <a:xfrm>
            <a:off x="393192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B</a:t>
            </a:r>
            <a:endParaRPr lang="en-US" sz="1250" dirty="0"/>
          </a:p>
        </p:txBody>
      </p:sp>
      <p:sp>
        <p:nvSpPr>
          <p:cNvPr id="13" name="Text 10"/>
          <p:cNvSpPr txBox="1"/>
          <p:nvPr/>
        </p:nvSpPr>
        <p:spPr>
          <a:xfrm>
            <a:off x="393192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4" name="Shape 11"/>
          <p:cNvSpPr/>
          <p:nvPr/>
        </p:nvSpPr>
        <p:spPr>
          <a:xfrm>
            <a:off x="2697480" y="4206240"/>
            <a:ext cx="1097280" cy="914400"/>
          </a:xfrm>
          <a:prstGeom prst="ellipse">
            <a:avLst/>
          </a:prstGeom>
          <a:solidFill>
            <a:srgbClr val="FFFFFF"/>
          </a:solidFill>
          <a:ln w="31750">
            <a:solidFill>
              <a:srgbClr val="B26A00"/>
            </a:solidFill>
            <a:prstDash val="solid"/>
          </a:ln>
        </p:spPr>
      </p:sp>
      <p:sp>
        <p:nvSpPr>
          <p:cNvPr id="15" name="Text 12"/>
          <p:cNvSpPr txBox="1"/>
          <p:nvPr/>
        </p:nvSpPr>
        <p:spPr>
          <a:xfrm>
            <a:off x="2697480" y="440740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C</a:t>
            </a:r>
            <a:endParaRPr lang="en-US" sz="1250" dirty="0"/>
          </a:p>
        </p:txBody>
      </p:sp>
      <p:sp>
        <p:nvSpPr>
          <p:cNvPr id="16" name="Text 13"/>
          <p:cNvSpPr txBox="1"/>
          <p:nvPr/>
        </p:nvSpPr>
        <p:spPr>
          <a:xfrm>
            <a:off x="2697480" y="468172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7" name="Text 14"/>
          <p:cNvSpPr txBox="1"/>
          <p:nvPr/>
        </p:nvSpPr>
        <p:spPr>
          <a:xfrm>
            <a:off x="548640" y="5577840"/>
            <a:ext cx="4937760" cy="548640"/>
          </a:xfrm>
          <a:prstGeom prst="rect">
            <a:avLst/>
          </a:prstGeom>
          <a:noFill/>
          <a:ln/>
        </p:spPr>
        <p:txBody>
          <a:bodyPr wrap="square" lIns="0" tIns="0" rIns="0" bIns="0" rtlCol="0" anchor="t"/>
          <a:lstStyle/>
          <a:p>
            <a:pPr indent="0" marL="0">
              <a:buNone/>
            </a:pPr>
            <a:r>
              <a:rPr lang="en-US" sz="1100" dirty="0">
                <a:solidFill>
                  <a:srgbClr val="55555C"/>
                </a:solidFill>
              </a:rPr>
              <a:t>Bored of the same faces? Your club's agents can ask the university club's. Each club keeps its own server; the config holds only addresses, and names, members and keys come from each club's card</a:t>
            </a:r>
            <a:endParaRPr lang="en-US" sz="1100" dirty="0"/>
          </a:p>
        </p:txBody>
      </p:sp>
      <p:sp>
        <p:nvSpPr>
          <p:cNvPr id="18" name="Shape 15"/>
          <p:cNvSpPr/>
          <p:nvPr/>
        </p:nvSpPr>
        <p:spPr>
          <a:xfrm>
            <a:off x="5760720" y="1719072"/>
            <a:ext cx="365760" cy="365760"/>
          </a:xfrm>
          <a:prstGeom prst="ellipse">
            <a:avLst/>
          </a:prstGeom>
          <a:solidFill>
            <a:srgbClr val="0064E0"/>
          </a:solidFill>
          <a:ln w="12700">
            <a:solidFill>
              <a:srgbClr val="0064E0"/>
            </a:solidFill>
            <a:prstDash val="solid"/>
          </a:ln>
        </p:spPr>
      </p:sp>
      <p:sp>
        <p:nvSpPr>
          <p:cNvPr id="19" name="Text 16"/>
          <p:cNvSpPr txBox="1"/>
          <p:nvPr/>
        </p:nvSpPr>
        <p:spPr>
          <a:xfrm>
            <a:off x="5760720" y="1719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20" name="Text 17"/>
          <p:cNvSpPr txBox="1"/>
          <p:nvPr/>
        </p:nvSpPr>
        <p:spPr>
          <a:xfrm>
            <a:off x="6291072" y="169164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Found by its card</a:t>
            </a:r>
            <a:endParaRPr lang="en-US" sz="1400" dirty="0"/>
          </a:p>
        </p:txBody>
      </p:sp>
      <p:sp>
        <p:nvSpPr>
          <p:cNvPr id="21" name="Text 18"/>
          <p:cNvSpPr txBox="1"/>
          <p:nvPr/>
        </p:nvSpPr>
        <p:spPr>
          <a:xfrm>
            <a:off x="6291072" y="1993392"/>
            <a:ext cx="5303520" cy="594360"/>
          </a:xfrm>
          <a:prstGeom prst="rect">
            <a:avLst/>
          </a:prstGeom>
          <a:noFill/>
          <a:ln/>
        </p:spPr>
        <p:txBody>
          <a:bodyPr wrap="square" lIns="0" tIns="0" rIns="0" bIns="0" rtlCol="0" anchor="t"/>
          <a:lstStyle/>
          <a:p>
            <a:pPr indent="0" marL="0">
              <a:buNone/>
            </a:pPr>
            <a:r>
              <a:rPr lang="en-US" sz="1100" dirty="0">
                <a:solidFill>
                  <a:srgbClr val="55555C"/>
                </a:solidFill>
              </a:rPr>
              <a:t>/a2a/club.json: the club's name, the members others may ask (a public profile each), where its keys are.</a:t>
            </a:r>
            <a:endParaRPr lang="en-US" sz="1100" dirty="0"/>
          </a:p>
        </p:txBody>
      </p:sp>
      <p:sp>
        <p:nvSpPr>
          <p:cNvPr id="22" name="Shape 19"/>
          <p:cNvSpPr/>
          <p:nvPr/>
        </p:nvSpPr>
        <p:spPr>
          <a:xfrm>
            <a:off x="5760720" y="2679192"/>
            <a:ext cx="365760" cy="365760"/>
          </a:xfrm>
          <a:prstGeom prst="ellipse">
            <a:avLst/>
          </a:prstGeom>
          <a:solidFill>
            <a:srgbClr val="0064E0"/>
          </a:solidFill>
          <a:ln w="12700">
            <a:solidFill>
              <a:srgbClr val="0064E0"/>
            </a:solidFill>
            <a:prstDash val="solid"/>
          </a:ln>
        </p:spPr>
      </p:sp>
      <p:sp>
        <p:nvSpPr>
          <p:cNvPr id="23" name="Text 20"/>
          <p:cNvSpPr txBox="1"/>
          <p:nvPr/>
        </p:nvSpPr>
        <p:spPr>
          <a:xfrm>
            <a:off x="5760720" y="26791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4" name="Text 21"/>
          <p:cNvSpPr txBox="1"/>
          <p:nvPr/>
        </p:nvSpPr>
        <p:spPr>
          <a:xfrm>
            <a:off x="6291072" y="265176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Pinned on first use</a:t>
            </a:r>
            <a:endParaRPr lang="en-US" sz="1400" dirty="0"/>
          </a:p>
        </p:txBody>
      </p:sp>
      <p:sp>
        <p:nvSpPr>
          <p:cNvPr id="25" name="Text 22"/>
          <p:cNvSpPr txBox="1"/>
          <p:nvPr/>
        </p:nvSpPr>
        <p:spPr>
          <a:xfrm>
            <a:off x="6291072" y="2953512"/>
            <a:ext cx="5303520" cy="594360"/>
          </a:xfrm>
          <a:prstGeom prst="rect">
            <a:avLst/>
          </a:prstGeom>
          <a:noFill/>
          <a:ln/>
        </p:spPr>
        <p:txBody>
          <a:bodyPr wrap="square" lIns="0" tIns="0" rIns="0" bIns="0" rtlCol="0" anchor="t"/>
          <a:lstStyle/>
          <a:p>
            <a:pPr indent="0" marL="0">
              <a:buNone/>
            </a:pPr>
            <a:r>
              <a:rPr lang="en-US" sz="1100" dirty="0">
                <a:solidFill>
                  <a:srgbClr val="55555C"/>
                </a:solidFill>
              </a:rPr>
              <a:t>Every request between clubs is signed; the key is pinned the first time, as between our two gateways.</a:t>
            </a:r>
            <a:endParaRPr lang="en-US" sz="1100" dirty="0"/>
          </a:p>
        </p:txBody>
      </p:sp>
      <p:sp>
        <p:nvSpPr>
          <p:cNvPr id="26" name="Shape 23"/>
          <p:cNvSpPr/>
          <p:nvPr/>
        </p:nvSpPr>
        <p:spPr>
          <a:xfrm>
            <a:off x="5760720" y="3639312"/>
            <a:ext cx="365760" cy="365760"/>
          </a:xfrm>
          <a:prstGeom prst="ellipse">
            <a:avLst/>
          </a:prstGeom>
          <a:solidFill>
            <a:srgbClr val="0064E0"/>
          </a:solidFill>
          <a:ln w="12700">
            <a:solidFill>
              <a:srgbClr val="0064E0"/>
            </a:solidFill>
            <a:prstDash val="solid"/>
          </a:ln>
        </p:spPr>
      </p:sp>
      <p:sp>
        <p:nvSpPr>
          <p:cNvPr id="27" name="Text 24"/>
          <p:cNvSpPr txBox="1"/>
          <p:nvPr/>
        </p:nvSpPr>
        <p:spPr>
          <a:xfrm>
            <a:off x="5760720" y="36393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8" name="Text 25"/>
          <p:cNvSpPr txBox="1"/>
          <p:nvPr/>
        </p:nvSpPr>
        <p:spPr>
          <a:xfrm>
            <a:off x="6291072" y="361188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Keys can change</a:t>
            </a:r>
            <a:endParaRPr lang="en-US" sz="1400" dirty="0"/>
          </a:p>
        </p:txBody>
      </p:sp>
      <p:sp>
        <p:nvSpPr>
          <p:cNvPr id="29" name="Text 26"/>
          <p:cNvSpPr txBox="1"/>
          <p:nvPr/>
        </p:nvSpPr>
        <p:spPr>
          <a:xfrm>
            <a:off x="6291072" y="3913632"/>
            <a:ext cx="5303520" cy="594360"/>
          </a:xfrm>
          <a:prstGeom prst="rect">
            <a:avLst/>
          </a:prstGeom>
          <a:noFill/>
          <a:ln/>
        </p:spPr>
        <p:txBody>
          <a:bodyPr wrap="square" lIns="0" tIns="0" rIns="0" bIns="0" rtlCol="0" anchor="t"/>
          <a:lstStyle/>
          <a:p>
            <a:pPr indent="0" marL="0">
              <a:buNone/>
            </a:pPr>
            <a:r>
              <a:rPr lang="en-US" sz="1100" dirty="0">
                <a:solidFill>
                  <a:srgbClr val="55555C"/>
                </a:solidFill>
              </a:rPr>
              <a:t>The old key signs a hand-over to the new one. A club whose pin is gone follows the chain from its pin, and re-pins only if it holds.</a:t>
            </a:r>
            <a:endParaRPr lang="en-US" sz="1100" dirty="0"/>
          </a:p>
        </p:txBody>
      </p:sp>
      <p:sp>
        <p:nvSpPr>
          <p:cNvPr id="30" name="Shape 27"/>
          <p:cNvSpPr/>
          <p:nvPr/>
        </p:nvSpPr>
        <p:spPr>
          <a:xfrm>
            <a:off x="5760720" y="4599432"/>
            <a:ext cx="365760" cy="365760"/>
          </a:xfrm>
          <a:prstGeom prst="ellipse">
            <a:avLst/>
          </a:prstGeom>
          <a:solidFill>
            <a:srgbClr val="0064E0"/>
          </a:solidFill>
          <a:ln w="12700">
            <a:solidFill>
              <a:srgbClr val="0064E0"/>
            </a:solidFill>
            <a:prstDash val="solid"/>
          </a:ln>
        </p:spPr>
      </p:sp>
      <p:sp>
        <p:nvSpPr>
          <p:cNvPr id="31" name="Text 28"/>
          <p:cNvSpPr txBox="1"/>
          <p:nvPr/>
        </p:nvSpPr>
        <p:spPr>
          <a:xfrm>
            <a:off x="5760720" y="45994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32" name="Text 29"/>
          <p:cNvSpPr txBox="1"/>
          <p:nvPr/>
        </p:nvSpPr>
        <p:spPr>
          <a:xfrm>
            <a:off x="6291072" y="457200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Forgeries refused</a:t>
            </a:r>
            <a:endParaRPr lang="en-US" sz="1400" dirty="0"/>
          </a:p>
        </p:txBody>
      </p:sp>
      <p:sp>
        <p:nvSpPr>
          <p:cNvPr id="33" name="Text 30"/>
          <p:cNvSpPr txBox="1"/>
          <p:nvPr/>
        </p:nvSpPr>
        <p:spPr>
          <a:xfrm>
            <a:off x="6291072" y="4873752"/>
            <a:ext cx="5303520" cy="594360"/>
          </a:xfrm>
          <a:prstGeom prst="rect">
            <a:avLst/>
          </a:prstGeom>
          <a:noFill/>
          <a:ln/>
        </p:spPr>
        <p:txBody>
          <a:bodyPr wrap="square" lIns="0" tIns="0" rIns="0" bIns="0" rtlCol="0" anchor="t"/>
          <a:lstStyle/>
          <a:p>
            <a:pPr indent="0" marL="0">
              <a:buNone/>
            </a:pPr>
            <a:r>
              <a:rPr lang="en-US" sz="1100" dirty="0">
                <a:solidFill>
                  <a:srgbClr val="55555C"/>
                </a:solidFill>
              </a:rPr>
              <a:t>A hand-over signed by any other key, or a page that isn't a card, is refused and logged.</a:t>
            </a:r>
            <a:endParaRPr lang="en-US" sz="1100" dirty="0"/>
          </a:p>
        </p:txBody>
      </p:sp>
      <p:sp>
        <p:nvSpPr>
          <p:cNvPr id="34" name="Shape 31"/>
          <p:cNvSpPr/>
          <p:nvPr/>
        </p:nvSpPr>
        <p:spPr>
          <a:xfrm>
            <a:off x="5760720" y="5532120"/>
            <a:ext cx="5852160" cy="685800"/>
          </a:xfrm>
          <a:prstGeom prst="roundRect">
            <a:avLst>
              <a:gd name="adj" fmla="val 16000"/>
            </a:avLst>
          </a:prstGeom>
          <a:solidFill>
            <a:srgbClr val="E9F3EC"/>
          </a:solidFill>
          <a:ln w="12700">
            <a:solidFill>
              <a:srgbClr val="E9F3EC"/>
            </a:solidFill>
            <a:prstDash val="solid"/>
          </a:ln>
        </p:spPr>
      </p:sp>
      <p:sp>
        <p:nvSpPr>
          <p:cNvPr id="35" name="Text 32"/>
          <p:cNvSpPr txBox="1"/>
          <p:nvPr/>
        </p:nvSpPr>
        <p:spPr>
          <a:xfrm>
            <a:off x="5943600" y="5532120"/>
            <a:ext cx="5577840" cy="685800"/>
          </a:xfrm>
          <a:prstGeom prst="rect">
            <a:avLst/>
          </a:prstGeom>
          <a:noFill/>
          <a:ln/>
        </p:spPr>
        <p:txBody>
          <a:bodyPr wrap="square" lIns="0" tIns="0" rIns="0" bIns="0" rtlCol="0" anchor="ctr"/>
          <a:lstStyle/>
          <a:p>
            <a:pPr indent="0" marL="0">
              <a:buNone/>
            </a:pPr>
            <a:r>
              <a:rPr lang="en-US" sz="1100" b="1" dirty="0">
                <a:solidFill>
                  <a:srgbClr val="0A0A0B"/>
                </a:solidFill>
              </a:rPr>
              <a:t>Tested over HTTP with three clubs: found, signed, a rotation followed two hand-overs deep, a forged one refused (test/federation_unit.mjs)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AGENT MEMORY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Notes that update themselves, checked by code</a:t>
            </a:r>
            <a:endParaRPr lang="en-US" sz="3200" dirty="0"/>
          </a:p>
        </p:txBody>
      </p:sp>
      <p:sp>
        <p:nvSpPr>
          <p:cNvPr id="5" name="Shape 2"/>
          <p:cNvSpPr/>
          <p:nvPr/>
        </p:nvSpPr>
        <p:spPr>
          <a:xfrm>
            <a:off x="548640" y="1691640"/>
            <a:ext cx="1298448" cy="2057400"/>
          </a:xfrm>
          <a:prstGeom prst="roundRect">
            <a:avLst>
              <a:gd name="adj" fmla="val 8451"/>
            </a:avLst>
          </a:prstGeom>
          <a:solidFill>
            <a:srgbClr val="F6F7F8"/>
          </a:solidFill>
          <a:ln w="12700">
            <a:solidFill>
              <a:srgbClr val="F6F7F8"/>
            </a:solidFill>
            <a:prstDash val="solid"/>
          </a:ln>
        </p:spPr>
      </p:sp>
      <p:sp>
        <p:nvSpPr>
          <p:cNvPr id="6" name="Text 3"/>
          <p:cNvSpPr txBox="1"/>
          <p:nvPr/>
        </p:nvSpPr>
        <p:spPr>
          <a:xfrm>
            <a:off x="658368" y="1783080"/>
            <a:ext cx="1097280" cy="201168"/>
          </a:xfrm>
          <a:prstGeom prst="rect">
            <a:avLst/>
          </a:prstGeom>
          <a:noFill/>
          <a:ln/>
        </p:spPr>
        <p:txBody>
          <a:bodyPr wrap="square" lIns="0" tIns="0" rIns="0" bIns="0" rtlCol="0" anchor="t"/>
          <a:lstStyle/>
          <a:p>
            <a:pPr indent="0" marL="0">
              <a:buNone/>
            </a:pPr>
            <a:r>
              <a:rPr lang="en-US" sz="950" b="1" spc="100" kern="0" dirty="0">
                <a:solidFill>
                  <a:srgbClr val="55555C"/>
                </a:solidFill>
              </a:rPr>
              <a:t>1 · NOTES</a:t>
            </a:r>
            <a:endParaRPr lang="en-US" sz="950" dirty="0"/>
          </a:p>
        </p:txBody>
      </p:sp>
      <p:sp>
        <p:nvSpPr>
          <p:cNvPr id="7" name="Text 4"/>
          <p:cNvSpPr txBox="1"/>
          <p:nvPr/>
        </p:nvSpPr>
        <p:spPr>
          <a:xfrm>
            <a:off x="658368"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Your words and the facts</a:t>
            </a:r>
            <a:endParaRPr lang="en-US" sz="1250" dirty="0"/>
          </a:p>
        </p:txBody>
      </p:sp>
      <p:sp>
        <p:nvSpPr>
          <p:cNvPr id="8" name="Text 5"/>
          <p:cNvSpPr txBox="1"/>
          <p:nvPr/>
        </p:nvSpPr>
        <p:spPr>
          <a:xfrm>
            <a:off x="658368"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Messenger, voice, the app; games and health app. Nothing another agent wrote.</a:t>
            </a:r>
            <a:endParaRPr lang="en-US" sz="950" dirty="0"/>
          </a:p>
        </p:txBody>
      </p:sp>
      <p:sp>
        <p:nvSpPr>
          <p:cNvPr id="9" name="Shape 6"/>
          <p:cNvSpPr/>
          <p:nvPr/>
        </p:nvSpPr>
        <p:spPr>
          <a:xfrm>
            <a:off x="1856232" y="2715768"/>
            <a:ext cx="82296" cy="0"/>
          </a:xfrm>
          <a:prstGeom prst="line">
            <a:avLst/>
          </a:prstGeom>
          <a:noFill/>
          <a:ln w="22225">
            <a:solidFill>
              <a:srgbClr val="8A8A92"/>
            </a:solidFill>
            <a:prstDash val="solid"/>
            <a:tailEnd type="triangle"/>
          </a:ln>
        </p:spPr>
      </p:sp>
      <p:sp>
        <p:nvSpPr>
          <p:cNvPr id="10" name="Shape 7"/>
          <p:cNvSpPr/>
          <p:nvPr/>
        </p:nvSpPr>
        <p:spPr>
          <a:xfrm>
            <a:off x="1947672" y="1691640"/>
            <a:ext cx="1298448" cy="2057400"/>
          </a:xfrm>
          <a:prstGeom prst="roundRect">
            <a:avLst>
              <a:gd name="adj" fmla="val 8451"/>
            </a:avLst>
          </a:prstGeom>
          <a:solidFill>
            <a:srgbClr val="E8F1FD"/>
          </a:solidFill>
          <a:ln w="12700">
            <a:solidFill>
              <a:srgbClr val="E8F1FD"/>
            </a:solidFill>
            <a:prstDash val="solid"/>
          </a:ln>
        </p:spPr>
      </p:sp>
      <p:sp>
        <p:nvSpPr>
          <p:cNvPr id="11" name="Text 8"/>
          <p:cNvSpPr txBox="1"/>
          <p:nvPr/>
        </p:nvSpPr>
        <p:spPr>
          <a:xfrm>
            <a:off x="2057400"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2 · EMBED</a:t>
            </a:r>
            <a:endParaRPr lang="en-US" sz="950" dirty="0"/>
          </a:p>
        </p:txBody>
      </p:sp>
      <p:sp>
        <p:nvSpPr>
          <p:cNvPr id="12" name="Text 9"/>
          <p:cNvSpPr txBox="1"/>
          <p:nvPr/>
        </p:nvSpPr>
        <p:spPr>
          <a:xfrm>
            <a:off x="2057400"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Meta's DRAMA</a:t>
            </a:r>
            <a:endParaRPr lang="en-US" sz="1250" dirty="0"/>
          </a:p>
        </p:txBody>
      </p:sp>
      <p:sp>
        <p:nvSpPr>
          <p:cNvPr id="13" name="Text 10"/>
          <p:cNvSpPr txBox="1"/>
          <p:nvPr/>
        </p:nvSpPr>
        <p:spPr>
          <a:xfrm>
            <a:off x="2057400"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drama-base, all 768 dimensions, on the server's CPU</a:t>
            </a:r>
            <a:endParaRPr lang="en-US" sz="950" dirty="0"/>
          </a:p>
        </p:txBody>
      </p:sp>
      <p:sp>
        <p:nvSpPr>
          <p:cNvPr id="14" name="Shape 11"/>
          <p:cNvSpPr/>
          <p:nvPr/>
        </p:nvSpPr>
        <p:spPr>
          <a:xfrm>
            <a:off x="3255264" y="2715768"/>
            <a:ext cx="82296" cy="0"/>
          </a:xfrm>
          <a:prstGeom prst="line">
            <a:avLst/>
          </a:prstGeom>
          <a:noFill/>
          <a:ln w="22225">
            <a:solidFill>
              <a:srgbClr val="8A8A92"/>
            </a:solidFill>
            <a:prstDash val="solid"/>
            <a:tailEnd type="triangle"/>
          </a:ln>
        </p:spPr>
      </p:sp>
      <p:sp>
        <p:nvSpPr>
          <p:cNvPr id="15" name="Shape 12"/>
          <p:cNvSpPr/>
          <p:nvPr/>
        </p:nvSpPr>
        <p:spPr>
          <a:xfrm>
            <a:off x="3346704" y="1691640"/>
            <a:ext cx="1298448" cy="2057400"/>
          </a:xfrm>
          <a:prstGeom prst="roundRect">
            <a:avLst>
              <a:gd name="adj" fmla="val 8451"/>
            </a:avLst>
          </a:prstGeom>
          <a:solidFill>
            <a:srgbClr val="E8F1FD"/>
          </a:solidFill>
          <a:ln w="12700">
            <a:solidFill>
              <a:srgbClr val="E8F1FD"/>
            </a:solidFill>
            <a:prstDash val="solid"/>
          </a:ln>
        </p:spPr>
      </p:sp>
      <p:sp>
        <p:nvSpPr>
          <p:cNvPr id="16" name="Text 13"/>
          <p:cNvSpPr txBox="1"/>
          <p:nvPr/>
        </p:nvSpPr>
        <p:spPr>
          <a:xfrm>
            <a:off x="3456432"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3 · RETRIEVE</a:t>
            </a:r>
            <a:endParaRPr lang="en-US" sz="950" dirty="0"/>
          </a:p>
        </p:txBody>
      </p:sp>
      <p:sp>
        <p:nvSpPr>
          <p:cNvPr id="17" name="Text 14"/>
          <p:cNvSpPr txBox="1"/>
          <p:nvPr/>
        </p:nvSpPr>
        <p:spPr>
          <a:xfrm>
            <a:off x="3456432"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Meaning × age</a:t>
            </a:r>
            <a:endParaRPr lang="en-US" sz="1250" dirty="0"/>
          </a:p>
        </p:txBody>
      </p:sp>
      <p:sp>
        <p:nvSpPr>
          <p:cNvPr id="18" name="Text 15"/>
          <p:cNvSpPr txBox="1"/>
          <p:nvPr/>
        </p:nvSpPr>
        <p:spPr>
          <a:xfrm>
            <a:off x="3456432"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Cosine similarity, faded by age (a body note halves in a week); the top notes</a:t>
            </a:r>
            <a:endParaRPr lang="en-US" sz="950" dirty="0"/>
          </a:p>
        </p:txBody>
      </p:sp>
      <p:sp>
        <p:nvSpPr>
          <p:cNvPr id="19" name="Shape 16"/>
          <p:cNvSpPr/>
          <p:nvPr/>
        </p:nvSpPr>
        <p:spPr>
          <a:xfrm>
            <a:off x="4654296" y="2715768"/>
            <a:ext cx="82296" cy="0"/>
          </a:xfrm>
          <a:prstGeom prst="line">
            <a:avLst/>
          </a:prstGeom>
          <a:noFill/>
          <a:ln w="22225">
            <a:solidFill>
              <a:srgbClr val="8A8A92"/>
            </a:solidFill>
            <a:prstDash val="solid"/>
            <a:tailEnd type="triangle"/>
          </a:ln>
        </p:spPr>
      </p:sp>
      <p:sp>
        <p:nvSpPr>
          <p:cNvPr id="20" name="Shape 17"/>
          <p:cNvSpPr/>
          <p:nvPr/>
        </p:nvSpPr>
        <p:spPr>
          <a:xfrm>
            <a:off x="4745736" y="1691640"/>
            <a:ext cx="1298448" cy="2057400"/>
          </a:xfrm>
          <a:prstGeom prst="roundRect">
            <a:avLst>
              <a:gd name="adj" fmla="val 8451"/>
            </a:avLst>
          </a:prstGeom>
          <a:solidFill>
            <a:srgbClr val="E9F3EC"/>
          </a:solidFill>
          <a:ln w="12700">
            <a:solidFill>
              <a:srgbClr val="E9F3EC"/>
            </a:solidFill>
            <a:prstDash val="solid"/>
          </a:ln>
        </p:spPr>
      </p:sp>
      <p:sp>
        <p:nvSpPr>
          <p:cNvPr id="21" name="Text 18"/>
          <p:cNvSpPr txBox="1"/>
          <p:nvPr/>
        </p:nvSpPr>
        <p:spPr>
          <a:xfrm>
            <a:off x="4855464" y="1783080"/>
            <a:ext cx="1097280" cy="201168"/>
          </a:xfrm>
          <a:prstGeom prst="rect">
            <a:avLst/>
          </a:prstGeom>
          <a:noFill/>
          <a:ln/>
        </p:spPr>
        <p:txBody>
          <a:bodyPr wrap="square" lIns="0" tIns="0" rIns="0" bIns="0" rtlCol="0" anchor="t"/>
          <a:lstStyle/>
          <a:p>
            <a:pPr indent="0" marL="0">
              <a:buNone/>
            </a:pPr>
            <a:r>
              <a:rPr lang="en-US" sz="950" b="1" spc="100" kern="0" dirty="0">
                <a:solidFill>
                  <a:srgbClr val="0A7F44"/>
                </a:solidFill>
              </a:rPr>
              <a:t>4 · GROUND</a:t>
            </a:r>
            <a:endParaRPr lang="en-US" sz="950" dirty="0"/>
          </a:p>
        </p:txBody>
      </p:sp>
      <p:sp>
        <p:nvSpPr>
          <p:cNvPr id="22" name="Text 19"/>
          <p:cNvSpPr txBox="1"/>
          <p:nvPr/>
        </p:nvSpPr>
        <p:spPr>
          <a:xfrm>
            <a:off x="4855464"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Plan, with citations</a:t>
            </a:r>
            <a:endParaRPr lang="en-US" sz="1250" dirty="0"/>
          </a:p>
        </p:txBody>
      </p:sp>
      <p:sp>
        <p:nvSpPr>
          <p:cNvPr id="23" name="Text 20"/>
          <p:cNvSpPr txBox="1"/>
          <p:nvPr/>
        </p:nvSpPr>
        <p:spPr>
          <a:xfrm>
            <a:off x="4855464"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Muse Glimmer plans from them; code's rules cite their notes, checked</a:t>
            </a:r>
            <a:endParaRPr lang="en-US" sz="950" dirty="0"/>
          </a:p>
        </p:txBody>
      </p:sp>
      <p:sp>
        <p:nvSpPr>
          <p:cNvPr id="24" name="Shape 21"/>
          <p:cNvSpPr/>
          <p:nvPr/>
        </p:nvSpPr>
        <p:spPr>
          <a:xfrm>
            <a:off x="548640" y="3931920"/>
            <a:ext cx="5486400" cy="1051560"/>
          </a:xfrm>
          <a:prstGeom prst="roundRect">
            <a:avLst>
              <a:gd name="adj" fmla="val 10435"/>
            </a:avLst>
          </a:prstGeom>
          <a:solidFill>
            <a:srgbClr val="FBF3E6"/>
          </a:solidFill>
          <a:ln w="12700">
            <a:solidFill>
              <a:srgbClr val="FBF3E6"/>
            </a:solidFill>
            <a:prstDash val="solid"/>
          </a:ln>
        </p:spPr>
      </p:sp>
      <p:sp>
        <p:nvSpPr>
          <p:cNvPr id="25" name="Text 22"/>
          <p:cNvSpPr txBox="1"/>
          <p:nvPr/>
        </p:nvSpPr>
        <p:spPr>
          <a:xfrm>
            <a:off x="731520" y="4023360"/>
            <a:ext cx="5120640" cy="274320"/>
          </a:xfrm>
          <a:prstGeom prst="rect">
            <a:avLst/>
          </a:prstGeom>
          <a:noFill/>
          <a:ln/>
        </p:spPr>
        <p:txBody>
          <a:bodyPr wrap="square" lIns="0" tIns="0" rIns="0" bIns="0" rtlCol="0" anchor="t"/>
          <a:lstStyle/>
          <a:p>
            <a:pPr indent="0" marL="0">
              <a:buNone/>
            </a:pPr>
            <a:r>
              <a:rPr lang="en-US" sz="1300" b="1" dirty="0">
                <a:solidFill>
                  <a:srgbClr val="B26A00"/>
                </a:solidFill>
              </a:rPr>
              <a:t>Notes that change</a:t>
            </a:r>
            <a:endParaRPr lang="en-US" sz="1300" dirty="0"/>
          </a:p>
        </p:txBody>
      </p:sp>
      <p:sp>
        <p:nvSpPr>
          <p:cNvPr id="26" name="Text 23"/>
          <p:cNvSpPr txBox="1"/>
          <p:nvPr/>
        </p:nvSpPr>
        <p:spPr>
          <a:xfrm>
            <a:off x="731520" y="4315968"/>
            <a:ext cx="5120640" cy="640080"/>
          </a:xfrm>
          <a:prstGeom prst="rect">
            <a:avLst/>
          </a:prstGeom>
          <a:noFill/>
          <a:ln/>
        </p:spPr>
        <p:txBody>
          <a:bodyPr wrap="square" lIns="0" tIns="0" rIns="0" bIns="0" rtlCol="0" anchor="t"/>
          <a:lstStyle/>
          <a:p>
            <a:pPr indent="0" marL="0">
              <a:buNone/>
            </a:pPr>
            <a:r>
              <a:rPr lang="en-US" sz="1050" dirty="0">
                <a:solidFill>
                  <a:srgbClr val="0A0A0B"/>
                </a:solidFill>
              </a:rPr>
              <a:t>A new note is checked against the old ones it may change: added, replacing them, or the same. A replaced note is kept but never recalled, so "leave Tomás out" gives way to "Tomás is fine again".</a:t>
            </a:r>
            <a:endParaRPr lang="en-US" sz="1050" dirty="0"/>
          </a:p>
        </p:txBody>
      </p:sp>
      <p:sp>
        <p:nvSpPr>
          <p:cNvPr id="27" name="Shape 24"/>
          <p:cNvSpPr/>
          <p:nvPr/>
        </p:nvSpPr>
        <p:spPr>
          <a:xfrm>
            <a:off x="548640" y="5120640"/>
            <a:ext cx="5486400" cy="1051560"/>
          </a:xfrm>
          <a:prstGeom prst="roundRect">
            <a:avLst>
              <a:gd name="adj" fmla="val 10435"/>
            </a:avLst>
          </a:prstGeom>
          <a:solidFill>
            <a:srgbClr val="F6F7F8"/>
          </a:solidFill>
          <a:ln w="12700">
            <a:solidFill>
              <a:srgbClr val="F6F7F8"/>
            </a:solidFill>
            <a:prstDash val="solid"/>
          </a:ln>
        </p:spPr>
      </p:sp>
      <p:sp>
        <p:nvSpPr>
          <p:cNvPr id="28" name="Text 25"/>
          <p:cNvSpPr txBox="1"/>
          <p:nvPr/>
        </p:nvSpPr>
        <p:spPr>
          <a:xfrm>
            <a:off x="731520" y="5212080"/>
            <a:ext cx="5120640" cy="274320"/>
          </a:xfrm>
          <a:prstGeom prst="rect">
            <a:avLst/>
          </a:prstGeom>
          <a:noFill/>
          <a:ln/>
        </p:spPr>
        <p:txBody>
          <a:bodyPr wrap="square" lIns="0" tIns="0" rIns="0" bIns="0" rtlCol="0" anchor="t"/>
          <a:lstStyle/>
          <a:p>
            <a:pPr indent="0" marL="0">
              <a:buNone/>
            </a:pPr>
            <a:r>
              <a:rPr lang="en-US" sz="1300" b="1" dirty="0">
                <a:solidFill>
                  <a:srgbClr val="0A0A0B"/>
                </a:solidFill>
              </a:rPr>
              <a:t>End to end</a:t>
            </a:r>
            <a:endParaRPr lang="en-US" sz="1300" dirty="0"/>
          </a:p>
        </p:txBody>
      </p:sp>
      <p:sp>
        <p:nvSpPr>
          <p:cNvPr id="29" name="Text 26"/>
          <p:cNvSpPr txBox="1"/>
          <p:nvPr/>
        </p:nvSpPr>
        <p:spPr>
          <a:xfrm>
            <a:off x="731520" y="5504688"/>
            <a:ext cx="5120640" cy="640080"/>
          </a:xfrm>
          <a:prstGeom prst="rect">
            <a:avLst/>
          </a:prstGeom>
          <a:noFill/>
          <a:ln/>
        </p:spPr>
        <p:txBody>
          <a:bodyPr wrap="square" lIns="0" tIns="0" rIns="0" bIns="0" rtlCol="0" anchor="t"/>
          <a:lstStyle/>
          <a:p>
            <a:pPr indent="0" marL="0">
              <a:buNone/>
            </a:pPr>
            <a:r>
              <a:rPr lang="en-US" sz="1050" dirty="0">
                <a:solidFill>
                  <a:srgbClr val="55555C"/>
                </a:solidFill>
              </a:rPr>
              <a:t>Two weeks after the player said to leave Tomás out, the planner left him out in 3 of 3 weeks with memory on, and in 0 of 3 with it off (a small test).</a:t>
            </a:r>
            <a:endParaRPr lang="en-US" sz="1050" dirty="0"/>
          </a:p>
        </p:txBody>
      </p:sp>
      <p:graphicFrame>
        <p:nvGraphicFramePr>
          <p:cNvPr id="30" name="Chart 0" descr=""/>
          <p:cNvGraphicFramePr/>
          <p:nvPr/>
        </p:nvGraphicFramePr>
        <p:xfrm>
          <a:off x="6309360" y="1600200"/>
          <a:ext cx="5349240" cy="2743200"/>
        </p:xfrm>
        <a:graphic xmlns:a="http://schemas.openxmlformats.org/drawingml/2006/main">
          <a:graphicData uri="http://schemas.openxmlformats.org/drawingml/2006/chart">
            <c:chart xmlns:c="http://schemas.openxmlformats.org/drawingml/2006/chart" r:id="rId1"/>
          </a:graphicData>
        </a:graphic>
      </p:graphicFrame>
      <p:sp>
        <p:nvSpPr>
          <p:cNvPr id="31" name="Shape 27"/>
          <p:cNvSpPr/>
          <p:nvPr/>
        </p:nvSpPr>
        <p:spPr>
          <a:xfrm>
            <a:off x="6309360" y="4572000"/>
            <a:ext cx="2624328" cy="1600200"/>
          </a:xfrm>
          <a:prstGeom prst="roundRect">
            <a:avLst>
              <a:gd name="adj" fmla="val 6857"/>
            </a:avLst>
          </a:prstGeom>
          <a:solidFill>
            <a:srgbClr val="E9F3EC"/>
          </a:solidFill>
          <a:ln w="12700">
            <a:solidFill>
              <a:srgbClr val="E9F3EC"/>
            </a:solidFill>
            <a:prstDash val="solid"/>
          </a:ln>
        </p:spPr>
      </p:sp>
      <p:sp>
        <p:nvSpPr>
          <p:cNvPr id="32" name="Text 28"/>
          <p:cNvSpPr txBox="1"/>
          <p:nvPr/>
        </p:nvSpPr>
        <p:spPr>
          <a:xfrm>
            <a:off x="6492240" y="4681728"/>
            <a:ext cx="2286000" cy="548640"/>
          </a:xfrm>
          <a:prstGeom prst="rect">
            <a:avLst/>
          </a:prstGeom>
          <a:noFill/>
          <a:ln/>
        </p:spPr>
        <p:txBody>
          <a:bodyPr wrap="square" lIns="0" tIns="0" rIns="0" bIns="0" rtlCol="0" anchor="t"/>
          <a:lstStyle/>
          <a:p>
            <a:pPr indent="0" marL="0">
              <a:buNone/>
            </a:pPr>
            <a:r>
              <a:rPr lang="en-US" sz="2600" b="1" dirty="0">
                <a:solidFill>
                  <a:srgbClr val="0A7F44"/>
                </a:solidFill>
              </a:rPr>
              <a:t>0 vs 15</a:t>
            </a:r>
            <a:endParaRPr lang="en-US" sz="2600" dirty="0"/>
          </a:p>
        </p:txBody>
      </p:sp>
      <p:sp>
        <p:nvSpPr>
          <p:cNvPr id="33" name="Text 29"/>
          <p:cNvSpPr txBox="1"/>
          <p:nvPr/>
        </p:nvSpPr>
        <p:spPr>
          <a:xfrm>
            <a:off x="6492240"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out-of-date notes still taken as true, with updates against append-only</a:t>
            </a:r>
            <a:endParaRPr lang="en-US" sz="1050" dirty="0"/>
          </a:p>
        </p:txBody>
      </p:sp>
      <p:sp>
        <p:nvSpPr>
          <p:cNvPr id="34" name="Shape 30"/>
          <p:cNvSpPr/>
          <p:nvPr/>
        </p:nvSpPr>
        <p:spPr>
          <a:xfrm>
            <a:off x="9034272" y="4572000"/>
            <a:ext cx="2624328" cy="1600200"/>
          </a:xfrm>
          <a:prstGeom prst="roundRect">
            <a:avLst>
              <a:gd name="adj" fmla="val 6857"/>
            </a:avLst>
          </a:prstGeom>
          <a:solidFill>
            <a:srgbClr val="F6F7F8"/>
          </a:solidFill>
          <a:ln w="12700">
            <a:solidFill>
              <a:srgbClr val="F6F7F8"/>
            </a:solidFill>
            <a:prstDash val="solid"/>
          </a:ln>
        </p:spPr>
      </p:sp>
      <p:sp>
        <p:nvSpPr>
          <p:cNvPr id="35" name="Text 31"/>
          <p:cNvSpPr txBox="1"/>
          <p:nvPr/>
        </p:nvSpPr>
        <p:spPr>
          <a:xfrm>
            <a:off x="9217152" y="4681728"/>
            <a:ext cx="2286000" cy="548640"/>
          </a:xfrm>
          <a:prstGeom prst="rect">
            <a:avLst/>
          </a:prstGeom>
          <a:noFill/>
          <a:ln/>
        </p:spPr>
        <p:txBody>
          <a:bodyPr wrap="square" lIns="0" tIns="0" rIns="0" bIns="0" rtlCol="0" anchor="t"/>
          <a:lstStyle/>
          <a:p>
            <a:pPr indent="0" marL="0">
              <a:buNone/>
            </a:pPr>
            <a:r>
              <a:rPr lang="en-US" sz="2600" b="1" dirty="0">
                <a:solidFill>
                  <a:srgbClr val="0A0A0B"/>
                </a:solidFill>
              </a:rPr>
              <a:t>90.5%</a:t>
            </a:r>
            <a:endParaRPr lang="en-US" sz="2600" dirty="0"/>
          </a:p>
        </p:txBody>
      </p:sp>
      <p:sp>
        <p:nvSpPr>
          <p:cNvPr id="36" name="Text 32"/>
          <p:cNvSpPr txBox="1"/>
          <p:nvPr/>
        </p:nvSpPr>
        <p:spPr>
          <a:xfrm>
            <a:off x="9217152"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of the rules notes ask for kept right (append-only: 52.4%)</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 ARCHITECTURE · TESTED IN CODE AND SIMULATION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An agent that asks, doubts, abstracts and proves</a:t>
            </a:r>
            <a:endParaRPr lang="en-US" sz="3200" dirty="0"/>
          </a:p>
        </p:txBody>
      </p:sp>
      <p:sp>
        <p:nvSpPr>
          <p:cNvPr id="5" name="Shape 2"/>
          <p:cNvSpPr/>
          <p:nvPr/>
        </p:nvSpPr>
        <p:spPr>
          <a:xfrm>
            <a:off x="548640" y="1645920"/>
            <a:ext cx="5440680" cy="2194560"/>
          </a:xfrm>
          <a:prstGeom prst="roundRect">
            <a:avLst>
              <a:gd name="adj" fmla="val 5000"/>
            </a:avLst>
          </a:prstGeom>
          <a:solidFill>
            <a:srgbClr val="FFFFFF"/>
          </a:solidFill>
          <a:ln w="12700">
            <a:solidFill>
              <a:srgbClr val="DCDCE0"/>
            </a:solidFill>
            <a:prstDash val="solid"/>
          </a:ln>
        </p:spPr>
      </p:sp>
      <p:sp>
        <p:nvSpPr>
          <p:cNvPr id="6" name="Text 3"/>
          <p:cNvSpPr txBox="1"/>
          <p:nvPr/>
        </p:nvSpPr>
        <p:spPr>
          <a:xfrm>
            <a:off x="731520" y="1783080"/>
            <a:ext cx="1828800" cy="228600"/>
          </a:xfrm>
          <a:prstGeom prst="rect">
            <a:avLst/>
          </a:prstGeom>
          <a:noFill/>
          <a:ln/>
        </p:spPr>
        <p:txBody>
          <a:bodyPr wrap="square" lIns="0" tIns="0" rIns="0" bIns="0" rtlCol="0" anchor="t"/>
          <a:lstStyle/>
          <a:p>
            <a:pPr indent="0" marL="0">
              <a:buNone/>
            </a:pPr>
            <a:r>
              <a:rPr lang="en-US" sz="1000" b="1" spc="100" kern="0" dirty="0">
                <a:solidFill>
                  <a:srgbClr val="0A7F44"/>
                </a:solidFill>
              </a:rPr>
              <a:t>ASKS</a:t>
            </a:r>
            <a:endParaRPr lang="en-US" sz="1000" dirty="0"/>
          </a:p>
        </p:txBody>
      </p:sp>
      <p:sp>
        <p:nvSpPr>
          <p:cNvPr id="7" name="Text 4"/>
          <p:cNvSpPr txBox="1"/>
          <p:nvPr/>
        </p:nvSpPr>
        <p:spPr>
          <a:xfrm>
            <a:off x="73152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Active epistemic querying</a:t>
            </a:r>
            <a:endParaRPr lang="en-US" sz="1500" dirty="0"/>
          </a:p>
        </p:txBody>
      </p:sp>
      <p:sp>
        <p:nvSpPr>
          <p:cNvPr id="8" name="Text 5"/>
          <p:cNvSpPr txBox="1"/>
          <p:nvPr/>
        </p:nvSpPr>
        <p:spPr>
          <a:xfrm>
            <a:off x="73152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When talks fail, a Beta posterior per member and hour (from yes/no it has seen, never a calendar) times their chance of a yes picks the one question that most raises the chance of a game.</a:t>
            </a:r>
            <a:endParaRPr lang="en-US" sz="1050" dirty="0"/>
          </a:p>
        </p:txBody>
      </p:sp>
      <p:sp>
        <p:nvSpPr>
          <p:cNvPr id="9" name="Shape 6"/>
          <p:cNvSpPr/>
          <p:nvPr/>
        </p:nvSpPr>
        <p:spPr>
          <a:xfrm>
            <a:off x="731520" y="3218688"/>
            <a:ext cx="5074920" cy="502920"/>
          </a:xfrm>
          <a:prstGeom prst="roundRect">
            <a:avLst>
              <a:gd name="adj" fmla="val 21818"/>
            </a:avLst>
          </a:prstGeom>
          <a:solidFill>
            <a:srgbClr val="E9F3EC"/>
          </a:solidFill>
          <a:ln w="12700">
            <a:solidFill>
              <a:srgbClr val="E9F3EC"/>
            </a:solidFill>
            <a:prstDash val="solid"/>
          </a:ln>
        </p:spPr>
      </p:sp>
      <p:sp>
        <p:nvSpPr>
          <p:cNvPr id="10" name="Text 7"/>
          <p:cNvSpPr txBox="1"/>
          <p:nvPr/>
        </p:nvSpPr>
        <p:spPr>
          <a:xfrm>
            <a:off x="84124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One question, then a talk: 51.9% games, against 40.7% asking nothing, 44.4% a random question (20,000 simulated requests)</a:t>
            </a:r>
            <a:endParaRPr lang="en-US" sz="1050" dirty="0"/>
          </a:p>
        </p:txBody>
      </p:sp>
      <p:sp>
        <p:nvSpPr>
          <p:cNvPr id="11" name="Shape 8"/>
          <p:cNvSpPr/>
          <p:nvPr/>
        </p:nvSpPr>
        <p:spPr>
          <a:xfrm>
            <a:off x="6172200" y="1645920"/>
            <a:ext cx="5440680" cy="2194560"/>
          </a:xfrm>
          <a:prstGeom prst="roundRect">
            <a:avLst>
              <a:gd name="adj" fmla="val 5000"/>
            </a:avLst>
          </a:prstGeom>
          <a:solidFill>
            <a:srgbClr val="FFFFFF"/>
          </a:solidFill>
          <a:ln w="12700">
            <a:solidFill>
              <a:srgbClr val="DCDCE0"/>
            </a:solidFill>
            <a:prstDash val="solid"/>
          </a:ln>
        </p:spPr>
      </p:sp>
      <p:sp>
        <p:nvSpPr>
          <p:cNvPr id="12" name="Text 9"/>
          <p:cNvSpPr txBox="1"/>
          <p:nvPr/>
        </p:nvSpPr>
        <p:spPr>
          <a:xfrm>
            <a:off x="6355080" y="1783080"/>
            <a:ext cx="1828800" cy="228600"/>
          </a:xfrm>
          <a:prstGeom prst="rect">
            <a:avLst/>
          </a:prstGeom>
          <a:noFill/>
          <a:ln/>
        </p:spPr>
        <p:txBody>
          <a:bodyPr wrap="square" lIns="0" tIns="0" rIns="0" bIns="0" rtlCol="0" anchor="t"/>
          <a:lstStyle/>
          <a:p>
            <a:pPr indent="0" marL="0">
              <a:buNone/>
            </a:pPr>
            <a:r>
              <a:rPr lang="en-US" sz="1000" b="1" spc="100" kern="0" dirty="0">
                <a:solidFill>
                  <a:srgbClr val="B26A00"/>
                </a:solidFill>
              </a:rPr>
              <a:t>DOUBTS</a:t>
            </a:r>
            <a:endParaRPr lang="en-US" sz="1000" dirty="0"/>
          </a:p>
        </p:txBody>
      </p:sp>
      <p:sp>
        <p:nvSpPr>
          <p:cNvPr id="13" name="Text 10"/>
          <p:cNvSpPr txBox="1"/>
          <p:nvPr/>
        </p:nvSpPr>
        <p:spPr>
          <a:xfrm>
            <a:off x="635508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 critic on every counter-offer</a:t>
            </a:r>
            <a:endParaRPr lang="en-US" sz="1500" dirty="0"/>
          </a:p>
        </p:txBody>
      </p:sp>
      <p:sp>
        <p:nvSpPr>
          <p:cNvPr id="14" name="Text 11"/>
          <p:cNvSpPr txBox="1"/>
          <p:nvPr/>
        </p:nvSpPr>
        <p:spPr>
          <a:xfrm>
            <a:off x="635508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Code reviews each counter for the player: more than two times asked in a talk is probing, and the player who keeps travelling furthest is not sent furthest again.</a:t>
            </a:r>
            <a:endParaRPr lang="en-US" sz="1050" dirty="0"/>
          </a:p>
        </p:txBody>
      </p:sp>
      <p:sp>
        <p:nvSpPr>
          <p:cNvPr id="15" name="Shape 12"/>
          <p:cNvSpPr/>
          <p:nvPr/>
        </p:nvSpPr>
        <p:spPr>
          <a:xfrm>
            <a:off x="6355080" y="3218688"/>
            <a:ext cx="5074920" cy="502920"/>
          </a:xfrm>
          <a:prstGeom prst="roundRect">
            <a:avLst>
              <a:gd name="adj" fmla="val 21818"/>
            </a:avLst>
          </a:prstGeom>
          <a:solidFill>
            <a:srgbClr val="FBF3E6"/>
          </a:solidFill>
          <a:ln w="12700">
            <a:solidFill>
              <a:srgbClr val="FBF3E6"/>
            </a:solidFill>
            <a:prstDash val="solid"/>
          </a:ln>
        </p:spPr>
      </p:sp>
      <p:sp>
        <p:nvSpPr>
          <p:cNvPr id="16" name="Text 13"/>
          <p:cNvSpPr txBox="1"/>
          <p:nvPr/>
        </p:nvSpPr>
        <p:spPr>
          <a:xfrm>
            <a:off x="646480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Probing and unfair counters refused, with the reason in the trail</a:t>
            </a:r>
            <a:endParaRPr lang="en-US" sz="1050" dirty="0"/>
          </a:p>
        </p:txBody>
      </p:sp>
      <p:sp>
        <p:nvSpPr>
          <p:cNvPr id="17" name="Shape 14"/>
          <p:cNvSpPr/>
          <p:nvPr/>
        </p:nvSpPr>
        <p:spPr>
          <a:xfrm>
            <a:off x="548640" y="3977640"/>
            <a:ext cx="5440680" cy="2194560"/>
          </a:xfrm>
          <a:prstGeom prst="roundRect">
            <a:avLst>
              <a:gd name="adj" fmla="val 5000"/>
            </a:avLst>
          </a:prstGeom>
          <a:solidFill>
            <a:srgbClr val="FFFFFF"/>
          </a:solidFill>
          <a:ln w="12700">
            <a:solidFill>
              <a:srgbClr val="DCDCE0"/>
            </a:solidFill>
            <a:prstDash val="solid"/>
          </a:ln>
        </p:spPr>
      </p:sp>
      <p:sp>
        <p:nvSpPr>
          <p:cNvPr id="18" name="Text 15"/>
          <p:cNvSpPr txBox="1"/>
          <p:nvPr/>
        </p:nvSpPr>
        <p:spPr>
          <a:xfrm>
            <a:off x="731520" y="4114800"/>
            <a:ext cx="1828800" cy="228600"/>
          </a:xfrm>
          <a:prstGeom prst="rect">
            <a:avLst/>
          </a:prstGeom>
          <a:noFill/>
          <a:ln/>
        </p:spPr>
        <p:txBody>
          <a:bodyPr wrap="square" lIns="0" tIns="0" rIns="0" bIns="0" rtlCol="0" anchor="t"/>
          <a:lstStyle/>
          <a:p>
            <a:pPr indent="0" marL="0">
              <a:buNone/>
            </a:pPr>
            <a:r>
              <a:rPr lang="en-US" sz="1000" b="1" spc="100" kern="0" dirty="0">
                <a:solidFill>
                  <a:srgbClr val="0064E0"/>
                </a:solidFill>
              </a:rPr>
              <a:t>ABSTRACTS</a:t>
            </a:r>
            <a:endParaRPr lang="en-US" sz="1000" dirty="0"/>
          </a:p>
        </p:txBody>
      </p:sp>
      <p:sp>
        <p:nvSpPr>
          <p:cNvPr id="19" name="Text 16"/>
          <p:cNvSpPr txBox="1"/>
          <p:nvPr/>
        </p:nvSpPr>
        <p:spPr>
          <a:xfrm>
            <a:off x="73152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From episodes to beliefs</a:t>
            </a:r>
            <a:endParaRPr lang="en-US" sz="1500" dirty="0"/>
          </a:p>
        </p:txBody>
      </p:sp>
      <p:sp>
        <p:nvSpPr>
          <p:cNvPr id="20" name="Text 17"/>
          <p:cNvSpPr txBox="1"/>
          <p:nvPr/>
        </p:nvSpPr>
        <p:spPr>
          <a:xfrm>
            <a:off x="73152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Weekly, Glimmer turns scattered notes into standing beliefs; each must cite live notes, two to generalize, and say no number they do not.</a:t>
            </a:r>
            <a:endParaRPr lang="en-US" sz="1050" dirty="0"/>
          </a:p>
        </p:txBody>
      </p:sp>
      <p:sp>
        <p:nvSpPr>
          <p:cNvPr id="21" name="Shape 18"/>
          <p:cNvSpPr/>
          <p:nvPr/>
        </p:nvSpPr>
        <p:spPr>
          <a:xfrm>
            <a:off x="731520" y="5550408"/>
            <a:ext cx="5074920" cy="502920"/>
          </a:xfrm>
          <a:prstGeom prst="roundRect">
            <a:avLst>
              <a:gd name="adj" fmla="val 21818"/>
            </a:avLst>
          </a:prstGeom>
          <a:solidFill>
            <a:srgbClr val="E8F1FD"/>
          </a:solidFill>
          <a:ln w="12700">
            <a:solidFill>
              <a:srgbClr val="E8F1FD"/>
            </a:solidFill>
            <a:prstDash val="solid"/>
          </a:ln>
        </p:spPr>
      </p:sp>
      <p:sp>
        <p:nvSpPr>
          <p:cNvPr id="22" name="Text 19"/>
          <p:cNvSpPr txBox="1"/>
          <p:nvPr/>
        </p:nvSpPr>
        <p:spPr>
          <a:xfrm>
            <a:off x="84124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10 notes to 3 beliefs, each on two notes, none dropped (Glimmer, 42 s)</a:t>
            </a:r>
            <a:endParaRPr lang="en-US" sz="1050" dirty="0"/>
          </a:p>
        </p:txBody>
      </p:sp>
      <p:sp>
        <p:nvSpPr>
          <p:cNvPr id="23" name="Shape 20"/>
          <p:cNvSpPr/>
          <p:nvPr/>
        </p:nvSpPr>
        <p:spPr>
          <a:xfrm>
            <a:off x="6172200" y="3977640"/>
            <a:ext cx="5440680" cy="2194560"/>
          </a:xfrm>
          <a:prstGeom prst="roundRect">
            <a:avLst>
              <a:gd name="adj" fmla="val 5000"/>
            </a:avLst>
          </a:prstGeom>
          <a:solidFill>
            <a:srgbClr val="FFFFFF"/>
          </a:solidFill>
          <a:ln w="12700">
            <a:solidFill>
              <a:srgbClr val="DCDCE0"/>
            </a:solidFill>
            <a:prstDash val="solid"/>
          </a:ln>
        </p:spPr>
      </p:sp>
      <p:sp>
        <p:nvSpPr>
          <p:cNvPr id="24" name="Text 21"/>
          <p:cNvSpPr txBox="1"/>
          <p:nvPr/>
        </p:nvSpPr>
        <p:spPr>
          <a:xfrm>
            <a:off x="6355080" y="4114800"/>
            <a:ext cx="1828800" cy="228600"/>
          </a:xfrm>
          <a:prstGeom prst="rect">
            <a:avLst/>
          </a:prstGeom>
          <a:noFill/>
          <a:ln/>
        </p:spPr>
        <p:txBody>
          <a:bodyPr wrap="square" lIns="0" tIns="0" rIns="0" bIns="0" rtlCol="0" anchor="t"/>
          <a:lstStyle/>
          <a:p>
            <a:pPr indent="0" marL="0">
              <a:buNone/>
            </a:pPr>
            <a:r>
              <a:rPr lang="en-US" sz="1000" b="1" spc="100" kern="0" dirty="0">
                <a:solidFill>
                  <a:srgbClr val="D1352B"/>
                </a:solidFill>
              </a:rPr>
              <a:t>PROVES</a:t>
            </a:r>
            <a:endParaRPr lang="en-US" sz="1000" dirty="0"/>
          </a:p>
        </p:txBody>
      </p:sp>
      <p:sp>
        <p:nvSpPr>
          <p:cNvPr id="25" name="Text 22"/>
          <p:cNvSpPr txBox="1"/>
          <p:nvPr/>
        </p:nvSpPr>
        <p:spPr>
          <a:xfrm>
            <a:off x="635508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Proof of consent</a:t>
            </a:r>
            <a:endParaRPr lang="en-US" sz="1500" dirty="0"/>
          </a:p>
        </p:txBody>
      </p:sp>
      <p:sp>
        <p:nvSpPr>
          <p:cNvPr id="26" name="Text 23"/>
          <p:cNvSpPr txBox="1"/>
          <p:nvPr/>
        </p:nvSpPr>
        <p:spPr>
          <a:xfrm>
            <a:off x="635508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Every player's agent signs the agreed game with its own Ed25519 key; booking checks each one against the game it books.</a:t>
            </a:r>
            <a:endParaRPr lang="en-US" sz="1050" dirty="0"/>
          </a:p>
        </p:txBody>
      </p:sp>
      <p:sp>
        <p:nvSpPr>
          <p:cNvPr id="27" name="Shape 24"/>
          <p:cNvSpPr/>
          <p:nvPr/>
        </p:nvSpPr>
        <p:spPr>
          <a:xfrm>
            <a:off x="6355080" y="5550408"/>
            <a:ext cx="5074920" cy="502920"/>
          </a:xfrm>
          <a:prstGeom prst="roundRect">
            <a:avLst>
              <a:gd name="adj" fmla="val 21818"/>
            </a:avLst>
          </a:prstGeom>
          <a:solidFill>
            <a:srgbClr val="FBEAE9"/>
          </a:solidFill>
          <a:ln w="12700">
            <a:solidFill>
              <a:srgbClr val="FBEAE9"/>
            </a:solidFill>
            <a:prstDash val="solid"/>
          </a:ln>
        </p:spPr>
      </p:sp>
      <p:sp>
        <p:nvSpPr>
          <p:cNvPr id="28" name="Text 25"/>
          <p:cNvSpPr txBox="1"/>
          <p:nvPr/>
        </p:nvSpPr>
        <p:spPr>
          <a:xfrm>
            <a:off x="646480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A changed time, an added player or another agent's key: refused</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It stays the same size as the club grows</a:t>
            </a:r>
            <a:endParaRPr lang="en-US" sz="3200" dirty="0"/>
          </a:p>
        </p:txBody>
      </p:sp>
      <p:pic>
        <p:nvPicPr>
          <p:cNvPr id="5" name="Image 0" descr="preencoded.png">    </p:cNvPr>
          <p:cNvPicPr>
            <a:picLocks noChangeAspect="1"/>
          </p:cNvPicPr>
          <p:nvPr/>
        </p:nvPicPr>
        <p:blipFill>
          <a:blip r:embed="rId1"/>
          <a:stretch>
            <a:fillRect/>
          </a:stretch>
        </p:blipFill>
        <p:spPr>
          <a:xfrm>
            <a:off x="548640" y="1645920"/>
            <a:ext cx="7315200" cy="3850105"/>
          </a:xfrm>
          <a:prstGeom prst="rect">
            <a:avLst/>
          </a:prstGeom>
        </p:spPr>
      </p:pic>
      <p:sp>
        <p:nvSpPr>
          <p:cNvPr id="6" name="Text 2"/>
          <p:cNvSpPr txBox="1"/>
          <p:nvPr/>
        </p:nvSpPr>
        <p:spPr>
          <a:xfrm>
            <a:off x="548640" y="5587465"/>
            <a:ext cx="7315200" cy="274320"/>
          </a:xfrm>
          <a:prstGeom prst="rect">
            <a:avLst/>
          </a:prstGeom>
          <a:noFill/>
          <a:ln/>
        </p:spPr>
        <p:txBody>
          <a:bodyPr wrap="square" lIns="0" tIns="0" rIns="0" bIns="0" rtlCol="0" anchor="t"/>
          <a:lstStyle/>
          <a:p>
            <a:pPr indent="0" marL="0">
              <a:buNone/>
            </a:pPr>
            <a:r>
              <a:rPr lang="en-US" sz="1100" dirty="0">
                <a:solidFill>
                  <a:srgbClr val="55555C"/>
                </a:solidFill>
              </a:rPr>
              <a:t>Tokens one model call reads to choose players, by club size</a:t>
            </a:r>
            <a:endParaRPr lang="en-US" sz="1100" dirty="0"/>
          </a:p>
        </p:txBody>
      </p:sp>
      <p:sp>
        <p:nvSpPr>
          <p:cNvPr id="7" name="Shape 3"/>
          <p:cNvSpPr/>
          <p:nvPr/>
        </p:nvSpPr>
        <p:spPr>
          <a:xfrm>
            <a:off x="8183880" y="1737360"/>
            <a:ext cx="3429000" cy="1325880"/>
          </a:xfrm>
          <a:prstGeom prst="roundRect">
            <a:avLst>
              <a:gd name="adj" fmla="val 8276"/>
            </a:avLst>
          </a:prstGeom>
          <a:solidFill>
            <a:srgbClr val="E9F3EC"/>
          </a:solidFill>
          <a:ln w="12700">
            <a:solidFill>
              <a:srgbClr val="E9F3EC"/>
            </a:solidFill>
            <a:prstDash val="solid"/>
          </a:ln>
        </p:spPr>
      </p:sp>
      <p:sp>
        <p:nvSpPr>
          <p:cNvPr id="8" name="Text 4"/>
          <p:cNvSpPr txBox="1"/>
          <p:nvPr/>
        </p:nvSpPr>
        <p:spPr>
          <a:xfrm>
            <a:off x="8366760" y="1828800"/>
            <a:ext cx="3108960" cy="502920"/>
          </a:xfrm>
          <a:prstGeom prst="rect">
            <a:avLst/>
          </a:prstGeom>
          <a:noFill/>
          <a:ln/>
        </p:spPr>
        <p:txBody>
          <a:bodyPr wrap="square" lIns="0" tIns="0" rIns="0" bIns="0" rtlCol="0" anchor="t"/>
          <a:lstStyle/>
          <a:p>
            <a:pPr indent="0" marL="0">
              <a:buNone/>
            </a:pPr>
            <a:r>
              <a:rPr lang="en-US" sz="2400" b="1" dirty="0">
                <a:solidFill>
                  <a:srgbClr val="0A7F44"/>
                </a:solidFill>
              </a:rPr>
              <a:t>1,505 → 1,563</a:t>
            </a:r>
            <a:endParaRPr lang="en-US" sz="2400" dirty="0"/>
          </a:p>
        </p:txBody>
      </p:sp>
      <p:sp>
        <p:nvSpPr>
          <p:cNvPr id="9" name="Text 5"/>
          <p:cNvSpPr txBox="1"/>
          <p:nvPr/>
        </p:nvSpPr>
        <p:spPr>
          <a:xfrm>
            <a:off x="8366760" y="235915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per call from 11 to 301 members: Serve's shortlist, made by code</a:t>
            </a:r>
            <a:endParaRPr lang="en-US" sz="1050" dirty="0"/>
          </a:p>
        </p:txBody>
      </p:sp>
      <p:sp>
        <p:nvSpPr>
          <p:cNvPr id="10" name="Shape 6"/>
          <p:cNvSpPr/>
          <p:nvPr/>
        </p:nvSpPr>
        <p:spPr>
          <a:xfrm>
            <a:off x="8183880" y="3200400"/>
            <a:ext cx="3429000" cy="1325880"/>
          </a:xfrm>
          <a:prstGeom prst="roundRect">
            <a:avLst>
              <a:gd name="adj" fmla="val 8276"/>
            </a:avLst>
          </a:prstGeom>
          <a:solidFill>
            <a:srgbClr val="F6F7F8"/>
          </a:solidFill>
          <a:ln w="12700">
            <a:solidFill>
              <a:srgbClr val="F6F7F8"/>
            </a:solidFill>
            <a:prstDash val="solid"/>
          </a:ln>
        </p:spPr>
      </p:sp>
      <p:sp>
        <p:nvSpPr>
          <p:cNvPr id="11" name="Text 7"/>
          <p:cNvSpPr txBox="1"/>
          <p:nvPr/>
        </p:nvSpPr>
        <p:spPr>
          <a:xfrm>
            <a:off x="8366760" y="3291840"/>
            <a:ext cx="3108960" cy="502920"/>
          </a:xfrm>
          <a:prstGeom prst="rect">
            <a:avLst/>
          </a:prstGeom>
          <a:noFill/>
          <a:ln/>
        </p:spPr>
        <p:txBody>
          <a:bodyPr wrap="square" lIns="0" tIns="0" rIns="0" bIns="0" rtlCol="0" anchor="t"/>
          <a:lstStyle/>
          <a:p>
            <a:pPr indent="0" marL="0">
              <a:buNone/>
            </a:pPr>
            <a:r>
              <a:rPr lang="en-US" sz="2400" b="1" dirty="0">
                <a:solidFill>
                  <a:srgbClr val="D1352B"/>
                </a:solidFill>
              </a:rPr>
              <a:t>58,203</a:t>
            </a:r>
            <a:endParaRPr lang="en-US" sz="2400" dirty="0"/>
          </a:p>
        </p:txBody>
      </p:sp>
      <p:sp>
        <p:nvSpPr>
          <p:cNvPr id="12" name="Text 8"/>
          <p:cNvSpPr txBox="1"/>
          <p:nvPr/>
        </p:nvSpPr>
        <p:spPr>
          <a:xfrm>
            <a:off x="8366760" y="382219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estimated, for a 1,001-member club in the prompt: far past the window</a:t>
            </a:r>
            <a:endParaRPr lang="en-US" sz="1050" dirty="0"/>
          </a:p>
        </p:txBody>
      </p:sp>
      <p:sp>
        <p:nvSpPr>
          <p:cNvPr id="13" name="Shape 9"/>
          <p:cNvSpPr/>
          <p:nvPr/>
        </p:nvSpPr>
        <p:spPr>
          <a:xfrm>
            <a:off x="8183880" y="4663440"/>
            <a:ext cx="3429000" cy="1325880"/>
          </a:xfrm>
          <a:prstGeom prst="roundRect">
            <a:avLst>
              <a:gd name="adj" fmla="val 8276"/>
            </a:avLst>
          </a:prstGeom>
          <a:solidFill>
            <a:srgbClr val="F6F7F8"/>
          </a:solidFill>
          <a:ln w="12700">
            <a:solidFill>
              <a:srgbClr val="F6F7F8"/>
            </a:solidFill>
            <a:prstDash val="solid"/>
          </a:ln>
        </p:spPr>
      </p:sp>
      <p:sp>
        <p:nvSpPr>
          <p:cNvPr id="14" name="Text 10"/>
          <p:cNvSpPr txBox="1"/>
          <p:nvPr/>
        </p:nvSpPr>
        <p:spPr>
          <a:xfrm>
            <a:off x="8366760" y="4754880"/>
            <a:ext cx="3108960" cy="502920"/>
          </a:xfrm>
          <a:prstGeom prst="rect">
            <a:avLst/>
          </a:prstGeom>
          <a:noFill/>
          <a:ln/>
        </p:spPr>
        <p:txBody>
          <a:bodyPr wrap="square" lIns="0" tIns="0" rIns="0" bIns="0" rtlCol="0" anchor="t"/>
          <a:lstStyle/>
          <a:p>
            <a:pPr indent="0" marL="0">
              <a:buNone/>
            </a:pPr>
            <a:r>
              <a:rPr lang="en-US" sz="2400" b="1" dirty="0">
                <a:solidFill>
                  <a:srgbClr val="0A0A0B"/>
                </a:solidFill>
              </a:rPr>
              <a:t>16,384</a:t>
            </a:r>
            <a:endParaRPr lang="en-US" sz="2400" dirty="0"/>
          </a:p>
        </p:txBody>
      </p:sp>
      <p:sp>
        <p:nvSpPr>
          <p:cNvPr id="15" name="Text 11"/>
          <p:cNvSpPr txBox="1"/>
          <p:nvPr/>
        </p:nvSpPr>
        <p:spPr>
          <a:xfrm>
            <a:off x="8366760" y="5285232"/>
            <a:ext cx="3108960" cy="640080"/>
          </a:xfrm>
          <a:prstGeom prst="rect">
            <a:avLst/>
          </a:prstGeom>
          <a:noFill/>
          <a:ln/>
        </p:spPr>
        <p:txBody>
          <a:bodyPr wrap="square" lIns="0" tIns="0" rIns="0" bIns="0" rtlCol="0" anchor="t"/>
          <a:lstStyle/>
          <a:p>
            <a:pPr indent="0" marL="0">
              <a:buNone/>
            </a:pPr>
            <a:r>
              <a:rPr lang="en-US" sz="1050" dirty="0">
                <a:solidFill>
                  <a:srgbClr val="55555C"/>
                </a:solidFill>
              </a:rPr>
              <a:t>the context the model has on this server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126480" y="384048"/>
            <a:ext cx="548640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126480" y="384048"/>
            <a:ext cx="5486400" cy="329184"/>
          </a:xfrm>
          <a:prstGeom prst="rect">
            <a:avLst/>
          </a:prstGeom>
          <a:noFill/>
          <a:ln/>
        </p:spPr>
        <p:txBody>
          <a:bodyPr wrap="square" lIns="0" tIns="0" rIns="0" bIns="0" rtlCol="0" anchor="ctr"/>
          <a:lstStyle/>
          <a:p>
            <a:pPr algn="ctr" indent="0" marL="0">
              <a:buNone/>
            </a:pPr>
            <a:r>
              <a:rPr lang="en-US" sz="1050" b="1" dirty="0">
                <a:solidFill>
                  <a:srgbClr val="55555C"/>
                </a:solidFill>
              </a:rPr>
              <a:t>A simulated club of 60 (seed 7) · the pipeline, gates and rollback are real</a:t>
            </a:r>
            <a:endParaRPr lang="en-US" sz="1050" dirty="0"/>
          </a:p>
        </p:txBody>
      </p:sp>
      <p:sp>
        <p:nvSpPr>
          <p:cNvPr id="7" name="Shape 4"/>
          <p:cNvSpPr/>
          <p:nvPr/>
        </p:nvSpPr>
        <p:spPr>
          <a:xfrm>
            <a:off x="548640" y="1600200"/>
            <a:ext cx="2057400" cy="1188720"/>
          </a:xfrm>
          <a:prstGeom prst="roundRect">
            <a:avLst>
              <a:gd name="adj" fmla="val 9231"/>
            </a:avLst>
          </a:prstGeom>
          <a:solidFill>
            <a:srgbClr val="FFFFFF"/>
          </a:solidFill>
          <a:ln w="12700">
            <a:solidFill>
              <a:srgbClr val="DCDCE0"/>
            </a:solidFill>
            <a:prstDash val="solid"/>
          </a:ln>
        </p:spPr>
      </p:sp>
      <p:sp>
        <p:nvSpPr>
          <p:cNvPr id="8" name="Text 5"/>
          <p:cNvSpPr txBox="1"/>
          <p:nvPr/>
        </p:nvSpPr>
        <p:spPr>
          <a:xfrm>
            <a:off x="69494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1 · ASK</a:t>
            </a:r>
            <a:endParaRPr lang="en-US" sz="1000" dirty="0"/>
          </a:p>
        </p:txBody>
      </p:sp>
      <p:sp>
        <p:nvSpPr>
          <p:cNvPr id="9" name="Text 6"/>
          <p:cNvSpPr txBox="1"/>
          <p:nvPr/>
        </p:nvSpPr>
        <p:spPr>
          <a:xfrm>
            <a:off x="69494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Members' ideas</a:t>
            </a:r>
            <a:endParaRPr lang="en-US" sz="1350" dirty="0"/>
          </a:p>
        </p:txBody>
      </p:sp>
      <p:sp>
        <p:nvSpPr>
          <p:cNvPr id="10" name="Text 7"/>
          <p:cNvSpPr txBox="1"/>
          <p:nvPr/>
        </p:nvSpPr>
        <p:spPr>
          <a:xfrm>
            <a:off x="69494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"/idea" in Messenger, or thumbs</a:t>
            </a:r>
            <a:endParaRPr lang="en-US" sz="1000" dirty="0"/>
          </a:p>
        </p:txBody>
      </p:sp>
      <p:sp>
        <p:nvSpPr>
          <p:cNvPr id="11" name="Shape 8"/>
          <p:cNvSpPr/>
          <p:nvPr/>
        </p:nvSpPr>
        <p:spPr>
          <a:xfrm>
            <a:off x="2624328" y="2194560"/>
            <a:ext cx="146304" cy="0"/>
          </a:xfrm>
          <a:prstGeom prst="line">
            <a:avLst/>
          </a:prstGeom>
          <a:noFill/>
          <a:ln w="22225">
            <a:solidFill>
              <a:srgbClr val="8A8A92"/>
            </a:solidFill>
            <a:prstDash val="solid"/>
            <a:tailEnd type="triangle"/>
          </a:ln>
        </p:spPr>
      </p:sp>
      <p:sp>
        <p:nvSpPr>
          <p:cNvPr id="12" name="Shape 9"/>
          <p:cNvSpPr/>
          <p:nvPr/>
        </p:nvSpPr>
        <p:spPr>
          <a:xfrm>
            <a:off x="2788920" y="1600200"/>
            <a:ext cx="2057400" cy="1188720"/>
          </a:xfrm>
          <a:prstGeom prst="roundRect">
            <a:avLst>
              <a:gd name="adj" fmla="val 9231"/>
            </a:avLst>
          </a:prstGeom>
          <a:solidFill>
            <a:srgbClr val="FFFFFF"/>
          </a:solidFill>
          <a:ln w="12700">
            <a:solidFill>
              <a:srgbClr val="DCDCE0"/>
            </a:solidFill>
            <a:prstDash val="solid"/>
          </a:ln>
        </p:spPr>
      </p:sp>
      <p:sp>
        <p:nvSpPr>
          <p:cNvPr id="13" name="Text 10"/>
          <p:cNvSpPr txBox="1"/>
          <p:nvPr/>
        </p:nvSpPr>
        <p:spPr>
          <a:xfrm>
            <a:off x="293522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2 · GROUP</a:t>
            </a:r>
            <a:endParaRPr lang="en-US" sz="1000" dirty="0"/>
          </a:p>
        </p:txBody>
      </p:sp>
      <p:sp>
        <p:nvSpPr>
          <p:cNvPr id="14" name="Text 11"/>
          <p:cNvSpPr txBox="1"/>
          <p:nvPr/>
        </p:nvSpPr>
        <p:spPr>
          <a:xfrm>
            <a:off x="293522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Meta's DRAMA</a:t>
            </a:r>
            <a:endParaRPr lang="en-US" sz="1350" dirty="0"/>
          </a:p>
        </p:txBody>
      </p:sp>
      <p:sp>
        <p:nvSpPr>
          <p:cNvPr id="15" name="Text 12"/>
          <p:cNvSpPr txBox="1"/>
          <p:nvPr/>
        </p:nvSpPr>
        <p:spPr>
          <a:xfrm>
            <a:off x="293522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By meaning; shows at 5 members</a:t>
            </a:r>
            <a:endParaRPr lang="en-US" sz="1000" dirty="0"/>
          </a:p>
        </p:txBody>
      </p:sp>
      <p:sp>
        <p:nvSpPr>
          <p:cNvPr id="16" name="Shape 13"/>
          <p:cNvSpPr/>
          <p:nvPr/>
        </p:nvSpPr>
        <p:spPr>
          <a:xfrm>
            <a:off x="4864608" y="2194560"/>
            <a:ext cx="146304" cy="0"/>
          </a:xfrm>
          <a:prstGeom prst="line">
            <a:avLst/>
          </a:prstGeom>
          <a:noFill/>
          <a:ln w="22225">
            <a:solidFill>
              <a:srgbClr val="8A8A92"/>
            </a:solidFill>
            <a:prstDash val="solid"/>
            <a:tailEnd type="triangle"/>
          </a:ln>
        </p:spPr>
      </p:sp>
      <p:sp>
        <p:nvSpPr>
          <p:cNvPr id="17" name="Shape 14"/>
          <p:cNvSpPr/>
          <p:nvPr/>
        </p:nvSpPr>
        <p:spPr>
          <a:xfrm>
            <a:off x="5029200" y="1600200"/>
            <a:ext cx="2057400" cy="1188720"/>
          </a:xfrm>
          <a:prstGeom prst="roundRect">
            <a:avLst>
              <a:gd name="adj" fmla="val 9231"/>
            </a:avLst>
          </a:prstGeom>
          <a:solidFill>
            <a:srgbClr val="FFFFFF"/>
          </a:solidFill>
          <a:ln w="12700">
            <a:solidFill>
              <a:srgbClr val="DCDCE0"/>
            </a:solidFill>
            <a:prstDash val="solid"/>
          </a:ln>
        </p:spPr>
      </p:sp>
      <p:sp>
        <p:nvSpPr>
          <p:cNvPr id="18" name="Text 15"/>
          <p:cNvSpPr txBox="1"/>
          <p:nvPr/>
        </p:nvSpPr>
        <p:spPr>
          <a:xfrm>
            <a:off x="517550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3 · VOTE</a:t>
            </a:r>
            <a:endParaRPr lang="en-US" sz="1000" dirty="0"/>
          </a:p>
        </p:txBody>
      </p:sp>
      <p:sp>
        <p:nvSpPr>
          <p:cNvPr id="19" name="Text 16"/>
          <p:cNvSpPr txBox="1"/>
          <p:nvPr/>
        </p:nvSpPr>
        <p:spPr>
          <a:xfrm>
            <a:off x="517550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Quadratic votes</a:t>
            </a:r>
            <a:endParaRPr lang="en-US" sz="1350" dirty="0"/>
          </a:p>
        </p:txBody>
      </p:sp>
      <p:sp>
        <p:nvSpPr>
          <p:cNvPr id="20" name="Text 17"/>
          <p:cNvSpPr txBox="1"/>
          <p:nvPr/>
        </p:nvSpPr>
        <p:spPr>
          <a:xfrm>
            <a:off x="517550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9 credits a month; n votes cost n²</a:t>
            </a:r>
            <a:endParaRPr lang="en-US" sz="1000" dirty="0"/>
          </a:p>
        </p:txBody>
      </p:sp>
      <p:sp>
        <p:nvSpPr>
          <p:cNvPr id="21" name="Shape 18"/>
          <p:cNvSpPr/>
          <p:nvPr/>
        </p:nvSpPr>
        <p:spPr>
          <a:xfrm>
            <a:off x="7104888" y="2194560"/>
            <a:ext cx="146304" cy="0"/>
          </a:xfrm>
          <a:prstGeom prst="line">
            <a:avLst/>
          </a:prstGeom>
          <a:noFill/>
          <a:ln w="22225">
            <a:solidFill>
              <a:srgbClr val="8A8A92"/>
            </a:solidFill>
            <a:prstDash val="solid"/>
            <a:tailEnd type="triangle"/>
          </a:ln>
        </p:spPr>
      </p:sp>
      <p:sp>
        <p:nvSpPr>
          <p:cNvPr id="22" name="Shape 19"/>
          <p:cNvSpPr/>
          <p:nvPr/>
        </p:nvSpPr>
        <p:spPr>
          <a:xfrm>
            <a:off x="7269480" y="1600200"/>
            <a:ext cx="2057400" cy="1188720"/>
          </a:xfrm>
          <a:prstGeom prst="roundRect">
            <a:avLst>
              <a:gd name="adj" fmla="val 9231"/>
            </a:avLst>
          </a:prstGeom>
          <a:solidFill>
            <a:srgbClr val="FFFFFF"/>
          </a:solidFill>
          <a:ln w="12700">
            <a:solidFill>
              <a:srgbClr val="DCDCE0"/>
            </a:solidFill>
            <a:prstDash val="solid"/>
          </a:ln>
        </p:spPr>
      </p:sp>
      <p:sp>
        <p:nvSpPr>
          <p:cNvPr id="23" name="Text 20"/>
          <p:cNvSpPr txBox="1"/>
          <p:nvPr/>
        </p:nvSpPr>
        <p:spPr>
          <a:xfrm>
            <a:off x="741578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4 · SPEC</a:t>
            </a:r>
            <a:endParaRPr lang="en-US" sz="1000" dirty="0"/>
          </a:p>
        </p:txBody>
      </p:sp>
      <p:sp>
        <p:nvSpPr>
          <p:cNvPr id="24" name="Text 21"/>
          <p:cNvSpPr txBox="1"/>
          <p:nvPr/>
        </p:nvSpPr>
        <p:spPr>
          <a:xfrm>
            <a:off x="741578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Muse Glimmer drafts</a:t>
            </a:r>
            <a:endParaRPr lang="en-US" sz="1350" dirty="0"/>
          </a:p>
        </p:txBody>
      </p:sp>
      <p:sp>
        <p:nvSpPr>
          <p:cNvPr id="25" name="Text 22"/>
          <p:cNvSpPr txBox="1"/>
          <p:nvPr/>
        </p:nvSpPr>
        <p:spPr>
          <a:xfrm>
            <a:off x="741578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A person approves it</a:t>
            </a:r>
            <a:endParaRPr lang="en-US" sz="1000" dirty="0"/>
          </a:p>
        </p:txBody>
      </p:sp>
      <p:sp>
        <p:nvSpPr>
          <p:cNvPr id="26" name="Shape 23"/>
          <p:cNvSpPr/>
          <p:nvPr/>
        </p:nvSpPr>
        <p:spPr>
          <a:xfrm>
            <a:off x="9345168" y="2194560"/>
            <a:ext cx="146304" cy="0"/>
          </a:xfrm>
          <a:prstGeom prst="line">
            <a:avLst/>
          </a:prstGeom>
          <a:noFill/>
          <a:ln w="22225">
            <a:solidFill>
              <a:srgbClr val="8A8A92"/>
            </a:solidFill>
            <a:prstDash val="solid"/>
            <a:tailEnd type="triangle"/>
          </a:ln>
        </p:spPr>
      </p:sp>
      <p:sp>
        <p:nvSpPr>
          <p:cNvPr id="27" name="Shape 24"/>
          <p:cNvSpPr/>
          <p:nvPr/>
        </p:nvSpPr>
        <p:spPr>
          <a:xfrm>
            <a:off x="9509760" y="1600200"/>
            <a:ext cx="2057400" cy="1188720"/>
          </a:xfrm>
          <a:prstGeom prst="roundRect">
            <a:avLst>
              <a:gd name="adj" fmla="val 9231"/>
            </a:avLst>
          </a:prstGeom>
          <a:solidFill>
            <a:srgbClr val="FFFFFF"/>
          </a:solidFill>
          <a:ln w="12700">
            <a:solidFill>
              <a:srgbClr val="DCDCE0"/>
            </a:solidFill>
            <a:prstDash val="solid"/>
          </a:ln>
        </p:spPr>
      </p:sp>
      <p:sp>
        <p:nvSpPr>
          <p:cNvPr id="28" name="Text 25"/>
          <p:cNvSpPr txBox="1"/>
          <p:nvPr/>
        </p:nvSpPr>
        <p:spPr>
          <a:xfrm>
            <a:off x="965606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5 · BUILD</a:t>
            </a:r>
            <a:endParaRPr lang="en-US" sz="1000" dirty="0"/>
          </a:p>
        </p:txBody>
      </p:sp>
      <p:sp>
        <p:nvSpPr>
          <p:cNvPr id="29" name="Text 26"/>
          <p:cNvSpPr txBox="1"/>
          <p:nvPr/>
        </p:nvSpPr>
        <p:spPr>
          <a:xfrm>
            <a:off x="965606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A coding agent</a:t>
            </a:r>
            <a:endParaRPr lang="en-US" sz="1350" dirty="0"/>
          </a:p>
        </p:txBody>
      </p:sp>
      <p:sp>
        <p:nvSpPr>
          <p:cNvPr id="30" name="Text 27"/>
          <p:cNvSpPr txBox="1"/>
          <p:nvPr/>
        </p:nvSpPr>
        <p:spPr>
          <a:xfrm>
            <a:off x="965606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Own branch; never reads community text</a:t>
            </a:r>
            <a:endParaRPr lang="en-US" sz="1000" dirty="0"/>
          </a:p>
        </p:txBody>
      </p:sp>
      <p:sp>
        <p:nvSpPr>
          <p:cNvPr id="31" name="Shape 28"/>
          <p:cNvSpPr/>
          <p:nvPr/>
        </p:nvSpPr>
        <p:spPr>
          <a:xfrm>
            <a:off x="548640" y="2926080"/>
            <a:ext cx="6949440" cy="1371600"/>
          </a:xfrm>
          <a:prstGeom prst="roundRect">
            <a:avLst>
              <a:gd name="adj" fmla="val 8000"/>
            </a:avLst>
          </a:prstGeom>
          <a:solidFill>
            <a:srgbClr val="E9F3EC"/>
          </a:solidFill>
          <a:ln w="12700">
            <a:solidFill>
              <a:srgbClr val="E9F3EC"/>
            </a:solidFill>
            <a:prstDash val="solid"/>
          </a:ln>
        </p:spPr>
      </p:sp>
      <p:sp>
        <p:nvSpPr>
          <p:cNvPr id="32" name="Text 29"/>
          <p:cNvSpPr txBox="1"/>
          <p:nvPr/>
        </p:nvSpPr>
        <p:spPr>
          <a:xfrm>
            <a:off x="749808" y="3017520"/>
            <a:ext cx="6400800" cy="256032"/>
          </a:xfrm>
          <a:prstGeom prst="rect">
            <a:avLst/>
          </a:prstGeom>
          <a:noFill/>
          <a:ln/>
        </p:spPr>
        <p:txBody>
          <a:bodyPr wrap="square" lIns="0" tIns="0" rIns="0" bIns="0" rtlCol="0" anchor="t"/>
          <a:lstStyle/>
          <a:p>
            <a:pPr indent="0" marL="0">
              <a:buNone/>
            </a:pPr>
            <a:r>
              <a:rPr lang="en-US" sz="1200" b="1" dirty="0">
                <a:solidFill>
                  <a:srgbClr val="0A7F44"/>
                </a:solidFill>
              </a:rPr>
              <a:t>6 · NINE GATES · stops at the first failure</a:t>
            </a:r>
            <a:endParaRPr lang="en-US" sz="1200" dirty="0"/>
          </a:p>
        </p:txBody>
      </p:sp>
      <p:sp>
        <p:nvSpPr>
          <p:cNvPr id="33" name="Shape 30"/>
          <p:cNvSpPr/>
          <p:nvPr/>
        </p:nvSpPr>
        <p:spPr>
          <a:xfrm>
            <a:off x="749808" y="3383280"/>
            <a:ext cx="1298448" cy="310896"/>
          </a:xfrm>
          <a:prstGeom prst="roundRect">
            <a:avLst>
              <a:gd name="adj" fmla="val 50000"/>
            </a:avLst>
          </a:prstGeom>
          <a:solidFill>
            <a:srgbClr val="FFFFFF"/>
          </a:solidFill>
          <a:ln w="12700">
            <a:solidFill>
              <a:srgbClr val="FFFFFF"/>
            </a:solidFill>
            <a:prstDash val="solid"/>
          </a:ln>
        </p:spPr>
      </p:sp>
      <p:sp>
        <p:nvSpPr>
          <p:cNvPr id="34" name="Text 31"/>
          <p:cNvSpPr txBox="1"/>
          <p:nvPr/>
        </p:nvSpPr>
        <p:spPr>
          <a:xfrm>
            <a:off x="749808"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5" name="Shape 32"/>
          <p:cNvSpPr/>
          <p:nvPr/>
        </p:nvSpPr>
        <p:spPr>
          <a:xfrm>
            <a:off x="2093976" y="3383280"/>
            <a:ext cx="1298448" cy="310896"/>
          </a:xfrm>
          <a:prstGeom prst="roundRect">
            <a:avLst>
              <a:gd name="adj" fmla="val 50000"/>
            </a:avLst>
          </a:prstGeom>
          <a:solidFill>
            <a:srgbClr val="FFFFFF"/>
          </a:solidFill>
          <a:ln w="12700">
            <a:solidFill>
              <a:srgbClr val="FFFFFF"/>
            </a:solidFill>
            <a:prstDash val="solid"/>
          </a:ln>
        </p:spPr>
      </p:sp>
      <p:sp>
        <p:nvSpPr>
          <p:cNvPr id="36" name="Text 33"/>
          <p:cNvSpPr txBox="1"/>
          <p:nvPr/>
        </p:nvSpPr>
        <p:spPr>
          <a:xfrm>
            <a:off x="2093976"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7" name="Shape 34"/>
          <p:cNvSpPr/>
          <p:nvPr/>
        </p:nvSpPr>
        <p:spPr>
          <a:xfrm>
            <a:off x="3438144" y="3383280"/>
            <a:ext cx="1298448" cy="310896"/>
          </a:xfrm>
          <a:prstGeom prst="roundRect">
            <a:avLst>
              <a:gd name="adj" fmla="val 50000"/>
            </a:avLst>
          </a:prstGeom>
          <a:solidFill>
            <a:srgbClr val="FFFFFF"/>
          </a:solidFill>
          <a:ln w="12700">
            <a:solidFill>
              <a:srgbClr val="FFFFFF"/>
            </a:solidFill>
            <a:prstDash val="solid"/>
          </a:ln>
        </p:spPr>
      </p:sp>
      <p:sp>
        <p:nvSpPr>
          <p:cNvPr id="38" name="Text 35"/>
          <p:cNvSpPr txBox="1"/>
          <p:nvPr/>
        </p:nvSpPr>
        <p:spPr>
          <a:xfrm>
            <a:off x="3438144"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39" name="Shape 36"/>
          <p:cNvSpPr/>
          <p:nvPr/>
        </p:nvSpPr>
        <p:spPr>
          <a:xfrm>
            <a:off x="4782312" y="3383280"/>
            <a:ext cx="1298448" cy="310896"/>
          </a:xfrm>
          <a:prstGeom prst="roundRect">
            <a:avLst>
              <a:gd name="adj" fmla="val 50000"/>
            </a:avLst>
          </a:prstGeom>
          <a:solidFill>
            <a:srgbClr val="FFFFFF"/>
          </a:solidFill>
          <a:ln w="12700">
            <a:solidFill>
              <a:srgbClr val="FFFFFF"/>
            </a:solidFill>
            <a:prstDash val="solid"/>
          </a:ln>
        </p:spPr>
      </p:sp>
      <p:sp>
        <p:nvSpPr>
          <p:cNvPr id="40" name="Text 37"/>
          <p:cNvSpPr txBox="1"/>
          <p:nvPr/>
        </p:nvSpPr>
        <p:spPr>
          <a:xfrm>
            <a:off x="4782312"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1" name="Shape 38"/>
          <p:cNvSpPr/>
          <p:nvPr/>
        </p:nvSpPr>
        <p:spPr>
          <a:xfrm>
            <a:off x="6126480" y="3383280"/>
            <a:ext cx="1298448" cy="310896"/>
          </a:xfrm>
          <a:prstGeom prst="roundRect">
            <a:avLst>
              <a:gd name="adj" fmla="val 50000"/>
            </a:avLst>
          </a:prstGeom>
          <a:solidFill>
            <a:srgbClr val="FFFFFF"/>
          </a:solidFill>
          <a:ln w="12700">
            <a:solidFill>
              <a:srgbClr val="FFFFFF"/>
            </a:solidFill>
            <a:prstDash val="solid"/>
          </a:ln>
        </p:spPr>
      </p:sp>
      <p:sp>
        <p:nvSpPr>
          <p:cNvPr id="42" name="Text 39"/>
          <p:cNvSpPr txBox="1"/>
          <p:nvPr/>
        </p:nvSpPr>
        <p:spPr>
          <a:xfrm>
            <a:off x="6126480"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3" name="Shape 40"/>
          <p:cNvSpPr/>
          <p:nvPr/>
        </p:nvSpPr>
        <p:spPr>
          <a:xfrm>
            <a:off x="749808" y="3785616"/>
            <a:ext cx="1298448" cy="310896"/>
          </a:xfrm>
          <a:prstGeom prst="roundRect">
            <a:avLst>
              <a:gd name="adj" fmla="val 50000"/>
            </a:avLst>
          </a:prstGeom>
          <a:solidFill>
            <a:srgbClr val="FFFFFF"/>
          </a:solidFill>
          <a:ln w="12700">
            <a:solidFill>
              <a:srgbClr val="FFFFFF"/>
            </a:solidFill>
            <a:prstDash val="solid"/>
          </a:ln>
        </p:spPr>
      </p:sp>
      <p:sp>
        <p:nvSpPr>
          <p:cNvPr id="44" name="Text 41"/>
          <p:cNvSpPr txBox="1"/>
          <p:nvPr/>
        </p:nvSpPr>
        <p:spPr>
          <a:xfrm>
            <a:off x="749808"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end to end</a:t>
            </a:r>
            <a:endParaRPr lang="en-US" sz="950" dirty="0"/>
          </a:p>
        </p:txBody>
      </p:sp>
      <p:sp>
        <p:nvSpPr>
          <p:cNvPr id="45" name="Shape 42"/>
          <p:cNvSpPr/>
          <p:nvPr/>
        </p:nvSpPr>
        <p:spPr>
          <a:xfrm>
            <a:off x="2093976" y="3785616"/>
            <a:ext cx="1298448" cy="310896"/>
          </a:xfrm>
          <a:prstGeom prst="roundRect">
            <a:avLst>
              <a:gd name="adj" fmla="val 50000"/>
            </a:avLst>
          </a:prstGeom>
          <a:solidFill>
            <a:srgbClr val="FFFFFF"/>
          </a:solidFill>
          <a:ln w="12700">
            <a:solidFill>
              <a:srgbClr val="FFFFFF"/>
            </a:solidFill>
            <a:prstDash val="solid"/>
          </a:ln>
        </p:spPr>
      </p:sp>
      <p:sp>
        <p:nvSpPr>
          <p:cNvPr id="46" name="Text 43"/>
          <p:cNvSpPr txBox="1"/>
          <p:nvPr/>
        </p:nvSpPr>
        <p:spPr>
          <a:xfrm>
            <a:off x="2093976"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7" name="Shape 44"/>
          <p:cNvSpPr/>
          <p:nvPr/>
        </p:nvSpPr>
        <p:spPr>
          <a:xfrm>
            <a:off x="3438144" y="3785616"/>
            <a:ext cx="1298448" cy="310896"/>
          </a:xfrm>
          <a:prstGeom prst="roundRect">
            <a:avLst>
              <a:gd name="adj" fmla="val 50000"/>
            </a:avLst>
          </a:prstGeom>
          <a:solidFill>
            <a:srgbClr val="FFFFFF"/>
          </a:solidFill>
          <a:ln w="12700">
            <a:solidFill>
              <a:srgbClr val="FFFFFF"/>
            </a:solidFill>
            <a:prstDash val="solid"/>
          </a:ln>
        </p:spPr>
      </p:sp>
      <p:sp>
        <p:nvSpPr>
          <p:cNvPr id="48" name="Text 45"/>
          <p:cNvSpPr txBox="1"/>
          <p:nvPr/>
        </p:nvSpPr>
        <p:spPr>
          <a:xfrm>
            <a:off x="3438144"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49" name="Shape 46"/>
          <p:cNvSpPr/>
          <p:nvPr/>
        </p:nvSpPr>
        <p:spPr>
          <a:xfrm>
            <a:off x="4782312" y="3785616"/>
            <a:ext cx="1298448" cy="310896"/>
          </a:xfrm>
          <a:prstGeom prst="roundRect">
            <a:avLst>
              <a:gd name="adj" fmla="val 50000"/>
            </a:avLst>
          </a:prstGeom>
          <a:solidFill>
            <a:srgbClr val="FFFFFF"/>
          </a:solidFill>
          <a:ln w="12700">
            <a:solidFill>
              <a:srgbClr val="FFFFFF"/>
            </a:solidFill>
            <a:prstDash val="solid"/>
          </a:ln>
        </p:spPr>
      </p:sp>
      <p:sp>
        <p:nvSpPr>
          <p:cNvPr id="50" name="Text 47"/>
          <p:cNvSpPr txBox="1"/>
          <p:nvPr/>
        </p:nvSpPr>
        <p:spPr>
          <a:xfrm>
            <a:off x="4782312"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1" name="Shape 48"/>
          <p:cNvSpPr/>
          <p:nvPr/>
        </p:nvSpPr>
        <p:spPr>
          <a:xfrm>
            <a:off x="7543800" y="3611880"/>
            <a:ext cx="274320" cy="0"/>
          </a:xfrm>
          <a:prstGeom prst="line">
            <a:avLst/>
          </a:prstGeom>
          <a:noFill/>
          <a:ln w="22225">
            <a:solidFill>
              <a:srgbClr val="8A8A92"/>
            </a:solidFill>
            <a:prstDash val="solid"/>
            <a:tailEnd type="triangle"/>
          </a:ln>
        </p:spPr>
      </p:sp>
      <p:sp>
        <p:nvSpPr>
          <p:cNvPr id="52" name="Shape 49"/>
          <p:cNvSpPr/>
          <p:nvPr/>
        </p:nvSpPr>
        <p:spPr>
          <a:xfrm>
            <a:off x="7863840" y="2926080"/>
            <a:ext cx="3749040" cy="1371600"/>
          </a:xfrm>
          <a:prstGeom prst="roundRect">
            <a:avLst>
              <a:gd name="adj" fmla="val 8000"/>
            </a:avLst>
          </a:prstGeom>
          <a:solidFill>
            <a:srgbClr val="FFFFFF"/>
          </a:solidFill>
          <a:ln w="25400">
            <a:solidFill>
              <a:srgbClr val="D1352B"/>
            </a:solidFill>
            <a:prstDash val="solid"/>
          </a:ln>
        </p:spPr>
      </p:sp>
      <p:sp>
        <p:nvSpPr>
          <p:cNvPr id="53" name="Text 50"/>
          <p:cNvSpPr txBox="1"/>
          <p:nvPr/>
        </p:nvSpPr>
        <p:spPr>
          <a:xfrm>
            <a:off x="8046720" y="3017520"/>
            <a:ext cx="3383280" cy="256032"/>
          </a:xfrm>
          <a:prstGeom prst="rect">
            <a:avLst/>
          </a:prstGeom>
          <a:noFill/>
          <a:ln/>
        </p:spPr>
        <p:txBody>
          <a:bodyPr wrap="square" lIns="0" tIns="0" rIns="0" bIns="0" rtlCol="0" anchor="t"/>
          <a:lstStyle/>
          <a:p>
            <a:pPr indent="0" marL="0">
              <a:buNone/>
            </a:pPr>
            <a:r>
              <a:rPr lang="en-US" sz="1200" b="1" dirty="0">
                <a:solidFill>
                  <a:srgbClr val="D1352B"/>
                </a:solidFill>
              </a:rPr>
              <a:t>7 · SHIP, OR ROLL BACK</a:t>
            </a:r>
            <a:endParaRPr lang="en-US" sz="1200" dirty="0"/>
          </a:p>
        </p:txBody>
      </p:sp>
      <p:sp>
        <p:nvSpPr>
          <p:cNvPr id="54" name="Text 51"/>
          <p:cNvSpPr txBox="1"/>
          <p:nvPr/>
        </p:nvSpPr>
        <p:spPr>
          <a:xfrm>
            <a:off x="8046720" y="3337560"/>
            <a:ext cx="3429000" cy="914400"/>
          </a:xfrm>
          <a:prstGeom prst="rect">
            <a:avLst/>
          </a:prstGeom>
          <a:noFill/>
          <a:ln/>
        </p:spPr>
        <p:txBody>
          <a:bodyPr wrap="square" lIns="0" tIns="0" rIns="0" bIns="0" rtlCol="0" anchor="t"/>
          <a:lstStyle/>
          <a:p>
            <a:pPr indent="0" marL="0">
              <a:buNone/>
            </a:pPr>
            <a:r>
              <a:rPr lang="en-US" sz="1100" dirty="0">
                <a:solidFill>
                  <a:srgbClr val="55555C"/>
                </a:solidFill>
              </a:rPr>
              <a:t>A small canary that turns itself off if thumbs down rise. Anything beyond a safe setting waits for a person.</a:t>
            </a:r>
            <a:endParaRPr lang="en-US" sz="1100" dirty="0"/>
          </a:p>
        </p:txBody>
      </p:sp>
      <p:sp>
        <p:nvSpPr>
          <p:cNvPr id="55" name="Shape 52"/>
          <p:cNvSpPr/>
          <p:nvPr/>
        </p:nvSpPr>
        <p:spPr>
          <a:xfrm>
            <a:off x="548640" y="4434840"/>
            <a:ext cx="5440680" cy="1188720"/>
          </a:xfrm>
          <a:prstGeom prst="roundRect">
            <a:avLst>
              <a:gd name="adj" fmla="val 9231"/>
            </a:avLst>
          </a:prstGeom>
          <a:solidFill>
            <a:srgbClr val="E9F3EC"/>
          </a:solidFill>
          <a:ln w="12700">
            <a:solidFill>
              <a:srgbClr val="E9F3EC"/>
            </a:solidFill>
            <a:prstDash val="solid"/>
          </a:ln>
        </p:spPr>
      </p:sp>
      <p:sp>
        <p:nvSpPr>
          <p:cNvPr id="56" name="Text 53"/>
          <p:cNvSpPr txBox="1"/>
          <p:nvPr/>
        </p:nvSpPr>
        <p:spPr>
          <a:xfrm>
            <a:off x="731520" y="4526280"/>
            <a:ext cx="1828800" cy="201168"/>
          </a:xfrm>
          <a:prstGeom prst="rect">
            <a:avLst/>
          </a:prstGeom>
          <a:noFill/>
          <a:ln/>
        </p:spPr>
        <p:txBody>
          <a:bodyPr wrap="square" lIns="0" tIns="0" rIns="0" bIns="0" rtlCol="0" anchor="t"/>
          <a:lstStyle/>
          <a:p>
            <a:pPr indent="0" marL="0">
              <a:buNone/>
            </a:pPr>
            <a:r>
              <a:rPr lang="en-US" sz="1000" b="1" spc="100" kern="0" dirty="0">
                <a:solidFill>
                  <a:srgbClr val="0A7F44"/>
                </a:solidFill>
              </a:rPr>
              <a:t>SHIPPED</a:t>
            </a:r>
            <a:endParaRPr lang="en-US" sz="1000" dirty="0"/>
          </a:p>
        </p:txBody>
      </p:sp>
      <p:sp>
        <p:nvSpPr>
          <p:cNvPr id="57" name="Text 54"/>
          <p:cNvSpPr txBox="1"/>
          <p:nvPr/>
        </p:nvSpPr>
        <p:spPr>
          <a:xfrm>
            <a:off x="73152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"Ask me later" → ask.hour 12 → 18</a:t>
            </a:r>
            <a:endParaRPr lang="en-US" sz="1400" dirty="0"/>
          </a:p>
        </p:txBody>
      </p:sp>
      <p:sp>
        <p:nvSpPr>
          <p:cNvPr id="58" name="Text 55"/>
          <p:cNvSpPr txBox="1"/>
          <p:nvPr/>
        </p:nvSpPr>
        <p:spPr>
          <a:xfrm>
            <a:off x="73152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Approved as a safe setting, shipped to 5 of 31 beta members: thumbs down 29% → 23% over 7 days, promoted.</a:t>
            </a:r>
            <a:endParaRPr lang="en-US" sz="1050" dirty="0"/>
          </a:p>
        </p:txBody>
      </p:sp>
      <p:sp>
        <p:nvSpPr>
          <p:cNvPr id="59" name="Shape 56"/>
          <p:cNvSpPr/>
          <p:nvPr/>
        </p:nvSpPr>
        <p:spPr>
          <a:xfrm>
            <a:off x="6172200" y="4434840"/>
            <a:ext cx="5440680" cy="1188720"/>
          </a:xfrm>
          <a:prstGeom prst="roundRect">
            <a:avLst>
              <a:gd name="adj" fmla="val 9231"/>
            </a:avLst>
          </a:prstGeom>
          <a:solidFill>
            <a:srgbClr val="FBEAE9"/>
          </a:solidFill>
          <a:ln w="12700">
            <a:solidFill>
              <a:srgbClr val="FBEAE9"/>
            </a:solidFill>
            <a:prstDash val="solid"/>
          </a:ln>
        </p:spPr>
      </p:sp>
      <p:sp>
        <p:nvSpPr>
          <p:cNvPr id="60" name="Text 57"/>
          <p:cNvSpPr txBox="1"/>
          <p:nvPr/>
        </p:nvSpPr>
        <p:spPr>
          <a:xfrm>
            <a:off x="6355080" y="4526280"/>
            <a:ext cx="2743200" cy="201168"/>
          </a:xfrm>
          <a:prstGeom prst="rect">
            <a:avLst/>
          </a:prstGeom>
          <a:noFill/>
          <a:ln/>
        </p:spPr>
        <p:txBody>
          <a:bodyPr wrap="square" lIns="0" tIns="0" rIns="0" bIns="0" rtlCol="0" anchor="t"/>
          <a:lstStyle/>
          <a:p>
            <a:pPr indent="0" marL="0">
              <a:buNone/>
            </a:pPr>
            <a:r>
              <a:rPr lang="en-US" sz="1000" b="1" spc="100" kern="0" dirty="0">
                <a:solidFill>
                  <a:srgbClr val="D1352B"/>
                </a:solidFill>
              </a:rPr>
              <a:t>ROLLED BACK BY ITSELF</a:t>
            </a:r>
            <a:endParaRPr lang="en-US" sz="1000" dirty="0"/>
          </a:p>
        </p:txBody>
      </p:sp>
      <p:sp>
        <p:nvSpPr>
          <p:cNvPr id="61" name="Text 58"/>
          <p:cNvSpPr txBox="1"/>
          <p:nvPr/>
        </p:nvSpPr>
        <p:spPr>
          <a:xfrm>
            <a:off x="635508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 planted bad change: ask.ahead 3 → 2</a:t>
            </a:r>
            <a:endParaRPr lang="en-US" sz="1400" dirty="0"/>
          </a:p>
        </p:txBody>
      </p:sp>
      <p:sp>
        <p:nvSpPr>
          <p:cNvPr id="62" name="Text 59"/>
          <p:cNvSpPr txBox="1"/>
          <p:nvPr/>
        </p:nvSpPr>
        <p:spPr>
          <a:xfrm>
            <a:off x="635508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Sent to a canary of 8: thumbs down on it went from 40% to 60%, and the monitor turned it off with no one asked.</a:t>
            </a:r>
            <a:endParaRPr lang="en-US" sz="1050" dirty="0"/>
          </a:p>
        </p:txBody>
      </p:sp>
      <p:sp>
        <p:nvSpPr>
          <p:cNvPr id="63" name="Shape 60"/>
          <p:cNvSpPr/>
          <p:nvPr/>
        </p:nvSpPr>
        <p:spPr>
          <a:xfrm>
            <a:off x="548640" y="5760720"/>
            <a:ext cx="11064240" cy="502920"/>
          </a:xfrm>
          <a:prstGeom prst="roundRect">
            <a:avLst>
              <a:gd name="adj" fmla="val 21818"/>
            </a:avLst>
          </a:prstGeom>
          <a:solidFill>
            <a:srgbClr val="0A0A0B"/>
          </a:solidFill>
          <a:ln w="12700">
            <a:solidFill>
              <a:srgbClr val="0A0A0B"/>
            </a:solidFill>
            <a:prstDash val="solid"/>
          </a:ln>
        </p:spPr>
      </p:sp>
      <p:sp>
        <p:nvSpPr>
          <p:cNvPr id="64" name="Text 61"/>
          <p:cNvSpPr txBox="1"/>
          <p:nvPr/>
        </p:nvSpPr>
        <p:spPr>
          <a:xfrm>
            <a:off x="777240" y="5760720"/>
            <a:ext cx="1463040" cy="502920"/>
          </a:xfrm>
          <a:prstGeom prst="rect">
            <a:avLst/>
          </a:prstGeom>
          <a:noFill/>
          <a:ln/>
        </p:spPr>
        <p:txBody>
          <a:bodyPr wrap="square" lIns="0" tIns="0" rIns="0" bIns="0" rtlCol="0" anchor="ctr"/>
          <a:lstStyle/>
          <a:p>
            <a:pPr indent="0" marL="0">
              <a:buNone/>
            </a:pPr>
            <a:r>
              <a:rPr lang="en-US" sz="1100" b="1" dirty="0">
                <a:solidFill>
                  <a:srgbClr val="FFFFFF"/>
                </a:solidFill>
              </a:rPr>
              <a:t>NEVER-LIST</a:t>
            </a:r>
            <a:endParaRPr lang="en-US" sz="1100" dirty="0"/>
          </a:p>
        </p:txBody>
      </p:sp>
      <p:sp>
        <p:nvSpPr>
          <p:cNvPr id="65" name="Text 62"/>
          <p:cNvSpPr txBox="1"/>
          <p:nvPr/>
        </p:nvSpPr>
        <p:spPr>
          <a:xfrm>
            <a:off x="2240280" y="5760720"/>
            <a:ext cx="9235440" cy="502920"/>
          </a:xfrm>
          <a:prstGeom prst="rect">
            <a:avLst/>
          </a:prstGeom>
          <a:noFill/>
          <a:ln/>
        </p:spPr>
        <p:txBody>
          <a:bodyPr wrap="square" lIns="0" tIns="0" rIns="0" bIns="0" rtlCol="0" anchor="ctr"/>
          <a:lstStyle/>
          <a:p>
            <a:pPr indent="0" marL="0">
              <a:buNone/>
            </a:pPr>
            <a:r>
              <a:rPr lang="en-US" sz="1200" dirty="0">
                <a:solidFill>
                  <a:srgbClr val="FFFFFF"/>
                </a:solidFill>
              </a:rPr>
              <a:t>Booking without a yes · data off the server · a diagnosis or a dose · the guards · the tests · A2A · deployment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numbers, and where each comes from</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93/93</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58/58</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37/42</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unsafe messages refused (1 of 74 harmless)</a:t>
            </a:r>
            <a:endParaRPr lang="en-US" sz="1200" dirty="0"/>
          </a:p>
        </p:txBody>
      </p:sp>
      <p:sp>
        <p:nvSpPr>
          <p:cNvPr id="17" name="Text 14"/>
          <p:cNvSpPr txBox="1"/>
          <p:nvPr/>
        </p:nvSpPr>
        <p:spPr>
          <a:xfrm>
            <a:off x="548640" y="6217920"/>
            <a:ext cx="11064240" cy="228600"/>
          </a:xfrm>
          <a:prstGeom prst="rect">
            <a:avLst/>
          </a:prstGeom>
          <a:noFill/>
          <a:ln/>
        </p:spPr>
        <p:txBody>
          <a:bodyPr wrap="square" lIns="0" tIns="0" rIns="0" bIns="0" rtlCol="0" anchor="t"/>
          <a:lstStyle/>
          <a:p>
            <a:pPr indent="0" marL="0">
              <a:buNone/>
            </a:pPr>
            <a:r>
              <a:rPr lang="en-US" sz="1000" i="1" dirty="0">
                <a:solidFill>
                  <a:srgbClr val="55555C"/>
                </a:solidFill>
              </a:rPr>
              <a:t>Bold: run with the real model. "A cloud A100": the same Muse Glimmer build that runs the product on the RTX 3090.</a:t>
            </a:r>
            <a:endParaRPr lang="en-US" sz="1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11064240" cy="914400"/>
        </p:xfrm>
        <a:graphic>
          <a:graphicData uri="http://schemas.openxmlformats.org/drawingml/2006/table">
            <a:tbl>
              <a:tblPr/>
              <a:tblGrid>
                <a:gridCol w="4572000"/>
                <a:gridCol w="3566160"/>
                <a:gridCol w="2926080"/>
              </a:tblGrid>
              <a:tr h="30175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npm test, 25 offline suites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275 = 270 pass + 3 optional + 2 Linux-only</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No model, no GPU</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Messenger end to end (test/e2e.mjs)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58 of 58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Muse Glimmer on a cloud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Attacks (test/redteam.mjs)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93 of 93 stopped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A cloud A100, twice</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Community loop's attacks, within the 93</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29 of 29 stopped, 5 of 5 controls passed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The server's CPU, with the real guards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A2A between two gateways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22 of 22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Taipei GPU server and a GCP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Crash matrix</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20 of 20 checks (201 of 201 assertions)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 stand-in model</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Unsafe messages: Llama Guard, then code</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37 of 42 refused; 1 of 74 harmless ones refused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The server's CPU</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 federation of three clubs (test/federation_unit.mjs)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4 of 4: found, signed, rotated, forgery refused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Real HTTP, one host</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"I want to play" in Messenger</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13 of 13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Muse Glimmer on a cloud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GPU server I own, the Meta Model API where it helps</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10512"/>
            <a:ext cx="2724912" cy="603504"/>
          </a:xfrm>
          <a:prstGeom prst="roundRect">
            <a:avLst>
              <a:gd name="adj" fmla="val 18182"/>
            </a:avLst>
          </a:prstGeom>
          <a:solidFill>
            <a:srgbClr val="F6F7F8"/>
          </a:solidFill>
          <a:ln w="12700">
            <a:solidFill>
              <a:srgbClr val="F6F7F8"/>
            </a:solidFill>
            <a:prstDash val="solid"/>
          </a:ln>
        </p:spPr>
      </p:sp>
      <p:sp>
        <p:nvSpPr>
          <p:cNvPr id="29" name="Text 26"/>
          <p:cNvSpPr txBox="1"/>
          <p:nvPr/>
        </p:nvSpPr>
        <p:spPr>
          <a:xfrm>
            <a:off x="312724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Planner agent</a:t>
            </a:r>
            <a:endParaRPr lang="en-US" sz="1100" dirty="0"/>
          </a:p>
        </p:txBody>
      </p:sp>
      <p:sp>
        <p:nvSpPr>
          <p:cNvPr id="30" name="Text 27"/>
          <p:cNvSpPr txBox="1"/>
          <p:nvPr/>
        </p:nvSpPr>
        <p:spPr>
          <a:xfrm>
            <a:off x="312724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tool loop · native tool calling · 12 steps max · rules finish if it stalls</a:t>
            </a:r>
            <a:endParaRPr lang="en-US" sz="900" dirty="0"/>
          </a:p>
        </p:txBody>
      </p:sp>
      <p:sp>
        <p:nvSpPr>
          <p:cNvPr id="31" name="Shape 28"/>
          <p:cNvSpPr/>
          <p:nvPr/>
        </p:nvSpPr>
        <p:spPr>
          <a:xfrm>
            <a:off x="5833872" y="1810512"/>
            <a:ext cx="2724912" cy="603504"/>
          </a:xfrm>
          <a:prstGeom prst="roundRect">
            <a:avLst>
              <a:gd name="adj" fmla="val 18182"/>
            </a:avLst>
          </a:prstGeom>
          <a:solidFill>
            <a:srgbClr val="F6F7F8"/>
          </a:solidFill>
          <a:ln w="12700">
            <a:solidFill>
              <a:srgbClr val="F6F7F8"/>
            </a:solidFill>
            <a:prstDash val="solid"/>
          </a:ln>
        </p:spPr>
      </p:sp>
      <p:sp>
        <p:nvSpPr>
          <p:cNvPr id="32" name="Text 29"/>
          <p:cNvSpPr txBox="1"/>
          <p:nvPr/>
        </p:nvSpPr>
        <p:spPr>
          <a:xfrm>
            <a:off x="596188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Agent to agent</a:t>
            </a:r>
            <a:endParaRPr lang="en-US" sz="1100" dirty="0"/>
          </a:p>
        </p:txBody>
      </p:sp>
      <p:sp>
        <p:nvSpPr>
          <p:cNvPr id="33" name="Text 30"/>
          <p:cNvSpPr txBox="1"/>
          <p:nvPr/>
        </p:nvSpPr>
        <p:spPr>
          <a:xfrm>
            <a:off x="596188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A2A v1.0 · signed requests · held times · a federation of clubs, keys rotated</a:t>
            </a:r>
            <a:endParaRPr lang="en-US" sz="900" dirty="0"/>
          </a:p>
        </p:txBody>
      </p:sp>
      <p:sp>
        <p:nvSpPr>
          <p:cNvPr id="34" name="Shape 31"/>
          <p:cNvSpPr/>
          <p:nvPr/>
        </p:nvSpPr>
        <p:spPr>
          <a:xfrm>
            <a:off x="2999232" y="2468880"/>
            <a:ext cx="2724912" cy="603504"/>
          </a:xfrm>
          <a:prstGeom prst="roundRect">
            <a:avLst>
              <a:gd name="adj" fmla="val 18182"/>
            </a:avLst>
          </a:prstGeom>
          <a:solidFill>
            <a:srgbClr val="F6F7F8"/>
          </a:solidFill>
          <a:ln w="12700">
            <a:solidFill>
              <a:srgbClr val="F6F7F8"/>
            </a:solidFill>
            <a:prstDash val="solid"/>
          </a:ln>
        </p:spPr>
      </p:sp>
      <p:sp>
        <p:nvSpPr>
          <p:cNvPr id="35" name="Text 32"/>
          <p:cNvSpPr txBox="1"/>
          <p:nvPr/>
        </p:nvSpPr>
        <p:spPr>
          <a:xfrm>
            <a:off x="312724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Scheduling context</a:t>
            </a:r>
            <a:endParaRPr lang="en-US" sz="1100" dirty="0"/>
          </a:p>
        </p:txBody>
      </p:sp>
      <p:sp>
        <p:nvSpPr>
          <p:cNvPr id="36" name="Text 33"/>
          <p:cNvSpPr txBox="1"/>
          <p:nvPr/>
        </p:nvSpPr>
        <p:spPr>
          <a:xfrm>
            <a:off x="312724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your words, games, health app · found by DRAMA · rules cite notes</a:t>
            </a:r>
            <a:endParaRPr lang="en-US" sz="900" dirty="0"/>
          </a:p>
        </p:txBody>
      </p:sp>
      <p:sp>
        <p:nvSpPr>
          <p:cNvPr id="37" name="Shape 34"/>
          <p:cNvSpPr/>
          <p:nvPr/>
        </p:nvSpPr>
        <p:spPr>
          <a:xfrm>
            <a:off x="5833872" y="2468880"/>
            <a:ext cx="2724912" cy="603504"/>
          </a:xfrm>
          <a:prstGeom prst="roundRect">
            <a:avLst>
              <a:gd name="adj" fmla="val 18182"/>
            </a:avLst>
          </a:prstGeom>
          <a:solidFill>
            <a:srgbClr val="F6F7F8"/>
          </a:solidFill>
          <a:ln w="12700">
            <a:solidFill>
              <a:srgbClr val="F6F7F8"/>
            </a:solidFill>
            <a:prstDash val="solid"/>
          </a:ln>
        </p:spPr>
      </p:sp>
      <p:sp>
        <p:nvSpPr>
          <p:cNvPr id="38" name="Text 35"/>
          <p:cNvSpPr txBox="1"/>
          <p:nvPr/>
        </p:nvSpPr>
        <p:spPr>
          <a:xfrm>
            <a:off x="596188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Courts near you</a:t>
            </a:r>
            <a:endParaRPr lang="en-US" sz="1100" dirty="0"/>
          </a:p>
        </p:txBody>
      </p:sp>
      <p:sp>
        <p:nvSpPr>
          <p:cNvPr id="39" name="Text 36"/>
          <p:cNvSpPr txBox="1"/>
          <p:nvPr/>
        </p:nvSpPr>
        <p:spPr>
          <a:xfrm>
            <a:off x="596188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map, reviews, forecast · 4 judged at once · reasons cited</a:t>
            </a:r>
            <a:endParaRPr lang="en-US" sz="900" dirty="0"/>
          </a:p>
        </p:txBody>
      </p:sp>
      <p:sp>
        <p:nvSpPr>
          <p:cNvPr id="40" name="Shape 37"/>
          <p:cNvSpPr/>
          <p:nvPr/>
        </p:nvSpPr>
        <p:spPr>
          <a:xfrm>
            <a:off x="2999232" y="3127248"/>
            <a:ext cx="2724912" cy="603504"/>
          </a:xfrm>
          <a:prstGeom prst="roundRect">
            <a:avLst>
              <a:gd name="adj" fmla="val 18182"/>
            </a:avLst>
          </a:prstGeom>
          <a:solidFill>
            <a:srgbClr val="F6F7F8"/>
          </a:solidFill>
          <a:ln w="12700">
            <a:solidFill>
              <a:srgbClr val="F6F7F8"/>
            </a:solidFill>
            <a:prstDash val="solid"/>
          </a:ln>
        </p:spPr>
      </p:sp>
      <p:sp>
        <p:nvSpPr>
          <p:cNvPr id="41" name="Text 38"/>
          <p:cNvSpPr txBox="1"/>
          <p:nvPr/>
        </p:nvSpPr>
        <p:spPr>
          <a:xfrm>
            <a:off x="312724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Social feed and members</a:t>
            </a:r>
            <a:endParaRPr lang="en-US" sz="1100" dirty="0"/>
          </a:p>
        </p:txBody>
      </p:sp>
      <p:sp>
        <p:nvSpPr>
          <p:cNvPr id="42" name="Text 39"/>
          <p:cNvSpPr txBox="1"/>
          <p:nvPr/>
        </p:nvSpPr>
        <p:spPr>
          <a:xfrm>
            <a:off x="312724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Facebook / Instagram login · invites · stories · signed agent channel</a:t>
            </a:r>
            <a:endParaRPr lang="en-US" sz="900" dirty="0"/>
          </a:p>
        </p:txBody>
      </p:sp>
      <p:sp>
        <p:nvSpPr>
          <p:cNvPr id="43" name="Shape 40"/>
          <p:cNvSpPr/>
          <p:nvPr/>
        </p:nvSpPr>
        <p:spPr>
          <a:xfrm>
            <a:off x="5833872" y="3127248"/>
            <a:ext cx="2724912" cy="603504"/>
          </a:xfrm>
          <a:prstGeom prst="roundRect">
            <a:avLst>
              <a:gd name="adj" fmla="val 18182"/>
            </a:avLst>
          </a:prstGeom>
          <a:solidFill>
            <a:srgbClr val="F6F7F8"/>
          </a:solidFill>
          <a:ln w="12700">
            <a:solidFill>
              <a:srgbClr val="F6F7F8"/>
            </a:solidFill>
            <a:prstDash val="solid"/>
          </a:ln>
        </p:spPr>
      </p:sp>
      <p:sp>
        <p:nvSpPr>
          <p:cNvPr id="44" name="Text 41"/>
          <p:cNvSpPr txBox="1"/>
          <p:nvPr/>
        </p:nvSpPr>
        <p:spPr>
          <a:xfrm>
            <a:off x="596188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Auto highlights</a:t>
            </a:r>
            <a:endParaRPr lang="en-US" sz="1100" dirty="0"/>
          </a:p>
        </p:txBody>
      </p:sp>
      <p:sp>
        <p:nvSpPr>
          <p:cNvPr id="45" name="Text 42"/>
          <p:cNvSpPr txBox="1"/>
          <p:nvPr/>
        </p:nvSpPr>
        <p:spPr>
          <a:xfrm>
            <a:off x="596188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cut automatically: find you, the moment to share · orbit effect · caption</a:t>
            </a:r>
            <a:endParaRPr lang="en-US" sz="900" dirty="0"/>
          </a:p>
        </p:txBody>
      </p:sp>
      <p:sp>
        <p:nvSpPr>
          <p:cNvPr id="46" name="Shape 43"/>
          <p:cNvSpPr/>
          <p:nvPr/>
        </p:nvSpPr>
        <p:spPr>
          <a:xfrm>
            <a:off x="2999232" y="3785616"/>
            <a:ext cx="2724912" cy="603504"/>
          </a:xfrm>
          <a:prstGeom prst="roundRect">
            <a:avLst>
              <a:gd name="adj" fmla="val 18182"/>
            </a:avLst>
          </a:prstGeom>
          <a:solidFill>
            <a:srgbClr val="F6F7F8"/>
          </a:solidFill>
          <a:ln w="12700">
            <a:solidFill>
              <a:srgbClr val="F6F7F8"/>
            </a:solidFill>
            <a:prstDash val="solid"/>
          </a:ln>
        </p:spPr>
      </p:sp>
      <p:sp>
        <p:nvSpPr>
          <p:cNvPr id="47" name="Text 44"/>
          <p:cNvSpPr txBox="1"/>
          <p:nvPr/>
        </p:nvSpPr>
        <p:spPr>
          <a:xfrm>
            <a:off x="312724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Community loop</a:t>
            </a:r>
            <a:endParaRPr lang="en-US" sz="1100" dirty="0"/>
          </a:p>
        </p:txBody>
      </p:sp>
      <p:sp>
        <p:nvSpPr>
          <p:cNvPr id="48" name="Text 45"/>
          <p:cNvSpPr txBox="1"/>
          <p:nvPr/>
        </p:nvSpPr>
        <p:spPr>
          <a:xfrm>
            <a:off x="312724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ideas · DRAMA · votes · spec · coding agent · 9 gates · canary</a:t>
            </a:r>
            <a:endParaRPr lang="en-US" sz="900" dirty="0"/>
          </a:p>
        </p:txBody>
      </p:sp>
      <p:sp>
        <p:nvSpPr>
          <p:cNvPr id="49" name="Shape 46"/>
          <p:cNvSpPr/>
          <p:nvPr/>
        </p:nvSpPr>
        <p:spPr>
          <a:xfrm>
            <a:off x="5833872" y="3785616"/>
            <a:ext cx="2724912" cy="603504"/>
          </a:xfrm>
          <a:prstGeom prst="roundRect">
            <a:avLst>
              <a:gd name="adj" fmla="val 18182"/>
            </a:avLst>
          </a:prstGeom>
          <a:solidFill>
            <a:srgbClr val="F6F7F8"/>
          </a:solidFill>
          <a:ln w="12700">
            <a:solidFill>
              <a:srgbClr val="F6F7F8"/>
            </a:solidFill>
            <a:prstDash val="solid"/>
          </a:ln>
        </p:spPr>
      </p:sp>
      <p:sp>
        <p:nvSpPr>
          <p:cNvPr id="50" name="Text 47"/>
          <p:cNvSpPr txBox="1"/>
          <p:nvPr/>
        </p:nvSpPr>
        <p:spPr>
          <a:xfrm>
            <a:off x="596188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Decision tiers</a:t>
            </a:r>
            <a:endParaRPr lang="en-US" sz="1100" dirty="0"/>
          </a:p>
        </p:txBody>
      </p:sp>
      <p:sp>
        <p:nvSpPr>
          <p:cNvPr id="51" name="Text 48"/>
          <p:cNvSpPr txBox="1"/>
          <p:nvPr/>
        </p:nvSpPr>
        <p:spPr>
          <a:xfrm>
            <a:off x="596188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code first · Llama 3.2 1B when sure · Muse Glimmer if needed</a:t>
            </a:r>
            <a:endParaRPr lang="en-US" sz="900" dirty="0"/>
          </a:p>
        </p:txBody>
      </p:sp>
      <p:sp>
        <p:nvSpPr>
          <p:cNvPr id="52" name="Shape 49"/>
          <p:cNvSpPr/>
          <p:nvPr/>
        </p:nvSpPr>
        <p:spPr>
          <a:xfrm>
            <a:off x="2999232" y="4443984"/>
            <a:ext cx="2724912" cy="603504"/>
          </a:xfrm>
          <a:prstGeom prst="roundRect">
            <a:avLst>
              <a:gd name="adj" fmla="val 18182"/>
            </a:avLst>
          </a:prstGeom>
          <a:solidFill>
            <a:srgbClr val="F6F7F8"/>
          </a:solidFill>
          <a:ln w="12700">
            <a:solidFill>
              <a:srgbClr val="F6F7F8"/>
            </a:solidFill>
            <a:prstDash val="solid"/>
          </a:ln>
        </p:spPr>
      </p:sp>
      <p:sp>
        <p:nvSpPr>
          <p:cNvPr id="53" name="Text 50"/>
          <p:cNvSpPr txBox="1"/>
          <p:nvPr/>
        </p:nvSpPr>
        <p:spPr>
          <a:xfrm>
            <a:off x="312724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Live voice</a:t>
            </a:r>
            <a:endParaRPr lang="en-US" sz="1100" dirty="0"/>
          </a:p>
        </p:txBody>
      </p:sp>
      <p:sp>
        <p:nvSpPr>
          <p:cNvPr id="54" name="Text 51"/>
          <p:cNvSpPr txBox="1"/>
          <p:nvPr/>
        </p:nvSpPr>
        <p:spPr>
          <a:xfrm>
            <a:off x="312724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mic relayed to Muse Voice Transcribe · barge-in · Kokoro speaks</a:t>
            </a:r>
            <a:endParaRPr lang="en-US" sz="900" dirty="0"/>
          </a:p>
        </p:txBody>
      </p:sp>
      <p:sp>
        <p:nvSpPr>
          <p:cNvPr id="55" name="Shape 52"/>
          <p:cNvSpPr/>
          <p:nvPr/>
        </p:nvSpPr>
        <p:spPr>
          <a:xfrm>
            <a:off x="5833872" y="4443984"/>
            <a:ext cx="2724912" cy="603504"/>
          </a:xfrm>
          <a:prstGeom prst="roundRect">
            <a:avLst>
              <a:gd name="adj" fmla="val 18182"/>
            </a:avLst>
          </a:prstGeom>
          <a:solidFill>
            <a:srgbClr val="F6F7F8"/>
          </a:solidFill>
          <a:ln w="12700">
            <a:solidFill>
              <a:srgbClr val="F6F7F8"/>
            </a:solidFill>
            <a:prstDash val="solid"/>
          </a:ln>
        </p:spPr>
      </p:sp>
      <p:sp>
        <p:nvSpPr>
          <p:cNvPr id="56" name="Text 53"/>
          <p:cNvSpPr txBox="1"/>
          <p:nvPr/>
        </p:nvSpPr>
        <p:spPr>
          <a:xfrm>
            <a:off x="596188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Posters and faces</a:t>
            </a:r>
            <a:endParaRPr lang="en-US" sz="1100" dirty="0"/>
          </a:p>
        </p:txBody>
      </p:sp>
      <p:sp>
        <p:nvSpPr>
          <p:cNvPr id="57" name="Text 54"/>
          <p:cNvSpPr txBox="1"/>
          <p:nvPr/>
        </p:nvSpPr>
        <p:spPr>
          <a:xfrm>
            <a:off x="596188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Muse Image art, made once and cached · names drawn by the app</a:t>
            </a:r>
            <a:endParaRPr lang="en-US" sz="900" dirty="0"/>
          </a:p>
        </p:txBody>
      </p:sp>
      <p:sp>
        <p:nvSpPr>
          <p:cNvPr id="58" name="Shape 55"/>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9" name="Text 56"/>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60" name="Text 57"/>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61" name="Text 58"/>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62" name="Shape 59"/>
          <p:cNvSpPr/>
          <p:nvPr/>
        </p:nvSpPr>
        <p:spPr>
          <a:xfrm>
            <a:off x="8750808" y="2103120"/>
            <a:ext cx="274320" cy="0"/>
          </a:xfrm>
          <a:prstGeom prst="line">
            <a:avLst/>
          </a:prstGeom>
          <a:noFill/>
          <a:ln w="22225">
            <a:solidFill>
              <a:srgbClr val="0A7F44"/>
            </a:solidFill>
            <a:prstDash val="solid"/>
            <a:tailEnd type="triangle"/>
          </a:ln>
        </p:spPr>
      </p:sp>
      <p:sp>
        <p:nvSpPr>
          <p:cNvPr id="63" name="Shape 60"/>
          <p:cNvSpPr/>
          <p:nvPr/>
        </p:nvSpPr>
        <p:spPr>
          <a:xfrm>
            <a:off x="8750808" y="2926080"/>
            <a:ext cx="274320" cy="0"/>
          </a:xfrm>
          <a:prstGeom prst="line">
            <a:avLst/>
          </a:prstGeom>
          <a:noFill/>
          <a:ln w="22225">
            <a:solidFill>
              <a:srgbClr val="0064E0"/>
            </a:solidFill>
            <a:prstDash val="solid"/>
            <a:tailEnd type="triangle"/>
          </a:ln>
        </p:spPr>
      </p:sp>
      <p:sp>
        <p:nvSpPr>
          <p:cNvPr id="64" name="Shape 61"/>
          <p:cNvSpPr/>
          <p:nvPr/>
        </p:nvSpPr>
        <p:spPr>
          <a:xfrm>
            <a:off x="8750808" y="4572000"/>
            <a:ext cx="274320" cy="0"/>
          </a:xfrm>
          <a:prstGeom prst="line">
            <a:avLst/>
          </a:prstGeom>
          <a:noFill/>
          <a:ln w="22225">
            <a:solidFill>
              <a:srgbClr val="B26A00"/>
            </a:solidFill>
            <a:prstDash val="solid"/>
            <a:tailEnd type="triangle"/>
          </a:ln>
        </p:spPr>
      </p:sp>
      <p:sp>
        <p:nvSpPr>
          <p:cNvPr id="65" name="Text 62"/>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66" name="Shape 63"/>
          <p:cNvSpPr/>
          <p:nvPr/>
        </p:nvSpPr>
        <p:spPr>
          <a:xfrm>
            <a:off x="9070848" y="1755648"/>
            <a:ext cx="2697480" cy="713232"/>
          </a:xfrm>
          <a:prstGeom prst="roundRect">
            <a:avLst>
              <a:gd name="adj" fmla="val 15385"/>
            </a:avLst>
          </a:prstGeom>
          <a:solidFill>
            <a:srgbClr val="E9F3EC"/>
          </a:solidFill>
          <a:ln w="12700">
            <a:solidFill>
              <a:srgbClr val="E9F3EC"/>
            </a:solidFill>
            <a:prstDash val="solid"/>
          </a:ln>
        </p:spPr>
      </p:sp>
      <p:sp>
        <p:nvSpPr>
          <p:cNvPr id="67" name="Text 64"/>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8" name="Text 65"/>
          <p:cNvSpPr txBox="1"/>
          <p:nvPr/>
        </p:nvSpPr>
        <p:spPr>
          <a:xfrm>
            <a:off x="9198864" y="2084832"/>
            <a:ext cx="2487168" cy="347472"/>
          </a:xfrm>
          <a:prstGeom prst="rect">
            <a:avLst/>
          </a:prstGeom>
          <a:noFill/>
          <a:ln/>
        </p:spPr>
        <p:txBody>
          <a:bodyPr wrap="square" lIns="0" tIns="0" rIns="0" bIns="0" rtlCol="0" anchor="t"/>
          <a:lstStyle/>
          <a:p>
            <a:pPr indent="0" marL="0">
              <a:buNone/>
            </a:pPr>
            <a:r>
              <a:rPr lang="en-US" sz="950" dirty="0">
                <a:solidFill>
                  <a:srgbClr val="0A0A0B"/>
                </a:solidFill>
              </a:rPr>
              <a:t>GPU 1 · RTX 3090 · 4 in parallel · tools, JSON Schemas, vision</a:t>
            </a:r>
            <a:endParaRPr lang="en-US" sz="950" dirty="0"/>
          </a:p>
        </p:txBody>
      </p:sp>
      <p:sp>
        <p:nvSpPr>
          <p:cNvPr id="69" name="Shape 66"/>
          <p:cNvSpPr/>
          <p:nvPr/>
        </p:nvSpPr>
        <p:spPr>
          <a:xfrm>
            <a:off x="9070848" y="2578608"/>
            <a:ext cx="2697480" cy="713232"/>
          </a:xfrm>
          <a:prstGeom prst="roundRect">
            <a:avLst>
              <a:gd name="adj" fmla="val 15385"/>
            </a:avLst>
          </a:prstGeom>
          <a:solidFill>
            <a:srgbClr val="E8F1FD"/>
          </a:solidFill>
          <a:ln w="12700">
            <a:solidFill>
              <a:srgbClr val="E8F1FD"/>
            </a:solidFill>
            <a:prstDash val="solid"/>
          </a:ln>
        </p:spPr>
      </p:sp>
      <p:sp>
        <p:nvSpPr>
          <p:cNvPr id="70" name="Text 67"/>
          <p:cNvSpPr txBox="1"/>
          <p:nvPr/>
        </p:nvSpPr>
        <p:spPr>
          <a:xfrm>
            <a:off x="9198864" y="265176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71" name="Text 68"/>
          <p:cNvSpPr txBox="1"/>
          <p:nvPr/>
        </p:nvSpPr>
        <p:spPr>
          <a:xfrm>
            <a:off x="9198864" y="2907792"/>
            <a:ext cx="2487168" cy="347472"/>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72" name="Shape 69"/>
          <p:cNvSpPr/>
          <p:nvPr/>
        </p:nvSpPr>
        <p:spPr>
          <a:xfrm>
            <a:off x="9070848" y="3401568"/>
            <a:ext cx="2697480" cy="914400"/>
          </a:xfrm>
          <a:prstGeom prst="roundRect">
            <a:avLst>
              <a:gd name="adj" fmla="val 12000"/>
            </a:avLst>
          </a:prstGeom>
          <a:solidFill>
            <a:srgbClr val="E8F1FD"/>
          </a:solidFill>
          <a:ln w="12700">
            <a:solidFill>
              <a:srgbClr val="E8F1FD"/>
            </a:solidFill>
            <a:prstDash val="solid"/>
          </a:ln>
        </p:spPr>
      </p:sp>
      <p:sp>
        <p:nvSpPr>
          <p:cNvPr id="73" name="Text 70"/>
          <p:cNvSpPr txBox="1"/>
          <p:nvPr/>
        </p:nvSpPr>
        <p:spPr>
          <a:xfrm>
            <a:off x="9198864" y="347472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74" name="Text 71"/>
          <p:cNvSpPr txBox="1"/>
          <p:nvPr/>
        </p:nvSpPr>
        <p:spPr>
          <a:xfrm>
            <a:off x="9198864" y="3730752"/>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 · Kokoro (speech)</a:t>
            </a:r>
            <a:endParaRPr lang="en-US" sz="950" dirty="0"/>
          </a:p>
        </p:txBody>
      </p:sp>
      <p:sp>
        <p:nvSpPr>
          <p:cNvPr id="75" name="Shape 72"/>
          <p:cNvSpPr/>
          <p:nvPr/>
        </p:nvSpPr>
        <p:spPr>
          <a:xfrm>
            <a:off x="9070848" y="4425696"/>
            <a:ext cx="2697480" cy="868680"/>
          </a:xfrm>
          <a:prstGeom prst="roundRect">
            <a:avLst>
              <a:gd name="adj" fmla="val 12632"/>
            </a:avLst>
          </a:prstGeom>
          <a:solidFill>
            <a:srgbClr val="FBF3E6"/>
          </a:solidFill>
          <a:ln w="12700">
            <a:solidFill>
              <a:srgbClr val="FBF3E6"/>
            </a:solidFill>
            <a:prstDash val="solid"/>
          </a:ln>
        </p:spPr>
      </p:sp>
      <p:sp>
        <p:nvSpPr>
          <p:cNvPr id="76" name="Text 73"/>
          <p:cNvSpPr txBox="1"/>
          <p:nvPr/>
        </p:nvSpPr>
        <p:spPr>
          <a:xfrm>
            <a:off x="9198864" y="4498848"/>
            <a:ext cx="2468880" cy="246888"/>
          </a:xfrm>
          <a:prstGeom prst="rect">
            <a:avLst/>
          </a:prstGeom>
          <a:noFill/>
          <a:ln/>
        </p:spPr>
        <p:txBody>
          <a:bodyPr wrap="square" lIns="0" tIns="0" rIns="0" bIns="0" rtlCol="0" anchor="t"/>
          <a:lstStyle/>
          <a:p>
            <a:pPr indent="0" marL="0">
              <a:buNone/>
            </a:pPr>
            <a:r>
              <a:rPr lang="en-US" sz="1150" b="1" dirty="0">
                <a:solidFill>
                  <a:srgbClr val="B26A00"/>
                </a:solidFill>
              </a:rPr>
              <a:t>Meta Model API · key on the server</a:t>
            </a:r>
            <a:endParaRPr lang="en-US" sz="1150" dirty="0"/>
          </a:p>
        </p:txBody>
      </p:sp>
      <p:sp>
        <p:nvSpPr>
          <p:cNvPr id="77" name="Text 74"/>
          <p:cNvSpPr txBox="1"/>
          <p:nvPr/>
        </p:nvSpPr>
        <p:spPr>
          <a:xfrm>
            <a:off x="9198864" y="4754880"/>
            <a:ext cx="2487168" cy="502920"/>
          </a:xfrm>
          <a:prstGeom prst="rect">
            <a:avLst/>
          </a:prstGeom>
          <a:noFill/>
          <a:ln/>
        </p:spPr>
        <p:txBody>
          <a:bodyPr wrap="square" lIns="0" tIns="0" rIns="0" bIns="0" rtlCol="0" anchor="t"/>
          <a:lstStyle/>
          <a:p>
            <a:pPr indent="0" marL="0">
              <a:buNone/>
            </a:pPr>
            <a:r>
              <a:rPr lang="en-US" sz="950" dirty="0">
                <a:solidFill>
                  <a:srgbClr val="0A0A0B"/>
                </a:solidFill>
              </a:rPr>
              <a:t>Muse Spark 1.3 (fallback) · Muse Voice Transcribe · Muse Image · Muse Wonder (judges orbits) · SAM 3.1 (checked once)</a:t>
            </a:r>
            <a:endParaRPr lang="en-US" sz="950" dirty="0"/>
          </a:p>
        </p:txBody>
      </p:sp>
      <p:sp>
        <p:nvSpPr>
          <p:cNvPr id="78" name="Text 75"/>
          <p:cNvSpPr txBox="1"/>
          <p:nvPr/>
        </p:nvSpPr>
        <p:spPr>
          <a:xfrm>
            <a:off x="9070848" y="545896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79" name="Shape 76"/>
          <p:cNvSpPr/>
          <p:nvPr/>
        </p:nvSpPr>
        <p:spPr>
          <a:xfrm>
            <a:off x="9070848" y="5715000"/>
            <a:ext cx="2697480" cy="457200"/>
          </a:xfrm>
          <a:prstGeom prst="roundRect">
            <a:avLst>
              <a:gd name="adj" fmla="val 24000"/>
            </a:avLst>
          </a:prstGeom>
          <a:solidFill>
            <a:srgbClr val="FFFFFF"/>
          </a:solidFill>
          <a:ln w="12700">
            <a:solidFill>
              <a:srgbClr val="DCDCE0"/>
            </a:solidFill>
            <a:prstDash val="solid"/>
          </a:ln>
        </p:spPr>
      </p:sp>
      <p:sp>
        <p:nvSpPr>
          <p:cNvPr id="80" name="Text 77"/>
          <p:cNvSpPr txBox="1"/>
          <p:nvPr/>
        </p:nvSpPr>
        <p:spPr>
          <a:xfrm>
            <a:off x="9198864" y="5715000"/>
            <a:ext cx="2514600" cy="457200"/>
          </a:xfrm>
          <a:prstGeom prst="rect">
            <a:avLst/>
          </a:prstGeom>
          <a:noFill/>
          <a:ln/>
        </p:spPr>
        <p:txBody>
          <a:bodyPr wrap="square" lIns="0" tIns="0" rIns="0" bIns="0" rtlCol="0" anchor="ctr"/>
          <a:lstStyle/>
          <a:p>
            <a:pPr indent="0" marL="0">
              <a:buNone/>
            </a:pPr>
            <a:r>
              <a:rPr lang="en-US" sz="950" dirty="0">
                <a:solidFill>
                  <a:srgbClr val="0A0A0B"/>
                </a:solidFill>
              </a:rPr>
              <a:t>OpenStreetMap · Open-Meteo · Google Places (reviews)</a:t>
            </a:r>
            <a:endParaRPr lang="en-US" sz="9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2026-10-30T00:48:17Z</dcterms:created>
  <dcterms:modified xsi:type="dcterms:W3CDTF">2026-10-30T00:48:17Z</dcterms:modified>
</cp:coreProperties>
</file>