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4.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a843aa4-5403-5f24-93c8-8e82f4da299e}">
          <p14:sldIdLst>
            <p14:sldId id="256"/>
            <p14:sldId id="257"/>
          </p14:sldIdLst>
        </p14:section>
        <p14:section name="Impact" id="{2755c4c1-82e9-cb7e-45d8-0566cc95dc53}">
          <p14:sldIdLst>
            <p14:sldId id="258"/>
            <p14:sldId id="259"/>
          </p14:sldIdLst>
        </p14:section>
        <p14:section name="Demo" id="{7eefcade-dd99-062f-d00d-d35c77587d1f}">
          <p14:sldIdLst>
            <p14:sldId id="260"/>
            <p14:sldId id="261"/>
            <p14:sldId id="262"/>
            <p14:sldId id="263"/>
            <p14:sldId id="264"/>
            <p14:sldId id="265"/>
          </p14:sldIdLst>
        </p14:section>
        <p14:section name="Use of Meta AI" id="{ef0efc63-bd1b-a22f-6399-6b2126a73c33}">
          <p14:sldIdLst>
            <p14:sldId id="266"/>
            <p14:sldId id="267"/>
            <p14:sldId id="268"/>
            <p14:sldId id="269"/>
          </p14:sldIdLst>
        </p14:section>
        <p14:section name="Technical depth" id="{583aeb5d-e00e-ca76-540b-7c8ce26b20a4}">
          <p14:sldIdLst>
            <p14:sldId id="270"/>
            <p14:sldId id="271"/>
            <p14:sldId id="272"/>
            <p14:sldId id="273"/>
            <p14:sldId id="274"/>
            <p14:sldId id="275"/>
            <p14:sldId id="276"/>
            <p14:sldId id="277"/>
            <p14:sldId id="278"/>
          </p14:sldIdLst>
        </p14:section>
        <p14:section name="Architecture" id="{937402b6-8050-4b17-d383-2de72808b99f}">
          <p14:sldIdLst>
            <p14:sldId id="279"/>
          </p14:sldIdLst>
        </p14:section>
        <p14:section name="Close" id="{11e6af1a-d06b-cad9-ff49-4ee12fdc761e}">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with itself</c:v>
                  </c:pt>
                  <c:pt idx="1">
                    <c:v>First time listed</c:v>
                  </c:pt>
                  <c:pt idx="2">
                    <c:v>1B student (served)</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身體脈絡（RAG）：拿掉了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讀姿勢、找最快的揮拍 →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對戰海報與 agent 大頭貼（Meta Model API 的 Muse Image，每張 $0.01）：
海報：Muse Image 只畫背景插畫（兩隻吉祥物在球場對峙，不放文字），名字、時間、賭注由 app 用程式疊上去，所以不會出現亂碼字；每場挑戰只產生一次，存在伺服器上。只有球種和單雙打會進 prompt，名字和留言從不送出。一鍵從手機分享到 Instagram / Facebook。
大頭貼：demo 社團每位成員的 agent 和你自己的 agent 各一張，只產生一次，出現在社群動態、Agent 對話和首頁。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這週加的七件事，每一件都有量測，好的壞的都寫：
1 私密行事曆貫穿 Match 和規劃：其他成員的空檔只能問「這個時間有空嗎」，每天最多問 24 次。
2 學出來的意圖路由：正規表示式找到 6/10 約球請求，加上路由 10/10，22 則其他訊息誤報 1 則。
3 Muse Spark（Muse Code 用的同一系列）蓋 C3 新功能：修正我們自己的 oracle 後第一次就過。
4 商用授權的記憶 embedder：Granite（Apache 2.0）前三名召回 0.80。
5 Orbit 視覺裁判：Muse Wonder 和 Glimmer 都比標註嚴格，像素規則留下。
6 網球籃球的球：WASB 在這些影片上不能用，保留姿勢。
7 九道閘門含 GPU 套件，在 A100 上完整跑一次。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image" Target="../media/image-9-4.jpeg"/><Relationship Id="rId5" Type="http://schemas.openxmlformats.org/officeDocument/2006/relationships/image" Target="../media/image-9-5.jpeg"/><Relationship Id="rId6" Type="http://schemas.openxmlformats.org/officeDocument/2006/relationships/image" Target="../media/image-9-6.jpeg"/><Relationship Id="rId7" Type="http://schemas.openxmlformats.org/officeDocument/2006/relationships/image" Target="../media/image-9-7.jpe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slideLayout" Target="../slideLayouts/slideLayout2.xml"/><Relationship Id="rId1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548640" cy="548640"/>
          </a:xfrm>
          <a:prstGeom prst="rect">
            <a:avLst/>
          </a:prstGeom>
        </p:spPr>
      </p:pic>
      <p:sp>
        <p:nvSpPr>
          <p:cNvPr id="3" name="Text 0"/>
          <p:cNvSpPr txBox="1"/>
          <p:nvPr/>
        </p:nvSpPr>
        <p:spPr>
          <a:xfrm>
            <a:off x="1371600" y="713232"/>
            <a:ext cx="1828800" cy="411480"/>
          </a:xfrm>
          <a:prstGeom prst="rect">
            <a:avLst/>
          </a:prstGeom>
          <a:noFill/>
          <a:ln/>
        </p:spPr>
        <p:txBody>
          <a:bodyPr wrap="square" lIns="0" tIns="0" rIns="0" bIns="0" rtlCol="0" anchor="ctr"/>
          <a:lstStyle/>
          <a:p>
            <a:pPr indent="0" marL="0">
              <a:buNone/>
            </a:pPr>
            <a:r>
              <a:rPr lang="en-US" sz="2200" b="1" dirty="0">
                <a:solidFill>
                  <a:srgbClr val="0A0A0B"/>
                </a:solidFill>
              </a:rPr>
              <a:t>Meta</a:t>
            </a:r>
            <a:endParaRPr lang="en-US" sz="2200" dirty="0"/>
          </a:p>
        </p:txBody>
      </p:sp>
      <p:sp>
        <p:nvSpPr>
          <p:cNvPr id="4" name="Text 1"/>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5" name="Text 2"/>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6" name="Shape 3"/>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7" name="Text 4"/>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8" name="Shape 5"/>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10" name="Shape 7"/>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2" name="Image 1" descr="preencoded.png">    </p:cNvPr>
          <p:cNvPicPr>
            <a:picLocks noChangeAspect="1"/>
          </p:cNvPicPr>
          <p:nvPr/>
        </p:nvPicPr>
        <p:blipFill>
          <a:blip r:embed="rId2"/>
          <a:stretch>
            <a:fillRect/>
          </a:stretch>
        </p:blipFill>
        <p:spPr>
          <a:xfrm>
            <a:off x="731520" y="5897880"/>
            <a:ext cx="384048" cy="384048"/>
          </a:xfrm>
          <a:prstGeom prst="rect">
            <a:avLst/>
          </a:prstGeom>
        </p:spPr>
      </p:pic>
      <p:sp>
        <p:nvSpPr>
          <p:cNvPr id="13" name="Text 9"/>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body,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15 Meta models, 10 on hardware I own</a:t>
            </a:r>
            <a:endParaRPr lang="en-US" sz="1400" dirty="0"/>
          </a:p>
        </p:txBody>
      </p:sp>
      <p:sp>
        <p:nvSpPr>
          <p:cNvPr id="12" name="Shape 9"/>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3"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4" name="Shape 10"/>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5"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65960"/>
            <a:ext cx="2834640" cy="1097280"/>
          </a:xfrm>
          <a:prstGeom prst="rect">
            <a:avLst/>
          </a:prstGeom>
          <a:noFill/>
          <a:ln/>
        </p:spPr>
        <p:txBody>
          <a:bodyPr wrap="square" lIns="0" tIns="0" rIns="0" bIns="0" rtlCol="0" anchor="t"/>
          <a:lstStyle/>
          <a:p>
            <a:pPr indent="0" marL="0">
              <a:buNone/>
            </a:pPr>
            <a:r>
              <a:rPr lang="en-US" sz="7200" b="1" dirty="0">
                <a:solidFill>
                  <a:srgbClr val="0A7F44"/>
                </a:solidFill>
              </a:rPr>
              <a:t>31%</a:t>
            </a:r>
            <a:endParaRPr lang="en-US" sz="7200" dirty="0"/>
          </a:p>
        </p:txBody>
      </p:sp>
      <p:sp>
        <p:nvSpPr>
          <p:cNvPr id="7" name="Text 4"/>
          <p:cNvSpPr txBox="1"/>
          <p:nvPr/>
        </p:nvSpPr>
        <p:spPr>
          <a:xfrm>
            <a:off x="822960" y="3154680"/>
            <a:ext cx="2743200" cy="1005840"/>
          </a:xfrm>
          <a:prstGeom prst="rect">
            <a:avLst/>
          </a:prstGeom>
          <a:noFill/>
          <a:ln/>
        </p:spPr>
        <p:txBody>
          <a:bodyPr wrap="square" lIns="0" tIns="0" rIns="0" bIns="0" rtlCol="0" anchor="t"/>
          <a:lstStyle/>
          <a:p>
            <a:pPr indent="0" marL="0">
              <a:buNone/>
            </a:pPr>
            <a:r>
              <a:rPr lang="en-US" sz="1600" dirty="0">
                <a:solidFill>
                  <a:srgbClr val="0A0A0B"/>
                </a:solidFill>
              </a:rPr>
              <a:t>of adults worldwide did not get enough physical activity in 2022</a:t>
            </a:r>
            <a:endParaRPr lang="en-US" sz="1600" dirty="0"/>
          </a:p>
        </p:txBody>
      </p:sp>
      <p:sp>
        <p:nvSpPr>
          <p:cNvPr id="8" name="Text 5"/>
          <p:cNvSpPr txBox="1"/>
          <p:nvPr/>
        </p:nvSpPr>
        <p:spPr>
          <a:xfrm>
            <a:off x="822960" y="4206240"/>
            <a:ext cx="2743200" cy="274320"/>
          </a:xfrm>
          <a:prstGeom prst="rect">
            <a:avLst/>
          </a:prstGeom>
          <a:noFill/>
          <a:ln/>
        </p:spPr>
        <p:txBody>
          <a:bodyPr wrap="square" lIns="0" tIns="0" rIns="0" bIns="0" rtlCol="0" anchor="t"/>
          <a:lstStyle/>
          <a:p>
            <a:pPr indent="0" marL="0">
              <a:buNone/>
            </a:pPr>
            <a:r>
              <a:rPr lang="en-US" sz="1100" dirty="0">
                <a:solidFill>
                  <a:srgbClr val="55555C"/>
                </a:solidFill>
              </a:rPr>
              <a:t>World Health Organization, 2024</a:t>
            </a:r>
            <a:endParaRPr lang="en-US" sz="1100" dirty="0"/>
          </a:p>
        </p:txBody>
      </p:sp>
      <p:sp>
        <p:nvSpPr>
          <p:cNvPr id="9" name="Text 6"/>
          <p:cNvSpPr txBox="1"/>
          <p:nvPr/>
        </p:nvSpPr>
        <p:spPr>
          <a:xfrm>
            <a:off x="822960" y="4709160"/>
            <a:ext cx="2743200" cy="1188720"/>
          </a:xfrm>
          <a:prstGeom prst="rect">
            <a:avLst/>
          </a:prstGeom>
          <a:noFill/>
          <a:ln/>
        </p:spPr>
        <p:txBody>
          <a:bodyPr wrap="square" lIns="0" tIns="0" rIns="0" bIns="0" rtlCol="0" anchor="t"/>
          <a:lstStyle/>
          <a:p>
            <a:pPr indent="0" marL="0">
              <a:buNone/>
            </a:pPr>
            <a:r>
              <a:rPr lang="en-US" sz="1300" dirty="0">
                <a:solidFill>
                  <a:srgbClr val="55555C"/>
                </a:solidFill>
              </a:rPr>
              <a:t>For anyone who plays a ball sport for fun: badminton, tennis, pickleball, table tennis, basketball, volleyball, soccer.</a:t>
            </a:r>
            <a:endParaRPr lang="en-US" sz="1300" dirty="0"/>
          </a:p>
        </p:txBody>
      </p:sp>
      <p:sp>
        <p:nvSpPr>
          <p:cNvPr id="10" name="Text 7"/>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1" name="Text 8"/>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2" name="Shape 9"/>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13" name="Text 10"/>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14" name="Text 11"/>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time that suits four people, a free court, somewhere everyone can reach. The group chat goes quiet.</a:t>
            </a:r>
            <a:endParaRPr lang="en-US" sz="1200" dirty="0"/>
          </a:p>
        </p:txBody>
      </p:sp>
      <p:sp>
        <p:nvSpPr>
          <p:cNvPr id="15" name="Shape 12"/>
          <p:cNvSpPr/>
          <p:nvPr/>
        </p:nvSpPr>
        <p:spPr>
          <a:xfrm>
            <a:off x="7790688" y="2679192"/>
            <a:ext cx="182880" cy="0"/>
          </a:xfrm>
          <a:prstGeom prst="line">
            <a:avLst/>
          </a:prstGeom>
          <a:noFill/>
          <a:ln w="22225">
            <a:solidFill>
              <a:srgbClr val="8A8A92"/>
            </a:solidFill>
            <a:prstDash val="solid"/>
            <a:tailEnd type="triangle"/>
          </a:ln>
        </p:spPr>
      </p:sp>
      <p:sp>
        <p:nvSpPr>
          <p:cNvPr id="16" name="Shape 13"/>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17" name="Text 14"/>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lines up the week and agrees every game with the other players' agents. You approve once.</a:t>
            </a:r>
            <a:endParaRPr lang="en-US" sz="1300" dirty="0"/>
          </a:p>
        </p:txBody>
      </p:sp>
      <p:sp>
        <p:nvSpPr>
          <p:cNvPr id="18" name="Shape 15"/>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19" name="Text 16"/>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0" name="Text 17"/>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1" name="Shape 18"/>
          <p:cNvSpPr/>
          <p:nvPr/>
        </p:nvSpPr>
        <p:spPr>
          <a:xfrm>
            <a:off x="7790688" y="4050792"/>
            <a:ext cx="182880" cy="0"/>
          </a:xfrm>
          <a:prstGeom prst="line">
            <a:avLst/>
          </a:prstGeom>
          <a:noFill/>
          <a:ln w="22225">
            <a:solidFill>
              <a:srgbClr val="8A8A92"/>
            </a:solidFill>
            <a:prstDash val="solid"/>
            <a:tailEnd type="triangle"/>
          </a:ln>
        </p:spPr>
      </p:sp>
      <p:sp>
        <p:nvSpPr>
          <p:cNvPr id="22" name="Shape 19"/>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23" name="Text 20"/>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24" name="Shape 21"/>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25" name="Text 22"/>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26" name="Text 23"/>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27" name="Shape 24"/>
          <p:cNvSpPr/>
          <p:nvPr/>
        </p:nvSpPr>
        <p:spPr>
          <a:xfrm>
            <a:off x="7790688" y="5422392"/>
            <a:ext cx="182880" cy="0"/>
          </a:xfrm>
          <a:prstGeom prst="line">
            <a:avLst/>
          </a:prstGeom>
          <a:noFill/>
          <a:ln w="22225">
            <a:solidFill>
              <a:srgbClr val="8A8A92"/>
            </a:solidFill>
            <a:prstDash val="solid"/>
            <a:tailEnd type="triangle"/>
          </a:ln>
        </p:spPr>
      </p:sp>
      <p:sp>
        <p:nvSpPr>
          <p:cNvPr id="28" name="Shape 25"/>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29" name="Text 26"/>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load</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the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BODY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Every rule shows where it came from</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What matters this week, by meaning</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Rules, each with its sources</a:t>
            </a:r>
            <a:endParaRPr lang="en-US" sz="1050" dirty="0"/>
          </a:p>
        </p:txBody>
      </p:sp>
      <p:sp>
        <p:nvSpPr>
          <p:cNvPr id="11" name="Shape 6"/>
          <p:cNvSpPr/>
          <p:nvPr/>
        </p:nvSpPr>
        <p:spPr>
          <a:xfrm>
            <a:off x="5669280" y="1783080"/>
            <a:ext cx="384048" cy="384048"/>
          </a:xfrm>
          <a:prstGeom prst="ellipse">
            <a:avLst/>
          </a:prstGeom>
          <a:solidFill>
            <a:srgbClr val="0A7F44"/>
          </a:solidFill>
          <a:ln w="12700">
            <a:solidFill>
              <a:srgbClr val="0A7F44"/>
            </a:solidFill>
            <a:prstDash val="solid"/>
          </a:ln>
        </p:spPr>
      </p:sp>
      <p:sp>
        <p:nvSpPr>
          <p:cNvPr id="12" name="Text 7"/>
          <p:cNvSpPr txBox="1"/>
          <p:nvPr/>
        </p:nvSpPr>
        <p:spPr>
          <a:xfrm>
            <a:off x="56692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3" name="Text 8"/>
          <p:cNvSpPr txBox="1"/>
          <p:nvPr/>
        </p:nvSpPr>
        <p:spPr>
          <a:xfrm>
            <a:off x="6217920" y="1755648"/>
            <a:ext cx="5394960" cy="292608"/>
          </a:xfrm>
          <a:prstGeom prst="rect">
            <a:avLst/>
          </a:prstGeom>
          <a:noFill/>
          <a:ln/>
        </p:spPr>
        <p:txBody>
          <a:bodyPr wrap="square" lIns="0" tIns="0" rIns="0" bIns="0" rtlCol="0" anchor="t"/>
          <a:lstStyle/>
          <a:p>
            <a:pPr indent="0" marL="0">
              <a:buNone/>
            </a:pPr>
            <a:r>
              <a:rPr lang="en-US" sz="1500" b="1" dirty="0">
                <a:solidFill>
                  <a:srgbClr val="0A0A0B"/>
                </a:solidFill>
              </a:rPr>
              <a:t>Notes from what you said and what was recorded</a:t>
            </a:r>
            <a:endParaRPr lang="en-US" sz="1500" dirty="0"/>
          </a:p>
        </p:txBody>
      </p:sp>
      <p:sp>
        <p:nvSpPr>
          <p:cNvPr id="14" name="Text 9"/>
          <p:cNvSpPr txBox="1"/>
          <p:nvPr/>
        </p:nvSpPr>
        <p:spPr>
          <a:xfrm>
            <a:off x="6217920" y="2057400"/>
            <a:ext cx="5394960" cy="731520"/>
          </a:xfrm>
          <a:prstGeom prst="rect">
            <a:avLst/>
          </a:prstGeom>
          <a:noFill/>
          <a:ln/>
        </p:spPr>
        <p:txBody>
          <a:bodyPr wrap="square" lIns="0" tIns="0" rIns="0" bIns="0" rtlCol="0" anchor="t"/>
          <a:lstStyle/>
          <a:p>
            <a:pPr indent="0" marL="0">
              <a:buNone/>
            </a:pPr>
            <a:r>
              <a:rPr lang="en-US" sz="1200" dirty="0">
                <a:solidFill>
                  <a:srgbClr val="55555C"/>
                </a:solidFill>
              </a:rPr>
              <a:t>Your words from Messenger, a voice note or the app; each week's load from your games and health app; what you told your agent before.</a:t>
            </a:r>
            <a:endParaRPr lang="en-US" sz="1200" dirty="0"/>
          </a:p>
        </p:txBody>
      </p:sp>
      <p:sp>
        <p:nvSpPr>
          <p:cNvPr id="15" name="Shape 10"/>
          <p:cNvSpPr/>
          <p:nvPr/>
        </p:nvSpPr>
        <p:spPr>
          <a:xfrm>
            <a:off x="5669280" y="2862072"/>
            <a:ext cx="384048" cy="384048"/>
          </a:xfrm>
          <a:prstGeom prst="ellipse">
            <a:avLst/>
          </a:prstGeom>
          <a:solidFill>
            <a:srgbClr val="0A7F44"/>
          </a:solidFill>
          <a:ln w="12700">
            <a:solidFill>
              <a:srgbClr val="0A7F44"/>
            </a:solidFill>
            <a:prstDash val="solid"/>
          </a:ln>
        </p:spPr>
      </p:sp>
      <p:sp>
        <p:nvSpPr>
          <p:cNvPr id="16" name="Text 11"/>
          <p:cNvSpPr txBox="1"/>
          <p:nvPr/>
        </p:nvSpPr>
        <p:spPr>
          <a:xfrm>
            <a:off x="5669280" y="2862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7" name="Text 12"/>
          <p:cNvSpPr txBox="1"/>
          <p:nvPr/>
        </p:nvSpPr>
        <p:spPr>
          <a:xfrm>
            <a:off x="6217920" y="2834640"/>
            <a:ext cx="5394960" cy="292608"/>
          </a:xfrm>
          <a:prstGeom prst="rect">
            <a:avLst/>
          </a:prstGeom>
          <a:noFill/>
          <a:ln/>
        </p:spPr>
        <p:txBody>
          <a:bodyPr wrap="square" lIns="0" tIns="0" rIns="0" bIns="0" rtlCol="0" anchor="t"/>
          <a:lstStyle/>
          <a:p>
            <a:pPr indent="0" marL="0">
              <a:buNone/>
            </a:pPr>
            <a:r>
              <a:rPr lang="en-US" sz="1500" b="1" dirty="0">
                <a:solidFill>
                  <a:srgbClr val="0A0A0B"/>
                </a:solidFill>
              </a:rPr>
              <a:t>Found by meaning with Meta's DRAMA</a:t>
            </a:r>
            <a:endParaRPr lang="en-US" sz="1500" dirty="0"/>
          </a:p>
        </p:txBody>
      </p:sp>
      <p:sp>
        <p:nvSpPr>
          <p:cNvPr id="18" name="Text 13"/>
          <p:cNvSpPr txBox="1"/>
          <p:nvPr/>
        </p:nvSpPr>
        <p:spPr>
          <a:xfrm>
            <a:off x="6217920" y="3136392"/>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planner's question against every note, on the server's CPU. Recent notes count more: a body note keeps half its weight after a week.</a:t>
            </a:r>
            <a:endParaRPr lang="en-US" sz="1200" dirty="0"/>
          </a:p>
        </p:txBody>
      </p:sp>
      <p:sp>
        <p:nvSpPr>
          <p:cNvPr id="19" name="Shape 14"/>
          <p:cNvSpPr/>
          <p:nvPr/>
        </p:nvSpPr>
        <p:spPr>
          <a:xfrm>
            <a:off x="5669280" y="3941064"/>
            <a:ext cx="384048" cy="384048"/>
          </a:xfrm>
          <a:prstGeom prst="ellipse">
            <a:avLst/>
          </a:prstGeom>
          <a:solidFill>
            <a:srgbClr val="0A7F44"/>
          </a:solidFill>
          <a:ln w="12700">
            <a:solidFill>
              <a:srgbClr val="0A7F44"/>
            </a:solidFill>
            <a:prstDash val="solid"/>
          </a:ln>
        </p:spPr>
      </p:sp>
      <p:sp>
        <p:nvSpPr>
          <p:cNvPr id="20" name="Text 15"/>
          <p:cNvSpPr txBox="1"/>
          <p:nvPr/>
        </p:nvSpPr>
        <p:spPr>
          <a:xfrm>
            <a:off x="5669280" y="3941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1" name="Text 16"/>
          <p:cNvSpPr txBox="1"/>
          <p:nvPr/>
        </p:nvSpPr>
        <p:spPr>
          <a:xfrm>
            <a:off x="6217920" y="3913632"/>
            <a:ext cx="5394960" cy="292608"/>
          </a:xfrm>
          <a:prstGeom prst="rect">
            <a:avLst/>
          </a:prstGeom>
          <a:noFill/>
          <a:ln/>
        </p:spPr>
        <p:txBody>
          <a:bodyPr wrap="square" lIns="0" tIns="0" rIns="0" bIns="0" rtlCol="0" anchor="t"/>
          <a:lstStyle/>
          <a:p>
            <a:pPr indent="0" marL="0">
              <a:buNone/>
            </a:pPr>
            <a:r>
              <a:rPr lang="en-US" sz="1500" b="1" dirty="0">
                <a:solidFill>
                  <a:srgbClr val="0A0A0B"/>
                </a:solidFill>
              </a:rPr>
              <a:t>Rules decided by code, each citing its notes</a:t>
            </a:r>
            <a:endParaRPr lang="en-US" sz="1500" dirty="0"/>
          </a:p>
        </p:txBody>
      </p:sp>
      <p:sp>
        <p:nvSpPr>
          <p:cNvPr id="22" name="Text 17"/>
          <p:cNvSpPr txBox="1"/>
          <p:nvPr/>
        </p:nvSpPr>
        <p:spPr>
          <a:xfrm>
            <a:off x="6217920" y="4215384"/>
            <a:ext cx="5394960" cy="731520"/>
          </a:xfrm>
          <a:prstGeom prst="rect">
            <a:avLst/>
          </a:prstGeom>
          <a:noFill/>
          <a:ln/>
        </p:spPr>
        <p:txBody>
          <a:bodyPr wrap="square" lIns="0" tIns="0" rIns="0" bIns="0" rtlCol="0" anchor="t"/>
          <a:lstStyle/>
          <a:p>
            <a:pPr indent="0" marL="0">
              <a:buNone/>
            </a:pPr>
            <a:r>
              <a:rPr lang="en-US" sz="1200" dirty="0">
                <a:solidFill>
                  <a:srgbClr val="55555C"/>
                </a:solidFill>
              </a:rPr>
              <a:t>Doubles first, no jump sports, one game fewer in a heavy week. A citation must be a real note about the same body part, checked by code.</a:t>
            </a:r>
            <a:endParaRPr lang="en-US" sz="1200" dirty="0"/>
          </a:p>
        </p:txBody>
      </p:sp>
      <p:sp>
        <p:nvSpPr>
          <p:cNvPr id="23" name="Shape 18"/>
          <p:cNvSpPr/>
          <p:nvPr/>
        </p:nvSpPr>
        <p:spPr>
          <a:xfrm>
            <a:off x="5669280" y="5020056"/>
            <a:ext cx="384048" cy="384048"/>
          </a:xfrm>
          <a:prstGeom prst="ellipse">
            <a:avLst/>
          </a:prstGeom>
          <a:solidFill>
            <a:srgbClr val="0A7F44"/>
          </a:solidFill>
          <a:ln w="12700">
            <a:solidFill>
              <a:srgbClr val="0A7F44"/>
            </a:solidFill>
            <a:prstDash val="solid"/>
          </a:ln>
        </p:spPr>
      </p:sp>
      <p:sp>
        <p:nvSpPr>
          <p:cNvPr id="24" name="Text 19"/>
          <p:cNvSpPr txBox="1"/>
          <p:nvPr/>
        </p:nvSpPr>
        <p:spPr>
          <a:xfrm>
            <a:off x="5669280" y="5020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5" name="Text 20"/>
          <p:cNvSpPr txBox="1"/>
          <p:nvPr/>
        </p:nvSpPr>
        <p:spPr>
          <a:xfrm>
            <a:off x="6217920" y="4992624"/>
            <a:ext cx="5394960" cy="292608"/>
          </a:xfrm>
          <a:prstGeom prst="rect">
            <a:avLst/>
          </a:prstGeom>
          <a:noFill/>
          <a:ln/>
        </p:spPr>
        <p:txBody>
          <a:bodyPr wrap="square" lIns="0" tIns="0" rIns="0" bIns="0" rtlCol="0" anchor="t"/>
          <a:lstStyle/>
          <a:p>
            <a:pPr indent="0" marL="0">
              <a:buNone/>
            </a:pPr>
            <a:r>
              <a:rPr lang="en-US" sz="1500" b="1" dirty="0">
                <a:solidFill>
                  <a:srgbClr val="0A0A0B"/>
                </a:solidFill>
              </a:rPr>
              <a:t>The planner gets the same context</a:t>
            </a:r>
            <a:endParaRPr lang="en-US" sz="1500" dirty="0"/>
          </a:p>
        </p:txBody>
      </p:sp>
      <p:sp>
        <p:nvSpPr>
          <p:cNvPr id="26" name="Text 21"/>
          <p:cNvSpPr txBox="1"/>
          <p:nvPr/>
        </p:nvSpPr>
        <p:spPr>
          <a:xfrm>
            <a:off x="6217920" y="5294376"/>
            <a:ext cx="5394960" cy="731520"/>
          </a:xfrm>
          <a:prstGeom prst="rect">
            <a:avLst/>
          </a:prstGeom>
          <a:noFill/>
          <a:ln/>
        </p:spPr>
        <p:txBody>
          <a:bodyPr wrap="square" lIns="0" tIns="0" rIns="0" bIns="0" rtlCol="0" anchor="t"/>
          <a:lstStyle/>
          <a:p>
            <a:pPr indent="0" marL="0">
              <a:buNone/>
            </a:pPr>
            <a:r>
              <a:rPr lang="en-US" sz="1200" dirty="0">
                <a:solidFill>
                  <a:srgbClr val="55555C"/>
                </a:solidFill>
              </a:rPr>
              <a:t>check_body hands the top notes and the cited rules to Muse Glimmer when it plans your week. A record, never a diagnosis.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The venue in the middle: each player's trip, agreed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Courts, judged with their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FIVE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clip becomes your moment, on my GPU</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reads the pose, finds the fastest swing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20°</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SATURDAY · MADE WITH MUSE IMAGE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 poster for the rematch, a face for every agent</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 rematch poster, shared from the phone</a:t>
            </a:r>
            <a:endParaRPr lang="en-US" sz="1050" dirty="0"/>
          </a:p>
        </p:txBody>
      </p:sp>
      <p:sp>
        <p:nvSpPr>
          <p:cNvPr id="8" name="Text 4"/>
          <p:cNvSpPr txBox="1"/>
          <p:nvPr/>
        </p:nvSpPr>
        <p:spPr>
          <a:xfrm>
            <a:off x="3291840" y="173736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The poster</a:t>
            </a:r>
            <a:endParaRPr lang="en-US" sz="1500" dirty="0"/>
          </a:p>
        </p:txBody>
      </p:sp>
      <p:sp>
        <p:nvSpPr>
          <p:cNvPr id="9" name="Text 5"/>
          <p:cNvSpPr txBox="1"/>
          <p:nvPr/>
        </p:nvSpPr>
        <p:spPr>
          <a:xfrm>
            <a:off x="3291840" y="2057400"/>
            <a:ext cx="4023360" cy="1463040"/>
          </a:xfrm>
          <a:prstGeom prst="rect">
            <a:avLst/>
          </a:prstGeom>
          <a:noFill/>
          <a:ln/>
        </p:spPr>
        <p:txBody>
          <a:bodyPr wrap="square" lIns="0" tIns="0" rIns="0" bIns="0" rtlCol="0" anchor="t"/>
          <a:lstStyle/>
          <a:p>
            <a:pPr indent="0" marL="0">
              <a:buNone/>
            </a:pPr>
            <a:r>
              <a:rPr lang="en-US" sz="1150" dirty="0">
                <a:solidFill>
                  <a:srgbClr val="55555C"/>
                </a:solidFill>
              </a:rPr>
              <a:t>Muse Image draws only the art: two of the club's mascots facing off, no words in it. The app writes who, when and the stake on top, so nothing reads wrong. Made once per challenge; only the sport and the format go into the prompt, never a name or a note.</a:t>
            </a:r>
            <a:endParaRPr lang="en-US" sz="1150" dirty="0"/>
          </a:p>
        </p:txBody>
      </p:sp>
      <p:sp>
        <p:nvSpPr>
          <p:cNvPr id="10" name="Text 6"/>
          <p:cNvSpPr txBox="1"/>
          <p:nvPr/>
        </p:nvSpPr>
        <p:spPr>
          <a:xfrm>
            <a:off x="3291840" y="361188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Every agent's face</a:t>
            </a:r>
            <a:endParaRPr lang="en-US" sz="1500" dirty="0"/>
          </a:p>
        </p:txBody>
      </p:sp>
      <p:sp>
        <p:nvSpPr>
          <p:cNvPr id="11" name="Text 7"/>
          <p:cNvSpPr txBox="1"/>
          <p:nvPr/>
        </p:nvSpPr>
        <p:spPr>
          <a:xfrm>
            <a:off x="3291840" y="3931920"/>
            <a:ext cx="4023360" cy="1097280"/>
          </a:xfrm>
          <a:prstGeom prst="rect">
            <a:avLst/>
          </a:prstGeom>
          <a:noFill/>
          <a:ln/>
        </p:spPr>
        <p:txBody>
          <a:bodyPr wrap="square" lIns="0" tIns="0" rIns="0" bIns="0" rtlCol="0" anchor="t"/>
          <a:lstStyle/>
          <a:p>
            <a:pPr indent="0" marL="0">
              <a:buNone/>
            </a:pPr>
            <a:r>
              <a:rPr lang="en-US" sz="1150" dirty="0">
                <a:solidFill>
                  <a:srgbClr val="55555C"/>
                </a:solidFill>
              </a:rPr>
              <a:t>One for each member's agent and one for yours, made once (12 images), so you can tell at a glance whose agent is talking: in the feed, in Agent chats and on the home page.</a:t>
            </a:r>
            <a:endParaRPr lang="en-US" sz="1150" dirty="0"/>
          </a:p>
        </p:txBody>
      </p:sp>
      <p:sp>
        <p:nvSpPr>
          <p:cNvPr id="12" name="Shape 8"/>
          <p:cNvSpPr/>
          <p:nvPr/>
        </p:nvSpPr>
        <p:spPr>
          <a:xfrm>
            <a:off x="3291840" y="5166360"/>
            <a:ext cx="3291840" cy="329184"/>
          </a:xfrm>
          <a:prstGeom prst="roundRect">
            <a:avLst>
              <a:gd name="adj" fmla="val 50000"/>
            </a:avLst>
          </a:prstGeom>
          <a:solidFill>
            <a:srgbClr val="FBF3E6"/>
          </a:solidFill>
          <a:ln w="12700">
            <a:solidFill>
              <a:srgbClr val="FBF3E6"/>
            </a:solidFill>
            <a:prstDash val="solid"/>
          </a:ln>
        </p:spPr>
      </p:sp>
      <p:sp>
        <p:nvSpPr>
          <p:cNvPr id="13" name="Text 9"/>
          <p:cNvSpPr txBox="1"/>
          <p:nvPr/>
        </p:nvSpPr>
        <p:spPr>
          <a:xfrm>
            <a:off x="3291840" y="5166360"/>
            <a:ext cx="3291840" cy="329184"/>
          </a:xfrm>
          <a:prstGeom prst="rect">
            <a:avLst/>
          </a:prstGeom>
          <a:noFill/>
          <a:ln/>
        </p:spPr>
        <p:txBody>
          <a:bodyPr wrap="square" lIns="0" tIns="0" rIns="0" bIns="0" rtlCol="0" anchor="ctr"/>
          <a:lstStyle/>
          <a:p>
            <a:pPr algn="ctr" indent="0" marL="0">
              <a:buNone/>
            </a:pPr>
            <a:r>
              <a:rPr lang="en-US" sz="1100" b="1" dirty="0">
                <a:solidFill>
                  <a:srgbClr val="B26A00"/>
                </a:solidFill>
              </a:rPr>
              <a:t>Muse Image · $0.01 an image · made once</a:t>
            </a:r>
            <a:endParaRPr lang="en-US" sz="1100" dirty="0"/>
          </a:p>
        </p:txBody>
      </p:sp>
      <p:pic>
        <p:nvPicPr>
          <p:cNvPr id="14" name="Image 1" descr="preencoded.png">    </p:cNvPr>
          <p:cNvPicPr>
            <a:picLocks noChangeAspect="1"/>
          </p:cNvPicPr>
          <p:nvPr/>
        </p:nvPicPr>
        <p:blipFill>
          <a:blip r:embed="rId2"/>
          <a:stretch>
            <a:fillRect/>
          </a:stretch>
        </p:blipFill>
        <p:spPr>
          <a:xfrm>
            <a:off x="7726680" y="1783080"/>
            <a:ext cx="868680" cy="868680"/>
          </a:xfrm>
          <a:prstGeom prst="rect">
            <a:avLst/>
          </a:prstGeom>
        </p:spPr>
      </p:pic>
      <p:pic>
        <p:nvPicPr>
          <p:cNvPr id="15" name="Image 2" descr="preencoded.png">    </p:cNvPr>
          <p:cNvPicPr>
            <a:picLocks noChangeAspect="1"/>
          </p:cNvPicPr>
          <p:nvPr/>
        </p:nvPicPr>
        <p:blipFill>
          <a:blip r:embed="rId3"/>
          <a:stretch>
            <a:fillRect/>
          </a:stretch>
        </p:blipFill>
        <p:spPr>
          <a:xfrm>
            <a:off x="8714232" y="1783080"/>
            <a:ext cx="868680" cy="868680"/>
          </a:xfrm>
          <a:prstGeom prst="rect">
            <a:avLst/>
          </a:prstGeom>
        </p:spPr>
      </p:pic>
      <p:pic>
        <p:nvPicPr>
          <p:cNvPr id="16" name="Image 3" descr="preencoded.png">    </p:cNvPr>
          <p:cNvPicPr>
            <a:picLocks noChangeAspect="1"/>
          </p:cNvPicPr>
          <p:nvPr/>
        </p:nvPicPr>
        <p:blipFill>
          <a:blip r:embed="rId4"/>
          <a:stretch>
            <a:fillRect/>
          </a:stretch>
        </p:blipFill>
        <p:spPr>
          <a:xfrm>
            <a:off x="9701784" y="1783080"/>
            <a:ext cx="868680" cy="868680"/>
          </a:xfrm>
          <a:prstGeom prst="rect">
            <a:avLst/>
          </a:prstGeom>
        </p:spPr>
      </p:pic>
      <p:pic>
        <p:nvPicPr>
          <p:cNvPr id="17" name="Image 4" descr="preencoded.png">    </p:cNvPr>
          <p:cNvPicPr>
            <a:picLocks noChangeAspect="1"/>
          </p:cNvPicPr>
          <p:nvPr/>
        </p:nvPicPr>
        <p:blipFill>
          <a:blip r:embed="rId5"/>
          <a:stretch>
            <a:fillRect/>
          </a:stretch>
        </p:blipFill>
        <p:spPr>
          <a:xfrm>
            <a:off x="10689336" y="1783080"/>
            <a:ext cx="868680" cy="868680"/>
          </a:xfrm>
          <a:prstGeom prst="rect">
            <a:avLst/>
          </a:prstGeom>
        </p:spPr>
      </p:pic>
      <p:pic>
        <p:nvPicPr>
          <p:cNvPr id="18" name="Image 5" descr="preencoded.png">    </p:cNvPr>
          <p:cNvPicPr>
            <a:picLocks noChangeAspect="1"/>
          </p:cNvPicPr>
          <p:nvPr/>
        </p:nvPicPr>
        <p:blipFill>
          <a:blip r:embed="rId6"/>
          <a:stretch>
            <a:fillRect/>
          </a:stretch>
        </p:blipFill>
        <p:spPr>
          <a:xfrm>
            <a:off x="7726680" y="2807208"/>
            <a:ext cx="868680" cy="868680"/>
          </a:xfrm>
          <a:prstGeom prst="rect">
            <a:avLst/>
          </a:prstGeom>
        </p:spPr>
      </p:pic>
      <p:pic>
        <p:nvPicPr>
          <p:cNvPr id="19" name="Image 6" descr="preencoded.png">    </p:cNvPr>
          <p:cNvPicPr>
            <a:picLocks noChangeAspect="1"/>
          </p:cNvPicPr>
          <p:nvPr/>
        </p:nvPicPr>
        <p:blipFill>
          <a:blip r:embed="rId7"/>
          <a:stretch>
            <a:fillRect/>
          </a:stretch>
        </p:blipFill>
        <p:spPr>
          <a:xfrm>
            <a:off x="8714232" y="2807208"/>
            <a:ext cx="868680" cy="868680"/>
          </a:xfrm>
          <a:prstGeom prst="rect">
            <a:avLst/>
          </a:prstGeom>
        </p:spPr>
      </p:pic>
      <p:pic>
        <p:nvPicPr>
          <p:cNvPr id="20" name="Image 7" descr="preencoded.png">    </p:cNvPr>
          <p:cNvPicPr>
            <a:picLocks noChangeAspect="1"/>
          </p:cNvPicPr>
          <p:nvPr/>
        </p:nvPicPr>
        <p:blipFill>
          <a:blip r:embed="rId8"/>
          <a:stretch>
            <a:fillRect/>
          </a:stretch>
        </p:blipFill>
        <p:spPr>
          <a:xfrm>
            <a:off x="9701784" y="2807208"/>
            <a:ext cx="868680" cy="868680"/>
          </a:xfrm>
          <a:prstGeom prst="rect">
            <a:avLst/>
          </a:prstGeom>
        </p:spPr>
      </p:pic>
      <p:pic>
        <p:nvPicPr>
          <p:cNvPr id="21" name="Image 8" descr="preencoded.png">    </p:cNvPr>
          <p:cNvPicPr>
            <a:picLocks noChangeAspect="1"/>
          </p:cNvPicPr>
          <p:nvPr/>
        </p:nvPicPr>
        <p:blipFill>
          <a:blip r:embed="rId9"/>
          <a:stretch>
            <a:fillRect/>
          </a:stretch>
        </p:blipFill>
        <p:spPr>
          <a:xfrm>
            <a:off x="10689336" y="2807208"/>
            <a:ext cx="868680" cy="868680"/>
          </a:xfrm>
          <a:prstGeom prst="rect">
            <a:avLst/>
          </a:prstGeom>
        </p:spPr>
      </p:pic>
      <p:pic>
        <p:nvPicPr>
          <p:cNvPr id="22" name="Image 9" descr="preencoded.png">    </p:cNvPr>
          <p:cNvPicPr>
            <a:picLocks noChangeAspect="1"/>
          </p:cNvPicPr>
          <p:nvPr/>
        </p:nvPicPr>
        <p:blipFill>
          <a:blip r:embed="rId10"/>
          <a:stretch>
            <a:fillRect/>
          </a:stretch>
        </p:blipFill>
        <p:spPr>
          <a:xfrm>
            <a:off x="7726680" y="3831336"/>
            <a:ext cx="868680" cy="868680"/>
          </a:xfrm>
          <a:prstGeom prst="rect">
            <a:avLst/>
          </a:prstGeom>
        </p:spPr>
      </p:pic>
      <p:pic>
        <p:nvPicPr>
          <p:cNvPr id="23" name="Image 10" descr="preencoded.png">    </p:cNvPr>
          <p:cNvPicPr>
            <a:picLocks noChangeAspect="1"/>
          </p:cNvPicPr>
          <p:nvPr/>
        </p:nvPicPr>
        <p:blipFill>
          <a:blip r:embed="rId11"/>
          <a:stretch>
            <a:fillRect/>
          </a:stretch>
        </p:blipFill>
        <p:spPr>
          <a:xfrm>
            <a:off x="8714232" y="3831336"/>
            <a:ext cx="868680" cy="868680"/>
          </a:xfrm>
          <a:prstGeom prst="rect">
            <a:avLst/>
          </a:prstGeom>
        </p:spPr>
      </p:pic>
      <p:pic>
        <p:nvPicPr>
          <p:cNvPr id="24" name="Image 11" descr="preencoded.png">    </p:cNvPr>
          <p:cNvPicPr>
            <a:picLocks noChangeAspect="1"/>
          </p:cNvPicPr>
          <p:nvPr/>
        </p:nvPicPr>
        <p:blipFill>
          <a:blip r:embed="rId12"/>
          <a:stretch>
            <a:fillRect/>
          </a:stretch>
        </p:blipFill>
        <p:spPr>
          <a:xfrm>
            <a:off x="9701784" y="3831336"/>
            <a:ext cx="868680" cy="868680"/>
          </a:xfrm>
          <a:prstGeom prst="rect">
            <a:avLst/>
          </a:prstGeom>
        </p:spPr>
      </p:pic>
      <p:pic>
        <p:nvPicPr>
          <p:cNvPr id="25" name="Image 12" descr="preencoded.png">    </p:cNvPr>
          <p:cNvPicPr>
            <a:picLocks noChangeAspect="1"/>
          </p:cNvPicPr>
          <p:nvPr/>
        </p:nvPicPr>
        <p:blipFill>
          <a:blip r:embed="rId13"/>
          <a:stretch>
            <a:fillRect/>
          </a:stretch>
        </p:blipFill>
        <p:spPr>
          <a:xfrm>
            <a:off x="10689336" y="3831336"/>
            <a:ext cx="868680" cy="868680"/>
          </a:xfrm>
          <a:prstGeom prst="rect">
            <a:avLst/>
          </a:prstGeom>
        </p:spPr>
      </p:pic>
      <p:sp>
        <p:nvSpPr>
          <p:cNvPr id="26" name="Text 10"/>
          <p:cNvSpPr txBox="1"/>
          <p:nvPr/>
        </p:nvSpPr>
        <p:spPr>
          <a:xfrm>
            <a:off x="7726680" y="4892040"/>
            <a:ext cx="3931920" cy="256032"/>
          </a:xfrm>
          <a:prstGeom prst="rect">
            <a:avLst/>
          </a:prstGeom>
          <a:noFill/>
          <a:ln/>
        </p:spPr>
        <p:txBody>
          <a:bodyPr wrap="square" lIns="0" tIns="0" rIns="0" bIns="0" rtlCol="0" anchor="t"/>
          <a:lstStyle/>
          <a:p>
            <a:pPr indent="0" marL="0">
              <a:buNone/>
            </a:pPr>
            <a:r>
              <a:rPr lang="en-US" sz="1050" dirty="0">
                <a:solidFill>
                  <a:srgbClr val="55555C"/>
                </a:solidFill>
              </a:rPr>
              <a:t>The demo club's agents and yours</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and Meta's apps, each with a job</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54–67% of members' decisions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simulated club</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what matters for your week by meaning (RAG); groups the club's ideas</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player's pose on every frame; finds the moment</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Messenger: your agent in your chats; join with Facebook or IG;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pic>
        <p:nvPicPr>
          <p:cNvPr id="86" name="Image 1" descr="preencoded.png">    </p:cNvPr>
          <p:cNvPicPr>
            <a:picLocks noChangeAspect="1"/>
          </p:cNvPicPr>
          <p:nvPr/>
        </p:nvPicPr>
        <p:blipFill>
          <a:blip r:embed="rId2"/>
          <a:stretch>
            <a:fillRect/>
          </a:stretch>
        </p:blipFill>
        <p:spPr>
          <a:xfrm>
            <a:off x="548640" y="6089904"/>
            <a:ext cx="274320" cy="274320"/>
          </a:xfrm>
          <a:prstGeom prst="rect">
            <a:avLst/>
          </a:prstGeom>
        </p:spPr>
      </p:pic>
      <p:sp>
        <p:nvSpPr>
          <p:cNvPr id="87" name="Text 82"/>
          <p:cNvSpPr txBox="1"/>
          <p:nvPr/>
        </p:nvSpPr>
        <p:spPr>
          <a:xfrm>
            <a:off x="914400" y="6089904"/>
            <a:ext cx="10515600" cy="274320"/>
          </a:xfrm>
          <a:prstGeom prst="rect">
            <a:avLst/>
          </a:prstGeom>
          <a:noFill/>
          <a:ln/>
        </p:spPr>
        <p:txBody>
          <a:bodyPr wrap="square" lIns="0" tIns="0" rIns="0" bIns="0" rtlCol="0" anchor="ctr"/>
          <a:lstStyle/>
          <a:p>
            <a:pPr indent="0" marL="0">
              <a:buNone/>
            </a:pPr>
            <a:r>
              <a:rPr lang="en-US" sz="1200" b="1" dirty="0">
                <a:solidFill>
                  <a:srgbClr val="0A0A0B"/>
                </a:solidFill>
              </a:rPr>
              <a:t>Ten open-weights models on hardware I own; five on the Meta Model API. Every agent follows Meta's Agents Rule of Two.</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71800"/>
            <a:ext cx="1170432" cy="329184"/>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get_week</a:t>
            </a:r>
            <a:endParaRPr lang="en-US" sz="1050" dirty="0"/>
          </a:p>
        </p:txBody>
      </p:sp>
      <p:sp>
        <p:nvSpPr>
          <p:cNvPr id="10" name="Shape 7"/>
          <p:cNvSpPr/>
          <p:nvPr/>
        </p:nvSpPr>
        <p:spPr>
          <a:xfrm>
            <a:off x="2020824" y="2971800"/>
            <a:ext cx="1170432" cy="329184"/>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020824"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check_body</a:t>
            </a:r>
            <a:endParaRPr lang="en-US" sz="1050" dirty="0"/>
          </a:p>
        </p:txBody>
      </p:sp>
      <p:sp>
        <p:nvSpPr>
          <p:cNvPr id="12" name="Shape 9"/>
          <p:cNvSpPr/>
          <p:nvPr/>
        </p:nvSpPr>
        <p:spPr>
          <a:xfrm>
            <a:off x="3264408" y="2971800"/>
            <a:ext cx="1170432" cy="329184"/>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3264408"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find_partners</a:t>
            </a:r>
            <a:endParaRPr lang="en-US" sz="1050" dirty="0"/>
          </a:p>
        </p:txBody>
      </p:sp>
      <p:sp>
        <p:nvSpPr>
          <p:cNvPr id="14" name="Shape 11"/>
          <p:cNvSpPr/>
          <p:nvPr/>
        </p:nvSpPr>
        <p:spPr>
          <a:xfrm>
            <a:off x="4507992" y="2971800"/>
            <a:ext cx="1170432" cy="329184"/>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4507992"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find_places</a:t>
            </a:r>
            <a:endParaRPr lang="en-US" sz="1050" dirty="0"/>
          </a:p>
        </p:txBody>
      </p:sp>
      <p:sp>
        <p:nvSpPr>
          <p:cNvPr id="16" name="Shape 13"/>
          <p:cNvSpPr/>
          <p:nvPr/>
        </p:nvSpPr>
        <p:spPr>
          <a:xfrm>
            <a:off x="777240" y="3429000"/>
            <a:ext cx="1170432" cy="329184"/>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777240"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negotiate</a:t>
            </a:r>
            <a:endParaRPr lang="en-US" sz="1050" dirty="0"/>
          </a:p>
        </p:txBody>
      </p:sp>
      <p:sp>
        <p:nvSpPr>
          <p:cNvPr id="18" name="Shape 15"/>
          <p:cNvSpPr/>
          <p:nvPr/>
        </p:nvSpPr>
        <p:spPr>
          <a:xfrm>
            <a:off x="2020824" y="3429000"/>
            <a:ext cx="1170432" cy="329184"/>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2020824"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request_approval</a:t>
            </a:r>
            <a:endParaRPr lang="en-US" sz="1050" dirty="0"/>
          </a:p>
        </p:txBody>
      </p:sp>
      <p:sp>
        <p:nvSpPr>
          <p:cNvPr id="20" name="Shape 17"/>
          <p:cNvSpPr/>
          <p:nvPr/>
        </p:nvSpPr>
        <p:spPr>
          <a:xfrm>
            <a:off x="3264408" y="3429000"/>
            <a:ext cx="1170432" cy="329184"/>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3264408"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nudge</a:t>
            </a:r>
            <a:endParaRPr lang="en-US" sz="1050" dirty="0"/>
          </a:p>
        </p:txBody>
      </p:sp>
      <p:sp>
        <p:nvSpPr>
          <p:cNvPr id="22" name="Shape 19"/>
          <p:cNvSpPr/>
          <p:nvPr/>
        </p:nvSpPr>
        <p:spPr>
          <a:xfrm>
            <a:off x="4507992" y="3429000"/>
            <a:ext cx="1170432" cy="329184"/>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4507992"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finish</a:t>
            </a:r>
            <a:endParaRPr lang="en-US" sz="1050" dirty="0"/>
          </a:p>
        </p:txBody>
      </p:sp>
      <p:sp>
        <p:nvSpPr>
          <p:cNvPr id="24" name="Text 21"/>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5" name="Shape 22"/>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6" name="Text 23"/>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7" name="Text 24"/>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28" name="Text 25"/>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29" name="Text 26"/>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0" name="Text 27"/>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1" name="Text 28"/>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2" name="Text 29"/>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3" name="Text 30"/>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4" name="Text 31"/>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5" name="Text 32"/>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6" name="Shape 33"/>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7" name="Text 34"/>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38" name="Text 35"/>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finds where your turn ends; 25 languages, code-switching</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logged</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786384"/>
          </a:xfrm>
          <a:prstGeom prst="roundRect">
            <a:avLst>
              <a:gd name="adj" fmla="val 13953"/>
            </a:avLst>
          </a:prstGeom>
          <a:solidFill>
            <a:srgbClr val="E9F3EC"/>
          </a:solidFill>
          <a:ln w="12700">
            <a:solidFill>
              <a:srgbClr val="E9F3EC"/>
            </a:solidFill>
            <a:prstDash val="solid"/>
          </a:ln>
        </p:spPr>
      </p:sp>
      <p:sp>
        <p:nvSpPr>
          <p:cNvPr id="20" name="Text 17"/>
          <p:cNvSpPr txBox="1"/>
          <p:nvPr/>
        </p:nvSpPr>
        <p:spPr>
          <a:xfrm>
            <a:off x="502920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Teacher data</a:t>
            </a:r>
            <a:endParaRPr lang="en-US" sz="1250" dirty="0"/>
          </a:p>
        </p:txBody>
      </p:sp>
      <p:sp>
        <p:nvSpPr>
          <p:cNvPr id="21" name="Text 18"/>
          <p:cNvSpPr txBox="1"/>
          <p:nvPr/>
        </p:nvSpPr>
        <p:spPr>
          <a:xfrm>
            <a:off x="502920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4,868 choices Muse Glimmer made through the real agent call, on a cloud A100</a:t>
            </a:r>
            <a:endParaRPr lang="en-US" sz="1000" dirty="0"/>
          </a:p>
        </p:txBody>
      </p:sp>
      <p:sp>
        <p:nvSpPr>
          <p:cNvPr id="22" name="Shape 19"/>
          <p:cNvSpPr/>
          <p:nvPr/>
        </p:nvSpPr>
        <p:spPr>
          <a:xfrm>
            <a:off x="8275320" y="1965960"/>
            <a:ext cx="3273552" cy="786384"/>
          </a:xfrm>
          <a:prstGeom prst="roundRect">
            <a:avLst>
              <a:gd name="adj" fmla="val 13953"/>
            </a:avLst>
          </a:prstGeom>
          <a:solidFill>
            <a:srgbClr val="E9F3EC"/>
          </a:solidFill>
          <a:ln w="12700">
            <a:solidFill>
              <a:srgbClr val="E9F3EC"/>
            </a:solidFill>
            <a:prstDash val="solid"/>
          </a:ln>
        </p:spPr>
      </p:sp>
      <p:sp>
        <p:nvSpPr>
          <p:cNvPr id="23" name="Text 20"/>
          <p:cNvSpPr txBox="1"/>
          <p:nvPr/>
        </p:nvSpPr>
        <p:spPr>
          <a:xfrm>
            <a:off x="841248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LoRA</a:t>
            </a:r>
            <a:endParaRPr lang="en-US" sz="1250" dirty="0"/>
          </a:p>
        </p:txBody>
      </p:sp>
      <p:sp>
        <p:nvSpPr>
          <p:cNvPr id="24" name="Text 21"/>
          <p:cNvSpPr txBox="1"/>
          <p:nvPr/>
        </p:nvSpPr>
        <p:spPr>
          <a:xfrm>
            <a:off x="841248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Rank 16 on every projection, 3 epochs: 20 min for the 1B</a:t>
            </a:r>
            <a:endParaRPr lang="en-US" sz="1000" dirty="0"/>
          </a:p>
        </p:txBody>
      </p:sp>
      <p:sp>
        <p:nvSpPr>
          <p:cNvPr id="25" name="Shape 22"/>
          <p:cNvSpPr/>
          <p:nvPr/>
        </p:nvSpPr>
        <p:spPr>
          <a:xfrm>
            <a:off x="4892040" y="2862072"/>
            <a:ext cx="3273552" cy="786384"/>
          </a:xfrm>
          <a:prstGeom prst="roundRect">
            <a:avLst>
              <a:gd name="adj" fmla="val 13953"/>
            </a:avLst>
          </a:prstGeom>
          <a:solidFill>
            <a:srgbClr val="E9F3EC"/>
          </a:solidFill>
          <a:ln w="12700">
            <a:solidFill>
              <a:srgbClr val="E9F3EC"/>
            </a:solidFill>
            <a:prstDash val="solid"/>
          </a:ln>
        </p:spPr>
      </p:sp>
      <p:sp>
        <p:nvSpPr>
          <p:cNvPr id="26" name="Text 23"/>
          <p:cNvSpPr txBox="1"/>
          <p:nvPr/>
        </p:nvSpPr>
        <p:spPr>
          <a:xfrm>
            <a:off x="502920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A decision head</a:t>
            </a:r>
            <a:endParaRPr lang="en-US" sz="1250" dirty="0"/>
          </a:p>
        </p:txBody>
      </p:sp>
      <p:sp>
        <p:nvSpPr>
          <p:cNvPr id="27" name="Text 24"/>
          <p:cNvSpPr txBox="1"/>
          <p:nvPr/>
        </p:nvSpPr>
        <p:spPr>
          <a:xfrm>
            <a:off x="502920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One pass: a probability per option, and its own yes or no for every time</a:t>
            </a:r>
            <a:endParaRPr lang="en-US" sz="1000" dirty="0"/>
          </a:p>
        </p:txBody>
      </p:sp>
      <p:sp>
        <p:nvSpPr>
          <p:cNvPr id="28" name="Shape 25"/>
          <p:cNvSpPr/>
          <p:nvPr/>
        </p:nvSpPr>
        <p:spPr>
          <a:xfrm>
            <a:off x="8275320" y="2862072"/>
            <a:ext cx="3273552" cy="786384"/>
          </a:xfrm>
          <a:prstGeom prst="roundRect">
            <a:avLst>
              <a:gd name="adj" fmla="val 13953"/>
            </a:avLst>
          </a:prstGeom>
          <a:solidFill>
            <a:srgbClr val="E9F3EC"/>
          </a:solidFill>
          <a:ln w="12700">
            <a:solidFill>
              <a:srgbClr val="E9F3EC"/>
            </a:solidFill>
            <a:prstDash val="solid"/>
          </a:ln>
        </p:spPr>
      </p:sp>
      <p:sp>
        <p:nvSpPr>
          <p:cNvPr id="29" name="Text 26"/>
          <p:cNvSpPr txBox="1"/>
          <p:nvPr/>
        </p:nvSpPr>
        <p:spPr>
          <a:xfrm>
            <a:off x="841248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int4 on the CPU</a:t>
            </a:r>
            <a:endParaRPr lang="en-US" sz="1250" dirty="0"/>
          </a:p>
        </p:txBody>
      </p:sp>
      <p:sp>
        <p:nvSpPr>
          <p:cNvPr id="30" name="Text 27"/>
          <p:cNvSpPr txBox="1"/>
          <p:nvPr/>
        </p:nvSpPr>
        <p:spPr>
          <a:xfrm>
            <a:off x="841248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0.8 GB, about 0.9 s a decision, 0 tokens written</a:t>
            </a:r>
            <a:endParaRPr lang="en-US" sz="1000" dirty="0"/>
          </a:p>
        </p:txBody>
      </p:sp>
      <p:graphicFrame>
        <p:nvGraphicFramePr>
          <p:cNvPr id="31"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33" name="Text 29"/>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34" name="Text 30"/>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fewer Glimmer calls, no rule broken</a:t>
            </a:r>
            <a:endParaRPr lang="en-US" sz="1000" dirty="0"/>
          </a:p>
        </p:txBody>
      </p:sp>
      <p:sp>
        <p:nvSpPr>
          <p:cNvPr id="35" name="Shape 31"/>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6" name="Text 32"/>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7" name="Text 33"/>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up, and answering within 8 to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 Muse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450 tokens, 24 to 40 s</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The student answers 73% of the hardest choices and 96% of the test set; Glimmer takes the rest. Glimmer alone agrees with itself 73.5% on these.</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RAG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Found by meaning with Meta's DRAMA,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MEASURED THIS WEEK</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Seven more pieces, each measured, wins and misses</a:t>
            </a:r>
            <a:endParaRPr lang="en-US" sz="3200" dirty="0"/>
          </a:p>
        </p:txBody>
      </p:sp>
      <p:sp>
        <p:nvSpPr>
          <p:cNvPr id="5" name="Shape 2"/>
          <p:cNvSpPr/>
          <p:nvPr/>
        </p:nvSpPr>
        <p:spPr>
          <a:xfrm>
            <a:off x="548640" y="1737360"/>
            <a:ext cx="347472" cy="347472"/>
          </a:xfrm>
          <a:prstGeom prst="ellipse">
            <a:avLst/>
          </a:prstGeom>
          <a:solidFill>
            <a:srgbClr val="0A7F44"/>
          </a:solidFill>
          <a:ln w="12700">
            <a:solidFill>
              <a:srgbClr val="0A7F44"/>
            </a:solidFill>
            <a:prstDash val="solid"/>
          </a:ln>
        </p:spPr>
      </p:sp>
      <p:sp>
        <p:nvSpPr>
          <p:cNvPr id="6" name="Text 3"/>
          <p:cNvSpPr txBox="1"/>
          <p:nvPr/>
        </p:nvSpPr>
        <p:spPr>
          <a:xfrm>
            <a:off x="548640" y="17373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4"/>
          <p:cNvSpPr txBox="1"/>
          <p:nvPr/>
        </p:nvSpPr>
        <p:spPr>
          <a:xfrm>
            <a:off x="1051560" y="16642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Private calendars, everywhere</a:t>
            </a:r>
            <a:endParaRPr lang="en-US" sz="1350" dirty="0"/>
          </a:p>
        </p:txBody>
      </p:sp>
      <p:sp>
        <p:nvSpPr>
          <p:cNvPr id="8" name="Text 5"/>
          <p:cNvSpPr txBox="1"/>
          <p:nvPr/>
        </p:nvSpPr>
        <p:spPr>
          <a:xfrm>
            <a:off x="1051560" y="1938528"/>
            <a:ext cx="4206240" cy="292608"/>
          </a:xfrm>
          <a:prstGeom prst="rect">
            <a:avLst/>
          </a:prstGeom>
          <a:noFill/>
          <a:ln/>
        </p:spPr>
        <p:txBody>
          <a:bodyPr wrap="square" lIns="0" tIns="0" rIns="0" bIns="0" rtlCol="0" anchor="t"/>
          <a:lstStyle/>
          <a:p>
            <a:pPr indent="0" marL="0">
              <a:buNone/>
            </a:pPr>
            <a:r>
              <a:rPr lang="en-US" sz="950" dirty="0">
                <a:solidFill>
                  <a:srgbClr val="55555C"/>
                </a:solidFill>
              </a:rPr>
              <a:t>Match, the planner and the search ask each member's agent 'free then?'; a yes or a no, 24 asks a day</a:t>
            </a:r>
            <a:endParaRPr lang="en-US" sz="950" dirty="0"/>
          </a:p>
        </p:txBody>
      </p:sp>
      <p:sp>
        <p:nvSpPr>
          <p:cNvPr id="9" name="Shape 6"/>
          <p:cNvSpPr/>
          <p:nvPr/>
        </p:nvSpPr>
        <p:spPr>
          <a:xfrm>
            <a:off x="5486400" y="1645920"/>
            <a:ext cx="6126480" cy="530352"/>
          </a:xfrm>
          <a:prstGeom prst="roundRect">
            <a:avLst>
              <a:gd name="adj" fmla="val 20690"/>
            </a:avLst>
          </a:prstGeom>
          <a:solidFill>
            <a:srgbClr val="F6F7F8"/>
          </a:solidFill>
          <a:ln w="12700">
            <a:solidFill>
              <a:srgbClr val="F6F7F8"/>
            </a:solidFill>
            <a:prstDash val="solid"/>
          </a:ln>
        </p:spPr>
      </p:sp>
      <p:sp>
        <p:nvSpPr>
          <p:cNvPr id="10" name="Text 7"/>
          <p:cNvSpPr txBox="1"/>
          <p:nvPr/>
        </p:nvSpPr>
        <p:spPr>
          <a:xfrm>
            <a:off x="5650992" y="16459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4 tests: a calendar read by anyone but its agent throws</a:t>
            </a:r>
            <a:endParaRPr lang="en-US" sz="1100" dirty="0"/>
          </a:p>
        </p:txBody>
      </p:sp>
      <p:sp>
        <p:nvSpPr>
          <p:cNvPr id="11" name="Shape 8"/>
          <p:cNvSpPr/>
          <p:nvPr/>
        </p:nvSpPr>
        <p:spPr>
          <a:xfrm>
            <a:off x="548640" y="2377440"/>
            <a:ext cx="347472" cy="347472"/>
          </a:xfrm>
          <a:prstGeom prst="ellipse">
            <a:avLst/>
          </a:prstGeom>
          <a:solidFill>
            <a:srgbClr val="0A7F44"/>
          </a:solidFill>
          <a:ln w="12700">
            <a:solidFill>
              <a:srgbClr val="0A7F44"/>
            </a:solidFill>
            <a:prstDash val="solid"/>
          </a:ln>
        </p:spPr>
      </p:sp>
      <p:sp>
        <p:nvSpPr>
          <p:cNvPr id="12" name="Text 9"/>
          <p:cNvSpPr txBox="1"/>
          <p:nvPr/>
        </p:nvSpPr>
        <p:spPr>
          <a:xfrm>
            <a:off x="548640" y="23774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0"/>
          <p:cNvSpPr txBox="1"/>
          <p:nvPr/>
        </p:nvSpPr>
        <p:spPr>
          <a:xfrm>
            <a:off x="1051560" y="230428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learned intent router</a:t>
            </a:r>
            <a:endParaRPr lang="en-US" sz="1350" dirty="0"/>
          </a:p>
        </p:txBody>
      </p:sp>
      <p:sp>
        <p:nvSpPr>
          <p:cNvPr id="14" name="Text 11"/>
          <p:cNvSpPr txBox="1"/>
          <p:nvPr/>
        </p:nvSpPr>
        <p:spPr>
          <a:xfrm>
            <a:off x="1051560" y="2578608"/>
            <a:ext cx="4206240" cy="292608"/>
          </a:xfrm>
          <a:prstGeom prst="rect">
            <a:avLst/>
          </a:prstGeom>
          <a:noFill/>
          <a:ln/>
        </p:spPr>
        <p:txBody>
          <a:bodyPr wrap="square" lIns="0" tIns="0" rIns="0" bIns="0" rtlCol="0" anchor="t"/>
          <a:lstStyle/>
          <a:p>
            <a:pPr indent="0" marL="0">
              <a:buNone/>
            </a:pPr>
            <a:r>
              <a:rPr lang="en-US" sz="950" dirty="0">
                <a:solidFill>
                  <a:srgbClr val="55555C"/>
                </a:solidFill>
              </a:rPr>
              <a:t>DRAMA vectors and a small head, behind the regular expressions</a:t>
            </a:r>
            <a:endParaRPr lang="en-US" sz="950" dirty="0"/>
          </a:p>
        </p:txBody>
      </p:sp>
      <p:sp>
        <p:nvSpPr>
          <p:cNvPr id="15" name="Shape 12"/>
          <p:cNvSpPr/>
          <p:nvPr/>
        </p:nvSpPr>
        <p:spPr>
          <a:xfrm>
            <a:off x="5486400" y="2286000"/>
            <a:ext cx="6126480" cy="530352"/>
          </a:xfrm>
          <a:prstGeom prst="roundRect">
            <a:avLst>
              <a:gd name="adj" fmla="val 20690"/>
            </a:avLst>
          </a:prstGeom>
          <a:solidFill>
            <a:srgbClr val="F6F7F8"/>
          </a:solidFill>
          <a:ln w="12700">
            <a:solidFill>
              <a:srgbClr val="F6F7F8"/>
            </a:solidFill>
            <a:prstDash val="solid"/>
          </a:ln>
        </p:spPr>
      </p:sp>
      <p:sp>
        <p:nvSpPr>
          <p:cNvPr id="16" name="Text 13"/>
          <p:cNvSpPr txBox="1"/>
          <p:nvPr/>
        </p:nvSpPr>
        <p:spPr>
          <a:xfrm>
            <a:off x="5650992" y="2286000"/>
            <a:ext cx="5852160" cy="530352"/>
          </a:xfrm>
          <a:prstGeom prst="rect">
            <a:avLst/>
          </a:prstGeom>
          <a:noFill/>
          <a:ln/>
        </p:spPr>
        <p:txBody>
          <a:bodyPr wrap="square" lIns="0" tIns="0" rIns="0" bIns="0" rtlCol="0" anchor="ctr"/>
          <a:lstStyle/>
          <a:p>
            <a:pPr indent="0" marL="0">
              <a:buNone/>
            </a:pPr>
            <a:r>
              <a:rPr lang="en-US" sz="1100" dirty="0">
                <a:solidFill>
                  <a:srgbClr val="0A0A0B"/>
                </a:solidFill>
              </a:rPr>
              <a:t>Game requests found: 6 of 10 by the expressions, 10 of 10 with it; 1 false alarm in 22</a:t>
            </a:r>
            <a:endParaRPr lang="en-US" sz="1100" dirty="0"/>
          </a:p>
        </p:txBody>
      </p:sp>
      <p:sp>
        <p:nvSpPr>
          <p:cNvPr id="17" name="Shape 14"/>
          <p:cNvSpPr/>
          <p:nvPr/>
        </p:nvSpPr>
        <p:spPr>
          <a:xfrm>
            <a:off x="548640" y="3017520"/>
            <a:ext cx="347472" cy="347472"/>
          </a:xfrm>
          <a:prstGeom prst="ellipse">
            <a:avLst/>
          </a:prstGeom>
          <a:solidFill>
            <a:srgbClr val="0A7F44"/>
          </a:solidFill>
          <a:ln w="12700">
            <a:solidFill>
              <a:srgbClr val="0A7F44"/>
            </a:solidFill>
            <a:prstDash val="solid"/>
          </a:ln>
        </p:spPr>
      </p:sp>
      <p:sp>
        <p:nvSpPr>
          <p:cNvPr id="18" name="Text 15"/>
          <p:cNvSpPr txBox="1"/>
          <p:nvPr/>
        </p:nvSpPr>
        <p:spPr>
          <a:xfrm>
            <a:off x="548640" y="30175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9" name="Text 16"/>
          <p:cNvSpPr txBox="1"/>
          <p:nvPr/>
        </p:nvSpPr>
        <p:spPr>
          <a:xfrm>
            <a:off x="1051560" y="294436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New code, built by Muse Spark</a:t>
            </a:r>
            <a:endParaRPr lang="en-US" sz="1350" dirty="0"/>
          </a:p>
        </p:txBody>
      </p:sp>
      <p:sp>
        <p:nvSpPr>
          <p:cNvPr id="20" name="Text 17"/>
          <p:cNvSpPr txBox="1"/>
          <p:nvPr/>
        </p:nvSpPr>
        <p:spPr>
          <a:xfrm>
            <a:off x="1051560" y="3218688"/>
            <a:ext cx="4206240" cy="292608"/>
          </a:xfrm>
          <a:prstGeom prst="rect">
            <a:avLst/>
          </a:prstGeom>
          <a:noFill/>
          <a:ln/>
        </p:spPr>
        <p:txBody>
          <a:bodyPr wrap="square" lIns="0" tIns="0" rIns="0" bIns="0" rtlCol="0" anchor="t"/>
          <a:lstStyle/>
          <a:p>
            <a:pPr indent="0" marL="0">
              <a:buNone/>
            </a:pPr>
            <a:r>
              <a:rPr lang="en-US" sz="950" dirty="0">
                <a:solidFill>
                  <a:srgbClr val="55555C"/>
                </a:solidFill>
              </a:rPr>
              <a:t>A C3 spec: a new module and a field in the planner (Muse Code's model family)</a:t>
            </a:r>
            <a:endParaRPr lang="en-US" sz="950" dirty="0"/>
          </a:p>
        </p:txBody>
      </p:sp>
      <p:sp>
        <p:nvSpPr>
          <p:cNvPr id="21" name="Shape 18"/>
          <p:cNvSpPr/>
          <p:nvPr/>
        </p:nvSpPr>
        <p:spPr>
          <a:xfrm>
            <a:off x="5486400" y="2926080"/>
            <a:ext cx="6126480" cy="530352"/>
          </a:xfrm>
          <a:prstGeom prst="roundRect">
            <a:avLst>
              <a:gd name="adj" fmla="val 20690"/>
            </a:avLst>
          </a:prstGeom>
          <a:solidFill>
            <a:srgbClr val="F6F7F8"/>
          </a:solidFill>
          <a:ln w="12700">
            <a:solidFill>
              <a:srgbClr val="F6F7F8"/>
            </a:solidFill>
            <a:prstDash val="solid"/>
          </a:ln>
        </p:spPr>
      </p:sp>
      <p:sp>
        <p:nvSpPr>
          <p:cNvPr id="22" name="Text 19"/>
          <p:cNvSpPr txBox="1"/>
          <p:nvPr/>
        </p:nvSpPr>
        <p:spPr>
          <a:xfrm>
            <a:off x="5650992" y="2926080"/>
            <a:ext cx="5852160" cy="530352"/>
          </a:xfrm>
          <a:prstGeom prst="rect">
            <a:avLst/>
          </a:prstGeom>
          <a:noFill/>
          <a:ln/>
        </p:spPr>
        <p:txBody>
          <a:bodyPr wrap="square" lIns="0" tIns="0" rIns="0" bIns="0" rtlCol="0" anchor="ctr"/>
          <a:lstStyle/>
          <a:p>
            <a:pPr indent="0" marL="0">
              <a:buNone/>
            </a:pPr>
            <a:r>
              <a:rPr lang="en-US" sz="1100" dirty="0">
                <a:solidFill>
                  <a:srgbClr val="0A0A0B"/>
                </a:solidFill>
              </a:rPr>
              <a:t>First attempt after fixing our own oracle: Spark 202k tokens, 1.4 min; Glimmer 111k, 1.6 min</a:t>
            </a:r>
            <a:endParaRPr lang="en-US" sz="1100" dirty="0"/>
          </a:p>
        </p:txBody>
      </p:sp>
      <p:sp>
        <p:nvSpPr>
          <p:cNvPr id="23" name="Shape 20"/>
          <p:cNvSpPr/>
          <p:nvPr/>
        </p:nvSpPr>
        <p:spPr>
          <a:xfrm>
            <a:off x="548640" y="3657600"/>
            <a:ext cx="347472" cy="347472"/>
          </a:xfrm>
          <a:prstGeom prst="ellipse">
            <a:avLst/>
          </a:prstGeom>
          <a:solidFill>
            <a:srgbClr val="0064E0"/>
          </a:solidFill>
          <a:ln w="12700">
            <a:solidFill>
              <a:srgbClr val="0064E0"/>
            </a:solidFill>
            <a:prstDash val="solid"/>
          </a:ln>
        </p:spPr>
      </p:sp>
      <p:sp>
        <p:nvSpPr>
          <p:cNvPr id="24" name="Text 21"/>
          <p:cNvSpPr txBox="1"/>
          <p:nvPr/>
        </p:nvSpPr>
        <p:spPr>
          <a:xfrm>
            <a:off x="548640" y="3657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5" name="Text 22"/>
          <p:cNvSpPr txBox="1"/>
          <p:nvPr/>
        </p:nvSpPr>
        <p:spPr>
          <a:xfrm>
            <a:off x="1051560" y="358444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An embedder for commercial use</a:t>
            </a:r>
            <a:endParaRPr lang="en-US" sz="1350" dirty="0"/>
          </a:p>
        </p:txBody>
      </p:sp>
      <p:sp>
        <p:nvSpPr>
          <p:cNvPr id="26" name="Text 23"/>
          <p:cNvSpPr txBox="1"/>
          <p:nvPr/>
        </p:nvSpPr>
        <p:spPr>
          <a:xfrm>
            <a:off x="1051560" y="3858768"/>
            <a:ext cx="4206240" cy="292608"/>
          </a:xfrm>
          <a:prstGeom prst="rect">
            <a:avLst/>
          </a:prstGeom>
          <a:noFill/>
          <a:ln/>
        </p:spPr>
        <p:txBody>
          <a:bodyPr wrap="square" lIns="0" tIns="0" rIns="0" bIns="0" rtlCol="0" anchor="t"/>
          <a:lstStyle/>
          <a:p>
            <a:pPr indent="0" marL="0">
              <a:buNone/>
            </a:pPr>
            <a:r>
              <a:rPr lang="en-US" sz="950" dirty="0">
                <a:solidFill>
                  <a:srgbClr val="55555C"/>
                </a:solidFill>
              </a:rPr>
              <a:t>IBM Granite (Apache 2.0) in place of DRAMA (non-commercial)</a:t>
            </a:r>
            <a:endParaRPr lang="en-US" sz="950" dirty="0"/>
          </a:p>
        </p:txBody>
      </p:sp>
      <p:sp>
        <p:nvSpPr>
          <p:cNvPr id="27" name="Shape 24"/>
          <p:cNvSpPr/>
          <p:nvPr/>
        </p:nvSpPr>
        <p:spPr>
          <a:xfrm>
            <a:off x="5486400" y="3566160"/>
            <a:ext cx="6126480" cy="530352"/>
          </a:xfrm>
          <a:prstGeom prst="roundRect">
            <a:avLst>
              <a:gd name="adj" fmla="val 20690"/>
            </a:avLst>
          </a:prstGeom>
          <a:solidFill>
            <a:srgbClr val="F6F7F8"/>
          </a:solidFill>
          <a:ln w="12700">
            <a:solidFill>
              <a:srgbClr val="F6F7F8"/>
            </a:solidFill>
            <a:prstDash val="solid"/>
          </a:ln>
        </p:spPr>
      </p:sp>
      <p:sp>
        <p:nvSpPr>
          <p:cNvPr id="28" name="Text 25"/>
          <p:cNvSpPr txBox="1"/>
          <p:nvPr/>
        </p:nvSpPr>
        <p:spPr>
          <a:xfrm>
            <a:off x="5650992" y="3566160"/>
            <a:ext cx="5852160" cy="530352"/>
          </a:xfrm>
          <a:prstGeom prst="rect">
            <a:avLst/>
          </a:prstGeom>
          <a:noFill/>
          <a:ln/>
        </p:spPr>
        <p:txBody>
          <a:bodyPr wrap="square" lIns="0" tIns="0" rIns="0" bIns="0" rtlCol="0" anchor="ctr"/>
          <a:lstStyle/>
          <a:p>
            <a:pPr indent="0" marL="0">
              <a:buNone/>
            </a:pPr>
            <a:r>
              <a:rPr lang="en-US" sz="1100" dirty="0">
                <a:solidFill>
                  <a:srgbClr val="0A0A0B"/>
                </a:solidFill>
              </a:rPr>
              <a:t>Recall@3 0.80 against 0.75; recall@1 0.40 against 0.60</a:t>
            </a:r>
            <a:endParaRPr lang="en-US" sz="1100" dirty="0"/>
          </a:p>
        </p:txBody>
      </p:sp>
      <p:sp>
        <p:nvSpPr>
          <p:cNvPr id="29" name="Shape 26"/>
          <p:cNvSpPr/>
          <p:nvPr/>
        </p:nvSpPr>
        <p:spPr>
          <a:xfrm>
            <a:off x="548640" y="4297680"/>
            <a:ext cx="347472" cy="347472"/>
          </a:xfrm>
          <a:prstGeom prst="ellipse">
            <a:avLst/>
          </a:prstGeom>
          <a:solidFill>
            <a:srgbClr val="B26A00"/>
          </a:solidFill>
          <a:ln w="12700">
            <a:solidFill>
              <a:srgbClr val="B26A00"/>
            </a:solidFill>
            <a:prstDash val="solid"/>
          </a:ln>
        </p:spPr>
      </p:sp>
      <p:sp>
        <p:nvSpPr>
          <p:cNvPr id="30" name="Text 27"/>
          <p:cNvSpPr txBox="1"/>
          <p:nvPr/>
        </p:nvSpPr>
        <p:spPr>
          <a:xfrm>
            <a:off x="548640" y="42976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31" name="Text 28"/>
          <p:cNvSpPr txBox="1"/>
          <p:nvPr/>
        </p:nvSpPr>
        <p:spPr>
          <a:xfrm>
            <a:off x="1051560" y="422452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vision judge for orbits</a:t>
            </a:r>
            <a:endParaRPr lang="en-US" sz="1350" dirty="0"/>
          </a:p>
        </p:txBody>
      </p:sp>
      <p:sp>
        <p:nvSpPr>
          <p:cNvPr id="32" name="Text 29"/>
          <p:cNvSpPr txBox="1"/>
          <p:nvPr/>
        </p:nvSpPr>
        <p:spPr>
          <a:xfrm>
            <a:off x="1051560" y="4498848"/>
            <a:ext cx="4206240" cy="292608"/>
          </a:xfrm>
          <a:prstGeom prst="rect">
            <a:avLst/>
          </a:prstGeom>
          <a:noFill/>
          <a:ln/>
        </p:spPr>
        <p:txBody>
          <a:bodyPr wrap="square" lIns="0" tIns="0" rIns="0" bIns="0" rtlCol="0" anchor="t"/>
          <a:lstStyle/>
          <a:p>
            <a:pPr indent="0" marL="0">
              <a:buNone/>
            </a:pPr>
            <a:r>
              <a:rPr lang="en-US" sz="950" dirty="0">
                <a:solidFill>
                  <a:srgbClr val="55555C"/>
                </a:solidFill>
              </a:rPr>
              <a:t>Muse Wonder and Muse Glimmer on the 84 labelled frames</a:t>
            </a:r>
            <a:endParaRPr lang="en-US" sz="950" dirty="0"/>
          </a:p>
        </p:txBody>
      </p:sp>
      <p:sp>
        <p:nvSpPr>
          <p:cNvPr id="33" name="Shape 30"/>
          <p:cNvSpPr/>
          <p:nvPr/>
        </p:nvSpPr>
        <p:spPr>
          <a:xfrm>
            <a:off x="5486400" y="4206240"/>
            <a:ext cx="6126480" cy="530352"/>
          </a:xfrm>
          <a:prstGeom prst="roundRect">
            <a:avLst>
              <a:gd name="adj" fmla="val 20690"/>
            </a:avLst>
          </a:prstGeom>
          <a:solidFill>
            <a:srgbClr val="F6F7F8"/>
          </a:solidFill>
          <a:ln w="12700">
            <a:solidFill>
              <a:srgbClr val="F6F7F8"/>
            </a:solidFill>
            <a:prstDash val="solid"/>
          </a:ln>
        </p:spPr>
      </p:sp>
      <p:sp>
        <p:nvSpPr>
          <p:cNvPr id="34" name="Text 31"/>
          <p:cNvSpPr txBox="1"/>
          <p:nvPr/>
        </p:nvSpPr>
        <p:spPr>
          <a:xfrm>
            <a:off x="5650992" y="4206240"/>
            <a:ext cx="5852160" cy="530352"/>
          </a:xfrm>
          <a:prstGeom prst="rect">
            <a:avLst/>
          </a:prstGeom>
          <a:noFill/>
          <a:ln/>
        </p:spPr>
        <p:txBody>
          <a:bodyPr wrap="square" lIns="0" tIns="0" rIns="0" bIns="0" rtlCol="0" anchor="ctr"/>
          <a:lstStyle/>
          <a:p>
            <a:pPr indent="0" marL="0">
              <a:buNone/>
            </a:pPr>
            <a:r>
              <a:rPr lang="en-US" sz="1100" dirty="0">
                <a:solidFill>
                  <a:srgbClr val="0A0A0B"/>
                </a:solidFill>
              </a:rPr>
              <a:t>Both stricter than the labels (Wonder recall 0.29); the pixel rule (1.00, 0.79) stays</a:t>
            </a:r>
            <a:endParaRPr lang="en-US" sz="1100" dirty="0"/>
          </a:p>
        </p:txBody>
      </p:sp>
      <p:sp>
        <p:nvSpPr>
          <p:cNvPr id="35" name="Shape 32"/>
          <p:cNvSpPr/>
          <p:nvPr/>
        </p:nvSpPr>
        <p:spPr>
          <a:xfrm>
            <a:off x="548640" y="4937760"/>
            <a:ext cx="347472" cy="347472"/>
          </a:xfrm>
          <a:prstGeom prst="ellipse">
            <a:avLst/>
          </a:prstGeom>
          <a:solidFill>
            <a:srgbClr val="D1352B"/>
          </a:solidFill>
          <a:ln w="12700">
            <a:solidFill>
              <a:srgbClr val="D1352B"/>
            </a:solidFill>
            <a:prstDash val="solid"/>
          </a:ln>
        </p:spPr>
      </p:sp>
      <p:sp>
        <p:nvSpPr>
          <p:cNvPr id="36" name="Text 33"/>
          <p:cNvSpPr txBox="1"/>
          <p:nvPr/>
        </p:nvSpPr>
        <p:spPr>
          <a:xfrm>
            <a:off x="548640" y="49377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7" name="Text 34"/>
          <p:cNvSpPr txBox="1"/>
          <p:nvPr/>
        </p:nvSpPr>
        <p:spPr>
          <a:xfrm>
            <a:off x="1051560" y="48646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The ball in tennis and basketball</a:t>
            </a:r>
            <a:endParaRPr lang="en-US" sz="1350" dirty="0"/>
          </a:p>
        </p:txBody>
      </p:sp>
      <p:sp>
        <p:nvSpPr>
          <p:cNvPr id="38" name="Text 35"/>
          <p:cNvSpPr txBox="1"/>
          <p:nvPr/>
        </p:nvSpPr>
        <p:spPr>
          <a:xfrm>
            <a:off x="1051560" y="5138928"/>
            <a:ext cx="4206240" cy="292608"/>
          </a:xfrm>
          <a:prstGeom prst="rect">
            <a:avLst/>
          </a:prstGeom>
          <a:noFill/>
          <a:ln/>
        </p:spPr>
        <p:txBody>
          <a:bodyPr wrap="square" lIns="0" tIns="0" rIns="0" bIns="0" rtlCol="0" anchor="t"/>
          <a:lstStyle/>
          <a:p>
            <a:pPr indent="0" marL="0">
              <a:buNone/>
            </a:pPr>
            <a:r>
              <a:rPr lang="en-US" sz="950" dirty="0">
                <a:solidFill>
                  <a:srgbClr val="55555C"/>
                </a:solidFill>
              </a:rPr>
              <a:t>WASB on three CC clips, 12 marks a clip checked by eye</a:t>
            </a:r>
            <a:endParaRPr lang="en-US" sz="950" dirty="0"/>
          </a:p>
        </p:txBody>
      </p:sp>
      <p:sp>
        <p:nvSpPr>
          <p:cNvPr id="39" name="Shape 36"/>
          <p:cNvSpPr/>
          <p:nvPr/>
        </p:nvSpPr>
        <p:spPr>
          <a:xfrm>
            <a:off x="5486400" y="4846320"/>
            <a:ext cx="6126480" cy="530352"/>
          </a:xfrm>
          <a:prstGeom prst="roundRect">
            <a:avLst>
              <a:gd name="adj" fmla="val 20690"/>
            </a:avLst>
          </a:prstGeom>
          <a:solidFill>
            <a:srgbClr val="F6F7F8"/>
          </a:solidFill>
          <a:ln w="12700">
            <a:solidFill>
              <a:srgbClr val="F6F7F8"/>
            </a:solidFill>
            <a:prstDash val="solid"/>
          </a:ln>
        </p:spPr>
      </p:sp>
      <p:sp>
        <p:nvSpPr>
          <p:cNvPr id="40" name="Text 37"/>
          <p:cNvSpPr txBox="1"/>
          <p:nvPr/>
        </p:nvSpPr>
        <p:spPr>
          <a:xfrm>
            <a:off x="5650992" y="48463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Basketball 12 of 12 right but found in 3% of frames; tennis 1 of 24: pose kept</a:t>
            </a:r>
            <a:endParaRPr lang="en-US" sz="1100" dirty="0"/>
          </a:p>
        </p:txBody>
      </p:sp>
      <p:sp>
        <p:nvSpPr>
          <p:cNvPr id="41" name="Shape 38"/>
          <p:cNvSpPr/>
          <p:nvPr/>
        </p:nvSpPr>
        <p:spPr>
          <a:xfrm>
            <a:off x="548640" y="5577840"/>
            <a:ext cx="347472" cy="347472"/>
          </a:xfrm>
          <a:prstGeom prst="ellipse">
            <a:avLst/>
          </a:prstGeom>
          <a:solidFill>
            <a:srgbClr val="B26A00"/>
          </a:solidFill>
          <a:ln w="12700">
            <a:solidFill>
              <a:srgbClr val="B26A00"/>
            </a:solidFill>
            <a:prstDash val="solid"/>
          </a:ln>
        </p:spPr>
      </p:sp>
      <p:sp>
        <p:nvSpPr>
          <p:cNvPr id="42" name="Text 39"/>
          <p:cNvSpPr txBox="1"/>
          <p:nvPr/>
        </p:nvSpPr>
        <p:spPr>
          <a:xfrm>
            <a:off x="548640" y="55778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7</a:t>
            </a:r>
            <a:endParaRPr lang="en-US" sz="1200" dirty="0"/>
          </a:p>
        </p:txBody>
      </p:sp>
      <p:sp>
        <p:nvSpPr>
          <p:cNvPr id="43" name="Text 40"/>
          <p:cNvSpPr txBox="1"/>
          <p:nvPr/>
        </p:nvSpPr>
        <p:spPr>
          <a:xfrm>
            <a:off x="1051560" y="550468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The nine gates, with the GPU suites</a:t>
            </a:r>
            <a:endParaRPr lang="en-US" sz="1350" dirty="0"/>
          </a:p>
        </p:txBody>
      </p:sp>
      <p:sp>
        <p:nvSpPr>
          <p:cNvPr id="44" name="Text 41"/>
          <p:cNvSpPr txBox="1"/>
          <p:nvPr/>
        </p:nvSpPr>
        <p:spPr>
          <a:xfrm>
            <a:off x="1051560" y="5779008"/>
            <a:ext cx="4206240" cy="292608"/>
          </a:xfrm>
          <a:prstGeom prst="rect">
            <a:avLst/>
          </a:prstGeom>
          <a:noFill/>
          <a:ln/>
        </p:spPr>
        <p:txBody>
          <a:bodyPr wrap="square" lIns="0" tIns="0" rIns="0" bIns="0" rtlCol="0" anchor="t"/>
          <a:lstStyle/>
          <a:p>
            <a:pPr indent="0" marL="0">
              <a:buNone/>
            </a:pPr>
            <a:r>
              <a:rPr lang="en-US" sz="950" dirty="0">
                <a:solidFill>
                  <a:srgbClr val="55555C"/>
                </a:solidFill>
              </a:rPr>
              <a:t>One flag change through all nine, Muse Glimmer on an A100</a:t>
            </a:r>
            <a:endParaRPr lang="en-US" sz="950" dirty="0"/>
          </a:p>
        </p:txBody>
      </p:sp>
      <p:sp>
        <p:nvSpPr>
          <p:cNvPr id="45" name="Shape 42"/>
          <p:cNvSpPr/>
          <p:nvPr/>
        </p:nvSpPr>
        <p:spPr>
          <a:xfrm>
            <a:off x="5486400" y="5486400"/>
            <a:ext cx="6126480" cy="530352"/>
          </a:xfrm>
          <a:prstGeom prst="roundRect">
            <a:avLst>
              <a:gd name="adj" fmla="val 20690"/>
            </a:avLst>
          </a:prstGeom>
          <a:solidFill>
            <a:srgbClr val="F6F7F8"/>
          </a:solidFill>
          <a:ln w="12700">
            <a:solidFill>
              <a:srgbClr val="F6F7F8"/>
            </a:solidFill>
            <a:prstDash val="solid"/>
          </a:ln>
        </p:spPr>
      </p:sp>
      <p:sp>
        <p:nvSpPr>
          <p:cNvPr id="46" name="Text 43"/>
          <p:cNvSpPr txBox="1"/>
          <p:nvPr/>
        </p:nvSpPr>
        <p:spPr>
          <a:xfrm>
            <a:off x="5650992" y="5486400"/>
            <a:ext cx="5852160" cy="530352"/>
          </a:xfrm>
          <a:prstGeom prst="rect">
            <a:avLst/>
          </a:prstGeom>
          <a:noFill/>
          <a:ln/>
        </p:spPr>
        <p:txBody>
          <a:bodyPr wrap="square" lIns="0" tIns="0" rIns="0" bIns="0" rtlCol="0" anchor="ctr"/>
          <a:lstStyle/>
          <a:p>
            <a:pPr indent="0" marL="0">
              <a:buNone/>
            </a:pPr>
            <a:r>
              <a:rPr lang="en-US" sz="1100" dirty="0">
                <a:solidFill>
                  <a:srgbClr val="0A0A0B"/>
                </a:solidFill>
              </a:rPr>
              <a:t>6 of 9 passed (93/93 attacks, 58/58 e2e); it stopped at the planner eval, 8 of 9 weeks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65 / 65</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Messenger 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 claim has a log behind it</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crash-matrix checks</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572000"/>
                <a:gridCol w="3566160"/>
                <a:gridCol w="2926080"/>
              </a:tblGrid>
              <a:tr h="34747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npm test, 23 offline suites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264 of 265, 1 skipped (no LlamaFirewall venv)</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No model, no GPU</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Messenger end to end (test/e2e.mjs)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58 of 58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Attacks (test/redteam.mjs)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93 of 93 stopped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cloud A100, twice</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Community loop's attacks, within the 93</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29 of 29 stopped, 5 of 5 controls passed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The server's CPU, with the real guards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A2A between two gateways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22 of 22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Taipei GPU server and a GCP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Crash matrix</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20 of 20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stand-in model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federation of three clubs (test/federation_unit.mjs)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4 of 4: found, signed, rotated, forgery refused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Real HTTP, one host</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"I want to play" in Messenger</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13 of 13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Body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find you, read your pose, cut you out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Highlights to Instagram and Facebook</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Meta Global AI Developer Hackathon, Oct 27 – Nov 4, 2026: everything except the TrackNetV5 library</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a:t>
            </a:r>
            <a:endParaRPr lang="en-US" sz="1300" dirty="0"/>
          </a:p>
        </p:txBody>
      </p:sp>
      <p:pic>
        <p:nvPicPr>
          <p:cNvPr id="14" name="Image 1" descr="preencoded.png">    </p:cNvPr>
          <p:cNvPicPr>
            <a:picLocks noChangeAspect="1"/>
          </p:cNvPicPr>
          <p:nvPr/>
        </p:nvPicPr>
        <p:blipFill>
          <a:blip r:embed="rId2"/>
          <a:stretch>
            <a:fillRect/>
          </a:stretch>
        </p:blipFill>
        <p:spPr>
          <a:xfrm>
            <a:off x="2926080" y="6035040"/>
            <a:ext cx="329184" cy="329184"/>
          </a:xfrm>
          <a:prstGeom prst="rect">
            <a:avLst/>
          </a:prstGeom>
        </p:spPr>
      </p:pic>
      <p:sp>
        <p:nvSpPr>
          <p:cNvPr id="15" name="Text 11"/>
          <p:cNvSpPr txBox="1"/>
          <p:nvPr/>
        </p:nvSpPr>
        <p:spPr>
          <a:xfrm>
            <a:off x="3346704" y="6035040"/>
            <a:ext cx="6400800" cy="329184"/>
          </a:xfrm>
          <a:prstGeom prst="rect">
            <a:avLst/>
          </a:prstGeom>
          <a:noFill/>
          <a:ln/>
        </p:spPr>
        <p:txBody>
          <a:bodyPr wrap="square" lIns="0" tIns="0" rIns="0" bIns="0" rtlCol="0" anchor="ctr"/>
          <a:lstStyle/>
          <a:p>
            <a:pPr indent="0" marL="0">
              <a:buNone/>
            </a:pPr>
            <a:r>
              <a:rPr lang="en-US" sz="1300" dirty="0">
                <a:solidFill>
                  <a:srgbClr val="55555C"/>
                </a:solidFill>
              </a:rPr>
              <a:t>Built on Muse Glimmer, Meta's open-weights model, on hardware you own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2026-10-29T04:52:02Z</dcterms:created>
  <dcterms:modified xsi:type="dcterms:W3CDTF">2026-10-29T04:52:02Z</dcterms:modified>
</cp:coreProperties>
</file>