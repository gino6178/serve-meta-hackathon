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HO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73952"/>
            <a:ext cx="4572000" cy="274320"/>
          </a:xfrm>
          <a:prstGeom prst="rect">
            <a:avLst/>
          </a:prstGeom>
          <a:noFill/>
          <a:ln/>
        </p:spPr>
        <p:txBody>
          <a:bodyPr wrap="square" lIns="0" tIns="0" rIns="0" bIns="0" rtlCol="0" anchor="ctr"/>
          <a:lstStyle/>
          <a:p>
            <a:pPr indent="0" marL="0">
              <a:buNone/>
            </a:pPr>
            <a:r>
              <a:rPr lang="en-US" sz="1000" dirty="0">
                <a:solidFill>
                  <a:srgbClr val="8A8A92"/>
                </a:solidFill>
                <a:latin typeface="Microsoft JhengHei" pitchFamily="34" charset="0"/>
                <a:ea typeface="Microsoft JhengHei" pitchFamily="34" charset="-122"/>
                <a:cs typeface="Microsoft JhengHei" pitchFamily="34" charset="-120"/>
              </a:rPr>
              <a:t>Serve · 影片分鏡稿 v3.1（審核用）</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41B"/>
        </a:solidFill>
      </p:bgPr>
    </p:bg>
    <p:spTree>
      <p:nvGrpSpPr>
        <p:cNvPr id="1" name=""/>
        <p:cNvGrpSpPr/>
        <p:nvPr/>
      </p:nvGrpSpPr>
      <p:grpSpPr>
        <a:xfrm>
          <a:off x="0" y="0"/>
          <a:ext cx="0" cy="0"/>
          <a:chOff x="0" y="0"/>
          <a:chExt cx="0" cy="0"/>
        </a:xfrm>
      </p:grpSpPr>
      <p:sp>
        <p:nvSpPr>
          <p:cNvPr id="2" name="Text 0"/>
          <p:cNvSpPr txBox="1"/>
          <p:nvPr/>
        </p:nvSpPr>
        <p:spPr>
          <a:xfrm>
            <a:off x="731520" y="201168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Microsoft JhengHei" pitchFamily="34" charset="0"/>
                <a:ea typeface="Microsoft JhengHei" pitchFamily="34" charset="-122"/>
                <a:cs typeface="Microsoft JhengHei" pitchFamily="34" charset="-120"/>
              </a:rPr>
              <a:t>Serve 影片分鏡稿 v3.1</a:t>
            </a:r>
            <a:endParaRPr lang="en-US" sz="4400" dirty="0"/>
          </a:p>
        </p:txBody>
      </p:sp>
      <p:sp>
        <p:nvSpPr>
          <p:cNvPr id="3" name="Text 1"/>
          <p:cNvSpPr txBox="1"/>
          <p:nvPr/>
        </p:nvSpPr>
        <p:spPr>
          <a:xfrm>
            <a:off x="731520" y="3017520"/>
            <a:ext cx="10058400" cy="548640"/>
          </a:xfrm>
          <a:prstGeom prst="rect">
            <a:avLst/>
          </a:prstGeom>
          <a:noFill/>
          <a:ln/>
        </p:spPr>
        <p:txBody>
          <a:bodyPr wrap="square" lIns="0" tIns="0" rIns="0" bIns="0" rtlCol="0" anchor="ctr"/>
          <a:lstStyle/>
          <a:p>
            <a:pPr indent="0" marL="0">
              <a:buNone/>
            </a:pPr>
            <a:r>
              <a:rPr lang="en-US" sz="2200" dirty="0">
                <a:solidFill>
                  <a:srgbClr val="C9D6CE"/>
                </a:solidFill>
                <a:latin typeface="Microsoft JhengHei" pitchFamily="34" charset="0"/>
                <a:ea typeface="Microsoft JhengHei" pitchFamily="34" charset="-122"/>
                <a:cs typeface="Microsoft JhengHei" pitchFamily="34" charset="-120"/>
              </a:rPr>
              <a:t>2:45 · 13 個鏡頭 · 英文旁白 379 字 · 主軸：個人 agent 之間的協商平台</a:t>
            </a:r>
            <a:endParaRPr lang="en-US" sz="2200" dirty="0"/>
          </a:p>
        </p:txBody>
      </p:sp>
      <p:sp>
        <p:nvSpPr>
          <p:cNvPr id="4" name="Text 2"/>
          <p:cNvSpPr txBox="1"/>
          <p:nvPr/>
        </p:nvSpPr>
        <p:spPr>
          <a:xfrm>
            <a:off x="731520" y="3840480"/>
            <a:ext cx="10515600" cy="822960"/>
          </a:xfrm>
          <a:prstGeom prst="rect">
            <a:avLst/>
          </a:prstGeom>
          <a:noFill/>
          <a:ln/>
        </p:spPr>
        <p:txBody>
          <a:bodyPr wrap="square" lIns="0" tIns="0" rIns="0" bIns="0" rtlCol="0" anchor="ctr"/>
          <a:lstStyle/>
          <a:p>
            <a:pPr indent="0" marL="0">
              <a:buNone/>
            </a:pPr>
            <a:r>
              <a:rPr lang="en-US" sz="1500" dirty="0">
                <a:solidFill>
                  <a:srgbClr val="9FB3A7"/>
                </a:solidFill>
                <a:latin typeface="Microsoft JhengHei" pitchFamily="34" charset="0"/>
                <a:ea typeface="Microsoft JhengHei" pitchFamily="34" charset="-122"/>
                <a:cs typeface="Microsoft JhengHei" pitchFamily="34" charset="-120"/>
              </a:rPr>
              <a:t>預期畫面：v2 影片的實際畫格、會沿用的素材，或為還沒錄的鏡頭用 HTML 畫的示意圖。所有數字對照 submission/technical_report.md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7315200" cy="548640"/>
          </a:xfrm>
          <a:prstGeom prst="rect">
            <a:avLst/>
          </a:prstGeom>
          <a:noFill/>
          <a:ln/>
        </p:spPr>
        <p:txBody>
          <a:bodyPr wrap="square" lIns="0" tIns="0" rIns="0" bIns="0" rtlCol="0" anchor="ctr"/>
          <a:lstStyle/>
          <a:p>
            <a:pPr indent="0" marL="0">
              <a:buNone/>
            </a:pPr>
            <a:r>
              <a:rPr lang="en-US" sz="2800" b="1" dirty="0">
                <a:solidFill>
                  <a:srgbClr val="0A0A0B"/>
                </a:solidFill>
                <a:latin typeface="Microsoft JhengHei" pitchFamily="34" charset="0"/>
                <a:ea typeface="Microsoft JhengHei" pitchFamily="34" charset="-122"/>
                <a:cs typeface="Microsoft JhengHei" pitchFamily="34" charset="-120"/>
              </a:rPr>
              <a:t>時間軸</a:t>
            </a:r>
            <a:endParaRPr lang="en-US" sz="2800" dirty="0"/>
          </a:p>
        </p:txBody>
      </p:sp>
      <p:sp>
        <p:nvSpPr>
          <p:cNvPr id="3" name="Shape 1"/>
          <p:cNvSpPr/>
          <p:nvPr/>
        </p:nvSpPr>
        <p:spPr>
          <a:xfrm>
            <a:off x="457200" y="1280160"/>
            <a:ext cx="109262" cy="640080"/>
          </a:xfrm>
          <a:prstGeom prst="rect">
            <a:avLst/>
          </a:prstGeom>
          <a:solidFill>
            <a:srgbClr val="D1352B"/>
          </a:solidFill>
          <a:ln w="12700">
            <a:solidFill>
              <a:srgbClr val="FFFFFF"/>
            </a:solidFill>
            <a:prstDash val="solid"/>
          </a:ln>
        </p:spPr>
      </p:sp>
      <p:sp>
        <p:nvSpPr>
          <p:cNvPr id="4" name="Text 2"/>
          <p:cNvSpPr txBox="1"/>
          <p:nvPr/>
        </p:nvSpPr>
        <p:spPr>
          <a:xfrm>
            <a:off x="457200" y="1280160"/>
            <a:ext cx="136694"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0-1</a:t>
            </a:r>
            <a:endParaRPr lang="en-US" sz="1200" dirty="0"/>
          </a:p>
        </p:txBody>
      </p:sp>
      <p:sp>
        <p:nvSpPr>
          <p:cNvPr id="5" name="Shape 3"/>
          <p:cNvSpPr/>
          <p:nvPr/>
        </p:nvSpPr>
        <p:spPr>
          <a:xfrm>
            <a:off x="593894" y="1280160"/>
            <a:ext cx="861082" cy="640080"/>
          </a:xfrm>
          <a:prstGeom prst="rect">
            <a:avLst/>
          </a:prstGeom>
          <a:solidFill>
            <a:srgbClr val="D1352B"/>
          </a:solidFill>
          <a:ln w="12700">
            <a:solidFill>
              <a:srgbClr val="FFFFFF"/>
            </a:solidFill>
            <a:prstDash val="solid"/>
          </a:ln>
        </p:spPr>
      </p:sp>
      <p:sp>
        <p:nvSpPr>
          <p:cNvPr id="6" name="Text 4"/>
          <p:cNvSpPr txBox="1"/>
          <p:nvPr/>
        </p:nvSpPr>
        <p:spPr>
          <a:xfrm>
            <a:off x="593894" y="1280160"/>
            <a:ext cx="888514"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0-2</a:t>
            </a:r>
            <a:endParaRPr lang="en-US" sz="1200" dirty="0"/>
          </a:p>
        </p:txBody>
      </p:sp>
      <p:sp>
        <p:nvSpPr>
          <p:cNvPr id="7" name="Shape 5"/>
          <p:cNvSpPr/>
          <p:nvPr/>
        </p:nvSpPr>
        <p:spPr>
          <a:xfrm>
            <a:off x="1482409" y="1280160"/>
            <a:ext cx="792735" cy="640080"/>
          </a:xfrm>
          <a:prstGeom prst="rect">
            <a:avLst/>
          </a:prstGeom>
          <a:solidFill>
            <a:srgbClr val="D1352B"/>
          </a:solidFill>
          <a:ln w="12700">
            <a:solidFill>
              <a:srgbClr val="FFFFFF"/>
            </a:solidFill>
            <a:prstDash val="solid"/>
          </a:ln>
        </p:spPr>
      </p:sp>
      <p:sp>
        <p:nvSpPr>
          <p:cNvPr id="8" name="Text 6"/>
          <p:cNvSpPr txBox="1"/>
          <p:nvPr/>
        </p:nvSpPr>
        <p:spPr>
          <a:xfrm>
            <a:off x="1482409" y="1280160"/>
            <a:ext cx="820167"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0-3</a:t>
            </a:r>
            <a:endParaRPr lang="en-US" sz="1200" dirty="0"/>
          </a:p>
        </p:txBody>
      </p:sp>
      <p:sp>
        <p:nvSpPr>
          <p:cNvPr id="9" name="Shape 7"/>
          <p:cNvSpPr/>
          <p:nvPr/>
        </p:nvSpPr>
        <p:spPr>
          <a:xfrm>
            <a:off x="2302576" y="1280160"/>
            <a:ext cx="792735" cy="640080"/>
          </a:xfrm>
          <a:prstGeom prst="rect">
            <a:avLst/>
          </a:prstGeom>
          <a:solidFill>
            <a:srgbClr val="0A7F44"/>
          </a:solidFill>
          <a:ln w="12700">
            <a:solidFill>
              <a:srgbClr val="FFFFFF"/>
            </a:solidFill>
            <a:prstDash val="solid"/>
          </a:ln>
        </p:spPr>
      </p:sp>
      <p:sp>
        <p:nvSpPr>
          <p:cNvPr id="10" name="Text 8"/>
          <p:cNvSpPr txBox="1"/>
          <p:nvPr/>
        </p:nvSpPr>
        <p:spPr>
          <a:xfrm>
            <a:off x="2302576" y="1280160"/>
            <a:ext cx="820167"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1-1</a:t>
            </a:r>
            <a:endParaRPr lang="en-US" sz="1200" dirty="0"/>
          </a:p>
        </p:txBody>
      </p:sp>
      <p:sp>
        <p:nvSpPr>
          <p:cNvPr id="11" name="Shape 9"/>
          <p:cNvSpPr/>
          <p:nvPr/>
        </p:nvSpPr>
        <p:spPr>
          <a:xfrm>
            <a:off x="3122743" y="1280160"/>
            <a:ext cx="1202818" cy="640080"/>
          </a:xfrm>
          <a:prstGeom prst="rect">
            <a:avLst/>
          </a:prstGeom>
          <a:solidFill>
            <a:srgbClr val="0A7F44"/>
          </a:solidFill>
          <a:ln w="12700">
            <a:solidFill>
              <a:srgbClr val="FFFFFF"/>
            </a:solidFill>
            <a:prstDash val="solid"/>
          </a:ln>
        </p:spPr>
      </p:sp>
      <p:sp>
        <p:nvSpPr>
          <p:cNvPr id="12" name="Text 10"/>
          <p:cNvSpPr txBox="1"/>
          <p:nvPr/>
        </p:nvSpPr>
        <p:spPr>
          <a:xfrm>
            <a:off x="3122743" y="1280160"/>
            <a:ext cx="123025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1-2</a:t>
            </a:r>
            <a:endParaRPr lang="en-US" sz="1200" dirty="0"/>
          </a:p>
        </p:txBody>
      </p:sp>
      <p:sp>
        <p:nvSpPr>
          <p:cNvPr id="13" name="Shape 11"/>
          <p:cNvSpPr/>
          <p:nvPr/>
        </p:nvSpPr>
        <p:spPr>
          <a:xfrm>
            <a:off x="4352993" y="1280160"/>
            <a:ext cx="792735" cy="640080"/>
          </a:xfrm>
          <a:prstGeom prst="rect">
            <a:avLst/>
          </a:prstGeom>
          <a:solidFill>
            <a:srgbClr val="0A7F44"/>
          </a:solidFill>
          <a:ln w="12700">
            <a:solidFill>
              <a:srgbClr val="FFFFFF"/>
            </a:solidFill>
            <a:prstDash val="solid"/>
          </a:ln>
        </p:spPr>
      </p:sp>
      <p:sp>
        <p:nvSpPr>
          <p:cNvPr id="14" name="Text 12"/>
          <p:cNvSpPr txBox="1"/>
          <p:nvPr/>
        </p:nvSpPr>
        <p:spPr>
          <a:xfrm>
            <a:off x="4352993" y="1280160"/>
            <a:ext cx="820167"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1-3</a:t>
            </a:r>
            <a:endParaRPr lang="en-US" sz="1200" dirty="0"/>
          </a:p>
        </p:txBody>
      </p:sp>
      <p:sp>
        <p:nvSpPr>
          <p:cNvPr id="15" name="Shape 13"/>
          <p:cNvSpPr/>
          <p:nvPr/>
        </p:nvSpPr>
        <p:spPr>
          <a:xfrm>
            <a:off x="5173160" y="1280160"/>
            <a:ext cx="1066124" cy="640080"/>
          </a:xfrm>
          <a:prstGeom prst="rect">
            <a:avLst/>
          </a:prstGeom>
          <a:solidFill>
            <a:srgbClr val="0A7F44"/>
          </a:solidFill>
          <a:ln w="12700">
            <a:solidFill>
              <a:srgbClr val="FFFFFF"/>
            </a:solidFill>
            <a:prstDash val="solid"/>
          </a:ln>
        </p:spPr>
      </p:sp>
      <p:sp>
        <p:nvSpPr>
          <p:cNvPr id="16" name="Text 14"/>
          <p:cNvSpPr txBox="1"/>
          <p:nvPr/>
        </p:nvSpPr>
        <p:spPr>
          <a:xfrm>
            <a:off x="5173160" y="1280160"/>
            <a:ext cx="1093556"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1-4</a:t>
            </a:r>
            <a:endParaRPr lang="en-US" sz="1200" dirty="0"/>
          </a:p>
        </p:txBody>
      </p:sp>
      <p:sp>
        <p:nvSpPr>
          <p:cNvPr id="17" name="Shape 15"/>
          <p:cNvSpPr/>
          <p:nvPr/>
        </p:nvSpPr>
        <p:spPr>
          <a:xfrm>
            <a:off x="6266716" y="1280160"/>
            <a:ext cx="929429" cy="640080"/>
          </a:xfrm>
          <a:prstGeom prst="rect">
            <a:avLst/>
          </a:prstGeom>
          <a:solidFill>
            <a:srgbClr val="0064E0"/>
          </a:solidFill>
          <a:ln w="12700">
            <a:solidFill>
              <a:srgbClr val="FFFFFF"/>
            </a:solidFill>
            <a:prstDash val="solid"/>
          </a:ln>
        </p:spPr>
      </p:sp>
      <p:sp>
        <p:nvSpPr>
          <p:cNvPr id="18" name="Text 16"/>
          <p:cNvSpPr txBox="1"/>
          <p:nvPr/>
        </p:nvSpPr>
        <p:spPr>
          <a:xfrm>
            <a:off x="6266716" y="1280160"/>
            <a:ext cx="956861"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2-1</a:t>
            </a:r>
            <a:endParaRPr lang="en-US" sz="1200" dirty="0"/>
          </a:p>
        </p:txBody>
      </p:sp>
      <p:sp>
        <p:nvSpPr>
          <p:cNvPr id="19" name="Shape 17"/>
          <p:cNvSpPr/>
          <p:nvPr/>
        </p:nvSpPr>
        <p:spPr>
          <a:xfrm>
            <a:off x="7223577" y="1280160"/>
            <a:ext cx="1476207" cy="640080"/>
          </a:xfrm>
          <a:prstGeom prst="rect">
            <a:avLst/>
          </a:prstGeom>
          <a:solidFill>
            <a:srgbClr val="B26A00"/>
          </a:solidFill>
          <a:ln w="12700">
            <a:solidFill>
              <a:srgbClr val="FFFFFF"/>
            </a:solidFill>
            <a:prstDash val="solid"/>
          </a:ln>
        </p:spPr>
      </p:sp>
      <p:sp>
        <p:nvSpPr>
          <p:cNvPr id="20" name="Text 18"/>
          <p:cNvSpPr txBox="1"/>
          <p:nvPr/>
        </p:nvSpPr>
        <p:spPr>
          <a:xfrm>
            <a:off x="7223577" y="1280160"/>
            <a:ext cx="1503639"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3-1</a:t>
            </a:r>
            <a:endParaRPr lang="en-US" sz="1200" dirty="0"/>
          </a:p>
        </p:txBody>
      </p:sp>
      <p:sp>
        <p:nvSpPr>
          <p:cNvPr id="21" name="Shape 19"/>
          <p:cNvSpPr/>
          <p:nvPr/>
        </p:nvSpPr>
        <p:spPr>
          <a:xfrm>
            <a:off x="8727216" y="1280160"/>
            <a:ext cx="724388" cy="640080"/>
          </a:xfrm>
          <a:prstGeom prst="rect">
            <a:avLst/>
          </a:prstGeom>
          <a:solidFill>
            <a:srgbClr val="B26A00"/>
          </a:solidFill>
          <a:ln w="12700">
            <a:solidFill>
              <a:srgbClr val="FFFFFF"/>
            </a:solidFill>
            <a:prstDash val="solid"/>
          </a:ln>
        </p:spPr>
      </p:sp>
      <p:sp>
        <p:nvSpPr>
          <p:cNvPr id="22" name="Text 20"/>
          <p:cNvSpPr txBox="1"/>
          <p:nvPr/>
        </p:nvSpPr>
        <p:spPr>
          <a:xfrm>
            <a:off x="8727216" y="1280160"/>
            <a:ext cx="7518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3-2</a:t>
            </a:r>
            <a:endParaRPr lang="en-US" sz="1200" dirty="0"/>
          </a:p>
        </p:txBody>
      </p:sp>
      <p:sp>
        <p:nvSpPr>
          <p:cNvPr id="23" name="Shape 21"/>
          <p:cNvSpPr/>
          <p:nvPr/>
        </p:nvSpPr>
        <p:spPr>
          <a:xfrm>
            <a:off x="9479036" y="1280160"/>
            <a:ext cx="861082" cy="640080"/>
          </a:xfrm>
          <a:prstGeom prst="rect">
            <a:avLst/>
          </a:prstGeom>
          <a:solidFill>
            <a:srgbClr val="B26A00"/>
          </a:solidFill>
          <a:ln w="12700">
            <a:solidFill>
              <a:srgbClr val="FFFFFF"/>
            </a:solidFill>
            <a:prstDash val="solid"/>
          </a:ln>
        </p:spPr>
      </p:sp>
      <p:sp>
        <p:nvSpPr>
          <p:cNvPr id="24" name="Text 22"/>
          <p:cNvSpPr txBox="1"/>
          <p:nvPr/>
        </p:nvSpPr>
        <p:spPr>
          <a:xfrm>
            <a:off x="9479036" y="1280160"/>
            <a:ext cx="888514"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3-3</a:t>
            </a:r>
            <a:endParaRPr lang="en-US" sz="1200" dirty="0"/>
          </a:p>
        </p:txBody>
      </p:sp>
      <p:sp>
        <p:nvSpPr>
          <p:cNvPr id="25" name="Shape 23"/>
          <p:cNvSpPr/>
          <p:nvPr/>
        </p:nvSpPr>
        <p:spPr>
          <a:xfrm>
            <a:off x="10367550" y="1280160"/>
            <a:ext cx="724388" cy="640080"/>
          </a:xfrm>
          <a:prstGeom prst="rect">
            <a:avLst/>
          </a:prstGeom>
          <a:solidFill>
            <a:srgbClr val="B26A00"/>
          </a:solidFill>
          <a:ln w="12700">
            <a:solidFill>
              <a:srgbClr val="FFFFFF"/>
            </a:solidFill>
            <a:prstDash val="solid"/>
          </a:ln>
        </p:spPr>
      </p:sp>
      <p:sp>
        <p:nvSpPr>
          <p:cNvPr id="26" name="Text 24"/>
          <p:cNvSpPr txBox="1"/>
          <p:nvPr/>
        </p:nvSpPr>
        <p:spPr>
          <a:xfrm>
            <a:off x="10367550" y="1280160"/>
            <a:ext cx="7518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3-4</a:t>
            </a:r>
            <a:endParaRPr lang="en-US" sz="1200" dirty="0"/>
          </a:p>
        </p:txBody>
      </p:sp>
      <p:sp>
        <p:nvSpPr>
          <p:cNvPr id="27" name="Shape 25"/>
          <p:cNvSpPr/>
          <p:nvPr/>
        </p:nvSpPr>
        <p:spPr>
          <a:xfrm>
            <a:off x="11119370" y="1280160"/>
            <a:ext cx="587693" cy="640080"/>
          </a:xfrm>
          <a:prstGeom prst="rect">
            <a:avLst/>
          </a:prstGeom>
          <a:solidFill>
            <a:srgbClr val="55555C"/>
          </a:solidFill>
          <a:ln w="12700">
            <a:solidFill>
              <a:srgbClr val="FFFFFF"/>
            </a:solidFill>
            <a:prstDash val="solid"/>
          </a:ln>
        </p:spPr>
      </p:sp>
      <p:sp>
        <p:nvSpPr>
          <p:cNvPr id="28" name="Text 26"/>
          <p:cNvSpPr txBox="1"/>
          <p:nvPr/>
        </p:nvSpPr>
        <p:spPr>
          <a:xfrm>
            <a:off x="11119370" y="1280160"/>
            <a:ext cx="61512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JhengHei" pitchFamily="34" charset="0"/>
                <a:ea typeface="Microsoft JhengHei" pitchFamily="34" charset="-122"/>
                <a:cs typeface="Microsoft JhengHei" pitchFamily="34" charset="-120"/>
              </a:rPr>
              <a:t>4</a:t>
            </a:r>
            <a:endParaRPr lang="en-US" sz="1200" dirty="0"/>
          </a:p>
        </p:txBody>
      </p:sp>
      <p:sp>
        <p:nvSpPr>
          <p:cNvPr id="29" name="Text 27"/>
          <p:cNvSpPr txBox="1"/>
          <p:nvPr/>
        </p:nvSpPr>
        <p:spPr>
          <a:xfrm>
            <a:off x="91440" y="1965960"/>
            <a:ext cx="731520" cy="274320"/>
          </a:xfrm>
          <a:prstGeom prst="rect">
            <a:avLst/>
          </a:prstGeom>
          <a:noFill/>
          <a:ln/>
        </p:spPr>
        <p:txBody>
          <a:bodyPr wrap="square" lIns="0" tIns="0" rIns="0" bIns="0" rtlCol="0" anchor="ctr"/>
          <a:lstStyle/>
          <a:p>
            <a:pPr algn="ctr" indent="0" marL="0">
              <a:buNone/>
            </a:pPr>
            <a:r>
              <a:rPr lang="en-US" sz="1100" dirty="0">
                <a:solidFill>
                  <a:srgbClr val="55555C"/>
                </a:solidFill>
                <a:latin typeface="Microsoft JhengHei" pitchFamily="34" charset="0"/>
                <a:ea typeface="Microsoft JhengHei" pitchFamily="34" charset="-122"/>
                <a:cs typeface="Microsoft JhengHei" pitchFamily="34" charset="-120"/>
              </a:rPr>
              <a:t>0:00</a:t>
            </a:r>
            <a:endParaRPr lang="en-US" sz="1100" dirty="0"/>
          </a:p>
        </p:txBody>
      </p:sp>
      <p:sp>
        <p:nvSpPr>
          <p:cNvPr id="30" name="Text 28"/>
          <p:cNvSpPr txBox="1"/>
          <p:nvPr/>
        </p:nvSpPr>
        <p:spPr>
          <a:xfrm>
            <a:off x="4192275" y="1965960"/>
            <a:ext cx="731520" cy="274320"/>
          </a:xfrm>
          <a:prstGeom prst="rect">
            <a:avLst/>
          </a:prstGeom>
          <a:noFill/>
          <a:ln/>
        </p:spPr>
        <p:txBody>
          <a:bodyPr wrap="square" lIns="0" tIns="0" rIns="0" bIns="0" rtlCol="0" anchor="ctr"/>
          <a:lstStyle/>
          <a:p>
            <a:pPr algn="ctr" indent="0" marL="0">
              <a:buNone/>
            </a:pPr>
            <a:r>
              <a:rPr lang="en-US" sz="1100" dirty="0">
                <a:solidFill>
                  <a:srgbClr val="55555C"/>
                </a:solidFill>
                <a:latin typeface="Microsoft JhengHei" pitchFamily="34" charset="0"/>
                <a:ea typeface="Microsoft JhengHei" pitchFamily="34" charset="-122"/>
                <a:cs typeface="Microsoft JhengHei" pitchFamily="34" charset="-120"/>
              </a:rPr>
              <a:t>1:00</a:t>
            </a:r>
            <a:endParaRPr lang="en-US" sz="1100" dirty="0"/>
          </a:p>
        </p:txBody>
      </p:sp>
      <p:sp>
        <p:nvSpPr>
          <p:cNvPr id="31" name="Text 29"/>
          <p:cNvSpPr txBox="1"/>
          <p:nvPr/>
        </p:nvSpPr>
        <p:spPr>
          <a:xfrm>
            <a:off x="8293109" y="1965960"/>
            <a:ext cx="731520" cy="274320"/>
          </a:xfrm>
          <a:prstGeom prst="rect">
            <a:avLst/>
          </a:prstGeom>
          <a:noFill/>
          <a:ln/>
        </p:spPr>
        <p:txBody>
          <a:bodyPr wrap="square" lIns="0" tIns="0" rIns="0" bIns="0" rtlCol="0" anchor="ctr"/>
          <a:lstStyle/>
          <a:p>
            <a:pPr algn="ctr" indent="0" marL="0">
              <a:buNone/>
            </a:pPr>
            <a:r>
              <a:rPr lang="en-US" sz="1100" dirty="0">
                <a:solidFill>
                  <a:srgbClr val="55555C"/>
                </a:solidFill>
                <a:latin typeface="Microsoft JhengHei" pitchFamily="34" charset="0"/>
                <a:ea typeface="Microsoft JhengHei" pitchFamily="34" charset="-122"/>
                <a:cs typeface="Microsoft JhengHei" pitchFamily="34" charset="-120"/>
              </a:rPr>
              <a:t>2:00</a:t>
            </a:r>
            <a:endParaRPr lang="en-US" sz="1100" dirty="0"/>
          </a:p>
        </p:txBody>
      </p:sp>
      <p:sp>
        <p:nvSpPr>
          <p:cNvPr id="32" name="Text 30"/>
          <p:cNvSpPr txBox="1"/>
          <p:nvPr/>
        </p:nvSpPr>
        <p:spPr>
          <a:xfrm>
            <a:off x="11368735" y="1965960"/>
            <a:ext cx="731520" cy="274320"/>
          </a:xfrm>
          <a:prstGeom prst="rect">
            <a:avLst/>
          </a:prstGeom>
          <a:noFill/>
          <a:ln/>
        </p:spPr>
        <p:txBody>
          <a:bodyPr wrap="square" lIns="0" tIns="0" rIns="0" bIns="0" rtlCol="0" anchor="ctr"/>
          <a:lstStyle/>
          <a:p>
            <a:pPr algn="ctr" indent="0" marL="0">
              <a:buNone/>
            </a:pPr>
            <a:r>
              <a:rPr lang="en-US" sz="1100" dirty="0">
                <a:solidFill>
                  <a:srgbClr val="55555C"/>
                </a:solidFill>
                <a:latin typeface="Microsoft JhengHei" pitchFamily="34" charset="0"/>
                <a:ea typeface="Microsoft JhengHei" pitchFamily="34" charset="-122"/>
                <a:cs typeface="Microsoft JhengHei" pitchFamily="34" charset="-120"/>
              </a:rPr>
              <a:t>2:45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423160"/>
          <a:ext cx="11277295" cy="914400"/>
        </p:xfrm>
        <a:graphic>
          <a:graphicData uri="http://schemas.openxmlformats.org/drawingml/2006/table">
            <a:tbl>
              <a:tblPr/>
              <a:tblGrid>
                <a:gridCol w="731520"/>
                <a:gridCol w="1280160"/>
                <a:gridCol w="1463040"/>
                <a:gridCol w="4937760"/>
                <a:gridCol w="2862072"/>
              </a:tblGrid>
              <a:tr h="274320">
                <a:tc>
                  <a:txBody>
                    <a:bodyPr/>
                    <a:lstStyle/>
                    <a:p>
                      <a:pPr indent="0" marL="0">
                        <a:buNone/>
                      </a:pPr>
                      <a:r>
                        <a:rPr lang="en-US" sz="1100" b="1" dirty="0">
                          <a:solidFill>
                            <a:srgbClr val="0A0A0B"/>
                          </a:solidFill>
                          <a:latin typeface="Microsoft JhengHei" pitchFamily="34" charset="0"/>
                          <a:ea typeface="Microsoft JhengHei" pitchFamily="34" charset="-122"/>
                          <a:cs typeface="Microsoft JhengHei" pitchFamily="34" charset="-120"/>
                        </a:rPr>
                        <a:t>鏡頭</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0A0B"/>
                          </a:solidFill>
                          <a:latin typeface="Microsoft JhengHei" pitchFamily="34" charset="0"/>
                          <a:ea typeface="Microsoft JhengHei" pitchFamily="34" charset="-122"/>
                          <a:cs typeface="Microsoft JhengHei" pitchFamily="34" charset="-120"/>
                        </a:rPr>
                        <a:t>時間</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0A0B"/>
                          </a:solidFill>
                          <a:latin typeface="Microsoft JhengHei" pitchFamily="34" charset="0"/>
                          <a:ea typeface="Microsoft JhengHei" pitchFamily="34" charset="-122"/>
                          <a:cs typeface="Microsoft JhengHei" pitchFamily="34" charset="-120"/>
                        </a:rPr>
                        <a:t>段落</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0A0B"/>
                          </a:solidFill>
                          <a:latin typeface="Microsoft JhengHei" pitchFamily="34" charset="0"/>
                          <a:ea typeface="Microsoft JhengHei" pitchFamily="34" charset="-122"/>
                          <a:cs typeface="Microsoft JhengHei" pitchFamily="34" charset="-120"/>
                        </a:rPr>
                        <a:t>內容</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0A0B"/>
                          </a:solidFill>
                          <a:latin typeface="Microsoft JhengHei" pitchFamily="34" charset="0"/>
                          <a:ea typeface="Microsoft JhengHei" pitchFamily="34" charset="-122"/>
                          <a:cs typeface="Microsoft JhengHei" pitchFamily="34" charset="-120"/>
                        </a:rPr>
                        <a:t>素材</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0-1</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0:00–0:02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開場與痛點</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開場封面</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沿用 v2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0:02–0:15</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開場與痛點</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個人 agent 的孤島</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Q 版插畫 + 鎖頭，做成動態</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0-3</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0:15–0:27</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開場與痛點</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平台定位 · 網站實錄</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轉場，接網站實錄</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1-1</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0:27–0:39</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怎麼運作</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一句話變成球局</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新錄（示意：現有截圖）</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0:39–0:57</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怎麼運作</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A2A 跨 agent 協商</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v2 分割畫面 + 🆕 JSON 疊圖</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1-3</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0:57–1:09</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怎麼運作</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agent 主動問：Match · Messenger</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沿用 v2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1-4</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1:09–1:25</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怎麼運作</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任何人的 agent 都能接入（/llms.txt）· 朋友實測</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示意圖（HTML 繪製）</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2-1</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1:25–1:39</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附加樂趣</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打完球的附加樂趣：精華影片</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沿用 v2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3-1</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1:39–2:01</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技術深度</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為什麼多 agent 協商需要分層決策和 1B</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示意圖（HTML 繪製）</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3-2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2:01–2:12</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技術深度</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實際跑 Meta 模型學到的事</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示意圖（HTML 繪製）</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3-3</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2:12–2:25</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技術深度</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更新 AI 測試者</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swarm 影片，數字更新</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3-4</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2:25–2:36</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技術深度</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跨 agent 的安全防線和自我演化</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沿用 v2（Rule of Two 圖拿掉揭露預算）</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r h="274320">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4</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2:36–2:45</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片尾</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片尾</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dirty="0">
                          <a:solidFill>
                            <a:srgbClr val="0A0A0B"/>
                          </a:solidFill>
                          <a:latin typeface="Microsoft JhengHei" pitchFamily="34" charset="0"/>
                          <a:ea typeface="Microsoft JhengHei" pitchFamily="34" charset="-122"/>
                          <a:cs typeface="Microsoft JhengHei" pitchFamily="34" charset="-120"/>
                        </a:rPr>
                        <a:t>♻️ v2 版型，文字照腳本換（示意）</a:t>
                      </a:r>
                      <a:endParaRPr lang="en-US" sz="1100" dirty="0">
                        <a:latin typeface="Microsoft JhengHei" charset="0"/>
                        <a:ea typeface="Microsoft JhengHei" charset="0"/>
                        <a:cs typeface="Microsoft JhengHei" charset="0"/>
                      </a:endParaRPr>
                    </a:p>
                  </a:txBody>
                  <a:tcPr marL="91440" marR="91440" marT="45720" marB="45720">
                    <a:lnL w="6350" cap="flat" cmpd="sng" algn="ctr">
                      <a:solidFill>
                        <a:srgbClr val="DCDCE0"/>
                      </a:solidFill>
                      <a:prstDash val="solid"/>
                      <a:round/>
                      <a:headEnd type="none" w="med" len="med"/>
                      <a:tailEnd type="none" w="med" len="med"/>
                    </a:lnL>
                    <a:lnR w="6350" cap="flat" cmpd="sng" algn="ctr">
                      <a:solidFill>
                        <a:srgbClr val="DCDCE0"/>
                      </a:solidFill>
                      <a:prstDash val="solid"/>
                      <a:round/>
                      <a:headEnd type="none" w="med" len="med"/>
                      <a:tailEnd type="none" w="med" len="med"/>
                    </a:lnR>
                    <a:lnT w="6350" cap="flat" cmpd="sng" algn="ctr">
                      <a:solidFill>
                        <a:srgbClr val="DCDCE0"/>
                      </a:solidFill>
                      <a:prstDash val="solid"/>
                      <a:round/>
                      <a:headEnd type="none" w="med" len="med"/>
                      <a:tailEnd type="none" w="med" len="med"/>
                    </a:lnT>
                    <a:lnB w="6350" cap="flat" cmpd="sng" algn="ctr">
                      <a:solidFill>
                        <a:srgbClr val="DCDC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0-1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開場封面</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0:00–0:02 · 開場與痛點 · Impact</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沿用 v2</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沿用 v2 深色點陣背景、serve logo 和 **Play more. Manage less.**，左上角 Meta Global AI Developer Hackathon 2026 · Indie Developer；只停 2 秒</a:t>
            </a:r>
            <a:endParaRPr lang="en-US" sz="10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（沒有旁白：音樂淡入）</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a:t>
            </a:r>
            <a:endParaRPr lang="en-US" sz="125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0-2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個人 agent 的孤島</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0:02–0:15 · 開場與痛點 · Impact</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B26A00"/>
                </a:solidFill>
                <a:latin typeface="Microsoft JhengHei" pitchFamily="34" charset="0"/>
                <a:ea typeface="Microsoft JhengHei" pitchFamily="34" charset="-122"/>
                <a:cs typeface="Microsoft JhengHei" pitchFamily="34" charset="-120"/>
              </a:rPr>
              <a:t>🆕 Q 版插畫 + 鎖頭，做成動態</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Q 版情境圖 submission/shots/pain_scene.png，分層做成動態：</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累壞的主辦人，手機裡的問號泡泡越堆越多，牆上月曆一格一格打上紅叉</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上方四個朋友的想法泡泡依序彈出，每個泡泡右下角浮出一個紅色鎖頭（每個人的 agent），泡泡之間的紅色虛線打叉：agent 之間不通</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右上浮出小卡 4 friends · 4 agents · no place to talk</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鏡頭往右平移到空球場，地上一支球拍和一顆羽球</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角落小字 illustration: Muse Image</a:t>
            </a:r>
            <a:endParaRPr lang="en-US" sz="9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Soon, everyone will have a personal AI agent that knows their calendar and limits. But agents have no place to talk to each other, so one game still means hours of group chat.</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很快地，每個人都會有自己的 AI agent。它懂你的行事曆和底線，但 agent 之間沒有可以溝通的地方。所以約一場球，還是得在群組裡聊上好幾個小時。</a:t>
            </a:r>
            <a:endParaRPr lang="en-US" sz="1250" dirty="0"/>
          </a:p>
        </p:txBody>
      </p:sp>
      <p:sp>
        <p:nvSpPr>
          <p:cNvPr id="15" name="Text 12"/>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33 字 · 約 13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0-3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平台定位 · 網站實錄</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0:15–0:27 · 開場與痛點 · Impact</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B26A00"/>
                </a:solidFill>
                <a:latin typeface="Microsoft JhengHei" pitchFamily="34" charset="0"/>
                <a:ea typeface="Microsoft JhengHei" pitchFamily="34" charset="-122"/>
                <a:cs typeface="Microsoft JhengHei" pitchFamily="34" charset="-120"/>
              </a:rPr>
              <a:t>🆕 轉場，接網站實錄</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943794" y="1280160"/>
            <a:ext cx="5244731"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前 2 秒用 submission/shots/pain_before_after.png：一條綠色虛線由左往右掃過，從被訊息淹沒的人變成四個人在球場上</a:t>
            </a:r>
            <a:endParaRPr lang="en-US" sz="1050" dirty="0"/>
          </a:p>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接著切到手機版 play.theminimallab.com：打一句 "badminton Thursday evening" → 卡片出現 → 朋友按 Join</a:t>
            </a:r>
            <a:endParaRPr lang="en-US" sz="10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So I built Serve: the platform where personal agents negotiate real-world games together. Your agent sorts out the time, the court and the players with theirs, and asks you for one yes.</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所以我做了 Serve：一個讓個人 agent 一起協調實體球局的平台。你的 agent 跟其他人的 agent 談好時間、球場和球友，最後只問你一句：好不好。</a:t>
            </a:r>
            <a:endParaRPr lang="en-US" sz="1250" dirty="0"/>
          </a:p>
        </p:txBody>
      </p:sp>
      <p:sp>
        <p:nvSpPr>
          <p:cNvPr id="15" name="Text 12"/>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32 字 · 約 13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1-1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一句話變成球局</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0:27–0:39 · 怎麼運作 · Demo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B26A00"/>
                </a:solidFill>
                <a:latin typeface="Microsoft JhengHei" pitchFamily="34" charset="0"/>
                <a:ea typeface="Microsoft JhengHei" pitchFamily="34" charset="-122"/>
                <a:cs typeface="Microsoft JhengHei" pitchFamily="34" charset="-120"/>
              </a:rPr>
              <a:t>🆕 新錄（示意：現有截圖）</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800911"/>
            <a:ext cx="6217920" cy="2456078"/>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2286000" y="4823460"/>
            <a:ext cx="4389120"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角落標籤：code · 7 ms (local copy)</a:t>
            </a:r>
            <a:endParaRPr lang="en-US" sz="1000" dirty="0"/>
          </a:p>
        </p:txBody>
      </p:sp>
      <p:sp>
        <p:nvSpPr>
          <p:cNvPr id="9" name="Text 6"/>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打字 → 7 ms 後卡片出現（角落計時器）→ 群組外的人用連結打開、加入 → 討論串裡 agent 貼出「Mia is in. 1 spot left.」</a:t>
            </a:r>
            <a:endParaRPr lang="en-US" sz="1050" dirty="0"/>
          </a:p>
        </p:txBody>
      </p:sp>
      <p:sp>
        <p:nvSpPr>
          <p:cNvPr id="10" name="Shape 7"/>
          <p:cNvSpPr/>
          <p:nvPr/>
        </p:nvSpPr>
        <p:spPr>
          <a:xfrm>
            <a:off x="6995160" y="1280160"/>
            <a:ext cx="4739335" cy="2514600"/>
          </a:xfrm>
          <a:prstGeom prst="rect">
            <a:avLst/>
          </a:prstGeom>
          <a:solidFill>
            <a:srgbClr val="E9F3EC"/>
          </a:solidFill>
          <a:ln w="12700">
            <a:solidFill>
              <a:srgbClr val="E9F3EC"/>
            </a:solidFill>
            <a:prstDash val="solid"/>
          </a:ln>
        </p:spPr>
      </p:sp>
      <p:sp>
        <p:nvSpPr>
          <p:cNvPr id="11" name="Text 8"/>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2" name="Text 9"/>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I type one sentence. Code reads the day and finds the nearest court in milliseconds. Whoever is free taps Join. Nobody waits for a poll.</a:t>
            </a:r>
            <a:endParaRPr lang="en-US" sz="1400" dirty="0"/>
          </a:p>
        </p:txBody>
      </p:sp>
      <p:sp>
        <p:nvSpPr>
          <p:cNvPr id="13" name="Shape 10"/>
          <p:cNvSpPr/>
          <p:nvPr/>
        </p:nvSpPr>
        <p:spPr>
          <a:xfrm>
            <a:off x="6995160" y="3931920"/>
            <a:ext cx="4739335" cy="2103120"/>
          </a:xfrm>
          <a:prstGeom prst="rect">
            <a:avLst/>
          </a:prstGeom>
          <a:solidFill>
            <a:srgbClr val="F3F6F4"/>
          </a:solidFill>
          <a:ln w="12700">
            <a:solidFill>
              <a:srgbClr val="F3F6F4"/>
            </a:solidFill>
            <a:prstDash val="solid"/>
          </a:ln>
        </p:spPr>
      </p:sp>
      <p:sp>
        <p:nvSpPr>
          <p:cNvPr id="14" name="Text 11"/>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5" name="Text 12"/>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我只打一句話。程式在幾毫秒內從句子裡讀出日期，配上最近的球場。有空的人按加入就好，不用等所有人投票。</a:t>
            </a:r>
            <a:endParaRPr lang="en-US" sz="1250" dirty="0"/>
          </a:p>
        </p:txBody>
      </p:sp>
      <p:sp>
        <p:nvSpPr>
          <p:cNvPr id="16" name="Text 13"/>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25 字 · 約 10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1-2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A2A 跨 agent 協商</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0:39–0:57 · 怎麼運作 · Demo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v2 分割畫面 + 🆕 JSON 疊圖</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2286000" y="4823460"/>
            <a:ext cx="4389120"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角落標籤：A2A v1.0 · official SDK · signed Agent Cards</a:t>
            </a:r>
            <a:endParaRPr lang="en-US" sz="1000" dirty="0"/>
          </a:p>
        </p:txBody>
      </p:sp>
      <p:sp>
        <p:nvSpPr>
          <p:cNvPr id="9" name="Text 6"/>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沿用 v2 的分割畫面（三個 agent 同時談）；放大疊加一則用 Ed25519 簽章的 proposal，JSON 只有 {date, start, venue, court, trip}，打勾的時間交集亮起，最後顯示 held 30 min。v2 畫面底下太小的說明字拿掉或放大</a:t>
            </a:r>
            <a:endParaRPr lang="en-US" sz="1050" dirty="0"/>
          </a:p>
        </p:txBody>
      </p:sp>
      <p:sp>
        <p:nvSpPr>
          <p:cNvPr id="10" name="Shape 7"/>
          <p:cNvSpPr/>
          <p:nvPr/>
        </p:nvSpPr>
        <p:spPr>
          <a:xfrm>
            <a:off x="6995160" y="1280160"/>
            <a:ext cx="4739335" cy="2514600"/>
          </a:xfrm>
          <a:prstGeom prst="rect">
            <a:avLst/>
          </a:prstGeom>
          <a:solidFill>
            <a:srgbClr val="E9F3EC"/>
          </a:solidFill>
          <a:ln w="12700">
            <a:solidFill>
              <a:srgbClr val="E9F3EC"/>
            </a:solidFill>
            <a:prstDash val="solid"/>
          </a:ln>
        </p:spPr>
      </p:sp>
      <p:sp>
        <p:nvSpPr>
          <p:cNvPr id="11" name="Text 8"/>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2" name="Text 9"/>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Underneath, every player's agent negotiates over the A2A protocol. Proposals carry signed facts only, so no model ever reads another agent's words. Agents mark the times that work, code picks the overlap, and holds it thirty minutes until everyone says yes.</a:t>
            </a:r>
            <a:endParaRPr lang="en-US" sz="1400" dirty="0"/>
          </a:p>
        </p:txBody>
      </p:sp>
      <p:sp>
        <p:nvSpPr>
          <p:cNvPr id="13" name="Shape 10"/>
          <p:cNvSpPr/>
          <p:nvPr/>
        </p:nvSpPr>
        <p:spPr>
          <a:xfrm>
            <a:off x="6995160" y="3931920"/>
            <a:ext cx="4739335" cy="2103120"/>
          </a:xfrm>
          <a:prstGeom prst="rect">
            <a:avLst/>
          </a:prstGeom>
          <a:solidFill>
            <a:srgbClr val="F3F6F4"/>
          </a:solidFill>
          <a:ln w="12700">
            <a:solidFill>
              <a:srgbClr val="F3F6F4"/>
            </a:solidFill>
            <a:prstDash val="solid"/>
          </a:ln>
        </p:spPr>
      </p:sp>
      <p:sp>
        <p:nvSpPr>
          <p:cNvPr id="14" name="Text 11"/>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5" name="Text 12"/>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在底層，每個球友的 agent 用 A2A 協議協商。提案只帶簽章過的事實，沒有任何模型會讀到對方 agent 的原始文字。各家 agent 標出可行的時間，程式挑出交集，替大家保留 30 分鐘，等所有人說好。</a:t>
            </a:r>
            <a:endParaRPr lang="en-US" sz="1250" dirty="0"/>
          </a:p>
        </p:txBody>
      </p:sp>
      <p:sp>
        <p:nvSpPr>
          <p:cNvPr id="16" name="Text 13"/>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41 字 · 約 16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1-3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agent 主動問：Match · Messenger</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0:57–1:09 · 怎麼運作 · Demo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沿用 v2</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2286000" y="4823460"/>
            <a:ext cx="4389120"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角落標籤：Messenger · Send API</a:t>
            </a:r>
            <a:endParaRPr lang="en-US" sz="1000" dirty="0"/>
          </a:p>
        </p:txBody>
      </p:sp>
      <p:sp>
        <p:nvSpPr>
          <p:cNvPr id="9" name="Text 6"/>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Messenger 跳出「Thursday 19:00: Leo is free. Want a game?」→ 按 Yes → Booked</a:t>
            </a:r>
            <a:endParaRPr lang="en-US" sz="1050" dirty="0"/>
          </a:p>
        </p:txBody>
      </p:sp>
      <p:sp>
        <p:nvSpPr>
          <p:cNvPr id="10" name="Shape 7"/>
          <p:cNvSpPr/>
          <p:nvPr/>
        </p:nvSpPr>
        <p:spPr>
          <a:xfrm>
            <a:off x="6995160" y="1280160"/>
            <a:ext cx="4739335" cy="2514600"/>
          </a:xfrm>
          <a:prstGeom prst="rect">
            <a:avLst/>
          </a:prstGeom>
          <a:solidFill>
            <a:srgbClr val="E9F3EC"/>
          </a:solidFill>
          <a:ln w="12700">
            <a:solidFill>
              <a:srgbClr val="E9F3EC"/>
            </a:solidFill>
            <a:prstDash val="solid"/>
          </a:ln>
        </p:spPr>
      </p:sp>
      <p:sp>
        <p:nvSpPr>
          <p:cNvPr id="11" name="Text 8"/>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2" name="Text 9"/>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Because agents talk in the background, Match can ask first: Thursday, seven p.m., Leo's agent says he's free, want a game? One tap in Messenger.</a:t>
            </a:r>
            <a:endParaRPr lang="en-US" sz="1400" dirty="0"/>
          </a:p>
        </p:txBody>
      </p:sp>
      <p:sp>
        <p:nvSpPr>
          <p:cNvPr id="13" name="Shape 10"/>
          <p:cNvSpPr/>
          <p:nvPr/>
        </p:nvSpPr>
        <p:spPr>
          <a:xfrm>
            <a:off x="6995160" y="3931920"/>
            <a:ext cx="4739335" cy="2103120"/>
          </a:xfrm>
          <a:prstGeom prst="rect">
            <a:avLst/>
          </a:prstGeom>
          <a:solidFill>
            <a:srgbClr val="F3F6F4"/>
          </a:solidFill>
          <a:ln w="12700">
            <a:solidFill>
              <a:srgbClr val="F3F6F4"/>
            </a:solidFill>
            <a:prstDash val="solid"/>
          </a:ln>
        </p:spPr>
      </p:sp>
      <p:sp>
        <p:nvSpPr>
          <p:cNvPr id="14" name="Text 11"/>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5" name="Text 12"/>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因為 agent 能在背景先談好，Match 可以主動問我：週四晚上七點，Leo 的 agent 說他有空，要打嗎？在 Messenger 按一下就好。</a:t>
            </a:r>
            <a:endParaRPr lang="en-US" sz="1250" dirty="0"/>
          </a:p>
        </p:txBody>
      </p:sp>
      <p:sp>
        <p:nvSpPr>
          <p:cNvPr id="16" name="Text 13"/>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25 字 · 約 10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1-4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任何人的 agent 都能接入（/llms.txt）· 朋友實測</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1:09–1:25 · 怎麼運作 · Demo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B26A00"/>
                </a:solidFill>
                <a:latin typeface="Microsoft JhengHei" pitchFamily="34" charset="0"/>
                <a:ea typeface="Microsoft JhengHei" pitchFamily="34" charset="-122"/>
                <a:cs typeface="Microsoft JhengHei" pitchFamily="34" charset="-120"/>
              </a:rPr>
              <a:t>🆕 示意圖（HTML 繪製）</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2286000" y="4823460"/>
            <a:ext cx="4389120"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角落標籤：your own agent, through the same open door</a:t>
            </a:r>
            <a:endParaRPr lang="en-US" sz="1000" dirty="0"/>
          </a:p>
        </p:txBody>
      </p:sp>
      <p:sp>
        <p:nvSpPr>
          <p:cNvPr id="9" name="Text 6"/>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主角是左側大大的終端機畫面：</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外部 agent 讀 curl play.theminimallab.com/llms.txt</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用自己的 Ed25519 公鑰註冊（主人核准）→ 200 agent registered</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簽名送出把費用上限放寬到 400（主人設的是 NT$150）→ 紅字 403 · needs: person</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右側一張小卡帶過：10+ people · 2 of 3 invites became games · 3 days</a:t>
            </a:r>
            <a:endParaRPr lang="en-US" sz="950" dirty="0"/>
          </a:p>
        </p:txBody>
      </p:sp>
      <p:sp>
        <p:nvSpPr>
          <p:cNvPr id="10" name="Shape 7"/>
          <p:cNvSpPr/>
          <p:nvPr/>
        </p:nvSpPr>
        <p:spPr>
          <a:xfrm>
            <a:off x="6995160" y="1280160"/>
            <a:ext cx="4739335" cy="2514600"/>
          </a:xfrm>
          <a:prstGeom prst="rect">
            <a:avLst/>
          </a:prstGeom>
          <a:solidFill>
            <a:srgbClr val="E9F3EC"/>
          </a:solidFill>
          <a:ln w="12700">
            <a:solidFill>
              <a:srgbClr val="E9F3EC"/>
            </a:solidFill>
            <a:prstDash val="solid"/>
          </a:ln>
        </p:spPr>
      </p:sp>
      <p:sp>
        <p:nvSpPr>
          <p:cNvPr id="11" name="Text 8"/>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2" name="Text 9"/>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Any external agent can join through llms.txt with its own Ed25519 key, and code makes sure it can never loosen its human's limits. More than ten friends tested it with me: two of three invites became games within three days.</a:t>
            </a:r>
            <a:endParaRPr lang="en-US" sz="1400" dirty="0"/>
          </a:p>
        </p:txBody>
      </p:sp>
      <p:sp>
        <p:nvSpPr>
          <p:cNvPr id="13" name="Shape 10"/>
          <p:cNvSpPr/>
          <p:nvPr/>
        </p:nvSpPr>
        <p:spPr>
          <a:xfrm>
            <a:off x="6995160" y="3931920"/>
            <a:ext cx="4739335" cy="2103120"/>
          </a:xfrm>
          <a:prstGeom prst="rect">
            <a:avLst/>
          </a:prstGeom>
          <a:solidFill>
            <a:srgbClr val="F3F6F4"/>
          </a:solidFill>
          <a:ln w="12700">
            <a:solidFill>
              <a:srgbClr val="F3F6F4"/>
            </a:solidFill>
            <a:prstDash val="solid"/>
          </a:ln>
        </p:spPr>
      </p:sp>
      <p:sp>
        <p:nvSpPr>
          <p:cNvPr id="14" name="Text 11"/>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5" name="Text 12"/>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任何外部 agent 都能帶著自己的 Ed25519 金鑰，從 /llms.txt 連進來，而程式確保它永遠不能放寬主人設的底線。我找了十幾個朋友一起測，三個邀請裡有兩個在三天內真的打成了。</a:t>
            </a:r>
            <a:endParaRPr lang="en-US" sz="1250" dirty="0"/>
          </a:p>
        </p:txBody>
      </p:sp>
      <p:sp>
        <p:nvSpPr>
          <p:cNvPr id="16" name="Text 13"/>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40 字 · 約 16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2-1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打完球的附加樂趣：精華影片</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1:25–1:39 · 附加樂趣 · Demo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沿用 v2</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2286000" y="4823460"/>
            <a:ext cx="4389120"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角落標籤：bonus · Sapiens2 · SAM 2.1 · MapAnything · on my GPU</a:t>
            </a:r>
            <a:endParaRPr lang="en-US" sz="1000" dirty="0"/>
          </a:p>
        </p:txBody>
      </p:sp>
      <p:sp>
        <p:nvSpPr>
          <p:cNvPr id="9" name="Text 6"/>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沿用 v2：上傳手機影片 → 偵測框 → Sapiens2 骨架 → SAM 2.1 去背 → 時間暫停、鏡頭繞轉；慢動作那 2 秒不講話</a:t>
            </a:r>
            <a:endParaRPr lang="en-US" sz="1050" dirty="0"/>
          </a:p>
        </p:txBody>
      </p:sp>
      <p:sp>
        <p:nvSpPr>
          <p:cNvPr id="10" name="Shape 7"/>
          <p:cNvSpPr/>
          <p:nvPr/>
        </p:nvSpPr>
        <p:spPr>
          <a:xfrm>
            <a:off x="6995160" y="1280160"/>
            <a:ext cx="4739335" cy="2514600"/>
          </a:xfrm>
          <a:prstGeom prst="rect">
            <a:avLst/>
          </a:prstGeom>
          <a:solidFill>
            <a:srgbClr val="E9F3EC"/>
          </a:solidFill>
          <a:ln w="12700">
            <a:solidFill>
              <a:srgbClr val="E9F3EC"/>
            </a:solidFill>
            <a:prstDash val="solid"/>
          </a:ln>
        </p:spPr>
      </p:sp>
      <p:sp>
        <p:nvSpPr>
          <p:cNvPr id="11" name="Text 8"/>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2" name="Text 9"/>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And as a bonus after the game, I upload a phone clip: Sapiens2 finds the fastest swing, SAM 2.1 cuts me out, and MapAnything freezes time while the camera orbits.</a:t>
            </a:r>
            <a:endParaRPr lang="en-US" sz="1400" dirty="0"/>
          </a:p>
        </p:txBody>
      </p:sp>
      <p:sp>
        <p:nvSpPr>
          <p:cNvPr id="13" name="Shape 10"/>
          <p:cNvSpPr/>
          <p:nvPr/>
        </p:nvSpPr>
        <p:spPr>
          <a:xfrm>
            <a:off x="6995160" y="3931920"/>
            <a:ext cx="4739335" cy="2103120"/>
          </a:xfrm>
          <a:prstGeom prst="rect">
            <a:avLst/>
          </a:prstGeom>
          <a:solidFill>
            <a:srgbClr val="F3F6F4"/>
          </a:solidFill>
          <a:ln w="12700">
            <a:solidFill>
              <a:srgbClr val="F3F6F4"/>
            </a:solidFill>
            <a:prstDash val="solid"/>
          </a:ln>
        </p:spPr>
      </p:sp>
      <p:sp>
        <p:nvSpPr>
          <p:cNvPr id="14" name="Text 11"/>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5" name="Text 12"/>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打完球還有個附加樂趣：上傳手機影片，Sapiens2 找出揮拍最快的一刻，SAM 2.1 把我摳出來，MapAnything 讓時間停住、鏡頭繞著殺球轉。</a:t>
            </a:r>
            <a:endParaRPr lang="en-US" sz="1250" dirty="0"/>
          </a:p>
        </p:txBody>
      </p:sp>
      <p:sp>
        <p:nvSpPr>
          <p:cNvPr id="16" name="Text 13"/>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30 字 · 約 12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3-1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為什麼多 agent 協商需要分層決策和 1B</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1:39–2:01 · 技術深度 · Depth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B26A00"/>
                </a:solidFill>
                <a:latin typeface="Microsoft JhengHei" pitchFamily="34" charset="0"/>
                <a:ea typeface="Microsoft JhengHei" pitchFamily="34" charset="-122"/>
                <a:cs typeface="Microsoft JhengHei" pitchFamily="34" charset="-120"/>
              </a:rPr>
              <a:t>🆕 示意圖（HTML 繪製）</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2286000" y="4823460"/>
            <a:ext cx="4389120"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角落標籤：Llama 3.2 1B · distilled by me · int4 on CPU</a:t>
            </a:r>
            <a:endParaRPr lang="en-US" sz="1000" dirty="0"/>
          </a:p>
        </p:txBody>
      </p:sp>
      <p:sp>
        <p:nvSpPr>
          <p:cNvPr id="9" name="Text 6"/>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決策分層圖（code 7 ms → 28 KB classifier 0.06 ms → Llama 3.2 1B 0.9 s → Muse Glimmer 20–40 s），每層標時間；接著放 1B 和 Glimmer 一致率的長條圖（89.5% vs 88.8%）</a:t>
            </a:r>
            <a:endParaRPr lang="en-US" sz="1050" dirty="0"/>
          </a:p>
        </p:txBody>
      </p:sp>
      <p:sp>
        <p:nvSpPr>
          <p:cNvPr id="10" name="Shape 7"/>
          <p:cNvSpPr/>
          <p:nvPr/>
        </p:nvSpPr>
        <p:spPr>
          <a:xfrm>
            <a:off x="6995160" y="1280160"/>
            <a:ext cx="4739335" cy="2514600"/>
          </a:xfrm>
          <a:prstGeom prst="rect">
            <a:avLst/>
          </a:prstGeom>
          <a:solidFill>
            <a:srgbClr val="E9F3EC"/>
          </a:solidFill>
          <a:ln w="12700">
            <a:solidFill>
              <a:srgbClr val="E9F3EC"/>
            </a:solidFill>
            <a:prstDash val="solid"/>
          </a:ln>
        </p:spPr>
      </p:sp>
      <p:sp>
        <p:nvSpPr>
          <p:cNvPr id="11" name="Text 8"/>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2" name="Text 9"/>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When four agents negotiate, forty seconds a step is too slow. So code keeps every hard rule, and a 28-kilobyte classifier settles six in ten ordinary choices in 0.06 milliseconds. Then my Llama 3.2 1B, distilled from 4,868 Muse Glimmer choices, agrees with Glimmer 89.5% of the time, in 0.9 seconds, on a CPU.</a:t>
            </a:r>
            <a:endParaRPr lang="en-US" sz="1400" dirty="0"/>
          </a:p>
        </p:txBody>
      </p:sp>
      <p:sp>
        <p:nvSpPr>
          <p:cNvPr id="13" name="Shape 10"/>
          <p:cNvSpPr/>
          <p:nvPr/>
        </p:nvSpPr>
        <p:spPr>
          <a:xfrm>
            <a:off x="6995160" y="3931920"/>
            <a:ext cx="4739335" cy="2103120"/>
          </a:xfrm>
          <a:prstGeom prst="rect">
            <a:avLst/>
          </a:prstGeom>
          <a:solidFill>
            <a:srgbClr val="F3F6F4"/>
          </a:solidFill>
          <a:ln w="12700">
            <a:solidFill>
              <a:srgbClr val="F3F6F4"/>
            </a:solidFill>
            <a:prstDash val="solid"/>
          </a:ln>
        </p:spPr>
      </p:sp>
      <p:sp>
        <p:nvSpPr>
          <p:cNvPr id="14" name="Text 11"/>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5" name="Text 12"/>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四個 agent 一起協商時，每一步都等 40 秒就太慢了。所以程式守住每條硬規則；一個 28 KB 的分類器在 0.06 毫秒內答掉六成的一般選擇；剩下的交給我用 Muse Glimmer 的 4,868 次選擇蒸餾出來的 Llama 3.2 1B：跟 Glimmer 的一致率 89.5%，在 CPU 上只要 0.9 秒。</a:t>
            </a:r>
            <a:endParaRPr lang="en-US" sz="1250" dirty="0"/>
          </a:p>
        </p:txBody>
      </p:sp>
      <p:sp>
        <p:nvSpPr>
          <p:cNvPr id="16" name="Text 13"/>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54 字 · 約 22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3-2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實際跑 Meta 模型學到的事</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2:01–2:12 · 技術深度 · Depth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B26A00"/>
                </a:solidFill>
                <a:latin typeface="Microsoft JhengHei" pitchFamily="34" charset="0"/>
                <a:ea typeface="Microsoft JhengHei" pitchFamily="34" charset="-122"/>
                <a:cs typeface="Microsoft JhengHei" pitchFamily="34" charset="-120"/>
              </a:rPr>
              <a:t>🆕 示意圖（HTML 繪製）</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左邊 2,755 次呼叫裡 84% 是推理 token；右邊社團名稱 "Serve test round 27" 被紅框擋下 refused: violence，再變綠</a:t>
            </a:r>
            <a:endParaRPr lang="en-US" sz="10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Running Meta's models taught me two things. Glimmer reasons even with thinking off: 84% of its tokens. And Llama Guard once refused a club called "round 27" as a threat.</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真的上線跑 Meta 的模型，學到兩件事：Glimmer 就算關掉 thinking 也在推理，84% 的 token 都是推理；Llama Guard 還曾經把一個叫 round 27 的社團當成暴力威脅。</a:t>
            </a:r>
            <a:endParaRPr lang="en-US" sz="1250" dirty="0"/>
          </a:p>
        </p:txBody>
      </p:sp>
      <p:sp>
        <p:nvSpPr>
          <p:cNvPr id="15" name="Text 12"/>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30 字 · 約 12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3-3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更新 AI 測試者</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2:12–2:25 · 技術深度 · Depth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swarm 影片，數字更新</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沿用 Serve_agent_swarm.mp4 的多格畫面（每格一個測試者重播自己的請求）；數字更新成 177 AI testers · 28 rounds · 17,432 requests，角落標 AI testers, not people</a:t>
            </a:r>
            <a:endParaRPr lang="en-US" sz="10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Nine days is too short for a long trial, so 177 AI testers, fresh every round, used Serve the way people and outside agents would. Twenty-eight rounds, 17,432 requests, every fault fixed.</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九天不夠做長期試用，所以我讓 177 個 AI 測試者，每輪全新，像真人和外部 agent 那樣使用 Serve：28 輪、17,432 個請求，每個找到的問題都修好了。</a:t>
            </a:r>
            <a:endParaRPr lang="en-US" sz="1250" dirty="0"/>
          </a:p>
        </p:txBody>
      </p:sp>
      <p:sp>
        <p:nvSpPr>
          <p:cNvPr id="15" name="Text 12"/>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32 字 · 約 13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3-4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跨 agent 的安全防線和自我演化</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2:25–2:36 · 技術深度 · Depth + Tooling</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沿用 v2（Rule of Two 圖拿掉揭露預算）</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0A0A0B"/>
                </a:solidFill>
                <a:latin typeface="Microsoft JhengHei" pitchFamily="34" charset="0"/>
                <a:ea typeface="Microsoft JhengHei" pitchFamily="34" charset="-122"/>
                <a:cs typeface="Microsoft JhengHei" pitchFamily="34" charset="-120"/>
              </a:rPr>
              <a:t>Rule of Two 矩陣 → 93 of 93 attacks stopped → /idea 投票 → 九道 gate → 自動回滾（標 simulated club · real pipeline）</a:t>
            </a:r>
            <a:endParaRPr lang="en-US" sz="10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Every agent follows Meta's Agents Rule of Two, and 93 of 93 attacks were stopped. Members' ideas become changes behind nine gates, and roll back on their own if feedback drops.</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每個 agent 都照 Meta 的 Agents Rule of Two 設計，93 個攻擊全部擋下。社員的想法會變成平台的改動，過九道關卡，負評上升就自己回滾。</a:t>
            </a:r>
            <a:endParaRPr lang="en-US" sz="1250" dirty="0"/>
          </a:p>
        </p:txBody>
      </p:sp>
      <p:sp>
        <p:nvSpPr>
          <p:cNvPr id="15" name="Text 12"/>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31 字 · 約 12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686800" cy="548640"/>
          </a:xfrm>
          <a:prstGeom prst="rect">
            <a:avLst/>
          </a:prstGeom>
          <a:noFill/>
          <a:ln/>
        </p:spPr>
        <p:txBody>
          <a:bodyPr wrap="square" lIns="0" tIns="0" rIns="0" bIns="0" rtlCol="0" anchor="ctr"/>
          <a:lstStyle/>
          <a:p>
            <a:pPr indent="0" marL="0">
              <a:buNone/>
            </a:pPr>
            <a:r>
              <a:rPr lang="en-US" sz="2600" b="1" dirty="0">
                <a:solidFill>
                  <a:srgbClr val="0A7F44"/>
                </a:solidFill>
                <a:latin typeface="Microsoft JhengHei" pitchFamily="34" charset="0"/>
                <a:ea typeface="Microsoft JhengHei" pitchFamily="34" charset="-122"/>
                <a:cs typeface="Microsoft JhengHei" pitchFamily="34" charset="-120"/>
              </a:rPr>
              <a:t>4  </a:t>
            </a:r>
            <a:pPr indent="0" marL="0">
              <a:buNone/>
            </a:pPr>
            <a:r>
              <a:rPr lang="en-US" sz="2600" b="1" dirty="0">
                <a:solidFill>
                  <a:srgbClr val="0A0A0B"/>
                </a:solidFill>
                <a:latin typeface="Microsoft JhengHei" pitchFamily="34" charset="0"/>
                <a:ea typeface="Microsoft JhengHei" pitchFamily="34" charset="-122"/>
                <a:cs typeface="Microsoft JhengHei" pitchFamily="34" charset="-120"/>
              </a:rPr>
              <a:t>片尾</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5555C"/>
                </a:solidFill>
                <a:latin typeface="Microsoft JhengHei" pitchFamily="34" charset="0"/>
                <a:ea typeface="Microsoft JhengHei" pitchFamily="34" charset="-122"/>
                <a:cs typeface="Microsoft JhengHei" pitchFamily="34" charset="-120"/>
              </a:rPr>
              <a:t>2:36–2:45 · 片尾</a:t>
            </a:r>
            <a:endParaRPr lang="en-US" sz="1300" dirty="0"/>
          </a:p>
        </p:txBody>
      </p:sp>
      <p:sp>
        <p:nvSpPr>
          <p:cNvPr id="4" name="Text 2"/>
          <p:cNvSpPr txBox="1"/>
          <p:nvPr/>
        </p:nvSpPr>
        <p:spPr>
          <a:xfrm>
            <a:off x="8442655" y="365760"/>
            <a:ext cx="3291840" cy="365760"/>
          </a:xfrm>
          <a:prstGeom prst="rect">
            <a:avLst/>
          </a:prstGeom>
          <a:noFill/>
          <a:ln/>
        </p:spPr>
        <p:txBody>
          <a:bodyPr wrap="square" lIns="0" tIns="0" rIns="0" bIns="0" rtlCol="0" anchor="ctr"/>
          <a:lstStyle/>
          <a:p>
            <a:pPr algn="r" indent="0" marL="0">
              <a:buNone/>
            </a:pPr>
            <a:r>
              <a:rPr lang="en-US" sz="1200" b="1" dirty="0">
                <a:solidFill>
                  <a:srgbClr val="0A7F44"/>
                </a:solidFill>
                <a:latin typeface="Microsoft JhengHei" pitchFamily="34" charset="0"/>
                <a:ea typeface="Microsoft JhengHei" pitchFamily="34" charset="-122"/>
                <a:cs typeface="Microsoft JhengHei" pitchFamily="34" charset="-120"/>
              </a:rPr>
              <a:t>♻️ v2 版型，文字照腳本換（示意）</a:t>
            </a:r>
            <a:endParaRPr lang="en-US" sz="1200" dirty="0"/>
          </a:p>
        </p:txBody>
      </p:sp>
      <p:sp>
        <p:nvSpPr>
          <p:cNvPr id="5" name="Shape 3"/>
          <p:cNvSpPr/>
          <p:nvPr/>
        </p:nvSpPr>
        <p:spPr>
          <a:xfrm>
            <a:off x="457200" y="1280160"/>
            <a:ext cx="6217920" cy="3497580"/>
          </a:xfrm>
          <a:prstGeom prst="rect">
            <a:avLst/>
          </a:prstGeom>
          <a:solidFill>
            <a:srgbClr val="F3F6F4"/>
          </a:solidFill>
          <a:ln w="9525">
            <a:solidFill>
              <a:srgbClr val="DCDCE0"/>
            </a:solidFill>
            <a:prstDash val="solid"/>
          </a:ln>
        </p:spPr>
      </p:sp>
      <p:pic>
        <p:nvPicPr>
          <p:cNvPr id="6" name="Image 0" descr="preencoded.png">    </p:cNvPr>
          <p:cNvPicPr>
            <a:picLocks noChangeAspect="1"/>
          </p:cNvPicPr>
          <p:nvPr/>
        </p:nvPicPr>
        <p:blipFill>
          <a:blip r:embed="rId1"/>
          <a:stretch>
            <a:fillRect/>
          </a:stretch>
        </p:blipFill>
        <p:spPr>
          <a:xfrm>
            <a:off x="457200" y="1280160"/>
            <a:ext cx="6217920" cy="3497580"/>
          </a:xfrm>
          <a:prstGeom prst="rect">
            <a:avLst/>
          </a:prstGeom>
        </p:spPr>
      </p:pic>
      <p:sp>
        <p:nvSpPr>
          <p:cNvPr id="7" name="Text 4"/>
          <p:cNvSpPr txBox="1"/>
          <p:nvPr/>
        </p:nvSpPr>
        <p:spPr>
          <a:xfrm>
            <a:off x="457200" y="4823460"/>
            <a:ext cx="2743200" cy="274320"/>
          </a:xfrm>
          <a:prstGeom prst="rect">
            <a:avLst/>
          </a:prstGeom>
          <a:noFill/>
          <a:ln/>
        </p:spPr>
        <p:txBody>
          <a:bodyPr wrap="square" lIns="0" tIns="0" rIns="0" bIns="0" rtlCol="0" anchor="ctr"/>
          <a:lstStyle/>
          <a:p>
            <a:pPr indent="0" marL="0">
              <a:buNone/>
            </a:pPr>
            <a:r>
              <a:rPr lang="en-US" sz="1000" i="1" dirty="0">
                <a:solidFill>
                  <a:srgbClr val="8A8A92"/>
                </a:solidFill>
                <a:latin typeface="Microsoft JhengHei" pitchFamily="34" charset="0"/>
                <a:ea typeface="Microsoft JhengHei" pitchFamily="34" charset="-122"/>
                <a:cs typeface="Microsoft JhengHei" pitchFamily="34" charset="-120"/>
              </a:rPr>
              <a:t>預期畫面</a:t>
            </a:r>
            <a:endParaRPr lang="en-US" sz="1000" dirty="0"/>
          </a:p>
        </p:txBody>
      </p:sp>
      <p:sp>
        <p:nvSpPr>
          <p:cNvPr id="8" name="Text 5"/>
          <p:cNvSpPr txBox="1"/>
          <p:nvPr/>
        </p:nvSpPr>
        <p:spPr>
          <a:xfrm>
            <a:off x="457200" y="5161788"/>
            <a:ext cx="6217920" cy="1239012"/>
          </a:xfrm>
          <a:prstGeom prst="rect">
            <a:avLst/>
          </a:prstGeom>
          <a:noFill/>
          <a:ln/>
        </p:spPr>
        <p:txBody>
          <a:bodyPr wrap="square" lIns="0" tIns="0" rIns="0" bIns="0" rtlCol="0" anchor="t">
            <a:normAutofit/>
          </a:bodyPr>
          <a:lstStyle/>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沿用 v2 片尾版型，serve logo + **Play more. Manage less.**，文字換成：</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Where personal agents agree the game, and you say yes once.</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93 of 93 attacks stopped · 177 AI testers, 28 rounds · A2A v1.0（v2 的 65 of 65 和 22 of 22 拿掉）</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Built during the Meta Global AI Developer Hackathon, Oct 27 – Nov 4, 2026: everything except the TrackNetV5 library</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play.theminimallab.com · github.com/gino6178/serve-meta-hackathon</a:t>
            </a:r>
            <a:endParaRPr lang="en-US" sz="950" dirty="0"/>
          </a:p>
          <a:p>
            <a:pPr marL="342900" indent="-342900">
              <a:spcAft>
                <a:spcPts val="200"/>
              </a:spcAft>
              <a:buSzPct val="100000"/>
              <a:buChar char="•"/>
            </a:pPr>
            <a:r>
              <a:rPr lang="en-US" sz="950" dirty="0">
                <a:solidFill>
                  <a:srgbClr val="0A0A0B"/>
                </a:solidFill>
                <a:latin typeface="Microsoft JhengHei" pitchFamily="34" charset="0"/>
                <a:ea typeface="Microsoft JhengHei" pitchFamily="34" charset="-122"/>
                <a:cs typeface="Microsoft JhengHei" pitchFamily="34" charset="-120"/>
              </a:rPr>
              <a:t>Sample clip: Badminton klub Ljubljana, CC BY 3.0（依實際用到的片段改）</a:t>
            </a:r>
            <a:endParaRPr lang="en-US" sz="950" dirty="0"/>
          </a:p>
        </p:txBody>
      </p:sp>
      <p:sp>
        <p:nvSpPr>
          <p:cNvPr id="9" name="Shape 6"/>
          <p:cNvSpPr/>
          <p:nvPr/>
        </p:nvSpPr>
        <p:spPr>
          <a:xfrm>
            <a:off x="6995160" y="1280160"/>
            <a:ext cx="4739335" cy="2514600"/>
          </a:xfrm>
          <a:prstGeom prst="rect">
            <a:avLst/>
          </a:prstGeom>
          <a:solidFill>
            <a:srgbClr val="E9F3EC"/>
          </a:solidFill>
          <a:ln w="12700">
            <a:solidFill>
              <a:srgbClr val="E9F3EC"/>
            </a:solidFill>
            <a:prstDash val="solid"/>
          </a:ln>
        </p:spPr>
      </p:sp>
      <p:sp>
        <p:nvSpPr>
          <p:cNvPr id="10" name="Text 7"/>
          <p:cNvSpPr txBox="1"/>
          <p:nvPr/>
        </p:nvSpPr>
        <p:spPr>
          <a:xfrm>
            <a:off x="7178040" y="1389888"/>
            <a:ext cx="4373575" cy="274320"/>
          </a:xfrm>
          <a:prstGeom prst="rect">
            <a:avLst/>
          </a:prstGeom>
          <a:noFill/>
          <a:ln/>
        </p:spPr>
        <p:txBody>
          <a:bodyPr wrap="square" lIns="0" tIns="0" rIns="0" bIns="0" rtlCol="0" anchor="ctr"/>
          <a:lstStyle/>
          <a:p>
            <a:pPr indent="0" marL="0">
              <a:buNone/>
            </a:pPr>
            <a:r>
              <a:rPr lang="en-US" sz="1100" b="1" dirty="0">
                <a:solidFill>
                  <a:srgbClr val="0A7F44"/>
                </a:solidFill>
                <a:latin typeface="Microsoft JhengHei" pitchFamily="34" charset="0"/>
                <a:ea typeface="Microsoft JhengHei" pitchFamily="34" charset="-122"/>
                <a:cs typeface="Microsoft JhengHei" pitchFamily="34" charset="-120"/>
              </a:rPr>
              <a:t>英文旁白（錄音用）</a:t>
            </a:r>
            <a:endParaRPr lang="en-US" sz="1100" dirty="0"/>
          </a:p>
        </p:txBody>
      </p:sp>
      <p:sp>
        <p:nvSpPr>
          <p:cNvPr id="11" name="Text 8"/>
          <p:cNvSpPr txBox="1"/>
          <p:nvPr/>
        </p:nvSpPr>
        <p:spPr>
          <a:xfrm>
            <a:off x="7178040" y="1691640"/>
            <a:ext cx="4373575" cy="2011680"/>
          </a:xfrm>
          <a:prstGeom prst="rect">
            <a:avLst/>
          </a:prstGeom>
          <a:noFill/>
          <a:ln/>
        </p:spPr>
        <p:txBody>
          <a:bodyPr wrap="square" lIns="0" tIns="0" rIns="0" bIns="0" rtlCol="0" anchor="t">
            <a:normAutofit/>
          </a:bodyPr>
          <a:lstStyle/>
          <a:p>
            <a:pPr indent="0" marL="0">
              <a:buNone/>
            </a:pPr>
            <a:r>
              <a:rPr lang="en-US" sz="1400" dirty="0">
                <a:solidFill>
                  <a:srgbClr val="0A0A0B"/>
                </a:solidFill>
                <a:latin typeface="Segoe UI" pitchFamily="34" charset="0"/>
                <a:ea typeface="Segoe UI" pitchFamily="34" charset="-122"/>
                <a:cs typeface="Segoe UI" pitchFamily="34" charset="-120"/>
              </a:rPr>
              <a:t>That's Serve. Play more, manage less.</a:t>
            </a:r>
            <a:endParaRPr lang="en-US" sz="1400" dirty="0"/>
          </a:p>
        </p:txBody>
      </p:sp>
      <p:sp>
        <p:nvSpPr>
          <p:cNvPr id="12" name="Shape 9"/>
          <p:cNvSpPr/>
          <p:nvPr/>
        </p:nvSpPr>
        <p:spPr>
          <a:xfrm>
            <a:off x="6995160" y="3931920"/>
            <a:ext cx="4739335" cy="2103120"/>
          </a:xfrm>
          <a:prstGeom prst="rect">
            <a:avLst/>
          </a:prstGeom>
          <a:solidFill>
            <a:srgbClr val="F3F6F4"/>
          </a:solidFill>
          <a:ln w="12700">
            <a:solidFill>
              <a:srgbClr val="F3F6F4"/>
            </a:solidFill>
            <a:prstDash val="solid"/>
          </a:ln>
        </p:spPr>
      </p:sp>
      <p:sp>
        <p:nvSpPr>
          <p:cNvPr id="13" name="Text 10"/>
          <p:cNvSpPr txBox="1"/>
          <p:nvPr/>
        </p:nvSpPr>
        <p:spPr>
          <a:xfrm>
            <a:off x="7178040" y="4041648"/>
            <a:ext cx="4373575" cy="274320"/>
          </a:xfrm>
          <a:prstGeom prst="rect">
            <a:avLst/>
          </a:prstGeom>
          <a:noFill/>
          <a:ln/>
        </p:spPr>
        <p:txBody>
          <a:bodyPr wrap="square" lIns="0" tIns="0" rIns="0" bIns="0" rtlCol="0" anchor="ctr"/>
          <a:lstStyle/>
          <a:p>
            <a:pPr indent="0" marL="0">
              <a:buNone/>
            </a:pPr>
            <a:r>
              <a:rPr lang="en-US" sz="1100" b="1" dirty="0">
                <a:solidFill>
                  <a:srgbClr val="55555C"/>
                </a:solidFill>
                <a:latin typeface="Microsoft JhengHei" pitchFamily="34" charset="0"/>
                <a:ea typeface="Microsoft JhengHei" pitchFamily="34" charset="-122"/>
                <a:cs typeface="Microsoft JhengHei" pitchFamily="34" charset="-120"/>
              </a:rPr>
              <a:t>中文（審稿用）</a:t>
            </a:r>
            <a:endParaRPr lang="en-US" sz="1100" dirty="0"/>
          </a:p>
        </p:txBody>
      </p:sp>
      <p:sp>
        <p:nvSpPr>
          <p:cNvPr id="14" name="Text 11"/>
          <p:cNvSpPr txBox="1"/>
          <p:nvPr/>
        </p:nvSpPr>
        <p:spPr>
          <a:xfrm>
            <a:off x="7178040" y="4343400"/>
            <a:ext cx="4373575" cy="1600200"/>
          </a:xfrm>
          <a:prstGeom prst="rect">
            <a:avLst/>
          </a:prstGeom>
          <a:noFill/>
          <a:ln/>
        </p:spPr>
        <p:txBody>
          <a:bodyPr wrap="square" lIns="0" tIns="0" rIns="0" bIns="0" rtlCol="0" anchor="t">
            <a:normAutofit/>
          </a:bodyPr>
          <a:lstStyle/>
          <a:p>
            <a:pPr indent="0" marL="0">
              <a:buNone/>
            </a:pPr>
            <a:r>
              <a:rPr lang="en-US" sz="1250" dirty="0">
                <a:solidFill>
                  <a:srgbClr val="0A0A0B"/>
                </a:solidFill>
                <a:latin typeface="Microsoft JhengHei" pitchFamily="34" charset="0"/>
                <a:ea typeface="Microsoft JhengHei" pitchFamily="34" charset="-122"/>
                <a:cs typeface="Microsoft JhengHei" pitchFamily="34" charset="-120"/>
              </a:rPr>
              <a:t>這就是 Serve。多打球，少管事。</a:t>
            </a:r>
            <a:endParaRPr lang="en-US" sz="1250" dirty="0"/>
          </a:p>
        </p:txBody>
      </p:sp>
      <p:sp>
        <p:nvSpPr>
          <p:cNvPr id="15" name="Text 12"/>
          <p:cNvSpPr txBox="1"/>
          <p:nvPr/>
        </p:nvSpPr>
        <p:spPr>
          <a:xfrm>
            <a:off x="6995160" y="6126480"/>
            <a:ext cx="4739335" cy="274320"/>
          </a:xfrm>
          <a:prstGeom prst="rect">
            <a:avLst/>
          </a:prstGeom>
          <a:noFill/>
          <a:ln/>
        </p:spPr>
        <p:txBody>
          <a:bodyPr wrap="square" lIns="0" tIns="0" rIns="0" bIns="0" rtlCol="0" anchor="ctr"/>
          <a:lstStyle/>
          <a:p>
            <a:pPr algn="r" indent="0" marL="0">
              <a:buNone/>
            </a:pPr>
            <a:r>
              <a:rPr lang="en-US" sz="1000" dirty="0">
                <a:solidFill>
                  <a:srgbClr val="8A8A92"/>
                </a:solidFill>
                <a:latin typeface="Microsoft JhengHei" pitchFamily="34" charset="0"/>
                <a:ea typeface="Microsoft JhengHei" pitchFamily="34" charset="-122"/>
                <a:cs typeface="Microsoft JhengHei" pitchFamily="34" charset="-120"/>
              </a:rPr>
              <a:t>6 字 · 約 2 秒（每分鐘 150 字）</a:t>
            </a:r>
            <a:endParaRPr lang="en-US" sz="10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20040"/>
            <a:ext cx="7315200" cy="548640"/>
          </a:xfrm>
          <a:prstGeom prst="rect">
            <a:avLst/>
          </a:prstGeom>
          <a:noFill/>
          <a:ln/>
        </p:spPr>
        <p:txBody>
          <a:bodyPr wrap="square" lIns="0" tIns="0" rIns="0" bIns="0" rtlCol="0" anchor="ctr"/>
          <a:lstStyle/>
          <a:p>
            <a:pPr indent="0" marL="0">
              <a:buNone/>
            </a:pPr>
            <a:r>
              <a:rPr lang="en-US" sz="2800" b="1" dirty="0">
                <a:solidFill>
                  <a:srgbClr val="0A0A0B"/>
                </a:solidFill>
                <a:latin typeface="Microsoft JhengHei" pitchFamily="34" charset="0"/>
                <a:ea typeface="Microsoft JhengHei" pitchFamily="34" charset="-122"/>
                <a:cs typeface="Microsoft JhengHei" pitchFamily="34" charset="-120"/>
              </a:rPr>
              <a:t>要你決定的</a:t>
            </a:r>
            <a:endParaRPr lang="en-US" sz="2800" dirty="0"/>
          </a:p>
        </p:txBody>
      </p:sp>
      <p:sp>
        <p:nvSpPr>
          <p:cNvPr id="3" name="Text 1"/>
          <p:cNvSpPr txBox="1"/>
          <p:nvPr/>
        </p:nvSpPr>
        <p:spPr>
          <a:xfrm>
            <a:off x="457200" y="1188720"/>
            <a:ext cx="11277295" cy="4937760"/>
          </a:xfrm>
          <a:prstGeom prst="rect">
            <a:avLst/>
          </a:prstGeom>
          <a:noFill/>
          <a:ln/>
        </p:spPr>
        <p:txBody>
          <a:bodyPr wrap="square" lIns="0" tIns="0" rIns="0" bIns="0" rtlCol="0" anchor="t"/>
          <a:lstStyle/>
          <a:p>
            <a:pPr indent="0" marL="0">
              <a:spcAft>
                <a:spcPts val="1200"/>
              </a:spcAft>
              <a:buNone/>
            </a:pPr>
            <a:r>
              <a:rPr lang="en-US" sz="1500" dirty="0">
                <a:solidFill>
                  <a:srgbClr val="0A0A0B"/>
                </a:solidFill>
                <a:latin typeface="Microsoft JhengHei" pitchFamily="34" charset="0"/>
                <a:ea typeface="Microsoft JhengHei" pitchFamily="34" charset="-122"/>
                <a:cs typeface="Microsoft JhengHei" pitchFamily="34" charset="-120"/>
              </a:rPr>
              <a:t>1. AI 測試者那段的數字：swarm 影片目前重播 146 個 session，畫面上的數字還是舊的（153、16,713）。我建議用 v3 的數字重新輸出那段（新增第 26 輪和第 28 輪的請求紀錄）</a:t>
            </a:r>
            <a:endParaRPr lang="en-US" sz="1500" dirty="0"/>
          </a:p>
          <a:p>
            <a:pPr indent="0" marL="0">
              <a:spcAft>
                <a:spcPts val="1200"/>
              </a:spcAft>
              <a:buNone/>
            </a:pPr>
            <a:r>
              <a:rPr lang="en-US" sz="1500" dirty="0">
                <a:solidFill>
                  <a:srgbClr val="0A0A0B"/>
                </a:solidFill>
                <a:latin typeface="Microsoft JhengHei" pitchFamily="34" charset="0"/>
                <a:ea typeface="Microsoft JhengHei" pitchFamily="34" charset="-122"/>
                <a:cs typeface="Microsoft JhengHei" pitchFamily="34" charset="-120"/>
              </a:rPr>
              <a:t>2. Llama Guard「round 27」那句：講出來可能被看成在揭 Meta 模型的短處。我建議保留，因為誠實、又展示了我們怎麼處理，但你可以拿掉</a:t>
            </a:r>
            <a:endParaRPr lang="en-US" sz="1500" dirty="0"/>
          </a:p>
          <a:p>
            <a:pPr indent="0" marL="0">
              <a:spcAft>
                <a:spcPts val="1200"/>
              </a:spcAft>
              <a:buNone/>
            </a:pPr>
            <a:r>
              <a:rPr lang="en-US" sz="1500" dirty="0">
                <a:solidFill>
                  <a:srgbClr val="0A0A0B"/>
                </a:solidFill>
                <a:latin typeface="Microsoft JhengHei" pitchFamily="34" charset="0"/>
                <a:ea typeface="Microsoft JhengHei" pitchFamily="34" charset="-122"/>
                <a:cs typeface="Microsoft JhengHei" pitchFamily="34" charset="-120"/>
              </a:rPr>
              <a:t>3. 0-3 和 1-1 要新錄網站實錄，要用正式站還是本機副本錄？正式站錄影只能看、不能建帳號，所以建議在本機副本上錄，畫面完全一樣</a:t>
            </a:r>
            <a:endParaRPr lang="en-US" sz="1500" dirty="0"/>
          </a:p>
          <a:p>
            <a:pPr indent="0" marL="0">
              <a:spcAft>
                <a:spcPts val="1200"/>
              </a:spcAft>
              <a:buNone/>
            </a:pPr>
            <a:r>
              <a:rPr lang="en-US" sz="1500" dirty="0">
                <a:solidFill>
                  <a:srgbClr val="0A0A0B"/>
                </a:solidFill>
                <a:latin typeface="Microsoft JhengHei" pitchFamily="34" charset="0"/>
                <a:ea typeface="Microsoft JhengHei" pitchFamily="34" charset="-122"/>
                <a:cs typeface="Microsoft JhengHei" pitchFamily="34" charset="-120"/>
              </a:rPr>
              <a:t>4. 0-2 的插畫裡第二個朋友抱著冰敷袋，和「不給受傷建議」的方向有點衝突。要不要我換成「被雨淋濕」或「累到趴著」的 Q 版泡泡（用 Claude 預設方式畫，不呼叫 Meta API）？</a:t>
            </a:r>
            <a:endParaRPr lang="en-US" sz="1500" dirty="0"/>
          </a:p>
        </p:txBody>
      </p:sp>
      <p:sp>
        <p:nvSpPr>
          <p:cNvPr id="25" name="Slide Number Placeholder 0"/>
          <p:cNvSpPr>
            <a:spLocks noGrp="1"/>
          </p:cNvSpPr>
          <p:nvPr>
            <p:ph type="sldNum" sz="quarter" idx="4294967295"/>
          </p:nvPr>
        </p:nvSpPr>
        <p:spPr>
          <a:xfrm>
            <a:off x="11277295" y="647395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Jheng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Jheng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video storyboard v3.1</dc:title>
  <dc:subject>PptxGenJS Presentation</dc:subject>
  <dc:creator>PptxGenJS</dc:creator>
  <cp:lastModifiedBy>PptxGenJS</cp:lastModifiedBy>
  <cp:revision>1</cp:revision>
  <dcterms:created xsi:type="dcterms:W3CDTF">2026-10-31T14:59:08Z</dcterms:created>
  <dcterms:modified xsi:type="dcterms:W3CDTF">2026-10-31T14:59:08Z</dcterms:modified>
</cp:coreProperties>
</file>