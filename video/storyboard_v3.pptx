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O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73952"/>
            <a:ext cx="4572000" cy="274320"/>
          </a:xfrm>
          <a:prstGeom prst="rect">
            <a:avLst/>
          </a:prstGeom>
          <a:noFill/>
          <a:ln/>
        </p:spPr>
        <p:txBody>
          <a:bodyPr wrap="square" lIns="0" tIns="0" rIns="0" bIns="0" rtlCol="0" anchor="ctr"/>
          <a:lstStyle/>
          <a:p>
            <a:pPr indent="0" marL="0">
              <a:buNone/>
            </a:pPr>
            <a:r>
              <a:rPr lang="en-US" sz="1000" dirty="0">
                <a:solidFill>
                  <a:srgbClr val="8A8A92"/>
                </a:solidFill>
                <a:latin typeface="Microsoft JhengHei" pitchFamily="34" charset="0"/>
                <a:ea typeface="Microsoft JhengHei" pitchFamily="34" charset="-122"/>
                <a:cs typeface="Microsoft JhengHei" pitchFamily="34" charset="-120"/>
              </a:rPr>
              <a:t>Serve · 影片分鏡稿 v3（審核用）</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41B"/>
        </a:solidFill>
      </p:bgPr>
    </p:bg>
    <p:spTree>
      <p:nvGrpSpPr>
        <p:cNvPr id="1" name=""/>
        <p:cNvGrpSpPr/>
        <p:nvPr/>
      </p:nvGrpSpPr>
      <p:grpSpPr>
        <a:xfrm>
          <a:off x="0" y="0"/>
          <a:ext cx="0" cy="0"/>
          <a:chOff x="0" y="0"/>
          <a:chExt cx="0" cy="0"/>
        </a:xfrm>
      </p:grpSpPr>
      <p:sp>
        <p:nvSpPr>
          <p:cNvPr id="2" name="Text 0"/>
          <p:cNvSpPr txBox="1"/>
          <p:nvPr/>
        </p:nvSpPr>
        <p:spPr>
          <a:xfrm>
            <a:off x="731520" y="201168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Microsoft JhengHei" pitchFamily="34" charset="0"/>
                <a:ea typeface="Microsoft JhengHei" pitchFamily="34" charset="-122"/>
                <a:cs typeface="Microsoft JhengHei" pitchFamily="34" charset="-120"/>
              </a:rPr>
              <a:t>Serve 影片分鏡稿 v3</a:t>
            </a:r>
            <a:endParaRPr lang="en-US" sz="4400" dirty="0"/>
          </a:p>
        </p:txBody>
      </p:sp>
      <p:sp>
        <p:nvSpPr>
          <p:cNvPr id="3" name="Text 1"/>
          <p:cNvSpPr txBox="1"/>
          <p:nvPr/>
        </p:nvSpPr>
        <p:spPr>
          <a:xfrm>
            <a:off x="731520" y="3017520"/>
            <a:ext cx="10058400" cy="548640"/>
          </a:xfrm>
          <a:prstGeom prst="rect">
            <a:avLst/>
          </a:prstGeom>
          <a:noFill/>
          <a:ln/>
        </p:spPr>
        <p:txBody>
          <a:bodyPr wrap="square" lIns="0" tIns="0" rIns="0" bIns="0" rtlCol="0" anchor="ctr"/>
          <a:lstStyle/>
          <a:p>
            <a:pPr indent="0" marL="0">
              <a:buNone/>
            </a:pPr>
            <a:r>
              <a:rPr lang="en-US" sz="2200" dirty="0">
                <a:solidFill>
                  <a:srgbClr val="C9D6CE"/>
                </a:solidFill>
                <a:latin typeface="Microsoft JhengHei" pitchFamily="34" charset="0"/>
                <a:ea typeface="Microsoft JhengHei" pitchFamily="34" charset="-122"/>
                <a:cs typeface="Microsoft JhengHei" pitchFamily="34" charset="-120"/>
              </a:rPr>
              <a:t>2:45 · 13 個鏡頭 · 英文旁白 370 字 · 每頁附預期畫面</a:t>
            </a:r>
            <a:endParaRPr lang="en-US" sz="2200" dirty="0"/>
          </a:p>
        </p:txBody>
      </p:sp>
      <p:sp>
        <p:nvSpPr>
          <p:cNvPr id="4" name="Text 2"/>
          <p:cNvSpPr txBox="1"/>
          <p:nvPr/>
        </p:nvSpPr>
        <p:spPr>
          <a:xfrm>
            <a:off x="731520" y="3840480"/>
            <a:ext cx="10515600" cy="822960"/>
          </a:xfrm>
          <a:prstGeom prst="rect">
            <a:avLst/>
          </a:prstGeom>
          <a:noFill/>
          <a:ln/>
        </p:spPr>
        <p:txBody>
          <a:bodyPr wrap="square" lIns="0" tIns="0" rIns="0" bIns="0" rtlCol="0" anchor="ctr"/>
          <a:lstStyle/>
          <a:p>
            <a:pPr indent="0" marL="0">
              <a:buNone/>
            </a:pPr>
            <a:r>
              <a:rPr lang="en-US" sz="1500" dirty="0">
                <a:solidFill>
                  <a:srgbClr val="9FB3A7"/>
                </a:solidFill>
                <a:latin typeface="Microsoft JhengHei" pitchFamily="34" charset="0"/>
                <a:ea typeface="Microsoft JhengHei" pitchFamily="34" charset="-122"/>
                <a:cs typeface="Microsoft JhengHei" pitchFamily="34" charset="-120"/>
              </a:rPr>
              <a:t>預期畫面：v2 影片的實際畫格、會沿用的素材，或為還沒錄的鏡頭用 HTML 畫的示意圖。所有數字對照 submission/technical_report.md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7315200" cy="548640"/>
          </a:xfrm>
          <a:prstGeom prst="rect">
            <a:avLst/>
          </a:prstGeom>
          <a:noFill/>
          <a:ln/>
        </p:spPr>
        <p:txBody>
          <a:bodyPr wrap="square" lIns="0" tIns="0" rIns="0" bIns="0" rtlCol="0" anchor="ctr"/>
          <a:lstStyle/>
          <a:p>
            <a:pPr indent="0" marL="0">
              <a:buNone/>
            </a:pPr>
            <a:r>
              <a:rPr lang="en-US" sz="2800" b="1" dirty="0">
                <a:solidFill>
                  <a:srgbClr val="0A0A0B"/>
                </a:solidFill>
                <a:latin typeface="Microsoft JhengHei" pitchFamily="34" charset="0"/>
                <a:ea typeface="Microsoft JhengHei" pitchFamily="34" charset="-122"/>
                <a:cs typeface="Microsoft JhengHei" pitchFamily="34" charset="-120"/>
              </a:rPr>
              <a:t>時間軸</a:t>
            </a:r>
            <a:endParaRPr lang="en-US" sz="2800" dirty="0"/>
          </a:p>
        </p:txBody>
      </p:sp>
      <p:sp>
        <p:nvSpPr>
          <p:cNvPr id="3" name="Shape 1"/>
          <p:cNvSpPr/>
          <p:nvPr/>
        </p:nvSpPr>
        <p:spPr>
          <a:xfrm>
            <a:off x="457200" y="1280160"/>
            <a:ext cx="314304" cy="640080"/>
          </a:xfrm>
          <a:prstGeom prst="rect">
            <a:avLst/>
          </a:prstGeom>
          <a:solidFill>
            <a:srgbClr val="D1352B"/>
          </a:solidFill>
          <a:ln w="12700">
            <a:solidFill>
              <a:srgbClr val="FFFFFF"/>
            </a:solidFill>
            <a:prstDash val="solid"/>
          </a:ln>
        </p:spPr>
      </p:sp>
      <p:sp>
        <p:nvSpPr>
          <p:cNvPr id="4" name="Text 2"/>
          <p:cNvSpPr txBox="1"/>
          <p:nvPr/>
        </p:nvSpPr>
        <p:spPr>
          <a:xfrm>
            <a:off x="457200" y="1280160"/>
            <a:ext cx="34173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0-1</a:t>
            </a:r>
            <a:endParaRPr lang="en-US" sz="1200" dirty="0"/>
          </a:p>
        </p:txBody>
      </p:sp>
      <p:sp>
        <p:nvSpPr>
          <p:cNvPr id="5" name="Shape 3"/>
          <p:cNvSpPr/>
          <p:nvPr/>
        </p:nvSpPr>
        <p:spPr>
          <a:xfrm>
            <a:off x="798936" y="1280160"/>
            <a:ext cx="724388" cy="640080"/>
          </a:xfrm>
          <a:prstGeom prst="rect">
            <a:avLst/>
          </a:prstGeom>
          <a:solidFill>
            <a:srgbClr val="D1352B"/>
          </a:solidFill>
          <a:ln w="12700">
            <a:solidFill>
              <a:srgbClr val="FFFFFF"/>
            </a:solidFill>
            <a:prstDash val="solid"/>
          </a:ln>
        </p:spPr>
      </p:sp>
      <p:sp>
        <p:nvSpPr>
          <p:cNvPr id="6" name="Text 4"/>
          <p:cNvSpPr txBox="1"/>
          <p:nvPr/>
        </p:nvSpPr>
        <p:spPr>
          <a:xfrm>
            <a:off x="798936" y="1280160"/>
            <a:ext cx="7518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0-2</a:t>
            </a:r>
            <a:endParaRPr lang="en-US" sz="1200" dirty="0"/>
          </a:p>
        </p:txBody>
      </p:sp>
      <p:sp>
        <p:nvSpPr>
          <p:cNvPr id="7" name="Shape 5"/>
          <p:cNvSpPr/>
          <p:nvPr/>
        </p:nvSpPr>
        <p:spPr>
          <a:xfrm>
            <a:off x="1550756" y="1280160"/>
            <a:ext cx="792735" cy="640080"/>
          </a:xfrm>
          <a:prstGeom prst="rect">
            <a:avLst/>
          </a:prstGeom>
          <a:solidFill>
            <a:srgbClr val="D1352B"/>
          </a:solidFill>
          <a:ln w="12700">
            <a:solidFill>
              <a:srgbClr val="FFFFFF"/>
            </a:solidFill>
            <a:prstDash val="solid"/>
          </a:ln>
        </p:spPr>
      </p:sp>
      <p:sp>
        <p:nvSpPr>
          <p:cNvPr id="8" name="Text 6"/>
          <p:cNvSpPr txBox="1"/>
          <p:nvPr/>
        </p:nvSpPr>
        <p:spPr>
          <a:xfrm>
            <a:off x="1550756" y="1280160"/>
            <a:ext cx="820167"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0-3</a:t>
            </a:r>
            <a:endParaRPr lang="en-US" sz="1200" dirty="0"/>
          </a:p>
        </p:txBody>
      </p:sp>
      <p:sp>
        <p:nvSpPr>
          <p:cNvPr id="9" name="Shape 7"/>
          <p:cNvSpPr/>
          <p:nvPr/>
        </p:nvSpPr>
        <p:spPr>
          <a:xfrm>
            <a:off x="2370923" y="1280160"/>
            <a:ext cx="929429" cy="640080"/>
          </a:xfrm>
          <a:prstGeom prst="rect">
            <a:avLst/>
          </a:prstGeom>
          <a:solidFill>
            <a:srgbClr val="0A7F44"/>
          </a:solidFill>
          <a:ln w="12700">
            <a:solidFill>
              <a:srgbClr val="FFFFFF"/>
            </a:solidFill>
            <a:prstDash val="solid"/>
          </a:ln>
        </p:spPr>
      </p:sp>
      <p:sp>
        <p:nvSpPr>
          <p:cNvPr id="10" name="Text 8"/>
          <p:cNvSpPr txBox="1"/>
          <p:nvPr/>
        </p:nvSpPr>
        <p:spPr>
          <a:xfrm>
            <a:off x="2370923" y="1280160"/>
            <a:ext cx="956861"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1-1</a:t>
            </a:r>
            <a:endParaRPr lang="en-US" sz="1200" dirty="0"/>
          </a:p>
        </p:txBody>
      </p:sp>
      <p:sp>
        <p:nvSpPr>
          <p:cNvPr id="11" name="Shape 9"/>
          <p:cNvSpPr/>
          <p:nvPr/>
        </p:nvSpPr>
        <p:spPr>
          <a:xfrm>
            <a:off x="3327784" y="1280160"/>
            <a:ext cx="1066124" cy="640080"/>
          </a:xfrm>
          <a:prstGeom prst="rect">
            <a:avLst/>
          </a:prstGeom>
          <a:solidFill>
            <a:srgbClr val="0A7F44"/>
          </a:solidFill>
          <a:ln w="12700">
            <a:solidFill>
              <a:srgbClr val="FFFFFF"/>
            </a:solidFill>
            <a:prstDash val="solid"/>
          </a:ln>
        </p:spPr>
      </p:sp>
      <p:sp>
        <p:nvSpPr>
          <p:cNvPr id="12" name="Text 10"/>
          <p:cNvSpPr txBox="1"/>
          <p:nvPr/>
        </p:nvSpPr>
        <p:spPr>
          <a:xfrm>
            <a:off x="3327784" y="1280160"/>
            <a:ext cx="109355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1-2</a:t>
            </a:r>
            <a:endParaRPr lang="en-US" sz="1200" dirty="0"/>
          </a:p>
        </p:txBody>
      </p:sp>
      <p:sp>
        <p:nvSpPr>
          <p:cNvPr id="13" name="Shape 11"/>
          <p:cNvSpPr/>
          <p:nvPr/>
        </p:nvSpPr>
        <p:spPr>
          <a:xfrm>
            <a:off x="4421340" y="1280160"/>
            <a:ext cx="792735" cy="640080"/>
          </a:xfrm>
          <a:prstGeom prst="rect">
            <a:avLst/>
          </a:prstGeom>
          <a:solidFill>
            <a:srgbClr val="0A7F44"/>
          </a:solidFill>
          <a:ln w="12700">
            <a:solidFill>
              <a:srgbClr val="FFFFFF"/>
            </a:solidFill>
            <a:prstDash val="solid"/>
          </a:ln>
        </p:spPr>
      </p:sp>
      <p:sp>
        <p:nvSpPr>
          <p:cNvPr id="14" name="Text 12"/>
          <p:cNvSpPr txBox="1"/>
          <p:nvPr/>
        </p:nvSpPr>
        <p:spPr>
          <a:xfrm>
            <a:off x="4421340" y="1280160"/>
            <a:ext cx="820167"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1-3</a:t>
            </a:r>
            <a:endParaRPr lang="en-US" sz="1200" dirty="0"/>
          </a:p>
        </p:txBody>
      </p:sp>
      <p:sp>
        <p:nvSpPr>
          <p:cNvPr id="15" name="Shape 13"/>
          <p:cNvSpPr/>
          <p:nvPr/>
        </p:nvSpPr>
        <p:spPr>
          <a:xfrm>
            <a:off x="5241507" y="1280160"/>
            <a:ext cx="792735" cy="640080"/>
          </a:xfrm>
          <a:prstGeom prst="rect">
            <a:avLst/>
          </a:prstGeom>
          <a:solidFill>
            <a:srgbClr val="0A7F44"/>
          </a:solidFill>
          <a:ln w="12700">
            <a:solidFill>
              <a:srgbClr val="FFFFFF"/>
            </a:solidFill>
            <a:prstDash val="solid"/>
          </a:ln>
        </p:spPr>
      </p:sp>
      <p:sp>
        <p:nvSpPr>
          <p:cNvPr id="16" name="Text 14"/>
          <p:cNvSpPr txBox="1"/>
          <p:nvPr/>
        </p:nvSpPr>
        <p:spPr>
          <a:xfrm>
            <a:off x="5241507" y="1280160"/>
            <a:ext cx="820167"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1-4</a:t>
            </a:r>
            <a:endParaRPr lang="en-US" sz="1200" dirty="0"/>
          </a:p>
        </p:txBody>
      </p:sp>
      <p:sp>
        <p:nvSpPr>
          <p:cNvPr id="17" name="Shape 15"/>
          <p:cNvSpPr/>
          <p:nvPr/>
        </p:nvSpPr>
        <p:spPr>
          <a:xfrm>
            <a:off x="6061674" y="1280160"/>
            <a:ext cx="1202818" cy="640080"/>
          </a:xfrm>
          <a:prstGeom prst="rect">
            <a:avLst/>
          </a:prstGeom>
          <a:solidFill>
            <a:srgbClr val="0064E0"/>
          </a:solidFill>
          <a:ln w="12700">
            <a:solidFill>
              <a:srgbClr val="FFFFFF"/>
            </a:solidFill>
            <a:prstDash val="solid"/>
          </a:ln>
        </p:spPr>
      </p:sp>
      <p:sp>
        <p:nvSpPr>
          <p:cNvPr id="18" name="Text 16"/>
          <p:cNvSpPr txBox="1"/>
          <p:nvPr/>
        </p:nvSpPr>
        <p:spPr>
          <a:xfrm>
            <a:off x="6061674" y="1280160"/>
            <a:ext cx="123025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2-1</a:t>
            </a:r>
            <a:endParaRPr lang="en-US" sz="1200" dirty="0"/>
          </a:p>
        </p:txBody>
      </p:sp>
      <p:sp>
        <p:nvSpPr>
          <p:cNvPr id="19" name="Shape 17"/>
          <p:cNvSpPr/>
          <p:nvPr/>
        </p:nvSpPr>
        <p:spPr>
          <a:xfrm>
            <a:off x="7291924" y="1280160"/>
            <a:ext cx="1476207" cy="640080"/>
          </a:xfrm>
          <a:prstGeom prst="rect">
            <a:avLst/>
          </a:prstGeom>
          <a:solidFill>
            <a:srgbClr val="B26A00"/>
          </a:solidFill>
          <a:ln w="12700">
            <a:solidFill>
              <a:srgbClr val="FFFFFF"/>
            </a:solidFill>
            <a:prstDash val="solid"/>
          </a:ln>
        </p:spPr>
      </p:sp>
      <p:sp>
        <p:nvSpPr>
          <p:cNvPr id="20" name="Text 18"/>
          <p:cNvSpPr txBox="1"/>
          <p:nvPr/>
        </p:nvSpPr>
        <p:spPr>
          <a:xfrm>
            <a:off x="7291924" y="1280160"/>
            <a:ext cx="1503639"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3-1</a:t>
            </a:r>
            <a:endParaRPr lang="en-US" sz="1200" dirty="0"/>
          </a:p>
        </p:txBody>
      </p:sp>
      <p:sp>
        <p:nvSpPr>
          <p:cNvPr id="21" name="Shape 19"/>
          <p:cNvSpPr/>
          <p:nvPr/>
        </p:nvSpPr>
        <p:spPr>
          <a:xfrm>
            <a:off x="8795564" y="1280160"/>
            <a:ext cx="656040" cy="640080"/>
          </a:xfrm>
          <a:prstGeom prst="rect">
            <a:avLst/>
          </a:prstGeom>
          <a:solidFill>
            <a:srgbClr val="B26A00"/>
          </a:solidFill>
          <a:ln w="12700">
            <a:solidFill>
              <a:srgbClr val="FFFFFF"/>
            </a:solidFill>
            <a:prstDash val="solid"/>
          </a:ln>
        </p:spPr>
      </p:sp>
      <p:sp>
        <p:nvSpPr>
          <p:cNvPr id="22" name="Text 20"/>
          <p:cNvSpPr txBox="1"/>
          <p:nvPr/>
        </p:nvSpPr>
        <p:spPr>
          <a:xfrm>
            <a:off x="8795564" y="1280160"/>
            <a:ext cx="683472"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3-2</a:t>
            </a:r>
            <a:endParaRPr lang="en-US" sz="1200" dirty="0"/>
          </a:p>
        </p:txBody>
      </p:sp>
      <p:sp>
        <p:nvSpPr>
          <p:cNvPr id="23" name="Shape 21"/>
          <p:cNvSpPr/>
          <p:nvPr/>
        </p:nvSpPr>
        <p:spPr>
          <a:xfrm>
            <a:off x="9479036" y="1280160"/>
            <a:ext cx="929429" cy="640080"/>
          </a:xfrm>
          <a:prstGeom prst="rect">
            <a:avLst/>
          </a:prstGeom>
          <a:solidFill>
            <a:srgbClr val="B26A00"/>
          </a:solidFill>
          <a:ln w="12700">
            <a:solidFill>
              <a:srgbClr val="FFFFFF"/>
            </a:solidFill>
            <a:prstDash val="solid"/>
          </a:ln>
        </p:spPr>
      </p:sp>
      <p:sp>
        <p:nvSpPr>
          <p:cNvPr id="24" name="Text 22"/>
          <p:cNvSpPr txBox="1"/>
          <p:nvPr/>
        </p:nvSpPr>
        <p:spPr>
          <a:xfrm>
            <a:off x="9479036" y="1280160"/>
            <a:ext cx="956861"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3-3</a:t>
            </a:r>
            <a:endParaRPr lang="en-US" sz="1200" dirty="0"/>
          </a:p>
        </p:txBody>
      </p:sp>
      <p:sp>
        <p:nvSpPr>
          <p:cNvPr id="25" name="Shape 23"/>
          <p:cNvSpPr/>
          <p:nvPr/>
        </p:nvSpPr>
        <p:spPr>
          <a:xfrm>
            <a:off x="10435898" y="1280160"/>
            <a:ext cx="587693" cy="640080"/>
          </a:xfrm>
          <a:prstGeom prst="rect">
            <a:avLst/>
          </a:prstGeom>
          <a:solidFill>
            <a:srgbClr val="B26A00"/>
          </a:solidFill>
          <a:ln w="12700">
            <a:solidFill>
              <a:srgbClr val="FFFFFF"/>
            </a:solidFill>
            <a:prstDash val="solid"/>
          </a:ln>
        </p:spPr>
      </p:sp>
      <p:sp>
        <p:nvSpPr>
          <p:cNvPr id="26" name="Text 24"/>
          <p:cNvSpPr txBox="1"/>
          <p:nvPr/>
        </p:nvSpPr>
        <p:spPr>
          <a:xfrm>
            <a:off x="10435898" y="1280160"/>
            <a:ext cx="61512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3-4</a:t>
            </a:r>
            <a:endParaRPr lang="en-US" sz="1200" dirty="0"/>
          </a:p>
        </p:txBody>
      </p:sp>
      <p:sp>
        <p:nvSpPr>
          <p:cNvPr id="27" name="Shape 25"/>
          <p:cNvSpPr/>
          <p:nvPr/>
        </p:nvSpPr>
        <p:spPr>
          <a:xfrm>
            <a:off x="11051023" y="1280160"/>
            <a:ext cx="656040" cy="640080"/>
          </a:xfrm>
          <a:prstGeom prst="rect">
            <a:avLst/>
          </a:prstGeom>
          <a:solidFill>
            <a:srgbClr val="55555C"/>
          </a:solidFill>
          <a:ln w="12700">
            <a:solidFill>
              <a:srgbClr val="FFFFFF"/>
            </a:solidFill>
            <a:prstDash val="solid"/>
          </a:ln>
        </p:spPr>
      </p:sp>
      <p:sp>
        <p:nvSpPr>
          <p:cNvPr id="28" name="Text 26"/>
          <p:cNvSpPr txBox="1"/>
          <p:nvPr/>
        </p:nvSpPr>
        <p:spPr>
          <a:xfrm>
            <a:off x="11051023" y="1280160"/>
            <a:ext cx="683472"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4</a:t>
            </a:r>
            <a:endParaRPr lang="en-US" sz="1200" dirty="0"/>
          </a:p>
        </p:txBody>
      </p:sp>
      <p:sp>
        <p:nvSpPr>
          <p:cNvPr id="29" name="Text 27"/>
          <p:cNvSpPr txBox="1"/>
          <p:nvPr/>
        </p:nvSpPr>
        <p:spPr>
          <a:xfrm>
            <a:off x="91440" y="1965960"/>
            <a:ext cx="731520" cy="274320"/>
          </a:xfrm>
          <a:prstGeom prst="rect">
            <a:avLst/>
          </a:prstGeom>
          <a:noFill/>
          <a:ln/>
        </p:spPr>
        <p:txBody>
          <a:bodyPr wrap="square" lIns="0" tIns="0" rIns="0" bIns="0" rtlCol="0" anchor="ctr"/>
          <a:lstStyle/>
          <a:p>
            <a:pPr algn="ctr" indent="0" marL="0">
              <a:buNone/>
            </a:pPr>
            <a:r>
              <a:rPr lang="en-US" sz="1100" dirty="0">
                <a:solidFill>
                  <a:srgbClr val="55555C"/>
                </a:solidFill>
                <a:latin typeface="Microsoft JhengHei" pitchFamily="34" charset="0"/>
                <a:ea typeface="Microsoft JhengHei" pitchFamily="34" charset="-122"/>
                <a:cs typeface="Microsoft JhengHei" pitchFamily="34" charset="-120"/>
              </a:rPr>
              <a:t>0:00</a:t>
            </a:r>
            <a:endParaRPr lang="en-US" sz="1100" dirty="0"/>
          </a:p>
        </p:txBody>
      </p:sp>
      <p:sp>
        <p:nvSpPr>
          <p:cNvPr id="30" name="Text 28"/>
          <p:cNvSpPr txBox="1"/>
          <p:nvPr/>
        </p:nvSpPr>
        <p:spPr>
          <a:xfrm>
            <a:off x="4192275" y="1965960"/>
            <a:ext cx="731520" cy="274320"/>
          </a:xfrm>
          <a:prstGeom prst="rect">
            <a:avLst/>
          </a:prstGeom>
          <a:noFill/>
          <a:ln/>
        </p:spPr>
        <p:txBody>
          <a:bodyPr wrap="square" lIns="0" tIns="0" rIns="0" bIns="0" rtlCol="0" anchor="ctr"/>
          <a:lstStyle/>
          <a:p>
            <a:pPr algn="ctr" indent="0" marL="0">
              <a:buNone/>
            </a:pPr>
            <a:r>
              <a:rPr lang="en-US" sz="1100" dirty="0">
                <a:solidFill>
                  <a:srgbClr val="55555C"/>
                </a:solidFill>
                <a:latin typeface="Microsoft JhengHei" pitchFamily="34" charset="0"/>
                <a:ea typeface="Microsoft JhengHei" pitchFamily="34" charset="-122"/>
                <a:cs typeface="Microsoft JhengHei" pitchFamily="34" charset="-120"/>
              </a:rPr>
              <a:t>1:00</a:t>
            </a:r>
            <a:endParaRPr lang="en-US" sz="1100" dirty="0"/>
          </a:p>
        </p:txBody>
      </p:sp>
      <p:sp>
        <p:nvSpPr>
          <p:cNvPr id="31" name="Text 29"/>
          <p:cNvSpPr txBox="1"/>
          <p:nvPr/>
        </p:nvSpPr>
        <p:spPr>
          <a:xfrm>
            <a:off x="8293109" y="1965960"/>
            <a:ext cx="731520" cy="274320"/>
          </a:xfrm>
          <a:prstGeom prst="rect">
            <a:avLst/>
          </a:prstGeom>
          <a:noFill/>
          <a:ln/>
        </p:spPr>
        <p:txBody>
          <a:bodyPr wrap="square" lIns="0" tIns="0" rIns="0" bIns="0" rtlCol="0" anchor="ctr"/>
          <a:lstStyle/>
          <a:p>
            <a:pPr algn="ctr" indent="0" marL="0">
              <a:buNone/>
            </a:pPr>
            <a:r>
              <a:rPr lang="en-US" sz="1100" dirty="0">
                <a:solidFill>
                  <a:srgbClr val="55555C"/>
                </a:solidFill>
                <a:latin typeface="Microsoft JhengHei" pitchFamily="34" charset="0"/>
                <a:ea typeface="Microsoft JhengHei" pitchFamily="34" charset="-122"/>
                <a:cs typeface="Microsoft JhengHei" pitchFamily="34" charset="-120"/>
              </a:rPr>
              <a:t>2:00</a:t>
            </a:r>
            <a:endParaRPr lang="en-US" sz="1100" dirty="0"/>
          </a:p>
        </p:txBody>
      </p:sp>
      <p:sp>
        <p:nvSpPr>
          <p:cNvPr id="32" name="Text 30"/>
          <p:cNvSpPr txBox="1"/>
          <p:nvPr/>
        </p:nvSpPr>
        <p:spPr>
          <a:xfrm>
            <a:off x="11368735" y="1965960"/>
            <a:ext cx="731520" cy="274320"/>
          </a:xfrm>
          <a:prstGeom prst="rect">
            <a:avLst/>
          </a:prstGeom>
          <a:noFill/>
          <a:ln/>
        </p:spPr>
        <p:txBody>
          <a:bodyPr wrap="square" lIns="0" tIns="0" rIns="0" bIns="0" rtlCol="0" anchor="ctr"/>
          <a:lstStyle/>
          <a:p>
            <a:pPr algn="ctr" indent="0" marL="0">
              <a:buNone/>
            </a:pPr>
            <a:r>
              <a:rPr lang="en-US" sz="1100" dirty="0">
                <a:solidFill>
                  <a:srgbClr val="55555C"/>
                </a:solidFill>
                <a:latin typeface="Microsoft JhengHei" pitchFamily="34" charset="0"/>
                <a:ea typeface="Microsoft JhengHei" pitchFamily="34" charset="-122"/>
                <a:cs typeface="Microsoft JhengHei" pitchFamily="34" charset="-120"/>
              </a:rPr>
              <a:t>2:45</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11277295" cy="914400"/>
        </p:xfrm>
        <a:graphic>
          <a:graphicData uri="http://schemas.openxmlformats.org/drawingml/2006/table">
            <a:tbl>
              <a:tblPr/>
              <a:tblGrid>
                <a:gridCol w="731520"/>
                <a:gridCol w="1280160"/>
                <a:gridCol w="1463040"/>
                <a:gridCol w="4937760"/>
                <a:gridCol w="2862072"/>
              </a:tblGrid>
              <a:tr h="274320">
                <a:tc>
                  <a:txBody>
                    <a:bodyPr/>
                    <a:lstStyle/>
                    <a:p>
                      <a:pPr indent="0" marL="0">
                        <a:buNone/>
                      </a:pPr>
                      <a:r>
                        <a:rPr lang="en-US" sz="1100" b="1" dirty="0">
                          <a:solidFill>
                            <a:srgbClr val="0A0A0B"/>
                          </a:solidFill>
                          <a:latin typeface="Microsoft JhengHei" pitchFamily="34" charset="0"/>
                          <a:ea typeface="Microsoft JhengHei" pitchFamily="34" charset="-122"/>
                          <a:cs typeface="Microsoft JhengHei" pitchFamily="34" charset="-120"/>
                        </a:rPr>
                        <a:t>鏡頭</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0A0B"/>
                          </a:solidFill>
                          <a:latin typeface="Microsoft JhengHei" pitchFamily="34" charset="0"/>
                          <a:ea typeface="Microsoft JhengHei" pitchFamily="34" charset="-122"/>
                          <a:cs typeface="Microsoft JhengHei" pitchFamily="34" charset="-120"/>
                        </a:rPr>
                        <a:t>時間</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0A0B"/>
                          </a:solidFill>
                          <a:latin typeface="Microsoft JhengHei" pitchFamily="34" charset="0"/>
                          <a:ea typeface="Microsoft JhengHei" pitchFamily="34" charset="-122"/>
                          <a:cs typeface="Microsoft JhengHei" pitchFamily="34" charset="-120"/>
                        </a:rPr>
                        <a:t>段落</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0A0B"/>
                          </a:solidFill>
                          <a:latin typeface="Microsoft JhengHei" pitchFamily="34" charset="0"/>
                          <a:ea typeface="Microsoft JhengHei" pitchFamily="34" charset="-122"/>
                          <a:cs typeface="Microsoft JhengHei" pitchFamily="34" charset="-120"/>
                        </a:rPr>
                        <a:t>內容</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0A0B"/>
                          </a:solidFill>
                          <a:latin typeface="Microsoft JhengHei" pitchFamily="34" charset="0"/>
                          <a:ea typeface="Microsoft JhengHei" pitchFamily="34" charset="-122"/>
                          <a:cs typeface="Microsoft JhengHei" pitchFamily="34" charset="-120"/>
                        </a:rPr>
                        <a:t>素材</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0-1</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0:00–0:05</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開場與痛點</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開場封面</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沿用 v2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0:05–0:16</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開場與痛點</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Q 版情境圖</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Q 版插畫，做成動態</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0-3</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0:16–0:28</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開場與痛點</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轉場 · 網站實錄</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轉場，接網站實錄</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1-1</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0:28–0:42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怎麼運作</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一句話變成球局</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新錄（示意：現有截圖）</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0:42–0:58</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怎麼運作</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A2A 談判</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v2 分割畫面 + 🆕 JSON 疊圖</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1-3</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0:58–1:10</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怎麼運作</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Match 先問 · Messenger</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沿用 v2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1-4</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1:10–1:22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怎麼運作</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真實社團 · 自己的 agent</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示意圖（HTML 繪製）</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2-1</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1:22–1:40</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精華影片</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精華影片</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沿用 v2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3-1</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1:40–2:02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技術深度</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分層決策和我們自己的模型</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示意圖（HTML 繪製）</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3-2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2:02–2:12</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技術深度</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實際跑 Meta 模型學到的事</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示意圖（HTML 繪製）</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3-3</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2:12–2:26</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技術深度</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更新 AI 測試者</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swarm 影片，數字更新</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3-4</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2:26–2:35</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技術深度</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安全和自我演化</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沿用 v2（Rule of Two 圖拿掉揭露預算）</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4</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2:35–2:45</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片尾</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片尾</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dirty="0">
                          <a:solidFill>
                            <a:srgbClr val="0A0A0B"/>
                          </a:solidFill>
                          <a:latin typeface="Microsoft JhengHei" pitchFamily="34" charset="0"/>
                          <a:ea typeface="Microsoft JhengHei" pitchFamily="34" charset="-122"/>
                          <a:cs typeface="Microsoft JhengHei" pitchFamily="34" charset="-120"/>
                        </a:rPr>
                        <a:t>♻️ 沿用 v2，下方文字照腳本換</a:t>
                      </a:r>
                      <a:endParaRPr lang="en-US" sz="1100" dirty="0">
                        <a:latin typeface="Microsoft JhengHei" charset="0"/>
                        <a:ea typeface="Microsoft JhengHei" charset="0"/>
                        <a:cs typeface="Microsoft JhengHei" charset="0"/>
                      </a:endParaRPr>
                    </a:p>
                  </a:txBody>
                  <a:tcPr marL="91440" marR="91440" marT="45720" marB="45720">
                    <a:lnL w="6350" cap="flat" cmpd="sng" algn="ctr">
                      <a:solidFill>
                        <a:srgbClr val="DCDCE0"/>
                      </a:solidFill>
                      <a:prstDash val="solid"/>
                      <a:round/>
                      <a:headEnd type="none" w="med" len="med"/>
                      <a:tailEnd type="none" w="med" len="med"/>
                    </a:lnL>
                    <a:lnR w="6350" cap="flat" cmpd="sng" algn="ctr">
                      <a:solidFill>
                        <a:srgbClr val="DCDCE0"/>
                      </a:solidFill>
                      <a:prstDash val="solid"/>
                      <a:round/>
                      <a:headEnd type="none" w="med" len="med"/>
                      <a:tailEnd type="none" w="med" len="med"/>
                    </a:lnR>
                    <a:lnT w="6350" cap="flat" cmpd="sng" algn="ctr">
                      <a:solidFill>
                        <a:srgbClr val="DCDCE0"/>
                      </a:solidFill>
                      <a:prstDash val="solid"/>
                      <a:round/>
                      <a:headEnd type="none" w="med" len="med"/>
                      <a:tailEnd type="none" w="med" len="med"/>
                    </a:lnT>
                    <a:lnB w="6350" cap="flat" cmpd="sng" algn="ctr">
                      <a:solidFill>
                        <a:srgbClr val="DCDC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0-1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開場封面</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0:00–0:05 · 開場與痛點 · Impact</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沿用 v2</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深色點陣背景，serve logo 和 **Play more. Manage less.**，左上角 Meta Global AI Developer Hackathon 2026 · Indie Developer</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（沒有旁白：音樂淡入）</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0-2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Q 版情境圖</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0:05–0:16 · 開場與痛點 · Impact</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Q 版插畫，做成動態</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943794" y="1280160"/>
            <a:ext cx="5244731"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用 Muse Image 生成的 Q 版插畫（技術簡報第 2 頁同一張），分層做成動態：</a:t>
            </a:r>
            <a:endParaRPr lang="en-US" sz="950" dirty="0"/>
          </a:p>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先出現累壞的主辦人，手機裡的問號泡泡一個一個冒出來、越堆越多</a:t>
            </a:r>
            <a:endParaRPr lang="en-US" sz="950" dirty="0"/>
          </a:p>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牆上月曆一格一格打上紅叉，時鐘轉起來</a:t>
            </a:r>
            <a:endParaRPr lang="en-US" sz="950" dirty="0"/>
          </a:p>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上方四個想法泡泡依序彈出：加班、膝蓋冰敷、抱小孩、聳肩</a:t>
            </a:r>
            <a:endParaRPr lang="en-US" sz="950" dirty="0"/>
          </a:p>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鏡頭往右平移到空球場，地上一支球拍和一顆羽球</a:t>
            </a:r>
            <a:endParaRPr lang="en-US" sz="950" dirty="0"/>
          </a:p>
          <a:p>
            <a:pPr marL="342900" indent="-342900">
              <a:spcAft>
                <a:spcPts val="200"/>
              </a:spcAft>
              <a:buSzPct val="100000"/>
              <a:buChar char="•"/>
            </a:pPr>
            <a:r>
              <a:rPr lang="en-US" sz="950" dirty="0">
                <a:solidFill>
                  <a:srgbClr val="0A0A0B"/>
                </a:solidFill>
                <a:latin typeface="Microsoft JhengHei" pitchFamily="34" charset="0"/>
                <a:ea typeface="Microsoft JhengHei" pitchFamily="34" charset="-122"/>
                <a:cs typeface="Microsoft JhengHei" pitchFamily="34" charset="-120"/>
              </a:rPr>
              <a:t>右下角浮出 64.2% · times that are hard to fit together，來源小字 Sport NZ, Active NZ 2023</a:t>
            </a:r>
            <a:endParaRPr lang="en-US" sz="9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Most adults who stop playing haven't lost interest. In New Zealand's national survey, 64% name the same thing: times that won't fit together. One game can mean hours of group chat.</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多數人不打球，不是不愛了。紐西蘭的全國調查裡，64% 的成年人說擋住他們的是同一件事：時間湊不起來。約一場球，就是好幾個小時的群組訊息。</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31 字 · 約 13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0-3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轉場 · 網站實錄</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0:16–0:28 · 開場與痛點 · Impact</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轉場，接網站實錄</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943794" y="1280160"/>
            <a:ext cx="5244731"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前 3 秒用 submission/shots/pain_before_after.png：左半是被訊息泡泡淹沒的人，一條綠色虛線由左往右掃過，右半亮起：同一個人和三個朋友在球場上開心打球，頭上一個綠色勾勾</a:t>
            </a:r>
            <a:endParaRPr lang="en-US" sz="1050" dirty="0"/>
          </a:p>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接著切到手機版 play.theminimallab.com：打一句 "badminton Thursday evening" → 卡片出現 → 朋友按 Join → 卡片上的人數跳動</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So I built Serve: a platform where people and their agents make games together. Your agent sorts out the time, the court and the players with everyone else's, and asks you for one thing: one yes.</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所以我做了 Serve：一個讓人和 agent 一起約球的平台。你的 agent 跟大家的 agent 談好時間、球場和人，最後只問你一件事：一個「好」。</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36 字 · 約 15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1-1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一句話變成球局</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0:28–0:42 · 怎麼運作 · Demo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新錄（示意：現有截圖）</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800911"/>
            <a:ext cx="6217920" cy="2456078"/>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2286000" y="4823460"/>
            <a:ext cx="4389120"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角落標籤：code · 7 ms (local copy)</a:t>
            </a:r>
            <a:endParaRPr lang="en-US" sz="1000" dirty="0"/>
          </a:p>
        </p:txBody>
      </p:sp>
      <p:sp>
        <p:nvSpPr>
          <p:cNvPr id="9" name="Text 6"/>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打字 → 7 ms 後卡片出現（角落計時器）→ 群組外的人用連結打開、加入 → 討論串裡 agent 貼出「Mia is in. 1 spot left.」</a:t>
            </a:r>
            <a:endParaRPr lang="en-US" sz="1050" dirty="0"/>
          </a:p>
        </p:txBody>
      </p:sp>
      <p:sp>
        <p:nvSpPr>
          <p:cNvPr id="10" name="Shape 7"/>
          <p:cNvSpPr/>
          <p:nvPr/>
        </p:nvSpPr>
        <p:spPr>
          <a:xfrm>
            <a:off x="6995160" y="1280160"/>
            <a:ext cx="4739335" cy="2514600"/>
          </a:xfrm>
          <a:prstGeom prst="rect">
            <a:avLst/>
          </a:prstGeom>
          <a:solidFill>
            <a:srgbClr val="E9F3EC"/>
          </a:solidFill>
          <a:ln w="12700">
            <a:solidFill>
              <a:srgbClr val="E9F3EC"/>
            </a:solidFill>
            <a:prstDash val="solid"/>
          </a:ln>
        </p:spPr>
      </p:sp>
      <p:sp>
        <p:nvSpPr>
          <p:cNvPr id="11" name="Text 8"/>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2" name="Text 9"/>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I type one sentence. Code reads the day and finds the nearest court in milliseconds. Whoever is free taps Join. Nobody waits for a poll.</a:t>
            </a:r>
            <a:endParaRPr lang="en-US" sz="1400" dirty="0"/>
          </a:p>
        </p:txBody>
      </p:sp>
      <p:sp>
        <p:nvSpPr>
          <p:cNvPr id="13" name="Shape 10"/>
          <p:cNvSpPr/>
          <p:nvPr/>
        </p:nvSpPr>
        <p:spPr>
          <a:xfrm>
            <a:off x="6995160" y="3931920"/>
            <a:ext cx="4739335" cy="2103120"/>
          </a:xfrm>
          <a:prstGeom prst="rect">
            <a:avLst/>
          </a:prstGeom>
          <a:solidFill>
            <a:srgbClr val="F3F6F4"/>
          </a:solidFill>
          <a:ln w="12700">
            <a:solidFill>
              <a:srgbClr val="F3F6F4"/>
            </a:solidFill>
            <a:prstDash val="solid"/>
          </a:ln>
        </p:spPr>
      </p:sp>
      <p:sp>
        <p:nvSpPr>
          <p:cNvPr id="14" name="Text 11"/>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5" name="Text 12"/>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我只打一句話。程式在幾毫秒內從句子裡讀出日期，配上最近的球場。有空的人按加入就好，不用等所有人投票。</a:t>
            </a:r>
            <a:endParaRPr lang="en-US" sz="1250" dirty="0"/>
          </a:p>
        </p:txBody>
      </p:sp>
      <p:sp>
        <p:nvSpPr>
          <p:cNvPr id="16" name="Text 13"/>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25 字 · 約 11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1-2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A2A 談判</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0:42–0:58 · 怎麼運作 · Demo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v2 分割畫面 + 🆕 JSON 疊圖</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2286000" y="4823460"/>
            <a:ext cx="4389120"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角落標籤：A2A v1.0 · official SDK · signed Agent Cards</a:t>
            </a:r>
            <a:endParaRPr lang="en-US" sz="1000" dirty="0"/>
          </a:p>
        </p:txBody>
      </p:sp>
      <p:sp>
        <p:nvSpPr>
          <p:cNvPr id="9" name="Text 6"/>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沿用 v2 的分割畫面（三個 agent 同時談）；新增一個疊圖：一則 proposal 的 JSON 只有 {date, start, venue, court, trip}，旁邊打勾的時間交集亮起；最後顯示 held 30 min</a:t>
            </a:r>
            <a:endParaRPr lang="en-US" sz="1050" dirty="0"/>
          </a:p>
        </p:txBody>
      </p:sp>
      <p:sp>
        <p:nvSpPr>
          <p:cNvPr id="10" name="Shape 7"/>
          <p:cNvSpPr/>
          <p:nvPr/>
        </p:nvSpPr>
        <p:spPr>
          <a:xfrm>
            <a:off x="6995160" y="1280160"/>
            <a:ext cx="4739335" cy="2514600"/>
          </a:xfrm>
          <a:prstGeom prst="rect">
            <a:avLst/>
          </a:prstGeom>
          <a:solidFill>
            <a:srgbClr val="E9F3EC"/>
          </a:solidFill>
          <a:ln w="12700">
            <a:solidFill>
              <a:srgbClr val="E9F3EC"/>
            </a:solidFill>
            <a:prstDash val="solid"/>
          </a:ln>
        </p:spPr>
      </p:sp>
      <p:sp>
        <p:nvSpPr>
          <p:cNvPr id="11" name="Text 8"/>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2" name="Text 9"/>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Behind it, every player's agent talks over A2A. A proposal carries facts only, so no model ever reads another side's words. Agents mark the times that work, code picks from the overlap, and holds it for everyone until they say yes.</a:t>
            </a:r>
            <a:endParaRPr lang="en-US" sz="1400" dirty="0"/>
          </a:p>
        </p:txBody>
      </p:sp>
      <p:sp>
        <p:nvSpPr>
          <p:cNvPr id="13" name="Shape 10"/>
          <p:cNvSpPr/>
          <p:nvPr/>
        </p:nvSpPr>
        <p:spPr>
          <a:xfrm>
            <a:off x="6995160" y="3931920"/>
            <a:ext cx="4739335" cy="2103120"/>
          </a:xfrm>
          <a:prstGeom prst="rect">
            <a:avLst/>
          </a:prstGeom>
          <a:solidFill>
            <a:srgbClr val="F3F6F4"/>
          </a:solidFill>
          <a:ln w="12700">
            <a:solidFill>
              <a:srgbClr val="F3F6F4"/>
            </a:solidFill>
            <a:prstDash val="solid"/>
          </a:ln>
        </p:spPr>
      </p:sp>
      <p:sp>
        <p:nvSpPr>
          <p:cNvPr id="14" name="Text 11"/>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5" name="Text 12"/>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背後，每個球友的 agent 用 A2A 協議談。提案只帶事實，沒有任何一方的模型會讀到對方的文字。agent 標出哪些時間可以，程式從交集裡挑，再替每個人保留 30 分鐘，等大家說好。</a:t>
            </a:r>
            <a:endParaRPr lang="en-US" sz="1250" dirty="0"/>
          </a:p>
        </p:txBody>
      </p:sp>
      <p:sp>
        <p:nvSpPr>
          <p:cNvPr id="16" name="Text 13"/>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41 字 · 約 18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1-3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Match 先問 · Messenger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0:58–1:10 · 怎麼運作 · Demo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沿用 v2</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2286000" y="4823460"/>
            <a:ext cx="4389120"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角落標籤：Messenger · Send API</a:t>
            </a:r>
            <a:endParaRPr lang="en-US" sz="1000" dirty="0"/>
          </a:p>
        </p:txBody>
      </p:sp>
      <p:sp>
        <p:nvSpPr>
          <p:cNvPr id="9" name="Text 6"/>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Messenger 跳出「Thursday 19:00: Leo is free. Want a game?」→ 按 Yes → Booked</a:t>
            </a:r>
            <a:endParaRPr lang="en-US" sz="1050" dirty="0"/>
          </a:p>
        </p:txBody>
      </p:sp>
      <p:sp>
        <p:nvSpPr>
          <p:cNvPr id="10" name="Shape 7"/>
          <p:cNvSpPr/>
          <p:nvPr/>
        </p:nvSpPr>
        <p:spPr>
          <a:xfrm>
            <a:off x="6995160" y="1280160"/>
            <a:ext cx="4739335" cy="2514600"/>
          </a:xfrm>
          <a:prstGeom prst="rect">
            <a:avLst/>
          </a:prstGeom>
          <a:solidFill>
            <a:srgbClr val="E9F3EC"/>
          </a:solidFill>
          <a:ln w="12700">
            <a:solidFill>
              <a:srgbClr val="E9F3EC"/>
            </a:solidFill>
            <a:prstDash val="solid"/>
          </a:ln>
        </p:spPr>
      </p:sp>
      <p:sp>
        <p:nvSpPr>
          <p:cNvPr id="11" name="Text 8"/>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2" name="Text 9"/>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Match learns when I usually play, and asks first: Thursday, seven p.m., Leo is free, want a game? One tap, right in Messenger.</a:t>
            </a:r>
            <a:endParaRPr lang="en-US" sz="1400" dirty="0"/>
          </a:p>
        </p:txBody>
      </p:sp>
      <p:sp>
        <p:nvSpPr>
          <p:cNvPr id="13" name="Shape 10"/>
          <p:cNvSpPr/>
          <p:nvPr/>
        </p:nvSpPr>
        <p:spPr>
          <a:xfrm>
            <a:off x="6995160" y="3931920"/>
            <a:ext cx="4739335" cy="2103120"/>
          </a:xfrm>
          <a:prstGeom prst="rect">
            <a:avLst/>
          </a:prstGeom>
          <a:solidFill>
            <a:srgbClr val="F3F6F4"/>
          </a:solidFill>
          <a:ln w="12700">
            <a:solidFill>
              <a:srgbClr val="F3F6F4"/>
            </a:solidFill>
            <a:prstDash val="solid"/>
          </a:ln>
        </p:spPr>
      </p:sp>
      <p:sp>
        <p:nvSpPr>
          <p:cNvPr id="14" name="Text 11"/>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5" name="Text 12"/>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Match 會記住我習慣的時段，先來問我：週四 19:00，Leo 有空，要打嗎？在 Messenger 按一下就好。</a:t>
            </a:r>
            <a:endParaRPr lang="en-US" sz="1250" dirty="0"/>
          </a:p>
        </p:txBody>
      </p:sp>
      <p:sp>
        <p:nvSpPr>
          <p:cNvPr id="16" name="Text 13"/>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23 字 · 約 10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1-4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真實社團 · 自己的 agent</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1:10–1:22 · 怎麼運作 · Demo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示意圖（HTML 繪製）</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左半：兩句球友原話（英文字幕），下方 10+ people · 3 invites · 2 games played · 3 days；右半：一個外部 agent 讀 /llms.txt → 用自己的 Ed25519 金鑰簽名 → 嘗試放寬主人的上限 → 403 · needs: person（字幕 your own agent, through the same open door）</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I tried it with a real badminton club: more than ten people used it, and two of three invites became games. Your own agent can come in too, but it can never loosen your limits.</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我在一個真的羽球社團試用：超過十個人用過，三個邀請裡有兩個真的打成了。你自己的 agent 也能進來，但永遠不能放寬你設的上限。</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35 字 · 約 15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2-1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精華影片</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1:22–1:40 · 精華影片 · Demo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沿用 v2</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2286000" y="4823460"/>
            <a:ext cx="4389120"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角落標籤：Sapiens2 · SAM 2.1 · MapAnything · on my GPU</a:t>
            </a:r>
            <a:endParaRPr lang="en-US" sz="1000" dirty="0"/>
          </a:p>
        </p:txBody>
      </p:sp>
      <p:sp>
        <p:nvSpPr>
          <p:cNvPr id="9" name="Text 6"/>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沿用 v2：上傳手機影片 → 偵測框 → Sapiens2 骨架 → SAM 2.1 去背 → 時間暫停、鏡頭繞轉；慢動作那 2 秒不講話</a:t>
            </a:r>
            <a:endParaRPr lang="en-US" sz="1050" dirty="0"/>
          </a:p>
        </p:txBody>
      </p:sp>
      <p:sp>
        <p:nvSpPr>
          <p:cNvPr id="10" name="Shape 7"/>
          <p:cNvSpPr/>
          <p:nvPr/>
        </p:nvSpPr>
        <p:spPr>
          <a:xfrm>
            <a:off x="6995160" y="1280160"/>
            <a:ext cx="4739335" cy="2514600"/>
          </a:xfrm>
          <a:prstGeom prst="rect">
            <a:avLst/>
          </a:prstGeom>
          <a:solidFill>
            <a:srgbClr val="E9F3EC"/>
          </a:solidFill>
          <a:ln w="12700">
            <a:solidFill>
              <a:srgbClr val="E9F3EC"/>
            </a:solidFill>
            <a:prstDash val="solid"/>
          </a:ln>
        </p:spPr>
      </p:sp>
      <p:sp>
        <p:nvSpPr>
          <p:cNvPr id="11" name="Text 8"/>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2" name="Text 9"/>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After the game, I upload a phone clip. Sapiens2 finds the fastest swing, SAM 2.1 cuts me out, and MapAnything stops time while the camera turns.</a:t>
            </a:r>
            <a:endParaRPr lang="en-US" sz="1400" dirty="0"/>
          </a:p>
        </p:txBody>
      </p:sp>
      <p:sp>
        <p:nvSpPr>
          <p:cNvPr id="13" name="Shape 10"/>
          <p:cNvSpPr/>
          <p:nvPr/>
        </p:nvSpPr>
        <p:spPr>
          <a:xfrm>
            <a:off x="6995160" y="3931920"/>
            <a:ext cx="4739335" cy="2103120"/>
          </a:xfrm>
          <a:prstGeom prst="rect">
            <a:avLst/>
          </a:prstGeom>
          <a:solidFill>
            <a:srgbClr val="F3F6F4"/>
          </a:solidFill>
          <a:ln w="12700">
            <a:solidFill>
              <a:srgbClr val="F3F6F4"/>
            </a:solidFill>
            <a:prstDash val="solid"/>
          </a:ln>
        </p:spPr>
      </p:sp>
      <p:sp>
        <p:nvSpPr>
          <p:cNvPr id="14" name="Text 11"/>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5" name="Text 12"/>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打完球，把手機影片丟上去。Sapiens2 找出揮拍最快的那一刻，SAM 2.1 把我摳出來，MapAnything 讓時間停住、鏡頭繞著殺球轉。</a:t>
            </a:r>
            <a:endParaRPr lang="en-US" sz="1250" dirty="0"/>
          </a:p>
        </p:txBody>
      </p:sp>
      <p:sp>
        <p:nvSpPr>
          <p:cNvPr id="16" name="Text 13"/>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26 字 · 約 11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3-1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分層決策和我們自己的模型</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1:40–2:02 · 技術深度 · Depth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示意圖（HTML 繪製）</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2286000" y="4823460"/>
            <a:ext cx="4389120"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角落標籤：Llama 3.2 1B · distilled by me · int4 on CPU</a:t>
            </a:r>
            <a:endParaRPr lang="en-US" sz="1000" dirty="0"/>
          </a:p>
        </p:txBody>
      </p:sp>
      <p:sp>
        <p:nvSpPr>
          <p:cNvPr id="9" name="Text 6"/>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論文級圖表 video/deck/figs/ 的決策分層圖（code → tiny → 1B → Glimmer），每層標時間；接著放 1B 和 Glimmer 一致率的長條圖（89.5% vs 88.8%）</a:t>
            </a:r>
            <a:endParaRPr lang="en-US" sz="1050" dirty="0"/>
          </a:p>
        </p:txBody>
      </p:sp>
      <p:sp>
        <p:nvSpPr>
          <p:cNvPr id="10" name="Shape 7"/>
          <p:cNvSpPr/>
          <p:nvPr/>
        </p:nvSpPr>
        <p:spPr>
          <a:xfrm>
            <a:off x="6995160" y="1280160"/>
            <a:ext cx="4739335" cy="2514600"/>
          </a:xfrm>
          <a:prstGeom prst="rect">
            <a:avLst/>
          </a:prstGeom>
          <a:solidFill>
            <a:srgbClr val="E9F3EC"/>
          </a:solidFill>
          <a:ln w="12700">
            <a:solidFill>
              <a:srgbClr val="E9F3EC"/>
            </a:solidFill>
            <a:prstDash val="solid"/>
          </a:ln>
        </p:spPr>
      </p:sp>
      <p:sp>
        <p:nvSpPr>
          <p:cNvPr id="11" name="Text 8"/>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2" name="Text 9"/>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Most decisions never reach the big model. Code keeps every hard rule. A 28-kilobyte classifier settles six in ten ordinary choices in 0.06 milliseconds. Then my own Llama 3.2 1B, distilled from 4,868 of Muse Glimmer's choices, agrees with Glimmer 89.5% of the time. Glimmer agrees with itself 88.8%. In 0.9 seconds, not 40.</a:t>
            </a:r>
            <a:endParaRPr lang="en-US" sz="1400" dirty="0"/>
          </a:p>
        </p:txBody>
      </p:sp>
      <p:sp>
        <p:nvSpPr>
          <p:cNvPr id="13" name="Shape 10"/>
          <p:cNvSpPr/>
          <p:nvPr/>
        </p:nvSpPr>
        <p:spPr>
          <a:xfrm>
            <a:off x="6995160" y="3931920"/>
            <a:ext cx="4739335" cy="2103120"/>
          </a:xfrm>
          <a:prstGeom prst="rect">
            <a:avLst/>
          </a:prstGeom>
          <a:solidFill>
            <a:srgbClr val="F3F6F4"/>
          </a:solidFill>
          <a:ln w="12700">
            <a:solidFill>
              <a:srgbClr val="F3F6F4"/>
            </a:solidFill>
            <a:prstDash val="solid"/>
          </a:ln>
        </p:spPr>
      </p:sp>
      <p:sp>
        <p:nvSpPr>
          <p:cNvPr id="14" name="Text 11"/>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5" name="Text 12"/>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大部分決定根本不會用到大模型。程式守住每條硬規則；一個 28 KB 的小分類器在 0.06 毫秒內答掉六成的一般選擇；剩下的交給我用 Muse Glimmer 的 4,868 次選擇蒸餾出來的 Llama 3.2 1B。它跟 Glimmer 的一致率是 89.5%，Glimmer 跟自己只有 88.8%，而且只要 0.9 秒，不用 40 秒。</a:t>
            </a:r>
            <a:endParaRPr lang="en-US" sz="1250" dirty="0"/>
          </a:p>
        </p:txBody>
      </p:sp>
      <p:sp>
        <p:nvSpPr>
          <p:cNvPr id="16" name="Text 13"/>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54 字 · 約 23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3-2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實際跑 Meta 模型學到的事</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2:02–2:12 · 技術深度 · Depth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B26A00"/>
                </a:solidFill>
                <a:latin typeface="Microsoft JhengHei" pitchFamily="34" charset="0"/>
                <a:ea typeface="Microsoft JhengHei" pitchFamily="34" charset="-122"/>
                <a:cs typeface="Microsoft JhengHei" pitchFamily="34" charset="-120"/>
              </a:rPr>
              <a:t>🆕 示意圖（HTML 繪製）</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v2 的 ledger 圖表（2,755 次呼叫、84% 推理）→ 一個社團名稱 "Serve test round 27" 被紅框擋下 refused: violence，再變綠</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Running Meta's models taught me two things. Glimmer reasons even with thinking off: 84% of its tokens. And Llama Guard once refused a club called "round 27" as a threat.</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真的上線跑 Meta 的模型，學到兩件事：Glimmer 就算關掉 thinking 也在推理，84% 的 token 都是推理；Llama Guard 還曾經把一個叫 round 27 的社團當成暴力威脅。</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30 字 · 約 13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3-3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更新 AI 測試者</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2:12–2:26 · 技術深度 · Depth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swarm 影片，數字更新</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沿用 Serve_agent_swarm.mp4 的多格畫面（每格一個測試者重播自己的請求）；畫面上的數字要更新成 177 AI testers · 28 rounds · 17,432 requests，角落標 AI testers, not people</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Nine days is too short for a long trial, so 177 AI testers, fresh every round, used Serve the way people would. Twenty-eight rounds, 17,432 requests, every fault fixed before the next.</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九天不夠做長期試用，所以我讓 177 個 AI 測試者，每輪全新，像真人一樣使用 Serve：28 輪、17,432 個請求，每輪找到的問題都在下一輪前修好。</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32 字 · 約 14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3-4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安全和自我演化</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2:26–2:35 · 技術深度 · Depth + Tooling</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沿用 v2（Rule of Two 圖拿掉揭露預算）</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Rule of Two 矩陣 → 93 of 93 attacks stopped → /idea 投票 → 九道 gate → 自動回滾（標 simulated club · real pipeline）</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Every agent follows Meta's Agents Rule of Two, and 93 of 93 attacks were stopped. Members' ideas become changes behind nine gates, and roll back on their own if feedback drops.</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每個 agent 都照 Meta 的 Agents Rule of Two 設計，93 個攻擊全部擋下。社員的想法會變成平台的改動，過九道關卡，負評上升就自己回滾。</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31 字 · 約 13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686800" cy="548640"/>
          </a:xfrm>
          <a:prstGeom prst="rect">
            <a:avLst/>
          </a:prstGeom>
          <a:noFill/>
          <a:ln/>
        </p:spPr>
        <p:txBody>
          <a:bodyPr wrap="square" lIns="0" tIns="0" rIns="0" bIns="0" rtlCol="0" anchor="ctr"/>
          <a:lstStyle/>
          <a:p>
            <a:pPr indent="0" marL="0">
              <a:buNone/>
            </a:pPr>
            <a:r>
              <a:rPr lang="en-US" sz="2600" b="1" dirty="0">
                <a:solidFill>
                  <a:srgbClr val="0A7F44"/>
                </a:solidFill>
                <a:latin typeface="Microsoft JhengHei" pitchFamily="34" charset="0"/>
                <a:ea typeface="Microsoft JhengHei" pitchFamily="34" charset="-122"/>
                <a:cs typeface="Microsoft JhengHei" pitchFamily="34" charset="-120"/>
              </a:rPr>
              <a:t>4  </a:t>
            </a:r>
            <a:pPr indent="0" marL="0">
              <a:buNone/>
            </a:pPr>
            <a:r>
              <a:rPr lang="en-US" sz="2600" b="1" dirty="0">
                <a:solidFill>
                  <a:srgbClr val="0A0A0B"/>
                </a:solidFill>
                <a:latin typeface="Microsoft JhengHei" pitchFamily="34" charset="0"/>
                <a:ea typeface="Microsoft JhengHei" pitchFamily="34" charset="-122"/>
                <a:cs typeface="Microsoft JhengHei" pitchFamily="34" charset="-120"/>
              </a:rPr>
              <a:t>片尾</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5555C"/>
                </a:solidFill>
                <a:latin typeface="Microsoft JhengHei" pitchFamily="34" charset="0"/>
                <a:ea typeface="Microsoft JhengHei" pitchFamily="34" charset="-122"/>
                <a:cs typeface="Microsoft JhengHei" pitchFamily="34" charset="-120"/>
              </a:rPr>
              <a:t>2:35–2:45 · 片尾</a:t>
            </a:r>
            <a:endParaRPr lang="en-US" sz="1300" dirty="0"/>
          </a:p>
        </p:txBody>
      </p:sp>
      <p:sp>
        <p:nvSpPr>
          <p:cNvPr id="4" name="Text 2"/>
          <p:cNvSpPr txBox="1"/>
          <p:nvPr/>
        </p:nvSpPr>
        <p:spPr>
          <a:xfrm>
            <a:off x="8442655" y="365760"/>
            <a:ext cx="3291840" cy="365760"/>
          </a:xfrm>
          <a:prstGeom prst="rect">
            <a:avLst/>
          </a:prstGeom>
          <a:noFill/>
          <a:ln/>
        </p:spPr>
        <p:txBody>
          <a:bodyPr wrap="square" lIns="0" tIns="0" rIns="0" bIns="0" rtlCol="0" anchor="ctr"/>
          <a:lstStyle/>
          <a:p>
            <a:pPr algn="r" indent="0" marL="0">
              <a:buNone/>
            </a:pPr>
            <a:r>
              <a:rPr lang="en-US" sz="1200" b="1" dirty="0">
                <a:solidFill>
                  <a:srgbClr val="0A7F44"/>
                </a:solidFill>
                <a:latin typeface="Microsoft JhengHei" pitchFamily="34" charset="0"/>
                <a:ea typeface="Microsoft JhengHei" pitchFamily="34" charset="-122"/>
                <a:cs typeface="Microsoft JhengHei" pitchFamily="34" charset="-120"/>
              </a:rPr>
              <a:t>♻️ 沿用 v2，下方文字照腳本換</a:t>
            </a:r>
            <a:endParaRPr lang="en-US" sz="1200" dirty="0"/>
          </a:p>
        </p:txBody>
      </p:sp>
      <p:sp>
        <p:nvSpPr>
          <p:cNvPr id="5" name="Shape 3"/>
          <p:cNvSpPr/>
          <p:nvPr/>
        </p:nvSpPr>
        <p:spPr>
          <a:xfrm>
            <a:off x="457200" y="1280160"/>
            <a:ext cx="6217920" cy="3497580"/>
          </a:xfrm>
          <a:prstGeom prst="rect">
            <a:avLst/>
          </a:prstGeom>
          <a:solidFill>
            <a:srgbClr val="F3F6F4"/>
          </a:solidFill>
          <a:ln w="9525">
            <a:solidFill>
              <a:srgbClr val="DCDCE0"/>
            </a:solidFill>
            <a:prstDash val="solid"/>
          </a:ln>
        </p:spPr>
      </p:sp>
      <p:pic>
        <p:nvPicPr>
          <p:cNvPr id="6" name="Image 0" descr="preencoded.png">    </p:cNvPr>
          <p:cNvPicPr>
            <a:picLocks noChangeAspect="1"/>
          </p:cNvPicPr>
          <p:nvPr/>
        </p:nvPicPr>
        <p:blipFill>
          <a:blip r:embed="rId1"/>
          <a:stretch>
            <a:fillRect/>
          </a:stretch>
        </p:blipFill>
        <p:spPr>
          <a:xfrm>
            <a:off x="457200" y="1280160"/>
            <a:ext cx="6217920" cy="3497580"/>
          </a:xfrm>
          <a:prstGeom prst="rect">
            <a:avLst/>
          </a:prstGeom>
        </p:spPr>
      </p:pic>
      <p:sp>
        <p:nvSpPr>
          <p:cNvPr id="7" name="Text 4"/>
          <p:cNvSpPr txBox="1"/>
          <p:nvPr/>
        </p:nvSpPr>
        <p:spPr>
          <a:xfrm>
            <a:off x="457200" y="4823460"/>
            <a:ext cx="2743200" cy="274320"/>
          </a:xfrm>
          <a:prstGeom prst="rect">
            <a:avLst/>
          </a:prstGeom>
          <a:noFill/>
          <a:ln/>
        </p:spPr>
        <p:txBody>
          <a:bodyPr wrap="square" lIns="0" tIns="0" rIns="0" bIns="0" rtlCol="0" anchor="ctr"/>
          <a:lstStyle/>
          <a:p>
            <a:pPr indent="0" marL="0">
              <a:buNone/>
            </a:pPr>
            <a:r>
              <a:rPr lang="en-US" sz="1000" i="1" dirty="0">
                <a:solidFill>
                  <a:srgbClr val="8A8A92"/>
                </a:solidFill>
                <a:latin typeface="Microsoft JhengHei" pitchFamily="34" charset="0"/>
                <a:ea typeface="Microsoft JhengHei" pitchFamily="34" charset="-122"/>
                <a:cs typeface="Microsoft JhengHei" pitchFamily="34" charset="-120"/>
              </a:rPr>
              <a:t>預期畫面</a:t>
            </a:r>
            <a:endParaRPr lang="en-US" sz="1000" dirty="0"/>
          </a:p>
        </p:txBody>
      </p:sp>
      <p:sp>
        <p:nvSpPr>
          <p:cNvPr id="8" name="Text 5"/>
          <p:cNvSpPr txBox="1"/>
          <p:nvPr/>
        </p:nvSpPr>
        <p:spPr>
          <a:xfrm>
            <a:off x="457200" y="5161788"/>
            <a:ext cx="6217920" cy="1239012"/>
          </a:xfrm>
          <a:prstGeom prst="rect">
            <a:avLst/>
          </a:prstGeom>
          <a:noFill/>
          <a:ln/>
        </p:spPr>
        <p:txBody>
          <a:bodyPr wrap="square" lIns="0" tIns="0" rIns="0" bIns="0" rtlCol="0" anchor="t">
            <a:normAutofit/>
          </a:bodyPr>
          <a:lstStyle/>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serve logo + **Play more. Manage less.**，下面放：</a:t>
            </a:r>
            <a:endParaRPr lang="en-US" sz="1050" dirty="0"/>
          </a:p>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play.theminimallab.com · github.com/gino6178/serve-meta-hackathon</a:t>
            </a:r>
            <a:endParaRPr lang="en-US" sz="1050" dirty="0"/>
          </a:p>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Built during the Meta Global AI Developer Hackathon, Oct 27 – Nov 4, 2026. Everything except the TrackNetV5 library.</a:t>
            </a:r>
            <a:endParaRPr lang="en-US" sz="1050" dirty="0"/>
          </a:p>
          <a:p>
            <a:pPr marL="342900" indent="-342900">
              <a:spcAft>
                <a:spcPts val="200"/>
              </a:spcAft>
              <a:buSzPct val="100000"/>
              <a:buChar char="•"/>
            </a:pPr>
            <a:r>
              <a:rPr lang="en-US" sz="1050" dirty="0">
                <a:solidFill>
                  <a:srgbClr val="0A0A0B"/>
                </a:solidFill>
                <a:latin typeface="Microsoft JhengHei" pitchFamily="34" charset="0"/>
                <a:ea typeface="Microsoft JhengHei" pitchFamily="34" charset="-122"/>
                <a:cs typeface="Microsoft JhengHei" pitchFamily="34" charset="-120"/>
              </a:rPr>
              <a:t>Sample clip: Badminton klub Ljubljana, CC BY 3.0（依實際用到的片段改）</a:t>
            </a:r>
            <a:endParaRPr lang="en-US" sz="1050" dirty="0"/>
          </a:p>
        </p:txBody>
      </p:sp>
      <p:sp>
        <p:nvSpPr>
          <p:cNvPr id="9" name="Shape 6"/>
          <p:cNvSpPr/>
          <p:nvPr/>
        </p:nvSpPr>
        <p:spPr>
          <a:xfrm>
            <a:off x="6995160" y="1280160"/>
            <a:ext cx="4739335" cy="2514600"/>
          </a:xfrm>
          <a:prstGeom prst="rect">
            <a:avLst/>
          </a:prstGeom>
          <a:solidFill>
            <a:srgbClr val="E9F3EC"/>
          </a:solidFill>
          <a:ln w="12700">
            <a:solidFill>
              <a:srgbClr val="E9F3EC"/>
            </a:solidFill>
            <a:prstDash val="solid"/>
          </a:ln>
        </p:spPr>
      </p:sp>
      <p:sp>
        <p:nvSpPr>
          <p:cNvPr id="10" name="Text 7"/>
          <p:cNvSpPr txBox="1"/>
          <p:nvPr/>
        </p:nvSpPr>
        <p:spPr>
          <a:xfrm>
            <a:off x="7178040" y="1389888"/>
            <a:ext cx="4373575" cy="274320"/>
          </a:xfrm>
          <a:prstGeom prst="rect">
            <a:avLst/>
          </a:prstGeom>
          <a:noFill/>
          <a:ln/>
        </p:spPr>
        <p:txBody>
          <a:bodyPr wrap="square" lIns="0" tIns="0" rIns="0" bIns="0" rtlCol="0" anchor="ctr"/>
          <a:lstStyle/>
          <a:p>
            <a:pPr indent="0" marL="0">
              <a:buNone/>
            </a:pPr>
            <a:r>
              <a:rPr lang="en-US" sz="1100" b="1" dirty="0">
                <a:solidFill>
                  <a:srgbClr val="0A7F44"/>
                </a:solidFill>
                <a:latin typeface="Microsoft JhengHei" pitchFamily="34" charset="0"/>
                <a:ea typeface="Microsoft JhengHei" pitchFamily="34" charset="-122"/>
                <a:cs typeface="Microsoft JhengHei" pitchFamily="34" charset="-120"/>
              </a:rPr>
              <a:t>英文旁白（錄音用）</a:t>
            </a:r>
            <a:endParaRPr lang="en-US" sz="1100" dirty="0"/>
          </a:p>
        </p:txBody>
      </p:sp>
      <p:sp>
        <p:nvSpPr>
          <p:cNvPr id="11" name="Text 8"/>
          <p:cNvSpPr txBox="1"/>
          <p:nvPr/>
        </p:nvSpPr>
        <p:spPr>
          <a:xfrm>
            <a:off x="7178040" y="1691640"/>
            <a:ext cx="4373575" cy="2011680"/>
          </a:xfrm>
          <a:prstGeom prst="rect">
            <a:avLst/>
          </a:prstGeom>
          <a:noFill/>
          <a:ln/>
        </p:spPr>
        <p:txBody>
          <a:bodyPr wrap="square" lIns="0" tIns="0" rIns="0" bIns="0" rtlCol="0" anchor="t">
            <a:normAutofit/>
          </a:bodyPr>
          <a:lstStyle/>
          <a:p>
            <a:pPr indent="0" marL="0">
              <a:buNone/>
            </a:pPr>
            <a:r>
              <a:rPr lang="en-US" sz="1400" dirty="0">
                <a:solidFill>
                  <a:srgbClr val="0A0A0B"/>
                </a:solidFill>
                <a:latin typeface="Segoe UI" pitchFamily="34" charset="0"/>
                <a:ea typeface="Segoe UI" pitchFamily="34" charset="-122"/>
                <a:cs typeface="Segoe UI" pitchFamily="34" charset="-120"/>
              </a:rPr>
              <a:t>That's Serve. Play more, manage less.</a:t>
            </a:r>
            <a:endParaRPr lang="en-US" sz="1400" dirty="0"/>
          </a:p>
        </p:txBody>
      </p:sp>
      <p:sp>
        <p:nvSpPr>
          <p:cNvPr id="12" name="Shape 9"/>
          <p:cNvSpPr/>
          <p:nvPr/>
        </p:nvSpPr>
        <p:spPr>
          <a:xfrm>
            <a:off x="6995160" y="3931920"/>
            <a:ext cx="4739335" cy="2103120"/>
          </a:xfrm>
          <a:prstGeom prst="rect">
            <a:avLst/>
          </a:prstGeom>
          <a:solidFill>
            <a:srgbClr val="F3F6F4"/>
          </a:solidFill>
          <a:ln w="12700">
            <a:solidFill>
              <a:srgbClr val="F3F6F4"/>
            </a:solidFill>
            <a:prstDash val="solid"/>
          </a:ln>
        </p:spPr>
      </p:sp>
      <p:sp>
        <p:nvSpPr>
          <p:cNvPr id="13" name="Text 10"/>
          <p:cNvSpPr txBox="1"/>
          <p:nvPr/>
        </p:nvSpPr>
        <p:spPr>
          <a:xfrm>
            <a:off x="7178040" y="4041648"/>
            <a:ext cx="4373575" cy="274320"/>
          </a:xfrm>
          <a:prstGeom prst="rect">
            <a:avLst/>
          </a:prstGeom>
          <a:noFill/>
          <a:ln/>
        </p:spPr>
        <p:txBody>
          <a:bodyPr wrap="square" lIns="0" tIns="0" rIns="0" bIns="0" rtlCol="0" anchor="ctr"/>
          <a:lstStyle/>
          <a:p>
            <a:pPr indent="0" marL="0">
              <a:buNone/>
            </a:pPr>
            <a:r>
              <a:rPr lang="en-US" sz="1100" b="1" dirty="0">
                <a:solidFill>
                  <a:srgbClr val="55555C"/>
                </a:solidFill>
                <a:latin typeface="Microsoft JhengHei" pitchFamily="34" charset="0"/>
                <a:ea typeface="Microsoft JhengHei" pitchFamily="34" charset="-122"/>
                <a:cs typeface="Microsoft JhengHei" pitchFamily="34" charset="-120"/>
              </a:rPr>
              <a:t>中文（審稿用）</a:t>
            </a:r>
            <a:endParaRPr lang="en-US" sz="1100" dirty="0"/>
          </a:p>
        </p:txBody>
      </p:sp>
      <p:sp>
        <p:nvSpPr>
          <p:cNvPr id="14" name="Text 11"/>
          <p:cNvSpPr txBox="1"/>
          <p:nvPr/>
        </p:nvSpPr>
        <p:spPr>
          <a:xfrm>
            <a:off x="7178040" y="4343400"/>
            <a:ext cx="4373575" cy="1600200"/>
          </a:xfrm>
          <a:prstGeom prst="rect">
            <a:avLst/>
          </a:prstGeom>
          <a:noFill/>
          <a:ln/>
        </p:spPr>
        <p:txBody>
          <a:bodyPr wrap="square" lIns="0" tIns="0" rIns="0" bIns="0" rtlCol="0" anchor="t">
            <a:normAutofit/>
          </a:bodyPr>
          <a:lstStyle/>
          <a:p>
            <a:pPr indent="0" marL="0">
              <a:buNone/>
            </a:pPr>
            <a:r>
              <a:rPr lang="en-US" sz="1250" dirty="0">
                <a:solidFill>
                  <a:srgbClr val="0A0A0B"/>
                </a:solidFill>
                <a:latin typeface="Microsoft JhengHei" pitchFamily="34" charset="0"/>
                <a:ea typeface="Microsoft JhengHei" pitchFamily="34" charset="-122"/>
                <a:cs typeface="Microsoft JhengHei" pitchFamily="34" charset="-120"/>
              </a:rPr>
              <a:t>這就是 Serve。多打球，少管事。</a:t>
            </a:r>
            <a:endParaRPr lang="en-US" sz="1250" dirty="0"/>
          </a:p>
        </p:txBody>
      </p:sp>
      <p:sp>
        <p:nvSpPr>
          <p:cNvPr id="15" name="Text 12"/>
          <p:cNvSpPr txBox="1"/>
          <p:nvPr/>
        </p:nvSpPr>
        <p:spPr>
          <a:xfrm>
            <a:off x="6995160" y="6126480"/>
            <a:ext cx="4739335" cy="274320"/>
          </a:xfrm>
          <a:prstGeom prst="rect">
            <a:avLst/>
          </a:prstGeom>
          <a:noFill/>
          <a:ln/>
        </p:spPr>
        <p:txBody>
          <a:bodyPr wrap="square" lIns="0" tIns="0" rIns="0" bIns="0" rtlCol="0" anchor="ctr"/>
          <a:lstStyle/>
          <a:p>
            <a:pPr algn="r" indent="0" marL="0">
              <a:buNone/>
            </a:pPr>
            <a:r>
              <a:rPr lang="en-US" sz="1000" dirty="0">
                <a:solidFill>
                  <a:srgbClr val="8A8A92"/>
                </a:solidFill>
                <a:latin typeface="Microsoft JhengHei" pitchFamily="34" charset="0"/>
                <a:ea typeface="Microsoft JhengHei" pitchFamily="34" charset="-122"/>
                <a:cs typeface="Microsoft JhengHei" pitchFamily="34" charset="-120"/>
              </a:rPr>
              <a:t>6 字 · 約 3 秒（每分鐘 140 字）</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20040"/>
            <a:ext cx="7315200" cy="548640"/>
          </a:xfrm>
          <a:prstGeom prst="rect">
            <a:avLst/>
          </a:prstGeom>
          <a:noFill/>
          <a:ln/>
        </p:spPr>
        <p:txBody>
          <a:bodyPr wrap="square" lIns="0" tIns="0" rIns="0" bIns="0" rtlCol="0" anchor="ctr"/>
          <a:lstStyle/>
          <a:p>
            <a:pPr indent="0" marL="0">
              <a:buNone/>
            </a:pPr>
            <a:r>
              <a:rPr lang="en-US" sz="2800" b="1" dirty="0">
                <a:solidFill>
                  <a:srgbClr val="0A0A0B"/>
                </a:solidFill>
                <a:latin typeface="Microsoft JhengHei" pitchFamily="34" charset="0"/>
                <a:ea typeface="Microsoft JhengHei" pitchFamily="34" charset="-122"/>
                <a:cs typeface="Microsoft JhengHei" pitchFamily="34" charset="-120"/>
              </a:rPr>
              <a:t>要你決定的</a:t>
            </a:r>
            <a:endParaRPr lang="en-US" sz="2800" dirty="0"/>
          </a:p>
        </p:txBody>
      </p:sp>
      <p:sp>
        <p:nvSpPr>
          <p:cNvPr id="3" name="Text 1"/>
          <p:cNvSpPr txBox="1"/>
          <p:nvPr/>
        </p:nvSpPr>
        <p:spPr>
          <a:xfrm>
            <a:off x="457200" y="1188720"/>
            <a:ext cx="11277295" cy="4937760"/>
          </a:xfrm>
          <a:prstGeom prst="rect">
            <a:avLst/>
          </a:prstGeom>
          <a:noFill/>
          <a:ln/>
        </p:spPr>
        <p:txBody>
          <a:bodyPr wrap="square" lIns="0" tIns="0" rIns="0" bIns="0" rtlCol="0" anchor="t"/>
          <a:lstStyle/>
          <a:p>
            <a:pPr indent="0" marL="0">
              <a:spcAft>
                <a:spcPts val="1200"/>
              </a:spcAft>
              <a:buNone/>
            </a:pPr>
            <a:r>
              <a:rPr lang="en-US" sz="1500" dirty="0">
                <a:solidFill>
                  <a:srgbClr val="0A0A0B"/>
                </a:solidFill>
                <a:latin typeface="Microsoft JhengHei" pitchFamily="34" charset="0"/>
                <a:ea typeface="Microsoft JhengHei" pitchFamily="34" charset="-122"/>
                <a:cs typeface="Microsoft JhengHei" pitchFamily="34" charset="-120"/>
              </a:rPr>
              <a:t>0. 開場插畫：三張 Q 版圖都在 submission/shots/（pain_scene.png 主圖、pain_before_after.png 轉場、pain_tangle.png 備案）。要換風格或重畫哪一張，跟我說要改什麼就好</a:t>
            </a:r>
            <a:endParaRPr lang="en-US" sz="1500" dirty="0"/>
          </a:p>
          <a:p>
            <a:pPr indent="0" marL="0">
              <a:spcAft>
                <a:spcPts val="1200"/>
              </a:spcAft>
              <a:buNone/>
            </a:pPr>
            <a:r>
              <a:rPr lang="en-US" sz="1500" dirty="0">
                <a:solidFill>
                  <a:srgbClr val="0A0A0B"/>
                </a:solidFill>
                <a:latin typeface="Microsoft JhengHei" pitchFamily="34" charset="0"/>
                <a:ea typeface="Microsoft JhengHei" pitchFamily="34" charset="-122"/>
                <a:cs typeface="Microsoft JhengHei" pitchFamily="34" charset="-120"/>
              </a:rPr>
              <a:t>1. AI 測試者那段的數字：swarm 影片目前重播 146 個 session，畫面上的數字還是舊的（153、16,713）。我建議用 v3 的數字重新輸出那段（新增第 26 輪和第 28 輪的請求紀錄）</a:t>
            </a:r>
            <a:endParaRPr lang="en-US" sz="1500" dirty="0"/>
          </a:p>
          <a:p>
            <a:pPr indent="0" marL="0">
              <a:spcAft>
                <a:spcPts val="1200"/>
              </a:spcAft>
              <a:buNone/>
            </a:pPr>
            <a:r>
              <a:rPr lang="en-US" sz="1500" dirty="0">
                <a:solidFill>
                  <a:srgbClr val="0A0A0B"/>
                </a:solidFill>
                <a:latin typeface="Microsoft JhengHei" pitchFamily="34" charset="0"/>
                <a:ea typeface="Microsoft JhengHei" pitchFamily="34" charset="-122"/>
                <a:cs typeface="Microsoft JhengHei" pitchFamily="34" charset="-120"/>
              </a:rPr>
              <a:t>2. Llama Guard「round 27」那句：講出來可能被看成在揭 Meta 模型的短處。我建議保留，因為誠實、又展示了我們怎麼處理，但你可以拿掉</a:t>
            </a:r>
            <a:endParaRPr lang="en-US" sz="1500" dirty="0"/>
          </a:p>
          <a:p>
            <a:pPr indent="0" marL="0">
              <a:spcAft>
                <a:spcPts val="1200"/>
              </a:spcAft>
              <a:buNone/>
            </a:pPr>
            <a:r>
              <a:rPr lang="en-US" sz="1500" dirty="0">
                <a:solidFill>
                  <a:srgbClr val="0A0A0B"/>
                </a:solidFill>
                <a:latin typeface="Microsoft JhengHei" pitchFamily="34" charset="0"/>
                <a:ea typeface="Microsoft JhengHei" pitchFamily="34" charset="-122"/>
                <a:cs typeface="Microsoft JhengHei" pitchFamily="34" charset="-120"/>
              </a:rPr>
              <a:t>3. 0-3 和 1-1 要新錄網站實錄，要用正式站還是本機副本錄？正式站錄影只能看、不能建帳號，所以建議在本機副本上錄，畫面完全一樣</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Jheng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Jheng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 video storyboard v3</dc:title>
  <dc:subject>PptxGenJS Presentation</dc:subject>
  <dc:creator>PptxGenJS</dc:creator>
  <cp:lastModifiedBy>PptxGenJS</cp:lastModifiedBy>
  <cp:revision>1</cp:revision>
  <dcterms:created xsi:type="dcterms:W3CDTF">2026-10-31T14:31:16Z</dcterms:created>
  <dcterms:modified xsi:type="dcterms:W3CDTF">2026-10-31T14:31:16Z</dcterms:modified>
</cp:coreProperties>
</file>